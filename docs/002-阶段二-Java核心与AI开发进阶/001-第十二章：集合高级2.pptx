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4.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 id="2147483660" r:id="rId3"/>
    <p:sldMasterId id="2147483672" r:id="rId4"/>
    <p:sldMasterId id="2147483679" r:id="rId5"/>
  </p:sldMasterIdLst>
  <p:notesMasterIdLst>
    <p:notesMasterId r:id="rId104"/>
  </p:notesMasterIdLst>
  <p:handoutMasterIdLst>
    <p:handoutMasterId r:id="rId105"/>
  </p:handoutMasterIdLst>
  <p:sldIdLst>
    <p:sldId id="280" r:id="rId6"/>
    <p:sldId id="2062" r:id="rId7"/>
    <p:sldId id="2805" r:id="rId8"/>
    <p:sldId id="3363" r:id="rId9"/>
    <p:sldId id="2056" r:id="rId10"/>
    <p:sldId id="3340" r:id="rId11"/>
    <p:sldId id="2853" r:id="rId12"/>
    <p:sldId id="3341" r:id="rId13"/>
    <p:sldId id="3352" r:id="rId14"/>
    <p:sldId id="2066" r:id="rId15"/>
    <p:sldId id="2493" r:id="rId16"/>
    <p:sldId id="2494" r:id="rId17"/>
    <p:sldId id="793" r:id="rId18"/>
    <p:sldId id="794" r:id="rId19"/>
    <p:sldId id="3375" r:id="rId20"/>
    <p:sldId id="826" r:id="rId21"/>
    <p:sldId id="3348" r:id="rId22"/>
    <p:sldId id="2525" r:id="rId23"/>
    <p:sldId id="2526" r:id="rId24"/>
    <p:sldId id="2527" r:id="rId25"/>
    <p:sldId id="3343" r:id="rId26"/>
    <p:sldId id="3344" r:id="rId27"/>
    <p:sldId id="3345" r:id="rId28"/>
    <p:sldId id="3346" r:id="rId29"/>
    <p:sldId id="3353" r:id="rId30"/>
    <p:sldId id="2554" r:id="rId31"/>
    <p:sldId id="2555" r:id="rId32"/>
    <p:sldId id="3350" r:id="rId33"/>
    <p:sldId id="3351" r:id="rId34"/>
    <p:sldId id="2894" r:id="rId35"/>
    <p:sldId id="3354" r:id="rId36"/>
    <p:sldId id="2002" r:id="rId37"/>
    <p:sldId id="2003" r:id="rId38"/>
    <p:sldId id="2004" r:id="rId39"/>
    <p:sldId id="2005" r:id="rId40"/>
    <p:sldId id="2006" r:id="rId41"/>
    <p:sldId id="2008" r:id="rId42"/>
    <p:sldId id="2007" r:id="rId43"/>
    <p:sldId id="2009" r:id="rId44"/>
    <p:sldId id="2010" r:id="rId45"/>
    <p:sldId id="2011" r:id="rId46"/>
    <p:sldId id="2012" r:id="rId47"/>
    <p:sldId id="2013" r:id="rId48"/>
    <p:sldId id="2016" r:id="rId49"/>
    <p:sldId id="2015" r:id="rId50"/>
    <p:sldId id="3355" r:id="rId51"/>
    <p:sldId id="3356" r:id="rId52"/>
    <p:sldId id="3357" r:id="rId53"/>
    <p:sldId id="3358" r:id="rId54"/>
    <p:sldId id="3359" r:id="rId55"/>
    <p:sldId id="3360" r:id="rId56"/>
    <p:sldId id="2014" r:id="rId57"/>
    <p:sldId id="834" r:id="rId58"/>
    <p:sldId id="755" r:id="rId59"/>
    <p:sldId id="845" r:id="rId60"/>
    <p:sldId id="2080" r:id="rId61"/>
    <p:sldId id="2504" r:id="rId62"/>
    <p:sldId id="2499" r:id="rId63"/>
    <p:sldId id="2502" r:id="rId64"/>
    <p:sldId id="3361" r:id="rId65"/>
    <p:sldId id="3362" r:id="rId66"/>
    <p:sldId id="3366" r:id="rId67"/>
    <p:sldId id="2486" r:id="rId68"/>
    <p:sldId id="2061" r:id="rId69"/>
    <p:sldId id="2560" r:id="rId70"/>
    <p:sldId id="3364" r:id="rId71"/>
    <p:sldId id="3365" r:id="rId72"/>
    <p:sldId id="3368" r:id="rId73"/>
    <p:sldId id="858" r:id="rId74"/>
    <p:sldId id="861" r:id="rId75"/>
    <p:sldId id="3367" r:id="rId76"/>
    <p:sldId id="3370" r:id="rId77"/>
    <p:sldId id="2177" r:id="rId78"/>
    <p:sldId id="2563" r:id="rId79"/>
    <p:sldId id="2564" r:id="rId80"/>
    <p:sldId id="902" r:id="rId81"/>
    <p:sldId id="2565" r:id="rId82"/>
    <p:sldId id="3369" r:id="rId83"/>
    <p:sldId id="3372" r:id="rId84"/>
    <p:sldId id="2568" r:id="rId85"/>
    <p:sldId id="2569" r:id="rId86"/>
    <p:sldId id="2572" r:id="rId87"/>
    <p:sldId id="2571" r:id="rId88"/>
    <p:sldId id="2573" r:id="rId89"/>
    <p:sldId id="2574" r:id="rId90"/>
    <p:sldId id="3371" r:id="rId91"/>
    <p:sldId id="3342" r:id="rId92"/>
    <p:sldId id="2576" r:id="rId93"/>
    <p:sldId id="3373" r:id="rId94"/>
    <p:sldId id="2575" r:id="rId95"/>
    <p:sldId id="2528" r:id="rId96"/>
    <p:sldId id="2543" r:id="rId97"/>
    <p:sldId id="2544" r:id="rId98"/>
    <p:sldId id="2545" r:id="rId99"/>
    <p:sldId id="2577" r:id="rId100"/>
    <p:sldId id="2578" r:id="rId101"/>
    <p:sldId id="2579" r:id="rId102"/>
    <p:sldId id="288" r:id="rId103"/>
  </p:sldIdLst>
  <p:sldSz cx="12192000" cy="6858000"/>
  <p:notesSz cx="6858000" cy="9144000"/>
  <p:custDataLst>
    <p:tags r:id="rId10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5B0C935-3A8C-4FC9-B6CD-4BB339AB9D93}">
          <p14:sldIdLst>
            <p14:sldId id="280"/>
            <p14:sldId id="2062"/>
            <p14:sldId id="2805"/>
            <p14:sldId id="3363"/>
            <p14:sldId id="2056"/>
            <p14:sldId id="3340"/>
            <p14:sldId id="2853"/>
            <p14:sldId id="3341"/>
            <p14:sldId id="3352"/>
            <p14:sldId id="2066"/>
            <p14:sldId id="2493"/>
            <p14:sldId id="2494"/>
            <p14:sldId id="793"/>
            <p14:sldId id="794"/>
            <p14:sldId id="3375"/>
            <p14:sldId id="826"/>
            <p14:sldId id="3348"/>
            <p14:sldId id="2525"/>
            <p14:sldId id="2526"/>
            <p14:sldId id="2527"/>
            <p14:sldId id="3343"/>
            <p14:sldId id="3344"/>
            <p14:sldId id="3345"/>
            <p14:sldId id="3346"/>
            <p14:sldId id="3353"/>
            <p14:sldId id="2554"/>
            <p14:sldId id="2555"/>
            <p14:sldId id="3350"/>
            <p14:sldId id="3351"/>
            <p14:sldId id="2894"/>
            <p14:sldId id="3354"/>
            <p14:sldId id="2002"/>
            <p14:sldId id="2003"/>
            <p14:sldId id="2004"/>
            <p14:sldId id="2005"/>
            <p14:sldId id="2006"/>
            <p14:sldId id="2008"/>
            <p14:sldId id="2007"/>
            <p14:sldId id="2009"/>
            <p14:sldId id="2010"/>
            <p14:sldId id="2011"/>
            <p14:sldId id="2012"/>
            <p14:sldId id="2013"/>
            <p14:sldId id="2016"/>
            <p14:sldId id="2015"/>
            <p14:sldId id="3355"/>
            <p14:sldId id="3356"/>
            <p14:sldId id="3357"/>
            <p14:sldId id="3358"/>
            <p14:sldId id="3359"/>
            <p14:sldId id="3360"/>
            <p14:sldId id="2014"/>
            <p14:sldId id="834"/>
            <p14:sldId id="755"/>
            <p14:sldId id="845"/>
            <p14:sldId id="2080"/>
            <p14:sldId id="2504"/>
            <p14:sldId id="2499"/>
            <p14:sldId id="2502"/>
            <p14:sldId id="3361"/>
            <p14:sldId id="3362"/>
            <p14:sldId id="3366"/>
            <p14:sldId id="2486"/>
            <p14:sldId id="2061"/>
            <p14:sldId id="2560"/>
            <p14:sldId id="3364"/>
            <p14:sldId id="3365"/>
            <p14:sldId id="3368"/>
            <p14:sldId id="858"/>
            <p14:sldId id="861"/>
            <p14:sldId id="3367"/>
            <p14:sldId id="3370"/>
            <p14:sldId id="2177"/>
            <p14:sldId id="2563"/>
            <p14:sldId id="2564"/>
            <p14:sldId id="902"/>
            <p14:sldId id="2565"/>
            <p14:sldId id="3369"/>
            <p14:sldId id="3372"/>
            <p14:sldId id="2568"/>
            <p14:sldId id="2569"/>
            <p14:sldId id="2572"/>
            <p14:sldId id="2571"/>
            <p14:sldId id="2573"/>
            <p14:sldId id="2574"/>
            <p14:sldId id="3371"/>
            <p14:sldId id="3342"/>
            <p14:sldId id="2576"/>
            <p14:sldId id="3373"/>
            <p14:sldId id="2575"/>
            <p14:sldId id="2528"/>
            <p14:sldId id="2543"/>
            <p14:sldId id="2544"/>
            <p14:sldId id="2545"/>
            <p14:sldId id="2577"/>
            <p14:sldId id="2578"/>
            <p14:sldId id="2579"/>
            <p14:sldId id="2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B26"/>
    <a:srgbClr val="DBD8D2"/>
    <a:srgbClr val="EC2025"/>
    <a:srgbClr val="F22126"/>
    <a:srgbClr val="E5E5E5"/>
    <a:srgbClr val="0067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97" autoAdjust="0"/>
    <p:restoredTop sz="94595" autoAdjust="0"/>
  </p:normalViewPr>
  <p:slideViewPr>
    <p:cSldViewPr snapToGrid="0" showGuides="1">
      <p:cViewPr varScale="1">
        <p:scale>
          <a:sx n="78" d="100"/>
          <a:sy n="78" d="100"/>
        </p:scale>
        <p:origin x="499"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2184"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07" Type="http://schemas.openxmlformats.org/officeDocument/2006/relationships/presProps" Target="presProps.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viewProps" Target="viewProps.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tags" Target="tags/tag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theme" Target="theme/theme1.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notesMaster" Target="notesMasters/notesMaster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tableStyles" Target="tableStyle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E23121D-534D-C18D-86F2-F8B084E7F1B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3724E421-5F99-33C1-6C60-3D67F5BBC34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11D20C-92F4-4D32-92CD-1278806BF344}" type="datetimeFigureOut">
              <a:rPr lang="zh-CN" altLang="en-US" smtClean="0"/>
              <a:t>2025/4/28</a:t>
            </a:fld>
            <a:endParaRPr lang="zh-CN" altLang="en-US"/>
          </a:p>
        </p:txBody>
      </p:sp>
      <p:sp>
        <p:nvSpPr>
          <p:cNvPr id="4" name="页脚占位符 3">
            <a:extLst>
              <a:ext uri="{FF2B5EF4-FFF2-40B4-BE49-F238E27FC236}">
                <a16:creationId xmlns:a16="http://schemas.microsoft.com/office/drawing/2014/main" id="{A4CEAC0C-2766-8EA5-AFAC-04E2AE7E12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B69A8BD-4CEA-8355-A923-3DE76C6694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4D7DA4C-D0A3-441A-A01E-F1F72C62FDE0}" type="slidenum">
              <a:rPr lang="zh-CN" altLang="en-US" smtClean="0"/>
              <a:t>‹#›</a:t>
            </a:fld>
            <a:endParaRPr lang="zh-CN" altLang="en-US"/>
          </a:p>
        </p:txBody>
      </p:sp>
    </p:spTree>
    <p:extLst>
      <p:ext uri="{BB962C8B-B14F-4D97-AF65-F5344CB8AC3E}">
        <p14:creationId xmlns:p14="http://schemas.microsoft.com/office/powerpoint/2010/main" val="4930792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A3D24-6083-4546-8C6D-DEE86BAAAE49}" type="datetimeFigureOut">
              <a:rPr lang="zh-CN" altLang="en-US" smtClean="0"/>
              <a:t>2025/4/28</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D8765-8EF3-408C-9341-152904E414ED}" type="slidenum">
              <a:rPr lang="zh-CN" altLang="en-US" smtClean="0"/>
              <a:t>‹#›</a:t>
            </a:fld>
            <a:endParaRPr lang="zh-CN" altLang="en-US"/>
          </a:p>
        </p:txBody>
      </p:sp>
    </p:spTree>
    <p:extLst>
      <p:ext uri="{BB962C8B-B14F-4D97-AF65-F5344CB8AC3E}">
        <p14:creationId xmlns:p14="http://schemas.microsoft.com/office/powerpoint/2010/main" val="189854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2</a:t>
            </a:fld>
            <a:endParaRPr lang="zh-CN" altLang="en-US"/>
          </a:p>
        </p:txBody>
      </p:sp>
    </p:spTree>
    <p:extLst>
      <p:ext uri="{BB962C8B-B14F-4D97-AF65-F5344CB8AC3E}">
        <p14:creationId xmlns:p14="http://schemas.microsoft.com/office/powerpoint/2010/main" val="2743523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F14A6-3C2E-46C9-90F4-D41FFA7A81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795829-3F8A-F260-B557-7A8D89320D1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AFF8C0-DB9A-5616-AFF6-9EC6B054286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D71C233-701B-E36D-B12C-A352FA8D7149}"/>
              </a:ext>
            </a:extLst>
          </p:cNvPr>
          <p:cNvSpPr>
            <a:spLocks noGrp="1"/>
          </p:cNvSpPr>
          <p:nvPr>
            <p:ph type="sldNum" sz="quarter" idx="5"/>
          </p:nvPr>
        </p:nvSpPr>
        <p:spPr/>
        <p:txBody>
          <a:bodyPr/>
          <a:lstStyle/>
          <a:p>
            <a:fld id="{A3ED8765-8EF3-408C-9341-152904E414ED}" type="slidenum">
              <a:rPr lang="zh-CN" altLang="en-US" smtClean="0"/>
              <a:t>3</a:t>
            </a:fld>
            <a:endParaRPr lang="zh-CN" altLang="en-US"/>
          </a:p>
        </p:txBody>
      </p:sp>
    </p:spTree>
    <p:extLst>
      <p:ext uri="{BB962C8B-B14F-4D97-AF65-F5344CB8AC3E}">
        <p14:creationId xmlns:p14="http://schemas.microsoft.com/office/powerpoint/2010/main" val="3555506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5</a:t>
            </a:fld>
            <a:endParaRPr lang="zh-CN" altLang="en-US"/>
          </a:p>
        </p:txBody>
      </p:sp>
    </p:spTree>
    <p:extLst>
      <p:ext uri="{BB962C8B-B14F-4D97-AF65-F5344CB8AC3E}">
        <p14:creationId xmlns:p14="http://schemas.microsoft.com/office/powerpoint/2010/main" val="1317219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728E3-3A58-0E61-EDC8-B15680FC261E}"/>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59B9DBD9-14B1-FBDB-6A59-0A881D927D0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5CF33FB3-5726-670C-A6CC-7120DF66E5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25822899-83B1-9344-0651-C3A5E66BE70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6</a:t>
            </a:fld>
            <a:endParaRPr lang="zh-CN" altLang="en-US"/>
          </a:p>
        </p:txBody>
      </p:sp>
    </p:spTree>
    <p:extLst>
      <p:ext uri="{BB962C8B-B14F-4D97-AF65-F5344CB8AC3E}">
        <p14:creationId xmlns:p14="http://schemas.microsoft.com/office/powerpoint/2010/main" val="1789207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855E0-996E-CA8A-7B4D-CA610DE22CC7}"/>
            </a:ext>
          </a:extLst>
        </p:cNvPr>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F34CF75E-C7BB-82E1-CDDA-76D23BAFEF4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a:extLst>
              <a:ext uri="{FF2B5EF4-FFF2-40B4-BE49-F238E27FC236}">
                <a16:creationId xmlns:a16="http://schemas.microsoft.com/office/drawing/2014/main" id="{982FA1CB-AD3B-4DB5-BDA6-9EE7979CAA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38916" name="灯片编号占位符 3">
            <a:extLst>
              <a:ext uri="{FF2B5EF4-FFF2-40B4-BE49-F238E27FC236}">
                <a16:creationId xmlns:a16="http://schemas.microsoft.com/office/drawing/2014/main" id="{EE879294-9006-7F9C-3281-A5220B02681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9C7C7496-15B0-47F8-9A43-E73996555FA3}" type="slidenum">
              <a:rPr lang="zh-CN" altLang="en-US"/>
              <a:pPr/>
              <a:t>7</a:t>
            </a:fld>
            <a:endParaRPr lang="zh-CN" altLang="en-US"/>
          </a:p>
        </p:txBody>
      </p:sp>
    </p:spTree>
    <p:extLst>
      <p:ext uri="{BB962C8B-B14F-4D97-AF65-F5344CB8AC3E}">
        <p14:creationId xmlns:p14="http://schemas.microsoft.com/office/powerpoint/2010/main" val="2521105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0D3EE-C3D8-52FE-FFFF-8B6530548D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09E244-74C9-9C51-C8E1-67AE3070E05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651EE7-8E22-9912-876A-984FD0E43D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78E1FBB-B75A-F14E-C915-7F4BAFB428BA}"/>
              </a:ext>
            </a:extLst>
          </p:cNvPr>
          <p:cNvSpPr>
            <a:spLocks noGrp="1"/>
          </p:cNvSpPr>
          <p:nvPr>
            <p:ph type="sldNum" sz="quarter" idx="5"/>
          </p:nvPr>
        </p:nvSpPr>
        <p:spPr/>
        <p:txBody>
          <a:bodyPr/>
          <a:lstStyle/>
          <a:p>
            <a:fld id="{A3ED8765-8EF3-408C-9341-152904E414ED}" type="slidenum">
              <a:rPr lang="zh-CN" altLang="en-US" smtClean="0"/>
              <a:t>8</a:t>
            </a:fld>
            <a:endParaRPr lang="zh-CN" altLang="en-US"/>
          </a:p>
        </p:txBody>
      </p:sp>
    </p:spTree>
    <p:extLst>
      <p:ext uri="{BB962C8B-B14F-4D97-AF65-F5344CB8AC3E}">
        <p14:creationId xmlns:p14="http://schemas.microsoft.com/office/powerpoint/2010/main" val="4016716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10</a:t>
            </a:fld>
            <a:endParaRPr lang="zh-CN" altLang="en-US"/>
          </a:p>
        </p:txBody>
      </p:sp>
    </p:spTree>
    <p:extLst>
      <p:ext uri="{BB962C8B-B14F-4D97-AF65-F5344CB8AC3E}">
        <p14:creationId xmlns:p14="http://schemas.microsoft.com/office/powerpoint/2010/main" val="1869632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3222522B-BF6C-4496-8C36-032C98F501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F336A5C9-1363-418D-B666-67518DA4A757}"/>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147460" name="灯片编号占位符 3">
            <a:extLst>
              <a:ext uri="{FF2B5EF4-FFF2-40B4-BE49-F238E27FC236}">
                <a16:creationId xmlns:a16="http://schemas.microsoft.com/office/drawing/2014/main" id="{D4D8A187-7A08-4B91-ADF3-0280629989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B8F2FE1-361B-426A-B1E5-CFE195DEA75F}" type="slidenum">
              <a:rPr lang="zh-CN" altLang="en-US"/>
              <a:pPr/>
              <a:t>11</a:t>
            </a:fld>
            <a:endParaRPr lang="zh-CN" altLang="en-US"/>
          </a:p>
        </p:txBody>
      </p:sp>
    </p:spTree>
    <p:extLst>
      <p:ext uri="{BB962C8B-B14F-4D97-AF65-F5344CB8AC3E}">
        <p14:creationId xmlns:p14="http://schemas.microsoft.com/office/powerpoint/2010/main" val="3696105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a:extLst>
              <a:ext uri="{FF2B5EF4-FFF2-40B4-BE49-F238E27FC236}">
                <a16:creationId xmlns:a16="http://schemas.microsoft.com/office/drawing/2014/main" id="{72EE68E5-E512-4B49-B548-E42DE6C39FE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3FDA9897-13E6-4EBE-8AC3-63D956A36795}"/>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69636" name="灯片编号占位符 3">
            <a:extLst>
              <a:ext uri="{FF2B5EF4-FFF2-40B4-BE49-F238E27FC236}">
                <a16:creationId xmlns:a16="http://schemas.microsoft.com/office/drawing/2014/main" id="{AA2F61B4-14C9-447D-80E0-6204C452922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C924E94-C72D-4838-ACBC-9135AAB10847}" type="slidenum">
              <a:rPr lang="zh-CN" altLang="en-US"/>
              <a:pPr/>
              <a:t>13</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a:extLst>
              <a:ext uri="{FF2B5EF4-FFF2-40B4-BE49-F238E27FC236}">
                <a16:creationId xmlns:a16="http://schemas.microsoft.com/office/drawing/2014/main" id="{A7E359DF-9F1E-40AC-AA38-CC6F111AA3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2BED4B23-65C1-45C3-94D6-D0D521FD832C}"/>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75780" name="灯片编号占位符 3">
            <a:extLst>
              <a:ext uri="{FF2B5EF4-FFF2-40B4-BE49-F238E27FC236}">
                <a16:creationId xmlns:a16="http://schemas.microsoft.com/office/drawing/2014/main" id="{3110D51B-AB9D-4595-A45E-B909A6BBE39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8221F8AF-6A15-466B-8B80-D8D2A28AF010}" type="slidenum">
              <a:rPr lang="zh-CN" altLang="en-US"/>
              <a:pPr/>
              <a:t>14</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0073-E6B1-BE32-D237-FC06686C8568}"/>
            </a:ext>
          </a:extLst>
        </p:cNvPr>
        <p:cNvGrpSpPr/>
        <p:nvPr/>
      </p:nvGrpSpPr>
      <p:grpSpPr>
        <a:xfrm>
          <a:off x="0" y="0"/>
          <a:ext cx="0" cy="0"/>
          <a:chOff x="0" y="0"/>
          <a:chExt cx="0" cy="0"/>
        </a:xfrm>
      </p:grpSpPr>
      <p:sp>
        <p:nvSpPr>
          <p:cNvPr id="75778" name="幻灯片图像占位符 1">
            <a:extLst>
              <a:ext uri="{FF2B5EF4-FFF2-40B4-BE49-F238E27FC236}">
                <a16:creationId xmlns:a16="http://schemas.microsoft.com/office/drawing/2014/main" id="{E0A2073E-2A10-B326-2865-9603BA0823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C2079F9F-E4C1-B103-7C35-1966453D6D8D}"/>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75780" name="灯片编号占位符 3">
            <a:extLst>
              <a:ext uri="{FF2B5EF4-FFF2-40B4-BE49-F238E27FC236}">
                <a16:creationId xmlns:a16="http://schemas.microsoft.com/office/drawing/2014/main" id="{13FDCBB7-7859-653C-E532-29E3E679AA9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8221F8AF-6A15-466B-8B80-D8D2A28AF010}" type="slidenum">
              <a:rPr lang="zh-CN" altLang="en-US"/>
              <a:pPr/>
              <a:t>15</a:t>
            </a:fld>
            <a:endParaRPr lang="zh-CN" altLang="en-US"/>
          </a:p>
        </p:txBody>
      </p:sp>
    </p:spTree>
    <p:extLst>
      <p:ext uri="{BB962C8B-B14F-4D97-AF65-F5344CB8AC3E}">
        <p14:creationId xmlns:p14="http://schemas.microsoft.com/office/powerpoint/2010/main" val="478882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a:extLst>
              <a:ext uri="{FF2B5EF4-FFF2-40B4-BE49-F238E27FC236}">
                <a16:creationId xmlns:a16="http://schemas.microsoft.com/office/drawing/2014/main" id="{E88D0553-72CA-488C-AB2E-E8C41F4EA9D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6A11744A-44C2-41C6-A906-C0F190BC6319}"/>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176132" name="灯片编号占位符 3">
            <a:extLst>
              <a:ext uri="{FF2B5EF4-FFF2-40B4-BE49-F238E27FC236}">
                <a16:creationId xmlns:a16="http://schemas.microsoft.com/office/drawing/2014/main" id="{7895E79D-E8CC-4FBC-9912-1FB8DFA99A2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7AD2DE06-19FA-49F5-A8C6-6CEC6298D43E}" type="slidenum">
              <a:rPr lang="zh-CN" altLang="en-US"/>
              <a:pPr/>
              <a:t>16</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87325-0B94-1D97-8A54-EE107F5D9E4A}"/>
            </a:ext>
          </a:extLst>
        </p:cNvPr>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91A9101C-6C9F-189D-4015-3DEF577E74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a:extLst>
              <a:ext uri="{FF2B5EF4-FFF2-40B4-BE49-F238E27FC236}">
                <a16:creationId xmlns:a16="http://schemas.microsoft.com/office/drawing/2014/main" id="{33092F3B-570F-92DA-5EC9-CCF0F5E6102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38916" name="灯片编号占位符 3">
            <a:extLst>
              <a:ext uri="{FF2B5EF4-FFF2-40B4-BE49-F238E27FC236}">
                <a16:creationId xmlns:a16="http://schemas.microsoft.com/office/drawing/2014/main" id="{8A89FF44-8B31-AFB7-D05D-65F1716A42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9C7C7496-15B0-47F8-9A43-E73996555FA3}" type="slidenum">
              <a:rPr lang="zh-CN" altLang="en-US"/>
              <a:pPr/>
              <a:t>17</a:t>
            </a:fld>
            <a:endParaRPr lang="zh-CN" altLang="en-US"/>
          </a:p>
        </p:txBody>
      </p:sp>
    </p:spTree>
    <p:extLst>
      <p:ext uri="{BB962C8B-B14F-4D97-AF65-F5344CB8AC3E}">
        <p14:creationId xmlns:p14="http://schemas.microsoft.com/office/powerpoint/2010/main" val="4179518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18</a:t>
            </a:fld>
            <a:endParaRPr lang="zh-CN" altLang="en-US"/>
          </a:p>
        </p:txBody>
      </p:sp>
    </p:spTree>
    <p:extLst>
      <p:ext uri="{BB962C8B-B14F-4D97-AF65-F5344CB8AC3E}">
        <p14:creationId xmlns:p14="http://schemas.microsoft.com/office/powerpoint/2010/main" val="31554772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19</a:t>
            </a:fld>
            <a:endParaRPr lang="zh-CN" altLang="en-US"/>
          </a:p>
        </p:txBody>
      </p:sp>
    </p:spTree>
    <p:extLst>
      <p:ext uri="{BB962C8B-B14F-4D97-AF65-F5344CB8AC3E}">
        <p14:creationId xmlns:p14="http://schemas.microsoft.com/office/powerpoint/2010/main" val="1179105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20</a:t>
            </a:fld>
            <a:endParaRPr lang="zh-CN" altLang="en-US"/>
          </a:p>
        </p:txBody>
      </p:sp>
    </p:spTree>
    <p:extLst>
      <p:ext uri="{BB962C8B-B14F-4D97-AF65-F5344CB8AC3E}">
        <p14:creationId xmlns:p14="http://schemas.microsoft.com/office/powerpoint/2010/main" val="17043675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C3F48-C941-4970-F694-DAD7173EE73A}"/>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D62B2F6-6ECC-AB15-11B3-0E0CF38686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1ED65E6-4ACE-FEDE-C8A6-4AEBC839A3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BAEADCEE-5DCB-033C-739F-0EC908673C4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21</a:t>
            </a:fld>
            <a:endParaRPr lang="zh-CN" altLang="en-US"/>
          </a:p>
        </p:txBody>
      </p:sp>
    </p:spTree>
    <p:extLst>
      <p:ext uri="{BB962C8B-B14F-4D97-AF65-F5344CB8AC3E}">
        <p14:creationId xmlns:p14="http://schemas.microsoft.com/office/powerpoint/2010/main" val="25797819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14F8D-0695-EC2A-2F48-C2E9298F62FE}"/>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38B50D6C-E514-AE3D-2223-4FED5B8DACC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B11D1C77-AF67-C22F-55AD-01418B15955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5927EF52-2231-B193-511F-FB7F8B7B80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22</a:t>
            </a:fld>
            <a:endParaRPr lang="zh-CN" altLang="en-US"/>
          </a:p>
        </p:txBody>
      </p:sp>
    </p:spTree>
    <p:extLst>
      <p:ext uri="{BB962C8B-B14F-4D97-AF65-F5344CB8AC3E}">
        <p14:creationId xmlns:p14="http://schemas.microsoft.com/office/powerpoint/2010/main" val="1072807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FB0EA-033C-2DC6-2A9B-C10974740FF0}"/>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5ED39180-4F7C-668A-A932-72543B3EE0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24AE33DA-F547-A628-7483-71084AE78A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375481CF-DFC2-AC1D-ADE1-042BFDB959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23</a:t>
            </a:fld>
            <a:endParaRPr lang="zh-CN" altLang="en-US"/>
          </a:p>
        </p:txBody>
      </p:sp>
    </p:spTree>
    <p:extLst>
      <p:ext uri="{BB962C8B-B14F-4D97-AF65-F5344CB8AC3E}">
        <p14:creationId xmlns:p14="http://schemas.microsoft.com/office/powerpoint/2010/main" val="1235898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4E246-AAE7-0C65-AE8B-B8E0DE47C968}"/>
            </a:ext>
          </a:extLst>
        </p:cNvPr>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CF528096-B10C-7BB9-4FE3-DB1A880628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4FDFFBB1-9AC0-A828-647E-3CA0A0FE19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43AA63CB-C736-3180-8EB2-147B497114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24</a:t>
            </a:fld>
            <a:endParaRPr lang="zh-CN" altLang="en-US"/>
          </a:p>
        </p:txBody>
      </p:sp>
    </p:spTree>
    <p:extLst>
      <p:ext uri="{BB962C8B-B14F-4D97-AF65-F5344CB8AC3E}">
        <p14:creationId xmlns:p14="http://schemas.microsoft.com/office/powerpoint/2010/main" val="24034931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AB92D-A291-3831-A331-8771D99E90BD}"/>
            </a:ext>
          </a:extLst>
        </p:cNvPr>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98A29C0B-C0B0-6F74-1893-1F9B7776793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a:extLst>
              <a:ext uri="{FF2B5EF4-FFF2-40B4-BE49-F238E27FC236}">
                <a16:creationId xmlns:a16="http://schemas.microsoft.com/office/drawing/2014/main" id="{1576E34F-6B42-8D75-0043-39F066E9EC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38916" name="灯片编号占位符 3">
            <a:extLst>
              <a:ext uri="{FF2B5EF4-FFF2-40B4-BE49-F238E27FC236}">
                <a16:creationId xmlns:a16="http://schemas.microsoft.com/office/drawing/2014/main" id="{85A8A786-70D0-A416-0CFE-B550756DA16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9C7C7496-15B0-47F8-9A43-E73996555FA3}" type="slidenum">
              <a:rPr lang="zh-CN" altLang="en-US"/>
              <a:pPr/>
              <a:t>25</a:t>
            </a:fld>
            <a:endParaRPr lang="zh-CN" altLang="en-US"/>
          </a:p>
        </p:txBody>
      </p:sp>
    </p:spTree>
    <p:extLst>
      <p:ext uri="{BB962C8B-B14F-4D97-AF65-F5344CB8AC3E}">
        <p14:creationId xmlns:p14="http://schemas.microsoft.com/office/powerpoint/2010/main" val="17589755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26</a:t>
            </a:fld>
            <a:endParaRPr lang="zh-CN" altLang="en-US"/>
          </a:p>
        </p:txBody>
      </p:sp>
    </p:spTree>
    <p:extLst>
      <p:ext uri="{BB962C8B-B14F-4D97-AF65-F5344CB8AC3E}">
        <p14:creationId xmlns:p14="http://schemas.microsoft.com/office/powerpoint/2010/main" val="1872364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27</a:t>
            </a:fld>
            <a:endParaRPr lang="zh-CN" altLang="en-US"/>
          </a:p>
        </p:txBody>
      </p:sp>
    </p:spTree>
    <p:extLst>
      <p:ext uri="{BB962C8B-B14F-4D97-AF65-F5344CB8AC3E}">
        <p14:creationId xmlns:p14="http://schemas.microsoft.com/office/powerpoint/2010/main" val="35463850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0611-AD95-C020-9C05-3C81CCCBFFA6}"/>
            </a:ext>
          </a:extLst>
        </p:cNvPr>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041BFFA8-EA70-708F-0AB4-0C6222B1DA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a:extLst>
              <a:ext uri="{FF2B5EF4-FFF2-40B4-BE49-F238E27FC236}">
                <a16:creationId xmlns:a16="http://schemas.microsoft.com/office/drawing/2014/main" id="{80ACC8CF-9753-304D-2248-41F5E4570B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38916" name="灯片编号占位符 3">
            <a:extLst>
              <a:ext uri="{FF2B5EF4-FFF2-40B4-BE49-F238E27FC236}">
                <a16:creationId xmlns:a16="http://schemas.microsoft.com/office/drawing/2014/main" id="{5A0D2351-0CC4-5338-7D90-2260ECFEB1A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9C7C7496-15B0-47F8-9A43-E73996555FA3}" type="slidenum">
              <a:rPr lang="zh-CN" altLang="en-US"/>
              <a:pPr/>
              <a:t>28</a:t>
            </a:fld>
            <a:endParaRPr lang="zh-CN" altLang="en-US"/>
          </a:p>
        </p:txBody>
      </p:sp>
    </p:spTree>
    <p:extLst>
      <p:ext uri="{BB962C8B-B14F-4D97-AF65-F5344CB8AC3E}">
        <p14:creationId xmlns:p14="http://schemas.microsoft.com/office/powerpoint/2010/main" val="29093681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527EB-0600-776E-D850-7E53D09B4F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1D850A-A4FF-3FD9-F7B4-DBEEAA0B3D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97FC0A-A6F9-75C5-3C32-4BCBB35FC8A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35DC8AF-8E84-5F8E-6BE1-B00BC1FB1ACA}"/>
              </a:ext>
            </a:extLst>
          </p:cNvPr>
          <p:cNvSpPr>
            <a:spLocks noGrp="1"/>
          </p:cNvSpPr>
          <p:nvPr>
            <p:ph type="sldNum" sz="quarter" idx="5"/>
          </p:nvPr>
        </p:nvSpPr>
        <p:spPr/>
        <p:txBody>
          <a:bodyPr/>
          <a:lstStyle/>
          <a:p>
            <a:fld id="{A3ED8765-8EF3-408C-9341-152904E414ED}" type="slidenum">
              <a:rPr lang="zh-CN" altLang="en-US" smtClean="0"/>
              <a:t>29</a:t>
            </a:fld>
            <a:endParaRPr lang="zh-CN" altLang="en-US"/>
          </a:p>
        </p:txBody>
      </p:sp>
    </p:spTree>
    <p:extLst>
      <p:ext uri="{BB962C8B-B14F-4D97-AF65-F5344CB8AC3E}">
        <p14:creationId xmlns:p14="http://schemas.microsoft.com/office/powerpoint/2010/main" val="25107181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31</a:t>
            </a:fld>
            <a:endParaRPr lang="zh-CN" altLang="en-US"/>
          </a:p>
        </p:txBody>
      </p:sp>
    </p:spTree>
    <p:extLst>
      <p:ext uri="{BB962C8B-B14F-4D97-AF65-F5344CB8AC3E}">
        <p14:creationId xmlns:p14="http://schemas.microsoft.com/office/powerpoint/2010/main" val="13172191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32</a:t>
            </a:fld>
            <a:endParaRPr lang="zh-CN" altLang="en-US"/>
          </a:p>
        </p:txBody>
      </p:sp>
    </p:spTree>
    <p:extLst>
      <p:ext uri="{BB962C8B-B14F-4D97-AF65-F5344CB8AC3E}">
        <p14:creationId xmlns:p14="http://schemas.microsoft.com/office/powerpoint/2010/main" val="14083608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33</a:t>
            </a:fld>
            <a:endParaRPr lang="zh-CN" altLang="en-US"/>
          </a:p>
        </p:txBody>
      </p:sp>
    </p:spTree>
    <p:extLst>
      <p:ext uri="{BB962C8B-B14F-4D97-AF65-F5344CB8AC3E}">
        <p14:creationId xmlns:p14="http://schemas.microsoft.com/office/powerpoint/2010/main" val="2843919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34</a:t>
            </a:fld>
            <a:endParaRPr lang="zh-CN" altLang="en-US"/>
          </a:p>
        </p:txBody>
      </p:sp>
    </p:spTree>
    <p:extLst>
      <p:ext uri="{BB962C8B-B14F-4D97-AF65-F5344CB8AC3E}">
        <p14:creationId xmlns:p14="http://schemas.microsoft.com/office/powerpoint/2010/main" val="3813570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35</a:t>
            </a:fld>
            <a:endParaRPr lang="zh-CN" altLang="en-US"/>
          </a:p>
        </p:txBody>
      </p:sp>
    </p:spTree>
    <p:extLst>
      <p:ext uri="{BB962C8B-B14F-4D97-AF65-F5344CB8AC3E}">
        <p14:creationId xmlns:p14="http://schemas.microsoft.com/office/powerpoint/2010/main" val="26101240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36</a:t>
            </a:fld>
            <a:endParaRPr lang="zh-CN" altLang="en-US"/>
          </a:p>
        </p:txBody>
      </p:sp>
    </p:spTree>
    <p:extLst>
      <p:ext uri="{BB962C8B-B14F-4D97-AF65-F5344CB8AC3E}">
        <p14:creationId xmlns:p14="http://schemas.microsoft.com/office/powerpoint/2010/main" val="29619767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37</a:t>
            </a:fld>
            <a:endParaRPr lang="zh-CN" altLang="en-US"/>
          </a:p>
        </p:txBody>
      </p:sp>
    </p:spTree>
    <p:extLst>
      <p:ext uri="{BB962C8B-B14F-4D97-AF65-F5344CB8AC3E}">
        <p14:creationId xmlns:p14="http://schemas.microsoft.com/office/powerpoint/2010/main" val="22894350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38</a:t>
            </a:fld>
            <a:endParaRPr lang="zh-CN" altLang="en-US"/>
          </a:p>
        </p:txBody>
      </p:sp>
    </p:spTree>
    <p:extLst>
      <p:ext uri="{BB962C8B-B14F-4D97-AF65-F5344CB8AC3E}">
        <p14:creationId xmlns:p14="http://schemas.microsoft.com/office/powerpoint/2010/main" val="19431843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39</a:t>
            </a:fld>
            <a:endParaRPr lang="zh-CN" altLang="en-US"/>
          </a:p>
        </p:txBody>
      </p:sp>
    </p:spTree>
    <p:extLst>
      <p:ext uri="{BB962C8B-B14F-4D97-AF65-F5344CB8AC3E}">
        <p14:creationId xmlns:p14="http://schemas.microsoft.com/office/powerpoint/2010/main" val="11709458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40</a:t>
            </a:fld>
            <a:endParaRPr lang="zh-CN" altLang="en-US"/>
          </a:p>
        </p:txBody>
      </p:sp>
    </p:spTree>
    <p:extLst>
      <p:ext uri="{BB962C8B-B14F-4D97-AF65-F5344CB8AC3E}">
        <p14:creationId xmlns:p14="http://schemas.microsoft.com/office/powerpoint/2010/main" val="36138834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41</a:t>
            </a:fld>
            <a:endParaRPr lang="zh-CN" altLang="en-US"/>
          </a:p>
        </p:txBody>
      </p:sp>
    </p:spTree>
    <p:extLst>
      <p:ext uri="{BB962C8B-B14F-4D97-AF65-F5344CB8AC3E}">
        <p14:creationId xmlns:p14="http://schemas.microsoft.com/office/powerpoint/2010/main" val="37316536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42</a:t>
            </a:fld>
            <a:endParaRPr lang="zh-CN" altLang="en-US"/>
          </a:p>
        </p:txBody>
      </p:sp>
    </p:spTree>
    <p:extLst>
      <p:ext uri="{BB962C8B-B14F-4D97-AF65-F5344CB8AC3E}">
        <p14:creationId xmlns:p14="http://schemas.microsoft.com/office/powerpoint/2010/main" val="21351596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43</a:t>
            </a:fld>
            <a:endParaRPr lang="zh-CN" altLang="en-US"/>
          </a:p>
        </p:txBody>
      </p:sp>
    </p:spTree>
    <p:extLst>
      <p:ext uri="{BB962C8B-B14F-4D97-AF65-F5344CB8AC3E}">
        <p14:creationId xmlns:p14="http://schemas.microsoft.com/office/powerpoint/2010/main" val="26756796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44</a:t>
            </a:fld>
            <a:endParaRPr lang="zh-CN" altLang="en-US"/>
          </a:p>
        </p:txBody>
      </p:sp>
    </p:spTree>
    <p:extLst>
      <p:ext uri="{BB962C8B-B14F-4D97-AF65-F5344CB8AC3E}">
        <p14:creationId xmlns:p14="http://schemas.microsoft.com/office/powerpoint/2010/main" val="41762205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45</a:t>
            </a:fld>
            <a:endParaRPr lang="zh-CN" altLang="en-US"/>
          </a:p>
        </p:txBody>
      </p:sp>
    </p:spTree>
    <p:extLst>
      <p:ext uri="{BB962C8B-B14F-4D97-AF65-F5344CB8AC3E}">
        <p14:creationId xmlns:p14="http://schemas.microsoft.com/office/powerpoint/2010/main" val="29539788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A7CFA-2E7E-88BA-A0ED-61106802E8EB}"/>
            </a:ext>
          </a:extLst>
        </p:cNvPr>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422F4F61-A5FE-CECC-1F2B-0DF9045FEA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C5292066-739A-FE9E-D0A0-EF1215E42A3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043AA418-7007-8D46-EBF9-B9D3813EBC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46</a:t>
            </a:fld>
            <a:endParaRPr lang="zh-CN" altLang="en-US"/>
          </a:p>
        </p:txBody>
      </p:sp>
    </p:spTree>
    <p:extLst>
      <p:ext uri="{BB962C8B-B14F-4D97-AF65-F5344CB8AC3E}">
        <p14:creationId xmlns:p14="http://schemas.microsoft.com/office/powerpoint/2010/main" val="28525826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44B97-A44F-30F0-1C48-F3962FDE8372}"/>
            </a:ext>
          </a:extLst>
        </p:cNvPr>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75F35E8-7E25-8988-FE8E-836E11BC42E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9927B517-453B-96F6-AEFC-14E26761BF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8C2C6BCD-7B0F-7BED-8CF9-6E231E74AF6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47</a:t>
            </a:fld>
            <a:endParaRPr lang="zh-CN" altLang="en-US"/>
          </a:p>
        </p:txBody>
      </p:sp>
    </p:spTree>
    <p:extLst>
      <p:ext uri="{BB962C8B-B14F-4D97-AF65-F5344CB8AC3E}">
        <p14:creationId xmlns:p14="http://schemas.microsoft.com/office/powerpoint/2010/main" val="37187869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A63C8-0AC1-B166-2BFD-AEA8BDD5B58E}"/>
            </a:ext>
          </a:extLst>
        </p:cNvPr>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F35C6C1E-656E-D1DE-60C3-F52594F64BC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0750FBC8-7239-28AF-3D8A-8FB0782AD6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6AA9EF67-0F5F-4028-EF67-573D0399A3D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48</a:t>
            </a:fld>
            <a:endParaRPr lang="zh-CN" altLang="en-US"/>
          </a:p>
        </p:txBody>
      </p:sp>
    </p:spTree>
    <p:extLst>
      <p:ext uri="{BB962C8B-B14F-4D97-AF65-F5344CB8AC3E}">
        <p14:creationId xmlns:p14="http://schemas.microsoft.com/office/powerpoint/2010/main" val="26966406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3E93B-C80C-9F62-4F70-5B47D2101679}"/>
            </a:ext>
          </a:extLst>
        </p:cNvPr>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9254004B-4934-8C7E-F275-EEBD88B842D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8D64A8A6-77D0-E0E0-3781-DB8E0357EF1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522881CF-5928-FE9C-5F02-6F99015B73A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49</a:t>
            </a:fld>
            <a:endParaRPr lang="zh-CN" altLang="en-US"/>
          </a:p>
        </p:txBody>
      </p:sp>
    </p:spTree>
    <p:extLst>
      <p:ext uri="{BB962C8B-B14F-4D97-AF65-F5344CB8AC3E}">
        <p14:creationId xmlns:p14="http://schemas.microsoft.com/office/powerpoint/2010/main" val="6352556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3146F-53E7-7C2E-0A44-B52B52F6B1F4}"/>
            </a:ext>
          </a:extLst>
        </p:cNvPr>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9FF983B2-DE9C-F5EC-3822-2C888D1783D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B97519D7-775E-8A53-7CF0-9CD3440367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BC019AD6-18A2-ABB1-54CD-7D8F224B1E8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50</a:t>
            </a:fld>
            <a:endParaRPr lang="zh-CN" altLang="en-US"/>
          </a:p>
        </p:txBody>
      </p:sp>
    </p:spTree>
    <p:extLst>
      <p:ext uri="{BB962C8B-B14F-4D97-AF65-F5344CB8AC3E}">
        <p14:creationId xmlns:p14="http://schemas.microsoft.com/office/powerpoint/2010/main" val="22259488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ABC78-AAAC-5844-F2D0-DBC5E5434C19}"/>
            </a:ext>
          </a:extLst>
        </p:cNvPr>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2B9054A4-2D2C-36DB-5986-6DD62792BF8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BF71B0DB-E38C-D0C9-9951-21EEB16CC7A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C461EAAF-C6A6-F801-74A9-293A3E55EC7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51</a:t>
            </a:fld>
            <a:endParaRPr lang="zh-CN" altLang="en-US"/>
          </a:p>
        </p:txBody>
      </p:sp>
    </p:spTree>
    <p:extLst>
      <p:ext uri="{BB962C8B-B14F-4D97-AF65-F5344CB8AC3E}">
        <p14:creationId xmlns:p14="http://schemas.microsoft.com/office/powerpoint/2010/main" val="22786030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52</a:t>
            </a:fld>
            <a:endParaRPr lang="zh-CN" altLang="en-US"/>
          </a:p>
        </p:txBody>
      </p:sp>
    </p:spTree>
    <p:extLst>
      <p:ext uri="{BB962C8B-B14F-4D97-AF65-F5344CB8AC3E}">
        <p14:creationId xmlns:p14="http://schemas.microsoft.com/office/powerpoint/2010/main" val="4420490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幻灯片图像占位符 1">
            <a:extLst>
              <a:ext uri="{FF2B5EF4-FFF2-40B4-BE49-F238E27FC236}">
                <a16:creationId xmlns:a16="http://schemas.microsoft.com/office/drawing/2014/main" id="{3D214466-5D33-42CA-9565-C471A4510B9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0F8FCB46-F6A4-42D2-8E5B-9287B191FC20}"/>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r>
              <a:rPr lang="zh-CN" altLang="en-US" dirty="0">
                <a:solidFill>
                  <a:schemeClr val="tx1">
                    <a:lumMod val="85000"/>
                    <a:lumOff val="15000"/>
                  </a:schemeClr>
                </a:solidFill>
                <a:latin typeface="微软雅黑" pitchFamily="34" charset="-122"/>
                <a:ea typeface="微软雅黑" pitchFamily="34" charset="-122"/>
              </a:rPr>
              <a:t>查看帮助文档，回到资料总结，然后程序中演示</a:t>
            </a:r>
            <a:endParaRPr lang="en-US" altLang="zh-CN" dirty="0">
              <a:solidFill>
                <a:schemeClr val="tx1">
                  <a:lumMod val="85000"/>
                  <a:lumOff val="15000"/>
                </a:schemeClr>
              </a:solidFill>
              <a:latin typeface="微软雅黑" pitchFamily="34" charset="-122"/>
              <a:ea typeface="微软雅黑" pitchFamily="34" charset="-122"/>
            </a:endParaRPr>
          </a:p>
        </p:txBody>
      </p:sp>
      <p:sp>
        <p:nvSpPr>
          <p:cNvPr id="219140" name="灯片编号占位符 3">
            <a:extLst>
              <a:ext uri="{FF2B5EF4-FFF2-40B4-BE49-F238E27FC236}">
                <a16:creationId xmlns:a16="http://schemas.microsoft.com/office/drawing/2014/main" id="{2F3604A6-234C-4BD3-B57F-CC2DE0A52AB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D1C7AFF4-7C12-4B99-B41B-CB64B466C0E3}" type="slidenum">
              <a:rPr lang="zh-CN" altLang="en-US"/>
              <a:pPr/>
              <a:t>53</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幻灯片图像占位符 1">
            <a:extLst>
              <a:ext uri="{FF2B5EF4-FFF2-40B4-BE49-F238E27FC236}">
                <a16:creationId xmlns:a16="http://schemas.microsoft.com/office/drawing/2014/main" id="{1798803B-80BD-49DA-9D70-0956A16E9F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1187" name="备注占位符 2">
            <a:extLst>
              <a:ext uri="{FF2B5EF4-FFF2-40B4-BE49-F238E27FC236}">
                <a16:creationId xmlns:a16="http://schemas.microsoft.com/office/drawing/2014/main" id="{72AABF78-E8C8-4D15-99C0-1D188DFAAE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21188" name="灯片编号占位符 3">
            <a:extLst>
              <a:ext uri="{FF2B5EF4-FFF2-40B4-BE49-F238E27FC236}">
                <a16:creationId xmlns:a16="http://schemas.microsoft.com/office/drawing/2014/main" id="{43917C43-6998-48D1-8EAC-1887120BED4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59DC01C2-74AB-43B8-AE2B-B76AF1B9CF80}" type="slidenum">
              <a:rPr lang="zh-CN" altLang="en-US"/>
              <a:pPr/>
              <a:t>54</a:t>
            </a:fld>
            <a:endParaRPr lang="zh-CN" altLang="en-US"/>
          </a:p>
        </p:txBody>
      </p:sp>
    </p:spTree>
    <p:extLst>
      <p:ext uri="{BB962C8B-B14F-4D97-AF65-F5344CB8AC3E}">
        <p14:creationId xmlns:p14="http://schemas.microsoft.com/office/powerpoint/2010/main" val="5254837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幻灯片图像占位符 1">
            <a:extLst>
              <a:ext uri="{FF2B5EF4-FFF2-40B4-BE49-F238E27FC236}">
                <a16:creationId xmlns:a16="http://schemas.microsoft.com/office/drawing/2014/main" id="{1798803B-80BD-49DA-9D70-0956A16E9F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1187" name="备注占位符 2">
            <a:extLst>
              <a:ext uri="{FF2B5EF4-FFF2-40B4-BE49-F238E27FC236}">
                <a16:creationId xmlns:a16="http://schemas.microsoft.com/office/drawing/2014/main" id="{72AABF78-E8C8-4D15-99C0-1D188DFAAE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21188" name="灯片编号占位符 3">
            <a:extLst>
              <a:ext uri="{FF2B5EF4-FFF2-40B4-BE49-F238E27FC236}">
                <a16:creationId xmlns:a16="http://schemas.microsoft.com/office/drawing/2014/main" id="{43917C43-6998-48D1-8EAC-1887120BED4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59DC01C2-74AB-43B8-AE2B-B76AF1B9CF80}" type="slidenum">
              <a:rPr lang="zh-CN" altLang="en-US"/>
              <a:pPr/>
              <a:t>55</a:t>
            </a:fld>
            <a:endParaRPr lang="zh-CN" altLang="en-US"/>
          </a:p>
        </p:txBody>
      </p:sp>
    </p:spTree>
    <p:extLst>
      <p:ext uri="{BB962C8B-B14F-4D97-AF65-F5344CB8AC3E}">
        <p14:creationId xmlns:p14="http://schemas.microsoft.com/office/powerpoint/2010/main" val="269099889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幻灯片图像占位符 1">
            <a:extLst>
              <a:ext uri="{FF2B5EF4-FFF2-40B4-BE49-F238E27FC236}">
                <a16:creationId xmlns:a16="http://schemas.microsoft.com/office/drawing/2014/main" id="{1798803B-80BD-49DA-9D70-0956A16E9F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1187" name="备注占位符 2">
            <a:extLst>
              <a:ext uri="{FF2B5EF4-FFF2-40B4-BE49-F238E27FC236}">
                <a16:creationId xmlns:a16="http://schemas.microsoft.com/office/drawing/2014/main" id="{72AABF78-E8C8-4D15-99C0-1D188DFAAE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21188" name="灯片编号占位符 3">
            <a:extLst>
              <a:ext uri="{FF2B5EF4-FFF2-40B4-BE49-F238E27FC236}">
                <a16:creationId xmlns:a16="http://schemas.microsoft.com/office/drawing/2014/main" id="{43917C43-6998-48D1-8EAC-1887120BED4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59DC01C2-74AB-43B8-AE2B-B76AF1B9CF80}" type="slidenum">
              <a:rPr lang="zh-CN" altLang="en-US"/>
              <a:pPr/>
              <a:t>56</a:t>
            </a:fld>
            <a:endParaRPr lang="zh-CN" altLang="en-US"/>
          </a:p>
        </p:txBody>
      </p:sp>
    </p:spTree>
    <p:extLst>
      <p:ext uri="{BB962C8B-B14F-4D97-AF65-F5344CB8AC3E}">
        <p14:creationId xmlns:p14="http://schemas.microsoft.com/office/powerpoint/2010/main" val="18016441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幻灯片图像占位符 1">
            <a:extLst>
              <a:ext uri="{FF2B5EF4-FFF2-40B4-BE49-F238E27FC236}">
                <a16:creationId xmlns:a16="http://schemas.microsoft.com/office/drawing/2014/main" id="{1798803B-80BD-49DA-9D70-0956A16E9F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1187" name="备注占位符 2">
            <a:extLst>
              <a:ext uri="{FF2B5EF4-FFF2-40B4-BE49-F238E27FC236}">
                <a16:creationId xmlns:a16="http://schemas.microsoft.com/office/drawing/2014/main" id="{72AABF78-E8C8-4D15-99C0-1D188DFAAE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21188" name="灯片编号占位符 3">
            <a:extLst>
              <a:ext uri="{FF2B5EF4-FFF2-40B4-BE49-F238E27FC236}">
                <a16:creationId xmlns:a16="http://schemas.microsoft.com/office/drawing/2014/main" id="{43917C43-6998-48D1-8EAC-1887120BED4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59DC01C2-74AB-43B8-AE2B-B76AF1B9CF80}" type="slidenum">
              <a:rPr lang="zh-CN" altLang="en-US"/>
              <a:pPr/>
              <a:t>57</a:t>
            </a:fld>
            <a:endParaRPr lang="zh-CN" altLang="en-US"/>
          </a:p>
        </p:txBody>
      </p:sp>
    </p:spTree>
    <p:extLst>
      <p:ext uri="{BB962C8B-B14F-4D97-AF65-F5344CB8AC3E}">
        <p14:creationId xmlns:p14="http://schemas.microsoft.com/office/powerpoint/2010/main" val="3224374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幻灯片图像占位符 1">
            <a:extLst>
              <a:ext uri="{FF2B5EF4-FFF2-40B4-BE49-F238E27FC236}">
                <a16:creationId xmlns:a16="http://schemas.microsoft.com/office/drawing/2014/main" id="{BA2DE4C4-3FE9-49D9-A266-BB60C7A4E5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1667" name="备注占位符 2">
            <a:extLst>
              <a:ext uri="{FF2B5EF4-FFF2-40B4-BE49-F238E27FC236}">
                <a16:creationId xmlns:a16="http://schemas.microsoft.com/office/drawing/2014/main" id="{F1CB1931-E572-491D-A27F-07447802364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41668" name="灯片编号占位符 3">
            <a:extLst>
              <a:ext uri="{FF2B5EF4-FFF2-40B4-BE49-F238E27FC236}">
                <a16:creationId xmlns:a16="http://schemas.microsoft.com/office/drawing/2014/main" id="{0C62377C-DE99-4080-BE8B-880407037CE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E39F48B6-1A03-494E-B823-DC32C404FE74}" type="slidenum">
              <a:rPr lang="zh-CN" altLang="en-US"/>
              <a:pPr/>
              <a:t>58</a:t>
            </a:fld>
            <a:endParaRPr lang="zh-CN" altLang="en-US"/>
          </a:p>
        </p:txBody>
      </p:sp>
    </p:spTree>
    <p:extLst>
      <p:ext uri="{BB962C8B-B14F-4D97-AF65-F5344CB8AC3E}">
        <p14:creationId xmlns:p14="http://schemas.microsoft.com/office/powerpoint/2010/main" val="367511263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幻灯片图像占位符 1">
            <a:extLst>
              <a:ext uri="{FF2B5EF4-FFF2-40B4-BE49-F238E27FC236}">
                <a16:creationId xmlns:a16="http://schemas.microsoft.com/office/drawing/2014/main" id="{BA2DE4C4-3FE9-49D9-A266-BB60C7A4E5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1667" name="备注占位符 2">
            <a:extLst>
              <a:ext uri="{FF2B5EF4-FFF2-40B4-BE49-F238E27FC236}">
                <a16:creationId xmlns:a16="http://schemas.microsoft.com/office/drawing/2014/main" id="{F1CB1931-E572-491D-A27F-07447802364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41668" name="灯片编号占位符 3">
            <a:extLst>
              <a:ext uri="{FF2B5EF4-FFF2-40B4-BE49-F238E27FC236}">
                <a16:creationId xmlns:a16="http://schemas.microsoft.com/office/drawing/2014/main" id="{0C62377C-DE99-4080-BE8B-880407037CE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E39F48B6-1A03-494E-B823-DC32C404FE74}" type="slidenum">
              <a:rPr lang="zh-CN" altLang="en-US"/>
              <a:pPr/>
              <a:t>59</a:t>
            </a:fld>
            <a:endParaRPr lang="zh-CN" altLang="en-US"/>
          </a:p>
        </p:txBody>
      </p:sp>
    </p:spTree>
    <p:extLst>
      <p:ext uri="{BB962C8B-B14F-4D97-AF65-F5344CB8AC3E}">
        <p14:creationId xmlns:p14="http://schemas.microsoft.com/office/powerpoint/2010/main" val="6234836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B8AFE-ABBB-2AE2-E721-5B4F2F0AA2DE}"/>
            </a:ext>
          </a:extLst>
        </p:cNvPr>
        <p:cNvGrpSpPr/>
        <p:nvPr/>
      </p:nvGrpSpPr>
      <p:grpSpPr>
        <a:xfrm>
          <a:off x="0" y="0"/>
          <a:ext cx="0" cy="0"/>
          <a:chOff x="0" y="0"/>
          <a:chExt cx="0" cy="0"/>
        </a:xfrm>
      </p:grpSpPr>
      <p:sp>
        <p:nvSpPr>
          <p:cNvPr id="241666" name="幻灯片图像占位符 1">
            <a:extLst>
              <a:ext uri="{FF2B5EF4-FFF2-40B4-BE49-F238E27FC236}">
                <a16:creationId xmlns:a16="http://schemas.microsoft.com/office/drawing/2014/main" id="{3C45268B-B4F3-C43D-503C-D67E1A6569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1667" name="备注占位符 2">
            <a:extLst>
              <a:ext uri="{FF2B5EF4-FFF2-40B4-BE49-F238E27FC236}">
                <a16:creationId xmlns:a16="http://schemas.microsoft.com/office/drawing/2014/main" id="{D3C92338-DE26-2960-4816-53F5CAE296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41668" name="灯片编号占位符 3">
            <a:extLst>
              <a:ext uri="{FF2B5EF4-FFF2-40B4-BE49-F238E27FC236}">
                <a16:creationId xmlns:a16="http://schemas.microsoft.com/office/drawing/2014/main" id="{D2C909F1-5602-33F8-8720-A375ED9C24B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E39F48B6-1A03-494E-B823-DC32C404FE74}" type="slidenum">
              <a:rPr lang="zh-CN" altLang="en-US"/>
              <a:pPr/>
              <a:t>60</a:t>
            </a:fld>
            <a:endParaRPr lang="zh-CN" altLang="en-US"/>
          </a:p>
        </p:txBody>
      </p:sp>
    </p:spTree>
    <p:extLst>
      <p:ext uri="{BB962C8B-B14F-4D97-AF65-F5344CB8AC3E}">
        <p14:creationId xmlns:p14="http://schemas.microsoft.com/office/powerpoint/2010/main" val="33548939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9DFE3-2353-490C-D8D1-2DC434A408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28F3C3-E94A-58DE-C14F-FF825AFDDF0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DFE22E-4663-C558-E358-1FF16344EFB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128240F-49EE-065C-AE5F-89665EBFD75B}"/>
              </a:ext>
            </a:extLst>
          </p:cNvPr>
          <p:cNvSpPr>
            <a:spLocks noGrp="1"/>
          </p:cNvSpPr>
          <p:nvPr>
            <p:ph type="sldNum" sz="quarter" idx="5"/>
          </p:nvPr>
        </p:nvSpPr>
        <p:spPr/>
        <p:txBody>
          <a:bodyPr/>
          <a:lstStyle/>
          <a:p>
            <a:fld id="{A3ED8765-8EF3-408C-9341-152904E414ED}" type="slidenum">
              <a:rPr lang="zh-CN" altLang="en-US" smtClean="0"/>
              <a:t>61</a:t>
            </a:fld>
            <a:endParaRPr lang="zh-CN" altLang="en-US"/>
          </a:p>
        </p:txBody>
      </p:sp>
    </p:spTree>
    <p:extLst>
      <p:ext uri="{BB962C8B-B14F-4D97-AF65-F5344CB8AC3E}">
        <p14:creationId xmlns:p14="http://schemas.microsoft.com/office/powerpoint/2010/main" val="149333397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64</a:t>
            </a:fld>
            <a:endParaRPr lang="zh-CN" altLang="en-US"/>
          </a:p>
        </p:txBody>
      </p:sp>
    </p:spTree>
    <p:extLst>
      <p:ext uri="{BB962C8B-B14F-4D97-AF65-F5344CB8AC3E}">
        <p14:creationId xmlns:p14="http://schemas.microsoft.com/office/powerpoint/2010/main" val="17397853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FB663-9A3D-72C8-A25C-9583B10B9E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9BA691-E856-897E-E22D-62267B5267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039AA3-05E1-A32D-CDD7-BFFAA061903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5BF9CE4-66DB-AE7A-8ECB-0747C5BA46FB}"/>
              </a:ext>
            </a:extLst>
          </p:cNvPr>
          <p:cNvSpPr>
            <a:spLocks noGrp="1"/>
          </p:cNvSpPr>
          <p:nvPr>
            <p:ph type="sldNum" sz="quarter" idx="5"/>
          </p:nvPr>
        </p:nvSpPr>
        <p:spPr/>
        <p:txBody>
          <a:bodyPr/>
          <a:lstStyle/>
          <a:p>
            <a:fld id="{A3ED8765-8EF3-408C-9341-152904E414ED}" type="slidenum">
              <a:rPr lang="zh-CN" altLang="en-US" smtClean="0"/>
              <a:t>67</a:t>
            </a:fld>
            <a:endParaRPr lang="zh-CN" altLang="en-US"/>
          </a:p>
        </p:txBody>
      </p:sp>
    </p:spTree>
    <p:extLst>
      <p:ext uri="{BB962C8B-B14F-4D97-AF65-F5344CB8AC3E}">
        <p14:creationId xmlns:p14="http://schemas.microsoft.com/office/powerpoint/2010/main" val="114903783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a:extLst>
              <a:ext uri="{FF2B5EF4-FFF2-40B4-BE49-F238E27FC236}">
                <a16:creationId xmlns:a16="http://schemas.microsoft.com/office/drawing/2014/main" id="{EB27234A-531B-4E76-A75E-0422938A4C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CB96C3A8-F9C8-464D-860C-C053793B06E4}"/>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r>
              <a:rPr lang="zh-CN" altLang="en-US" dirty="0">
                <a:solidFill>
                  <a:schemeClr val="tx1">
                    <a:lumMod val="85000"/>
                    <a:lumOff val="15000"/>
                  </a:schemeClr>
                </a:solidFill>
                <a:latin typeface="微软雅黑" pitchFamily="34" charset="-122"/>
                <a:ea typeface="微软雅黑" pitchFamily="34" charset="-122"/>
              </a:rPr>
              <a:t>查看帮助文档，回到资料总结，然后程序中演示</a:t>
            </a:r>
            <a:endParaRPr lang="en-US" altLang="zh-CN" dirty="0">
              <a:solidFill>
                <a:schemeClr val="tx1">
                  <a:lumMod val="85000"/>
                  <a:lumOff val="15000"/>
                </a:schemeClr>
              </a:solidFill>
              <a:latin typeface="微软雅黑" pitchFamily="34" charset="-122"/>
              <a:ea typeface="微软雅黑" pitchFamily="34" charset="-122"/>
            </a:endParaRPr>
          </a:p>
        </p:txBody>
      </p:sp>
      <p:sp>
        <p:nvSpPr>
          <p:cNvPr id="124932" name="灯片编号占位符 3">
            <a:extLst>
              <a:ext uri="{FF2B5EF4-FFF2-40B4-BE49-F238E27FC236}">
                <a16:creationId xmlns:a16="http://schemas.microsoft.com/office/drawing/2014/main" id="{F0B92B8B-A081-4059-B9D0-E82F9C76867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DED47B8B-489A-4FF6-AE0C-61511C0F10D6}" type="slidenum">
              <a:rPr lang="zh-CN" altLang="en-US"/>
              <a:pPr/>
              <a:t>69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AD079-6389-F54A-47CE-D72717CC54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075C4B-BA0F-6EC1-F1F4-56B0DCD77A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E48A72-4FC4-591F-3615-14B12F6A0C9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13675B6-77E4-4FB6-40BC-FAFC02FD23E7}"/>
              </a:ext>
            </a:extLst>
          </p:cNvPr>
          <p:cNvSpPr>
            <a:spLocks noGrp="1"/>
          </p:cNvSpPr>
          <p:nvPr>
            <p:ph type="sldNum" sz="quarter" idx="5"/>
          </p:nvPr>
        </p:nvSpPr>
        <p:spPr/>
        <p:txBody>
          <a:bodyPr/>
          <a:lstStyle/>
          <a:p>
            <a:fld id="{A3ED8765-8EF3-408C-9341-152904E414ED}" type="slidenum">
              <a:rPr lang="zh-CN" altLang="en-US" smtClean="0"/>
              <a:t>71</a:t>
            </a:fld>
            <a:endParaRPr lang="zh-CN" altLang="en-US"/>
          </a:p>
        </p:txBody>
      </p:sp>
    </p:spTree>
    <p:extLst>
      <p:ext uri="{BB962C8B-B14F-4D97-AF65-F5344CB8AC3E}">
        <p14:creationId xmlns:p14="http://schemas.microsoft.com/office/powerpoint/2010/main" val="40396982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73</a:t>
            </a:fld>
            <a:endParaRPr lang="zh-CN" altLang="en-US"/>
          </a:p>
        </p:txBody>
      </p:sp>
    </p:spTree>
    <p:extLst>
      <p:ext uri="{BB962C8B-B14F-4D97-AF65-F5344CB8AC3E}">
        <p14:creationId xmlns:p14="http://schemas.microsoft.com/office/powerpoint/2010/main" val="9778738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74</a:t>
            </a:fld>
            <a:endParaRPr lang="zh-CN" altLang="en-US"/>
          </a:p>
        </p:txBody>
      </p:sp>
    </p:spTree>
    <p:extLst>
      <p:ext uri="{BB962C8B-B14F-4D97-AF65-F5344CB8AC3E}">
        <p14:creationId xmlns:p14="http://schemas.microsoft.com/office/powerpoint/2010/main" val="13435305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75</a:t>
            </a:fld>
            <a:endParaRPr lang="zh-CN" altLang="en-US"/>
          </a:p>
        </p:txBody>
      </p:sp>
    </p:spTree>
    <p:extLst>
      <p:ext uri="{BB962C8B-B14F-4D97-AF65-F5344CB8AC3E}">
        <p14:creationId xmlns:p14="http://schemas.microsoft.com/office/powerpoint/2010/main" val="53284849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3222522B-BF6C-4496-8C36-032C98F501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F336A5C9-1363-418D-B666-67518DA4A757}"/>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147460" name="灯片编号占位符 3">
            <a:extLst>
              <a:ext uri="{FF2B5EF4-FFF2-40B4-BE49-F238E27FC236}">
                <a16:creationId xmlns:a16="http://schemas.microsoft.com/office/drawing/2014/main" id="{D4D8A187-7A08-4B91-ADF3-0280629989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B8F2FE1-361B-426A-B1E5-CFE195DEA75F}" type="slidenum">
              <a:rPr lang="zh-CN" altLang="en-US"/>
              <a:pPr/>
              <a:t>77</a:t>
            </a:fld>
            <a:endParaRPr lang="zh-CN" altLang="en-US"/>
          </a:p>
        </p:txBody>
      </p:sp>
    </p:spTree>
    <p:extLst>
      <p:ext uri="{BB962C8B-B14F-4D97-AF65-F5344CB8AC3E}">
        <p14:creationId xmlns:p14="http://schemas.microsoft.com/office/powerpoint/2010/main" val="108576324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5BAEF-E8ED-E680-65F0-A582A1EE58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8CF983-714C-C60B-9042-0BF445E2594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4B83BF-BF8C-D227-734A-8E0A34D6CA2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D0B1E63-4273-8101-8E37-1F5EA4BEF58C}"/>
              </a:ext>
            </a:extLst>
          </p:cNvPr>
          <p:cNvSpPr>
            <a:spLocks noGrp="1"/>
          </p:cNvSpPr>
          <p:nvPr>
            <p:ph type="sldNum" sz="quarter" idx="5"/>
          </p:nvPr>
        </p:nvSpPr>
        <p:spPr/>
        <p:txBody>
          <a:bodyPr/>
          <a:lstStyle/>
          <a:p>
            <a:fld id="{A3ED8765-8EF3-408C-9341-152904E414ED}" type="slidenum">
              <a:rPr lang="zh-CN" altLang="en-US" smtClean="0"/>
              <a:t>78</a:t>
            </a:fld>
            <a:endParaRPr lang="zh-CN" altLang="en-US"/>
          </a:p>
        </p:txBody>
      </p:sp>
    </p:spTree>
    <p:extLst>
      <p:ext uri="{BB962C8B-B14F-4D97-AF65-F5344CB8AC3E}">
        <p14:creationId xmlns:p14="http://schemas.microsoft.com/office/powerpoint/2010/main" val="242565644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3222522B-BF6C-4496-8C36-032C98F501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F336A5C9-1363-418D-B666-67518DA4A757}"/>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147460" name="灯片编号占位符 3">
            <a:extLst>
              <a:ext uri="{FF2B5EF4-FFF2-40B4-BE49-F238E27FC236}">
                <a16:creationId xmlns:a16="http://schemas.microsoft.com/office/drawing/2014/main" id="{D4D8A187-7A08-4B91-ADF3-0280629989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B8F2FE1-361B-426A-B1E5-CFE195DEA75F}" type="slidenum">
              <a:rPr lang="zh-CN" altLang="en-US"/>
              <a:pPr/>
              <a:t>80</a:t>
            </a:fld>
            <a:endParaRPr lang="zh-CN" altLang="en-US"/>
          </a:p>
        </p:txBody>
      </p:sp>
    </p:spTree>
    <p:extLst>
      <p:ext uri="{BB962C8B-B14F-4D97-AF65-F5344CB8AC3E}">
        <p14:creationId xmlns:p14="http://schemas.microsoft.com/office/powerpoint/2010/main" val="359829034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3222522B-BF6C-4496-8C36-032C98F501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F336A5C9-1363-418D-B666-67518DA4A757}"/>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147460" name="灯片编号占位符 3">
            <a:extLst>
              <a:ext uri="{FF2B5EF4-FFF2-40B4-BE49-F238E27FC236}">
                <a16:creationId xmlns:a16="http://schemas.microsoft.com/office/drawing/2014/main" id="{D4D8A187-7A08-4B91-ADF3-0280629989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B8F2FE1-361B-426A-B1E5-CFE195DEA75F}" type="slidenum">
              <a:rPr lang="zh-CN" altLang="en-US"/>
              <a:pPr/>
              <a:t>81</a:t>
            </a:fld>
            <a:endParaRPr lang="zh-CN" altLang="en-US"/>
          </a:p>
        </p:txBody>
      </p:sp>
    </p:spTree>
    <p:extLst>
      <p:ext uri="{BB962C8B-B14F-4D97-AF65-F5344CB8AC3E}">
        <p14:creationId xmlns:p14="http://schemas.microsoft.com/office/powerpoint/2010/main" val="181666888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3222522B-BF6C-4496-8C36-032C98F501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F336A5C9-1363-418D-B666-67518DA4A757}"/>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147460" name="灯片编号占位符 3">
            <a:extLst>
              <a:ext uri="{FF2B5EF4-FFF2-40B4-BE49-F238E27FC236}">
                <a16:creationId xmlns:a16="http://schemas.microsoft.com/office/drawing/2014/main" id="{D4D8A187-7A08-4B91-ADF3-0280629989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B8F2FE1-361B-426A-B1E5-CFE195DEA75F}" type="slidenum">
              <a:rPr lang="zh-CN" altLang="en-US"/>
              <a:pPr/>
              <a:t>83</a:t>
            </a:fld>
            <a:endParaRPr lang="zh-CN" altLang="en-US"/>
          </a:p>
        </p:txBody>
      </p:sp>
    </p:spTree>
    <p:extLst>
      <p:ext uri="{BB962C8B-B14F-4D97-AF65-F5344CB8AC3E}">
        <p14:creationId xmlns:p14="http://schemas.microsoft.com/office/powerpoint/2010/main" val="139351318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3222522B-BF6C-4496-8C36-032C98F501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F336A5C9-1363-418D-B666-67518DA4A757}"/>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147460" name="灯片编号占位符 3">
            <a:extLst>
              <a:ext uri="{FF2B5EF4-FFF2-40B4-BE49-F238E27FC236}">
                <a16:creationId xmlns:a16="http://schemas.microsoft.com/office/drawing/2014/main" id="{D4D8A187-7A08-4B91-ADF3-0280629989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B8F2FE1-361B-426A-B1E5-CFE195DEA75F}" type="slidenum">
              <a:rPr lang="zh-CN" altLang="en-US"/>
              <a:pPr/>
              <a:t>85</a:t>
            </a:fld>
            <a:endParaRPr lang="zh-CN" altLang="en-US"/>
          </a:p>
        </p:txBody>
      </p:sp>
    </p:spTree>
    <p:extLst>
      <p:ext uri="{BB962C8B-B14F-4D97-AF65-F5344CB8AC3E}">
        <p14:creationId xmlns:p14="http://schemas.microsoft.com/office/powerpoint/2010/main" val="329615956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0A72A-F8EB-F329-17B8-8B21A548CF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88FEBC-0151-D96E-F651-6AAE458F6C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9D1011-5766-EEC5-9208-9FD602D22CB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6B2EDFE-4F4F-BCE9-30B2-E4B5633367FE}"/>
              </a:ext>
            </a:extLst>
          </p:cNvPr>
          <p:cNvSpPr>
            <a:spLocks noGrp="1"/>
          </p:cNvSpPr>
          <p:nvPr>
            <p:ph type="sldNum" sz="quarter" idx="5"/>
          </p:nvPr>
        </p:nvSpPr>
        <p:spPr/>
        <p:txBody>
          <a:bodyPr/>
          <a:lstStyle/>
          <a:p>
            <a:fld id="{A3ED8765-8EF3-408C-9341-152904E414ED}" type="slidenum">
              <a:rPr lang="zh-CN" altLang="en-US" smtClean="0"/>
              <a:t>86</a:t>
            </a:fld>
            <a:endParaRPr lang="zh-CN" altLang="en-US"/>
          </a:p>
        </p:txBody>
      </p:sp>
    </p:spTree>
    <p:extLst>
      <p:ext uri="{BB962C8B-B14F-4D97-AF65-F5344CB8AC3E}">
        <p14:creationId xmlns:p14="http://schemas.microsoft.com/office/powerpoint/2010/main" val="249875619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88</a:t>
            </a:fld>
            <a:endParaRPr lang="zh-CN" altLang="en-US"/>
          </a:p>
        </p:txBody>
      </p:sp>
    </p:spTree>
    <p:extLst>
      <p:ext uri="{BB962C8B-B14F-4D97-AF65-F5344CB8AC3E}">
        <p14:creationId xmlns:p14="http://schemas.microsoft.com/office/powerpoint/2010/main" val="158470411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3222522B-BF6C-4496-8C36-032C98F501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F336A5C9-1363-418D-B666-67518DA4A757}"/>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147460" name="灯片编号占位符 3">
            <a:extLst>
              <a:ext uri="{FF2B5EF4-FFF2-40B4-BE49-F238E27FC236}">
                <a16:creationId xmlns:a16="http://schemas.microsoft.com/office/drawing/2014/main" id="{D4D8A187-7A08-4B91-ADF3-0280629989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B8F2FE1-361B-426A-B1E5-CFE195DEA75F}" type="slidenum">
              <a:rPr lang="zh-CN" altLang="en-US"/>
              <a:pPr/>
              <a:t>89</a:t>
            </a:fld>
            <a:endParaRPr lang="zh-CN" altLang="en-US"/>
          </a:p>
        </p:txBody>
      </p:sp>
    </p:spTree>
    <p:extLst>
      <p:ext uri="{BB962C8B-B14F-4D97-AF65-F5344CB8AC3E}">
        <p14:creationId xmlns:p14="http://schemas.microsoft.com/office/powerpoint/2010/main" val="115519560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3222522B-BF6C-4496-8C36-032C98F501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F336A5C9-1363-418D-B666-67518DA4A757}"/>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147460" name="灯片编号占位符 3">
            <a:extLst>
              <a:ext uri="{FF2B5EF4-FFF2-40B4-BE49-F238E27FC236}">
                <a16:creationId xmlns:a16="http://schemas.microsoft.com/office/drawing/2014/main" id="{D4D8A187-7A08-4B91-ADF3-0280629989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B8F2FE1-361B-426A-B1E5-CFE195DEA75F}" type="slidenum">
              <a:rPr lang="zh-CN" altLang="en-US"/>
              <a:pPr/>
              <a:t>90</a:t>
            </a:fld>
            <a:endParaRPr lang="zh-CN" altLang="en-US"/>
          </a:p>
        </p:txBody>
      </p:sp>
    </p:spTree>
    <p:extLst>
      <p:ext uri="{BB962C8B-B14F-4D97-AF65-F5344CB8AC3E}">
        <p14:creationId xmlns:p14="http://schemas.microsoft.com/office/powerpoint/2010/main" val="136764662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3222522B-BF6C-4496-8C36-032C98F501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F336A5C9-1363-418D-B666-67518DA4A757}"/>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147460" name="灯片编号占位符 3">
            <a:extLst>
              <a:ext uri="{FF2B5EF4-FFF2-40B4-BE49-F238E27FC236}">
                <a16:creationId xmlns:a16="http://schemas.microsoft.com/office/drawing/2014/main" id="{D4D8A187-7A08-4B91-ADF3-0280629989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B8F2FE1-361B-426A-B1E5-CFE195DEA75F}" type="slidenum">
              <a:rPr lang="zh-CN" altLang="en-US"/>
              <a:pPr/>
              <a:t>91</a:t>
            </a:fld>
            <a:endParaRPr lang="zh-CN" altLang="en-US"/>
          </a:p>
        </p:txBody>
      </p:sp>
    </p:spTree>
    <p:extLst>
      <p:ext uri="{BB962C8B-B14F-4D97-AF65-F5344CB8AC3E}">
        <p14:creationId xmlns:p14="http://schemas.microsoft.com/office/powerpoint/2010/main" val="261488806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3222522B-BF6C-4496-8C36-032C98F501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F336A5C9-1363-418D-B666-67518DA4A757}"/>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147460" name="灯片编号占位符 3">
            <a:extLst>
              <a:ext uri="{FF2B5EF4-FFF2-40B4-BE49-F238E27FC236}">
                <a16:creationId xmlns:a16="http://schemas.microsoft.com/office/drawing/2014/main" id="{D4D8A187-7A08-4B91-ADF3-0280629989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B8F2FE1-361B-426A-B1E5-CFE195DEA75F}" type="slidenum">
              <a:rPr lang="zh-CN" altLang="en-US"/>
              <a:pPr/>
              <a:t>92</a:t>
            </a:fld>
            <a:endParaRPr lang="zh-CN" altLang="en-US"/>
          </a:p>
        </p:txBody>
      </p:sp>
    </p:spTree>
    <p:extLst>
      <p:ext uri="{BB962C8B-B14F-4D97-AF65-F5344CB8AC3E}">
        <p14:creationId xmlns:p14="http://schemas.microsoft.com/office/powerpoint/2010/main" val="258577154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3222522B-BF6C-4496-8C36-032C98F501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F336A5C9-1363-418D-B666-67518DA4A757}"/>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147460" name="灯片编号占位符 3">
            <a:extLst>
              <a:ext uri="{FF2B5EF4-FFF2-40B4-BE49-F238E27FC236}">
                <a16:creationId xmlns:a16="http://schemas.microsoft.com/office/drawing/2014/main" id="{D4D8A187-7A08-4B91-ADF3-0280629989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B8F2FE1-361B-426A-B1E5-CFE195DEA75F}" type="slidenum">
              <a:rPr lang="zh-CN" altLang="en-US"/>
              <a:pPr/>
              <a:t>93</a:t>
            </a:fld>
            <a:endParaRPr lang="zh-CN" altLang="en-US"/>
          </a:p>
        </p:txBody>
      </p:sp>
    </p:spTree>
    <p:extLst>
      <p:ext uri="{BB962C8B-B14F-4D97-AF65-F5344CB8AC3E}">
        <p14:creationId xmlns:p14="http://schemas.microsoft.com/office/powerpoint/2010/main" val="13254692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3222522B-BF6C-4496-8C36-032C98F501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F336A5C9-1363-418D-B666-67518DA4A757}"/>
              </a:ext>
            </a:extLst>
          </p:cNvPr>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150000"/>
              </a:lnSpc>
              <a:spcBef>
                <a:spcPts val="0"/>
              </a:spcBef>
              <a:spcAft>
                <a:spcPts val="0"/>
              </a:spcAft>
              <a:defRPr/>
            </a:pPr>
            <a:endParaRPr lang="en-US" altLang="zh-CN" dirty="0">
              <a:solidFill>
                <a:schemeClr val="tx1">
                  <a:lumMod val="85000"/>
                  <a:lumOff val="15000"/>
                </a:schemeClr>
              </a:solidFill>
              <a:latin typeface="微软雅黑" pitchFamily="34" charset="-122"/>
              <a:ea typeface="微软雅黑" pitchFamily="34" charset="-122"/>
            </a:endParaRPr>
          </a:p>
        </p:txBody>
      </p:sp>
      <p:sp>
        <p:nvSpPr>
          <p:cNvPr id="147460" name="灯片编号占位符 3">
            <a:extLst>
              <a:ext uri="{FF2B5EF4-FFF2-40B4-BE49-F238E27FC236}">
                <a16:creationId xmlns:a16="http://schemas.microsoft.com/office/drawing/2014/main" id="{D4D8A187-7A08-4B91-ADF3-0280629989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0B8F2FE1-361B-426A-B1E5-CFE195DEA75F}" type="slidenum">
              <a:rPr lang="zh-CN" altLang="en-US"/>
              <a:pPr/>
              <a:t>94</a:t>
            </a:fld>
            <a:endParaRPr lang="zh-CN" altLang="en-US"/>
          </a:p>
        </p:txBody>
      </p:sp>
    </p:spTree>
    <p:extLst>
      <p:ext uri="{BB962C8B-B14F-4D97-AF65-F5344CB8AC3E}">
        <p14:creationId xmlns:p14="http://schemas.microsoft.com/office/powerpoint/2010/main" val="281629787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95</a:t>
            </a:fld>
            <a:endParaRPr lang="zh-CN" altLang="en-US"/>
          </a:p>
        </p:txBody>
      </p:sp>
    </p:spTree>
    <p:extLst>
      <p:ext uri="{BB962C8B-B14F-4D97-AF65-F5344CB8AC3E}">
        <p14:creationId xmlns:p14="http://schemas.microsoft.com/office/powerpoint/2010/main" val="352266121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96</a:t>
            </a:fld>
            <a:endParaRPr lang="zh-CN" altLang="en-US"/>
          </a:p>
        </p:txBody>
      </p:sp>
    </p:spTree>
    <p:extLst>
      <p:ext uri="{BB962C8B-B14F-4D97-AF65-F5344CB8AC3E}">
        <p14:creationId xmlns:p14="http://schemas.microsoft.com/office/powerpoint/2010/main" val="94218820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286F2058-DA57-4033-A8E4-E68395E6A6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C2E32B0A-0710-4E15-8172-E1D23AAD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45060" name="灯片编号占位符 3">
            <a:extLst>
              <a:ext uri="{FF2B5EF4-FFF2-40B4-BE49-F238E27FC236}">
                <a16:creationId xmlns:a16="http://schemas.microsoft.com/office/drawing/2014/main" id="{A40DC9CD-B425-43D9-B3CC-3413990A8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3610CC9-E201-469C-9E5F-220924721DB0}" type="slidenum">
              <a:rPr lang="zh-CN" altLang="en-US"/>
              <a:pPr>
                <a:spcBef>
                  <a:spcPct val="0"/>
                </a:spcBef>
              </a:pPr>
              <a:t>97</a:t>
            </a:fld>
            <a:endParaRPr lang="zh-CN" altLang="en-US"/>
          </a:p>
        </p:txBody>
      </p:sp>
    </p:spTree>
    <p:extLst>
      <p:ext uri="{BB962C8B-B14F-4D97-AF65-F5344CB8AC3E}">
        <p14:creationId xmlns:p14="http://schemas.microsoft.com/office/powerpoint/2010/main" val="2610496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内容页">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CED916A-3E34-4B9E-8F9F-7A8921A30F99}"/>
              </a:ext>
            </a:extLst>
          </p:cNvPr>
          <p:cNvSpPr>
            <a:spLocks noGrp="1"/>
          </p:cNvSpPr>
          <p:nvPr>
            <p:ph idx="1" hasCustomPrompt="1"/>
          </p:nvPr>
        </p:nvSpPr>
        <p:spPr>
          <a:xfrm>
            <a:off x="576197" y="956241"/>
            <a:ext cx="11060481" cy="5331825"/>
          </a:xfrm>
          <a:prstGeom prst="rect">
            <a:avLst/>
          </a:prstGeom>
        </p:spPr>
        <p:txBody>
          <a:bodyPr/>
          <a:lstStyle>
            <a:lvl1pPr marL="0" indent="0">
              <a:lnSpc>
                <a:spcPct val="150000"/>
              </a:lnSpc>
              <a:buNone/>
              <a:defRPr sz="1600"/>
            </a:lvl1pPr>
          </a:lstStyle>
          <a:p>
            <a:pPr lvl="0"/>
            <a:r>
              <a:rPr lang="zh-CN" altLang="en-US"/>
              <a:t>单击此处编辑内容</a:t>
            </a:r>
            <a:endParaRPr lang="zh-CN" altLang="en-US" dirty="0"/>
          </a:p>
        </p:txBody>
      </p:sp>
      <p:sp>
        <p:nvSpPr>
          <p:cNvPr id="8" name="标题 7">
            <a:extLst>
              <a:ext uri="{FF2B5EF4-FFF2-40B4-BE49-F238E27FC236}">
                <a16:creationId xmlns:a16="http://schemas.microsoft.com/office/drawing/2014/main" id="{E0BD5DE7-58FF-A736-CEC2-C49FBA5469E8}"/>
              </a:ext>
            </a:extLst>
          </p:cNvPr>
          <p:cNvSpPr>
            <a:spLocks noGrp="1"/>
          </p:cNvSpPr>
          <p:nvPr>
            <p:ph type="title"/>
          </p:nvPr>
        </p:nvSpPr>
        <p:spPr>
          <a:xfrm>
            <a:off x="576196" y="336399"/>
            <a:ext cx="10747497" cy="474415"/>
          </a:xfrm>
          <a:prstGeom prst="rect">
            <a:avLst/>
          </a:prstGeom>
        </p:spPr>
        <p:txBody>
          <a:bodyPr/>
          <a:lstStyle>
            <a:lvl1pPr>
              <a:lnSpc>
                <a:spcPct val="100000"/>
              </a:lnSpc>
              <a:defRPr sz="2400">
                <a:solidFill>
                  <a:schemeClr val="accent1"/>
                </a:solidFill>
              </a:defRPr>
            </a:lvl1pPr>
          </a:lstStyle>
          <a:p>
            <a:r>
              <a:rPr lang="zh-CN" altLang="en-US"/>
              <a:t>单击此处编辑母版标题样式</a:t>
            </a:r>
          </a:p>
        </p:txBody>
      </p:sp>
      <p:sp>
        <p:nvSpPr>
          <p:cNvPr id="47" name="椭圆 46">
            <a:extLst>
              <a:ext uri="{FF2B5EF4-FFF2-40B4-BE49-F238E27FC236}">
                <a16:creationId xmlns:a16="http://schemas.microsoft.com/office/drawing/2014/main" id="{2828A69B-715F-4EF1-58FB-A763C01CE99E}"/>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D09C51A0-F849-48A7-BC23-68B1480BCFB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2374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5" name="标题 7">
            <a:extLst>
              <a:ext uri="{FF2B5EF4-FFF2-40B4-BE49-F238E27FC236}">
                <a16:creationId xmlns:a16="http://schemas.microsoft.com/office/drawing/2014/main" id="{FCDA8ECA-5550-1579-68CA-CC29E9FAE4D5}"/>
              </a:ext>
            </a:extLst>
          </p:cNvPr>
          <p:cNvSpPr>
            <a:spLocks noGrp="1"/>
          </p:cNvSpPr>
          <p:nvPr>
            <p:ph type="title"/>
          </p:nvPr>
        </p:nvSpPr>
        <p:spPr>
          <a:xfrm>
            <a:off x="576626" y="335203"/>
            <a:ext cx="10737020"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sp>
        <p:nvSpPr>
          <p:cNvPr id="39" name="椭圆 38">
            <a:extLst>
              <a:ext uri="{FF2B5EF4-FFF2-40B4-BE49-F238E27FC236}">
                <a16:creationId xmlns:a16="http://schemas.microsoft.com/office/drawing/2014/main" id="{0F420230-886B-D4D3-2B3C-23A24A3C217F}"/>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0C47F643-5264-44DA-EC51-A1FD97EB2FD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57642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无标题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712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案例</a:t>
              </a:r>
              <a:endParaRPr lang="zh-CN" altLang="en-US" sz="2000" b="0"/>
            </a:p>
          </p:txBody>
        </p:sp>
      </p:grpSp>
    </p:spTree>
    <p:extLst>
      <p:ext uri="{BB962C8B-B14F-4D97-AF65-F5344CB8AC3E}">
        <p14:creationId xmlns:p14="http://schemas.microsoft.com/office/powerpoint/2010/main" val="367163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ea typeface="Alibaba PuHuiTi B" pitchFamily="18" charset="-122"/>
                </a:rPr>
                <a:t>步骤</a:t>
              </a:r>
              <a:endParaRPr lang="zh-CN" altLang="en-US" sz="2000" b="0"/>
            </a:p>
          </p:txBody>
        </p:sp>
      </p:grpSp>
    </p:spTree>
    <p:extLst>
      <p:ext uri="{BB962C8B-B14F-4D97-AF65-F5344CB8AC3E}">
        <p14:creationId xmlns:p14="http://schemas.microsoft.com/office/powerpoint/2010/main" val="1801550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练习</a:t>
              </a:r>
              <a:endParaRPr lang="zh-CN" altLang="en-US" sz="2000" b="0"/>
            </a:p>
          </p:txBody>
        </p:sp>
      </p:grpSp>
    </p:spTree>
    <p:extLst>
      <p:ext uri="{BB962C8B-B14F-4D97-AF65-F5344CB8AC3E}">
        <p14:creationId xmlns:p14="http://schemas.microsoft.com/office/powerpoint/2010/main" val="339810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E2BBC2-772E-7EE4-D242-D42D4DA45AF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68446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小结页">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13735" y="1359878"/>
            <a:ext cx="7170081"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2" name="文本框 1">
            <a:extLst>
              <a:ext uri="{FF2B5EF4-FFF2-40B4-BE49-F238E27FC236}">
                <a16:creationId xmlns:a16="http://schemas.microsoft.com/office/drawing/2014/main" id="{90828623-64C3-3CF5-C1AD-7CC5E8CC7C5A}"/>
              </a:ext>
            </a:extLst>
          </p:cNvPr>
          <p:cNvSpPr txBox="1"/>
          <p:nvPr userDrawn="1"/>
        </p:nvSpPr>
        <p:spPr>
          <a:xfrm>
            <a:off x="534625" y="2905780"/>
            <a:ext cx="2167598"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BRIEF</a:t>
            </a:r>
          </a:p>
        </p:txBody>
      </p:sp>
      <p:sp>
        <p:nvSpPr>
          <p:cNvPr id="4" name="íşľíďe">
            <a:extLst>
              <a:ext uri="{FF2B5EF4-FFF2-40B4-BE49-F238E27FC236}">
                <a16:creationId xmlns:a16="http://schemas.microsoft.com/office/drawing/2014/main" id="{0D071958-1775-F474-3CD5-C9E1DEDF630A}"/>
              </a:ext>
            </a:extLst>
          </p:cNvPr>
          <p:cNvSpPr txBox="1"/>
          <p:nvPr userDrawn="1"/>
        </p:nvSpPr>
        <p:spPr>
          <a:xfrm flipH="1">
            <a:off x="1017939" y="3075057"/>
            <a:ext cx="1200970" cy="707886"/>
          </a:xfrm>
          <a:prstGeom prst="rect">
            <a:avLst/>
          </a:prstGeom>
          <a:noFill/>
        </p:spPr>
        <p:txBody>
          <a:bodyPr wrap="none" rtlCol="0">
            <a:spAutoFit/>
          </a:bodyPr>
          <a:lstStyle/>
          <a:p>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1597969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3" name="文本占位符 11"/>
          <p:cNvSpPr>
            <a:spLocks noGrp="1"/>
          </p:cNvSpPr>
          <p:nvPr>
            <p:ph type="body" sz="quarter" idx="11" hasCustomPrompt="1"/>
          </p:nvPr>
        </p:nvSpPr>
        <p:spPr>
          <a:xfrm>
            <a:off x="710880" y="1618707"/>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1323136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480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Tree>
    <p:extLst>
      <p:ext uri="{BB962C8B-B14F-4D97-AF65-F5344CB8AC3E}">
        <p14:creationId xmlns:p14="http://schemas.microsoft.com/office/powerpoint/2010/main" val="2718886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13976812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61095828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练习">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1054782"/>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1FD7787D-704C-E74D-B53E-A392EAB4805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extLst>
      <p:ext uri="{BB962C8B-B14F-4D97-AF65-F5344CB8AC3E}">
        <p14:creationId xmlns:p14="http://schemas.microsoft.com/office/powerpoint/2010/main" val="3563029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案例">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105625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455DD043-453D-F04F-965C-A5E686829A6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extLst>
      <p:ext uri="{BB962C8B-B14F-4D97-AF65-F5344CB8AC3E}">
        <p14:creationId xmlns:p14="http://schemas.microsoft.com/office/powerpoint/2010/main" val="1119124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练习">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33296530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167038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案例">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28225557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思考页">
    <p:spTree>
      <p:nvGrpSpPr>
        <p:cNvPr id="1" name=""/>
        <p:cNvGrpSpPr/>
        <p:nvPr/>
      </p:nvGrpSpPr>
      <p:grpSpPr>
        <a:xfrm>
          <a:off x="0" y="0"/>
          <a:ext cx="0" cy="0"/>
          <a:chOff x="0" y="0"/>
          <a:chExt cx="0" cy="0"/>
        </a:xfrm>
      </p:grpSpPr>
      <p:sp>
        <p:nvSpPr>
          <p:cNvPr id="28" name="六边形 27">
            <a:extLst>
              <a:ext uri="{FF2B5EF4-FFF2-40B4-BE49-F238E27FC236}">
                <a16:creationId xmlns:a16="http://schemas.microsoft.com/office/drawing/2014/main" id="{380B9059-6AA7-9E4F-BC56-F30289A262EA}"/>
              </a:ext>
            </a:extLst>
          </p:cNvPr>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a:extLst>
              <a:ext uri="{FF2B5EF4-FFF2-40B4-BE49-F238E27FC236}">
                <a16:creationId xmlns:a16="http://schemas.microsoft.com/office/drawing/2014/main" id="{D71D36F9-1B1C-094A-A062-19A46A7AB388}"/>
              </a:ext>
            </a:extLst>
          </p:cNvPr>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p>
        </p:txBody>
      </p:sp>
      <p:sp>
        <p:nvSpPr>
          <p:cNvPr id="24" name="六边形 23">
            <a:extLst>
              <a:ext uri="{FF2B5EF4-FFF2-40B4-BE49-F238E27FC236}">
                <a16:creationId xmlns:a16="http://schemas.microsoft.com/office/drawing/2014/main" id="{745B08E3-3066-3844-87E9-46D7426765C6}"/>
              </a:ext>
            </a:extLst>
          </p:cNvPr>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a:extLst>
              <a:ext uri="{FF2B5EF4-FFF2-40B4-BE49-F238E27FC236}">
                <a16:creationId xmlns:a16="http://schemas.microsoft.com/office/drawing/2014/main" id="{B7A42CA5-7885-7642-B20D-B92B35099CBC}"/>
              </a:ext>
            </a:extLst>
          </p:cNvPr>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a:extLst>
              <a:ext uri="{FF2B5EF4-FFF2-40B4-BE49-F238E27FC236}">
                <a16:creationId xmlns:a16="http://schemas.microsoft.com/office/drawing/2014/main" id="{DE7B2235-1C6B-6B44-BC4F-1EC9BD8B9D8D}"/>
              </a:ext>
            </a:extLst>
          </p:cNvPr>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a:extLst>
              <a:ext uri="{FF2B5EF4-FFF2-40B4-BE49-F238E27FC236}">
                <a16:creationId xmlns:a16="http://schemas.microsoft.com/office/drawing/2014/main" id="{5BF818FD-51C6-E54A-9D53-783E1313F19E}"/>
              </a:ext>
            </a:extLst>
          </p:cNvPr>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19259993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19503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总结页">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Tree>
    <p:extLst>
      <p:ext uri="{BB962C8B-B14F-4D97-AF65-F5344CB8AC3E}">
        <p14:creationId xmlns:p14="http://schemas.microsoft.com/office/powerpoint/2010/main" val="7316249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21" name="椭圆 20">
            <a:extLst>
              <a:ext uri="{FF2B5EF4-FFF2-40B4-BE49-F238E27FC236}">
                <a16:creationId xmlns:a16="http://schemas.microsoft.com/office/drawing/2014/main" id="{A2C6D317-56F4-9711-5A26-95000236D36F}"/>
              </a:ext>
            </a:extLst>
          </p:cNvPr>
          <p:cNvSpPr/>
          <p:nvPr userDrawn="1"/>
        </p:nvSpPr>
        <p:spPr>
          <a:xfrm>
            <a:off x="375011" y="1961115"/>
            <a:ext cx="220344" cy="22034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9B200C4C-3F9D-867C-E497-ADCB7E43A5BB}"/>
              </a:ext>
            </a:extLst>
          </p:cNvPr>
          <p:cNvSpPr/>
          <p:nvPr userDrawn="1"/>
        </p:nvSpPr>
        <p:spPr>
          <a:xfrm>
            <a:off x="2838084" y="-2028162"/>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4824A05E-CCAC-E012-444F-D8238FD3ABEF}"/>
              </a:ext>
            </a:extLst>
          </p:cNvPr>
          <p:cNvSpPr/>
          <p:nvPr userDrawn="1"/>
        </p:nvSpPr>
        <p:spPr>
          <a:xfrm>
            <a:off x="4568596" y="-297650"/>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AC93AF0E-4B39-C67D-D03D-00737E937EE7}"/>
              </a:ext>
            </a:extLst>
          </p:cNvPr>
          <p:cNvSpPr/>
          <p:nvPr userDrawn="1"/>
        </p:nvSpPr>
        <p:spPr>
          <a:xfrm>
            <a:off x="6170528" y="1304282"/>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660400" y="2220686"/>
            <a:ext cx="10858500" cy="869023"/>
          </a:xfrm>
          <a:prstGeom prst="rect">
            <a:avLst/>
          </a:prstGeom>
        </p:spPr>
        <p:txBody>
          <a:bodyPr vert="horz" lIns="91440" tIns="45720" rIns="91440" bIns="45720" rtlCol="0" anchor="b">
            <a:normAutofit/>
          </a:bodyPr>
          <a:lstStyle>
            <a:lvl1pPr>
              <a:defRPr lang="zh-CN" altLang="en-US" sz="4800" b="1" dirty="0">
                <a:solidFill>
                  <a:schemeClr val="accent1"/>
                </a:solidFill>
              </a:defRPr>
            </a:lvl1pPr>
          </a:lstStyle>
          <a:p>
            <a:pPr lvl="0" defTabSz="914354"/>
            <a:r>
              <a:rPr lang="zh-CN" altLang="en-US"/>
              <a:t>点击输入一级标题</a:t>
            </a:r>
            <a:endParaRPr lang="zh-CN" altLang="en-US" dirty="0"/>
          </a:p>
        </p:txBody>
      </p:sp>
      <p:sp>
        <p:nvSpPr>
          <p:cNvPr id="11" name="圆心2">
            <a:extLst>
              <a:ext uri="{FF2B5EF4-FFF2-40B4-BE49-F238E27FC236}">
                <a16:creationId xmlns:a16="http://schemas.microsoft.com/office/drawing/2014/main" id="{6F73DB22-8BD9-67FD-6EBE-B56D6BF83FC2}"/>
              </a:ext>
            </a:extLst>
          </p:cNvPr>
          <p:cNvSpPr/>
          <p:nvPr/>
        </p:nvSpPr>
        <p:spPr>
          <a:xfrm>
            <a:off x="7262969" y="2396723"/>
            <a:ext cx="435738" cy="435738"/>
          </a:xfrm>
          <a:prstGeom prst="ellipse">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心">
            <a:extLst>
              <a:ext uri="{FF2B5EF4-FFF2-40B4-BE49-F238E27FC236}">
                <a16:creationId xmlns:a16="http://schemas.microsoft.com/office/drawing/2014/main" id="{82339D60-0D0F-E0A8-9FEF-57B1B018D0C7}"/>
              </a:ext>
            </a:extLst>
          </p:cNvPr>
          <p:cNvSpPr/>
          <p:nvPr userDrawn="1"/>
        </p:nvSpPr>
        <p:spPr>
          <a:xfrm>
            <a:off x="7414470" y="2547358"/>
            <a:ext cx="132735" cy="1327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占位符 7">
            <a:extLst>
              <a:ext uri="{FF2B5EF4-FFF2-40B4-BE49-F238E27FC236}">
                <a16:creationId xmlns:a16="http://schemas.microsoft.com/office/drawing/2014/main" id="{FC241F82-E1B0-0249-A9D6-2656A3C64CB7}"/>
              </a:ext>
            </a:extLst>
          </p:cNvPr>
          <p:cNvSpPr>
            <a:spLocks noGrp="1"/>
          </p:cNvSpPr>
          <p:nvPr userDrawn="1">
            <p:ph type="body" sz="quarter" idx="10" hasCustomPrompt="1"/>
          </p:nvPr>
        </p:nvSpPr>
        <p:spPr>
          <a:xfrm>
            <a:off x="660400" y="3586894"/>
            <a:ext cx="4486275" cy="563562"/>
          </a:xfrm>
          <a:prstGeom prst="rect">
            <a:avLst/>
          </a:prstGeom>
        </p:spPr>
        <p:txBody>
          <a:bodyPr/>
          <a:lstStyle>
            <a:lvl1pPr marL="0" indent="0">
              <a:buNone/>
              <a:defRPr sz="2400"/>
            </a:lvl1pPr>
          </a:lstStyle>
          <a:p>
            <a:pPr lvl="0"/>
            <a:r>
              <a:rPr lang="zh-CN" altLang="en-US"/>
              <a:t>点击输入副标题</a:t>
            </a:r>
          </a:p>
        </p:txBody>
      </p:sp>
      <p:sp>
        <p:nvSpPr>
          <p:cNvPr id="20" name="椭圆 19">
            <a:extLst>
              <a:ext uri="{FF2B5EF4-FFF2-40B4-BE49-F238E27FC236}">
                <a16:creationId xmlns:a16="http://schemas.microsoft.com/office/drawing/2014/main" id="{EF4E1EF7-DD7F-C77D-A571-C682C80AC047}"/>
              </a:ext>
            </a:extLst>
          </p:cNvPr>
          <p:cNvSpPr/>
          <p:nvPr userDrawn="1"/>
        </p:nvSpPr>
        <p:spPr>
          <a:xfrm>
            <a:off x="485183" y="1962438"/>
            <a:ext cx="350434" cy="35043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B3C9B1B7-3BA3-1D3F-637E-1B77EAD927E4}"/>
              </a:ext>
            </a:extLst>
          </p:cNvPr>
          <p:cNvSpPr txBox="1"/>
          <p:nvPr userDrawn="1"/>
        </p:nvSpPr>
        <p:spPr>
          <a:xfrm>
            <a:off x="660399" y="6111671"/>
            <a:ext cx="8065704" cy="246221"/>
          </a:xfrm>
          <a:prstGeom prst="rect">
            <a:avLst/>
          </a:prstGeom>
          <a:noFill/>
        </p:spPr>
        <p:txBody>
          <a:bodyPr wrap="square" rtlCol="0">
            <a:spAutoFit/>
          </a:bodyPr>
          <a:lstStyle/>
          <a:p>
            <a:r>
              <a:rPr lang="zh-CN" altLang="en-US" sz="1000" i="0">
                <a:solidFill>
                  <a:schemeClr val="bg1">
                    <a:lumMod val="50000"/>
                  </a:schemeClr>
                </a:solidFill>
                <a:latin typeface="楷体" panose="02010609060101010101" pitchFamily="49" charset="-122"/>
                <a:ea typeface="楷体" panose="02010609060101010101" pitchFamily="49" charset="-122"/>
              </a:rPr>
              <a:t>多一句没有，少一句不行，用更短的时间，教会更实用的技术</a:t>
            </a:r>
          </a:p>
        </p:txBody>
      </p:sp>
      <p:sp>
        <p:nvSpPr>
          <p:cNvPr id="23" name="矩形 22">
            <a:extLst>
              <a:ext uri="{FF2B5EF4-FFF2-40B4-BE49-F238E27FC236}">
                <a16:creationId xmlns:a16="http://schemas.microsoft.com/office/drawing/2014/main" id="{976DEFC5-AB31-715D-5481-255694BCA629}"/>
              </a:ext>
            </a:extLst>
          </p:cNvPr>
          <p:cNvSpPr/>
          <p:nvPr userDrawn="1"/>
        </p:nvSpPr>
        <p:spPr>
          <a:xfrm>
            <a:off x="720618" y="5942536"/>
            <a:ext cx="2001676" cy="63628"/>
          </a:xfrm>
          <a:prstGeom prst="rect">
            <a:avLst/>
          </a:prstGeom>
          <a:gradFill flip="none" rotWithShape="1">
            <a:gsLst>
              <a:gs pos="0">
                <a:schemeClr val="bg1"/>
              </a:gs>
              <a:gs pos="50000">
                <a:schemeClr val="accent1"/>
              </a:gs>
              <a:gs pos="100000">
                <a:schemeClr val="accent1">
                  <a:shade val="100000"/>
                  <a:satMod val="115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长直线">
            <a:extLst>
              <a:ext uri="{FF2B5EF4-FFF2-40B4-BE49-F238E27FC236}">
                <a16:creationId xmlns:a16="http://schemas.microsoft.com/office/drawing/2014/main" id="{29F34751-B9FF-378D-D7A3-B7B27A91478D}"/>
              </a:ext>
            </a:extLst>
          </p:cNvPr>
          <p:cNvCxnSpPr>
            <a:cxnSpLocks/>
          </p:cNvCxnSpPr>
          <p:nvPr userDrawn="1"/>
        </p:nvCxnSpPr>
        <p:spPr>
          <a:xfrm>
            <a:off x="7858832" y="2124884"/>
            <a:ext cx="129159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短直线">
            <a:extLst>
              <a:ext uri="{FF2B5EF4-FFF2-40B4-BE49-F238E27FC236}">
                <a16:creationId xmlns:a16="http://schemas.microsoft.com/office/drawing/2014/main" id="{E9D012F5-DFB7-A078-3B1C-F9FE02E47E91}"/>
              </a:ext>
            </a:extLst>
          </p:cNvPr>
          <p:cNvCxnSpPr/>
          <p:nvPr userDrawn="1"/>
        </p:nvCxnSpPr>
        <p:spPr>
          <a:xfrm flipV="1">
            <a:off x="7550306" y="2124884"/>
            <a:ext cx="308526" cy="26631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图形 8">
            <a:extLst>
              <a:ext uri="{FF2B5EF4-FFF2-40B4-BE49-F238E27FC236}">
                <a16:creationId xmlns:a16="http://schemas.microsoft.com/office/drawing/2014/main" id="{EA3F6F4D-08CF-9E00-D954-69D3520E644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8081" t="21237" r="10346" b="18121"/>
          <a:stretch/>
        </p:blipFill>
        <p:spPr>
          <a:xfrm>
            <a:off x="9956716" y="152244"/>
            <a:ext cx="1848051" cy="605113"/>
          </a:xfrm>
          <a:prstGeom prst="rect">
            <a:avLst/>
          </a:prstGeom>
        </p:spPr>
      </p:pic>
      <p:pic>
        <p:nvPicPr>
          <p:cNvPr id="4" name="图片 3">
            <a:extLst>
              <a:ext uri="{FF2B5EF4-FFF2-40B4-BE49-F238E27FC236}">
                <a16:creationId xmlns:a16="http://schemas.microsoft.com/office/drawing/2014/main" id="{61E490B8-2AEA-ACCD-9526-01BED78DEB5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2564276" flipH="1" flipV="1">
            <a:off x="3592764" y="481454"/>
            <a:ext cx="9317253" cy="6210881"/>
          </a:xfrm>
          <a:prstGeom prst="rect">
            <a:avLst/>
          </a:prstGeom>
        </p:spPr>
      </p:pic>
      <p:sp>
        <p:nvSpPr>
          <p:cNvPr id="14" name="文本框">
            <a:extLst>
              <a:ext uri="{FF2B5EF4-FFF2-40B4-BE49-F238E27FC236}">
                <a16:creationId xmlns:a16="http://schemas.microsoft.com/office/drawing/2014/main" id="{C37184BC-D315-706A-20DF-529BAFF1993E}"/>
              </a:ext>
            </a:extLst>
          </p:cNvPr>
          <p:cNvSpPr txBox="1"/>
          <p:nvPr userDrawn="1"/>
        </p:nvSpPr>
        <p:spPr>
          <a:xfrm>
            <a:off x="8399534" y="1847885"/>
            <a:ext cx="1366080" cy="307777"/>
          </a:xfrm>
          <a:prstGeom prst="rect">
            <a:avLst/>
          </a:prstGeom>
          <a:noFill/>
        </p:spPr>
        <p:txBody>
          <a:bodyPr wrap="none" rtlCol="0">
            <a:spAutoFit/>
          </a:bodyPr>
          <a:lstStyle/>
          <a:p>
            <a:r>
              <a:rPr lang="en-US" altLang="zh-CN" sz="1400" b="1">
                <a:solidFill>
                  <a:schemeClr val="accent1"/>
                </a:solidFill>
              </a:rPr>
              <a:t>AI Copilot </a:t>
            </a:r>
            <a:endParaRPr lang="zh-CN" altLang="en-US" sz="1400" b="1" dirty="0">
              <a:solidFill>
                <a:schemeClr val="accent1"/>
              </a:solidFill>
            </a:endParaRPr>
          </a:p>
        </p:txBody>
      </p:sp>
    </p:spTree>
    <p:extLst>
      <p:ext uri="{BB962C8B-B14F-4D97-AF65-F5344CB8AC3E}">
        <p14:creationId xmlns:p14="http://schemas.microsoft.com/office/powerpoint/2010/main" val="321854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16" fill="hold" grpId="0" nodeType="withEffect">
                                  <p:stCondLst>
                                    <p:cond delay="15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par>
                                <p:cTn id="15" presetID="53" presetClass="entr" presetSubtype="16" fill="hold" grpId="0" nodeType="withEffect">
                                  <p:stCondLst>
                                    <p:cond delay="300"/>
                                  </p:stCondLst>
                                  <p:childTnLst>
                                    <p:set>
                                      <p:cBhvr>
                                        <p:cTn id="16" dur="1" fill="hold">
                                          <p:stCondLst>
                                            <p:cond delay="0"/>
                                          </p:stCondLst>
                                        </p:cTn>
                                        <p:tgtEl>
                                          <p:spTgt spid="16"/>
                                        </p:tgtEl>
                                        <p:attrNameLst>
                                          <p:attrName>style.visibility</p:attrName>
                                        </p:attrNameLst>
                                      </p:cBhvr>
                                      <p:to>
                                        <p:strVal val="visible"/>
                                      </p:to>
                                    </p:set>
                                    <p:anim calcmode="lin" valueType="num">
                                      <p:cBhvr>
                                        <p:cTn id="17" dur="500" fill="hold"/>
                                        <p:tgtEl>
                                          <p:spTgt spid="16"/>
                                        </p:tgtEl>
                                        <p:attrNameLst>
                                          <p:attrName>ppt_w</p:attrName>
                                        </p:attrNameLst>
                                      </p:cBhvr>
                                      <p:tavLst>
                                        <p:tav tm="0">
                                          <p:val>
                                            <p:fltVal val="0"/>
                                          </p:val>
                                        </p:tav>
                                        <p:tav tm="100000">
                                          <p:val>
                                            <p:strVal val="#ppt_w"/>
                                          </p:val>
                                        </p:tav>
                                      </p:tavLst>
                                    </p:anim>
                                    <p:anim calcmode="lin" valueType="num">
                                      <p:cBhvr>
                                        <p:cTn id="18" dur="500" fill="hold"/>
                                        <p:tgtEl>
                                          <p:spTgt spid="16"/>
                                        </p:tgtEl>
                                        <p:attrNameLst>
                                          <p:attrName>ppt_h</p:attrName>
                                        </p:attrNameLst>
                                      </p:cBhvr>
                                      <p:tavLst>
                                        <p:tav tm="0">
                                          <p:val>
                                            <p:fltVal val="0"/>
                                          </p:val>
                                        </p:tav>
                                        <p:tav tm="100000">
                                          <p:val>
                                            <p:strVal val="#ppt_h"/>
                                          </p:val>
                                        </p:tav>
                                      </p:tavLst>
                                    </p:anim>
                                    <p:animEffect transition="in" filter="fade">
                                      <p:cBhvr>
                                        <p:cTn id="19" dur="500"/>
                                        <p:tgtEl>
                                          <p:spTgt spid="16"/>
                                        </p:tgtEl>
                                      </p:cBhvr>
                                    </p:animEffect>
                                  </p:childTnLst>
                                </p:cTn>
                              </p:par>
                              <p:par>
                                <p:cTn id="20" presetID="53" presetClass="entr" presetSubtype="16" fill="hold" grpId="0" nodeType="withEffect">
                                  <p:stCondLst>
                                    <p:cond delay="45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par>
                                <p:cTn id="25" presetID="53" presetClass="entr" presetSubtype="16" fill="hold" grpId="0" nodeType="withEffect">
                                  <p:stCondLst>
                                    <p:cond delay="600"/>
                                  </p:stCondLst>
                                  <p:childTnLst>
                                    <p:set>
                                      <p:cBhvr>
                                        <p:cTn id="26" dur="1" fill="hold">
                                          <p:stCondLst>
                                            <p:cond delay="0"/>
                                          </p:stCondLst>
                                        </p:cTn>
                                        <p:tgtEl>
                                          <p:spTgt spid="18"/>
                                        </p:tgtEl>
                                        <p:attrNameLst>
                                          <p:attrName>style.visibility</p:attrName>
                                        </p:attrNameLst>
                                      </p:cBhvr>
                                      <p:to>
                                        <p:strVal val="visible"/>
                                      </p:to>
                                    </p:set>
                                    <p:anim calcmode="lin" valueType="num">
                                      <p:cBhvr>
                                        <p:cTn id="27" dur="500" fill="hold"/>
                                        <p:tgtEl>
                                          <p:spTgt spid="18"/>
                                        </p:tgtEl>
                                        <p:attrNameLst>
                                          <p:attrName>ppt_w</p:attrName>
                                        </p:attrNameLst>
                                      </p:cBhvr>
                                      <p:tavLst>
                                        <p:tav tm="0">
                                          <p:val>
                                            <p:fltVal val="0"/>
                                          </p:val>
                                        </p:tav>
                                        <p:tav tm="100000">
                                          <p:val>
                                            <p:strVal val="#ppt_w"/>
                                          </p:val>
                                        </p:tav>
                                      </p:tavLst>
                                    </p:anim>
                                    <p:anim calcmode="lin" valueType="num">
                                      <p:cBhvr>
                                        <p:cTn id="28" dur="500" fill="hold"/>
                                        <p:tgtEl>
                                          <p:spTgt spid="18"/>
                                        </p:tgtEl>
                                        <p:attrNameLst>
                                          <p:attrName>ppt_h</p:attrName>
                                        </p:attrNameLst>
                                      </p:cBhvr>
                                      <p:tavLst>
                                        <p:tav tm="0">
                                          <p:val>
                                            <p:fltVal val="0"/>
                                          </p:val>
                                        </p:tav>
                                        <p:tav tm="100000">
                                          <p:val>
                                            <p:strVal val="#ppt_h"/>
                                          </p:val>
                                        </p:tav>
                                      </p:tavLst>
                                    </p:anim>
                                    <p:animEffect transition="in" filter="fade">
                                      <p:cBhvr>
                                        <p:cTn id="29" dur="500"/>
                                        <p:tgtEl>
                                          <p:spTgt spid="18"/>
                                        </p:tgtEl>
                                      </p:cBhvr>
                                    </p:animEffect>
                                  </p:childTnLst>
                                </p:cTn>
                              </p:par>
                              <p:par>
                                <p:cTn id="30" presetID="22" presetClass="entr" presetSubtype="8" fill="hold" nodeType="withEffect">
                                  <p:stCondLst>
                                    <p:cond delay="25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par>
                                <p:cTn id="33" presetID="22" presetClass="entr" presetSubtype="8" fill="hold" nodeType="withEffect">
                                  <p:stCondLst>
                                    <p:cond delay="75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par>
                                <p:cTn id="36" presetID="10" presetClass="entr" presetSubtype="0" decel="100000" fill="hold" grpId="0" nodeType="withEffect">
                                  <p:stCondLst>
                                    <p:cond delay="10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stCondLst>
                                            <p:cond delay="0"/>
                                          </p:stCondLst>
                                        </p:cTn>
                                        <p:tgtEl>
                                          <p:spTgt spid="14"/>
                                        </p:tgtEl>
                                      </p:cBhvr>
                                    </p:animEffect>
                                    <p:anim to="0" calcmode="lin" valueType="num">
                                      <p:cBhvr>
                                        <p:cTn id="39" dur="500" fill="hold">
                                          <p:stCondLst>
                                            <p:cond delay="0"/>
                                          </p:stCondLst>
                                        </p:cTn>
                                        <p:tgtEl>
                                          <p:spTgt spid="14"/>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7" grpId="0" animBg="1"/>
      <p:bldP spid="16" grpId="0" animBg="1"/>
      <p:bldP spid="11" grpId="0" animBg="1"/>
      <p:bldP spid="12" grpId="0" animBg="1"/>
      <p:bldP spid="14"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完结">
    <p:spTree>
      <p:nvGrpSpPr>
        <p:cNvPr id="1" name=""/>
        <p:cNvGrpSpPr/>
        <p:nvPr/>
      </p:nvGrpSpPr>
      <p:grpSpPr>
        <a:xfrm>
          <a:off x="0" y="0"/>
          <a:ext cx="0" cy="0"/>
          <a:chOff x="0" y="0"/>
          <a:chExt cx="0" cy="0"/>
        </a:xfrm>
      </p:grpSpPr>
      <p:sp>
        <p:nvSpPr>
          <p:cNvPr id="36" name="椭圆 35">
            <a:extLst>
              <a:ext uri="{FF2B5EF4-FFF2-40B4-BE49-F238E27FC236}">
                <a16:creationId xmlns:a16="http://schemas.microsoft.com/office/drawing/2014/main" id="{9C7E64E7-1F0A-79D2-A263-3605467F0B51}"/>
              </a:ext>
            </a:extLst>
          </p:cNvPr>
          <p:cNvSpPr/>
          <p:nvPr userDrawn="1"/>
        </p:nvSpPr>
        <p:spPr>
          <a:xfrm>
            <a:off x="1367628" y="-121375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C8A0D84D-155A-2194-ED3A-5A7CB9A4B72A}"/>
              </a:ext>
            </a:extLst>
          </p:cNvPr>
          <p:cNvSpPr/>
          <p:nvPr userDrawn="1"/>
        </p:nvSpPr>
        <p:spPr>
          <a:xfrm>
            <a:off x="3098140" y="516758"/>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F7740DA-4F67-1648-9FE7-BA25A7F2910D}"/>
              </a:ext>
            </a:extLst>
          </p:cNvPr>
          <p:cNvSpPr/>
          <p:nvPr userDrawn="1"/>
        </p:nvSpPr>
        <p:spPr>
          <a:xfrm>
            <a:off x="4700072" y="2118690"/>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iṩ1iḍé">
            <a:extLst>
              <a:ext uri="{FF2B5EF4-FFF2-40B4-BE49-F238E27FC236}">
                <a16:creationId xmlns:a16="http://schemas.microsoft.com/office/drawing/2014/main" id="{7F87E56D-6D24-DF28-4A8B-DD94A5588CCD}"/>
              </a:ext>
            </a:extLst>
          </p:cNvPr>
          <p:cNvSpPr/>
          <p:nvPr userDrawn="1"/>
        </p:nvSpPr>
        <p:spPr>
          <a:xfrm>
            <a:off x="0" y="2689964"/>
            <a:ext cx="12192000" cy="1478071"/>
          </a:xfrm>
          <a:prstGeom prst="rect">
            <a:avLst/>
          </a:prstGeom>
          <a:gradFill flip="none" rotWithShape="1">
            <a:gsLst>
              <a:gs pos="0">
                <a:schemeClr val="accent1"/>
              </a:gs>
              <a:gs pos="90000">
                <a:schemeClr val="accent1"/>
              </a:gs>
            </a:gsLst>
            <a:lin ang="0" scaled="1"/>
            <a:tileRect/>
          </a:gradFill>
          <a:ln>
            <a:noFill/>
          </a:ln>
          <a:effectLst>
            <a:outerShdw blurRad="139700" dist="76200" dir="4560000" algn="t"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2" name="组合 31">
            <a:extLst>
              <a:ext uri="{FF2B5EF4-FFF2-40B4-BE49-F238E27FC236}">
                <a16:creationId xmlns:a16="http://schemas.microsoft.com/office/drawing/2014/main" id="{57CD92EE-FE45-4CC1-22A5-2D2AFAEDCC3F}"/>
              </a:ext>
            </a:extLst>
          </p:cNvPr>
          <p:cNvGrpSpPr/>
          <p:nvPr userDrawn="1"/>
        </p:nvGrpSpPr>
        <p:grpSpPr>
          <a:xfrm>
            <a:off x="3131925" y="2916806"/>
            <a:ext cx="4953838" cy="853924"/>
            <a:chOff x="3131925" y="2844887"/>
            <a:chExt cx="4953838" cy="853924"/>
          </a:xfrm>
        </p:grpSpPr>
        <p:pic>
          <p:nvPicPr>
            <p:cNvPr id="33" name="图片 1">
              <a:extLst>
                <a:ext uri="{FF2B5EF4-FFF2-40B4-BE49-F238E27FC236}">
                  <a16:creationId xmlns:a16="http://schemas.microsoft.com/office/drawing/2014/main" id="{C64F9D38-0ED4-99F8-903A-45555ADF80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29627"/>
            <a:stretch/>
          </p:blipFill>
          <p:spPr bwMode="auto">
            <a:xfrm>
              <a:off x="3131925" y="2844887"/>
              <a:ext cx="2948463" cy="8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直接连接符 33">
              <a:extLst>
                <a:ext uri="{FF2B5EF4-FFF2-40B4-BE49-F238E27FC236}">
                  <a16:creationId xmlns:a16="http://schemas.microsoft.com/office/drawing/2014/main" id="{C2C68E28-2375-6922-E133-284E7821B447}"/>
                </a:ext>
              </a:extLst>
            </p:cNvPr>
            <p:cNvCxnSpPr>
              <a:cxnSpLocks/>
            </p:cNvCxnSpPr>
            <p:nvPr userDrawn="1"/>
          </p:nvCxnSpPr>
          <p:spPr>
            <a:xfrm>
              <a:off x="6010382" y="3154751"/>
              <a:ext cx="0" cy="3801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AC7DE38E-8849-1998-75E8-89E432D90EBE}"/>
                </a:ext>
              </a:extLst>
            </p:cNvPr>
            <p:cNvSpPr txBox="1"/>
            <p:nvPr userDrawn="1"/>
          </p:nvSpPr>
          <p:spPr>
            <a:xfrm>
              <a:off x="6096001" y="3021658"/>
              <a:ext cx="1989762" cy="646331"/>
            </a:xfrm>
            <a:prstGeom prst="rect">
              <a:avLst/>
            </a:prstGeom>
            <a:noFill/>
          </p:spPr>
          <p:txBody>
            <a:bodyPr wrap="square" rtlCol="0">
              <a:spAutoFit/>
            </a:bodyPr>
            <a:lstStyle/>
            <a:p>
              <a:r>
                <a:rPr lang="zh-CN" altLang="en-US">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传智教育旗下</a:t>
              </a:r>
              <a:endParaRPr lang="en-US" altLang="zh-CN">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endParaRPr>
            </a:p>
            <a:p>
              <a:r>
                <a:rPr lang="zh-CN" altLang="en-US">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高端</a:t>
              </a:r>
              <a:r>
                <a:rPr lang="en-US" altLang="zh-CN">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IT</a:t>
              </a:r>
              <a:r>
                <a:rPr lang="zh-CN" altLang="en-US">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教育品牌</a:t>
              </a:r>
            </a:p>
          </p:txBody>
        </p:sp>
      </p:grpSp>
    </p:spTree>
    <p:extLst>
      <p:ext uri="{BB962C8B-B14F-4D97-AF65-F5344CB8AC3E}">
        <p14:creationId xmlns:p14="http://schemas.microsoft.com/office/powerpoint/2010/main" val="34970038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8" name="椭圆 7">
            <a:extLst>
              <a:ext uri="{FF2B5EF4-FFF2-40B4-BE49-F238E27FC236}">
                <a16:creationId xmlns:a16="http://schemas.microsoft.com/office/drawing/2014/main" id="{34FB0A6B-66AE-D2A8-FCAE-415D3251A19B}"/>
              </a:ext>
            </a:extLst>
          </p:cNvPr>
          <p:cNvSpPr/>
          <p:nvPr userDrawn="1"/>
        </p:nvSpPr>
        <p:spPr>
          <a:xfrm>
            <a:off x="367090"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38539A05-556B-81A4-0795-3B191CB53943}"/>
              </a:ext>
            </a:extLst>
          </p:cNvPr>
          <p:cNvSpPr/>
          <p:nvPr userDrawn="1"/>
        </p:nvSpPr>
        <p:spPr>
          <a:xfrm>
            <a:off x="1832990" y="-2841"/>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10CECE50-264B-8294-A89A-D0F8A1907A78}"/>
              </a:ext>
            </a:extLst>
          </p:cNvPr>
          <p:cNvSpPr/>
          <p:nvPr userDrawn="1"/>
        </p:nvSpPr>
        <p:spPr>
          <a:xfrm>
            <a:off x="3434922" y="159909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a:extLst>
              <a:ext uri="{FF2B5EF4-FFF2-40B4-BE49-F238E27FC236}">
                <a16:creationId xmlns:a16="http://schemas.microsoft.com/office/drawing/2014/main" id="{287C0C2E-27D7-4123-B01F-3144FCE1EF2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568416">
            <a:off x="90962" y="381112"/>
            <a:ext cx="4016078" cy="5720226"/>
          </a:xfrm>
          <a:prstGeom prst="rect">
            <a:avLst/>
          </a:prstGeom>
        </p:spPr>
      </p:pic>
      <p:pic>
        <p:nvPicPr>
          <p:cNvPr id="6" name="图片 5">
            <a:extLst>
              <a:ext uri="{FF2B5EF4-FFF2-40B4-BE49-F238E27FC236}">
                <a16:creationId xmlns:a16="http://schemas.microsoft.com/office/drawing/2014/main" id="{8F041D8F-DCC0-35B8-2AA2-F0A7BAB253C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20629034">
            <a:off x="-3526421" y="-821074"/>
            <a:ext cx="4016077" cy="5720225"/>
          </a:xfrm>
          <a:prstGeom prst="rect">
            <a:avLst/>
          </a:prstGeom>
        </p:spPr>
      </p:pic>
      <p:sp>
        <p:nvSpPr>
          <p:cNvPr id="19" name="椭圆 18">
            <a:extLst>
              <a:ext uri="{FF2B5EF4-FFF2-40B4-BE49-F238E27FC236}">
                <a16:creationId xmlns:a16="http://schemas.microsoft.com/office/drawing/2014/main" id="{C3296A99-F5C4-3E6A-FF6E-4852C12DEE94}"/>
              </a:ext>
            </a:extLst>
          </p:cNvPr>
          <p:cNvSpPr/>
          <p:nvPr userDrawn="1"/>
        </p:nvSpPr>
        <p:spPr>
          <a:xfrm>
            <a:off x="4631217" y="3066159"/>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心">
            <a:extLst>
              <a:ext uri="{FF2B5EF4-FFF2-40B4-BE49-F238E27FC236}">
                <a16:creationId xmlns:a16="http://schemas.microsoft.com/office/drawing/2014/main" id="{2B661CB4-3CBD-5C2B-5102-A013FB7A719E}"/>
              </a:ext>
            </a:extLst>
          </p:cNvPr>
          <p:cNvSpPr/>
          <p:nvPr/>
        </p:nvSpPr>
        <p:spPr>
          <a:xfrm>
            <a:off x="4184938" y="2356361"/>
            <a:ext cx="1119534" cy="11195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4" name="文本占位符 3">
            <a:extLst>
              <a:ext uri="{FF2B5EF4-FFF2-40B4-BE49-F238E27FC236}">
                <a16:creationId xmlns:a16="http://schemas.microsoft.com/office/drawing/2014/main" id="{3EC6ED1A-7B72-CBE7-8DC0-8CA41549B762}"/>
              </a:ext>
            </a:extLst>
          </p:cNvPr>
          <p:cNvSpPr>
            <a:spLocks noGrp="1"/>
          </p:cNvSpPr>
          <p:nvPr>
            <p:ph type="body" sz="quarter" idx="13" hasCustomPrompt="1"/>
          </p:nvPr>
        </p:nvSpPr>
        <p:spPr>
          <a:xfrm>
            <a:off x="5834081" y="2465278"/>
            <a:ext cx="3397250" cy="901700"/>
          </a:xfrm>
          <a:prstGeom prst="rect">
            <a:avLst/>
          </a:prstGeom>
        </p:spPr>
        <p:txBody>
          <a:bodyPr anchor="ctr"/>
          <a:lstStyle>
            <a:lvl1pPr marL="0" indent="0">
              <a:lnSpc>
                <a:spcPct val="100000"/>
              </a:lnSpc>
              <a:buNone/>
              <a:defRPr sz="3600">
                <a:latin typeface="+mj-ea"/>
                <a:ea typeface="+mj-ea"/>
              </a:defRPr>
            </a:lvl1pPr>
          </a:lstStyle>
          <a:p>
            <a:pPr lvl="0"/>
            <a:r>
              <a:rPr lang="zh-CN" altLang="en-US"/>
              <a:t>章节标题</a:t>
            </a:r>
          </a:p>
        </p:txBody>
      </p:sp>
      <p:sp>
        <p:nvSpPr>
          <p:cNvPr id="7" name="文本占位符 6">
            <a:extLst>
              <a:ext uri="{FF2B5EF4-FFF2-40B4-BE49-F238E27FC236}">
                <a16:creationId xmlns:a16="http://schemas.microsoft.com/office/drawing/2014/main" id="{AF3EC600-D80B-73CA-E06E-8768FDEAA47B}"/>
              </a:ext>
            </a:extLst>
          </p:cNvPr>
          <p:cNvSpPr>
            <a:spLocks noGrp="1"/>
          </p:cNvSpPr>
          <p:nvPr>
            <p:ph type="body" sz="quarter" idx="14" hasCustomPrompt="1"/>
          </p:nvPr>
        </p:nvSpPr>
        <p:spPr>
          <a:xfrm>
            <a:off x="4302239" y="2675622"/>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2433029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decel="60436" fill="hold" nodeType="withEffect">
                                  <p:stCondLst>
                                    <p:cond delay="0"/>
                                  </p:stCondLst>
                                  <p:childTnLst>
                                    <p:animEffect transition="out" filter="fade">
                                      <p:cBhvr>
                                        <p:cTn id="6" dur="750"/>
                                        <p:tgtEl>
                                          <p:spTgt spid="6"/>
                                        </p:tgtEl>
                                      </p:cBhvr>
                                    </p:animEffect>
                                    <p:set>
                                      <p:cBhvr>
                                        <p:cTn id="7" dur="1" fill="hold">
                                          <p:stCondLst>
                                            <p:cond delay="749"/>
                                          </p:stCondLst>
                                        </p:cTn>
                                        <p:tgtEl>
                                          <p:spTgt spid="6"/>
                                        </p:tgtEl>
                                        <p:attrNameLst>
                                          <p:attrName>style.visibility</p:attrName>
                                        </p:attrNameLst>
                                      </p:cBhvr>
                                      <p:to>
                                        <p:strVal val="hidden"/>
                                      </p:to>
                                    </p:set>
                                  </p:childTnLst>
                                </p:cTn>
                              </p:par>
                              <p:par>
                                <p:cTn id="8" presetID="10" presetClass="entr" presetSubtype="0" decel="60436"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750"/>
                                        <p:tgtEl>
                                          <p:spTgt spid="2"/>
                                        </p:tgtEl>
                                      </p:cBhvr>
                                    </p:animEffect>
                                  </p:childTnLst>
                                </p:cTn>
                              </p:par>
                              <p:par>
                                <p:cTn id="11" presetID="63" presetClass="path" presetSubtype="0" decel="60436" fill="hold" nodeType="withEffect">
                                  <p:stCondLst>
                                    <p:cond delay="0"/>
                                  </p:stCondLst>
                                  <p:childTnLst>
                                    <p:animMotion origin="layout" path="M 0 0 L 0.296701 0.175297 E" pathEditMode="relative" ptsTypes="">
                                      <p:cBhvr>
                                        <p:cTn id="12" dur="750" fill="hold"/>
                                        <p:tgtEl>
                                          <p:spTgt spid="6"/>
                                        </p:tgtEl>
                                        <p:attrNameLst>
                                          <p:attrName>ppt_x</p:attrName>
                                          <p:attrName>ppt_y</p:attrName>
                                        </p:attrNameLst>
                                      </p:cBhvr>
                                    </p:animMotion>
                                  </p:childTnLst>
                                </p:cTn>
                              </p:par>
                              <p:par>
                                <p:cTn id="13" presetID="63" presetClass="path" presetSubtype="0" decel="60436" fill="hold" nodeType="withEffect">
                                  <p:stCondLst>
                                    <p:cond delay="0"/>
                                  </p:stCondLst>
                                  <p:childTnLst>
                                    <p:animMotion origin="layout" path="M -0.296701 -0.175297 L 0 0 E" pathEditMode="relative" ptsTypes="">
                                      <p:cBhvr>
                                        <p:cTn id="14" dur="750" fill="hold"/>
                                        <p:tgtEl>
                                          <p:spTgt spid="2"/>
                                        </p:tgtEl>
                                        <p:attrNameLst>
                                          <p:attrName>ppt_x</p:attrName>
                                          <p:attrName>ppt_y</p:attrName>
                                        </p:attrNameLst>
                                      </p:cBhvr>
                                    </p:animMotion>
                                  </p:childTnLst>
                                </p:cTn>
                              </p:par>
                              <p:par>
                                <p:cTn id="15" presetID="6" presetClass="emph" presetSubtype="0" decel="60436" fill="hold" nodeType="withEffect">
                                  <p:stCondLst>
                                    <p:cond delay="0"/>
                                  </p:stCondLst>
                                  <p:childTnLst>
                                    <p:animScale>
                                      <p:cBhvr>
                                        <p:cTn id="16" dur="750" fill="hold"/>
                                        <p:tgtEl>
                                          <p:spTgt spid="6"/>
                                        </p:tgtEl>
                                      </p:cBhvr>
                                      <p:by x="150000" y="150000"/>
                                      <p:from x="100000" y="100000"/>
                                      <p:to x="100000" y="100000"/>
                                    </p:animScale>
                                  </p:childTnLst>
                                </p:cTn>
                              </p:par>
                              <p:par>
                                <p:cTn id="17" presetID="6" presetClass="emph" presetSubtype="0" decel="60436" fill="hold" nodeType="withEffect">
                                  <p:stCondLst>
                                    <p:cond delay="0"/>
                                  </p:stCondLst>
                                  <p:childTnLst>
                                    <p:animScale>
                                      <p:cBhvr>
                                        <p:cTn id="18" dur="750" fill="hold"/>
                                        <p:tgtEl>
                                          <p:spTgt spid="2"/>
                                        </p:tgtEl>
                                      </p:cBhvr>
                                      <p:by x="150000" y="150000"/>
                                      <p:from x="100000" y="100000"/>
                                      <p:to x="100000" y="100000"/>
                                    </p:animScale>
                                  </p:childTnLst>
                                </p:cTn>
                              </p:par>
                              <p:par>
                                <p:cTn id="19" presetID="8" presetClass="emph" presetSubtype="0" decel="60436" fill="hold" nodeType="withEffect">
                                  <p:stCondLst>
                                    <p:cond delay="0"/>
                                  </p:stCondLst>
                                  <p:childTnLst>
                                    <p:animRot by="21600000" from="0" to="1539382">
                                      <p:cBhvr>
                                        <p:cTn id="20" dur="750" fill="hold"/>
                                        <p:tgtEl>
                                          <p:spTgt spid="6"/>
                                        </p:tgtEl>
                                        <p:attrNameLst>
                                          <p:attrName>r</p:attrName>
                                        </p:attrNameLst>
                                      </p:cBhvr>
                                    </p:animRot>
                                  </p:childTnLst>
                                </p:cTn>
                              </p:par>
                              <p:par>
                                <p:cTn id="21" presetID="8" presetClass="emph" presetSubtype="0" decel="60436" fill="hold" nodeType="withEffect">
                                  <p:stCondLst>
                                    <p:cond delay="0"/>
                                  </p:stCondLst>
                                  <p:childTnLst>
                                    <p:animRot by="21600000" from="-1539382" to="0">
                                      <p:cBhvr>
                                        <p:cTn id="22" dur="750" fill="hold"/>
                                        <p:tgtEl>
                                          <p:spTgt spid="2"/>
                                        </p:tgtEl>
                                        <p:attrNameLst>
                                          <p:attrName>r</p:attrName>
                                        </p:attrNameLst>
                                      </p:cBhvr>
                                    </p:animRot>
                                  </p:childTnLst>
                                </p:cTn>
                              </p:par>
                              <p:par>
                                <p:cTn id="23" presetID="53" presetClass="entr" presetSubtype="16" fill="hold" grpId="0" nodeType="withEffect">
                                  <p:stCondLst>
                                    <p:cond delay="50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Effect transition="in" filter="fade">
                                      <p:cBhvr>
                                        <p:cTn id="27" dur="500"/>
                                        <p:tgtEl>
                                          <p:spTgt spid="17"/>
                                        </p:tgtEl>
                                      </p:cBhvr>
                                    </p:animEffect>
                                  </p:childTnLst>
                                </p:cTn>
                              </p:par>
                              <p:par>
                                <p:cTn id="28" presetID="53" presetClass="entr" presetSubtype="16" fill="hold" grpId="0" nodeType="withEffect">
                                  <p:stCondLst>
                                    <p:cond delay="650"/>
                                  </p:stCondLst>
                                  <p:childTnLst>
                                    <p:set>
                                      <p:cBhvr>
                                        <p:cTn id="29" dur="1" fill="hold">
                                          <p:stCondLst>
                                            <p:cond delay="0"/>
                                          </p:stCondLst>
                                        </p:cTn>
                                        <p:tgtEl>
                                          <p:spTgt spid="7">
                                            <p:txEl>
                                              <p:pRg st="0" end="0"/>
                                            </p:txEl>
                                          </p:spTgt>
                                        </p:tgtEl>
                                        <p:attrNameLst>
                                          <p:attrName>style.visibility</p:attrName>
                                        </p:attrNameLst>
                                      </p:cBhvr>
                                      <p:to>
                                        <p:strVal val="visible"/>
                                      </p:to>
                                    </p:set>
                                    <p:anim calcmode="lin" valueType="num">
                                      <p:cBhvr>
                                        <p:cTn id="30"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31"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32" dur="500"/>
                                        <p:tgtEl>
                                          <p:spTgt spid="7">
                                            <p:txEl>
                                              <p:pRg st="0" end="0"/>
                                            </p:txEl>
                                          </p:spTgt>
                                        </p:tgtEl>
                                      </p:cBhvr>
                                    </p:animEffect>
                                  </p:childTnLst>
                                </p:cTn>
                              </p:par>
                              <p:par>
                                <p:cTn id="33" presetID="53" presetClass="entr" presetSubtype="16" fill="hold" grpId="0" nodeType="withEffect">
                                  <p:stCondLst>
                                    <p:cond delay="650"/>
                                  </p:stCondLst>
                                  <p:childTnLst>
                                    <p:set>
                                      <p:cBhvr>
                                        <p:cTn id="34" dur="1" fill="hold">
                                          <p:stCondLst>
                                            <p:cond delay="0"/>
                                          </p:stCondLst>
                                        </p:cTn>
                                        <p:tgtEl>
                                          <p:spTgt spid="5"/>
                                        </p:tgtEl>
                                        <p:attrNameLst>
                                          <p:attrName>style.visibility</p:attrName>
                                        </p:attrNameLst>
                                      </p:cBhvr>
                                      <p:to>
                                        <p:strVal val="visible"/>
                                      </p:to>
                                    </p:set>
                                    <p:anim calcmode="lin" valueType="num">
                                      <p:cBhvr>
                                        <p:cTn id="35" dur="500" fill="hold"/>
                                        <p:tgtEl>
                                          <p:spTgt spid="5"/>
                                        </p:tgtEl>
                                        <p:attrNameLst>
                                          <p:attrName>ppt_w</p:attrName>
                                        </p:attrNameLst>
                                      </p:cBhvr>
                                      <p:tavLst>
                                        <p:tav tm="0">
                                          <p:val>
                                            <p:fltVal val="0"/>
                                          </p:val>
                                        </p:tav>
                                        <p:tav tm="100000">
                                          <p:val>
                                            <p:strVal val="#ppt_w"/>
                                          </p:val>
                                        </p:tav>
                                      </p:tavLst>
                                    </p:anim>
                                    <p:anim calcmode="lin" valueType="num">
                                      <p:cBhvr>
                                        <p:cTn id="36" dur="500" fill="hold"/>
                                        <p:tgtEl>
                                          <p:spTgt spid="5"/>
                                        </p:tgtEl>
                                        <p:attrNameLst>
                                          <p:attrName>ppt_h</p:attrName>
                                        </p:attrNameLst>
                                      </p:cBhvr>
                                      <p:tavLst>
                                        <p:tav tm="0">
                                          <p:val>
                                            <p:fltVal val="0"/>
                                          </p:val>
                                        </p:tav>
                                        <p:tav tm="100000">
                                          <p:val>
                                            <p:strVal val="#ppt_h"/>
                                          </p:val>
                                        </p:tav>
                                      </p:tavLst>
                                    </p:anim>
                                    <p:animEffect transition="in" filter="fade">
                                      <p:cBhvr>
                                        <p:cTn id="37" dur="500"/>
                                        <p:tgtEl>
                                          <p:spTgt spid="5"/>
                                        </p:tgtEl>
                                      </p:cBhvr>
                                    </p:animEffect>
                                  </p:childTnLst>
                                </p:cTn>
                              </p:par>
                              <p:par>
                                <p:cTn id="38" presetID="53" presetClass="entr" presetSubtype="16" fill="hold" grpId="0" nodeType="withEffect">
                                  <p:stCondLst>
                                    <p:cond delay="750"/>
                                  </p:stCondLst>
                                  <p:childTnLst>
                                    <p:set>
                                      <p:cBhvr>
                                        <p:cTn id="39" dur="1" fill="hold">
                                          <p:stCondLst>
                                            <p:cond delay="0"/>
                                          </p:stCondLst>
                                        </p:cTn>
                                        <p:tgtEl>
                                          <p:spTgt spid="3"/>
                                        </p:tgtEl>
                                        <p:attrNameLst>
                                          <p:attrName>style.visibility</p:attrName>
                                        </p:attrNameLst>
                                      </p:cBhvr>
                                      <p:to>
                                        <p:strVal val="visible"/>
                                      </p:to>
                                    </p:set>
                                    <p:anim calcmode="lin" valueType="num">
                                      <p:cBhvr>
                                        <p:cTn id="40" dur="500" fill="hold"/>
                                        <p:tgtEl>
                                          <p:spTgt spid="3"/>
                                        </p:tgtEl>
                                        <p:attrNameLst>
                                          <p:attrName>ppt_w</p:attrName>
                                        </p:attrNameLst>
                                      </p:cBhvr>
                                      <p:tavLst>
                                        <p:tav tm="0">
                                          <p:val>
                                            <p:fltVal val="0"/>
                                          </p:val>
                                        </p:tav>
                                        <p:tav tm="100000">
                                          <p:val>
                                            <p:strVal val="#ppt_w"/>
                                          </p:val>
                                        </p:tav>
                                      </p:tavLst>
                                    </p:anim>
                                    <p:anim calcmode="lin" valueType="num">
                                      <p:cBhvr>
                                        <p:cTn id="41" dur="500" fill="hold"/>
                                        <p:tgtEl>
                                          <p:spTgt spid="3"/>
                                        </p:tgtEl>
                                        <p:attrNameLst>
                                          <p:attrName>ppt_h</p:attrName>
                                        </p:attrNameLst>
                                      </p:cBhvr>
                                      <p:tavLst>
                                        <p:tav tm="0">
                                          <p:val>
                                            <p:fltVal val="0"/>
                                          </p:val>
                                        </p:tav>
                                        <p:tav tm="100000">
                                          <p:val>
                                            <p:strVal val="#ppt_h"/>
                                          </p:val>
                                        </p:tav>
                                      </p:tavLst>
                                    </p:anim>
                                    <p:animEffect transition="in" filter="fade">
                                      <p:cBhvr>
                                        <p:cTn id="42" dur="500"/>
                                        <p:tgtEl>
                                          <p:spTgt spid="3"/>
                                        </p:tgtEl>
                                      </p:cBhvr>
                                    </p:animEffect>
                                  </p:childTnLst>
                                </p:cTn>
                              </p:par>
                              <p:par>
                                <p:cTn id="43" presetID="53" presetClass="entr" presetSubtype="16" fill="hold" grpId="0" nodeType="withEffect">
                                  <p:stCondLst>
                                    <p:cond delay="900"/>
                                  </p:stCondLst>
                                  <p:childTnLst>
                                    <p:set>
                                      <p:cBhvr>
                                        <p:cTn id="44" dur="1" fill="hold">
                                          <p:stCondLst>
                                            <p:cond delay="0"/>
                                          </p:stCondLst>
                                        </p:cTn>
                                        <p:tgtEl>
                                          <p:spTgt spid="8"/>
                                        </p:tgtEl>
                                        <p:attrNameLst>
                                          <p:attrName>style.visibility</p:attrName>
                                        </p:attrNameLst>
                                      </p:cBhvr>
                                      <p:to>
                                        <p:strVal val="visible"/>
                                      </p:to>
                                    </p:set>
                                    <p:anim calcmode="lin" valueType="num">
                                      <p:cBhvr>
                                        <p:cTn id="45" dur="500" fill="hold"/>
                                        <p:tgtEl>
                                          <p:spTgt spid="8"/>
                                        </p:tgtEl>
                                        <p:attrNameLst>
                                          <p:attrName>ppt_w</p:attrName>
                                        </p:attrNameLst>
                                      </p:cBhvr>
                                      <p:tavLst>
                                        <p:tav tm="0">
                                          <p:val>
                                            <p:fltVal val="0"/>
                                          </p:val>
                                        </p:tav>
                                        <p:tav tm="100000">
                                          <p:val>
                                            <p:strVal val="#ppt_w"/>
                                          </p:val>
                                        </p:tav>
                                      </p:tavLst>
                                    </p:anim>
                                    <p:anim calcmode="lin" valueType="num">
                                      <p:cBhvr>
                                        <p:cTn id="46" dur="500" fill="hold"/>
                                        <p:tgtEl>
                                          <p:spTgt spid="8"/>
                                        </p:tgtEl>
                                        <p:attrNameLst>
                                          <p:attrName>ppt_h</p:attrName>
                                        </p:attrNameLst>
                                      </p:cBhvr>
                                      <p:tavLst>
                                        <p:tav tm="0">
                                          <p:val>
                                            <p:fltVal val="0"/>
                                          </p:val>
                                        </p:tav>
                                        <p:tav tm="100000">
                                          <p:val>
                                            <p:strVal val="#ppt_h"/>
                                          </p:val>
                                        </p:tav>
                                      </p:tavLst>
                                    </p:anim>
                                    <p:animEffect transition="in" filter="fade">
                                      <p:cBhvr>
                                        <p:cTn id="47" dur="500"/>
                                        <p:tgtEl>
                                          <p:spTgt spid="8"/>
                                        </p:tgtEl>
                                      </p:cBhvr>
                                    </p:animEffect>
                                  </p:childTnLst>
                                </p:cTn>
                              </p:par>
                              <p:par>
                                <p:cTn id="48" presetID="10" presetClass="entr" presetSubtype="0" fill="hold" grpId="0" nodeType="withEffect">
                                  <p:stCondLst>
                                    <p:cond delay="75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42" presetClass="path" presetSubtype="0" accel="50000" decel="50000" fill="hold" grpId="1" nodeType="withEffect">
                                  <p:stCondLst>
                                    <p:cond delay="750"/>
                                  </p:stCondLst>
                                  <p:childTnLst>
                                    <p:animMotion origin="layout" path="M -4.58333E-6 -1.85185E-6 L 0.0168 0.02986 " pathEditMode="relative" rAng="0" ptsTypes="AA">
                                      <p:cBhvr>
                                        <p:cTn id="52" dur="500" fill="hold"/>
                                        <p:tgtEl>
                                          <p:spTgt spid="19"/>
                                        </p:tgtEl>
                                        <p:attrNameLst>
                                          <p:attrName>ppt_x</p:attrName>
                                          <p:attrName>ppt_y</p:attrName>
                                        </p:attrNameLst>
                                      </p:cBhvr>
                                      <p:rCtr x="833" y="1481"/>
                                    </p:animMotion>
                                  </p:childTnLst>
                                </p:cTn>
                              </p:par>
                              <p:par>
                                <p:cTn id="53" presetID="10" presetClass="entr" presetSubtype="0" decel="100000" fill="hold" grpId="0" nodeType="withEffect">
                                  <p:stCondLst>
                                    <p:cond delay="75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500">
                                          <p:stCondLst>
                                            <p:cond delay="0"/>
                                          </p:stCondLst>
                                        </p:cTn>
                                        <p:tgtEl>
                                          <p:spTgt spid="4"/>
                                        </p:tgtEl>
                                      </p:cBhvr>
                                    </p:animEffect>
                                    <p:anim to="0" calcmode="lin" valueType="num">
                                      <p:cBhvr>
                                        <p:cTn id="56" dur="500" fill="hold">
                                          <p:stCondLst>
                                            <p:cond delay="0"/>
                                          </p:stCondLst>
                                        </p:cTn>
                                        <p:tgtEl>
                                          <p:spTgt spid="4"/>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P spid="5" grpId="0" animBg="1"/>
      <p:bldP spid="19" grpId="0" animBg="1"/>
      <p:bldP spid="19" grpId="1" animBg="1"/>
      <p:bldP spid="17" grpId="0" animBg="1"/>
      <p:bldP spid="4" grpId="0">
        <p:tmplLst>
          <p:tmpl>
            <p:tnLst>
              <p:par>
                <p:cTn presetID="10" presetClass="entr" presetSubtype="0" decel="100000" fill="hold" nodeType="withEffect">
                  <p:stCondLst>
                    <p:cond delay="750"/>
                  </p:stCondLst>
                  <p:childTnLst>
                    <p:set>
                      <p:cBhvr>
                        <p:cTn dur="1" fill="hold">
                          <p:stCondLst>
                            <p:cond delay="0"/>
                          </p:stCondLst>
                        </p:cTn>
                        <p:tgtEl>
                          <p:spTgt spid="4"/>
                        </p:tgtEl>
                        <p:attrNameLst>
                          <p:attrName>style.visibility</p:attrName>
                        </p:attrNameLst>
                      </p:cBhvr>
                      <p:to>
                        <p:strVal val="visible"/>
                      </p:to>
                    </p:set>
                    <p:animEffect transition="in" filter="fade">
                      <p:cBhvr>
                        <p:cTn dur="500">
                          <p:stCondLst>
                            <p:cond delay="0"/>
                          </p:stCondLst>
                        </p:cTn>
                        <p:tgtEl>
                          <p:spTgt spid="4"/>
                        </p:tgtEl>
                      </p:cBhvr>
                    </p:animEffect>
                    <p:anim to="0" calcmode="lin" valueType="num">
                      <p:cBhvr>
                        <p:cTn dur="500" fill="hold">
                          <p:stCondLst>
                            <p:cond delay="0"/>
                          </p:stCondLst>
                        </p:cTn>
                        <p:tgtEl>
                          <p:spTgt spid="4"/>
                        </p:tgtEl>
                        <p:attrNameLst>
                          <p:attrName>ppt_x</p:attrName>
                        </p:attrNameLst>
                      </p:cBhvr>
                      <p:tavLst>
                        <p:tav tm="0">
                          <p:val>
                            <p:strVal val="#ppt_x-.05"/>
                          </p:val>
                        </p:tav>
                        <p:tav tm="100000">
                          <p:val>
                            <p:strVal val="#ppt_x"/>
                          </p:val>
                        </p:tav>
                      </p:tavLst>
                    </p:anim>
                  </p:childTnLst>
                </p:cTn>
              </p:par>
            </p:tnLst>
          </p:tmpl>
        </p:tmplLst>
      </p:bldP>
      <p:bldP spid="7" grpId="0" build="p">
        <p:tmplLst>
          <p:tmpl lvl="1">
            <p:tnLst>
              <p:par>
                <p:cTn presetID="53" presetClass="entr" presetSubtype="16" fill="hold" nodeType="withEffect">
                  <p:stCondLst>
                    <p:cond delay="650"/>
                  </p:stCondLst>
                  <p:childTnLst>
                    <p:set>
                      <p:cBhvr>
                        <p:cTn dur="1" fill="hold">
                          <p:stCondLst>
                            <p:cond delay="0"/>
                          </p:stCondLst>
                        </p:cTn>
                        <p:tgtEl>
                          <p:spTgt spid="7"/>
                        </p:tgtEl>
                        <p:attrNameLst>
                          <p:attrName>style.visibility</p:attrName>
                        </p:attrNameLst>
                      </p:cBhvr>
                      <p:to>
                        <p:strVal val="visible"/>
                      </p:to>
                    </p:set>
                    <p:anim calcmode="lin" valueType="num">
                      <p:cBhvr>
                        <p:cTn dur="500" fill="hold"/>
                        <p:tgtEl>
                          <p:spTgt spid="7"/>
                        </p:tgtEl>
                        <p:attrNameLst>
                          <p:attrName>ppt_w</p:attrName>
                        </p:attrNameLst>
                      </p:cBhvr>
                      <p:tavLst>
                        <p:tav tm="0">
                          <p:val>
                            <p:fltVal val="0"/>
                          </p:val>
                        </p:tav>
                        <p:tav tm="100000">
                          <p:val>
                            <p:strVal val="#ppt_w"/>
                          </p:val>
                        </p:tav>
                      </p:tavLst>
                    </p:anim>
                    <p:anim calcmode="lin" valueType="num">
                      <p:cBhvr>
                        <p:cTn dur="500" fill="hold"/>
                        <p:tgtEl>
                          <p:spTgt spid="7"/>
                        </p:tgtEl>
                        <p:attrNameLst>
                          <p:attrName>ppt_h</p:attrName>
                        </p:attrNameLst>
                      </p:cBhvr>
                      <p:tavLst>
                        <p:tav tm="0">
                          <p:val>
                            <p:fltVal val="0"/>
                          </p:val>
                        </p:tav>
                        <p:tav tm="100000">
                          <p:val>
                            <p:strVal val="#ppt_h"/>
                          </p:val>
                        </p:tav>
                      </p:tavLst>
                    </p:anim>
                    <p:animEffect transition="in" filter="fade">
                      <p:cBhvr>
                        <p:cTn dur="500"/>
                        <p:tgtEl>
                          <p:spTgt spid="7"/>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带目录章节">
    <p:spTree>
      <p:nvGrpSpPr>
        <p:cNvPr id="1" name=""/>
        <p:cNvGrpSpPr/>
        <p:nvPr/>
      </p:nvGrpSpPr>
      <p:grpSpPr>
        <a:xfrm>
          <a:off x="0" y="0"/>
          <a:ext cx="0" cy="0"/>
          <a:chOff x="0" y="0"/>
          <a:chExt cx="0" cy="0"/>
        </a:xfrm>
      </p:grpSpPr>
      <p:sp>
        <p:nvSpPr>
          <p:cNvPr id="16" name="椭圆 15">
            <a:extLst>
              <a:ext uri="{FF2B5EF4-FFF2-40B4-BE49-F238E27FC236}">
                <a16:creationId xmlns:a16="http://schemas.microsoft.com/office/drawing/2014/main" id="{B46198AC-367B-0D53-9173-FC8CA63C085D}"/>
              </a:ext>
            </a:extLst>
          </p:cNvPr>
          <p:cNvSpPr/>
          <p:nvPr userDrawn="1"/>
        </p:nvSpPr>
        <p:spPr>
          <a:xfrm>
            <a:off x="367090"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5EB1B61C-49CF-BE5E-D897-0E6165887E9C}"/>
              </a:ext>
            </a:extLst>
          </p:cNvPr>
          <p:cNvSpPr/>
          <p:nvPr userDrawn="1"/>
        </p:nvSpPr>
        <p:spPr>
          <a:xfrm>
            <a:off x="1832990" y="-2841"/>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62399A25-BD86-E6C4-1B6C-5E720BE7951F}"/>
              </a:ext>
            </a:extLst>
          </p:cNvPr>
          <p:cNvSpPr/>
          <p:nvPr userDrawn="1"/>
        </p:nvSpPr>
        <p:spPr>
          <a:xfrm>
            <a:off x="3434922" y="159909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75BB57A5-2F78-87EC-D302-EA186869EBC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568416">
            <a:off x="90962" y="381112"/>
            <a:ext cx="4016078" cy="5720226"/>
          </a:xfrm>
          <a:prstGeom prst="rect">
            <a:avLst/>
          </a:prstGeom>
        </p:spPr>
      </p:pic>
      <p:pic>
        <p:nvPicPr>
          <p:cNvPr id="14" name="图片 13">
            <a:extLst>
              <a:ext uri="{FF2B5EF4-FFF2-40B4-BE49-F238E27FC236}">
                <a16:creationId xmlns:a16="http://schemas.microsoft.com/office/drawing/2014/main" id="{956F742F-78A8-9974-FA4F-56396F38C2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20629034">
            <a:off x="-3526421" y="-821074"/>
            <a:ext cx="4016077" cy="5720225"/>
          </a:xfrm>
          <a:prstGeom prst="rect">
            <a:avLst/>
          </a:prstGeom>
        </p:spPr>
      </p:pic>
      <p:sp>
        <p:nvSpPr>
          <p:cNvPr id="5" name="文本占位符 3">
            <a:extLst>
              <a:ext uri="{FF2B5EF4-FFF2-40B4-BE49-F238E27FC236}">
                <a16:creationId xmlns:a16="http://schemas.microsoft.com/office/drawing/2014/main" id="{3AF24492-4E99-231B-3CC0-5126876878AA}"/>
              </a:ext>
            </a:extLst>
          </p:cNvPr>
          <p:cNvSpPr>
            <a:spLocks noGrp="1"/>
          </p:cNvSpPr>
          <p:nvPr>
            <p:ph type="body" sz="quarter" idx="11" hasCustomPrompt="1"/>
          </p:nvPr>
        </p:nvSpPr>
        <p:spPr>
          <a:xfrm>
            <a:off x="5837223" y="2203928"/>
            <a:ext cx="3484714" cy="668338"/>
          </a:xfrm>
          <a:prstGeom prst="rect">
            <a:avLst/>
          </a:prstGeom>
          <a:ln>
            <a:noFill/>
          </a:ln>
        </p:spPr>
        <p:txBody>
          <a:bodyPr anchor="ctr"/>
          <a:lstStyle>
            <a:lvl1pPr marL="0" indent="0" algn="l">
              <a:lnSpc>
                <a:spcPct val="100000"/>
              </a:lnSpc>
              <a:buNone/>
              <a:defRPr sz="3600">
                <a:solidFill>
                  <a:schemeClr val="tx1"/>
                </a:solidFill>
                <a:latin typeface="+mj-ea"/>
                <a:ea typeface="+mj-ea"/>
              </a:defRPr>
            </a:lvl1pPr>
          </a:lstStyle>
          <a:p>
            <a:pPr lvl="0"/>
            <a:r>
              <a:rPr lang="zh-CN" altLang="en-US"/>
              <a:t>章节标题</a:t>
            </a:r>
          </a:p>
        </p:txBody>
      </p:sp>
      <p:sp>
        <p:nvSpPr>
          <p:cNvPr id="2" name="文本占位符 25">
            <a:extLst>
              <a:ext uri="{FF2B5EF4-FFF2-40B4-BE49-F238E27FC236}">
                <a16:creationId xmlns:a16="http://schemas.microsoft.com/office/drawing/2014/main" id="{16A7C205-45D1-F79D-939F-C8FE0D7B4EFC}"/>
              </a:ext>
            </a:extLst>
          </p:cNvPr>
          <p:cNvSpPr>
            <a:spLocks noGrp="1"/>
          </p:cNvSpPr>
          <p:nvPr>
            <p:ph type="body" sz="quarter" idx="10" hasCustomPrompt="1"/>
          </p:nvPr>
        </p:nvSpPr>
        <p:spPr>
          <a:xfrm>
            <a:off x="6073412" y="2924828"/>
            <a:ext cx="3692525" cy="2206679"/>
          </a:xfrm>
          <a:prstGeom prst="rect">
            <a:avLst/>
          </a:prstGeom>
        </p:spPr>
        <p:txBody>
          <a:bodyPr anchor="t"/>
          <a:lstStyle>
            <a:lvl1pPr marL="342900" indent="-342900"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4" name="椭圆 3">
            <a:extLst>
              <a:ext uri="{FF2B5EF4-FFF2-40B4-BE49-F238E27FC236}">
                <a16:creationId xmlns:a16="http://schemas.microsoft.com/office/drawing/2014/main" id="{2249AA4E-BDC6-696B-EF7C-D82E9F67C155}"/>
              </a:ext>
            </a:extLst>
          </p:cNvPr>
          <p:cNvSpPr/>
          <p:nvPr userDrawn="1"/>
        </p:nvSpPr>
        <p:spPr>
          <a:xfrm>
            <a:off x="4633274" y="3069963"/>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心">
            <a:extLst>
              <a:ext uri="{FF2B5EF4-FFF2-40B4-BE49-F238E27FC236}">
                <a16:creationId xmlns:a16="http://schemas.microsoft.com/office/drawing/2014/main" id="{187CDF87-71AD-62FA-465E-4563734A654E}"/>
              </a:ext>
            </a:extLst>
          </p:cNvPr>
          <p:cNvSpPr/>
          <p:nvPr userDrawn="1"/>
        </p:nvSpPr>
        <p:spPr>
          <a:xfrm>
            <a:off x="4186995" y="2360165"/>
            <a:ext cx="1119534" cy="11195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7" name="文本占位符 6">
            <a:extLst>
              <a:ext uri="{FF2B5EF4-FFF2-40B4-BE49-F238E27FC236}">
                <a16:creationId xmlns:a16="http://schemas.microsoft.com/office/drawing/2014/main" id="{0FA4BC60-2E49-93DC-4C3E-CA7B70C33EA7}"/>
              </a:ext>
            </a:extLst>
          </p:cNvPr>
          <p:cNvSpPr>
            <a:spLocks noGrp="1"/>
          </p:cNvSpPr>
          <p:nvPr>
            <p:ph type="body" sz="quarter" idx="14" hasCustomPrompt="1"/>
          </p:nvPr>
        </p:nvSpPr>
        <p:spPr>
          <a:xfrm>
            <a:off x="4304296" y="2679426"/>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1178867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decel="60436" fill="hold" nodeType="withEffect">
                                  <p:stCondLst>
                                    <p:cond delay="0"/>
                                  </p:stCondLst>
                                  <p:childTnLst>
                                    <p:animEffect transition="out" filter="fade">
                                      <p:cBhvr>
                                        <p:cTn id="6" dur="750"/>
                                        <p:tgtEl>
                                          <p:spTgt spid="14"/>
                                        </p:tgtEl>
                                      </p:cBhvr>
                                    </p:animEffect>
                                    <p:set>
                                      <p:cBhvr>
                                        <p:cTn id="7" dur="1" fill="hold">
                                          <p:stCondLst>
                                            <p:cond delay="749"/>
                                          </p:stCondLst>
                                        </p:cTn>
                                        <p:tgtEl>
                                          <p:spTgt spid="14"/>
                                        </p:tgtEl>
                                        <p:attrNameLst>
                                          <p:attrName>style.visibility</p:attrName>
                                        </p:attrNameLst>
                                      </p:cBhvr>
                                      <p:to>
                                        <p:strVal val="hidden"/>
                                      </p:to>
                                    </p:set>
                                  </p:childTnLst>
                                </p:cTn>
                              </p:par>
                              <p:par>
                                <p:cTn id="8" presetID="10" presetClass="entr" presetSubtype="0" decel="60436"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750"/>
                                        <p:tgtEl>
                                          <p:spTgt spid="12"/>
                                        </p:tgtEl>
                                      </p:cBhvr>
                                    </p:animEffect>
                                  </p:childTnLst>
                                </p:cTn>
                              </p:par>
                              <p:par>
                                <p:cTn id="11" presetID="63" presetClass="path" presetSubtype="0" decel="60436" fill="hold" nodeType="withEffect">
                                  <p:stCondLst>
                                    <p:cond delay="0"/>
                                  </p:stCondLst>
                                  <p:childTnLst>
                                    <p:animMotion origin="layout" path="M 0 0 L 0.296701 0.175297 E" pathEditMode="relative" ptsTypes="">
                                      <p:cBhvr>
                                        <p:cTn id="12" dur="750" fill="hold"/>
                                        <p:tgtEl>
                                          <p:spTgt spid="14"/>
                                        </p:tgtEl>
                                        <p:attrNameLst>
                                          <p:attrName>ppt_x</p:attrName>
                                          <p:attrName>ppt_y</p:attrName>
                                        </p:attrNameLst>
                                      </p:cBhvr>
                                    </p:animMotion>
                                  </p:childTnLst>
                                </p:cTn>
                              </p:par>
                              <p:par>
                                <p:cTn id="13" presetID="63" presetClass="path" presetSubtype="0" decel="60436" fill="hold" nodeType="withEffect">
                                  <p:stCondLst>
                                    <p:cond delay="0"/>
                                  </p:stCondLst>
                                  <p:childTnLst>
                                    <p:animMotion origin="layout" path="M -0.296701 -0.175297 L 0 0 E" pathEditMode="relative" ptsTypes="">
                                      <p:cBhvr>
                                        <p:cTn id="14" dur="750" fill="hold"/>
                                        <p:tgtEl>
                                          <p:spTgt spid="12"/>
                                        </p:tgtEl>
                                        <p:attrNameLst>
                                          <p:attrName>ppt_x</p:attrName>
                                          <p:attrName>ppt_y</p:attrName>
                                        </p:attrNameLst>
                                      </p:cBhvr>
                                    </p:animMotion>
                                  </p:childTnLst>
                                </p:cTn>
                              </p:par>
                              <p:par>
                                <p:cTn id="15" presetID="6" presetClass="emph" presetSubtype="0" decel="60436" fill="hold" nodeType="withEffect">
                                  <p:stCondLst>
                                    <p:cond delay="0"/>
                                  </p:stCondLst>
                                  <p:childTnLst>
                                    <p:animScale>
                                      <p:cBhvr>
                                        <p:cTn id="16" dur="750" fill="hold"/>
                                        <p:tgtEl>
                                          <p:spTgt spid="14"/>
                                        </p:tgtEl>
                                      </p:cBhvr>
                                      <p:by x="150000" y="150000"/>
                                      <p:from x="100000" y="100000"/>
                                      <p:to x="100000" y="100000"/>
                                    </p:animScale>
                                  </p:childTnLst>
                                </p:cTn>
                              </p:par>
                              <p:par>
                                <p:cTn id="17" presetID="6" presetClass="emph" presetSubtype="0" decel="60436" fill="hold" nodeType="withEffect">
                                  <p:stCondLst>
                                    <p:cond delay="0"/>
                                  </p:stCondLst>
                                  <p:childTnLst>
                                    <p:animScale>
                                      <p:cBhvr>
                                        <p:cTn id="18" dur="750" fill="hold"/>
                                        <p:tgtEl>
                                          <p:spTgt spid="12"/>
                                        </p:tgtEl>
                                      </p:cBhvr>
                                      <p:by x="150000" y="150000"/>
                                      <p:from x="100000" y="100000"/>
                                      <p:to x="100000" y="100000"/>
                                    </p:animScale>
                                  </p:childTnLst>
                                </p:cTn>
                              </p:par>
                              <p:par>
                                <p:cTn id="19" presetID="8" presetClass="emph" presetSubtype="0" decel="60436" fill="hold" nodeType="withEffect">
                                  <p:stCondLst>
                                    <p:cond delay="0"/>
                                  </p:stCondLst>
                                  <p:childTnLst>
                                    <p:animRot by="21600000" from="0" to="1539382">
                                      <p:cBhvr>
                                        <p:cTn id="20" dur="750" fill="hold"/>
                                        <p:tgtEl>
                                          <p:spTgt spid="14"/>
                                        </p:tgtEl>
                                        <p:attrNameLst>
                                          <p:attrName>r</p:attrName>
                                        </p:attrNameLst>
                                      </p:cBhvr>
                                    </p:animRot>
                                  </p:childTnLst>
                                </p:cTn>
                              </p:par>
                              <p:par>
                                <p:cTn id="21" presetID="8" presetClass="emph" presetSubtype="0" decel="60436" fill="hold" nodeType="withEffect">
                                  <p:stCondLst>
                                    <p:cond delay="0"/>
                                  </p:stCondLst>
                                  <p:childTnLst>
                                    <p:animRot by="21600000" from="-1539382" to="0">
                                      <p:cBhvr>
                                        <p:cTn id="22" dur="750" fill="hold"/>
                                        <p:tgtEl>
                                          <p:spTgt spid="12"/>
                                        </p:tgtEl>
                                        <p:attrNameLst>
                                          <p:attrName>r</p:attrName>
                                        </p:attrNameLst>
                                      </p:cBhvr>
                                    </p:animRot>
                                  </p:childTnLst>
                                </p:cTn>
                              </p:par>
                              <p:par>
                                <p:cTn id="23" presetID="53" presetClass="entr" presetSubtype="16" fill="hold" grpId="0" nodeType="withEffect">
                                  <p:stCondLst>
                                    <p:cond delay="50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par>
                                <p:cTn id="28" presetID="53" presetClass="entr" presetSubtype="16" fill="hold" grpId="0" nodeType="withEffect">
                                  <p:stCondLst>
                                    <p:cond delay="650"/>
                                  </p:stCondLst>
                                  <p:childTnLst>
                                    <p:set>
                                      <p:cBhvr>
                                        <p:cTn id="29" dur="1" fill="hold">
                                          <p:stCondLst>
                                            <p:cond delay="0"/>
                                          </p:stCondLst>
                                        </p:cTn>
                                        <p:tgtEl>
                                          <p:spTgt spid="7">
                                            <p:txEl>
                                              <p:pRg st="0" end="0"/>
                                            </p:txEl>
                                          </p:spTgt>
                                        </p:tgtEl>
                                        <p:attrNameLst>
                                          <p:attrName>style.visibility</p:attrName>
                                        </p:attrNameLst>
                                      </p:cBhvr>
                                      <p:to>
                                        <p:strVal val="visible"/>
                                      </p:to>
                                    </p:set>
                                    <p:anim calcmode="lin" valueType="num">
                                      <p:cBhvr>
                                        <p:cTn id="30"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31"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32" dur="500"/>
                                        <p:tgtEl>
                                          <p:spTgt spid="7">
                                            <p:txEl>
                                              <p:pRg st="0" end="0"/>
                                            </p:txEl>
                                          </p:spTgt>
                                        </p:tgtEl>
                                      </p:cBhvr>
                                    </p:animEffect>
                                  </p:childTnLst>
                                </p:cTn>
                              </p:par>
                              <p:par>
                                <p:cTn id="33" presetID="53" presetClass="entr" presetSubtype="16" fill="hold" grpId="0" nodeType="withEffect">
                                  <p:stCondLst>
                                    <p:cond delay="65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ppt_w</p:attrName>
                                        </p:attrNameLst>
                                      </p:cBhvr>
                                      <p:tavLst>
                                        <p:tav tm="0">
                                          <p:val>
                                            <p:fltVal val="0"/>
                                          </p:val>
                                        </p:tav>
                                        <p:tav tm="100000">
                                          <p:val>
                                            <p:strVal val="#ppt_w"/>
                                          </p:val>
                                        </p:tav>
                                      </p:tavLst>
                                    </p:anim>
                                    <p:anim calcmode="lin" valueType="num">
                                      <p:cBhvr>
                                        <p:cTn id="36" dur="500" fill="hold"/>
                                        <p:tgtEl>
                                          <p:spTgt spid="11"/>
                                        </p:tgtEl>
                                        <p:attrNameLst>
                                          <p:attrName>ppt_h</p:attrName>
                                        </p:attrNameLst>
                                      </p:cBhvr>
                                      <p:tavLst>
                                        <p:tav tm="0">
                                          <p:val>
                                            <p:fltVal val="0"/>
                                          </p:val>
                                        </p:tav>
                                        <p:tav tm="100000">
                                          <p:val>
                                            <p:strVal val="#ppt_h"/>
                                          </p:val>
                                        </p:tav>
                                      </p:tavLst>
                                    </p:anim>
                                    <p:animEffect transition="in" filter="fade">
                                      <p:cBhvr>
                                        <p:cTn id="37" dur="500"/>
                                        <p:tgtEl>
                                          <p:spTgt spid="11"/>
                                        </p:tgtEl>
                                      </p:cBhvr>
                                    </p:animEffect>
                                  </p:childTnLst>
                                </p:cTn>
                              </p:par>
                              <p:par>
                                <p:cTn id="38" presetID="53" presetClass="entr" presetSubtype="16" fill="hold" grpId="0" nodeType="withEffect">
                                  <p:stCondLst>
                                    <p:cond delay="800"/>
                                  </p:stCondLst>
                                  <p:childTnLst>
                                    <p:set>
                                      <p:cBhvr>
                                        <p:cTn id="39" dur="1" fill="hold">
                                          <p:stCondLst>
                                            <p:cond delay="0"/>
                                          </p:stCondLst>
                                        </p:cTn>
                                        <p:tgtEl>
                                          <p:spTgt spid="10"/>
                                        </p:tgtEl>
                                        <p:attrNameLst>
                                          <p:attrName>style.visibility</p:attrName>
                                        </p:attrNameLst>
                                      </p:cBhvr>
                                      <p:to>
                                        <p:strVal val="visible"/>
                                      </p:to>
                                    </p:set>
                                    <p:anim calcmode="lin" valueType="num">
                                      <p:cBhvr>
                                        <p:cTn id="40" dur="500" fill="hold"/>
                                        <p:tgtEl>
                                          <p:spTgt spid="10"/>
                                        </p:tgtEl>
                                        <p:attrNameLst>
                                          <p:attrName>ppt_w</p:attrName>
                                        </p:attrNameLst>
                                      </p:cBhvr>
                                      <p:tavLst>
                                        <p:tav tm="0">
                                          <p:val>
                                            <p:fltVal val="0"/>
                                          </p:val>
                                        </p:tav>
                                        <p:tav tm="100000">
                                          <p:val>
                                            <p:strVal val="#ppt_w"/>
                                          </p:val>
                                        </p:tav>
                                      </p:tavLst>
                                    </p:anim>
                                    <p:anim calcmode="lin" valueType="num">
                                      <p:cBhvr>
                                        <p:cTn id="41" dur="500" fill="hold"/>
                                        <p:tgtEl>
                                          <p:spTgt spid="10"/>
                                        </p:tgtEl>
                                        <p:attrNameLst>
                                          <p:attrName>ppt_h</p:attrName>
                                        </p:attrNameLst>
                                      </p:cBhvr>
                                      <p:tavLst>
                                        <p:tav tm="0">
                                          <p:val>
                                            <p:fltVal val="0"/>
                                          </p:val>
                                        </p:tav>
                                        <p:tav tm="100000">
                                          <p:val>
                                            <p:strVal val="#ppt_h"/>
                                          </p:val>
                                        </p:tav>
                                      </p:tavLst>
                                    </p:anim>
                                    <p:animEffect transition="in" filter="fade">
                                      <p:cBhvr>
                                        <p:cTn id="42" dur="500"/>
                                        <p:tgtEl>
                                          <p:spTgt spid="10"/>
                                        </p:tgtEl>
                                      </p:cBhvr>
                                    </p:animEffect>
                                  </p:childTnLst>
                                </p:cTn>
                              </p:par>
                              <p:par>
                                <p:cTn id="43" presetID="53" presetClass="entr" presetSubtype="16" fill="hold" grpId="0" nodeType="withEffect">
                                  <p:stCondLst>
                                    <p:cond delay="900"/>
                                  </p:stCondLst>
                                  <p:childTnLst>
                                    <p:set>
                                      <p:cBhvr>
                                        <p:cTn id="44" dur="1" fill="hold">
                                          <p:stCondLst>
                                            <p:cond delay="0"/>
                                          </p:stCondLst>
                                        </p:cTn>
                                        <p:tgtEl>
                                          <p:spTgt spid="16"/>
                                        </p:tgtEl>
                                        <p:attrNameLst>
                                          <p:attrName>style.visibility</p:attrName>
                                        </p:attrNameLst>
                                      </p:cBhvr>
                                      <p:to>
                                        <p:strVal val="visible"/>
                                      </p:to>
                                    </p:set>
                                    <p:anim calcmode="lin" valueType="num">
                                      <p:cBhvr>
                                        <p:cTn id="45" dur="500" fill="hold"/>
                                        <p:tgtEl>
                                          <p:spTgt spid="16"/>
                                        </p:tgtEl>
                                        <p:attrNameLst>
                                          <p:attrName>ppt_w</p:attrName>
                                        </p:attrNameLst>
                                      </p:cBhvr>
                                      <p:tavLst>
                                        <p:tav tm="0">
                                          <p:val>
                                            <p:fltVal val="0"/>
                                          </p:val>
                                        </p:tav>
                                        <p:tav tm="100000">
                                          <p:val>
                                            <p:strVal val="#ppt_w"/>
                                          </p:val>
                                        </p:tav>
                                      </p:tavLst>
                                    </p:anim>
                                    <p:anim calcmode="lin" valueType="num">
                                      <p:cBhvr>
                                        <p:cTn id="46" dur="500" fill="hold"/>
                                        <p:tgtEl>
                                          <p:spTgt spid="16"/>
                                        </p:tgtEl>
                                        <p:attrNameLst>
                                          <p:attrName>ppt_h</p:attrName>
                                        </p:attrNameLst>
                                      </p:cBhvr>
                                      <p:tavLst>
                                        <p:tav tm="0">
                                          <p:val>
                                            <p:fltVal val="0"/>
                                          </p:val>
                                        </p:tav>
                                        <p:tav tm="100000">
                                          <p:val>
                                            <p:strVal val="#ppt_h"/>
                                          </p:val>
                                        </p:tav>
                                      </p:tavLst>
                                    </p:anim>
                                    <p:animEffect transition="in" filter="fade">
                                      <p:cBhvr>
                                        <p:cTn id="47" dur="500"/>
                                        <p:tgtEl>
                                          <p:spTgt spid="16"/>
                                        </p:tgtEl>
                                      </p:cBhvr>
                                    </p:animEffect>
                                  </p:childTnLst>
                                </p:cTn>
                              </p:par>
                              <p:par>
                                <p:cTn id="48" presetID="10" presetClass="entr" presetSubtype="0" fill="hold" grpId="0" nodeType="withEffect">
                                  <p:stCondLst>
                                    <p:cond delay="75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500"/>
                                        <p:tgtEl>
                                          <p:spTgt spid="4"/>
                                        </p:tgtEl>
                                      </p:cBhvr>
                                    </p:animEffect>
                                  </p:childTnLst>
                                </p:cTn>
                              </p:par>
                              <p:par>
                                <p:cTn id="51" presetID="42" presetClass="path" presetSubtype="0" accel="50000" decel="50000" fill="hold" grpId="1" nodeType="withEffect">
                                  <p:stCondLst>
                                    <p:cond delay="750"/>
                                  </p:stCondLst>
                                  <p:childTnLst>
                                    <p:animMotion origin="layout" path="M 5E-6 3.7037E-6 L 0.0168 0.02986 " pathEditMode="relative" rAng="0" ptsTypes="AA">
                                      <p:cBhvr>
                                        <p:cTn id="52" dur="500" fill="hold"/>
                                        <p:tgtEl>
                                          <p:spTgt spid="4"/>
                                        </p:tgtEl>
                                        <p:attrNameLst>
                                          <p:attrName>ppt_x</p:attrName>
                                          <p:attrName>ppt_y</p:attrName>
                                        </p:attrNameLst>
                                      </p:cBhvr>
                                      <p:rCtr x="833" y="1481"/>
                                    </p:animMotion>
                                  </p:childTnLst>
                                </p:cTn>
                              </p:par>
                              <p:par>
                                <p:cTn id="53" presetID="10" presetClass="entr" presetSubtype="0" decel="100000" fill="hold" grpId="0" nodeType="withEffect">
                                  <p:stCondLst>
                                    <p:cond delay="750"/>
                                  </p:stCondLst>
                                  <p:childTnLst>
                                    <p:set>
                                      <p:cBhvr>
                                        <p:cTn id="54" dur="1" fill="hold">
                                          <p:stCondLst>
                                            <p:cond delay="0"/>
                                          </p:stCondLst>
                                        </p:cTn>
                                        <p:tgtEl>
                                          <p:spTgt spid="5"/>
                                        </p:tgtEl>
                                        <p:attrNameLst>
                                          <p:attrName>style.visibility</p:attrName>
                                        </p:attrNameLst>
                                      </p:cBhvr>
                                      <p:to>
                                        <p:strVal val="visible"/>
                                      </p:to>
                                    </p:set>
                                    <p:animEffect transition="in" filter="fade">
                                      <p:cBhvr>
                                        <p:cTn id="55" dur="500">
                                          <p:stCondLst>
                                            <p:cond delay="0"/>
                                          </p:stCondLst>
                                        </p:cTn>
                                        <p:tgtEl>
                                          <p:spTgt spid="5"/>
                                        </p:tgtEl>
                                      </p:cBhvr>
                                    </p:animEffect>
                                    <p:anim to="0" calcmode="lin" valueType="num">
                                      <p:cBhvr>
                                        <p:cTn id="56" dur="500" fill="hold">
                                          <p:stCondLst>
                                            <p:cond delay="0"/>
                                          </p:stCondLst>
                                        </p:cTn>
                                        <p:tgtEl>
                                          <p:spTgt spid="5"/>
                                        </p:tgtEl>
                                        <p:attrNameLst>
                                          <p:attrName>ppt_x</p:attrName>
                                        </p:attrNameLst>
                                      </p:cBhvr>
                                      <p:tavLst>
                                        <p:tav tm="0">
                                          <p:val>
                                            <p:strVal val="#ppt_x-.05"/>
                                          </p:val>
                                        </p:tav>
                                        <p:tav tm="100000">
                                          <p:val>
                                            <p:strVal val="#ppt_x"/>
                                          </p:val>
                                        </p:tav>
                                      </p:tavLst>
                                    </p:anim>
                                  </p:childTnLst>
                                </p:cTn>
                              </p:par>
                              <p:par>
                                <p:cTn id="57" presetID="10" presetClass="entr" presetSubtype="0" decel="100000" fill="hold" grpId="0" nodeType="withEffect">
                                  <p:stCondLst>
                                    <p:cond delay="750"/>
                                  </p:stCondLst>
                                  <p:iterate type="wd">
                                    <p:tmPct val="8000"/>
                                  </p:iterate>
                                  <p:childTnLst>
                                    <p:set>
                                      <p:cBhvr>
                                        <p:cTn id="58" dur="1" fill="hold">
                                          <p:stCondLst>
                                            <p:cond delay="0"/>
                                          </p:stCondLst>
                                        </p:cTn>
                                        <p:tgtEl>
                                          <p:spTgt spid="2"/>
                                        </p:tgtEl>
                                        <p:attrNameLst>
                                          <p:attrName>style.visibility</p:attrName>
                                        </p:attrNameLst>
                                      </p:cBhvr>
                                      <p:to>
                                        <p:strVal val="visible"/>
                                      </p:to>
                                    </p:set>
                                    <p:animEffect transition="in" filter="fade">
                                      <p:cBhvr>
                                        <p:cTn id="59" dur="500">
                                          <p:stCondLst>
                                            <p:cond delay="0"/>
                                          </p:stCondLst>
                                        </p:cTn>
                                        <p:tgtEl>
                                          <p:spTgt spid="2"/>
                                        </p:tgtEl>
                                      </p:cBhvr>
                                    </p:animEffect>
                                    <p:anim to="0" calcmode="lin" valueType="num">
                                      <p:cBhvr>
                                        <p:cTn id="60" dur="500" fill="hold">
                                          <p:stCondLst>
                                            <p:cond delay="0"/>
                                          </p:stCondLst>
                                        </p:cTn>
                                        <p:tgtEl>
                                          <p:spTgt spid="2"/>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P spid="11" grpId="0" animBg="1"/>
      <p:bldP spid="5" grpId="0">
        <p:tmplLst>
          <p:tmpl>
            <p:tnLst>
              <p:par>
                <p:cTn presetID="10" presetClass="entr" presetSubtype="0" decel="100000" fill="hold" nodeType="withEffect">
                  <p:stCondLst>
                    <p:cond delay="750"/>
                  </p:stCondLst>
                  <p:childTnLst>
                    <p:set>
                      <p:cBhvr>
                        <p:cTn dur="1" fill="hold">
                          <p:stCondLst>
                            <p:cond delay="0"/>
                          </p:stCondLst>
                        </p:cTn>
                        <p:tgtEl>
                          <p:spTgt spid="5"/>
                        </p:tgtEl>
                        <p:attrNameLst>
                          <p:attrName>style.visibility</p:attrName>
                        </p:attrNameLst>
                      </p:cBhvr>
                      <p:to>
                        <p:strVal val="visible"/>
                      </p:to>
                    </p:set>
                    <p:animEffect transition="in" filter="fade">
                      <p:cBhvr>
                        <p:cTn dur="500">
                          <p:stCondLst>
                            <p:cond delay="0"/>
                          </p:stCondLst>
                        </p:cTn>
                        <p:tgtEl>
                          <p:spTgt spid="5"/>
                        </p:tgtEl>
                      </p:cBhvr>
                    </p:animEffect>
                    <p:anim to="0" calcmode="lin" valueType="num">
                      <p:cBhvr>
                        <p:cTn dur="500" fill="hold">
                          <p:stCondLst>
                            <p:cond delay="0"/>
                          </p:stCondLst>
                        </p:cTn>
                        <p:tgtEl>
                          <p:spTgt spid="5"/>
                        </p:tgtEl>
                        <p:attrNameLst>
                          <p:attrName>ppt_x</p:attrName>
                        </p:attrNameLst>
                      </p:cBhvr>
                      <p:tavLst>
                        <p:tav tm="0">
                          <p:val>
                            <p:strVal val="#ppt_x-.05"/>
                          </p:val>
                        </p:tav>
                        <p:tav tm="100000">
                          <p:val>
                            <p:strVal val="#ppt_x"/>
                          </p:val>
                        </p:tav>
                      </p:tavLst>
                    </p:anim>
                  </p:childTnLst>
                </p:cTn>
              </p:par>
            </p:tnLst>
          </p:tmpl>
        </p:tmplLst>
      </p:bldP>
      <p:bldP spid="2" grpId="0">
        <p:tmplLst>
          <p:tmpl>
            <p:tnLst>
              <p:par>
                <p:cTn presetID="10" presetClass="entr" presetSubtype="0" decel="100000" fill="hold" nodeType="withEffect">
                  <p:stCondLst>
                    <p:cond delay="750"/>
                  </p:stCondLst>
                  <p:iterate type="wd">
                    <p:tmPct val="8000"/>
                  </p:iterate>
                  <p:childTnLst>
                    <p:set>
                      <p:cBhvr>
                        <p:cTn dur="1" fill="hold">
                          <p:stCondLst>
                            <p:cond delay="0"/>
                          </p:stCondLst>
                        </p:cTn>
                        <p:tgtEl>
                          <p:spTgt spid="2"/>
                        </p:tgtEl>
                        <p:attrNameLst>
                          <p:attrName>style.visibility</p:attrName>
                        </p:attrNameLst>
                      </p:cBhvr>
                      <p:to>
                        <p:strVal val="visible"/>
                      </p:to>
                    </p:set>
                    <p:animEffect transition="in" filter="fade">
                      <p:cBhvr>
                        <p:cTn dur="500">
                          <p:stCondLst>
                            <p:cond delay="0"/>
                          </p:stCondLst>
                        </p:cTn>
                        <p:tgtEl>
                          <p:spTgt spid="2"/>
                        </p:tgtEl>
                      </p:cBhvr>
                    </p:animEffect>
                    <p:anim to="0" calcmode="lin" valueType="num">
                      <p:cBhvr>
                        <p:cTn dur="500" fill="hold">
                          <p:stCondLst>
                            <p:cond delay="0"/>
                          </p:stCondLst>
                        </p:cTn>
                        <p:tgtEl>
                          <p:spTgt spid="2"/>
                        </p:tgtEl>
                        <p:attrNameLst>
                          <p:attrName>ppt_y</p:attrName>
                        </p:attrNameLst>
                      </p:cBhvr>
                      <p:tavLst>
                        <p:tav tm="0">
                          <p:val>
                            <p:strVal val="#ppt_y-.05"/>
                          </p:val>
                        </p:tav>
                        <p:tav tm="100000">
                          <p:val>
                            <p:strVal val="#ppt_y"/>
                          </p:val>
                        </p:tav>
                      </p:tavLst>
                    </p:anim>
                  </p:childTnLst>
                </p:cTn>
              </p:par>
            </p:tnLst>
          </p:tmpl>
        </p:tmplLst>
      </p:bldP>
      <p:bldP spid="4" grpId="0" animBg="1"/>
      <p:bldP spid="4" grpId="1" animBg="1"/>
      <p:bldP spid="6" grpId="0" animBg="1"/>
      <p:bldP spid="7" grpId="0" build="p">
        <p:tmplLst>
          <p:tmpl lvl="1">
            <p:tnLst>
              <p:par>
                <p:cTn presetID="53" presetClass="entr" presetSubtype="16" fill="hold" nodeType="withEffect">
                  <p:stCondLst>
                    <p:cond delay="650"/>
                  </p:stCondLst>
                  <p:childTnLst>
                    <p:set>
                      <p:cBhvr>
                        <p:cTn dur="1" fill="hold">
                          <p:stCondLst>
                            <p:cond delay="0"/>
                          </p:stCondLst>
                        </p:cTn>
                        <p:tgtEl>
                          <p:spTgt spid="7"/>
                        </p:tgtEl>
                        <p:attrNameLst>
                          <p:attrName>style.visibility</p:attrName>
                        </p:attrNameLst>
                      </p:cBhvr>
                      <p:to>
                        <p:strVal val="visible"/>
                      </p:to>
                    </p:set>
                    <p:anim calcmode="lin" valueType="num">
                      <p:cBhvr>
                        <p:cTn dur="500" fill="hold"/>
                        <p:tgtEl>
                          <p:spTgt spid="7"/>
                        </p:tgtEl>
                        <p:attrNameLst>
                          <p:attrName>ppt_w</p:attrName>
                        </p:attrNameLst>
                      </p:cBhvr>
                      <p:tavLst>
                        <p:tav tm="0">
                          <p:val>
                            <p:fltVal val="0"/>
                          </p:val>
                        </p:tav>
                        <p:tav tm="100000">
                          <p:val>
                            <p:strVal val="#ppt_w"/>
                          </p:val>
                        </p:tav>
                      </p:tavLst>
                    </p:anim>
                    <p:anim calcmode="lin" valueType="num">
                      <p:cBhvr>
                        <p:cTn dur="500" fill="hold"/>
                        <p:tgtEl>
                          <p:spTgt spid="7"/>
                        </p:tgtEl>
                        <p:attrNameLst>
                          <p:attrName>ppt_h</p:attrName>
                        </p:attrNameLst>
                      </p:cBhvr>
                      <p:tavLst>
                        <p:tav tm="0">
                          <p:val>
                            <p:fltVal val="0"/>
                          </p:val>
                        </p:tav>
                        <p:tav tm="100000">
                          <p:val>
                            <p:strVal val="#ppt_h"/>
                          </p:val>
                        </p:tav>
                      </p:tavLst>
                    </p:anim>
                    <p:animEffect transition="in" filter="fade">
                      <p:cBhvr>
                        <p:cTn dur="500"/>
                        <p:tgtEl>
                          <p:spTgt spid="7"/>
                        </p:tgtEl>
                      </p:cBhvr>
                    </p:animEffect>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2" name="椭圆 11">
            <a:extLst>
              <a:ext uri="{FF2B5EF4-FFF2-40B4-BE49-F238E27FC236}">
                <a16:creationId xmlns:a16="http://schemas.microsoft.com/office/drawing/2014/main" id="{E9A4C940-17A0-EAF5-1288-423099172492}"/>
              </a:ext>
            </a:extLst>
          </p:cNvPr>
          <p:cNvSpPr/>
          <p:nvPr userDrawn="1"/>
        </p:nvSpPr>
        <p:spPr>
          <a:xfrm>
            <a:off x="367090"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0B0CBC4C-0370-FC83-EFE2-A4655072B969}"/>
              </a:ext>
            </a:extLst>
          </p:cNvPr>
          <p:cNvSpPr/>
          <p:nvPr userDrawn="1"/>
        </p:nvSpPr>
        <p:spPr>
          <a:xfrm>
            <a:off x="1832990" y="-2841"/>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448C111F-EC00-73CD-D78D-B90FCF65990B}"/>
              </a:ext>
            </a:extLst>
          </p:cNvPr>
          <p:cNvSpPr/>
          <p:nvPr userDrawn="1"/>
        </p:nvSpPr>
        <p:spPr>
          <a:xfrm>
            <a:off x="3434922" y="159909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5EF8D094-C09B-FA07-5E8E-6D0A34E8E25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568416">
            <a:off x="90962" y="381112"/>
            <a:ext cx="4016078" cy="5720226"/>
          </a:xfrm>
          <a:prstGeom prst="rect">
            <a:avLst/>
          </a:prstGeom>
        </p:spPr>
      </p:pic>
      <p:pic>
        <p:nvPicPr>
          <p:cNvPr id="11" name="图片 10">
            <a:extLst>
              <a:ext uri="{FF2B5EF4-FFF2-40B4-BE49-F238E27FC236}">
                <a16:creationId xmlns:a16="http://schemas.microsoft.com/office/drawing/2014/main" id="{E50503D8-4014-AE09-8F7D-F2C94ED602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20629034">
            <a:off x="-3526421" y="-821074"/>
            <a:ext cx="4016077" cy="5720225"/>
          </a:xfrm>
          <a:prstGeom prst="rect">
            <a:avLst/>
          </a:prstGeom>
        </p:spPr>
      </p:pic>
      <p:sp>
        <p:nvSpPr>
          <p:cNvPr id="29" name="文本框 28">
            <a:extLst>
              <a:ext uri="{FF2B5EF4-FFF2-40B4-BE49-F238E27FC236}">
                <a16:creationId xmlns:a16="http://schemas.microsoft.com/office/drawing/2014/main" id="{06715BF8-0A12-5796-1551-488CA6BA7E8B}"/>
              </a:ext>
            </a:extLst>
          </p:cNvPr>
          <p:cNvSpPr txBox="1"/>
          <p:nvPr userDrawn="1"/>
        </p:nvSpPr>
        <p:spPr>
          <a:xfrm>
            <a:off x="3768481" y="2334719"/>
            <a:ext cx="2167598" cy="523220"/>
          </a:xfrm>
          <a:prstGeom prst="rect">
            <a:avLst/>
          </a:prstGeom>
          <a:noFill/>
        </p:spPr>
        <p:txBody>
          <a:bodyPr wrap="square">
            <a:spAutoFit/>
          </a:bodyPr>
          <a:lstStyle/>
          <a:p>
            <a:pPr algn="l"/>
            <a:r>
              <a:rPr lang="en-US" altLang="zh-CN" sz="2800" b="1" i="0">
                <a:gradFill>
                  <a:gsLst>
                    <a:gs pos="100000">
                      <a:schemeClr val="accent1">
                        <a:alpha val="15000"/>
                      </a:schemeClr>
                    </a:gs>
                    <a:gs pos="0">
                      <a:schemeClr val="accent1">
                        <a:alpha val="0"/>
                      </a:schemeClr>
                    </a:gs>
                  </a:gsLst>
                  <a:lin ang="16200000" scaled="1"/>
                </a:gradFill>
                <a:effectLst/>
                <a:latin typeface="Calisto MT" panose="02040603050505030304" pitchFamily="18" charset="0"/>
              </a:rPr>
              <a:t>CONTENT</a:t>
            </a:r>
          </a:p>
        </p:txBody>
      </p:sp>
      <p:sp>
        <p:nvSpPr>
          <p:cNvPr id="26" name="文本占位符 25">
            <a:extLst>
              <a:ext uri="{FF2B5EF4-FFF2-40B4-BE49-F238E27FC236}">
                <a16:creationId xmlns:a16="http://schemas.microsoft.com/office/drawing/2014/main" id="{6B50EE85-71F0-6A4A-F2C6-2ACBA4D8468C}"/>
              </a:ext>
            </a:extLst>
          </p:cNvPr>
          <p:cNvSpPr>
            <a:spLocks noGrp="1"/>
          </p:cNvSpPr>
          <p:nvPr>
            <p:ph type="body" sz="quarter" idx="10" hasCustomPrompt="1"/>
          </p:nvPr>
        </p:nvSpPr>
        <p:spPr>
          <a:xfrm>
            <a:off x="6258201" y="1662411"/>
            <a:ext cx="3692525" cy="2631150"/>
          </a:xfrm>
          <a:prstGeom prst="rect">
            <a:avLst/>
          </a:prstGeom>
        </p:spPr>
        <p:txBody>
          <a:bodyPr anchor="ctr"/>
          <a:lstStyle>
            <a:lvl1pPr marL="342900" indent="-342900"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27" name="标题文本">
            <a:extLst>
              <a:ext uri="{FF2B5EF4-FFF2-40B4-BE49-F238E27FC236}">
                <a16:creationId xmlns:a16="http://schemas.microsoft.com/office/drawing/2014/main" id="{32B4F824-6998-DCF1-0043-E682C565BE4E}"/>
              </a:ext>
            </a:extLst>
          </p:cNvPr>
          <p:cNvSpPr txBox="1"/>
          <p:nvPr userDrawn="1"/>
        </p:nvSpPr>
        <p:spPr>
          <a:xfrm flipH="1">
            <a:off x="4207329" y="2704247"/>
            <a:ext cx="1098378" cy="646331"/>
          </a:xfrm>
          <a:prstGeom prst="rect">
            <a:avLst/>
          </a:prstGeom>
          <a:noFill/>
        </p:spPr>
        <p:txBody>
          <a:bodyPr wrap="none" rtlCol="0">
            <a:spAutoFit/>
          </a:bodyPr>
          <a:lstStyle/>
          <a:p>
            <a:r>
              <a:rPr lang="zh-CN" altLang="en-US" sz="3600">
                <a:solidFill>
                  <a:schemeClr val="accent1"/>
                </a:solidFill>
                <a:latin typeface="+mj-ea"/>
                <a:ea typeface="+mj-ea"/>
              </a:rPr>
              <a:t>目录</a:t>
            </a:r>
            <a:endParaRPr lang="zh-CN" altLang="en-US" sz="3600" dirty="0">
              <a:solidFill>
                <a:schemeClr val="accent1"/>
              </a:solidFill>
              <a:latin typeface="+mj-ea"/>
              <a:ea typeface="+mj-ea"/>
            </a:endParaRPr>
          </a:p>
        </p:txBody>
      </p:sp>
    </p:spTree>
    <p:extLst>
      <p:ext uri="{BB962C8B-B14F-4D97-AF65-F5344CB8AC3E}">
        <p14:creationId xmlns:p14="http://schemas.microsoft.com/office/powerpoint/2010/main" val="64122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decel="60436" fill="hold" nodeType="withEffect">
                                  <p:stCondLst>
                                    <p:cond delay="0"/>
                                  </p:stCondLst>
                                  <p:childTnLst>
                                    <p:animEffect transition="out" filter="fade">
                                      <p:cBhvr>
                                        <p:cTn id="6" dur="750"/>
                                        <p:tgtEl>
                                          <p:spTgt spid="11"/>
                                        </p:tgtEl>
                                      </p:cBhvr>
                                    </p:animEffect>
                                    <p:set>
                                      <p:cBhvr>
                                        <p:cTn id="7" dur="1" fill="hold">
                                          <p:stCondLst>
                                            <p:cond delay="749"/>
                                          </p:stCondLst>
                                        </p:cTn>
                                        <p:tgtEl>
                                          <p:spTgt spid="11"/>
                                        </p:tgtEl>
                                        <p:attrNameLst>
                                          <p:attrName>style.visibility</p:attrName>
                                        </p:attrNameLst>
                                      </p:cBhvr>
                                      <p:to>
                                        <p:strVal val="hidden"/>
                                      </p:to>
                                    </p:set>
                                  </p:childTnLst>
                                </p:cTn>
                              </p:par>
                              <p:par>
                                <p:cTn id="8" presetID="10" presetClass="entr" presetSubtype="0" decel="60436"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750"/>
                                        <p:tgtEl>
                                          <p:spTgt spid="10"/>
                                        </p:tgtEl>
                                      </p:cBhvr>
                                    </p:animEffect>
                                  </p:childTnLst>
                                </p:cTn>
                              </p:par>
                              <p:par>
                                <p:cTn id="11" presetID="63" presetClass="path" presetSubtype="0" decel="60436" fill="hold" nodeType="withEffect">
                                  <p:stCondLst>
                                    <p:cond delay="0"/>
                                  </p:stCondLst>
                                  <p:childTnLst>
                                    <p:animMotion origin="layout" path="M 0 0 L 0.296701 0.175297 E" pathEditMode="relative" ptsTypes="">
                                      <p:cBhvr>
                                        <p:cTn id="12" dur="750" fill="hold"/>
                                        <p:tgtEl>
                                          <p:spTgt spid="11"/>
                                        </p:tgtEl>
                                        <p:attrNameLst>
                                          <p:attrName>ppt_x</p:attrName>
                                          <p:attrName>ppt_y</p:attrName>
                                        </p:attrNameLst>
                                      </p:cBhvr>
                                    </p:animMotion>
                                  </p:childTnLst>
                                </p:cTn>
                              </p:par>
                              <p:par>
                                <p:cTn id="13" presetID="63" presetClass="path" presetSubtype="0" decel="60436" fill="hold" nodeType="withEffect">
                                  <p:stCondLst>
                                    <p:cond delay="0"/>
                                  </p:stCondLst>
                                  <p:childTnLst>
                                    <p:animMotion origin="layout" path="M -0.296701 -0.175297 L 0 0 E" pathEditMode="relative" ptsTypes="">
                                      <p:cBhvr>
                                        <p:cTn id="14" dur="750" fill="hold"/>
                                        <p:tgtEl>
                                          <p:spTgt spid="10"/>
                                        </p:tgtEl>
                                        <p:attrNameLst>
                                          <p:attrName>ppt_x</p:attrName>
                                          <p:attrName>ppt_y</p:attrName>
                                        </p:attrNameLst>
                                      </p:cBhvr>
                                    </p:animMotion>
                                  </p:childTnLst>
                                </p:cTn>
                              </p:par>
                              <p:par>
                                <p:cTn id="15" presetID="6" presetClass="emph" presetSubtype="0" decel="60436" fill="hold" nodeType="withEffect">
                                  <p:stCondLst>
                                    <p:cond delay="0"/>
                                  </p:stCondLst>
                                  <p:childTnLst>
                                    <p:animScale>
                                      <p:cBhvr>
                                        <p:cTn id="16" dur="750" fill="hold"/>
                                        <p:tgtEl>
                                          <p:spTgt spid="11"/>
                                        </p:tgtEl>
                                      </p:cBhvr>
                                      <p:by x="150000" y="150000"/>
                                      <p:from x="100000" y="100000"/>
                                      <p:to x="100000" y="100000"/>
                                    </p:animScale>
                                  </p:childTnLst>
                                </p:cTn>
                              </p:par>
                              <p:par>
                                <p:cTn id="17" presetID="6" presetClass="emph" presetSubtype="0" decel="60436" fill="hold" nodeType="withEffect">
                                  <p:stCondLst>
                                    <p:cond delay="0"/>
                                  </p:stCondLst>
                                  <p:childTnLst>
                                    <p:animScale>
                                      <p:cBhvr>
                                        <p:cTn id="18" dur="750" fill="hold"/>
                                        <p:tgtEl>
                                          <p:spTgt spid="10"/>
                                        </p:tgtEl>
                                      </p:cBhvr>
                                      <p:by x="150000" y="150000"/>
                                      <p:from x="100000" y="100000"/>
                                      <p:to x="100000" y="100000"/>
                                    </p:animScale>
                                  </p:childTnLst>
                                </p:cTn>
                              </p:par>
                              <p:par>
                                <p:cTn id="19" presetID="8" presetClass="emph" presetSubtype="0" decel="60436" fill="hold" nodeType="withEffect">
                                  <p:stCondLst>
                                    <p:cond delay="0"/>
                                  </p:stCondLst>
                                  <p:childTnLst>
                                    <p:animRot by="21600000" from="0" to="1539382">
                                      <p:cBhvr>
                                        <p:cTn id="20" dur="750" fill="hold"/>
                                        <p:tgtEl>
                                          <p:spTgt spid="11"/>
                                        </p:tgtEl>
                                        <p:attrNameLst>
                                          <p:attrName>r</p:attrName>
                                        </p:attrNameLst>
                                      </p:cBhvr>
                                    </p:animRot>
                                  </p:childTnLst>
                                </p:cTn>
                              </p:par>
                              <p:par>
                                <p:cTn id="21" presetID="8" presetClass="emph" presetSubtype="0" decel="60436" fill="hold" nodeType="withEffect">
                                  <p:stCondLst>
                                    <p:cond delay="0"/>
                                  </p:stCondLst>
                                  <p:childTnLst>
                                    <p:animRot by="21600000" from="-1539382" to="0">
                                      <p:cBhvr>
                                        <p:cTn id="22" dur="750" fill="hold"/>
                                        <p:tgtEl>
                                          <p:spTgt spid="10"/>
                                        </p:tgtEl>
                                        <p:attrNameLst>
                                          <p:attrName>r</p:attrName>
                                        </p:attrNameLst>
                                      </p:cBhvr>
                                    </p:animRot>
                                  </p:childTnLst>
                                </p:cTn>
                              </p:par>
                              <p:par>
                                <p:cTn id="23" presetID="53" presetClass="entr" presetSubtype="16" fill="hold" grpId="0" nodeType="withEffect">
                                  <p:stCondLst>
                                    <p:cond delay="500"/>
                                  </p:stCondLst>
                                  <p:childTnLst>
                                    <p:set>
                                      <p:cBhvr>
                                        <p:cTn id="24" dur="1" fill="hold">
                                          <p:stCondLst>
                                            <p:cond delay="0"/>
                                          </p:stCondLst>
                                        </p:cTn>
                                        <p:tgtEl>
                                          <p:spTgt spid="27"/>
                                        </p:tgtEl>
                                        <p:attrNameLst>
                                          <p:attrName>style.visibility</p:attrName>
                                        </p:attrNameLst>
                                      </p:cBhvr>
                                      <p:to>
                                        <p:strVal val="visible"/>
                                      </p:to>
                                    </p:set>
                                    <p:anim calcmode="lin" valueType="num">
                                      <p:cBhvr>
                                        <p:cTn id="25" dur="500" fill="hold"/>
                                        <p:tgtEl>
                                          <p:spTgt spid="27"/>
                                        </p:tgtEl>
                                        <p:attrNameLst>
                                          <p:attrName>ppt_w</p:attrName>
                                        </p:attrNameLst>
                                      </p:cBhvr>
                                      <p:tavLst>
                                        <p:tav tm="0">
                                          <p:val>
                                            <p:fltVal val="0"/>
                                          </p:val>
                                        </p:tav>
                                        <p:tav tm="100000">
                                          <p:val>
                                            <p:strVal val="#ppt_w"/>
                                          </p:val>
                                        </p:tav>
                                      </p:tavLst>
                                    </p:anim>
                                    <p:anim calcmode="lin" valueType="num">
                                      <p:cBhvr>
                                        <p:cTn id="26" dur="500" fill="hold"/>
                                        <p:tgtEl>
                                          <p:spTgt spid="27"/>
                                        </p:tgtEl>
                                        <p:attrNameLst>
                                          <p:attrName>ppt_h</p:attrName>
                                        </p:attrNameLst>
                                      </p:cBhvr>
                                      <p:tavLst>
                                        <p:tav tm="0">
                                          <p:val>
                                            <p:fltVal val="0"/>
                                          </p:val>
                                        </p:tav>
                                        <p:tav tm="100000">
                                          <p:val>
                                            <p:strVal val="#ppt_h"/>
                                          </p:val>
                                        </p:tav>
                                      </p:tavLst>
                                    </p:anim>
                                    <p:animEffect transition="in" filter="fade">
                                      <p:cBhvr>
                                        <p:cTn id="27" dur="500"/>
                                        <p:tgtEl>
                                          <p:spTgt spid="27"/>
                                        </p:tgtEl>
                                      </p:cBhvr>
                                    </p:animEffect>
                                  </p:childTnLst>
                                </p:cTn>
                              </p:par>
                              <p:par>
                                <p:cTn id="28" presetID="10" presetClass="entr" presetSubtype="0" decel="100000" fill="hold" grpId="0" nodeType="withEffect">
                                  <p:stCondLst>
                                    <p:cond delay="65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500">
                                          <p:stCondLst>
                                            <p:cond delay="0"/>
                                          </p:stCondLst>
                                        </p:cTn>
                                        <p:tgtEl>
                                          <p:spTgt spid="29"/>
                                        </p:tgtEl>
                                      </p:cBhvr>
                                    </p:animEffect>
                                    <p:anim to="0" calcmode="lin" valueType="num">
                                      <p:cBhvr>
                                        <p:cTn id="31" dur="500" fill="hold">
                                          <p:stCondLst>
                                            <p:cond delay="0"/>
                                          </p:stCondLst>
                                        </p:cTn>
                                        <p:tgtEl>
                                          <p:spTgt spid="29"/>
                                        </p:tgtEl>
                                        <p:attrNameLst>
                                          <p:attrName>ppt_y</p:attrName>
                                        </p:attrNameLst>
                                      </p:cBhvr>
                                      <p:tavLst>
                                        <p:tav tm="0">
                                          <p:val>
                                            <p:strVal val="#ppt_y+.05"/>
                                          </p:val>
                                        </p:tav>
                                        <p:tav tm="100000">
                                          <p:val>
                                            <p:strVal val="#ppt_y"/>
                                          </p:val>
                                        </p:tav>
                                      </p:tavLst>
                                    </p:anim>
                                  </p:childTnLst>
                                </p:cTn>
                              </p:par>
                              <p:par>
                                <p:cTn id="32" presetID="53" presetClass="entr" presetSubtype="16" fill="hold" grpId="0" nodeType="withEffect">
                                  <p:stCondLst>
                                    <p:cond delay="700"/>
                                  </p:stCondLst>
                                  <p:childTnLst>
                                    <p:set>
                                      <p:cBhvr>
                                        <p:cTn id="33" dur="1" fill="hold">
                                          <p:stCondLst>
                                            <p:cond delay="0"/>
                                          </p:stCondLst>
                                        </p:cTn>
                                        <p:tgtEl>
                                          <p:spTgt spid="7"/>
                                        </p:tgtEl>
                                        <p:attrNameLst>
                                          <p:attrName>style.visibility</p:attrName>
                                        </p:attrNameLst>
                                      </p:cBhvr>
                                      <p:to>
                                        <p:strVal val="visible"/>
                                      </p:to>
                                    </p:set>
                                    <p:anim calcmode="lin" valueType="num">
                                      <p:cBhvr>
                                        <p:cTn id="34" dur="500" fill="hold"/>
                                        <p:tgtEl>
                                          <p:spTgt spid="7"/>
                                        </p:tgtEl>
                                        <p:attrNameLst>
                                          <p:attrName>ppt_w</p:attrName>
                                        </p:attrNameLst>
                                      </p:cBhvr>
                                      <p:tavLst>
                                        <p:tav tm="0">
                                          <p:val>
                                            <p:fltVal val="0"/>
                                          </p:val>
                                        </p:tav>
                                        <p:tav tm="100000">
                                          <p:val>
                                            <p:strVal val="#ppt_w"/>
                                          </p:val>
                                        </p:tav>
                                      </p:tavLst>
                                    </p:anim>
                                    <p:anim calcmode="lin" valueType="num">
                                      <p:cBhvr>
                                        <p:cTn id="35" dur="500" fill="hold"/>
                                        <p:tgtEl>
                                          <p:spTgt spid="7"/>
                                        </p:tgtEl>
                                        <p:attrNameLst>
                                          <p:attrName>ppt_h</p:attrName>
                                        </p:attrNameLst>
                                      </p:cBhvr>
                                      <p:tavLst>
                                        <p:tav tm="0">
                                          <p:val>
                                            <p:fltVal val="0"/>
                                          </p:val>
                                        </p:tav>
                                        <p:tav tm="100000">
                                          <p:val>
                                            <p:strVal val="#ppt_h"/>
                                          </p:val>
                                        </p:tav>
                                      </p:tavLst>
                                    </p:anim>
                                    <p:animEffect transition="in" filter="fade">
                                      <p:cBhvr>
                                        <p:cTn id="36" dur="500"/>
                                        <p:tgtEl>
                                          <p:spTgt spid="7"/>
                                        </p:tgtEl>
                                      </p:cBhvr>
                                    </p:animEffect>
                                  </p:childTnLst>
                                </p:cTn>
                              </p:par>
                              <p:par>
                                <p:cTn id="37" presetID="53" presetClass="entr" presetSubtype="16" fill="hold" grpId="0" nodeType="withEffect">
                                  <p:stCondLst>
                                    <p:cond delay="850"/>
                                  </p:stCondLst>
                                  <p:childTnLst>
                                    <p:set>
                                      <p:cBhvr>
                                        <p:cTn id="38" dur="1" fill="hold">
                                          <p:stCondLst>
                                            <p:cond delay="0"/>
                                          </p:stCondLst>
                                        </p:cTn>
                                        <p:tgtEl>
                                          <p:spTgt spid="6"/>
                                        </p:tgtEl>
                                        <p:attrNameLst>
                                          <p:attrName>style.visibility</p:attrName>
                                        </p:attrNameLst>
                                      </p:cBhvr>
                                      <p:to>
                                        <p:strVal val="visible"/>
                                      </p:to>
                                    </p:set>
                                    <p:anim calcmode="lin" valueType="num">
                                      <p:cBhvr>
                                        <p:cTn id="39" dur="500" fill="hold"/>
                                        <p:tgtEl>
                                          <p:spTgt spid="6"/>
                                        </p:tgtEl>
                                        <p:attrNameLst>
                                          <p:attrName>ppt_w</p:attrName>
                                        </p:attrNameLst>
                                      </p:cBhvr>
                                      <p:tavLst>
                                        <p:tav tm="0">
                                          <p:val>
                                            <p:fltVal val="0"/>
                                          </p:val>
                                        </p:tav>
                                        <p:tav tm="100000">
                                          <p:val>
                                            <p:strVal val="#ppt_w"/>
                                          </p:val>
                                        </p:tav>
                                      </p:tavLst>
                                    </p:anim>
                                    <p:anim calcmode="lin" valueType="num">
                                      <p:cBhvr>
                                        <p:cTn id="40" dur="500" fill="hold"/>
                                        <p:tgtEl>
                                          <p:spTgt spid="6"/>
                                        </p:tgtEl>
                                        <p:attrNameLst>
                                          <p:attrName>ppt_h</p:attrName>
                                        </p:attrNameLst>
                                      </p:cBhvr>
                                      <p:tavLst>
                                        <p:tav tm="0">
                                          <p:val>
                                            <p:fltVal val="0"/>
                                          </p:val>
                                        </p:tav>
                                        <p:tav tm="100000">
                                          <p:val>
                                            <p:strVal val="#ppt_h"/>
                                          </p:val>
                                        </p:tav>
                                      </p:tavLst>
                                    </p:anim>
                                    <p:animEffect transition="in" filter="fade">
                                      <p:cBhvr>
                                        <p:cTn id="41" dur="500"/>
                                        <p:tgtEl>
                                          <p:spTgt spid="6"/>
                                        </p:tgtEl>
                                      </p:cBhvr>
                                    </p:animEffect>
                                  </p:childTnLst>
                                </p:cTn>
                              </p:par>
                              <p:par>
                                <p:cTn id="42" presetID="10" presetClass="entr" presetSubtype="0" decel="100000" fill="hold" grpId="0" nodeType="withEffect">
                                  <p:stCondLst>
                                    <p:cond delay="850"/>
                                  </p:stCondLst>
                                  <p:iterate type="wd">
                                    <p:tmPct val="10000"/>
                                  </p:iterate>
                                  <p:childTnLst>
                                    <p:set>
                                      <p:cBhvr>
                                        <p:cTn id="43" dur="1" fill="hold">
                                          <p:stCondLst>
                                            <p:cond delay="0"/>
                                          </p:stCondLst>
                                        </p:cTn>
                                        <p:tgtEl>
                                          <p:spTgt spid="26"/>
                                        </p:tgtEl>
                                        <p:attrNameLst>
                                          <p:attrName>style.visibility</p:attrName>
                                        </p:attrNameLst>
                                      </p:cBhvr>
                                      <p:to>
                                        <p:strVal val="visible"/>
                                      </p:to>
                                    </p:set>
                                    <p:animEffect transition="in" filter="fade">
                                      <p:cBhvr>
                                        <p:cTn id="44" dur="500">
                                          <p:stCondLst>
                                            <p:cond delay="0"/>
                                          </p:stCondLst>
                                        </p:cTn>
                                        <p:tgtEl>
                                          <p:spTgt spid="26"/>
                                        </p:tgtEl>
                                      </p:cBhvr>
                                    </p:animEffect>
                                    <p:anim to="0" calcmode="lin" valueType="num">
                                      <p:cBhvr>
                                        <p:cTn id="45" dur="500" fill="hold">
                                          <p:stCondLst>
                                            <p:cond delay="0"/>
                                          </p:stCondLst>
                                        </p:cTn>
                                        <p:tgtEl>
                                          <p:spTgt spid="26"/>
                                        </p:tgtEl>
                                        <p:attrNameLst>
                                          <p:attrName>ppt_x</p:attrName>
                                        </p:attrNameLst>
                                      </p:cBhvr>
                                      <p:tavLst>
                                        <p:tav tm="0">
                                          <p:val>
                                            <p:strVal val="#ppt_x-.05"/>
                                          </p:val>
                                        </p:tav>
                                        <p:tav tm="100000">
                                          <p:val>
                                            <p:strVal val="#ppt_x"/>
                                          </p:val>
                                        </p:tav>
                                      </p:tavLst>
                                    </p:anim>
                                  </p:childTnLst>
                                </p:cTn>
                              </p:par>
                              <p:par>
                                <p:cTn id="46" presetID="53" presetClass="entr" presetSubtype="16" fill="hold" grpId="0" nodeType="withEffect">
                                  <p:stCondLst>
                                    <p:cond delay="900"/>
                                  </p:stCondLst>
                                  <p:childTnLst>
                                    <p:set>
                                      <p:cBhvr>
                                        <p:cTn id="47" dur="1" fill="hold">
                                          <p:stCondLst>
                                            <p:cond delay="0"/>
                                          </p:stCondLst>
                                        </p:cTn>
                                        <p:tgtEl>
                                          <p:spTgt spid="12"/>
                                        </p:tgtEl>
                                        <p:attrNameLst>
                                          <p:attrName>style.visibility</p:attrName>
                                        </p:attrNameLst>
                                      </p:cBhvr>
                                      <p:to>
                                        <p:strVal val="visible"/>
                                      </p:to>
                                    </p:set>
                                    <p:anim calcmode="lin" valueType="num">
                                      <p:cBhvr>
                                        <p:cTn id="48" dur="500" fill="hold"/>
                                        <p:tgtEl>
                                          <p:spTgt spid="12"/>
                                        </p:tgtEl>
                                        <p:attrNameLst>
                                          <p:attrName>ppt_w</p:attrName>
                                        </p:attrNameLst>
                                      </p:cBhvr>
                                      <p:tavLst>
                                        <p:tav tm="0">
                                          <p:val>
                                            <p:fltVal val="0"/>
                                          </p:val>
                                        </p:tav>
                                        <p:tav tm="100000">
                                          <p:val>
                                            <p:strVal val="#ppt_w"/>
                                          </p:val>
                                        </p:tav>
                                      </p:tavLst>
                                    </p:anim>
                                    <p:anim calcmode="lin" valueType="num">
                                      <p:cBhvr>
                                        <p:cTn id="49" dur="500" fill="hold"/>
                                        <p:tgtEl>
                                          <p:spTgt spid="12"/>
                                        </p:tgtEl>
                                        <p:attrNameLst>
                                          <p:attrName>ppt_h</p:attrName>
                                        </p:attrNameLst>
                                      </p:cBhvr>
                                      <p:tavLst>
                                        <p:tav tm="0">
                                          <p:val>
                                            <p:fltVal val="0"/>
                                          </p:val>
                                        </p:tav>
                                        <p:tav tm="100000">
                                          <p:val>
                                            <p:strVal val="#ppt_h"/>
                                          </p:val>
                                        </p:tav>
                                      </p:tavLst>
                                    </p:anim>
                                    <p:animEffect transition="in" filter="fade">
                                      <p:cBhvr>
                                        <p:cTn id="5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 grpId="0" animBg="1"/>
      <p:bldP spid="7" grpId="0" animBg="1"/>
      <p:bldP spid="29" grpId="0"/>
      <p:bldP spid="26" grpId="0">
        <p:tmplLst>
          <p:tmpl>
            <p:tnLst>
              <p:par>
                <p:cTn presetID="10" presetClass="entr" presetSubtype="0" decel="100000" fill="hold" nodeType="withEffect">
                  <p:stCondLst>
                    <p:cond delay="850"/>
                  </p:stCondLst>
                  <p:iterate type="wd">
                    <p:tmPct val="10000"/>
                  </p:iterate>
                  <p:childTnLst>
                    <p:set>
                      <p:cBhvr>
                        <p:cTn dur="1" fill="hold">
                          <p:stCondLst>
                            <p:cond delay="0"/>
                          </p:stCondLst>
                        </p:cTn>
                        <p:tgtEl>
                          <p:spTgt spid="26"/>
                        </p:tgtEl>
                        <p:attrNameLst>
                          <p:attrName>style.visibility</p:attrName>
                        </p:attrNameLst>
                      </p:cBhvr>
                      <p:to>
                        <p:strVal val="visible"/>
                      </p:to>
                    </p:set>
                    <p:animEffect transition="in" filter="fade">
                      <p:cBhvr>
                        <p:cTn dur="500">
                          <p:stCondLst>
                            <p:cond delay="0"/>
                          </p:stCondLst>
                        </p:cTn>
                        <p:tgtEl>
                          <p:spTgt spid="26"/>
                        </p:tgtEl>
                      </p:cBhvr>
                    </p:animEffect>
                    <p:anim to="0" calcmode="lin" valueType="num">
                      <p:cBhvr>
                        <p:cTn dur="500" fill="hold">
                          <p:stCondLst>
                            <p:cond delay="0"/>
                          </p:stCondLst>
                        </p:cTn>
                        <p:tgtEl>
                          <p:spTgt spid="26"/>
                        </p:tgtEl>
                        <p:attrNameLst>
                          <p:attrName>ppt_x</p:attrName>
                        </p:attrNameLst>
                      </p:cBhvr>
                      <p:tavLst>
                        <p:tav tm="0">
                          <p:val>
                            <p:strVal val="#ppt_x-.05"/>
                          </p:val>
                        </p:tav>
                        <p:tav tm="100000">
                          <p:val>
                            <p:strVal val="#ppt_x"/>
                          </p:val>
                        </p:tav>
                      </p:tavLst>
                    </p:anim>
                  </p:childTnLst>
                </p:cTn>
              </p:par>
            </p:tnLst>
          </p:tmpl>
        </p:tmplLst>
      </p:bldP>
      <p:bldP spid="27"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1" y="1646133"/>
            <a:ext cx="10749598"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nSpc>
                <a:spcPct val="150000"/>
              </a:lnSpc>
              <a:buFont typeface="Wingdings" pitchFamily="2" charset="2"/>
              <a:buChar char="l"/>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2DD40269-A2A6-814E-991D-1DBB12873808}"/>
              </a:ext>
            </a:extLst>
          </p:cNvPr>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42934960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38098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356956776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60556" y="1720312"/>
            <a:ext cx="711411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
        <p:nvSpPr>
          <p:cNvPr id="11" name="文本框 10">
            <a:extLst>
              <a:ext uri="{FF2B5EF4-FFF2-40B4-BE49-F238E27FC236}">
                <a16:creationId xmlns:a16="http://schemas.microsoft.com/office/drawing/2014/main" id="{382D0547-D899-4028-C68F-1B7E5E17FCC5}"/>
              </a:ext>
            </a:extLst>
          </p:cNvPr>
          <p:cNvSpPr txBox="1"/>
          <p:nvPr userDrawn="1"/>
        </p:nvSpPr>
        <p:spPr>
          <a:xfrm>
            <a:off x="720983" y="2862323"/>
            <a:ext cx="2167598" cy="523220"/>
          </a:xfrm>
          <a:prstGeom prst="rect">
            <a:avLst/>
          </a:prstGeom>
          <a:noFill/>
        </p:spPr>
        <p:txBody>
          <a:bodyPr wrap="square">
            <a:spAutoFit/>
          </a:bodyPr>
          <a:lstStyle>
            <a:defPPr>
              <a:defRPr lang="zh-CN"/>
            </a:defPPr>
            <a:lvl1pPr algn="ctr">
              <a:defRPr sz="2800" b="1" i="0">
                <a:gradFill flip="none" rotWithShape="1">
                  <a:gsLst>
                    <a:gs pos="100000">
                      <a:schemeClr val="bg1">
                        <a:alpha val="15000"/>
                      </a:schemeClr>
                    </a:gs>
                    <a:gs pos="0">
                      <a:schemeClr val="bg1">
                        <a:alpha val="0"/>
                      </a:schemeClr>
                    </a:gs>
                  </a:gsLst>
                  <a:lin ang="16200000" scaled="1"/>
                  <a:tileRect/>
                </a:gradFill>
                <a:effectLst/>
                <a:latin typeface="Calisto MT" panose="02040603050505030304" pitchFamily="18" charset="0"/>
              </a:defRPr>
            </a:lvl1pPr>
          </a:lstStyle>
          <a:p>
            <a:pPr lvl="0"/>
            <a:r>
              <a:rPr lang="en-US" altLang="zh-CN"/>
              <a:t>QUESTION</a:t>
            </a:r>
          </a:p>
        </p:txBody>
      </p:sp>
      <p:sp>
        <p:nvSpPr>
          <p:cNvPr id="12" name="íşľíďe">
            <a:extLst>
              <a:ext uri="{FF2B5EF4-FFF2-40B4-BE49-F238E27FC236}">
                <a16:creationId xmlns:a16="http://schemas.microsoft.com/office/drawing/2014/main" id="{66992E28-34C1-82B0-BBD1-9DB821AEB09B}"/>
              </a:ext>
            </a:extLst>
          </p:cNvPr>
          <p:cNvSpPr txBox="1"/>
          <p:nvPr userDrawn="1"/>
        </p:nvSpPr>
        <p:spPr>
          <a:xfrm flipH="1">
            <a:off x="1204297" y="3113661"/>
            <a:ext cx="1200970" cy="707886"/>
          </a:xfrm>
          <a:prstGeom prst="rect">
            <a:avLst/>
          </a:prstGeom>
          <a:noFill/>
        </p:spPr>
        <p:txBody>
          <a:bodyPr wrap="none" rtlCol="0">
            <a:spAutoFit/>
          </a:bodyPr>
          <a:lstStyle/>
          <a:p>
            <a:pPr algn="ctr"/>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思考</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32163038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小结页">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3936569" y="1483864"/>
            <a:ext cx="7402227"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6" name="文本框 5">
            <a:extLst>
              <a:ext uri="{FF2B5EF4-FFF2-40B4-BE49-F238E27FC236}">
                <a16:creationId xmlns:a16="http://schemas.microsoft.com/office/drawing/2014/main" id="{E2B1B9D1-DEFE-AB9B-7D57-D4044AED1257}"/>
              </a:ext>
            </a:extLst>
          </p:cNvPr>
          <p:cNvSpPr txBox="1"/>
          <p:nvPr userDrawn="1"/>
        </p:nvSpPr>
        <p:spPr>
          <a:xfrm>
            <a:off x="720983" y="2862323"/>
            <a:ext cx="2167598" cy="523220"/>
          </a:xfrm>
          <a:prstGeom prst="rect">
            <a:avLst/>
          </a:prstGeom>
          <a:noFill/>
        </p:spPr>
        <p:txBody>
          <a:bodyPr wrap="square">
            <a:spAutoFit/>
          </a:bodyPr>
          <a:lstStyle>
            <a:defPPr>
              <a:defRPr lang="zh-CN"/>
            </a:defPPr>
            <a:lvl1pPr algn="ctr">
              <a:defRPr sz="2800" b="1" i="0">
                <a:gradFill flip="none" rotWithShape="1">
                  <a:gsLst>
                    <a:gs pos="100000">
                      <a:schemeClr val="bg1">
                        <a:alpha val="15000"/>
                      </a:schemeClr>
                    </a:gs>
                    <a:gs pos="0">
                      <a:schemeClr val="bg1">
                        <a:alpha val="0"/>
                      </a:schemeClr>
                    </a:gs>
                  </a:gsLst>
                  <a:lin ang="16200000" scaled="1"/>
                  <a:tileRect/>
                </a:gradFill>
                <a:effectLst/>
                <a:latin typeface="Calisto MT" panose="02040603050505030304" pitchFamily="18" charset="0"/>
              </a:defRPr>
            </a:lvl1pPr>
          </a:lstStyle>
          <a:p>
            <a:pPr lvl="0"/>
            <a:r>
              <a:rPr lang="en-US" altLang="zh-CN"/>
              <a:t>BRIEF</a:t>
            </a:r>
          </a:p>
        </p:txBody>
      </p:sp>
      <p:sp>
        <p:nvSpPr>
          <p:cNvPr id="8" name="íşľíďe">
            <a:extLst>
              <a:ext uri="{FF2B5EF4-FFF2-40B4-BE49-F238E27FC236}">
                <a16:creationId xmlns:a16="http://schemas.microsoft.com/office/drawing/2014/main" id="{0A58CF2E-C9AD-567D-B72D-E69212797F03}"/>
              </a:ext>
            </a:extLst>
          </p:cNvPr>
          <p:cNvSpPr txBox="1"/>
          <p:nvPr userDrawn="1"/>
        </p:nvSpPr>
        <p:spPr>
          <a:xfrm flipH="1">
            <a:off x="1204297" y="3113661"/>
            <a:ext cx="1200970" cy="707886"/>
          </a:xfrm>
          <a:prstGeom prst="rect">
            <a:avLst/>
          </a:prstGeom>
          <a:noFill/>
        </p:spPr>
        <p:txBody>
          <a:bodyPr wrap="none" rtlCol="0">
            <a:spAutoFit/>
          </a:bodyPr>
          <a:lstStyle/>
          <a:p>
            <a:pPr algn="ctr"/>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11044872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60229" y="1359878"/>
            <a:ext cx="7170081" cy="3962399"/>
          </a:xfrm>
          <a:prstGeom prst="rect">
            <a:avLst/>
          </a:prstGeom>
        </p:spPr>
        <p:txBody>
          <a:bodyPr anchor="ctr"/>
          <a:lstStyle>
            <a:lvl1pPr marL="285750" indent="-285750">
              <a:lnSpc>
                <a:spcPct val="150000"/>
              </a:lnSpc>
              <a:buFont typeface="Wingdings" panose="05000000000000000000" pitchFamily="2" charset="2"/>
              <a:buChar char="l"/>
              <a:defRPr sz="1800" b="1"/>
            </a:lvl1pPr>
          </a:lstStyle>
          <a:p>
            <a:pPr lvl="0"/>
            <a:r>
              <a:rPr lang="zh-CN" altLang="en-US"/>
              <a:t>点击输入学习目标</a:t>
            </a:r>
          </a:p>
        </p:txBody>
      </p:sp>
      <p:sp>
        <p:nvSpPr>
          <p:cNvPr id="6" name="文本框 5">
            <a:extLst>
              <a:ext uri="{FF2B5EF4-FFF2-40B4-BE49-F238E27FC236}">
                <a16:creationId xmlns:a16="http://schemas.microsoft.com/office/drawing/2014/main" id="{D3F17914-8286-2740-0111-F53CC3BDDD9A}"/>
              </a:ext>
            </a:extLst>
          </p:cNvPr>
          <p:cNvSpPr txBox="1"/>
          <p:nvPr userDrawn="1"/>
        </p:nvSpPr>
        <p:spPr>
          <a:xfrm>
            <a:off x="698224" y="2861141"/>
            <a:ext cx="2167598" cy="523220"/>
          </a:xfrm>
          <a:prstGeom prst="rect">
            <a:avLst/>
          </a:prstGeom>
          <a:noFill/>
        </p:spPr>
        <p:txBody>
          <a:bodyPr wrap="square">
            <a:spAutoFit/>
          </a:bodyPr>
          <a:lstStyle>
            <a:defPPr>
              <a:defRPr lang="zh-CN"/>
            </a:defPPr>
            <a:lvl1pPr algn="ctr">
              <a:defRPr sz="2800" b="1" i="0">
                <a:gradFill flip="none" rotWithShape="1">
                  <a:gsLst>
                    <a:gs pos="100000">
                      <a:schemeClr val="bg1">
                        <a:alpha val="15000"/>
                      </a:schemeClr>
                    </a:gs>
                    <a:gs pos="0">
                      <a:schemeClr val="bg1">
                        <a:alpha val="0"/>
                      </a:schemeClr>
                    </a:gs>
                  </a:gsLst>
                  <a:lin ang="16200000" scaled="1"/>
                  <a:tileRect/>
                </a:gradFill>
                <a:effectLst/>
                <a:latin typeface="Calisto MT" panose="02040603050505030304" pitchFamily="18" charset="0"/>
              </a:defRPr>
            </a:lvl1pPr>
          </a:lstStyle>
          <a:p>
            <a:pPr lvl="0"/>
            <a:r>
              <a:rPr lang="en-US" altLang="zh-CN"/>
              <a:t>TARGET</a:t>
            </a:r>
          </a:p>
        </p:txBody>
      </p:sp>
      <p:sp>
        <p:nvSpPr>
          <p:cNvPr id="8" name="íşľíďe">
            <a:extLst>
              <a:ext uri="{FF2B5EF4-FFF2-40B4-BE49-F238E27FC236}">
                <a16:creationId xmlns:a16="http://schemas.microsoft.com/office/drawing/2014/main" id="{FB3F6AA9-BBC1-E326-ABE9-AC067A990D01}"/>
              </a:ext>
            </a:extLst>
          </p:cNvPr>
          <p:cNvSpPr txBox="1"/>
          <p:nvPr userDrawn="1"/>
        </p:nvSpPr>
        <p:spPr>
          <a:xfrm flipH="1">
            <a:off x="1181538" y="3112479"/>
            <a:ext cx="1200970" cy="707886"/>
          </a:xfrm>
          <a:prstGeom prst="rect">
            <a:avLst/>
          </a:prstGeom>
          <a:noFill/>
        </p:spPr>
        <p:txBody>
          <a:bodyPr wrap="none" rtlCol="0">
            <a:spAutoFit/>
          </a:bodyPr>
          <a:lstStyle/>
          <a:p>
            <a:pPr algn="ctr"/>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目标</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9565133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41842820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5" name="标题 7">
            <a:extLst>
              <a:ext uri="{FF2B5EF4-FFF2-40B4-BE49-F238E27FC236}">
                <a16:creationId xmlns:a16="http://schemas.microsoft.com/office/drawing/2014/main" id="{FCDA8ECA-5550-1579-68CA-CC29E9FAE4D5}"/>
              </a:ext>
            </a:extLst>
          </p:cNvPr>
          <p:cNvSpPr>
            <a:spLocks noGrp="1"/>
          </p:cNvSpPr>
          <p:nvPr>
            <p:ph type="title"/>
          </p:nvPr>
        </p:nvSpPr>
        <p:spPr>
          <a:xfrm>
            <a:off x="576626" y="335203"/>
            <a:ext cx="10737020"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sp>
        <p:nvSpPr>
          <p:cNvPr id="39" name="椭圆 38">
            <a:extLst>
              <a:ext uri="{FF2B5EF4-FFF2-40B4-BE49-F238E27FC236}">
                <a16:creationId xmlns:a16="http://schemas.microsoft.com/office/drawing/2014/main" id="{0F420230-886B-D4D3-2B3C-23A24A3C217F}"/>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0C47F643-5264-44DA-EC51-A1FD97EB2FD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880940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总结页">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Tree>
    <p:extLst>
      <p:ext uri="{BB962C8B-B14F-4D97-AF65-F5344CB8AC3E}">
        <p14:creationId xmlns:p14="http://schemas.microsoft.com/office/powerpoint/2010/main" val="20802642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思考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6" y="2901905"/>
            <a:ext cx="2167598" cy="523220"/>
          </a:xfrm>
          <a:prstGeom prst="rect">
            <a:avLst/>
          </a:prstGeom>
          <a:noFill/>
        </p:spPr>
        <p:txBody>
          <a:bodyPr wrap="square">
            <a:spAutoFit/>
          </a:bodyPr>
          <a:lstStyle/>
          <a:p>
            <a:pPr algn="l"/>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QUESTION</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71630" y="3071182"/>
            <a:ext cx="1200970" cy="707886"/>
          </a:xfrm>
          <a:prstGeom prst="rect">
            <a:avLst/>
          </a:prstGeom>
          <a:noFill/>
        </p:spPr>
        <p:txBody>
          <a:bodyPr wrap="none" rtlCol="0">
            <a:spAutoFit/>
          </a:bodyPr>
          <a:lstStyle/>
          <a:p>
            <a:pPr algn="ctr"/>
            <a:r>
              <a:rPr lang="zh-CN" altLang="en-US" sz="4000" b="1">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思考</a:t>
            </a:r>
            <a:endParaRPr lang="zh-CN" altLang="en-US" sz="4000" b="1" dirty="0">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0"/>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32083421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小结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6" y="2901905"/>
            <a:ext cx="2167598"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BRIEF</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71630" y="3071182"/>
            <a:ext cx="1200970" cy="707886"/>
          </a:xfrm>
          <a:prstGeom prst="rect">
            <a:avLst/>
          </a:prstGeom>
          <a:noFill/>
        </p:spPr>
        <p:txBody>
          <a:bodyPr wrap="none" rtlCol="0">
            <a:spAutoFit/>
          </a:bodyPr>
          <a:lstStyle/>
          <a:p>
            <a:pPr algn="ctr"/>
            <a:r>
              <a:rPr lang="zh-CN" altLang="en-US" sz="4000" b="1">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endParaRPr lang="zh-CN" altLang="en-US" sz="4000" b="1" dirty="0">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0"/>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23706713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目标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6" y="2901905"/>
            <a:ext cx="2167598"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TARGET</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71630" y="3071182"/>
            <a:ext cx="1200970" cy="707886"/>
          </a:xfrm>
          <a:prstGeom prst="rect">
            <a:avLst/>
          </a:prstGeom>
          <a:noFill/>
        </p:spPr>
        <p:txBody>
          <a:bodyPr wrap="none" rtlCol="0">
            <a:spAutoFit/>
          </a:bodyPr>
          <a:lstStyle/>
          <a:p>
            <a:pPr algn="ctr"/>
            <a:r>
              <a:rPr lang="zh-CN" altLang="en-US" sz="4000" b="1">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目标</a:t>
            </a:r>
            <a:endParaRPr lang="zh-CN" altLang="en-US" sz="4000" b="1" dirty="0">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0"/>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28057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9" Type="http://schemas.openxmlformats.org/officeDocument/2006/relationships/image" Target="../media/image2.sv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1.xml"/><Relationship Id="rId7"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5" Type="http://schemas.openxmlformats.org/officeDocument/2006/relationships/slideLayout" Target="../slideLayouts/slideLayout33.xml"/><Relationship Id="rId4" Type="http://schemas.openxmlformats.org/officeDocument/2006/relationships/slideLayout" Target="../slideLayouts/slideLayout32.xml"/><Relationship Id="rId9" Type="http://schemas.openxmlformats.org/officeDocument/2006/relationships/image" Target="../media/image2.sv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 Id="rId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形 1">
            <a:extLst>
              <a:ext uri="{FF2B5EF4-FFF2-40B4-BE49-F238E27FC236}">
                <a16:creationId xmlns:a16="http://schemas.microsoft.com/office/drawing/2014/main" id="{2AF40A4C-1FC6-C591-0585-7320B21E306A}"/>
              </a:ext>
            </a:extLst>
          </p:cNvPr>
          <p:cNvPicPr>
            <a:picLocks noChangeAspect="1"/>
          </p:cNvPicPr>
          <p:nvPr userDrawn="1"/>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8081" t="21237" r="10346" b="18121"/>
          <a:stretch/>
        </p:blipFill>
        <p:spPr>
          <a:xfrm>
            <a:off x="9956716" y="152244"/>
            <a:ext cx="1848051" cy="605113"/>
          </a:xfrm>
          <a:prstGeom prst="rect">
            <a:avLst/>
          </a:prstGeom>
        </p:spPr>
      </p:pic>
    </p:spTree>
    <p:extLst>
      <p:ext uri="{BB962C8B-B14F-4D97-AF65-F5344CB8AC3E}">
        <p14:creationId xmlns:p14="http://schemas.microsoft.com/office/powerpoint/2010/main" val="1467915953"/>
      </p:ext>
    </p:extLst>
  </p:cSld>
  <p:clrMap bg1="lt1" tx1="dk1" bg2="lt2" tx2="dk2" accent1="accent1" accent2="accent2" accent3="accent3" accent4="accent4" accent5="accent5" accent6="accent6" hlink="hlink" folHlink="folHlink"/>
  <p:sldLayoutIdLst>
    <p:sldLayoutId id="2147483650" r:id="rId1"/>
    <p:sldLayoutId id="2147483654" r:id="rId2"/>
    <p:sldLayoutId id="2147483659" r:id="rId3"/>
    <p:sldLayoutId id="2147483666" r:id="rId4"/>
    <p:sldLayoutId id="2147483677" r:id="rId5"/>
    <p:sldLayoutId id="2147483678" r:id="rId6"/>
    <p:sldLayoutId id="2147483686" r:id="rId7"/>
    <p:sldLayoutId id="2147483687" r:id="rId8"/>
    <p:sldLayoutId id="2147483690" r:id="rId9"/>
    <p:sldLayoutId id="2147483691" r:id="rId10"/>
    <p:sldLayoutId id="2147483692" r:id="rId11"/>
    <p:sldLayoutId id="2147483693" r:id="rId12"/>
    <p:sldLayoutId id="2147483694" r:id="rId13"/>
    <p:sldLayoutId id="2147483696" r:id="rId14"/>
    <p:sldLayoutId id="2147483699" r:id="rId15"/>
    <p:sldLayoutId id="2147483700" r:id="rId16"/>
    <p:sldLayoutId id="2147483702" r:id="rId17"/>
    <p:sldLayoutId id="2147483706" r:id="rId18"/>
    <p:sldLayoutId id="2147483707" r:id="rId19"/>
    <p:sldLayoutId id="2147483708" r:id="rId20"/>
  </p:sldLayoutIdLst>
  <p:hf hdr="0" ftr="0" dt="0"/>
  <p:txStyles>
    <p:title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7950266"/>
      </p:ext>
    </p:extLst>
  </p:cSld>
  <p:clrMap bg1="lt1" tx1="dk1" bg2="lt2" tx2="dk2" accent1="accent1" accent2="accent2" accent3="accent3" accent4="accent4" accent5="accent5" accent6="accent6" hlink="hlink" folHlink="folHlink"/>
  <p:sldLayoutIdLst>
    <p:sldLayoutId id="2147483649" r:id="rId1"/>
    <p:sldLayoutId id="214748366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形 7">
            <a:extLst>
              <a:ext uri="{FF2B5EF4-FFF2-40B4-BE49-F238E27FC236}">
                <a16:creationId xmlns:a16="http://schemas.microsoft.com/office/drawing/2014/main" id="{D5FC8854-8C90-CD00-F013-8034EF541B87}"/>
              </a:ext>
            </a:extLst>
          </p:cNvPr>
          <p:cNvPicPr>
            <a:picLocks noChangeAspect="1"/>
          </p:cNvPicPr>
          <p:nvPr userDrawn="1"/>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8081" t="21237" r="10346" b="18121"/>
          <a:stretch/>
        </p:blipFill>
        <p:spPr>
          <a:xfrm>
            <a:off x="9956716" y="152244"/>
            <a:ext cx="1848051" cy="605113"/>
          </a:xfrm>
          <a:prstGeom prst="rect">
            <a:avLst/>
          </a:prstGeom>
        </p:spPr>
      </p:pic>
    </p:spTree>
    <p:extLst>
      <p:ext uri="{BB962C8B-B14F-4D97-AF65-F5344CB8AC3E}">
        <p14:creationId xmlns:p14="http://schemas.microsoft.com/office/powerpoint/2010/main" val="658307751"/>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51" r:id="rId3"/>
    <p:sldLayoutId id="2147483704" r:id="rId4"/>
    <p:sldLayoutId id="2147483709" r:id="rId5"/>
    <p:sldLayoutId id="2147483711"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图形 8">
            <a:extLst>
              <a:ext uri="{FF2B5EF4-FFF2-40B4-BE49-F238E27FC236}">
                <a16:creationId xmlns:a16="http://schemas.microsoft.com/office/drawing/2014/main" id="{BCFD639D-1352-0D42-CD8B-502330285495}"/>
              </a:ext>
            </a:extLst>
          </p:cNvPr>
          <p:cNvPicPr>
            <a:picLocks noChangeAspect="1"/>
          </p:cNvPicPr>
          <p:nvPr userDrawn="1"/>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8081" t="21237" r="10346" b="18121"/>
          <a:stretch/>
        </p:blipFill>
        <p:spPr>
          <a:xfrm>
            <a:off x="9956716" y="152244"/>
            <a:ext cx="1848051" cy="605113"/>
          </a:xfrm>
          <a:prstGeom prst="rect">
            <a:avLst/>
          </a:prstGeom>
        </p:spPr>
      </p:pic>
      <p:sp>
        <p:nvSpPr>
          <p:cNvPr id="32" name="椭圆 31">
            <a:extLst>
              <a:ext uri="{FF2B5EF4-FFF2-40B4-BE49-F238E27FC236}">
                <a16:creationId xmlns:a16="http://schemas.microsoft.com/office/drawing/2014/main" id="{3B0EC498-20A1-566B-4915-5207C059B018}"/>
              </a:ext>
            </a:extLst>
          </p:cNvPr>
          <p:cNvSpPr/>
          <p:nvPr userDrawn="1"/>
        </p:nvSpPr>
        <p:spPr>
          <a:xfrm>
            <a:off x="751355" y="2336538"/>
            <a:ext cx="2111502" cy="2111502"/>
          </a:xfrm>
          <a:prstGeom prst="ellipse">
            <a:avLst/>
          </a:prstGeom>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558725F1-EF53-00F4-5D5F-187168DD6A01}"/>
              </a:ext>
            </a:extLst>
          </p:cNvPr>
          <p:cNvSpPr/>
          <p:nvPr userDrawn="1"/>
        </p:nvSpPr>
        <p:spPr>
          <a:xfrm>
            <a:off x="-625683" y="959500"/>
            <a:ext cx="4865579" cy="4865579"/>
          </a:xfrm>
          <a:prstGeom prst="ellipse">
            <a:avLst/>
          </a:prstGeom>
          <a:noFill/>
          <a:ln w="12700" cap="flat" cmpd="sng" algn="ctr">
            <a:solidFill>
              <a:schemeClr val="accent1">
                <a:alpha val="500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E0CB1513-F0AF-DFD8-F01B-E3C9C30338CD}"/>
              </a:ext>
            </a:extLst>
          </p:cNvPr>
          <p:cNvSpPr/>
          <p:nvPr userDrawn="1"/>
        </p:nvSpPr>
        <p:spPr>
          <a:xfrm>
            <a:off x="255264" y="1840447"/>
            <a:ext cx="3103685" cy="3103685"/>
          </a:xfrm>
          <a:prstGeom prst="ellipse">
            <a:avLst/>
          </a:prstGeom>
          <a:noFill/>
          <a:ln>
            <a:solidFill>
              <a:schemeClr val="accent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068B7EDE-A4CF-8360-8241-A673D650AA78}"/>
              </a:ext>
            </a:extLst>
          </p:cNvPr>
          <p:cNvSpPr/>
          <p:nvPr userDrawn="1"/>
        </p:nvSpPr>
        <p:spPr>
          <a:xfrm>
            <a:off x="-1544721" y="-114518"/>
            <a:ext cx="7013615" cy="7013615"/>
          </a:xfrm>
          <a:prstGeom prst="ellipse">
            <a:avLst/>
          </a:prstGeom>
          <a:noFill/>
          <a:ln w="12700" cap="flat" cmpd="sng" algn="ctr">
            <a:solidFill>
              <a:schemeClr val="accent1">
                <a:alpha val="300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4D51DB15-8344-2ACA-142F-30B0A0200C56}"/>
              </a:ext>
            </a:extLst>
          </p:cNvPr>
          <p:cNvSpPr/>
          <p:nvPr userDrawn="1"/>
        </p:nvSpPr>
        <p:spPr>
          <a:xfrm>
            <a:off x="3015513" y="0"/>
            <a:ext cx="6784703" cy="6858000"/>
          </a:xfrm>
          <a:prstGeom prst="rect">
            <a:avLst/>
          </a:prstGeom>
          <a:gradFill flip="none" rotWithShape="1">
            <a:gsLst>
              <a:gs pos="27000">
                <a:schemeClr val="bg1"/>
              </a:gs>
              <a:gs pos="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874136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88" r:id="rId4"/>
    <p:sldLayoutId id="2147483701" r:id="rId5"/>
    <p:sldLayoutId id="2147483710"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椭圆 10">
            <a:extLst>
              <a:ext uri="{FF2B5EF4-FFF2-40B4-BE49-F238E27FC236}">
                <a16:creationId xmlns:a16="http://schemas.microsoft.com/office/drawing/2014/main" id="{40922FA6-892F-6E62-25A7-4EFD4311B4B7}"/>
              </a:ext>
            </a:extLst>
          </p:cNvPr>
          <p:cNvSpPr/>
          <p:nvPr userDrawn="1"/>
        </p:nvSpPr>
        <p:spPr>
          <a:xfrm>
            <a:off x="573736" y="474236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589EB921-EFFD-8A13-0578-9909E3F67A28}"/>
              </a:ext>
            </a:extLst>
          </p:cNvPr>
          <p:cNvSpPr/>
          <p:nvPr userDrawn="1"/>
        </p:nvSpPr>
        <p:spPr>
          <a:xfrm>
            <a:off x="2449602" y="4027163"/>
            <a:ext cx="926888" cy="926888"/>
          </a:xfrm>
          <a:prstGeom prst="ellipse">
            <a:avLst/>
          </a:prstGeom>
          <a:solidFill>
            <a:schemeClr val="accent1">
              <a:lumMod val="20000"/>
              <a:lumOff val="80000"/>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0DBB1E70-A6B4-325D-7E84-2D8D403E507E}"/>
              </a:ext>
            </a:extLst>
          </p:cNvPr>
          <p:cNvSpPr/>
          <p:nvPr userDrawn="1"/>
        </p:nvSpPr>
        <p:spPr>
          <a:xfrm>
            <a:off x="2274547" y="2102046"/>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938C16E6-FCD9-2FF6-E0D9-862FBA97E38E}"/>
              </a:ext>
            </a:extLst>
          </p:cNvPr>
          <p:cNvSpPr/>
          <p:nvPr userDrawn="1"/>
        </p:nvSpPr>
        <p:spPr>
          <a:xfrm>
            <a:off x="320390" y="151257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90B5C771-860C-6FE3-9141-296A747F7EC0}"/>
              </a:ext>
            </a:extLst>
          </p:cNvPr>
          <p:cNvSpPr/>
          <p:nvPr userDrawn="1"/>
        </p:nvSpPr>
        <p:spPr>
          <a:xfrm>
            <a:off x="2745115" y="1787721"/>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CC734A62-48DA-F6ED-AF10-0C9224E0A0EE}"/>
              </a:ext>
            </a:extLst>
          </p:cNvPr>
          <p:cNvSpPr/>
          <p:nvPr userDrawn="1"/>
        </p:nvSpPr>
        <p:spPr>
          <a:xfrm>
            <a:off x="594793" y="2155519"/>
            <a:ext cx="2544671" cy="254467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 空心 2">
            <a:extLst>
              <a:ext uri="{FF2B5EF4-FFF2-40B4-BE49-F238E27FC236}">
                <a16:creationId xmlns:a16="http://schemas.microsoft.com/office/drawing/2014/main" id="{D9836D2B-C9DD-3FC5-793A-4907096EF00C}"/>
              </a:ext>
            </a:extLst>
          </p:cNvPr>
          <p:cNvSpPr/>
          <p:nvPr userDrawn="1"/>
        </p:nvSpPr>
        <p:spPr>
          <a:xfrm>
            <a:off x="445476" y="2002997"/>
            <a:ext cx="2852005" cy="2852005"/>
          </a:xfrm>
          <a:prstGeom prst="donut">
            <a:avLst>
              <a:gd name="adj" fmla="val 649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2929827110"/>
      </p:ext>
    </p:extLst>
  </p:cSld>
  <p:clrMap bg1="lt1" tx1="dk1" bg2="lt2" tx2="dk2" accent1="accent1" accent2="accent2" accent3="accent3" accent4="accent4" accent5="accent5" accent6="accent6" hlink="hlink" folHlink="folHlink"/>
  <p:sldLayoutIdLst>
    <p:sldLayoutId id="2147483680" r:id="rId1"/>
    <p:sldLayoutId id="2147483683" r:id="rId2"/>
    <p:sldLayoutId id="214748368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gif"/></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114D5-9D49-7225-E5E2-41EB2357CF8B}"/>
              </a:ext>
            </a:extLst>
          </p:cNvPr>
          <p:cNvSpPr>
            <a:spLocks noGrp="1"/>
          </p:cNvSpPr>
          <p:nvPr>
            <p:ph type="ctrTitle"/>
          </p:nvPr>
        </p:nvSpPr>
        <p:spPr/>
        <p:txBody>
          <a:bodyPr>
            <a:normAutofit/>
          </a:bodyPr>
          <a:lstStyle/>
          <a:p>
            <a:r>
              <a:rPr lang="zh-CN" altLang="en-US" sz="4000" dirty="0"/>
              <a:t>第十二章：集合高级</a:t>
            </a:r>
          </a:p>
        </p:txBody>
      </p:sp>
      <p:sp>
        <p:nvSpPr>
          <p:cNvPr id="3" name="文本占位符 2">
            <a:extLst>
              <a:ext uri="{FF2B5EF4-FFF2-40B4-BE49-F238E27FC236}">
                <a16:creationId xmlns:a16="http://schemas.microsoft.com/office/drawing/2014/main" id="{88966428-CCB2-BA20-6795-2C913DCE3AAF}"/>
              </a:ext>
            </a:extLst>
          </p:cNvPr>
          <p:cNvSpPr>
            <a:spLocks noGrp="1"/>
          </p:cNvSpPr>
          <p:nvPr>
            <p:ph type="body" sz="quarter" idx="10"/>
          </p:nvPr>
        </p:nvSpPr>
        <p:spPr>
          <a:xfrm>
            <a:off x="660400" y="3586894"/>
            <a:ext cx="5057820" cy="563562"/>
          </a:xfrm>
        </p:spPr>
        <p:txBody>
          <a:bodyPr/>
          <a:lstStyle/>
          <a:p>
            <a:pPr algn="l"/>
            <a:r>
              <a:rPr lang="en-US" altLang="zh-CN" sz="1400" b="0" i="0" dirty="0">
                <a:solidFill>
                  <a:srgbClr val="15171A"/>
                </a:solidFill>
                <a:effectLst/>
                <a:latin typeface="Consolas" panose="020B0609020204030204" pitchFamily="49" charset="0"/>
              </a:rPr>
              <a:t> </a:t>
            </a:r>
            <a:endParaRPr lang="zh-CN" altLang="en-US" sz="1800" b="0" i="0" dirty="0">
              <a:solidFill>
                <a:srgbClr val="222222"/>
              </a:solidFill>
              <a:effectLst/>
              <a:latin typeface="Consolas" panose="020B0609020204030204" pitchFamily="49" charset="0"/>
            </a:endParaRPr>
          </a:p>
        </p:txBody>
      </p:sp>
    </p:spTree>
    <p:extLst>
      <p:ext uri="{BB962C8B-B14F-4D97-AF65-F5344CB8AC3E}">
        <p14:creationId xmlns:p14="http://schemas.microsoft.com/office/powerpoint/2010/main" val="153553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3EFE099-E524-79FE-DB41-AB8E86C92C66}"/>
              </a:ext>
            </a:extLst>
          </p:cNvPr>
          <p:cNvSpPr/>
          <p:nvPr/>
        </p:nvSpPr>
        <p:spPr>
          <a:xfrm>
            <a:off x="902209" y="3010079"/>
            <a:ext cx="1327807" cy="387243"/>
          </a:xfrm>
          <a:prstGeom prst="roundRect">
            <a:avLst/>
          </a:prstGeom>
          <a:solidFill>
            <a:schemeClr val="accent6">
              <a:lumMod val="60000"/>
              <a:lumOff val="4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err="1">
                <a:latin typeface="杨任东竹石体-Bold" panose="02000000000000000000" pitchFamily="2" charset="-122"/>
                <a:ea typeface="杨任东竹石体-Bold" panose="02000000000000000000" pitchFamily="2" charset="-122"/>
              </a:rPr>
              <a:t>ArrayList</a:t>
            </a:r>
            <a:endParaRPr lang="zh-CN" altLang="en-US" sz="1600" dirty="0">
              <a:latin typeface="杨任东竹石体-Bold" panose="02000000000000000000" pitchFamily="2" charset="-122"/>
              <a:ea typeface="杨任东竹石体-Bold" panose="02000000000000000000" pitchFamily="2" charset="-122"/>
            </a:endParaRPr>
          </a:p>
        </p:txBody>
      </p:sp>
      <p:sp>
        <p:nvSpPr>
          <p:cNvPr id="5" name="矩形: 圆角 4">
            <a:extLst>
              <a:ext uri="{FF2B5EF4-FFF2-40B4-BE49-F238E27FC236}">
                <a16:creationId xmlns:a16="http://schemas.microsoft.com/office/drawing/2014/main" id="{97F047D2-64B2-58C2-7167-FF3AB1330E31}"/>
              </a:ext>
            </a:extLst>
          </p:cNvPr>
          <p:cNvSpPr/>
          <p:nvPr/>
        </p:nvSpPr>
        <p:spPr>
          <a:xfrm>
            <a:off x="2516078" y="3010079"/>
            <a:ext cx="1327807" cy="387243"/>
          </a:xfrm>
          <a:prstGeom prst="roundRect">
            <a:avLst/>
          </a:prstGeom>
          <a:solidFill>
            <a:schemeClr val="accent5">
              <a:lumMod val="60000"/>
              <a:lumOff val="4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a:latin typeface="杨任东竹石体-Bold" panose="02000000000000000000" pitchFamily="2" charset="-122"/>
                <a:ea typeface="杨任东竹石体-Bold" panose="02000000000000000000" pitchFamily="2" charset="-122"/>
              </a:rPr>
              <a:t>LinkedList</a:t>
            </a:r>
            <a:endParaRPr lang="zh-CN" altLang="en-US" sz="1600" dirty="0">
              <a:latin typeface="杨任东竹石体-Bold" panose="02000000000000000000" pitchFamily="2" charset="-122"/>
              <a:ea typeface="杨任东竹石体-Bold" panose="02000000000000000000" pitchFamily="2" charset="-122"/>
            </a:endParaRPr>
          </a:p>
        </p:txBody>
      </p:sp>
      <p:sp>
        <p:nvSpPr>
          <p:cNvPr id="12" name="矩形: 圆角 11">
            <a:extLst>
              <a:ext uri="{FF2B5EF4-FFF2-40B4-BE49-F238E27FC236}">
                <a16:creationId xmlns:a16="http://schemas.microsoft.com/office/drawing/2014/main" id="{30430369-D657-8A57-5C4B-A51278C7010C}"/>
              </a:ext>
            </a:extLst>
          </p:cNvPr>
          <p:cNvSpPr/>
          <p:nvPr/>
        </p:nvSpPr>
        <p:spPr>
          <a:xfrm>
            <a:off x="902209" y="5105352"/>
            <a:ext cx="1327807" cy="387243"/>
          </a:xfrm>
          <a:prstGeom prst="roundRect">
            <a:avLst/>
          </a:prstGeom>
          <a:solidFill>
            <a:schemeClr val="accent1">
              <a:lumMod val="40000"/>
              <a:lumOff val="6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err="1">
                <a:latin typeface="杨任东竹石体-Bold" panose="02000000000000000000" pitchFamily="2" charset="-122"/>
                <a:ea typeface="杨任东竹石体-Bold" panose="02000000000000000000" pitchFamily="2" charset="-122"/>
              </a:rPr>
              <a:t>TreeSet</a:t>
            </a:r>
            <a:endParaRPr lang="zh-CN" altLang="en-US" sz="1600" dirty="0">
              <a:latin typeface="杨任东竹石体-Bold" panose="02000000000000000000" pitchFamily="2" charset="-122"/>
              <a:ea typeface="杨任东竹石体-Bold" panose="02000000000000000000" pitchFamily="2" charset="-122"/>
            </a:endParaRPr>
          </a:p>
        </p:txBody>
      </p:sp>
      <p:sp>
        <p:nvSpPr>
          <p:cNvPr id="13" name="矩形: 圆角 12">
            <a:extLst>
              <a:ext uri="{FF2B5EF4-FFF2-40B4-BE49-F238E27FC236}">
                <a16:creationId xmlns:a16="http://schemas.microsoft.com/office/drawing/2014/main" id="{948CA7F1-FEF3-5EF4-4429-11ECDE05085E}"/>
              </a:ext>
            </a:extLst>
          </p:cNvPr>
          <p:cNvSpPr/>
          <p:nvPr/>
        </p:nvSpPr>
        <p:spPr>
          <a:xfrm>
            <a:off x="2516078" y="5105352"/>
            <a:ext cx="1327807" cy="387243"/>
          </a:xfrm>
          <a:prstGeom prst="roundRect">
            <a:avLst/>
          </a:prstGeom>
          <a:solidFill>
            <a:schemeClr val="tx1">
              <a:lumMod val="75000"/>
              <a:lumOff val="25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a:latin typeface="杨任东竹石体-Bold" panose="02000000000000000000" pitchFamily="2" charset="-122"/>
                <a:ea typeface="杨任东竹石体-Bold" panose="02000000000000000000" pitchFamily="2" charset="-122"/>
              </a:rPr>
              <a:t>HashSet</a:t>
            </a:r>
            <a:endParaRPr lang="zh-CN" altLang="en-US" sz="1600" dirty="0">
              <a:latin typeface="杨任东竹石体-Bold" panose="02000000000000000000" pitchFamily="2" charset="-122"/>
              <a:ea typeface="杨任东竹石体-Bold" panose="02000000000000000000" pitchFamily="2" charset="-122"/>
            </a:endParaRPr>
          </a:p>
        </p:txBody>
      </p:sp>
      <p:sp>
        <p:nvSpPr>
          <p:cNvPr id="14" name="矩形: 圆角 13">
            <a:extLst>
              <a:ext uri="{FF2B5EF4-FFF2-40B4-BE49-F238E27FC236}">
                <a16:creationId xmlns:a16="http://schemas.microsoft.com/office/drawing/2014/main" id="{E2E02C9C-0B1A-BA2A-D1D2-50D4414889FB}"/>
              </a:ext>
            </a:extLst>
          </p:cNvPr>
          <p:cNvSpPr/>
          <p:nvPr/>
        </p:nvSpPr>
        <p:spPr>
          <a:xfrm>
            <a:off x="4173455" y="5105352"/>
            <a:ext cx="1622875" cy="387243"/>
          </a:xfrm>
          <a:prstGeom prst="roundRect">
            <a:avLst/>
          </a:prstGeom>
          <a:solidFill>
            <a:schemeClr val="bg1">
              <a:lumMod val="75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err="1">
                <a:latin typeface="杨任东竹石体-Bold" panose="02000000000000000000" pitchFamily="2" charset="-122"/>
                <a:ea typeface="杨任东竹石体-Bold" panose="02000000000000000000" pitchFamily="2" charset="-122"/>
              </a:rPr>
              <a:t>LinkedHashSet</a:t>
            </a:r>
            <a:endParaRPr lang="zh-CN" altLang="en-US" sz="1600" dirty="0">
              <a:latin typeface="杨任东竹石体-Bold" panose="02000000000000000000" pitchFamily="2" charset="-122"/>
              <a:ea typeface="杨任东竹石体-Bold" panose="02000000000000000000" pitchFamily="2" charset="-122"/>
            </a:endParaRPr>
          </a:p>
        </p:txBody>
      </p:sp>
      <p:sp>
        <p:nvSpPr>
          <p:cNvPr id="2" name="矩形: 圆角 1">
            <a:extLst>
              <a:ext uri="{FF2B5EF4-FFF2-40B4-BE49-F238E27FC236}">
                <a16:creationId xmlns:a16="http://schemas.microsoft.com/office/drawing/2014/main" id="{64CEFB46-6D05-E1FE-839D-7921DFE30A6C}"/>
              </a:ext>
            </a:extLst>
          </p:cNvPr>
          <p:cNvSpPr/>
          <p:nvPr/>
        </p:nvSpPr>
        <p:spPr>
          <a:xfrm>
            <a:off x="385743" y="1186766"/>
            <a:ext cx="7806536" cy="5262465"/>
          </a:xfrm>
          <a:custGeom>
            <a:avLst/>
            <a:gdLst>
              <a:gd name="connsiteX0" fmla="*/ 0 w 7806536"/>
              <a:gd name="connsiteY0" fmla="*/ 877095 h 5262465"/>
              <a:gd name="connsiteX1" fmla="*/ 877095 w 7806536"/>
              <a:gd name="connsiteY1" fmla="*/ 0 h 5262465"/>
              <a:gd name="connsiteX2" fmla="*/ 1670625 w 7806536"/>
              <a:gd name="connsiteY2" fmla="*/ 0 h 5262465"/>
              <a:gd name="connsiteX3" fmla="*/ 2282584 w 7806536"/>
              <a:gd name="connsiteY3" fmla="*/ 0 h 5262465"/>
              <a:gd name="connsiteX4" fmla="*/ 2834020 w 7806536"/>
              <a:gd name="connsiteY4" fmla="*/ 0 h 5262465"/>
              <a:gd name="connsiteX5" fmla="*/ 3567027 w 7806536"/>
              <a:gd name="connsiteY5" fmla="*/ 0 h 5262465"/>
              <a:gd name="connsiteX6" fmla="*/ 4178986 w 7806536"/>
              <a:gd name="connsiteY6" fmla="*/ 0 h 5262465"/>
              <a:gd name="connsiteX7" fmla="*/ 4972516 w 7806536"/>
              <a:gd name="connsiteY7" fmla="*/ 0 h 5262465"/>
              <a:gd name="connsiteX8" fmla="*/ 5523952 w 7806536"/>
              <a:gd name="connsiteY8" fmla="*/ 0 h 5262465"/>
              <a:gd name="connsiteX9" fmla="*/ 6317482 w 7806536"/>
              <a:gd name="connsiteY9" fmla="*/ 0 h 5262465"/>
              <a:gd name="connsiteX10" fmla="*/ 6929441 w 7806536"/>
              <a:gd name="connsiteY10" fmla="*/ 0 h 5262465"/>
              <a:gd name="connsiteX11" fmla="*/ 7806536 w 7806536"/>
              <a:gd name="connsiteY11" fmla="*/ 877095 h 5262465"/>
              <a:gd name="connsiteX12" fmla="*/ 7806536 w 7806536"/>
              <a:gd name="connsiteY12" fmla="*/ 1496890 h 5262465"/>
              <a:gd name="connsiteX13" fmla="*/ 7806536 w 7806536"/>
              <a:gd name="connsiteY13" fmla="*/ 2151768 h 5262465"/>
              <a:gd name="connsiteX14" fmla="*/ 7806536 w 7806536"/>
              <a:gd name="connsiteY14" fmla="*/ 2806646 h 5262465"/>
              <a:gd name="connsiteX15" fmla="*/ 7806536 w 7806536"/>
              <a:gd name="connsiteY15" fmla="*/ 3321193 h 5262465"/>
              <a:gd name="connsiteX16" fmla="*/ 7806536 w 7806536"/>
              <a:gd name="connsiteY16" fmla="*/ 4385370 h 5262465"/>
              <a:gd name="connsiteX17" fmla="*/ 6929441 w 7806536"/>
              <a:gd name="connsiteY17" fmla="*/ 5262465 h 5262465"/>
              <a:gd name="connsiteX18" fmla="*/ 6196435 w 7806536"/>
              <a:gd name="connsiteY18" fmla="*/ 5262465 h 5262465"/>
              <a:gd name="connsiteX19" fmla="*/ 5644999 w 7806536"/>
              <a:gd name="connsiteY19" fmla="*/ 5262465 h 5262465"/>
              <a:gd name="connsiteX20" fmla="*/ 4851469 w 7806536"/>
              <a:gd name="connsiteY20" fmla="*/ 5262465 h 5262465"/>
              <a:gd name="connsiteX21" fmla="*/ 4178986 w 7806536"/>
              <a:gd name="connsiteY21" fmla="*/ 5262465 h 5262465"/>
              <a:gd name="connsiteX22" fmla="*/ 3627550 w 7806536"/>
              <a:gd name="connsiteY22" fmla="*/ 5262465 h 5262465"/>
              <a:gd name="connsiteX23" fmla="*/ 2955067 w 7806536"/>
              <a:gd name="connsiteY23" fmla="*/ 5262465 h 5262465"/>
              <a:gd name="connsiteX24" fmla="*/ 2464155 w 7806536"/>
              <a:gd name="connsiteY24" fmla="*/ 5262465 h 5262465"/>
              <a:gd name="connsiteX25" fmla="*/ 1973242 w 7806536"/>
              <a:gd name="connsiteY25" fmla="*/ 5262465 h 5262465"/>
              <a:gd name="connsiteX26" fmla="*/ 877095 w 7806536"/>
              <a:gd name="connsiteY26" fmla="*/ 5262465 h 5262465"/>
              <a:gd name="connsiteX27" fmla="*/ 0 w 7806536"/>
              <a:gd name="connsiteY27" fmla="*/ 4385370 h 5262465"/>
              <a:gd name="connsiteX28" fmla="*/ 0 w 7806536"/>
              <a:gd name="connsiteY28" fmla="*/ 3905906 h 5262465"/>
              <a:gd name="connsiteX29" fmla="*/ 0 w 7806536"/>
              <a:gd name="connsiteY29" fmla="*/ 3286111 h 5262465"/>
              <a:gd name="connsiteX30" fmla="*/ 0 w 7806536"/>
              <a:gd name="connsiteY30" fmla="*/ 2806646 h 5262465"/>
              <a:gd name="connsiteX31" fmla="*/ 0 w 7806536"/>
              <a:gd name="connsiteY31" fmla="*/ 2186851 h 5262465"/>
              <a:gd name="connsiteX32" fmla="*/ 0 w 7806536"/>
              <a:gd name="connsiteY32" fmla="*/ 1672304 h 5262465"/>
              <a:gd name="connsiteX33" fmla="*/ 0 w 7806536"/>
              <a:gd name="connsiteY33" fmla="*/ 877095 h 5262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806536" h="5262465" extrusionOk="0">
                <a:moveTo>
                  <a:pt x="0" y="877095"/>
                </a:moveTo>
                <a:cubicBezTo>
                  <a:pt x="-33192" y="372215"/>
                  <a:pt x="334325" y="21905"/>
                  <a:pt x="877095" y="0"/>
                </a:cubicBezTo>
                <a:cubicBezTo>
                  <a:pt x="1061863" y="-38095"/>
                  <a:pt x="1340489" y="10504"/>
                  <a:pt x="1670625" y="0"/>
                </a:cubicBezTo>
                <a:cubicBezTo>
                  <a:pt x="2000761" y="-10504"/>
                  <a:pt x="2014785" y="-11002"/>
                  <a:pt x="2282584" y="0"/>
                </a:cubicBezTo>
                <a:cubicBezTo>
                  <a:pt x="2550383" y="11002"/>
                  <a:pt x="2660480" y="10845"/>
                  <a:pt x="2834020" y="0"/>
                </a:cubicBezTo>
                <a:cubicBezTo>
                  <a:pt x="3007560" y="-10845"/>
                  <a:pt x="3365258" y="5345"/>
                  <a:pt x="3567027" y="0"/>
                </a:cubicBezTo>
                <a:cubicBezTo>
                  <a:pt x="3768796" y="-5345"/>
                  <a:pt x="3922787" y="-28292"/>
                  <a:pt x="4178986" y="0"/>
                </a:cubicBezTo>
                <a:cubicBezTo>
                  <a:pt x="4435185" y="28292"/>
                  <a:pt x="4750818" y="26284"/>
                  <a:pt x="4972516" y="0"/>
                </a:cubicBezTo>
                <a:cubicBezTo>
                  <a:pt x="5194214" y="-26284"/>
                  <a:pt x="5304310" y="15156"/>
                  <a:pt x="5523952" y="0"/>
                </a:cubicBezTo>
                <a:cubicBezTo>
                  <a:pt x="5743594" y="-15156"/>
                  <a:pt x="6027450" y="2606"/>
                  <a:pt x="6317482" y="0"/>
                </a:cubicBezTo>
                <a:cubicBezTo>
                  <a:pt x="6607514" y="-2606"/>
                  <a:pt x="6780207" y="30481"/>
                  <a:pt x="6929441" y="0"/>
                </a:cubicBezTo>
                <a:cubicBezTo>
                  <a:pt x="7322618" y="-5218"/>
                  <a:pt x="7827297" y="335756"/>
                  <a:pt x="7806536" y="877095"/>
                </a:cubicBezTo>
                <a:cubicBezTo>
                  <a:pt x="7830719" y="1012978"/>
                  <a:pt x="7830467" y="1295002"/>
                  <a:pt x="7806536" y="1496890"/>
                </a:cubicBezTo>
                <a:cubicBezTo>
                  <a:pt x="7782605" y="1698778"/>
                  <a:pt x="7792035" y="1965871"/>
                  <a:pt x="7806536" y="2151768"/>
                </a:cubicBezTo>
                <a:cubicBezTo>
                  <a:pt x="7821037" y="2337665"/>
                  <a:pt x="7818652" y="2570921"/>
                  <a:pt x="7806536" y="2806646"/>
                </a:cubicBezTo>
                <a:cubicBezTo>
                  <a:pt x="7794420" y="3042371"/>
                  <a:pt x="7811711" y="3078637"/>
                  <a:pt x="7806536" y="3321193"/>
                </a:cubicBezTo>
                <a:cubicBezTo>
                  <a:pt x="7801361" y="3563749"/>
                  <a:pt x="7799180" y="3909611"/>
                  <a:pt x="7806536" y="4385370"/>
                </a:cubicBezTo>
                <a:cubicBezTo>
                  <a:pt x="7772844" y="4801097"/>
                  <a:pt x="7415549" y="5239440"/>
                  <a:pt x="6929441" y="5262465"/>
                </a:cubicBezTo>
                <a:cubicBezTo>
                  <a:pt x="6664769" y="5277937"/>
                  <a:pt x="6423134" y="5285928"/>
                  <a:pt x="6196435" y="5262465"/>
                </a:cubicBezTo>
                <a:cubicBezTo>
                  <a:pt x="5969736" y="5239002"/>
                  <a:pt x="5866957" y="5270308"/>
                  <a:pt x="5644999" y="5262465"/>
                </a:cubicBezTo>
                <a:cubicBezTo>
                  <a:pt x="5423041" y="5254622"/>
                  <a:pt x="5124348" y="5235171"/>
                  <a:pt x="4851469" y="5262465"/>
                </a:cubicBezTo>
                <a:cubicBezTo>
                  <a:pt x="4578590" y="5289760"/>
                  <a:pt x="4373821" y="5236343"/>
                  <a:pt x="4178986" y="5262465"/>
                </a:cubicBezTo>
                <a:cubicBezTo>
                  <a:pt x="3984151" y="5288587"/>
                  <a:pt x="3764762" y="5262880"/>
                  <a:pt x="3627550" y="5262465"/>
                </a:cubicBezTo>
                <a:cubicBezTo>
                  <a:pt x="3490338" y="5262050"/>
                  <a:pt x="3165279" y="5291123"/>
                  <a:pt x="2955067" y="5262465"/>
                </a:cubicBezTo>
                <a:cubicBezTo>
                  <a:pt x="2744855" y="5233807"/>
                  <a:pt x="2580409" y="5267646"/>
                  <a:pt x="2464155" y="5262465"/>
                </a:cubicBezTo>
                <a:cubicBezTo>
                  <a:pt x="2347901" y="5257284"/>
                  <a:pt x="2118456" y="5252758"/>
                  <a:pt x="1973242" y="5262465"/>
                </a:cubicBezTo>
                <a:cubicBezTo>
                  <a:pt x="1828028" y="5272172"/>
                  <a:pt x="1151615" y="5239441"/>
                  <a:pt x="877095" y="5262465"/>
                </a:cubicBezTo>
                <a:cubicBezTo>
                  <a:pt x="404060" y="5266445"/>
                  <a:pt x="31421" y="4975613"/>
                  <a:pt x="0" y="4385370"/>
                </a:cubicBezTo>
                <a:cubicBezTo>
                  <a:pt x="5768" y="4190872"/>
                  <a:pt x="-18208" y="4007013"/>
                  <a:pt x="0" y="3905906"/>
                </a:cubicBezTo>
                <a:cubicBezTo>
                  <a:pt x="18208" y="3804799"/>
                  <a:pt x="-12945" y="3486428"/>
                  <a:pt x="0" y="3286111"/>
                </a:cubicBezTo>
                <a:cubicBezTo>
                  <a:pt x="12945" y="3085794"/>
                  <a:pt x="-9393" y="2914490"/>
                  <a:pt x="0" y="2806646"/>
                </a:cubicBezTo>
                <a:cubicBezTo>
                  <a:pt x="9393" y="2698803"/>
                  <a:pt x="-1361" y="2411310"/>
                  <a:pt x="0" y="2186851"/>
                </a:cubicBezTo>
                <a:cubicBezTo>
                  <a:pt x="1361" y="1962392"/>
                  <a:pt x="-12314" y="1839115"/>
                  <a:pt x="0" y="1672304"/>
                </a:cubicBezTo>
                <a:cubicBezTo>
                  <a:pt x="12314" y="1505493"/>
                  <a:pt x="15501" y="1166507"/>
                  <a:pt x="0" y="877095"/>
                </a:cubicBezTo>
                <a:close/>
              </a:path>
            </a:pathLst>
          </a:custGeom>
          <a:noFill/>
          <a:ln w="25400">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8DC87DEC-1FD1-48F6-1A29-4C0305A771BC}"/>
              </a:ext>
            </a:extLst>
          </p:cNvPr>
          <p:cNvSpPr/>
          <p:nvPr/>
        </p:nvSpPr>
        <p:spPr>
          <a:xfrm>
            <a:off x="835825" y="1271714"/>
            <a:ext cx="4102405" cy="461665"/>
          </a:xfrm>
          <a:prstGeom prst="rect">
            <a:avLst/>
          </a:prstGeom>
          <a:noFill/>
        </p:spPr>
        <p:txBody>
          <a:bodyPr wrap="none" lIns="91440" tIns="45720" rIns="91440" bIns="45720">
            <a:spAutoFit/>
          </a:bodyPr>
          <a:lstStyle/>
          <a:p>
            <a:r>
              <a:rPr lang="zh-CN" altLang="en-US"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单列集合 </a:t>
            </a:r>
            <a:r>
              <a:rPr lang="en-US" altLang="zh-CN"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一次添加一个元素</a:t>
            </a:r>
          </a:p>
        </p:txBody>
      </p:sp>
      <p:sp>
        <p:nvSpPr>
          <p:cNvPr id="7" name="矩形: 圆角 6">
            <a:extLst>
              <a:ext uri="{FF2B5EF4-FFF2-40B4-BE49-F238E27FC236}">
                <a16:creationId xmlns:a16="http://schemas.microsoft.com/office/drawing/2014/main" id="{1419AD04-A93B-7801-67FF-FE6F2855F9BF}"/>
              </a:ext>
            </a:extLst>
          </p:cNvPr>
          <p:cNvSpPr/>
          <p:nvPr/>
        </p:nvSpPr>
        <p:spPr>
          <a:xfrm>
            <a:off x="709126" y="2585558"/>
            <a:ext cx="5087204" cy="1586204"/>
          </a:xfrm>
          <a:custGeom>
            <a:avLst/>
            <a:gdLst>
              <a:gd name="connsiteX0" fmla="*/ 0 w 5087204"/>
              <a:gd name="connsiteY0" fmla="*/ 264373 h 1586204"/>
              <a:gd name="connsiteX1" fmla="*/ 264373 w 5087204"/>
              <a:gd name="connsiteY1" fmla="*/ 0 h 1586204"/>
              <a:gd name="connsiteX2" fmla="*/ 1006750 w 5087204"/>
              <a:gd name="connsiteY2" fmla="*/ 0 h 1586204"/>
              <a:gd name="connsiteX3" fmla="*/ 1612374 w 5087204"/>
              <a:gd name="connsiteY3" fmla="*/ 0 h 1586204"/>
              <a:gd name="connsiteX4" fmla="*/ 2172413 w 5087204"/>
              <a:gd name="connsiteY4" fmla="*/ 0 h 1586204"/>
              <a:gd name="connsiteX5" fmla="*/ 2869206 w 5087204"/>
              <a:gd name="connsiteY5" fmla="*/ 0 h 1586204"/>
              <a:gd name="connsiteX6" fmla="*/ 3474830 w 5087204"/>
              <a:gd name="connsiteY6" fmla="*/ 0 h 1586204"/>
              <a:gd name="connsiteX7" fmla="*/ 4217207 w 5087204"/>
              <a:gd name="connsiteY7" fmla="*/ 0 h 1586204"/>
              <a:gd name="connsiteX8" fmla="*/ 4822831 w 5087204"/>
              <a:gd name="connsiteY8" fmla="*/ 0 h 1586204"/>
              <a:gd name="connsiteX9" fmla="*/ 5087204 w 5087204"/>
              <a:gd name="connsiteY9" fmla="*/ 264373 h 1586204"/>
              <a:gd name="connsiteX10" fmla="*/ 5087204 w 5087204"/>
              <a:gd name="connsiteY10" fmla="*/ 771953 h 1586204"/>
              <a:gd name="connsiteX11" fmla="*/ 5087204 w 5087204"/>
              <a:gd name="connsiteY11" fmla="*/ 1321831 h 1586204"/>
              <a:gd name="connsiteX12" fmla="*/ 4822831 w 5087204"/>
              <a:gd name="connsiteY12" fmla="*/ 1586204 h 1586204"/>
              <a:gd name="connsiteX13" fmla="*/ 4171623 w 5087204"/>
              <a:gd name="connsiteY13" fmla="*/ 1586204 h 1586204"/>
              <a:gd name="connsiteX14" fmla="*/ 3611584 w 5087204"/>
              <a:gd name="connsiteY14" fmla="*/ 1586204 h 1586204"/>
              <a:gd name="connsiteX15" fmla="*/ 2960375 w 5087204"/>
              <a:gd name="connsiteY15" fmla="*/ 1586204 h 1586204"/>
              <a:gd name="connsiteX16" fmla="*/ 2217998 w 5087204"/>
              <a:gd name="connsiteY16" fmla="*/ 1586204 h 1586204"/>
              <a:gd name="connsiteX17" fmla="*/ 1566790 w 5087204"/>
              <a:gd name="connsiteY17" fmla="*/ 1586204 h 1586204"/>
              <a:gd name="connsiteX18" fmla="*/ 1052335 w 5087204"/>
              <a:gd name="connsiteY18" fmla="*/ 1586204 h 1586204"/>
              <a:gd name="connsiteX19" fmla="*/ 264373 w 5087204"/>
              <a:gd name="connsiteY19" fmla="*/ 1586204 h 1586204"/>
              <a:gd name="connsiteX20" fmla="*/ 0 w 5087204"/>
              <a:gd name="connsiteY20" fmla="*/ 1321831 h 1586204"/>
              <a:gd name="connsiteX21" fmla="*/ 0 w 5087204"/>
              <a:gd name="connsiteY21" fmla="*/ 803677 h 1586204"/>
              <a:gd name="connsiteX22" fmla="*/ 0 w 5087204"/>
              <a:gd name="connsiteY22" fmla="*/ 264373 h 158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87204" h="1586204" extrusionOk="0">
                <a:moveTo>
                  <a:pt x="0" y="264373"/>
                </a:moveTo>
                <a:cubicBezTo>
                  <a:pt x="-15608" y="108737"/>
                  <a:pt x="109934" y="3164"/>
                  <a:pt x="264373" y="0"/>
                </a:cubicBezTo>
                <a:cubicBezTo>
                  <a:pt x="528455" y="-6249"/>
                  <a:pt x="727034" y="4565"/>
                  <a:pt x="1006750" y="0"/>
                </a:cubicBezTo>
                <a:cubicBezTo>
                  <a:pt x="1286466" y="-4565"/>
                  <a:pt x="1425966" y="13801"/>
                  <a:pt x="1612374" y="0"/>
                </a:cubicBezTo>
                <a:cubicBezTo>
                  <a:pt x="1798782" y="-13801"/>
                  <a:pt x="1997406" y="-9643"/>
                  <a:pt x="2172413" y="0"/>
                </a:cubicBezTo>
                <a:cubicBezTo>
                  <a:pt x="2347420" y="9643"/>
                  <a:pt x="2542628" y="-27196"/>
                  <a:pt x="2869206" y="0"/>
                </a:cubicBezTo>
                <a:cubicBezTo>
                  <a:pt x="3195784" y="27196"/>
                  <a:pt x="3185242" y="-2420"/>
                  <a:pt x="3474830" y="0"/>
                </a:cubicBezTo>
                <a:cubicBezTo>
                  <a:pt x="3764418" y="2420"/>
                  <a:pt x="3852837" y="15953"/>
                  <a:pt x="4217207" y="0"/>
                </a:cubicBezTo>
                <a:cubicBezTo>
                  <a:pt x="4581577" y="-15953"/>
                  <a:pt x="4552169" y="9134"/>
                  <a:pt x="4822831" y="0"/>
                </a:cubicBezTo>
                <a:cubicBezTo>
                  <a:pt x="4959497" y="15455"/>
                  <a:pt x="5080151" y="110184"/>
                  <a:pt x="5087204" y="264373"/>
                </a:cubicBezTo>
                <a:cubicBezTo>
                  <a:pt x="5099580" y="414671"/>
                  <a:pt x="5084629" y="658862"/>
                  <a:pt x="5087204" y="771953"/>
                </a:cubicBezTo>
                <a:cubicBezTo>
                  <a:pt x="5089779" y="885044"/>
                  <a:pt x="5081201" y="1209456"/>
                  <a:pt x="5087204" y="1321831"/>
                </a:cubicBezTo>
                <a:cubicBezTo>
                  <a:pt x="5093375" y="1461742"/>
                  <a:pt x="4972853" y="1583617"/>
                  <a:pt x="4822831" y="1586204"/>
                </a:cubicBezTo>
                <a:cubicBezTo>
                  <a:pt x="4530988" y="1558584"/>
                  <a:pt x="4426089" y="1605126"/>
                  <a:pt x="4171623" y="1586204"/>
                </a:cubicBezTo>
                <a:cubicBezTo>
                  <a:pt x="3917157" y="1567282"/>
                  <a:pt x="3871482" y="1602477"/>
                  <a:pt x="3611584" y="1586204"/>
                </a:cubicBezTo>
                <a:cubicBezTo>
                  <a:pt x="3351686" y="1569931"/>
                  <a:pt x="3163026" y="1575232"/>
                  <a:pt x="2960375" y="1586204"/>
                </a:cubicBezTo>
                <a:cubicBezTo>
                  <a:pt x="2757724" y="1597176"/>
                  <a:pt x="2534367" y="1556190"/>
                  <a:pt x="2217998" y="1586204"/>
                </a:cubicBezTo>
                <a:cubicBezTo>
                  <a:pt x="1901629" y="1616218"/>
                  <a:pt x="1835977" y="1588286"/>
                  <a:pt x="1566790" y="1586204"/>
                </a:cubicBezTo>
                <a:cubicBezTo>
                  <a:pt x="1297603" y="1584122"/>
                  <a:pt x="1204094" y="1566707"/>
                  <a:pt x="1052335" y="1586204"/>
                </a:cubicBezTo>
                <a:cubicBezTo>
                  <a:pt x="900576" y="1605701"/>
                  <a:pt x="460952" y="1590006"/>
                  <a:pt x="264373" y="1586204"/>
                </a:cubicBezTo>
                <a:cubicBezTo>
                  <a:pt x="135133" y="1576257"/>
                  <a:pt x="-2315" y="1471516"/>
                  <a:pt x="0" y="1321831"/>
                </a:cubicBezTo>
                <a:cubicBezTo>
                  <a:pt x="14399" y="1217616"/>
                  <a:pt x="20846" y="924371"/>
                  <a:pt x="0" y="803677"/>
                </a:cubicBezTo>
                <a:cubicBezTo>
                  <a:pt x="-20846" y="682983"/>
                  <a:pt x="-17529" y="504428"/>
                  <a:pt x="0" y="264373"/>
                </a:cubicBezTo>
                <a:close/>
              </a:path>
            </a:pathLst>
          </a:custGeom>
          <a:noFill/>
          <a:ln w="25400">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78CCB0FC-3781-EA8A-BD85-71A4EE73B21A}"/>
              </a:ext>
            </a:extLst>
          </p:cNvPr>
          <p:cNvSpPr/>
          <p:nvPr/>
        </p:nvSpPr>
        <p:spPr>
          <a:xfrm>
            <a:off x="709127" y="4506612"/>
            <a:ext cx="7122618" cy="1577348"/>
          </a:xfrm>
          <a:custGeom>
            <a:avLst/>
            <a:gdLst>
              <a:gd name="connsiteX0" fmla="*/ 0 w 7122618"/>
              <a:gd name="connsiteY0" fmla="*/ 262897 h 1577348"/>
              <a:gd name="connsiteX1" fmla="*/ 262897 w 7122618"/>
              <a:gd name="connsiteY1" fmla="*/ 0 h 1577348"/>
              <a:gd name="connsiteX2" fmla="*/ 1054516 w 7122618"/>
              <a:gd name="connsiteY2" fmla="*/ 0 h 1577348"/>
              <a:gd name="connsiteX3" fmla="*/ 1648230 w 7122618"/>
              <a:gd name="connsiteY3" fmla="*/ 0 h 1577348"/>
              <a:gd name="connsiteX4" fmla="*/ 2175976 w 7122618"/>
              <a:gd name="connsiteY4" fmla="*/ 0 h 1577348"/>
              <a:gd name="connsiteX5" fmla="*/ 2901627 w 7122618"/>
              <a:gd name="connsiteY5" fmla="*/ 0 h 1577348"/>
              <a:gd name="connsiteX6" fmla="*/ 3495341 w 7122618"/>
              <a:gd name="connsiteY6" fmla="*/ 0 h 1577348"/>
              <a:gd name="connsiteX7" fmla="*/ 4286960 w 7122618"/>
              <a:gd name="connsiteY7" fmla="*/ 0 h 1577348"/>
              <a:gd name="connsiteX8" fmla="*/ 4814706 w 7122618"/>
              <a:gd name="connsiteY8" fmla="*/ 0 h 1577348"/>
              <a:gd name="connsiteX9" fmla="*/ 5606324 w 7122618"/>
              <a:gd name="connsiteY9" fmla="*/ 0 h 1577348"/>
              <a:gd name="connsiteX10" fmla="*/ 6068102 w 7122618"/>
              <a:gd name="connsiteY10" fmla="*/ 0 h 1577348"/>
              <a:gd name="connsiteX11" fmla="*/ 6859721 w 7122618"/>
              <a:gd name="connsiteY11" fmla="*/ 0 h 1577348"/>
              <a:gd name="connsiteX12" fmla="*/ 7122618 w 7122618"/>
              <a:gd name="connsiteY12" fmla="*/ 262897 h 1577348"/>
              <a:gd name="connsiteX13" fmla="*/ 7122618 w 7122618"/>
              <a:gd name="connsiteY13" fmla="*/ 757127 h 1577348"/>
              <a:gd name="connsiteX14" fmla="*/ 7122618 w 7122618"/>
              <a:gd name="connsiteY14" fmla="*/ 1314451 h 1577348"/>
              <a:gd name="connsiteX15" fmla="*/ 6859721 w 7122618"/>
              <a:gd name="connsiteY15" fmla="*/ 1577348 h 1577348"/>
              <a:gd name="connsiteX16" fmla="*/ 6134070 w 7122618"/>
              <a:gd name="connsiteY16" fmla="*/ 1577348 h 1577348"/>
              <a:gd name="connsiteX17" fmla="*/ 5474388 w 7122618"/>
              <a:gd name="connsiteY17" fmla="*/ 1577348 h 1577348"/>
              <a:gd name="connsiteX18" fmla="*/ 5012610 w 7122618"/>
              <a:gd name="connsiteY18" fmla="*/ 1577348 h 1577348"/>
              <a:gd name="connsiteX19" fmla="*/ 4484864 w 7122618"/>
              <a:gd name="connsiteY19" fmla="*/ 1577348 h 1577348"/>
              <a:gd name="connsiteX20" fmla="*/ 3693245 w 7122618"/>
              <a:gd name="connsiteY20" fmla="*/ 1577348 h 1577348"/>
              <a:gd name="connsiteX21" fmla="*/ 3033563 w 7122618"/>
              <a:gd name="connsiteY21" fmla="*/ 1577348 h 1577348"/>
              <a:gd name="connsiteX22" fmla="*/ 2505817 w 7122618"/>
              <a:gd name="connsiteY22" fmla="*/ 1577348 h 1577348"/>
              <a:gd name="connsiteX23" fmla="*/ 1846135 w 7122618"/>
              <a:gd name="connsiteY23" fmla="*/ 1577348 h 1577348"/>
              <a:gd name="connsiteX24" fmla="*/ 1384357 w 7122618"/>
              <a:gd name="connsiteY24" fmla="*/ 1577348 h 1577348"/>
              <a:gd name="connsiteX25" fmla="*/ 922579 w 7122618"/>
              <a:gd name="connsiteY25" fmla="*/ 1577348 h 1577348"/>
              <a:gd name="connsiteX26" fmla="*/ 262897 w 7122618"/>
              <a:gd name="connsiteY26" fmla="*/ 1577348 h 1577348"/>
              <a:gd name="connsiteX27" fmla="*/ 0 w 7122618"/>
              <a:gd name="connsiteY27" fmla="*/ 1314451 h 1577348"/>
              <a:gd name="connsiteX28" fmla="*/ 0 w 7122618"/>
              <a:gd name="connsiteY28" fmla="*/ 820221 h 1577348"/>
              <a:gd name="connsiteX29" fmla="*/ 0 w 7122618"/>
              <a:gd name="connsiteY29" fmla="*/ 262897 h 157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122618" h="1577348" extrusionOk="0">
                <a:moveTo>
                  <a:pt x="0" y="262897"/>
                </a:moveTo>
                <a:cubicBezTo>
                  <a:pt x="-22580" y="103775"/>
                  <a:pt x="112634" y="1902"/>
                  <a:pt x="262897" y="0"/>
                </a:cubicBezTo>
                <a:cubicBezTo>
                  <a:pt x="491214" y="-8303"/>
                  <a:pt x="836494" y="-37714"/>
                  <a:pt x="1054516" y="0"/>
                </a:cubicBezTo>
                <a:cubicBezTo>
                  <a:pt x="1272538" y="37714"/>
                  <a:pt x="1436082" y="-29270"/>
                  <a:pt x="1648230" y="0"/>
                </a:cubicBezTo>
                <a:cubicBezTo>
                  <a:pt x="1860378" y="29270"/>
                  <a:pt x="1994154" y="-25214"/>
                  <a:pt x="2175976" y="0"/>
                </a:cubicBezTo>
                <a:cubicBezTo>
                  <a:pt x="2357798" y="25214"/>
                  <a:pt x="2738735" y="-19607"/>
                  <a:pt x="2901627" y="0"/>
                </a:cubicBezTo>
                <a:cubicBezTo>
                  <a:pt x="3064519" y="19607"/>
                  <a:pt x="3252248" y="13437"/>
                  <a:pt x="3495341" y="0"/>
                </a:cubicBezTo>
                <a:cubicBezTo>
                  <a:pt x="3738434" y="-13437"/>
                  <a:pt x="4080584" y="15123"/>
                  <a:pt x="4286960" y="0"/>
                </a:cubicBezTo>
                <a:cubicBezTo>
                  <a:pt x="4493336" y="-15123"/>
                  <a:pt x="4622736" y="-20101"/>
                  <a:pt x="4814706" y="0"/>
                </a:cubicBezTo>
                <a:cubicBezTo>
                  <a:pt x="5006676" y="20101"/>
                  <a:pt x="5400866" y="-28257"/>
                  <a:pt x="5606324" y="0"/>
                </a:cubicBezTo>
                <a:cubicBezTo>
                  <a:pt x="5811782" y="28257"/>
                  <a:pt x="5895341" y="2590"/>
                  <a:pt x="6068102" y="0"/>
                </a:cubicBezTo>
                <a:cubicBezTo>
                  <a:pt x="6240863" y="-2590"/>
                  <a:pt x="6603164" y="6435"/>
                  <a:pt x="6859721" y="0"/>
                </a:cubicBezTo>
                <a:cubicBezTo>
                  <a:pt x="7007941" y="4505"/>
                  <a:pt x="7125626" y="148861"/>
                  <a:pt x="7122618" y="262897"/>
                </a:cubicBezTo>
                <a:cubicBezTo>
                  <a:pt x="7112276" y="460651"/>
                  <a:pt x="7124785" y="571497"/>
                  <a:pt x="7122618" y="757127"/>
                </a:cubicBezTo>
                <a:cubicBezTo>
                  <a:pt x="7120452" y="942757"/>
                  <a:pt x="7094788" y="1070359"/>
                  <a:pt x="7122618" y="1314451"/>
                </a:cubicBezTo>
                <a:cubicBezTo>
                  <a:pt x="7102525" y="1462945"/>
                  <a:pt x="6976975" y="1558070"/>
                  <a:pt x="6859721" y="1577348"/>
                </a:cubicBezTo>
                <a:cubicBezTo>
                  <a:pt x="6681987" y="1545561"/>
                  <a:pt x="6466898" y="1586765"/>
                  <a:pt x="6134070" y="1577348"/>
                </a:cubicBezTo>
                <a:cubicBezTo>
                  <a:pt x="5801242" y="1567931"/>
                  <a:pt x="5766288" y="1602504"/>
                  <a:pt x="5474388" y="1577348"/>
                </a:cubicBezTo>
                <a:cubicBezTo>
                  <a:pt x="5182488" y="1552192"/>
                  <a:pt x="5177643" y="1567980"/>
                  <a:pt x="5012610" y="1577348"/>
                </a:cubicBezTo>
                <a:cubicBezTo>
                  <a:pt x="4847577" y="1586716"/>
                  <a:pt x="4631421" y="1559677"/>
                  <a:pt x="4484864" y="1577348"/>
                </a:cubicBezTo>
                <a:cubicBezTo>
                  <a:pt x="4338307" y="1595019"/>
                  <a:pt x="3969383" y="1616456"/>
                  <a:pt x="3693245" y="1577348"/>
                </a:cubicBezTo>
                <a:cubicBezTo>
                  <a:pt x="3417107" y="1538240"/>
                  <a:pt x="3292196" y="1576234"/>
                  <a:pt x="3033563" y="1577348"/>
                </a:cubicBezTo>
                <a:cubicBezTo>
                  <a:pt x="2774930" y="1578462"/>
                  <a:pt x="2708489" y="1553840"/>
                  <a:pt x="2505817" y="1577348"/>
                </a:cubicBezTo>
                <a:cubicBezTo>
                  <a:pt x="2303145" y="1600856"/>
                  <a:pt x="2004023" y="1562898"/>
                  <a:pt x="1846135" y="1577348"/>
                </a:cubicBezTo>
                <a:cubicBezTo>
                  <a:pt x="1688247" y="1591798"/>
                  <a:pt x="1543179" y="1568207"/>
                  <a:pt x="1384357" y="1577348"/>
                </a:cubicBezTo>
                <a:cubicBezTo>
                  <a:pt x="1225535" y="1586489"/>
                  <a:pt x="1052621" y="1581577"/>
                  <a:pt x="922579" y="1577348"/>
                </a:cubicBezTo>
                <a:cubicBezTo>
                  <a:pt x="792537" y="1573119"/>
                  <a:pt x="397909" y="1551269"/>
                  <a:pt x="262897" y="1577348"/>
                </a:cubicBezTo>
                <a:cubicBezTo>
                  <a:pt x="144547" y="1586743"/>
                  <a:pt x="1305" y="1464039"/>
                  <a:pt x="0" y="1314451"/>
                </a:cubicBezTo>
                <a:cubicBezTo>
                  <a:pt x="2141" y="1192852"/>
                  <a:pt x="1207" y="966640"/>
                  <a:pt x="0" y="820221"/>
                </a:cubicBezTo>
                <a:cubicBezTo>
                  <a:pt x="-1207" y="673802"/>
                  <a:pt x="26101" y="398183"/>
                  <a:pt x="0" y="262897"/>
                </a:cubicBezTo>
                <a:close/>
              </a:path>
            </a:pathLst>
          </a:custGeom>
          <a:noFill/>
          <a:ln w="25400">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44B5948-069A-6AF0-F980-D0D054B6CCE1}"/>
              </a:ext>
            </a:extLst>
          </p:cNvPr>
          <p:cNvSpPr/>
          <p:nvPr/>
        </p:nvSpPr>
        <p:spPr>
          <a:xfrm>
            <a:off x="835825" y="5939621"/>
            <a:ext cx="184731" cy="707886"/>
          </a:xfrm>
          <a:prstGeom prst="rect">
            <a:avLst/>
          </a:prstGeom>
          <a:noFill/>
        </p:spPr>
        <p:txBody>
          <a:bodyPr wrap="none" lIns="91440" tIns="45720" rIns="91440" bIns="45720">
            <a:spAutoFit/>
          </a:bodyPr>
          <a:lstStyle/>
          <a:p>
            <a:endParaRPr lang="en-US" altLang="zh-CN" sz="20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a:p>
            <a:endParaRPr lang="zh-CN" altLang="en-US" sz="20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3" name="矩形 2">
            <a:extLst>
              <a:ext uri="{FF2B5EF4-FFF2-40B4-BE49-F238E27FC236}">
                <a16:creationId xmlns:a16="http://schemas.microsoft.com/office/drawing/2014/main" id="{7C18B0AF-AAB7-566C-F25B-F50CE483DB0D}"/>
              </a:ext>
            </a:extLst>
          </p:cNvPr>
          <p:cNvSpPr/>
          <p:nvPr/>
        </p:nvSpPr>
        <p:spPr>
          <a:xfrm>
            <a:off x="3921228" y="2725246"/>
            <a:ext cx="1204176" cy="830997"/>
          </a:xfrm>
          <a:prstGeom prst="rect">
            <a:avLst/>
          </a:prstGeom>
          <a:noFill/>
        </p:spPr>
        <p:txBody>
          <a:bodyPr wrap="none" lIns="91440" tIns="45720" rIns="91440" bIns="45720">
            <a:spAutoFit/>
          </a:bodyPr>
          <a:lstStyle/>
          <a:p>
            <a:r>
              <a:rPr lang="en-US" altLang="zh-CN" sz="1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rPr>
              <a:t>List </a:t>
            </a:r>
            <a:r>
              <a:rPr lang="zh-CN" altLang="en-US" sz="1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rPr>
              <a:t>接口</a:t>
            </a:r>
            <a:endParaRPr lang="en-US" altLang="zh-CN" sz="1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endParaRPr>
          </a:p>
          <a:p>
            <a:endParaRPr lang="en-US" altLang="zh-CN" sz="1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endParaRPr>
          </a:p>
          <a:p>
            <a:endParaRPr lang="zh-CN" altLang="en-US" sz="1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endParaRPr>
          </a:p>
        </p:txBody>
      </p:sp>
      <p:sp>
        <p:nvSpPr>
          <p:cNvPr id="8" name="文本框 7">
            <a:extLst>
              <a:ext uri="{FF2B5EF4-FFF2-40B4-BE49-F238E27FC236}">
                <a16:creationId xmlns:a16="http://schemas.microsoft.com/office/drawing/2014/main" id="{4BC04E3E-44A7-3155-3863-A7389BA83B3D}"/>
              </a:ext>
            </a:extLst>
          </p:cNvPr>
          <p:cNvSpPr txBox="1"/>
          <p:nvPr/>
        </p:nvSpPr>
        <p:spPr>
          <a:xfrm>
            <a:off x="3921228" y="3196245"/>
            <a:ext cx="2025406" cy="830997"/>
          </a:xfrm>
          <a:prstGeom prst="rect">
            <a:avLst/>
          </a:prstGeom>
          <a:noFill/>
          <a:ln>
            <a:noFill/>
          </a:ln>
        </p:spPr>
        <p:txBody>
          <a:bodyPr wrap="square" rtlCol="0">
            <a:spAutoFit/>
          </a:bodyPr>
          <a:lstStyle/>
          <a:p>
            <a:pPr algn="l"/>
            <a:r>
              <a:rPr kumimoji="0" lang="zh-CN" altLang="en-US" sz="1600" i="0" u="none" strike="noStrike" cap="none" normalizeH="0" baseline="0" dirty="0">
                <a:ln>
                  <a:noFill/>
                </a:ln>
                <a:solidFill>
                  <a:srgbClr val="AD2B26"/>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存取有序</a:t>
            </a:r>
          </a:p>
          <a:p>
            <a:pPr algn="l"/>
            <a:r>
              <a:rPr kumimoji="0" lang="zh-CN" altLang="en-US" sz="1600" i="0" u="none" strike="noStrike" cap="none" normalizeH="0" baseline="0" dirty="0">
                <a:ln>
                  <a:noFill/>
                </a:ln>
                <a:solidFill>
                  <a:srgbClr val="AD2B26"/>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有索引</a:t>
            </a:r>
          </a:p>
          <a:p>
            <a:pPr algn="l"/>
            <a:r>
              <a:rPr kumimoji="0" lang="zh-CN" altLang="en-US" sz="1600" i="0" u="none" strike="noStrike" cap="none" normalizeH="0" baseline="0" dirty="0">
                <a:ln>
                  <a:noFill/>
                </a:ln>
                <a:solidFill>
                  <a:srgbClr val="AD2B26"/>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可以存储重复的</a:t>
            </a:r>
          </a:p>
        </p:txBody>
      </p:sp>
      <p:sp>
        <p:nvSpPr>
          <p:cNvPr id="11" name="矩形 10">
            <a:extLst>
              <a:ext uri="{FF2B5EF4-FFF2-40B4-BE49-F238E27FC236}">
                <a16:creationId xmlns:a16="http://schemas.microsoft.com/office/drawing/2014/main" id="{AEA5614C-CFCF-CDDC-3B59-71725C906474}"/>
              </a:ext>
            </a:extLst>
          </p:cNvPr>
          <p:cNvSpPr/>
          <p:nvPr/>
        </p:nvSpPr>
        <p:spPr>
          <a:xfrm>
            <a:off x="6055638" y="4602129"/>
            <a:ext cx="1047082" cy="338554"/>
          </a:xfrm>
          <a:prstGeom prst="rect">
            <a:avLst/>
          </a:prstGeom>
          <a:noFill/>
        </p:spPr>
        <p:txBody>
          <a:bodyPr wrap="none" lIns="91440" tIns="45720" rIns="91440" bIns="45720">
            <a:spAutoFit/>
          </a:bodyPr>
          <a:lstStyle/>
          <a:p>
            <a:pPr algn="ctr"/>
            <a:r>
              <a:rPr lang="en-US" altLang="zh-CN" sz="16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onsolas" panose="020B0609020204030204" pitchFamily="49" charset="0"/>
              </a:rPr>
              <a:t>Set </a:t>
            </a:r>
            <a:r>
              <a:rPr lang="zh-CN" altLang="en-US" sz="1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onsolas" panose="020B0609020204030204" pitchFamily="49" charset="0"/>
              </a:rPr>
              <a:t>接口</a:t>
            </a:r>
            <a:endParaRPr lang="zh-CN" altLang="en-US" sz="16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onsolas" panose="020B0609020204030204" pitchFamily="49" charset="0"/>
            </a:endParaRPr>
          </a:p>
        </p:txBody>
      </p:sp>
      <p:sp>
        <p:nvSpPr>
          <p:cNvPr id="15" name="文本框 14">
            <a:extLst>
              <a:ext uri="{FF2B5EF4-FFF2-40B4-BE49-F238E27FC236}">
                <a16:creationId xmlns:a16="http://schemas.microsoft.com/office/drawing/2014/main" id="{EF322994-19D1-AB52-24DF-028074299CCA}"/>
              </a:ext>
            </a:extLst>
          </p:cNvPr>
          <p:cNvSpPr txBox="1"/>
          <p:nvPr/>
        </p:nvSpPr>
        <p:spPr>
          <a:xfrm>
            <a:off x="5946634" y="5065072"/>
            <a:ext cx="2025406" cy="830997"/>
          </a:xfrm>
          <a:prstGeom prst="rect">
            <a:avLst/>
          </a:prstGeom>
          <a:noFill/>
          <a:ln>
            <a:noFill/>
          </a:ln>
        </p:spPr>
        <p:txBody>
          <a:bodyPr wrap="square" rtlCol="0">
            <a:spAutoFit/>
          </a:bodyPr>
          <a:lstStyle/>
          <a:p>
            <a:pPr algn="l"/>
            <a:r>
              <a:rPr kumimoji="0" lang="zh-CN" altLang="en-US" sz="160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存取</a:t>
            </a:r>
            <a:r>
              <a:rPr lang="zh-CN" altLang="en-US" sz="1600" dirty="0">
                <a:solidFill>
                  <a:schemeClr val="accent3">
                    <a:lumMod val="75000"/>
                  </a:schemeClr>
                </a:solidFill>
                <a:latin typeface="杨任东竹石体-Bold" panose="02000000000000000000" pitchFamily="2" charset="-122"/>
                <a:ea typeface="杨任东竹石体-Bold" panose="02000000000000000000" pitchFamily="2" charset="-122"/>
                <a:cs typeface="阿里巴巴普惠体" panose="00020600040101010101" pitchFamily="18" charset="-122"/>
              </a:rPr>
              <a:t>无</a:t>
            </a:r>
            <a:r>
              <a:rPr kumimoji="0" lang="zh-CN" altLang="en-US" sz="160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序</a:t>
            </a:r>
          </a:p>
          <a:p>
            <a:pPr algn="l"/>
            <a:r>
              <a:rPr lang="zh-CN" altLang="en-US" sz="1600" dirty="0">
                <a:solidFill>
                  <a:schemeClr val="accent3">
                    <a:lumMod val="75000"/>
                  </a:schemeClr>
                </a:solidFill>
                <a:latin typeface="杨任东竹石体-Bold" panose="02000000000000000000" pitchFamily="2" charset="-122"/>
                <a:ea typeface="杨任东竹石体-Bold" panose="02000000000000000000" pitchFamily="2" charset="-122"/>
                <a:cs typeface="阿里巴巴普惠体" panose="00020600040101010101" pitchFamily="18" charset="-122"/>
              </a:rPr>
              <a:t>没有</a:t>
            </a:r>
            <a:r>
              <a:rPr kumimoji="0" lang="zh-CN" altLang="en-US" sz="160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索引</a:t>
            </a:r>
          </a:p>
          <a:p>
            <a:pPr algn="l"/>
            <a:r>
              <a:rPr kumimoji="0" lang="zh-CN" altLang="en-US" sz="160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不可以存储重复的</a:t>
            </a:r>
          </a:p>
        </p:txBody>
      </p:sp>
      <p:sp>
        <p:nvSpPr>
          <p:cNvPr id="16" name="矩形: 圆角 15">
            <a:extLst>
              <a:ext uri="{FF2B5EF4-FFF2-40B4-BE49-F238E27FC236}">
                <a16:creationId xmlns:a16="http://schemas.microsoft.com/office/drawing/2014/main" id="{A5799708-8FC5-DD3F-F099-7F5C266A91E2}"/>
              </a:ext>
            </a:extLst>
          </p:cNvPr>
          <p:cNvSpPr/>
          <p:nvPr/>
        </p:nvSpPr>
        <p:spPr>
          <a:xfrm>
            <a:off x="9265147" y="3010079"/>
            <a:ext cx="1491612" cy="530454"/>
          </a:xfrm>
          <a:prstGeom prst="roundRect">
            <a:avLst/>
          </a:prstGeom>
          <a:solidFill>
            <a:schemeClr val="bg2">
              <a:lumMod val="5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err="1">
                <a:latin typeface="杨任东竹石体-Bold" panose="02000000000000000000" pitchFamily="2" charset="-122"/>
                <a:ea typeface="杨任东竹石体-Bold" panose="02000000000000000000" pitchFamily="2" charset="-122"/>
              </a:rPr>
              <a:t>TreeMap</a:t>
            </a:r>
            <a:endParaRPr lang="zh-CN" altLang="en-US" sz="2000" dirty="0">
              <a:latin typeface="杨任东竹石体-Bold" panose="02000000000000000000" pitchFamily="2" charset="-122"/>
              <a:ea typeface="杨任东竹石体-Bold" panose="02000000000000000000" pitchFamily="2" charset="-122"/>
            </a:endParaRPr>
          </a:p>
        </p:txBody>
      </p:sp>
      <p:sp>
        <p:nvSpPr>
          <p:cNvPr id="17" name="矩形: 圆角 16">
            <a:extLst>
              <a:ext uri="{FF2B5EF4-FFF2-40B4-BE49-F238E27FC236}">
                <a16:creationId xmlns:a16="http://schemas.microsoft.com/office/drawing/2014/main" id="{4FCD1BA7-B731-4464-D659-4430CA4BC41F}"/>
              </a:ext>
            </a:extLst>
          </p:cNvPr>
          <p:cNvSpPr/>
          <p:nvPr/>
        </p:nvSpPr>
        <p:spPr>
          <a:xfrm>
            <a:off x="9265147" y="4207037"/>
            <a:ext cx="1491612" cy="530454"/>
          </a:xfrm>
          <a:prstGeom prst="roundRect">
            <a:avLst/>
          </a:prstGeom>
          <a:solidFill>
            <a:srgbClr val="C00000"/>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a:latin typeface="杨任东竹石体-Bold" panose="02000000000000000000" pitchFamily="2" charset="-122"/>
                <a:ea typeface="杨任东竹石体-Bold" panose="02000000000000000000" pitchFamily="2" charset="-122"/>
              </a:rPr>
              <a:t>HashMap</a:t>
            </a:r>
            <a:endParaRPr lang="zh-CN" altLang="en-US" sz="2000" dirty="0">
              <a:latin typeface="杨任东竹石体-Bold" panose="02000000000000000000" pitchFamily="2" charset="-122"/>
              <a:ea typeface="杨任东竹石体-Bold" panose="02000000000000000000" pitchFamily="2" charset="-122"/>
            </a:endParaRPr>
          </a:p>
        </p:txBody>
      </p:sp>
      <p:sp>
        <p:nvSpPr>
          <p:cNvPr id="18" name="矩形: 圆角 17">
            <a:extLst>
              <a:ext uri="{FF2B5EF4-FFF2-40B4-BE49-F238E27FC236}">
                <a16:creationId xmlns:a16="http://schemas.microsoft.com/office/drawing/2014/main" id="{BAC4E52D-F6F9-20B7-B02C-96A47273826A}"/>
              </a:ext>
            </a:extLst>
          </p:cNvPr>
          <p:cNvSpPr/>
          <p:nvPr/>
        </p:nvSpPr>
        <p:spPr>
          <a:xfrm>
            <a:off x="9190659" y="5376516"/>
            <a:ext cx="1823080" cy="530454"/>
          </a:xfrm>
          <a:prstGeom prst="roundRect">
            <a:avLst/>
          </a:prstGeom>
          <a:solidFill>
            <a:schemeClr val="accent3">
              <a:lumMod val="60000"/>
              <a:lumOff val="4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err="1">
                <a:latin typeface="杨任东竹石体-Bold" panose="02000000000000000000" pitchFamily="2" charset="-122"/>
                <a:ea typeface="杨任东竹石体-Bold" panose="02000000000000000000" pitchFamily="2" charset="-122"/>
              </a:rPr>
              <a:t>LinkedHashMap</a:t>
            </a:r>
            <a:endParaRPr lang="zh-CN" altLang="en-US" sz="2000" dirty="0">
              <a:latin typeface="杨任东竹石体-Bold" panose="02000000000000000000" pitchFamily="2" charset="-122"/>
              <a:ea typeface="杨任东竹石体-Bold" panose="02000000000000000000" pitchFamily="2" charset="-122"/>
            </a:endParaRPr>
          </a:p>
        </p:txBody>
      </p:sp>
      <p:sp>
        <p:nvSpPr>
          <p:cNvPr id="19" name="矩形: 圆角 18">
            <a:extLst>
              <a:ext uri="{FF2B5EF4-FFF2-40B4-BE49-F238E27FC236}">
                <a16:creationId xmlns:a16="http://schemas.microsoft.com/office/drawing/2014/main" id="{1DFD8D72-4F0D-C966-D201-C019AA366E94}"/>
              </a:ext>
            </a:extLst>
          </p:cNvPr>
          <p:cNvSpPr/>
          <p:nvPr/>
        </p:nvSpPr>
        <p:spPr>
          <a:xfrm>
            <a:off x="8336200" y="1186766"/>
            <a:ext cx="3572698" cy="5381985"/>
          </a:xfrm>
          <a:custGeom>
            <a:avLst/>
            <a:gdLst>
              <a:gd name="connsiteX0" fmla="*/ 0 w 3572698"/>
              <a:gd name="connsiteY0" fmla="*/ 595462 h 5381985"/>
              <a:gd name="connsiteX1" fmla="*/ 595462 w 3572698"/>
              <a:gd name="connsiteY1" fmla="*/ 0 h 5381985"/>
              <a:gd name="connsiteX2" fmla="*/ 1238541 w 3572698"/>
              <a:gd name="connsiteY2" fmla="*/ 0 h 5381985"/>
              <a:gd name="connsiteX3" fmla="*/ 1810167 w 3572698"/>
              <a:gd name="connsiteY3" fmla="*/ 0 h 5381985"/>
              <a:gd name="connsiteX4" fmla="*/ 2357975 w 3572698"/>
              <a:gd name="connsiteY4" fmla="*/ 0 h 5381985"/>
              <a:gd name="connsiteX5" fmla="*/ 2977236 w 3572698"/>
              <a:gd name="connsiteY5" fmla="*/ 0 h 5381985"/>
              <a:gd name="connsiteX6" fmla="*/ 3572698 w 3572698"/>
              <a:gd name="connsiteY6" fmla="*/ 595462 h 5381985"/>
              <a:gd name="connsiteX7" fmla="*/ 3572698 w 3572698"/>
              <a:gd name="connsiteY7" fmla="*/ 1293972 h 5381985"/>
              <a:gd name="connsiteX8" fmla="*/ 3572698 w 3572698"/>
              <a:gd name="connsiteY8" fmla="*/ 2076304 h 5381985"/>
              <a:gd name="connsiteX9" fmla="*/ 3572698 w 3572698"/>
              <a:gd name="connsiteY9" fmla="*/ 2649082 h 5381985"/>
              <a:gd name="connsiteX10" fmla="*/ 3572698 w 3572698"/>
              <a:gd name="connsiteY10" fmla="*/ 3347592 h 5381985"/>
              <a:gd name="connsiteX11" fmla="*/ 3572698 w 3572698"/>
              <a:gd name="connsiteY11" fmla="*/ 4046102 h 5381985"/>
              <a:gd name="connsiteX12" fmla="*/ 3572698 w 3572698"/>
              <a:gd name="connsiteY12" fmla="*/ 4786523 h 5381985"/>
              <a:gd name="connsiteX13" fmla="*/ 2977236 w 3572698"/>
              <a:gd name="connsiteY13" fmla="*/ 5381985 h 5381985"/>
              <a:gd name="connsiteX14" fmla="*/ 2381793 w 3572698"/>
              <a:gd name="connsiteY14" fmla="*/ 5381985 h 5381985"/>
              <a:gd name="connsiteX15" fmla="*/ 1786349 w 3572698"/>
              <a:gd name="connsiteY15" fmla="*/ 5381985 h 5381985"/>
              <a:gd name="connsiteX16" fmla="*/ 1143270 w 3572698"/>
              <a:gd name="connsiteY16" fmla="*/ 5381985 h 5381985"/>
              <a:gd name="connsiteX17" fmla="*/ 595462 w 3572698"/>
              <a:gd name="connsiteY17" fmla="*/ 5381985 h 5381985"/>
              <a:gd name="connsiteX18" fmla="*/ 0 w 3572698"/>
              <a:gd name="connsiteY18" fmla="*/ 4786523 h 5381985"/>
              <a:gd name="connsiteX19" fmla="*/ 0 w 3572698"/>
              <a:gd name="connsiteY19" fmla="*/ 4171834 h 5381985"/>
              <a:gd name="connsiteX20" fmla="*/ 0 w 3572698"/>
              <a:gd name="connsiteY20" fmla="*/ 3473324 h 5381985"/>
              <a:gd name="connsiteX21" fmla="*/ 0 w 3572698"/>
              <a:gd name="connsiteY21" fmla="*/ 2858635 h 5381985"/>
              <a:gd name="connsiteX22" fmla="*/ 0 w 3572698"/>
              <a:gd name="connsiteY22" fmla="*/ 2160125 h 5381985"/>
              <a:gd name="connsiteX23" fmla="*/ 0 w 3572698"/>
              <a:gd name="connsiteY23" fmla="*/ 1587346 h 5381985"/>
              <a:gd name="connsiteX24" fmla="*/ 0 w 3572698"/>
              <a:gd name="connsiteY24" fmla="*/ 595462 h 5381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72698" h="5381985" extrusionOk="0">
                <a:moveTo>
                  <a:pt x="0" y="595462"/>
                </a:moveTo>
                <a:cubicBezTo>
                  <a:pt x="-62866" y="227820"/>
                  <a:pt x="238531" y="10534"/>
                  <a:pt x="595462" y="0"/>
                </a:cubicBezTo>
                <a:cubicBezTo>
                  <a:pt x="882775" y="-30026"/>
                  <a:pt x="957294" y="-29626"/>
                  <a:pt x="1238541" y="0"/>
                </a:cubicBezTo>
                <a:cubicBezTo>
                  <a:pt x="1519788" y="29626"/>
                  <a:pt x="1692490" y="-26544"/>
                  <a:pt x="1810167" y="0"/>
                </a:cubicBezTo>
                <a:cubicBezTo>
                  <a:pt x="1927844" y="26544"/>
                  <a:pt x="2091563" y="-7694"/>
                  <a:pt x="2357975" y="0"/>
                </a:cubicBezTo>
                <a:cubicBezTo>
                  <a:pt x="2624387" y="7694"/>
                  <a:pt x="2742884" y="2125"/>
                  <a:pt x="2977236" y="0"/>
                </a:cubicBezTo>
                <a:cubicBezTo>
                  <a:pt x="3312542" y="-13256"/>
                  <a:pt x="3561749" y="264920"/>
                  <a:pt x="3572698" y="595462"/>
                </a:cubicBezTo>
                <a:cubicBezTo>
                  <a:pt x="3576082" y="894213"/>
                  <a:pt x="3548758" y="1131890"/>
                  <a:pt x="3572698" y="1293972"/>
                </a:cubicBezTo>
                <a:cubicBezTo>
                  <a:pt x="3596639" y="1456054"/>
                  <a:pt x="3561724" y="1908347"/>
                  <a:pt x="3572698" y="2076304"/>
                </a:cubicBezTo>
                <a:cubicBezTo>
                  <a:pt x="3583672" y="2244261"/>
                  <a:pt x="3577122" y="2384621"/>
                  <a:pt x="3572698" y="2649082"/>
                </a:cubicBezTo>
                <a:cubicBezTo>
                  <a:pt x="3568274" y="2913543"/>
                  <a:pt x="3587699" y="3164550"/>
                  <a:pt x="3572698" y="3347592"/>
                </a:cubicBezTo>
                <a:cubicBezTo>
                  <a:pt x="3557698" y="3530634"/>
                  <a:pt x="3577746" y="3887095"/>
                  <a:pt x="3572698" y="4046102"/>
                </a:cubicBezTo>
                <a:cubicBezTo>
                  <a:pt x="3567651" y="4205109"/>
                  <a:pt x="3573370" y="4421555"/>
                  <a:pt x="3572698" y="4786523"/>
                </a:cubicBezTo>
                <a:cubicBezTo>
                  <a:pt x="3615001" y="5167206"/>
                  <a:pt x="3342937" y="5349733"/>
                  <a:pt x="2977236" y="5381985"/>
                </a:cubicBezTo>
                <a:cubicBezTo>
                  <a:pt x="2741032" y="5377966"/>
                  <a:pt x="2540494" y="5368616"/>
                  <a:pt x="2381793" y="5381985"/>
                </a:cubicBezTo>
                <a:cubicBezTo>
                  <a:pt x="2223092" y="5395354"/>
                  <a:pt x="1957219" y="5394336"/>
                  <a:pt x="1786349" y="5381985"/>
                </a:cubicBezTo>
                <a:cubicBezTo>
                  <a:pt x="1615479" y="5369634"/>
                  <a:pt x="1310198" y="5368162"/>
                  <a:pt x="1143270" y="5381985"/>
                </a:cubicBezTo>
                <a:cubicBezTo>
                  <a:pt x="976342" y="5395808"/>
                  <a:pt x="743715" y="5365588"/>
                  <a:pt x="595462" y="5381985"/>
                </a:cubicBezTo>
                <a:cubicBezTo>
                  <a:pt x="248430" y="5414468"/>
                  <a:pt x="22512" y="5132116"/>
                  <a:pt x="0" y="4786523"/>
                </a:cubicBezTo>
                <a:cubicBezTo>
                  <a:pt x="-19748" y="4534801"/>
                  <a:pt x="26873" y="4443154"/>
                  <a:pt x="0" y="4171834"/>
                </a:cubicBezTo>
                <a:cubicBezTo>
                  <a:pt x="-26873" y="3900514"/>
                  <a:pt x="-22344" y="3782403"/>
                  <a:pt x="0" y="3473324"/>
                </a:cubicBezTo>
                <a:cubicBezTo>
                  <a:pt x="22344" y="3164245"/>
                  <a:pt x="-16686" y="3162249"/>
                  <a:pt x="0" y="2858635"/>
                </a:cubicBezTo>
                <a:cubicBezTo>
                  <a:pt x="16686" y="2555021"/>
                  <a:pt x="-11225" y="2479578"/>
                  <a:pt x="0" y="2160125"/>
                </a:cubicBezTo>
                <a:cubicBezTo>
                  <a:pt x="11225" y="1840672"/>
                  <a:pt x="-10672" y="1865335"/>
                  <a:pt x="0" y="1587346"/>
                </a:cubicBezTo>
                <a:cubicBezTo>
                  <a:pt x="10672" y="1309357"/>
                  <a:pt x="6260" y="983270"/>
                  <a:pt x="0" y="595462"/>
                </a:cubicBezTo>
                <a:close/>
              </a:path>
            </a:pathLst>
          </a:custGeom>
          <a:noFill/>
          <a:ln w="25400">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B4203962-DC4B-548D-EC6F-E894E5C2E544}"/>
              </a:ext>
            </a:extLst>
          </p:cNvPr>
          <p:cNvSpPr/>
          <p:nvPr/>
        </p:nvSpPr>
        <p:spPr>
          <a:xfrm>
            <a:off x="8459303" y="1406069"/>
            <a:ext cx="4146618" cy="400110"/>
          </a:xfrm>
          <a:prstGeom prst="rect">
            <a:avLst/>
          </a:prstGeom>
          <a:noFill/>
        </p:spPr>
        <p:txBody>
          <a:bodyPr wrap="square" lIns="91440" tIns="45720" rIns="91440" bIns="45720">
            <a:spAutoFit/>
          </a:bodyPr>
          <a:lstStyle/>
          <a:p>
            <a:r>
              <a:rPr lang="zh-CN" altLang="en-US" sz="2000" b="1" dirty="0">
                <a:ln w="9525">
                  <a:solidFill>
                    <a:schemeClr val="bg1"/>
                  </a:solidFill>
                  <a:prstDash val="solid"/>
                </a:ln>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双</a:t>
            </a:r>
            <a:r>
              <a:rPr lang="zh-CN" alt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列集合 </a:t>
            </a:r>
            <a:r>
              <a:rPr lang="en-US" altLang="zh-CN"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2000" b="1" dirty="0">
                <a:ln w="9525">
                  <a:solidFill>
                    <a:schemeClr val="bg1"/>
                  </a:solidFill>
                  <a:prstDash val="solid"/>
                </a:ln>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一次添加两个元素</a:t>
            </a:r>
            <a:endParaRPr lang="zh-CN" alt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0" name="标题 9">
            <a:extLst>
              <a:ext uri="{FF2B5EF4-FFF2-40B4-BE49-F238E27FC236}">
                <a16:creationId xmlns:a16="http://schemas.microsoft.com/office/drawing/2014/main" id="{DAE1FD20-0479-9F39-045C-63453B6A4B04}"/>
              </a:ext>
            </a:extLst>
          </p:cNvPr>
          <p:cNvSpPr>
            <a:spLocks noGrp="1"/>
          </p:cNvSpPr>
          <p:nvPr>
            <p:ph type="title"/>
          </p:nvPr>
        </p:nvSpPr>
        <p:spPr>
          <a:xfrm>
            <a:off x="578124" y="299625"/>
            <a:ext cx="10737020" cy="474415"/>
          </a:xfrm>
        </p:spPr>
        <p:txBody>
          <a:bodyPr/>
          <a:lstStyle/>
          <a:p>
            <a:r>
              <a:rPr lang="en-US" altLang="zh-CN" dirty="0"/>
              <a:t> </a:t>
            </a:r>
            <a:endParaRPr lang="zh-CN" altLang="en-US" dirty="0"/>
          </a:p>
        </p:txBody>
      </p:sp>
      <p:sp>
        <p:nvSpPr>
          <p:cNvPr id="22" name="矩形 21">
            <a:extLst>
              <a:ext uri="{FF2B5EF4-FFF2-40B4-BE49-F238E27FC236}">
                <a16:creationId xmlns:a16="http://schemas.microsoft.com/office/drawing/2014/main" id="{87F99856-E67D-3128-1319-3AC85F4C1444}"/>
              </a:ext>
            </a:extLst>
          </p:cNvPr>
          <p:cNvSpPr/>
          <p:nvPr/>
        </p:nvSpPr>
        <p:spPr>
          <a:xfrm>
            <a:off x="8734188" y="1880386"/>
            <a:ext cx="2776722" cy="923330"/>
          </a:xfrm>
          <a:prstGeom prst="rect">
            <a:avLst/>
          </a:prstGeom>
          <a:noFill/>
        </p:spPr>
        <p:txBody>
          <a:bodyPr wrap="none" lIns="91440" tIns="45720" rIns="91440" bIns="45720">
            <a:spAutoFit/>
          </a:bodyPr>
          <a:lstStyle/>
          <a:p>
            <a:pPr algn="ctr"/>
            <a:r>
              <a:rPr lang="en-US" altLang="zh-CN"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杨任东竹石体-Heavy" panose="02000000000000000000" pitchFamily="2" charset="-122"/>
                <a:ea typeface="杨任东竹石体-Heavy" panose="02000000000000000000" pitchFamily="2" charset="-122"/>
              </a:rPr>
              <a:t>Map </a:t>
            </a:r>
            <a:r>
              <a:rPr lang="zh-CN" alt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杨任东竹石体-Heavy" panose="02000000000000000000" pitchFamily="2" charset="-122"/>
                <a:ea typeface="杨任东竹石体-Heavy" panose="02000000000000000000" pitchFamily="2" charset="-122"/>
              </a:rPr>
              <a:t>接口</a:t>
            </a:r>
          </a:p>
        </p:txBody>
      </p:sp>
      <p:sp>
        <p:nvSpPr>
          <p:cNvPr id="26" name="矩形 25">
            <a:extLst>
              <a:ext uri="{FF2B5EF4-FFF2-40B4-BE49-F238E27FC236}">
                <a16:creationId xmlns:a16="http://schemas.microsoft.com/office/drawing/2014/main" id="{2C21BB11-6067-235E-3444-A93B67FAAF77}"/>
              </a:ext>
            </a:extLst>
          </p:cNvPr>
          <p:cNvSpPr/>
          <p:nvPr/>
        </p:nvSpPr>
        <p:spPr>
          <a:xfrm>
            <a:off x="835825" y="1652894"/>
            <a:ext cx="4046299" cy="923330"/>
          </a:xfrm>
          <a:prstGeom prst="rect">
            <a:avLst/>
          </a:prstGeom>
          <a:noFill/>
        </p:spPr>
        <p:txBody>
          <a:bodyPr wrap="none" lIns="91440" tIns="45720" rIns="91440" bIns="45720">
            <a:spAutoFit/>
          </a:bodyPr>
          <a:lstStyle/>
          <a:p>
            <a:pPr algn="ctr"/>
            <a:r>
              <a:rPr lang="en-US" altLang="zh-CN"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杨任东竹石体-Heavy" panose="02000000000000000000" pitchFamily="2" charset="-122"/>
                <a:ea typeface="杨任东竹石体-Heavy" panose="02000000000000000000" pitchFamily="2" charset="-122"/>
              </a:rPr>
              <a:t>Collection </a:t>
            </a:r>
            <a:r>
              <a:rPr lang="zh-CN" alt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杨任东竹石体-Heavy" panose="02000000000000000000" pitchFamily="2" charset="-122"/>
                <a:ea typeface="杨任东竹石体-Heavy" panose="02000000000000000000" pitchFamily="2" charset="-122"/>
              </a:rPr>
              <a:t>接口</a:t>
            </a:r>
          </a:p>
        </p:txBody>
      </p:sp>
    </p:spTree>
    <p:extLst>
      <p:ext uri="{BB962C8B-B14F-4D97-AF65-F5344CB8AC3E}">
        <p14:creationId xmlns:p14="http://schemas.microsoft.com/office/powerpoint/2010/main" val="13999976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300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par>
                                <p:cTn id="8" presetID="26" presetClass="emph" presetSubtype="0" repeatCount="3000" fill="hold" grpId="0" nodeType="withEffect">
                                  <p:stCondLst>
                                    <p:cond delay="0"/>
                                  </p:stCondLst>
                                  <p:childTnLst>
                                    <p:animEffect transition="out" filter="fade">
                                      <p:cBhvr>
                                        <p:cTn id="9" dur="500" tmFilter="0, 0; .2, .5; .8, .5; 1, 0"/>
                                        <p:tgtEl>
                                          <p:spTgt spid="5"/>
                                        </p:tgtEl>
                                      </p:cBhvr>
                                    </p:animEffect>
                                    <p:animScale>
                                      <p:cBhvr>
                                        <p:cTn id="10" dur="250" autoRev="1" fill="hold"/>
                                        <p:tgtEl>
                                          <p:spTgt spid="5"/>
                                        </p:tgtEl>
                                      </p:cBhvr>
                                      <p:by x="105000" y="105000"/>
                                    </p:animScale>
                                  </p:childTnLst>
                                </p:cTn>
                              </p:par>
                              <p:par>
                                <p:cTn id="11" presetID="26" presetClass="emph" presetSubtype="0" repeatCount="3000" fill="hold" grpId="0" nodeType="withEffect">
                                  <p:stCondLst>
                                    <p:cond delay="0"/>
                                  </p:stCondLst>
                                  <p:childTnLst>
                                    <p:animEffect transition="out" filter="fade">
                                      <p:cBhvr>
                                        <p:cTn id="12" dur="500" tmFilter="0, 0; .2, .5; .8, .5; 1, 0"/>
                                        <p:tgtEl>
                                          <p:spTgt spid="7"/>
                                        </p:tgtEl>
                                      </p:cBhvr>
                                    </p:animEffect>
                                    <p:animScale>
                                      <p:cBhvr>
                                        <p:cTn id="13" dur="250" autoRev="1" fill="hold"/>
                                        <p:tgtEl>
                                          <p:spTgt spid="7"/>
                                        </p:tgtEl>
                                      </p:cBhvr>
                                      <p:by x="105000" y="105000"/>
                                    </p:animScale>
                                  </p:childTnLst>
                                </p:cTn>
                              </p:par>
                              <p:par>
                                <p:cTn id="14" presetID="26" presetClass="emph" presetSubtype="0" repeatCount="3000" fill="hold" grpId="0" nodeType="withEffect">
                                  <p:stCondLst>
                                    <p:cond delay="0"/>
                                  </p:stCondLst>
                                  <p:childTnLst>
                                    <p:animEffect transition="out" filter="fade">
                                      <p:cBhvr>
                                        <p:cTn id="15" dur="500" tmFilter="0, 0; .2, .5; .8, .5; 1, 0"/>
                                        <p:tgtEl>
                                          <p:spTgt spid="3"/>
                                        </p:tgtEl>
                                      </p:cBhvr>
                                    </p:animEffect>
                                    <p:animScale>
                                      <p:cBhvr>
                                        <p:cTn id="16" dur="250" autoRev="1" fill="hold"/>
                                        <p:tgtEl>
                                          <p:spTgt spid="3"/>
                                        </p:tgtEl>
                                      </p:cBhvr>
                                      <p:by x="105000" y="105000"/>
                                    </p:animScale>
                                  </p:childTnLst>
                                </p:cTn>
                              </p:par>
                              <p:par>
                                <p:cTn id="17" presetID="26" presetClass="emph" presetSubtype="0" repeatCount="3000" fill="hold" grpId="0" nodeType="withEffect">
                                  <p:stCondLst>
                                    <p:cond delay="0"/>
                                  </p:stCondLst>
                                  <p:childTnLst>
                                    <p:animEffect transition="out" filter="fade">
                                      <p:cBhvr>
                                        <p:cTn id="18" dur="500" tmFilter="0, 0; .2, .5; .8, .5; 1, 0"/>
                                        <p:tgtEl>
                                          <p:spTgt spid="8"/>
                                        </p:tgtEl>
                                      </p:cBhvr>
                                    </p:animEffect>
                                    <p:animScale>
                                      <p:cBhvr>
                                        <p:cTn id="19" dur="250" autoRev="1" fill="hold"/>
                                        <p:tgtEl>
                                          <p:spTgt spid="8"/>
                                        </p:tgtEl>
                                      </p:cBhvr>
                                      <p:by x="105000" y="105000"/>
                                    </p:animScale>
                                  </p:childTnLst>
                                </p:cTn>
                              </p:par>
                              <p:par>
                                <p:cTn id="20" presetID="26" presetClass="emph" presetSubtype="0" repeatCount="3000" fill="hold" grpId="0" nodeType="withEffect">
                                  <p:stCondLst>
                                    <p:cond delay="0"/>
                                  </p:stCondLst>
                                  <p:childTnLst>
                                    <p:animEffect transition="out" filter="fade">
                                      <p:cBhvr>
                                        <p:cTn id="21" dur="500" tmFilter="0, 0; .2, .5; .8, .5; 1, 0"/>
                                        <p:tgtEl>
                                          <p:spTgt spid="26"/>
                                        </p:tgtEl>
                                      </p:cBhvr>
                                    </p:animEffect>
                                    <p:animScale>
                                      <p:cBhvr>
                                        <p:cTn id="22" dur="250" autoRev="1" fill="hold"/>
                                        <p:tgtEl>
                                          <p:spTgt spid="2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3" grpId="0"/>
      <p:bldP spid="8" grpId="0"/>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9520F1A-77B2-0C7D-E557-AC00D33EEE8F}"/>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660B0315-BD43-28B8-32A5-3B981E6F8E00}"/>
              </a:ext>
            </a:extLst>
          </p:cNvPr>
          <p:cNvSpPr>
            <a:spLocks noGrp="1"/>
          </p:cNvSpPr>
          <p:nvPr>
            <p:ph type="body" sz="quarter" idx="10"/>
          </p:nvPr>
        </p:nvSpPr>
        <p:spPr>
          <a:xfrm>
            <a:off x="5982521" y="2505975"/>
            <a:ext cx="4410730" cy="1956553"/>
          </a:xfrm>
        </p:spPr>
        <p:txBody>
          <a:bodyPr/>
          <a:lstStyle/>
          <a:p>
            <a:r>
              <a:rPr kumimoji="1" lang="en-US" altLang="zh-CN" dirty="0">
                <a:latin typeface="Consolas" panose="020B0609020204030204" pitchFamily="49" charset="0"/>
              </a:rPr>
              <a:t>Set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TreeSet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HashSet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LinkedHashSet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Collections </a:t>
            </a:r>
            <a:r>
              <a:rPr kumimoji="1" lang="zh-CN" altLang="en-US" dirty="0">
                <a:latin typeface="Consolas" panose="020B0609020204030204" pitchFamily="49" charset="0"/>
              </a:rPr>
              <a:t>工具类</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集合三种遍历方式</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集合的实现类</a:t>
            </a:r>
            <a:endParaRPr kumimoji="1" lang="en-US" altLang="zh-CN" dirty="0">
              <a:latin typeface="Consolas" panose="020B0609020204030204" pitchFamily="49" charset="0"/>
            </a:endParaRPr>
          </a:p>
        </p:txBody>
      </p:sp>
    </p:spTree>
    <p:extLst>
      <p:ext uri="{BB962C8B-B14F-4D97-AF65-F5344CB8AC3E}">
        <p14:creationId xmlns:p14="http://schemas.microsoft.com/office/powerpoint/2010/main" val="1740740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85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stCondLst>
                                            <p:cond delay="0"/>
                                          </p:stCondLst>
                                        </p:cTn>
                                        <p:tgtEl>
                                          <p:spTgt spid="2"/>
                                        </p:tgtEl>
                                      </p:cBhvr>
                                    </p:animEffect>
                                    <p:anim to="0" calcmode="lin" valueType="num">
                                      <p:cBhvr>
                                        <p:cTn id="8" dur="500" fill="hold">
                                          <p:stCondLst>
                                            <p:cond delay="0"/>
                                          </p:stCondLst>
                                        </p:cTn>
                                        <p:tgtEl>
                                          <p:spTgt spid="2"/>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3D502-5479-DC1A-26E2-E22B80A2313D}"/>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718FAA6D-5E74-1D60-6799-026EB0309E02}"/>
              </a:ext>
            </a:extLst>
          </p:cNvPr>
          <p:cNvSpPr>
            <a:spLocks noGrp="1"/>
          </p:cNvSpPr>
          <p:nvPr>
            <p:ph type="body" sz="quarter" idx="13"/>
          </p:nvPr>
        </p:nvSpPr>
        <p:spPr>
          <a:xfrm>
            <a:off x="5834080" y="2465278"/>
            <a:ext cx="4831831" cy="901700"/>
          </a:xfrm>
        </p:spPr>
        <p:txBody>
          <a:bodyPr/>
          <a:lstStyle/>
          <a:p>
            <a:r>
              <a:rPr lang="en-US" altLang="zh-CN" dirty="0"/>
              <a:t>Set </a:t>
            </a:r>
            <a:r>
              <a:rPr lang="zh-CN" altLang="en-US" dirty="0"/>
              <a:t>集合介绍</a:t>
            </a:r>
          </a:p>
        </p:txBody>
      </p:sp>
      <p:sp>
        <p:nvSpPr>
          <p:cNvPr id="10" name="文本占位符 9">
            <a:extLst>
              <a:ext uri="{FF2B5EF4-FFF2-40B4-BE49-F238E27FC236}">
                <a16:creationId xmlns:a16="http://schemas.microsoft.com/office/drawing/2014/main" id="{50F43639-225F-ACE2-F093-515629ABCF8A}"/>
              </a:ext>
            </a:extLst>
          </p:cNvPr>
          <p:cNvSpPr>
            <a:spLocks noGrp="1"/>
          </p:cNvSpPr>
          <p:nvPr>
            <p:ph type="body" sz="quarter" idx="14"/>
          </p:nvPr>
        </p:nvSpPr>
        <p:spPr/>
        <p:txBody>
          <a:bodyPr/>
          <a:lstStyle/>
          <a:p>
            <a:r>
              <a:rPr lang="en-US" altLang="zh-CN" dirty="0"/>
              <a:t>1</a:t>
            </a:r>
            <a:endParaRPr lang="zh-CN" altLang="en-US" dirty="0"/>
          </a:p>
        </p:txBody>
      </p:sp>
    </p:spTree>
    <p:extLst>
      <p:ext uri="{BB962C8B-B14F-4D97-AF65-F5344CB8AC3E}">
        <p14:creationId xmlns:p14="http://schemas.microsoft.com/office/powerpoint/2010/main" val="80469705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C21E09-B90B-B546-E9BB-50BADA3E989A}"/>
              </a:ext>
            </a:extLst>
          </p:cNvPr>
          <p:cNvSpPr>
            <a:spLocks noGrp="1"/>
          </p:cNvSpPr>
          <p:nvPr>
            <p:ph type="title"/>
          </p:nvPr>
        </p:nvSpPr>
        <p:spPr/>
        <p:txBody>
          <a:bodyPr/>
          <a:lstStyle/>
          <a:p>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Set </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集合介绍</a:t>
            </a:r>
            <a:endParaRPr lang="zh-CN" altLang="en-US" dirty="0"/>
          </a:p>
        </p:txBody>
      </p:sp>
      <p:sp>
        <p:nvSpPr>
          <p:cNvPr id="3" name="矩形: 圆角 2">
            <a:extLst>
              <a:ext uri="{FF2B5EF4-FFF2-40B4-BE49-F238E27FC236}">
                <a16:creationId xmlns:a16="http://schemas.microsoft.com/office/drawing/2014/main" id="{79EBA296-41E0-ED73-FF1F-D1411C945E64}"/>
              </a:ext>
            </a:extLst>
          </p:cNvPr>
          <p:cNvSpPr/>
          <p:nvPr/>
        </p:nvSpPr>
        <p:spPr>
          <a:xfrm>
            <a:off x="902209" y="3010079"/>
            <a:ext cx="1327807" cy="387243"/>
          </a:xfrm>
          <a:prstGeom prst="roundRect">
            <a:avLst/>
          </a:prstGeom>
          <a:solidFill>
            <a:schemeClr val="accent6">
              <a:lumMod val="60000"/>
              <a:lumOff val="4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err="1">
                <a:latin typeface="杨任东竹石体-Bold" panose="02000000000000000000" pitchFamily="2" charset="-122"/>
                <a:ea typeface="杨任东竹石体-Bold" panose="02000000000000000000" pitchFamily="2" charset="-122"/>
              </a:rPr>
              <a:t>ArrayList</a:t>
            </a:r>
            <a:endParaRPr lang="zh-CN" altLang="en-US" sz="1600" dirty="0">
              <a:latin typeface="杨任东竹石体-Bold" panose="02000000000000000000" pitchFamily="2" charset="-122"/>
              <a:ea typeface="杨任东竹石体-Bold" panose="02000000000000000000" pitchFamily="2" charset="-122"/>
            </a:endParaRPr>
          </a:p>
        </p:txBody>
      </p:sp>
      <p:sp>
        <p:nvSpPr>
          <p:cNvPr id="5" name="矩形: 圆角 4">
            <a:extLst>
              <a:ext uri="{FF2B5EF4-FFF2-40B4-BE49-F238E27FC236}">
                <a16:creationId xmlns:a16="http://schemas.microsoft.com/office/drawing/2014/main" id="{22D24122-D582-FBD7-C0AD-CBDD11059707}"/>
              </a:ext>
            </a:extLst>
          </p:cNvPr>
          <p:cNvSpPr/>
          <p:nvPr/>
        </p:nvSpPr>
        <p:spPr>
          <a:xfrm>
            <a:off x="2516078" y="3010079"/>
            <a:ext cx="1327807" cy="387243"/>
          </a:xfrm>
          <a:prstGeom prst="roundRect">
            <a:avLst/>
          </a:prstGeom>
          <a:solidFill>
            <a:schemeClr val="accent5">
              <a:lumMod val="60000"/>
              <a:lumOff val="4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a:latin typeface="杨任东竹石体-Bold" panose="02000000000000000000" pitchFamily="2" charset="-122"/>
                <a:ea typeface="杨任东竹石体-Bold" panose="02000000000000000000" pitchFamily="2" charset="-122"/>
              </a:rPr>
              <a:t>LinkedList</a:t>
            </a:r>
            <a:endParaRPr lang="zh-CN" altLang="en-US" sz="1600" dirty="0">
              <a:latin typeface="杨任东竹石体-Bold" panose="02000000000000000000" pitchFamily="2" charset="-122"/>
              <a:ea typeface="杨任东竹石体-Bold" panose="02000000000000000000" pitchFamily="2" charset="-122"/>
            </a:endParaRPr>
          </a:p>
        </p:txBody>
      </p:sp>
      <p:sp>
        <p:nvSpPr>
          <p:cNvPr id="6" name="矩形: 圆角 5">
            <a:extLst>
              <a:ext uri="{FF2B5EF4-FFF2-40B4-BE49-F238E27FC236}">
                <a16:creationId xmlns:a16="http://schemas.microsoft.com/office/drawing/2014/main" id="{F37E07DD-4012-8540-6B48-B1103EF1B6AD}"/>
              </a:ext>
            </a:extLst>
          </p:cNvPr>
          <p:cNvSpPr/>
          <p:nvPr/>
        </p:nvSpPr>
        <p:spPr>
          <a:xfrm>
            <a:off x="902209" y="5105352"/>
            <a:ext cx="1327807" cy="387243"/>
          </a:xfrm>
          <a:prstGeom prst="roundRect">
            <a:avLst/>
          </a:prstGeom>
          <a:solidFill>
            <a:schemeClr val="accent1">
              <a:lumMod val="40000"/>
              <a:lumOff val="6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err="1">
                <a:latin typeface="杨任东竹石体-Bold" panose="02000000000000000000" pitchFamily="2" charset="-122"/>
                <a:ea typeface="杨任东竹石体-Bold" panose="02000000000000000000" pitchFamily="2" charset="-122"/>
              </a:rPr>
              <a:t>TreeSet</a:t>
            </a:r>
            <a:endParaRPr lang="zh-CN" altLang="en-US" sz="1600" dirty="0">
              <a:latin typeface="杨任东竹石体-Bold" panose="02000000000000000000" pitchFamily="2" charset="-122"/>
              <a:ea typeface="杨任东竹石体-Bold" panose="02000000000000000000" pitchFamily="2" charset="-122"/>
            </a:endParaRPr>
          </a:p>
        </p:txBody>
      </p:sp>
      <p:sp>
        <p:nvSpPr>
          <p:cNvPr id="7" name="矩形: 圆角 6">
            <a:extLst>
              <a:ext uri="{FF2B5EF4-FFF2-40B4-BE49-F238E27FC236}">
                <a16:creationId xmlns:a16="http://schemas.microsoft.com/office/drawing/2014/main" id="{49C36D2D-BF49-66E3-3D8D-761E95CA4FD2}"/>
              </a:ext>
            </a:extLst>
          </p:cNvPr>
          <p:cNvSpPr/>
          <p:nvPr/>
        </p:nvSpPr>
        <p:spPr>
          <a:xfrm>
            <a:off x="2516078" y="5105352"/>
            <a:ext cx="1327807" cy="387243"/>
          </a:xfrm>
          <a:prstGeom prst="roundRect">
            <a:avLst/>
          </a:prstGeom>
          <a:solidFill>
            <a:schemeClr val="tx1">
              <a:lumMod val="75000"/>
              <a:lumOff val="25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a:latin typeface="杨任东竹石体-Bold" panose="02000000000000000000" pitchFamily="2" charset="-122"/>
                <a:ea typeface="杨任东竹石体-Bold" panose="02000000000000000000" pitchFamily="2" charset="-122"/>
              </a:rPr>
              <a:t>HashSet</a:t>
            </a:r>
            <a:endParaRPr lang="zh-CN" altLang="en-US" sz="1600" dirty="0">
              <a:latin typeface="杨任东竹石体-Bold" panose="02000000000000000000" pitchFamily="2" charset="-122"/>
              <a:ea typeface="杨任东竹石体-Bold" panose="02000000000000000000" pitchFamily="2" charset="-122"/>
            </a:endParaRPr>
          </a:p>
        </p:txBody>
      </p:sp>
      <p:sp>
        <p:nvSpPr>
          <p:cNvPr id="8" name="矩形: 圆角 7">
            <a:extLst>
              <a:ext uri="{FF2B5EF4-FFF2-40B4-BE49-F238E27FC236}">
                <a16:creationId xmlns:a16="http://schemas.microsoft.com/office/drawing/2014/main" id="{08A27007-A697-44AB-42ED-B7C93B6E7F34}"/>
              </a:ext>
            </a:extLst>
          </p:cNvPr>
          <p:cNvSpPr/>
          <p:nvPr/>
        </p:nvSpPr>
        <p:spPr>
          <a:xfrm>
            <a:off x="4173455" y="5105352"/>
            <a:ext cx="1622875" cy="387243"/>
          </a:xfrm>
          <a:prstGeom prst="roundRect">
            <a:avLst/>
          </a:prstGeom>
          <a:solidFill>
            <a:schemeClr val="bg1">
              <a:lumMod val="75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err="1">
                <a:latin typeface="杨任东竹石体-Bold" panose="02000000000000000000" pitchFamily="2" charset="-122"/>
                <a:ea typeface="杨任东竹石体-Bold" panose="02000000000000000000" pitchFamily="2" charset="-122"/>
              </a:rPr>
              <a:t>LinkedHashSet</a:t>
            </a:r>
            <a:endParaRPr lang="zh-CN" altLang="en-US" sz="1600" dirty="0">
              <a:latin typeface="杨任东竹石体-Bold" panose="02000000000000000000" pitchFamily="2" charset="-122"/>
              <a:ea typeface="杨任东竹石体-Bold" panose="02000000000000000000" pitchFamily="2" charset="-122"/>
            </a:endParaRPr>
          </a:p>
        </p:txBody>
      </p:sp>
      <p:sp>
        <p:nvSpPr>
          <p:cNvPr id="9" name="矩形: 圆角 8">
            <a:extLst>
              <a:ext uri="{FF2B5EF4-FFF2-40B4-BE49-F238E27FC236}">
                <a16:creationId xmlns:a16="http://schemas.microsoft.com/office/drawing/2014/main" id="{A68A9465-E94D-FDAB-2650-4076718B404B}"/>
              </a:ext>
            </a:extLst>
          </p:cNvPr>
          <p:cNvSpPr/>
          <p:nvPr/>
        </p:nvSpPr>
        <p:spPr>
          <a:xfrm>
            <a:off x="385743" y="1186766"/>
            <a:ext cx="7806536" cy="5262465"/>
          </a:xfrm>
          <a:custGeom>
            <a:avLst/>
            <a:gdLst>
              <a:gd name="connsiteX0" fmla="*/ 0 w 7806536"/>
              <a:gd name="connsiteY0" fmla="*/ 877095 h 5262465"/>
              <a:gd name="connsiteX1" fmla="*/ 877095 w 7806536"/>
              <a:gd name="connsiteY1" fmla="*/ 0 h 5262465"/>
              <a:gd name="connsiteX2" fmla="*/ 1670625 w 7806536"/>
              <a:gd name="connsiteY2" fmla="*/ 0 h 5262465"/>
              <a:gd name="connsiteX3" fmla="*/ 2282584 w 7806536"/>
              <a:gd name="connsiteY3" fmla="*/ 0 h 5262465"/>
              <a:gd name="connsiteX4" fmla="*/ 2834020 w 7806536"/>
              <a:gd name="connsiteY4" fmla="*/ 0 h 5262465"/>
              <a:gd name="connsiteX5" fmla="*/ 3567027 w 7806536"/>
              <a:gd name="connsiteY5" fmla="*/ 0 h 5262465"/>
              <a:gd name="connsiteX6" fmla="*/ 4178986 w 7806536"/>
              <a:gd name="connsiteY6" fmla="*/ 0 h 5262465"/>
              <a:gd name="connsiteX7" fmla="*/ 4972516 w 7806536"/>
              <a:gd name="connsiteY7" fmla="*/ 0 h 5262465"/>
              <a:gd name="connsiteX8" fmla="*/ 5523952 w 7806536"/>
              <a:gd name="connsiteY8" fmla="*/ 0 h 5262465"/>
              <a:gd name="connsiteX9" fmla="*/ 6317482 w 7806536"/>
              <a:gd name="connsiteY9" fmla="*/ 0 h 5262465"/>
              <a:gd name="connsiteX10" fmla="*/ 6929441 w 7806536"/>
              <a:gd name="connsiteY10" fmla="*/ 0 h 5262465"/>
              <a:gd name="connsiteX11" fmla="*/ 7806536 w 7806536"/>
              <a:gd name="connsiteY11" fmla="*/ 877095 h 5262465"/>
              <a:gd name="connsiteX12" fmla="*/ 7806536 w 7806536"/>
              <a:gd name="connsiteY12" fmla="*/ 1496890 h 5262465"/>
              <a:gd name="connsiteX13" fmla="*/ 7806536 w 7806536"/>
              <a:gd name="connsiteY13" fmla="*/ 2151768 h 5262465"/>
              <a:gd name="connsiteX14" fmla="*/ 7806536 w 7806536"/>
              <a:gd name="connsiteY14" fmla="*/ 2806646 h 5262465"/>
              <a:gd name="connsiteX15" fmla="*/ 7806536 w 7806536"/>
              <a:gd name="connsiteY15" fmla="*/ 3321193 h 5262465"/>
              <a:gd name="connsiteX16" fmla="*/ 7806536 w 7806536"/>
              <a:gd name="connsiteY16" fmla="*/ 4385370 h 5262465"/>
              <a:gd name="connsiteX17" fmla="*/ 6929441 w 7806536"/>
              <a:gd name="connsiteY17" fmla="*/ 5262465 h 5262465"/>
              <a:gd name="connsiteX18" fmla="*/ 6196435 w 7806536"/>
              <a:gd name="connsiteY18" fmla="*/ 5262465 h 5262465"/>
              <a:gd name="connsiteX19" fmla="*/ 5644999 w 7806536"/>
              <a:gd name="connsiteY19" fmla="*/ 5262465 h 5262465"/>
              <a:gd name="connsiteX20" fmla="*/ 4851469 w 7806536"/>
              <a:gd name="connsiteY20" fmla="*/ 5262465 h 5262465"/>
              <a:gd name="connsiteX21" fmla="*/ 4178986 w 7806536"/>
              <a:gd name="connsiteY21" fmla="*/ 5262465 h 5262465"/>
              <a:gd name="connsiteX22" fmla="*/ 3627550 w 7806536"/>
              <a:gd name="connsiteY22" fmla="*/ 5262465 h 5262465"/>
              <a:gd name="connsiteX23" fmla="*/ 2955067 w 7806536"/>
              <a:gd name="connsiteY23" fmla="*/ 5262465 h 5262465"/>
              <a:gd name="connsiteX24" fmla="*/ 2464155 w 7806536"/>
              <a:gd name="connsiteY24" fmla="*/ 5262465 h 5262465"/>
              <a:gd name="connsiteX25" fmla="*/ 1973242 w 7806536"/>
              <a:gd name="connsiteY25" fmla="*/ 5262465 h 5262465"/>
              <a:gd name="connsiteX26" fmla="*/ 877095 w 7806536"/>
              <a:gd name="connsiteY26" fmla="*/ 5262465 h 5262465"/>
              <a:gd name="connsiteX27" fmla="*/ 0 w 7806536"/>
              <a:gd name="connsiteY27" fmla="*/ 4385370 h 5262465"/>
              <a:gd name="connsiteX28" fmla="*/ 0 w 7806536"/>
              <a:gd name="connsiteY28" fmla="*/ 3905906 h 5262465"/>
              <a:gd name="connsiteX29" fmla="*/ 0 w 7806536"/>
              <a:gd name="connsiteY29" fmla="*/ 3286111 h 5262465"/>
              <a:gd name="connsiteX30" fmla="*/ 0 w 7806536"/>
              <a:gd name="connsiteY30" fmla="*/ 2806646 h 5262465"/>
              <a:gd name="connsiteX31" fmla="*/ 0 w 7806536"/>
              <a:gd name="connsiteY31" fmla="*/ 2186851 h 5262465"/>
              <a:gd name="connsiteX32" fmla="*/ 0 w 7806536"/>
              <a:gd name="connsiteY32" fmla="*/ 1672304 h 5262465"/>
              <a:gd name="connsiteX33" fmla="*/ 0 w 7806536"/>
              <a:gd name="connsiteY33" fmla="*/ 877095 h 5262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806536" h="5262465" extrusionOk="0">
                <a:moveTo>
                  <a:pt x="0" y="877095"/>
                </a:moveTo>
                <a:cubicBezTo>
                  <a:pt x="-33192" y="372215"/>
                  <a:pt x="334325" y="21905"/>
                  <a:pt x="877095" y="0"/>
                </a:cubicBezTo>
                <a:cubicBezTo>
                  <a:pt x="1061863" y="-38095"/>
                  <a:pt x="1340489" y="10504"/>
                  <a:pt x="1670625" y="0"/>
                </a:cubicBezTo>
                <a:cubicBezTo>
                  <a:pt x="2000761" y="-10504"/>
                  <a:pt x="2014785" y="-11002"/>
                  <a:pt x="2282584" y="0"/>
                </a:cubicBezTo>
                <a:cubicBezTo>
                  <a:pt x="2550383" y="11002"/>
                  <a:pt x="2660480" y="10845"/>
                  <a:pt x="2834020" y="0"/>
                </a:cubicBezTo>
                <a:cubicBezTo>
                  <a:pt x="3007560" y="-10845"/>
                  <a:pt x="3365258" y="5345"/>
                  <a:pt x="3567027" y="0"/>
                </a:cubicBezTo>
                <a:cubicBezTo>
                  <a:pt x="3768796" y="-5345"/>
                  <a:pt x="3922787" y="-28292"/>
                  <a:pt x="4178986" y="0"/>
                </a:cubicBezTo>
                <a:cubicBezTo>
                  <a:pt x="4435185" y="28292"/>
                  <a:pt x="4750818" y="26284"/>
                  <a:pt x="4972516" y="0"/>
                </a:cubicBezTo>
                <a:cubicBezTo>
                  <a:pt x="5194214" y="-26284"/>
                  <a:pt x="5304310" y="15156"/>
                  <a:pt x="5523952" y="0"/>
                </a:cubicBezTo>
                <a:cubicBezTo>
                  <a:pt x="5743594" y="-15156"/>
                  <a:pt x="6027450" y="2606"/>
                  <a:pt x="6317482" y="0"/>
                </a:cubicBezTo>
                <a:cubicBezTo>
                  <a:pt x="6607514" y="-2606"/>
                  <a:pt x="6780207" y="30481"/>
                  <a:pt x="6929441" y="0"/>
                </a:cubicBezTo>
                <a:cubicBezTo>
                  <a:pt x="7322618" y="-5218"/>
                  <a:pt x="7827297" y="335756"/>
                  <a:pt x="7806536" y="877095"/>
                </a:cubicBezTo>
                <a:cubicBezTo>
                  <a:pt x="7830719" y="1012978"/>
                  <a:pt x="7830467" y="1295002"/>
                  <a:pt x="7806536" y="1496890"/>
                </a:cubicBezTo>
                <a:cubicBezTo>
                  <a:pt x="7782605" y="1698778"/>
                  <a:pt x="7792035" y="1965871"/>
                  <a:pt x="7806536" y="2151768"/>
                </a:cubicBezTo>
                <a:cubicBezTo>
                  <a:pt x="7821037" y="2337665"/>
                  <a:pt x="7818652" y="2570921"/>
                  <a:pt x="7806536" y="2806646"/>
                </a:cubicBezTo>
                <a:cubicBezTo>
                  <a:pt x="7794420" y="3042371"/>
                  <a:pt x="7811711" y="3078637"/>
                  <a:pt x="7806536" y="3321193"/>
                </a:cubicBezTo>
                <a:cubicBezTo>
                  <a:pt x="7801361" y="3563749"/>
                  <a:pt x="7799180" y="3909611"/>
                  <a:pt x="7806536" y="4385370"/>
                </a:cubicBezTo>
                <a:cubicBezTo>
                  <a:pt x="7772844" y="4801097"/>
                  <a:pt x="7415549" y="5239440"/>
                  <a:pt x="6929441" y="5262465"/>
                </a:cubicBezTo>
                <a:cubicBezTo>
                  <a:pt x="6664769" y="5277937"/>
                  <a:pt x="6423134" y="5285928"/>
                  <a:pt x="6196435" y="5262465"/>
                </a:cubicBezTo>
                <a:cubicBezTo>
                  <a:pt x="5969736" y="5239002"/>
                  <a:pt x="5866957" y="5270308"/>
                  <a:pt x="5644999" y="5262465"/>
                </a:cubicBezTo>
                <a:cubicBezTo>
                  <a:pt x="5423041" y="5254622"/>
                  <a:pt x="5124348" y="5235171"/>
                  <a:pt x="4851469" y="5262465"/>
                </a:cubicBezTo>
                <a:cubicBezTo>
                  <a:pt x="4578590" y="5289760"/>
                  <a:pt x="4373821" y="5236343"/>
                  <a:pt x="4178986" y="5262465"/>
                </a:cubicBezTo>
                <a:cubicBezTo>
                  <a:pt x="3984151" y="5288587"/>
                  <a:pt x="3764762" y="5262880"/>
                  <a:pt x="3627550" y="5262465"/>
                </a:cubicBezTo>
                <a:cubicBezTo>
                  <a:pt x="3490338" y="5262050"/>
                  <a:pt x="3165279" y="5291123"/>
                  <a:pt x="2955067" y="5262465"/>
                </a:cubicBezTo>
                <a:cubicBezTo>
                  <a:pt x="2744855" y="5233807"/>
                  <a:pt x="2580409" y="5267646"/>
                  <a:pt x="2464155" y="5262465"/>
                </a:cubicBezTo>
                <a:cubicBezTo>
                  <a:pt x="2347901" y="5257284"/>
                  <a:pt x="2118456" y="5252758"/>
                  <a:pt x="1973242" y="5262465"/>
                </a:cubicBezTo>
                <a:cubicBezTo>
                  <a:pt x="1828028" y="5272172"/>
                  <a:pt x="1151615" y="5239441"/>
                  <a:pt x="877095" y="5262465"/>
                </a:cubicBezTo>
                <a:cubicBezTo>
                  <a:pt x="404060" y="5266445"/>
                  <a:pt x="31421" y="4975613"/>
                  <a:pt x="0" y="4385370"/>
                </a:cubicBezTo>
                <a:cubicBezTo>
                  <a:pt x="5768" y="4190872"/>
                  <a:pt x="-18208" y="4007013"/>
                  <a:pt x="0" y="3905906"/>
                </a:cubicBezTo>
                <a:cubicBezTo>
                  <a:pt x="18208" y="3804799"/>
                  <a:pt x="-12945" y="3486428"/>
                  <a:pt x="0" y="3286111"/>
                </a:cubicBezTo>
                <a:cubicBezTo>
                  <a:pt x="12945" y="3085794"/>
                  <a:pt x="-9393" y="2914490"/>
                  <a:pt x="0" y="2806646"/>
                </a:cubicBezTo>
                <a:cubicBezTo>
                  <a:pt x="9393" y="2698803"/>
                  <a:pt x="-1361" y="2411310"/>
                  <a:pt x="0" y="2186851"/>
                </a:cubicBezTo>
                <a:cubicBezTo>
                  <a:pt x="1361" y="1962392"/>
                  <a:pt x="-12314" y="1839115"/>
                  <a:pt x="0" y="1672304"/>
                </a:cubicBezTo>
                <a:cubicBezTo>
                  <a:pt x="12314" y="1505493"/>
                  <a:pt x="15501" y="1166507"/>
                  <a:pt x="0" y="877095"/>
                </a:cubicBezTo>
                <a:close/>
              </a:path>
            </a:pathLst>
          </a:custGeom>
          <a:noFill/>
          <a:ln w="25400">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CE0C141-7546-944C-37C2-D31652A37AA7}"/>
              </a:ext>
            </a:extLst>
          </p:cNvPr>
          <p:cNvSpPr/>
          <p:nvPr/>
        </p:nvSpPr>
        <p:spPr>
          <a:xfrm>
            <a:off x="835825" y="1271714"/>
            <a:ext cx="4102405" cy="461665"/>
          </a:xfrm>
          <a:prstGeom prst="rect">
            <a:avLst/>
          </a:prstGeom>
          <a:noFill/>
        </p:spPr>
        <p:txBody>
          <a:bodyPr wrap="none" lIns="91440" tIns="45720" rIns="91440" bIns="45720">
            <a:spAutoFit/>
          </a:bodyPr>
          <a:lstStyle/>
          <a:p>
            <a:r>
              <a:rPr lang="zh-CN" altLang="en-US"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单列集合 </a:t>
            </a:r>
            <a:r>
              <a:rPr lang="en-US" altLang="zh-CN"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一次添加一个元素</a:t>
            </a:r>
          </a:p>
        </p:txBody>
      </p:sp>
      <p:sp>
        <p:nvSpPr>
          <p:cNvPr id="11" name="矩形: 圆角 10">
            <a:extLst>
              <a:ext uri="{FF2B5EF4-FFF2-40B4-BE49-F238E27FC236}">
                <a16:creationId xmlns:a16="http://schemas.microsoft.com/office/drawing/2014/main" id="{1B55BE6D-73BD-5B5D-739A-9D02AE7002CA}"/>
              </a:ext>
            </a:extLst>
          </p:cNvPr>
          <p:cNvSpPr/>
          <p:nvPr/>
        </p:nvSpPr>
        <p:spPr>
          <a:xfrm>
            <a:off x="709126" y="2585558"/>
            <a:ext cx="5087204" cy="1586204"/>
          </a:xfrm>
          <a:custGeom>
            <a:avLst/>
            <a:gdLst>
              <a:gd name="connsiteX0" fmla="*/ 0 w 5087204"/>
              <a:gd name="connsiteY0" fmla="*/ 264373 h 1586204"/>
              <a:gd name="connsiteX1" fmla="*/ 264373 w 5087204"/>
              <a:gd name="connsiteY1" fmla="*/ 0 h 1586204"/>
              <a:gd name="connsiteX2" fmla="*/ 1006750 w 5087204"/>
              <a:gd name="connsiteY2" fmla="*/ 0 h 1586204"/>
              <a:gd name="connsiteX3" fmla="*/ 1612374 w 5087204"/>
              <a:gd name="connsiteY3" fmla="*/ 0 h 1586204"/>
              <a:gd name="connsiteX4" fmla="*/ 2172413 w 5087204"/>
              <a:gd name="connsiteY4" fmla="*/ 0 h 1586204"/>
              <a:gd name="connsiteX5" fmla="*/ 2869206 w 5087204"/>
              <a:gd name="connsiteY5" fmla="*/ 0 h 1586204"/>
              <a:gd name="connsiteX6" fmla="*/ 3474830 w 5087204"/>
              <a:gd name="connsiteY6" fmla="*/ 0 h 1586204"/>
              <a:gd name="connsiteX7" fmla="*/ 4217207 w 5087204"/>
              <a:gd name="connsiteY7" fmla="*/ 0 h 1586204"/>
              <a:gd name="connsiteX8" fmla="*/ 4822831 w 5087204"/>
              <a:gd name="connsiteY8" fmla="*/ 0 h 1586204"/>
              <a:gd name="connsiteX9" fmla="*/ 5087204 w 5087204"/>
              <a:gd name="connsiteY9" fmla="*/ 264373 h 1586204"/>
              <a:gd name="connsiteX10" fmla="*/ 5087204 w 5087204"/>
              <a:gd name="connsiteY10" fmla="*/ 771953 h 1586204"/>
              <a:gd name="connsiteX11" fmla="*/ 5087204 w 5087204"/>
              <a:gd name="connsiteY11" fmla="*/ 1321831 h 1586204"/>
              <a:gd name="connsiteX12" fmla="*/ 4822831 w 5087204"/>
              <a:gd name="connsiteY12" fmla="*/ 1586204 h 1586204"/>
              <a:gd name="connsiteX13" fmla="*/ 4171623 w 5087204"/>
              <a:gd name="connsiteY13" fmla="*/ 1586204 h 1586204"/>
              <a:gd name="connsiteX14" fmla="*/ 3611584 w 5087204"/>
              <a:gd name="connsiteY14" fmla="*/ 1586204 h 1586204"/>
              <a:gd name="connsiteX15" fmla="*/ 2960375 w 5087204"/>
              <a:gd name="connsiteY15" fmla="*/ 1586204 h 1586204"/>
              <a:gd name="connsiteX16" fmla="*/ 2217998 w 5087204"/>
              <a:gd name="connsiteY16" fmla="*/ 1586204 h 1586204"/>
              <a:gd name="connsiteX17" fmla="*/ 1566790 w 5087204"/>
              <a:gd name="connsiteY17" fmla="*/ 1586204 h 1586204"/>
              <a:gd name="connsiteX18" fmla="*/ 1052335 w 5087204"/>
              <a:gd name="connsiteY18" fmla="*/ 1586204 h 1586204"/>
              <a:gd name="connsiteX19" fmla="*/ 264373 w 5087204"/>
              <a:gd name="connsiteY19" fmla="*/ 1586204 h 1586204"/>
              <a:gd name="connsiteX20" fmla="*/ 0 w 5087204"/>
              <a:gd name="connsiteY20" fmla="*/ 1321831 h 1586204"/>
              <a:gd name="connsiteX21" fmla="*/ 0 w 5087204"/>
              <a:gd name="connsiteY21" fmla="*/ 803677 h 1586204"/>
              <a:gd name="connsiteX22" fmla="*/ 0 w 5087204"/>
              <a:gd name="connsiteY22" fmla="*/ 264373 h 158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87204" h="1586204" extrusionOk="0">
                <a:moveTo>
                  <a:pt x="0" y="264373"/>
                </a:moveTo>
                <a:cubicBezTo>
                  <a:pt x="-15608" y="108737"/>
                  <a:pt x="109934" y="3164"/>
                  <a:pt x="264373" y="0"/>
                </a:cubicBezTo>
                <a:cubicBezTo>
                  <a:pt x="528455" y="-6249"/>
                  <a:pt x="727034" y="4565"/>
                  <a:pt x="1006750" y="0"/>
                </a:cubicBezTo>
                <a:cubicBezTo>
                  <a:pt x="1286466" y="-4565"/>
                  <a:pt x="1425966" y="13801"/>
                  <a:pt x="1612374" y="0"/>
                </a:cubicBezTo>
                <a:cubicBezTo>
                  <a:pt x="1798782" y="-13801"/>
                  <a:pt x="1997406" y="-9643"/>
                  <a:pt x="2172413" y="0"/>
                </a:cubicBezTo>
                <a:cubicBezTo>
                  <a:pt x="2347420" y="9643"/>
                  <a:pt x="2542628" y="-27196"/>
                  <a:pt x="2869206" y="0"/>
                </a:cubicBezTo>
                <a:cubicBezTo>
                  <a:pt x="3195784" y="27196"/>
                  <a:pt x="3185242" y="-2420"/>
                  <a:pt x="3474830" y="0"/>
                </a:cubicBezTo>
                <a:cubicBezTo>
                  <a:pt x="3764418" y="2420"/>
                  <a:pt x="3852837" y="15953"/>
                  <a:pt x="4217207" y="0"/>
                </a:cubicBezTo>
                <a:cubicBezTo>
                  <a:pt x="4581577" y="-15953"/>
                  <a:pt x="4552169" y="9134"/>
                  <a:pt x="4822831" y="0"/>
                </a:cubicBezTo>
                <a:cubicBezTo>
                  <a:pt x="4959497" y="15455"/>
                  <a:pt x="5080151" y="110184"/>
                  <a:pt x="5087204" y="264373"/>
                </a:cubicBezTo>
                <a:cubicBezTo>
                  <a:pt x="5099580" y="414671"/>
                  <a:pt x="5084629" y="658862"/>
                  <a:pt x="5087204" y="771953"/>
                </a:cubicBezTo>
                <a:cubicBezTo>
                  <a:pt x="5089779" y="885044"/>
                  <a:pt x="5081201" y="1209456"/>
                  <a:pt x="5087204" y="1321831"/>
                </a:cubicBezTo>
                <a:cubicBezTo>
                  <a:pt x="5093375" y="1461742"/>
                  <a:pt x="4972853" y="1583617"/>
                  <a:pt x="4822831" y="1586204"/>
                </a:cubicBezTo>
                <a:cubicBezTo>
                  <a:pt x="4530988" y="1558584"/>
                  <a:pt x="4426089" y="1605126"/>
                  <a:pt x="4171623" y="1586204"/>
                </a:cubicBezTo>
                <a:cubicBezTo>
                  <a:pt x="3917157" y="1567282"/>
                  <a:pt x="3871482" y="1602477"/>
                  <a:pt x="3611584" y="1586204"/>
                </a:cubicBezTo>
                <a:cubicBezTo>
                  <a:pt x="3351686" y="1569931"/>
                  <a:pt x="3163026" y="1575232"/>
                  <a:pt x="2960375" y="1586204"/>
                </a:cubicBezTo>
                <a:cubicBezTo>
                  <a:pt x="2757724" y="1597176"/>
                  <a:pt x="2534367" y="1556190"/>
                  <a:pt x="2217998" y="1586204"/>
                </a:cubicBezTo>
                <a:cubicBezTo>
                  <a:pt x="1901629" y="1616218"/>
                  <a:pt x="1835977" y="1588286"/>
                  <a:pt x="1566790" y="1586204"/>
                </a:cubicBezTo>
                <a:cubicBezTo>
                  <a:pt x="1297603" y="1584122"/>
                  <a:pt x="1204094" y="1566707"/>
                  <a:pt x="1052335" y="1586204"/>
                </a:cubicBezTo>
                <a:cubicBezTo>
                  <a:pt x="900576" y="1605701"/>
                  <a:pt x="460952" y="1590006"/>
                  <a:pt x="264373" y="1586204"/>
                </a:cubicBezTo>
                <a:cubicBezTo>
                  <a:pt x="135133" y="1576257"/>
                  <a:pt x="-2315" y="1471516"/>
                  <a:pt x="0" y="1321831"/>
                </a:cubicBezTo>
                <a:cubicBezTo>
                  <a:pt x="14399" y="1217616"/>
                  <a:pt x="20846" y="924371"/>
                  <a:pt x="0" y="803677"/>
                </a:cubicBezTo>
                <a:cubicBezTo>
                  <a:pt x="-20846" y="682983"/>
                  <a:pt x="-17529" y="504428"/>
                  <a:pt x="0" y="264373"/>
                </a:cubicBezTo>
                <a:close/>
              </a:path>
            </a:pathLst>
          </a:custGeom>
          <a:noFill/>
          <a:ln w="25400">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1637D3B5-605E-35F0-ADA9-7FA15BC14B85}"/>
              </a:ext>
            </a:extLst>
          </p:cNvPr>
          <p:cNvSpPr/>
          <p:nvPr/>
        </p:nvSpPr>
        <p:spPr>
          <a:xfrm>
            <a:off x="709127" y="4506612"/>
            <a:ext cx="7122618" cy="1577348"/>
          </a:xfrm>
          <a:custGeom>
            <a:avLst/>
            <a:gdLst>
              <a:gd name="connsiteX0" fmla="*/ 0 w 7122618"/>
              <a:gd name="connsiteY0" fmla="*/ 262897 h 1577348"/>
              <a:gd name="connsiteX1" fmla="*/ 262897 w 7122618"/>
              <a:gd name="connsiteY1" fmla="*/ 0 h 1577348"/>
              <a:gd name="connsiteX2" fmla="*/ 1054516 w 7122618"/>
              <a:gd name="connsiteY2" fmla="*/ 0 h 1577348"/>
              <a:gd name="connsiteX3" fmla="*/ 1648230 w 7122618"/>
              <a:gd name="connsiteY3" fmla="*/ 0 h 1577348"/>
              <a:gd name="connsiteX4" fmla="*/ 2175976 w 7122618"/>
              <a:gd name="connsiteY4" fmla="*/ 0 h 1577348"/>
              <a:gd name="connsiteX5" fmla="*/ 2901627 w 7122618"/>
              <a:gd name="connsiteY5" fmla="*/ 0 h 1577348"/>
              <a:gd name="connsiteX6" fmla="*/ 3495341 w 7122618"/>
              <a:gd name="connsiteY6" fmla="*/ 0 h 1577348"/>
              <a:gd name="connsiteX7" fmla="*/ 4286960 w 7122618"/>
              <a:gd name="connsiteY7" fmla="*/ 0 h 1577348"/>
              <a:gd name="connsiteX8" fmla="*/ 4814706 w 7122618"/>
              <a:gd name="connsiteY8" fmla="*/ 0 h 1577348"/>
              <a:gd name="connsiteX9" fmla="*/ 5606324 w 7122618"/>
              <a:gd name="connsiteY9" fmla="*/ 0 h 1577348"/>
              <a:gd name="connsiteX10" fmla="*/ 6068102 w 7122618"/>
              <a:gd name="connsiteY10" fmla="*/ 0 h 1577348"/>
              <a:gd name="connsiteX11" fmla="*/ 6859721 w 7122618"/>
              <a:gd name="connsiteY11" fmla="*/ 0 h 1577348"/>
              <a:gd name="connsiteX12" fmla="*/ 7122618 w 7122618"/>
              <a:gd name="connsiteY12" fmla="*/ 262897 h 1577348"/>
              <a:gd name="connsiteX13" fmla="*/ 7122618 w 7122618"/>
              <a:gd name="connsiteY13" fmla="*/ 757127 h 1577348"/>
              <a:gd name="connsiteX14" fmla="*/ 7122618 w 7122618"/>
              <a:gd name="connsiteY14" fmla="*/ 1314451 h 1577348"/>
              <a:gd name="connsiteX15" fmla="*/ 6859721 w 7122618"/>
              <a:gd name="connsiteY15" fmla="*/ 1577348 h 1577348"/>
              <a:gd name="connsiteX16" fmla="*/ 6134070 w 7122618"/>
              <a:gd name="connsiteY16" fmla="*/ 1577348 h 1577348"/>
              <a:gd name="connsiteX17" fmla="*/ 5474388 w 7122618"/>
              <a:gd name="connsiteY17" fmla="*/ 1577348 h 1577348"/>
              <a:gd name="connsiteX18" fmla="*/ 5012610 w 7122618"/>
              <a:gd name="connsiteY18" fmla="*/ 1577348 h 1577348"/>
              <a:gd name="connsiteX19" fmla="*/ 4484864 w 7122618"/>
              <a:gd name="connsiteY19" fmla="*/ 1577348 h 1577348"/>
              <a:gd name="connsiteX20" fmla="*/ 3693245 w 7122618"/>
              <a:gd name="connsiteY20" fmla="*/ 1577348 h 1577348"/>
              <a:gd name="connsiteX21" fmla="*/ 3033563 w 7122618"/>
              <a:gd name="connsiteY21" fmla="*/ 1577348 h 1577348"/>
              <a:gd name="connsiteX22" fmla="*/ 2505817 w 7122618"/>
              <a:gd name="connsiteY22" fmla="*/ 1577348 h 1577348"/>
              <a:gd name="connsiteX23" fmla="*/ 1846135 w 7122618"/>
              <a:gd name="connsiteY23" fmla="*/ 1577348 h 1577348"/>
              <a:gd name="connsiteX24" fmla="*/ 1384357 w 7122618"/>
              <a:gd name="connsiteY24" fmla="*/ 1577348 h 1577348"/>
              <a:gd name="connsiteX25" fmla="*/ 922579 w 7122618"/>
              <a:gd name="connsiteY25" fmla="*/ 1577348 h 1577348"/>
              <a:gd name="connsiteX26" fmla="*/ 262897 w 7122618"/>
              <a:gd name="connsiteY26" fmla="*/ 1577348 h 1577348"/>
              <a:gd name="connsiteX27" fmla="*/ 0 w 7122618"/>
              <a:gd name="connsiteY27" fmla="*/ 1314451 h 1577348"/>
              <a:gd name="connsiteX28" fmla="*/ 0 w 7122618"/>
              <a:gd name="connsiteY28" fmla="*/ 820221 h 1577348"/>
              <a:gd name="connsiteX29" fmla="*/ 0 w 7122618"/>
              <a:gd name="connsiteY29" fmla="*/ 262897 h 157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122618" h="1577348" extrusionOk="0">
                <a:moveTo>
                  <a:pt x="0" y="262897"/>
                </a:moveTo>
                <a:cubicBezTo>
                  <a:pt x="-22580" y="103775"/>
                  <a:pt x="112634" y="1902"/>
                  <a:pt x="262897" y="0"/>
                </a:cubicBezTo>
                <a:cubicBezTo>
                  <a:pt x="491214" y="-8303"/>
                  <a:pt x="836494" y="-37714"/>
                  <a:pt x="1054516" y="0"/>
                </a:cubicBezTo>
                <a:cubicBezTo>
                  <a:pt x="1272538" y="37714"/>
                  <a:pt x="1436082" y="-29270"/>
                  <a:pt x="1648230" y="0"/>
                </a:cubicBezTo>
                <a:cubicBezTo>
                  <a:pt x="1860378" y="29270"/>
                  <a:pt x="1994154" y="-25214"/>
                  <a:pt x="2175976" y="0"/>
                </a:cubicBezTo>
                <a:cubicBezTo>
                  <a:pt x="2357798" y="25214"/>
                  <a:pt x="2738735" y="-19607"/>
                  <a:pt x="2901627" y="0"/>
                </a:cubicBezTo>
                <a:cubicBezTo>
                  <a:pt x="3064519" y="19607"/>
                  <a:pt x="3252248" y="13437"/>
                  <a:pt x="3495341" y="0"/>
                </a:cubicBezTo>
                <a:cubicBezTo>
                  <a:pt x="3738434" y="-13437"/>
                  <a:pt x="4080584" y="15123"/>
                  <a:pt x="4286960" y="0"/>
                </a:cubicBezTo>
                <a:cubicBezTo>
                  <a:pt x="4493336" y="-15123"/>
                  <a:pt x="4622736" y="-20101"/>
                  <a:pt x="4814706" y="0"/>
                </a:cubicBezTo>
                <a:cubicBezTo>
                  <a:pt x="5006676" y="20101"/>
                  <a:pt x="5400866" y="-28257"/>
                  <a:pt x="5606324" y="0"/>
                </a:cubicBezTo>
                <a:cubicBezTo>
                  <a:pt x="5811782" y="28257"/>
                  <a:pt x="5895341" y="2590"/>
                  <a:pt x="6068102" y="0"/>
                </a:cubicBezTo>
                <a:cubicBezTo>
                  <a:pt x="6240863" y="-2590"/>
                  <a:pt x="6603164" y="6435"/>
                  <a:pt x="6859721" y="0"/>
                </a:cubicBezTo>
                <a:cubicBezTo>
                  <a:pt x="7007941" y="4505"/>
                  <a:pt x="7125626" y="148861"/>
                  <a:pt x="7122618" y="262897"/>
                </a:cubicBezTo>
                <a:cubicBezTo>
                  <a:pt x="7112276" y="460651"/>
                  <a:pt x="7124785" y="571497"/>
                  <a:pt x="7122618" y="757127"/>
                </a:cubicBezTo>
                <a:cubicBezTo>
                  <a:pt x="7120452" y="942757"/>
                  <a:pt x="7094788" y="1070359"/>
                  <a:pt x="7122618" y="1314451"/>
                </a:cubicBezTo>
                <a:cubicBezTo>
                  <a:pt x="7102525" y="1462945"/>
                  <a:pt x="6976975" y="1558070"/>
                  <a:pt x="6859721" y="1577348"/>
                </a:cubicBezTo>
                <a:cubicBezTo>
                  <a:pt x="6681987" y="1545561"/>
                  <a:pt x="6466898" y="1586765"/>
                  <a:pt x="6134070" y="1577348"/>
                </a:cubicBezTo>
                <a:cubicBezTo>
                  <a:pt x="5801242" y="1567931"/>
                  <a:pt x="5766288" y="1602504"/>
                  <a:pt x="5474388" y="1577348"/>
                </a:cubicBezTo>
                <a:cubicBezTo>
                  <a:pt x="5182488" y="1552192"/>
                  <a:pt x="5177643" y="1567980"/>
                  <a:pt x="5012610" y="1577348"/>
                </a:cubicBezTo>
                <a:cubicBezTo>
                  <a:pt x="4847577" y="1586716"/>
                  <a:pt x="4631421" y="1559677"/>
                  <a:pt x="4484864" y="1577348"/>
                </a:cubicBezTo>
                <a:cubicBezTo>
                  <a:pt x="4338307" y="1595019"/>
                  <a:pt x="3969383" y="1616456"/>
                  <a:pt x="3693245" y="1577348"/>
                </a:cubicBezTo>
                <a:cubicBezTo>
                  <a:pt x="3417107" y="1538240"/>
                  <a:pt x="3292196" y="1576234"/>
                  <a:pt x="3033563" y="1577348"/>
                </a:cubicBezTo>
                <a:cubicBezTo>
                  <a:pt x="2774930" y="1578462"/>
                  <a:pt x="2708489" y="1553840"/>
                  <a:pt x="2505817" y="1577348"/>
                </a:cubicBezTo>
                <a:cubicBezTo>
                  <a:pt x="2303145" y="1600856"/>
                  <a:pt x="2004023" y="1562898"/>
                  <a:pt x="1846135" y="1577348"/>
                </a:cubicBezTo>
                <a:cubicBezTo>
                  <a:pt x="1688247" y="1591798"/>
                  <a:pt x="1543179" y="1568207"/>
                  <a:pt x="1384357" y="1577348"/>
                </a:cubicBezTo>
                <a:cubicBezTo>
                  <a:pt x="1225535" y="1586489"/>
                  <a:pt x="1052621" y="1581577"/>
                  <a:pt x="922579" y="1577348"/>
                </a:cubicBezTo>
                <a:cubicBezTo>
                  <a:pt x="792537" y="1573119"/>
                  <a:pt x="397909" y="1551269"/>
                  <a:pt x="262897" y="1577348"/>
                </a:cubicBezTo>
                <a:cubicBezTo>
                  <a:pt x="144547" y="1586743"/>
                  <a:pt x="1305" y="1464039"/>
                  <a:pt x="0" y="1314451"/>
                </a:cubicBezTo>
                <a:cubicBezTo>
                  <a:pt x="2141" y="1192852"/>
                  <a:pt x="1207" y="966640"/>
                  <a:pt x="0" y="820221"/>
                </a:cubicBezTo>
                <a:cubicBezTo>
                  <a:pt x="-1207" y="673802"/>
                  <a:pt x="26101" y="398183"/>
                  <a:pt x="0" y="262897"/>
                </a:cubicBezTo>
                <a:close/>
              </a:path>
            </a:pathLst>
          </a:custGeom>
          <a:noFill/>
          <a:ln w="25400">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406B072D-B758-CD53-9EC7-E4976EBA1475}"/>
              </a:ext>
            </a:extLst>
          </p:cNvPr>
          <p:cNvSpPr/>
          <p:nvPr/>
        </p:nvSpPr>
        <p:spPr>
          <a:xfrm>
            <a:off x="835825" y="5939621"/>
            <a:ext cx="184731" cy="707886"/>
          </a:xfrm>
          <a:prstGeom prst="rect">
            <a:avLst/>
          </a:prstGeom>
          <a:noFill/>
        </p:spPr>
        <p:txBody>
          <a:bodyPr wrap="none" lIns="91440" tIns="45720" rIns="91440" bIns="45720">
            <a:spAutoFit/>
          </a:bodyPr>
          <a:lstStyle/>
          <a:p>
            <a:endParaRPr lang="en-US" altLang="zh-CN" sz="20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a:p>
            <a:endParaRPr lang="zh-CN" altLang="en-US" sz="20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14" name="矩形 13">
            <a:extLst>
              <a:ext uri="{FF2B5EF4-FFF2-40B4-BE49-F238E27FC236}">
                <a16:creationId xmlns:a16="http://schemas.microsoft.com/office/drawing/2014/main" id="{23A9E8DC-4A44-3866-DE7D-ADF30461E705}"/>
              </a:ext>
            </a:extLst>
          </p:cNvPr>
          <p:cNvSpPr/>
          <p:nvPr/>
        </p:nvSpPr>
        <p:spPr>
          <a:xfrm>
            <a:off x="3921228" y="2725246"/>
            <a:ext cx="1204176" cy="830997"/>
          </a:xfrm>
          <a:prstGeom prst="rect">
            <a:avLst/>
          </a:prstGeom>
          <a:noFill/>
        </p:spPr>
        <p:txBody>
          <a:bodyPr wrap="none" lIns="91440" tIns="45720" rIns="91440" bIns="45720">
            <a:spAutoFit/>
          </a:bodyPr>
          <a:lstStyle/>
          <a:p>
            <a:r>
              <a:rPr lang="en-US" altLang="zh-CN" sz="1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rPr>
              <a:t>List </a:t>
            </a:r>
            <a:r>
              <a:rPr lang="zh-CN" altLang="en-US" sz="1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rPr>
              <a:t>接口</a:t>
            </a:r>
            <a:endParaRPr lang="en-US" altLang="zh-CN" sz="1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endParaRPr>
          </a:p>
          <a:p>
            <a:endParaRPr lang="en-US" altLang="zh-CN" sz="1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endParaRPr>
          </a:p>
          <a:p>
            <a:endParaRPr lang="zh-CN" altLang="en-US" sz="1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endParaRPr>
          </a:p>
        </p:txBody>
      </p:sp>
      <p:sp>
        <p:nvSpPr>
          <p:cNvPr id="15" name="文本框 14">
            <a:extLst>
              <a:ext uri="{FF2B5EF4-FFF2-40B4-BE49-F238E27FC236}">
                <a16:creationId xmlns:a16="http://schemas.microsoft.com/office/drawing/2014/main" id="{4FC8883B-04CA-8BF7-A7E7-6E40E218FDBB}"/>
              </a:ext>
            </a:extLst>
          </p:cNvPr>
          <p:cNvSpPr txBox="1"/>
          <p:nvPr/>
        </p:nvSpPr>
        <p:spPr>
          <a:xfrm>
            <a:off x="3921228" y="3196245"/>
            <a:ext cx="2025406" cy="830997"/>
          </a:xfrm>
          <a:prstGeom prst="rect">
            <a:avLst/>
          </a:prstGeom>
          <a:noFill/>
          <a:ln>
            <a:noFill/>
          </a:ln>
        </p:spPr>
        <p:txBody>
          <a:bodyPr wrap="square" rtlCol="0">
            <a:spAutoFit/>
          </a:bodyPr>
          <a:lstStyle/>
          <a:p>
            <a:pPr algn="l"/>
            <a:r>
              <a:rPr kumimoji="0" lang="zh-CN" altLang="en-US" sz="1600" i="0" u="none" strike="noStrike" cap="none" normalizeH="0" baseline="0" dirty="0">
                <a:ln>
                  <a:noFill/>
                </a:ln>
                <a:solidFill>
                  <a:srgbClr val="AD2B26"/>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存取有序</a:t>
            </a:r>
          </a:p>
          <a:p>
            <a:pPr algn="l"/>
            <a:r>
              <a:rPr kumimoji="0" lang="zh-CN" altLang="en-US" sz="1600" i="0" u="none" strike="noStrike" cap="none" normalizeH="0" baseline="0" dirty="0">
                <a:ln>
                  <a:noFill/>
                </a:ln>
                <a:solidFill>
                  <a:srgbClr val="AD2B26"/>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有索引</a:t>
            </a:r>
          </a:p>
          <a:p>
            <a:pPr algn="l"/>
            <a:r>
              <a:rPr kumimoji="0" lang="zh-CN" altLang="en-US" sz="1600" i="0" u="none" strike="noStrike" cap="none" normalizeH="0" baseline="0" dirty="0">
                <a:ln>
                  <a:noFill/>
                </a:ln>
                <a:solidFill>
                  <a:srgbClr val="AD2B26"/>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可以存储重复的</a:t>
            </a:r>
          </a:p>
        </p:txBody>
      </p:sp>
      <p:sp>
        <p:nvSpPr>
          <p:cNvPr id="16" name="矩形 15">
            <a:extLst>
              <a:ext uri="{FF2B5EF4-FFF2-40B4-BE49-F238E27FC236}">
                <a16:creationId xmlns:a16="http://schemas.microsoft.com/office/drawing/2014/main" id="{123FC44F-5F4A-91BB-BAF1-B4847A6D593E}"/>
              </a:ext>
            </a:extLst>
          </p:cNvPr>
          <p:cNvSpPr/>
          <p:nvPr/>
        </p:nvSpPr>
        <p:spPr>
          <a:xfrm>
            <a:off x="6055638" y="4602129"/>
            <a:ext cx="1047082" cy="338554"/>
          </a:xfrm>
          <a:prstGeom prst="rect">
            <a:avLst/>
          </a:prstGeom>
          <a:noFill/>
        </p:spPr>
        <p:txBody>
          <a:bodyPr wrap="none" lIns="91440" tIns="45720" rIns="91440" bIns="45720">
            <a:spAutoFit/>
          </a:bodyPr>
          <a:lstStyle/>
          <a:p>
            <a:pPr algn="ctr"/>
            <a:r>
              <a:rPr lang="en-US" altLang="zh-CN" sz="16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onsolas" panose="020B0609020204030204" pitchFamily="49" charset="0"/>
              </a:rPr>
              <a:t>Set </a:t>
            </a:r>
            <a:r>
              <a:rPr lang="zh-CN" altLang="en-US" sz="1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onsolas" panose="020B0609020204030204" pitchFamily="49" charset="0"/>
              </a:rPr>
              <a:t>接口</a:t>
            </a:r>
            <a:endParaRPr lang="zh-CN" altLang="en-US" sz="16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onsolas" panose="020B0609020204030204" pitchFamily="49" charset="0"/>
            </a:endParaRPr>
          </a:p>
        </p:txBody>
      </p:sp>
      <p:sp>
        <p:nvSpPr>
          <p:cNvPr id="17" name="文本框 16">
            <a:extLst>
              <a:ext uri="{FF2B5EF4-FFF2-40B4-BE49-F238E27FC236}">
                <a16:creationId xmlns:a16="http://schemas.microsoft.com/office/drawing/2014/main" id="{CACD953D-222F-E7B0-95AE-99CC65EA2BF2}"/>
              </a:ext>
            </a:extLst>
          </p:cNvPr>
          <p:cNvSpPr txBox="1"/>
          <p:nvPr/>
        </p:nvSpPr>
        <p:spPr>
          <a:xfrm>
            <a:off x="5946634" y="5065072"/>
            <a:ext cx="2025406" cy="830997"/>
          </a:xfrm>
          <a:prstGeom prst="rect">
            <a:avLst/>
          </a:prstGeom>
          <a:noFill/>
          <a:ln>
            <a:noFill/>
          </a:ln>
        </p:spPr>
        <p:txBody>
          <a:bodyPr wrap="square" rtlCol="0">
            <a:spAutoFit/>
          </a:bodyPr>
          <a:lstStyle/>
          <a:p>
            <a:pPr algn="l"/>
            <a:r>
              <a:rPr kumimoji="0" lang="zh-CN" altLang="en-US" sz="160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存取</a:t>
            </a:r>
            <a:r>
              <a:rPr lang="zh-CN" altLang="en-US" sz="1600" dirty="0">
                <a:solidFill>
                  <a:schemeClr val="accent3">
                    <a:lumMod val="75000"/>
                  </a:schemeClr>
                </a:solidFill>
                <a:latin typeface="杨任东竹石体-Bold" panose="02000000000000000000" pitchFamily="2" charset="-122"/>
                <a:ea typeface="杨任东竹石体-Bold" panose="02000000000000000000" pitchFamily="2" charset="-122"/>
                <a:cs typeface="阿里巴巴普惠体" panose="00020600040101010101" pitchFamily="18" charset="-122"/>
              </a:rPr>
              <a:t>无</a:t>
            </a:r>
            <a:r>
              <a:rPr kumimoji="0" lang="zh-CN" altLang="en-US" sz="160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序</a:t>
            </a:r>
          </a:p>
          <a:p>
            <a:pPr algn="l"/>
            <a:r>
              <a:rPr lang="zh-CN" altLang="en-US" sz="1600" dirty="0">
                <a:solidFill>
                  <a:schemeClr val="accent3">
                    <a:lumMod val="75000"/>
                  </a:schemeClr>
                </a:solidFill>
                <a:latin typeface="杨任东竹石体-Bold" panose="02000000000000000000" pitchFamily="2" charset="-122"/>
                <a:ea typeface="杨任东竹石体-Bold" panose="02000000000000000000" pitchFamily="2" charset="-122"/>
                <a:cs typeface="阿里巴巴普惠体" panose="00020600040101010101" pitchFamily="18" charset="-122"/>
              </a:rPr>
              <a:t>没有</a:t>
            </a:r>
            <a:r>
              <a:rPr kumimoji="0" lang="zh-CN" altLang="en-US" sz="160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索引</a:t>
            </a:r>
          </a:p>
          <a:p>
            <a:pPr algn="l"/>
            <a:r>
              <a:rPr kumimoji="0" lang="zh-CN" altLang="en-US" sz="160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不可以存储重复的</a:t>
            </a:r>
          </a:p>
        </p:txBody>
      </p:sp>
      <p:sp>
        <p:nvSpPr>
          <p:cNvPr id="18" name="矩形 17">
            <a:extLst>
              <a:ext uri="{FF2B5EF4-FFF2-40B4-BE49-F238E27FC236}">
                <a16:creationId xmlns:a16="http://schemas.microsoft.com/office/drawing/2014/main" id="{1EBB640F-D558-CF91-1300-84EF53209703}"/>
              </a:ext>
            </a:extLst>
          </p:cNvPr>
          <p:cNvSpPr/>
          <p:nvPr/>
        </p:nvSpPr>
        <p:spPr>
          <a:xfrm>
            <a:off x="835825" y="1652894"/>
            <a:ext cx="4046299" cy="923330"/>
          </a:xfrm>
          <a:prstGeom prst="rect">
            <a:avLst/>
          </a:prstGeom>
          <a:noFill/>
        </p:spPr>
        <p:txBody>
          <a:bodyPr wrap="none" lIns="91440" tIns="45720" rIns="91440" bIns="45720">
            <a:spAutoFit/>
          </a:bodyPr>
          <a:lstStyle/>
          <a:p>
            <a:pPr algn="ctr"/>
            <a:r>
              <a:rPr lang="en-US" altLang="zh-CN"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杨任东竹石体-Heavy" panose="02000000000000000000" pitchFamily="2" charset="-122"/>
                <a:ea typeface="杨任东竹石体-Heavy" panose="02000000000000000000" pitchFamily="2" charset="-122"/>
              </a:rPr>
              <a:t>Collection </a:t>
            </a:r>
            <a:r>
              <a:rPr lang="zh-CN" alt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杨任东竹石体-Heavy" panose="02000000000000000000" pitchFamily="2" charset="-122"/>
                <a:ea typeface="杨任东竹石体-Heavy" panose="02000000000000000000" pitchFamily="2" charset="-122"/>
              </a:rPr>
              <a:t>接口</a:t>
            </a:r>
          </a:p>
        </p:txBody>
      </p:sp>
    </p:spTree>
    <p:extLst>
      <p:ext uri="{BB962C8B-B14F-4D97-AF65-F5344CB8AC3E}">
        <p14:creationId xmlns:p14="http://schemas.microsoft.com/office/powerpoint/2010/main" val="974801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300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par>
                                <p:cTn id="8" presetID="26" presetClass="emph" presetSubtype="0" repeatCount="3000" fill="hold" grpId="0" nodeType="withEffect">
                                  <p:stCondLst>
                                    <p:cond delay="0"/>
                                  </p:stCondLst>
                                  <p:childTnLst>
                                    <p:animEffect transition="out" filter="fade">
                                      <p:cBhvr>
                                        <p:cTn id="9" dur="500" tmFilter="0, 0; .2, .5; .8, .5; 1, 0"/>
                                        <p:tgtEl>
                                          <p:spTgt spid="5"/>
                                        </p:tgtEl>
                                      </p:cBhvr>
                                    </p:animEffect>
                                    <p:animScale>
                                      <p:cBhvr>
                                        <p:cTn id="10" dur="250" autoRev="1" fill="hold"/>
                                        <p:tgtEl>
                                          <p:spTgt spid="5"/>
                                        </p:tgtEl>
                                      </p:cBhvr>
                                      <p:by x="105000" y="105000"/>
                                    </p:animScale>
                                  </p:childTnLst>
                                </p:cTn>
                              </p:par>
                              <p:par>
                                <p:cTn id="11" presetID="26" presetClass="emph" presetSubtype="0" repeatCount="3000" fill="hold" grpId="0" nodeType="withEffect">
                                  <p:stCondLst>
                                    <p:cond delay="0"/>
                                  </p:stCondLst>
                                  <p:childTnLst>
                                    <p:animEffect transition="out" filter="fade">
                                      <p:cBhvr>
                                        <p:cTn id="12" dur="500" tmFilter="0, 0; .2, .5; .8, .5; 1, 0"/>
                                        <p:tgtEl>
                                          <p:spTgt spid="11"/>
                                        </p:tgtEl>
                                      </p:cBhvr>
                                    </p:animEffect>
                                    <p:animScale>
                                      <p:cBhvr>
                                        <p:cTn id="13" dur="250" autoRev="1" fill="hold"/>
                                        <p:tgtEl>
                                          <p:spTgt spid="11"/>
                                        </p:tgtEl>
                                      </p:cBhvr>
                                      <p:by x="105000" y="105000"/>
                                    </p:animScale>
                                  </p:childTnLst>
                                </p:cTn>
                              </p:par>
                              <p:par>
                                <p:cTn id="14" presetID="26" presetClass="emph" presetSubtype="0" repeatCount="3000" fill="hold" grpId="0" nodeType="withEffect">
                                  <p:stCondLst>
                                    <p:cond delay="0"/>
                                  </p:stCondLst>
                                  <p:childTnLst>
                                    <p:animEffect transition="out" filter="fade">
                                      <p:cBhvr>
                                        <p:cTn id="15" dur="500" tmFilter="0, 0; .2, .5; .8, .5; 1, 0"/>
                                        <p:tgtEl>
                                          <p:spTgt spid="14"/>
                                        </p:tgtEl>
                                      </p:cBhvr>
                                    </p:animEffect>
                                    <p:animScale>
                                      <p:cBhvr>
                                        <p:cTn id="16" dur="250" autoRev="1" fill="hold"/>
                                        <p:tgtEl>
                                          <p:spTgt spid="14"/>
                                        </p:tgtEl>
                                      </p:cBhvr>
                                      <p:by x="105000" y="105000"/>
                                    </p:animScale>
                                  </p:childTnLst>
                                </p:cTn>
                              </p:par>
                              <p:par>
                                <p:cTn id="17" presetID="26" presetClass="emph" presetSubtype="0" repeatCount="3000" fill="hold" grpId="0" nodeType="withEffect">
                                  <p:stCondLst>
                                    <p:cond delay="0"/>
                                  </p:stCondLst>
                                  <p:childTnLst>
                                    <p:animEffect transition="out" filter="fade">
                                      <p:cBhvr>
                                        <p:cTn id="18" dur="500" tmFilter="0, 0; .2, .5; .8, .5; 1, 0"/>
                                        <p:tgtEl>
                                          <p:spTgt spid="15"/>
                                        </p:tgtEl>
                                      </p:cBhvr>
                                    </p:animEffect>
                                    <p:animScale>
                                      <p:cBhvr>
                                        <p:cTn id="19" dur="250" autoRev="1" fill="hold"/>
                                        <p:tgtEl>
                                          <p:spTgt spid="15"/>
                                        </p:tgtEl>
                                      </p:cBhvr>
                                      <p:by x="105000" y="105000"/>
                                    </p:animScale>
                                  </p:childTnLst>
                                </p:cTn>
                              </p:par>
                              <p:par>
                                <p:cTn id="20" presetID="26" presetClass="emph" presetSubtype="0" repeatCount="3000" fill="hold" grpId="0" nodeType="withEffect">
                                  <p:stCondLst>
                                    <p:cond delay="0"/>
                                  </p:stCondLst>
                                  <p:childTnLst>
                                    <p:animEffect transition="out" filter="fade">
                                      <p:cBhvr>
                                        <p:cTn id="21" dur="500" tmFilter="0, 0; .2, .5; .8, .5; 1, 0"/>
                                        <p:tgtEl>
                                          <p:spTgt spid="18"/>
                                        </p:tgtEl>
                                      </p:cBhvr>
                                    </p:animEffect>
                                    <p:animScale>
                                      <p:cBhvr>
                                        <p:cTn id="22" dur="250" autoRev="1" fill="hold"/>
                                        <p:tgtEl>
                                          <p:spTgt spid="1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1" grpId="0" animBg="1"/>
      <p:bldP spid="14" grpId="0"/>
      <p:bldP spid="15"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53358-4A22-C8DB-D600-1CFD0C032C6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A9434A0-9100-C332-2738-5C98D58C1EA4}"/>
              </a:ext>
            </a:extLst>
          </p:cNvPr>
          <p:cNvSpPr>
            <a:spLocks noGrp="1"/>
          </p:cNvSpPr>
          <p:nvPr>
            <p:ph type="title"/>
          </p:nvPr>
        </p:nvSpPr>
        <p:spPr/>
        <p:txBody>
          <a:bodyPr/>
          <a:lstStyle/>
          <a:p>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Set </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集合介绍</a:t>
            </a:r>
            <a:endParaRPr lang="zh-CN" altLang="en-US" dirty="0"/>
          </a:p>
        </p:txBody>
      </p:sp>
      <p:sp>
        <p:nvSpPr>
          <p:cNvPr id="6" name="矩形: 圆角 5">
            <a:extLst>
              <a:ext uri="{FF2B5EF4-FFF2-40B4-BE49-F238E27FC236}">
                <a16:creationId xmlns:a16="http://schemas.microsoft.com/office/drawing/2014/main" id="{EB414703-9269-10F1-FA66-ABD7243DED4A}"/>
              </a:ext>
            </a:extLst>
          </p:cNvPr>
          <p:cNvSpPr/>
          <p:nvPr/>
        </p:nvSpPr>
        <p:spPr>
          <a:xfrm>
            <a:off x="769708" y="1846997"/>
            <a:ext cx="1327807" cy="387243"/>
          </a:xfrm>
          <a:prstGeom prst="roundRect">
            <a:avLst/>
          </a:prstGeom>
          <a:solidFill>
            <a:schemeClr val="accent1">
              <a:lumMod val="40000"/>
              <a:lumOff val="6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err="1">
                <a:latin typeface="杨任东竹石体-Bold" panose="02000000000000000000" pitchFamily="2" charset="-122"/>
                <a:ea typeface="杨任东竹石体-Bold" panose="02000000000000000000" pitchFamily="2" charset="-122"/>
              </a:rPr>
              <a:t>TreeSet</a:t>
            </a:r>
            <a:endParaRPr lang="zh-CN" altLang="en-US" sz="1600" dirty="0">
              <a:latin typeface="杨任东竹石体-Bold" panose="02000000000000000000" pitchFamily="2" charset="-122"/>
              <a:ea typeface="杨任东竹石体-Bold" panose="02000000000000000000" pitchFamily="2" charset="-122"/>
            </a:endParaRPr>
          </a:p>
        </p:txBody>
      </p:sp>
      <p:sp>
        <p:nvSpPr>
          <p:cNvPr id="7" name="矩形: 圆角 6">
            <a:extLst>
              <a:ext uri="{FF2B5EF4-FFF2-40B4-BE49-F238E27FC236}">
                <a16:creationId xmlns:a16="http://schemas.microsoft.com/office/drawing/2014/main" id="{02711BC7-EDE0-5B03-9B6E-11E27B5937E8}"/>
              </a:ext>
            </a:extLst>
          </p:cNvPr>
          <p:cNvSpPr/>
          <p:nvPr/>
        </p:nvSpPr>
        <p:spPr>
          <a:xfrm>
            <a:off x="2383577" y="1846997"/>
            <a:ext cx="1327807" cy="387243"/>
          </a:xfrm>
          <a:prstGeom prst="roundRect">
            <a:avLst/>
          </a:prstGeom>
          <a:solidFill>
            <a:schemeClr val="tx1">
              <a:lumMod val="75000"/>
              <a:lumOff val="25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a:latin typeface="杨任东竹石体-Bold" panose="02000000000000000000" pitchFamily="2" charset="-122"/>
                <a:ea typeface="杨任东竹石体-Bold" panose="02000000000000000000" pitchFamily="2" charset="-122"/>
              </a:rPr>
              <a:t>HashSet</a:t>
            </a:r>
            <a:endParaRPr lang="zh-CN" altLang="en-US" sz="1600" dirty="0">
              <a:latin typeface="杨任东竹石体-Bold" panose="02000000000000000000" pitchFamily="2" charset="-122"/>
              <a:ea typeface="杨任东竹石体-Bold" panose="02000000000000000000" pitchFamily="2" charset="-122"/>
            </a:endParaRPr>
          </a:p>
        </p:txBody>
      </p:sp>
      <p:sp>
        <p:nvSpPr>
          <p:cNvPr id="8" name="矩形: 圆角 7">
            <a:extLst>
              <a:ext uri="{FF2B5EF4-FFF2-40B4-BE49-F238E27FC236}">
                <a16:creationId xmlns:a16="http://schemas.microsoft.com/office/drawing/2014/main" id="{ED50BE08-23EB-14F2-80D9-74683E366876}"/>
              </a:ext>
            </a:extLst>
          </p:cNvPr>
          <p:cNvSpPr/>
          <p:nvPr/>
        </p:nvSpPr>
        <p:spPr>
          <a:xfrm>
            <a:off x="4040954" y="1846997"/>
            <a:ext cx="1622875" cy="387243"/>
          </a:xfrm>
          <a:prstGeom prst="roundRect">
            <a:avLst/>
          </a:prstGeom>
          <a:solidFill>
            <a:schemeClr val="bg1">
              <a:lumMod val="75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err="1">
                <a:latin typeface="杨任东竹石体-Bold" panose="02000000000000000000" pitchFamily="2" charset="-122"/>
                <a:ea typeface="杨任东竹石体-Bold" panose="02000000000000000000" pitchFamily="2" charset="-122"/>
              </a:rPr>
              <a:t>LinkedHashSet</a:t>
            </a:r>
            <a:endParaRPr lang="zh-CN" altLang="en-US" sz="1600" dirty="0">
              <a:latin typeface="杨任东竹石体-Bold" panose="02000000000000000000" pitchFamily="2" charset="-122"/>
              <a:ea typeface="杨任东竹石体-Bold" panose="02000000000000000000" pitchFamily="2" charset="-122"/>
            </a:endParaRPr>
          </a:p>
        </p:txBody>
      </p:sp>
      <p:sp>
        <p:nvSpPr>
          <p:cNvPr id="12" name="矩形: 圆角 11">
            <a:extLst>
              <a:ext uri="{FF2B5EF4-FFF2-40B4-BE49-F238E27FC236}">
                <a16:creationId xmlns:a16="http://schemas.microsoft.com/office/drawing/2014/main" id="{FCE2DA37-F6F3-95F4-1015-523AF6A08CD1}"/>
              </a:ext>
            </a:extLst>
          </p:cNvPr>
          <p:cNvSpPr/>
          <p:nvPr/>
        </p:nvSpPr>
        <p:spPr>
          <a:xfrm>
            <a:off x="576626" y="1248257"/>
            <a:ext cx="7122618" cy="1577348"/>
          </a:xfrm>
          <a:custGeom>
            <a:avLst/>
            <a:gdLst>
              <a:gd name="connsiteX0" fmla="*/ 0 w 7122618"/>
              <a:gd name="connsiteY0" fmla="*/ 262897 h 1577348"/>
              <a:gd name="connsiteX1" fmla="*/ 262897 w 7122618"/>
              <a:gd name="connsiteY1" fmla="*/ 0 h 1577348"/>
              <a:gd name="connsiteX2" fmla="*/ 1054516 w 7122618"/>
              <a:gd name="connsiteY2" fmla="*/ 0 h 1577348"/>
              <a:gd name="connsiteX3" fmla="*/ 1648230 w 7122618"/>
              <a:gd name="connsiteY3" fmla="*/ 0 h 1577348"/>
              <a:gd name="connsiteX4" fmla="*/ 2175976 w 7122618"/>
              <a:gd name="connsiteY4" fmla="*/ 0 h 1577348"/>
              <a:gd name="connsiteX5" fmla="*/ 2901627 w 7122618"/>
              <a:gd name="connsiteY5" fmla="*/ 0 h 1577348"/>
              <a:gd name="connsiteX6" fmla="*/ 3495341 w 7122618"/>
              <a:gd name="connsiteY6" fmla="*/ 0 h 1577348"/>
              <a:gd name="connsiteX7" fmla="*/ 4286960 w 7122618"/>
              <a:gd name="connsiteY7" fmla="*/ 0 h 1577348"/>
              <a:gd name="connsiteX8" fmla="*/ 4814706 w 7122618"/>
              <a:gd name="connsiteY8" fmla="*/ 0 h 1577348"/>
              <a:gd name="connsiteX9" fmla="*/ 5606324 w 7122618"/>
              <a:gd name="connsiteY9" fmla="*/ 0 h 1577348"/>
              <a:gd name="connsiteX10" fmla="*/ 6068102 w 7122618"/>
              <a:gd name="connsiteY10" fmla="*/ 0 h 1577348"/>
              <a:gd name="connsiteX11" fmla="*/ 6859721 w 7122618"/>
              <a:gd name="connsiteY11" fmla="*/ 0 h 1577348"/>
              <a:gd name="connsiteX12" fmla="*/ 7122618 w 7122618"/>
              <a:gd name="connsiteY12" fmla="*/ 262897 h 1577348"/>
              <a:gd name="connsiteX13" fmla="*/ 7122618 w 7122618"/>
              <a:gd name="connsiteY13" fmla="*/ 757127 h 1577348"/>
              <a:gd name="connsiteX14" fmla="*/ 7122618 w 7122618"/>
              <a:gd name="connsiteY14" fmla="*/ 1314451 h 1577348"/>
              <a:gd name="connsiteX15" fmla="*/ 6859721 w 7122618"/>
              <a:gd name="connsiteY15" fmla="*/ 1577348 h 1577348"/>
              <a:gd name="connsiteX16" fmla="*/ 6134070 w 7122618"/>
              <a:gd name="connsiteY16" fmla="*/ 1577348 h 1577348"/>
              <a:gd name="connsiteX17" fmla="*/ 5474388 w 7122618"/>
              <a:gd name="connsiteY17" fmla="*/ 1577348 h 1577348"/>
              <a:gd name="connsiteX18" fmla="*/ 5012610 w 7122618"/>
              <a:gd name="connsiteY18" fmla="*/ 1577348 h 1577348"/>
              <a:gd name="connsiteX19" fmla="*/ 4484864 w 7122618"/>
              <a:gd name="connsiteY19" fmla="*/ 1577348 h 1577348"/>
              <a:gd name="connsiteX20" fmla="*/ 3693245 w 7122618"/>
              <a:gd name="connsiteY20" fmla="*/ 1577348 h 1577348"/>
              <a:gd name="connsiteX21" fmla="*/ 3033563 w 7122618"/>
              <a:gd name="connsiteY21" fmla="*/ 1577348 h 1577348"/>
              <a:gd name="connsiteX22" fmla="*/ 2505817 w 7122618"/>
              <a:gd name="connsiteY22" fmla="*/ 1577348 h 1577348"/>
              <a:gd name="connsiteX23" fmla="*/ 1846135 w 7122618"/>
              <a:gd name="connsiteY23" fmla="*/ 1577348 h 1577348"/>
              <a:gd name="connsiteX24" fmla="*/ 1384357 w 7122618"/>
              <a:gd name="connsiteY24" fmla="*/ 1577348 h 1577348"/>
              <a:gd name="connsiteX25" fmla="*/ 922579 w 7122618"/>
              <a:gd name="connsiteY25" fmla="*/ 1577348 h 1577348"/>
              <a:gd name="connsiteX26" fmla="*/ 262897 w 7122618"/>
              <a:gd name="connsiteY26" fmla="*/ 1577348 h 1577348"/>
              <a:gd name="connsiteX27" fmla="*/ 0 w 7122618"/>
              <a:gd name="connsiteY27" fmla="*/ 1314451 h 1577348"/>
              <a:gd name="connsiteX28" fmla="*/ 0 w 7122618"/>
              <a:gd name="connsiteY28" fmla="*/ 820221 h 1577348"/>
              <a:gd name="connsiteX29" fmla="*/ 0 w 7122618"/>
              <a:gd name="connsiteY29" fmla="*/ 262897 h 157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122618" h="1577348" extrusionOk="0">
                <a:moveTo>
                  <a:pt x="0" y="262897"/>
                </a:moveTo>
                <a:cubicBezTo>
                  <a:pt x="-22580" y="103775"/>
                  <a:pt x="112634" y="1902"/>
                  <a:pt x="262897" y="0"/>
                </a:cubicBezTo>
                <a:cubicBezTo>
                  <a:pt x="491214" y="-8303"/>
                  <a:pt x="836494" y="-37714"/>
                  <a:pt x="1054516" y="0"/>
                </a:cubicBezTo>
                <a:cubicBezTo>
                  <a:pt x="1272538" y="37714"/>
                  <a:pt x="1436082" y="-29270"/>
                  <a:pt x="1648230" y="0"/>
                </a:cubicBezTo>
                <a:cubicBezTo>
                  <a:pt x="1860378" y="29270"/>
                  <a:pt x="1994154" y="-25214"/>
                  <a:pt x="2175976" y="0"/>
                </a:cubicBezTo>
                <a:cubicBezTo>
                  <a:pt x="2357798" y="25214"/>
                  <a:pt x="2738735" y="-19607"/>
                  <a:pt x="2901627" y="0"/>
                </a:cubicBezTo>
                <a:cubicBezTo>
                  <a:pt x="3064519" y="19607"/>
                  <a:pt x="3252248" y="13437"/>
                  <a:pt x="3495341" y="0"/>
                </a:cubicBezTo>
                <a:cubicBezTo>
                  <a:pt x="3738434" y="-13437"/>
                  <a:pt x="4080584" y="15123"/>
                  <a:pt x="4286960" y="0"/>
                </a:cubicBezTo>
                <a:cubicBezTo>
                  <a:pt x="4493336" y="-15123"/>
                  <a:pt x="4622736" y="-20101"/>
                  <a:pt x="4814706" y="0"/>
                </a:cubicBezTo>
                <a:cubicBezTo>
                  <a:pt x="5006676" y="20101"/>
                  <a:pt x="5400866" y="-28257"/>
                  <a:pt x="5606324" y="0"/>
                </a:cubicBezTo>
                <a:cubicBezTo>
                  <a:pt x="5811782" y="28257"/>
                  <a:pt x="5895341" y="2590"/>
                  <a:pt x="6068102" y="0"/>
                </a:cubicBezTo>
                <a:cubicBezTo>
                  <a:pt x="6240863" y="-2590"/>
                  <a:pt x="6603164" y="6435"/>
                  <a:pt x="6859721" y="0"/>
                </a:cubicBezTo>
                <a:cubicBezTo>
                  <a:pt x="7007941" y="4505"/>
                  <a:pt x="7125626" y="148861"/>
                  <a:pt x="7122618" y="262897"/>
                </a:cubicBezTo>
                <a:cubicBezTo>
                  <a:pt x="7112276" y="460651"/>
                  <a:pt x="7124785" y="571497"/>
                  <a:pt x="7122618" y="757127"/>
                </a:cubicBezTo>
                <a:cubicBezTo>
                  <a:pt x="7120452" y="942757"/>
                  <a:pt x="7094788" y="1070359"/>
                  <a:pt x="7122618" y="1314451"/>
                </a:cubicBezTo>
                <a:cubicBezTo>
                  <a:pt x="7102525" y="1462945"/>
                  <a:pt x="6976975" y="1558070"/>
                  <a:pt x="6859721" y="1577348"/>
                </a:cubicBezTo>
                <a:cubicBezTo>
                  <a:pt x="6681987" y="1545561"/>
                  <a:pt x="6466898" y="1586765"/>
                  <a:pt x="6134070" y="1577348"/>
                </a:cubicBezTo>
                <a:cubicBezTo>
                  <a:pt x="5801242" y="1567931"/>
                  <a:pt x="5766288" y="1602504"/>
                  <a:pt x="5474388" y="1577348"/>
                </a:cubicBezTo>
                <a:cubicBezTo>
                  <a:pt x="5182488" y="1552192"/>
                  <a:pt x="5177643" y="1567980"/>
                  <a:pt x="5012610" y="1577348"/>
                </a:cubicBezTo>
                <a:cubicBezTo>
                  <a:pt x="4847577" y="1586716"/>
                  <a:pt x="4631421" y="1559677"/>
                  <a:pt x="4484864" y="1577348"/>
                </a:cubicBezTo>
                <a:cubicBezTo>
                  <a:pt x="4338307" y="1595019"/>
                  <a:pt x="3969383" y="1616456"/>
                  <a:pt x="3693245" y="1577348"/>
                </a:cubicBezTo>
                <a:cubicBezTo>
                  <a:pt x="3417107" y="1538240"/>
                  <a:pt x="3292196" y="1576234"/>
                  <a:pt x="3033563" y="1577348"/>
                </a:cubicBezTo>
                <a:cubicBezTo>
                  <a:pt x="2774930" y="1578462"/>
                  <a:pt x="2708489" y="1553840"/>
                  <a:pt x="2505817" y="1577348"/>
                </a:cubicBezTo>
                <a:cubicBezTo>
                  <a:pt x="2303145" y="1600856"/>
                  <a:pt x="2004023" y="1562898"/>
                  <a:pt x="1846135" y="1577348"/>
                </a:cubicBezTo>
                <a:cubicBezTo>
                  <a:pt x="1688247" y="1591798"/>
                  <a:pt x="1543179" y="1568207"/>
                  <a:pt x="1384357" y="1577348"/>
                </a:cubicBezTo>
                <a:cubicBezTo>
                  <a:pt x="1225535" y="1586489"/>
                  <a:pt x="1052621" y="1581577"/>
                  <a:pt x="922579" y="1577348"/>
                </a:cubicBezTo>
                <a:cubicBezTo>
                  <a:pt x="792537" y="1573119"/>
                  <a:pt x="397909" y="1551269"/>
                  <a:pt x="262897" y="1577348"/>
                </a:cubicBezTo>
                <a:cubicBezTo>
                  <a:pt x="144547" y="1586743"/>
                  <a:pt x="1305" y="1464039"/>
                  <a:pt x="0" y="1314451"/>
                </a:cubicBezTo>
                <a:cubicBezTo>
                  <a:pt x="2141" y="1192852"/>
                  <a:pt x="1207" y="966640"/>
                  <a:pt x="0" y="820221"/>
                </a:cubicBezTo>
                <a:cubicBezTo>
                  <a:pt x="-1207" y="673802"/>
                  <a:pt x="26101" y="398183"/>
                  <a:pt x="0" y="262897"/>
                </a:cubicBezTo>
                <a:close/>
              </a:path>
            </a:pathLst>
          </a:custGeom>
          <a:noFill/>
          <a:ln w="25400">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2783D192-C994-983E-91DA-70E6D3BDF9BF}"/>
              </a:ext>
            </a:extLst>
          </p:cNvPr>
          <p:cNvSpPr/>
          <p:nvPr/>
        </p:nvSpPr>
        <p:spPr>
          <a:xfrm>
            <a:off x="835825" y="5939621"/>
            <a:ext cx="184731" cy="707886"/>
          </a:xfrm>
          <a:prstGeom prst="rect">
            <a:avLst/>
          </a:prstGeom>
          <a:noFill/>
        </p:spPr>
        <p:txBody>
          <a:bodyPr wrap="none" lIns="91440" tIns="45720" rIns="91440" bIns="45720">
            <a:spAutoFit/>
          </a:bodyPr>
          <a:lstStyle/>
          <a:p>
            <a:endParaRPr lang="en-US" altLang="zh-CN" sz="20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a:p>
            <a:endParaRPr lang="zh-CN" altLang="en-US" sz="20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16" name="矩形 15">
            <a:extLst>
              <a:ext uri="{FF2B5EF4-FFF2-40B4-BE49-F238E27FC236}">
                <a16:creationId xmlns:a16="http://schemas.microsoft.com/office/drawing/2014/main" id="{54F62789-4302-27EF-BA8D-88B13F5F087D}"/>
              </a:ext>
            </a:extLst>
          </p:cNvPr>
          <p:cNvSpPr/>
          <p:nvPr/>
        </p:nvSpPr>
        <p:spPr>
          <a:xfrm>
            <a:off x="5923137" y="1343774"/>
            <a:ext cx="1047082" cy="338554"/>
          </a:xfrm>
          <a:prstGeom prst="rect">
            <a:avLst/>
          </a:prstGeom>
          <a:noFill/>
        </p:spPr>
        <p:txBody>
          <a:bodyPr wrap="none" lIns="91440" tIns="45720" rIns="91440" bIns="45720">
            <a:spAutoFit/>
          </a:bodyPr>
          <a:lstStyle/>
          <a:p>
            <a:pPr algn="ctr"/>
            <a:r>
              <a:rPr lang="en-US" altLang="zh-CN" sz="16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onsolas" panose="020B0609020204030204" pitchFamily="49" charset="0"/>
              </a:rPr>
              <a:t>Set </a:t>
            </a:r>
            <a:r>
              <a:rPr lang="zh-CN" altLang="en-US" sz="1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onsolas" panose="020B0609020204030204" pitchFamily="49" charset="0"/>
              </a:rPr>
              <a:t>接口</a:t>
            </a:r>
            <a:endParaRPr lang="zh-CN" altLang="en-US" sz="16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onsolas" panose="020B0609020204030204" pitchFamily="49" charset="0"/>
            </a:endParaRPr>
          </a:p>
        </p:txBody>
      </p:sp>
      <p:sp>
        <p:nvSpPr>
          <p:cNvPr id="17" name="文本框 16">
            <a:extLst>
              <a:ext uri="{FF2B5EF4-FFF2-40B4-BE49-F238E27FC236}">
                <a16:creationId xmlns:a16="http://schemas.microsoft.com/office/drawing/2014/main" id="{B4722EBA-D0FD-8572-EF40-8BB5496B6D77}"/>
              </a:ext>
            </a:extLst>
          </p:cNvPr>
          <p:cNvSpPr txBox="1"/>
          <p:nvPr/>
        </p:nvSpPr>
        <p:spPr>
          <a:xfrm>
            <a:off x="5814133" y="1806717"/>
            <a:ext cx="2025406" cy="830997"/>
          </a:xfrm>
          <a:prstGeom prst="rect">
            <a:avLst/>
          </a:prstGeom>
          <a:noFill/>
          <a:ln>
            <a:noFill/>
          </a:ln>
        </p:spPr>
        <p:txBody>
          <a:bodyPr wrap="square" rtlCol="0">
            <a:spAutoFit/>
          </a:bodyPr>
          <a:lstStyle/>
          <a:p>
            <a:pPr algn="l"/>
            <a:r>
              <a:rPr kumimoji="0" lang="zh-CN" altLang="en-US" sz="160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存取</a:t>
            </a:r>
            <a:r>
              <a:rPr lang="zh-CN" altLang="en-US" sz="1600" dirty="0">
                <a:solidFill>
                  <a:schemeClr val="accent3">
                    <a:lumMod val="75000"/>
                  </a:schemeClr>
                </a:solidFill>
                <a:latin typeface="杨任东竹石体-Bold" panose="02000000000000000000" pitchFamily="2" charset="-122"/>
                <a:ea typeface="杨任东竹石体-Bold" panose="02000000000000000000" pitchFamily="2" charset="-122"/>
                <a:cs typeface="阿里巴巴普惠体" panose="00020600040101010101" pitchFamily="18" charset="-122"/>
              </a:rPr>
              <a:t>无</a:t>
            </a:r>
            <a:r>
              <a:rPr kumimoji="0" lang="zh-CN" altLang="en-US" sz="160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序</a:t>
            </a:r>
          </a:p>
          <a:p>
            <a:pPr algn="l"/>
            <a:r>
              <a:rPr lang="zh-CN" altLang="en-US" sz="1600" dirty="0">
                <a:solidFill>
                  <a:schemeClr val="accent3">
                    <a:lumMod val="75000"/>
                  </a:schemeClr>
                </a:solidFill>
                <a:latin typeface="杨任东竹石体-Bold" panose="02000000000000000000" pitchFamily="2" charset="-122"/>
                <a:ea typeface="杨任东竹石体-Bold" panose="02000000000000000000" pitchFamily="2" charset="-122"/>
                <a:cs typeface="阿里巴巴普惠体" panose="00020600040101010101" pitchFamily="18" charset="-122"/>
              </a:rPr>
              <a:t>没有</a:t>
            </a:r>
            <a:r>
              <a:rPr kumimoji="0" lang="zh-CN" altLang="en-US" sz="160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索引</a:t>
            </a:r>
          </a:p>
          <a:p>
            <a:pPr algn="l"/>
            <a:r>
              <a:rPr kumimoji="0" lang="zh-CN" altLang="en-US" sz="160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不可以存储重复的</a:t>
            </a:r>
          </a:p>
        </p:txBody>
      </p:sp>
    </p:spTree>
    <p:extLst>
      <p:ext uri="{BB962C8B-B14F-4D97-AF65-F5344CB8AC3E}">
        <p14:creationId xmlns:p14="http://schemas.microsoft.com/office/powerpoint/2010/main" val="47269191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652F4-3FE0-96CC-F55C-C60E86A8AAC6}"/>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4F79E347-EC93-9B5D-E547-448F034D84D3}"/>
              </a:ext>
            </a:extLst>
          </p:cNvPr>
          <p:cNvSpPr>
            <a:spLocks noGrp="1"/>
          </p:cNvSpPr>
          <p:nvPr>
            <p:ph type="body" sz="quarter" idx="10"/>
          </p:nvPr>
        </p:nvSpPr>
        <p:spPr/>
        <p:txBody>
          <a:bodyPr/>
          <a:lstStyle/>
          <a:p>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Set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集合特点</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存取顺序不一致，没有跟索引有关的方法，不能存储重复的</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遍历方式：三种通用遍历方式</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特点：元素排序</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HashSet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特点：元素唯一</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LinkedHashSet</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特点</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元素唯一，保证存取顺序</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80044605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D0B36F8-C712-7BA1-2F9B-77C59A8D9CC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F92FEF65-4B60-8E93-64E3-3F9EE589CE9D}"/>
              </a:ext>
            </a:extLst>
          </p:cNvPr>
          <p:cNvSpPr>
            <a:spLocks noGrp="1"/>
          </p:cNvSpPr>
          <p:nvPr>
            <p:ph type="body" sz="quarter" idx="10"/>
          </p:nvPr>
        </p:nvSpPr>
        <p:spPr>
          <a:xfrm>
            <a:off x="5982521" y="2505975"/>
            <a:ext cx="4410730" cy="1956553"/>
          </a:xfrm>
        </p:spPr>
        <p:txBody>
          <a:bodyPr/>
          <a:lstStyle/>
          <a:p>
            <a:r>
              <a:rPr kumimoji="1" lang="en-US" altLang="zh-CN" dirty="0">
                <a:latin typeface="Consolas" panose="020B0609020204030204" pitchFamily="49" charset="0"/>
              </a:rPr>
              <a:t>Set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TreeSet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HashSet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LinkedHashSet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Collections </a:t>
            </a:r>
            <a:r>
              <a:rPr kumimoji="1" lang="zh-CN" altLang="en-US" dirty="0">
                <a:latin typeface="Consolas" panose="020B0609020204030204" pitchFamily="49" charset="0"/>
              </a:rPr>
              <a:t>工具类</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集合三种遍历方式</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集合的实现类</a:t>
            </a:r>
            <a:endParaRPr kumimoji="1" lang="en-US" altLang="zh-CN" dirty="0">
              <a:latin typeface="Consolas" panose="020B0609020204030204" pitchFamily="49" charset="0"/>
            </a:endParaRPr>
          </a:p>
        </p:txBody>
      </p:sp>
    </p:spTree>
    <p:extLst>
      <p:ext uri="{BB962C8B-B14F-4D97-AF65-F5344CB8AC3E}">
        <p14:creationId xmlns:p14="http://schemas.microsoft.com/office/powerpoint/2010/main" val="50669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85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stCondLst>
                                            <p:cond delay="0"/>
                                          </p:stCondLst>
                                        </p:cTn>
                                        <p:tgtEl>
                                          <p:spTgt spid="2"/>
                                        </p:tgtEl>
                                      </p:cBhvr>
                                    </p:animEffect>
                                    <p:anim to="0" calcmode="lin" valueType="num">
                                      <p:cBhvr>
                                        <p:cTn id="8" dur="500" fill="hold">
                                          <p:stCondLst>
                                            <p:cond delay="0"/>
                                          </p:stCondLst>
                                        </p:cTn>
                                        <p:tgtEl>
                                          <p:spTgt spid="2"/>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0C566-9781-F647-59D4-1D5E8DCDCF57}"/>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672B5F99-F93F-B246-0907-4AB374D9B527}"/>
              </a:ext>
            </a:extLst>
          </p:cNvPr>
          <p:cNvSpPr>
            <a:spLocks noGrp="1"/>
          </p:cNvSpPr>
          <p:nvPr>
            <p:ph type="body" sz="quarter" idx="13"/>
          </p:nvPr>
        </p:nvSpPr>
        <p:spPr>
          <a:xfrm>
            <a:off x="5834080" y="2465278"/>
            <a:ext cx="4831831" cy="901700"/>
          </a:xfrm>
        </p:spPr>
        <p:txBody>
          <a:bodyPr/>
          <a:lstStyle/>
          <a:p>
            <a:r>
              <a:rPr lang="en-US" altLang="zh-CN" dirty="0" err="1"/>
              <a:t>TreeSet</a:t>
            </a:r>
            <a:r>
              <a:rPr lang="en-US" altLang="zh-CN" dirty="0"/>
              <a:t> </a:t>
            </a:r>
            <a:r>
              <a:rPr lang="zh-CN" altLang="en-US" dirty="0"/>
              <a:t>集合</a:t>
            </a:r>
          </a:p>
        </p:txBody>
      </p:sp>
      <p:sp>
        <p:nvSpPr>
          <p:cNvPr id="10" name="文本占位符 9">
            <a:extLst>
              <a:ext uri="{FF2B5EF4-FFF2-40B4-BE49-F238E27FC236}">
                <a16:creationId xmlns:a16="http://schemas.microsoft.com/office/drawing/2014/main" id="{30351EB6-19D2-1DEF-6971-EBB20420DE51}"/>
              </a:ext>
            </a:extLst>
          </p:cNvPr>
          <p:cNvSpPr>
            <a:spLocks noGrp="1"/>
          </p:cNvSpPr>
          <p:nvPr>
            <p:ph type="body" sz="quarter" idx="14"/>
          </p:nvPr>
        </p:nvSpPr>
        <p:spPr/>
        <p:txBody>
          <a:bodyPr/>
          <a:lstStyle/>
          <a:p>
            <a:r>
              <a:rPr lang="en-US" altLang="zh-CN" dirty="0"/>
              <a:t>2</a:t>
            </a:r>
            <a:endParaRPr lang="zh-CN" altLang="en-US" dirty="0"/>
          </a:p>
        </p:txBody>
      </p:sp>
    </p:spTree>
    <p:extLst>
      <p:ext uri="{BB962C8B-B14F-4D97-AF65-F5344CB8AC3E}">
        <p14:creationId xmlns:p14="http://schemas.microsoft.com/office/powerpoint/2010/main" val="406376830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7696DA-FB57-BD12-7AFC-7230AA673B0B}"/>
              </a:ext>
            </a:extLst>
          </p:cNvPr>
          <p:cNvSpPr>
            <a:spLocks noGrp="1"/>
          </p:cNvSpPr>
          <p:nvPr>
            <p:ph type="title"/>
          </p:nvPr>
        </p:nvSpPr>
        <p:spPr/>
        <p:txBody>
          <a:bodyPr/>
          <a:lstStyle/>
          <a:p>
            <a:r>
              <a:rPr lang="en-US" altLang="zh-CN" dirty="0" err="1"/>
              <a:t>TreeSet</a:t>
            </a:r>
            <a:r>
              <a:rPr lang="en-US" altLang="zh-CN" dirty="0"/>
              <a:t> </a:t>
            </a:r>
            <a:r>
              <a:rPr lang="zh-CN" altLang="en-US" dirty="0"/>
              <a:t>集合</a:t>
            </a:r>
          </a:p>
        </p:txBody>
      </p:sp>
      <p:sp>
        <p:nvSpPr>
          <p:cNvPr id="103" name="TextBox 10">
            <a:extLst>
              <a:ext uri="{FF2B5EF4-FFF2-40B4-BE49-F238E27FC236}">
                <a16:creationId xmlns:a16="http://schemas.microsoft.com/office/drawing/2014/main" id="{CD64547F-3C1C-B569-1A94-6FF167476771}"/>
              </a:ext>
            </a:extLst>
          </p:cNvPr>
          <p:cNvSpPr txBox="1"/>
          <p:nvPr/>
        </p:nvSpPr>
        <p:spPr>
          <a:xfrm>
            <a:off x="576627" y="850963"/>
            <a:ext cx="10737020" cy="57284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200000"/>
              </a:lnSpc>
              <a:buFont typeface="Wingdings" panose="05000000000000000000" pitchFamily="2" charset="2"/>
              <a:buChar char="l"/>
              <a:defRPr/>
            </a:pP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作用 </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对集合中的元素进行排序操作</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底层红黑树实现</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Tree>
    <p:extLst>
      <p:ext uri="{BB962C8B-B14F-4D97-AF65-F5344CB8AC3E}">
        <p14:creationId xmlns:p14="http://schemas.microsoft.com/office/powerpoint/2010/main" val="62809508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 name="图片 186">
            <a:extLst>
              <a:ext uri="{FF2B5EF4-FFF2-40B4-BE49-F238E27FC236}">
                <a16:creationId xmlns:a16="http://schemas.microsoft.com/office/drawing/2014/main" id="{E7CDBF01-2C92-CBCC-20FD-ABC4FE0A7E00}"/>
              </a:ext>
            </a:extLst>
          </p:cNvPr>
          <p:cNvPicPr>
            <a:picLocks noChangeAspect="1"/>
          </p:cNvPicPr>
          <p:nvPr/>
        </p:nvPicPr>
        <p:blipFill>
          <a:blip r:embed="rId3"/>
          <a:stretch>
            <a:fillRect/>
          </a:stretch>
        </p:blipFill>
        <p:spPr>
          <a:xfrm>
            <a:off x="6096000" y="1292551"/>
            <a:ext cx="4615422" cy="3865013"/>
          </a:xfrm>
          <a:prstGeom prst="rect">
            <a:avLst/>
          </a:prstGeom>
        </p:spPr>
      </p:pic>
      <p:sp>
        <p:nvSpPr>
          <p:cNvPr id="9" name="标题 3">
            <a:extLst>
              <a:ext uri="{FF2B5EF4-FFF2-40B4-BE49-F238E27FC236}">
                <a16:creationId xmlns:a16="http://schemas.microsoft.com/office/drawing/2014/main" id="{73153575-FCB6-780D-C353-2117516D38F6}"/>
              </a:ext>
            </a:extLst>
          </p:cNvPr>
          <p:cNvSpPr>
            <a:spLocks noGrp="1"/>
          </p:cNvSpPr>
          <p:nvPr>
            <p:ph type="title"/>
          </p:nvPr>
        </p:nvSpPr>
        <p:spPr/>
        <p:txBody>
          <a:bodyPr/>
          <a:lstStyle/>
          <a:p>
            <a:r>
              <a:rPr lang="en-US" altLang="zh-CN" dirty="0" err="1"/>
              <a:t>TreeSet</a:t>
            </a:r>
            <a:r>
              <a:rPr lang="en-US" altLang="zh-CN" dirty="0"/>
              <a:t> </a:t>
            </a:r>
            <a:r>
              <a:rPr lang="zh-CN" altLang="en-US" dirty="0"/>
              <a:t>集合底层数据结构</a:t>
            </a:r>
          </a:p>
        </p:txBody>
      </p:sp>
      <p:sp>
        <p:nvSpPr>
          <p:cNvPr id="2" name="椭圆 1">
            <a:extLst>
              <a:ext uri="{FF2B5EF4-FFF2-40B4-BE49-F238E27FC236}">
                <a16:creationId xmlns:a16="http://schemas.microsoft.com/office/drawing/2014/main" id="{FC041682-A5CB-F497-5D6B-E0B55B92092E}"/>
              </a:ext>
            </a:extLst>
          </p:cNvPr>
          <p:cNvSpPr/>
          <p:nvPr/>
        </p:nvSpPr>
        <p:spPr>
          <a:xfrm>
            <a:off x="2537495" y="1722225"/>
            <a:ext cx="480484" cy="48048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9</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 name="椭圆 2">
            <a:extLst>
              <a:ext uri="{FF2B5EF4-FFF2-40B4-BE49-F238E27FC236}">
                <a16:creationId xmlns:a16="http://schemas.microsoft.com/office/drawing/2014/main" id="{9F3CF0B3-D12E-4999-3116-887B95A51795}"/>
              </a:ext>
            </a:extLst>
          </p:cNvPr>
          <p:cNvSpPr/>
          <p:nvPr/>
        </p:nvSpPr>
        <p:spPr>
          <a:xfrm>
            <a:off x="1985046" y="2278908"/>
            <a:ext cx="478367"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7</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 name="椭圆 3">
            <a:extLst>
              <a:ext uri="{FF2B5EF4-FFF2-40B4-BE49-F238E27FC236}">
                <a16:creationId xmlns:a16="http://schemas.microsoft.com/office/drawing/2014/main" id="{0CF118F1-00B8-A55C-A40D-E3FD0C4991F4}"/>
              </a:ext>
            </a:extLst>
          </p:cNvPr>
          <p:cNvSpPr/>
          <p:nvPr/>
        </p:nvSpPr>
        <p:spPr>
          <a:xfrm>
            <a:off x="3087828" y="2278908"/>
            <a:ext cx="480484"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2</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5" name="直接箭头连接符 4">
            <a:extLst>
              <a:ext uri="{FF2B5EF4-FFF2-40B4-BE49-F238E27FC236}">
                <a16:creationId xmlns:a16="http://schemas.microsoft.com/office/drawing/2014/main" id="{44C3CB03-9421-0403-3785-E834AC040438}"/>
              </a:ext>
            </a:extLst>
          </p:cNvPr>
          <p:cNvCxnSpPr>
            <a:cxnSpLocks/>
            <a:stCxn id="2" idx="3"/>
            <a:endCxn id="3" idx="7"/>
          </p:cNvCxnSpPr>
          <p:nvPr/>
        </p:nvCxnSpPr>
        <p:spPr>
          <a:xfrm flipH="1">
            <a:off x="2393561" y="2132858"/>
            <a:ext cx="213784"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A4F3D4DD-E44A-3368-D772-182F34C34915}"/>
              </a:ext>
            </a:extLst>
          </p:cNvPr>
          <p:cNvCxnSpPr>
            <a:cxnSpLocks/>
            <a:stCxn id="2" idx="5"/>
            <a:endCxn id="4" idx="1"/>
          </p:cNvCxnSpPr>
          <p:nvPr/>
        </p:nvCxnSpPr>
        <p:spPr>
          <a:xfrm>
            <a:off x="2946012" y="2132858"/>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椭圆 6">
            <a:extLst>
              <a:ext uri="{FF2B5EF4-FFF2-40B4-BE49-F238E27FC236}">
                <a16:creationId xmlns:a16="http://schemas.microsoft.com/office/drawing/2014/main" id="{E43E162A-00F1-955C-46CA-8A96CE449BD4}"/>
              </a:ext>
            </a:extLst>
          </p:cNvPr>
          <p:cNvSpPr/>
          <p:nvPr/>
        </p:nvSpPr>
        <p:spPr>
          <a:xfrm>
            <a:off x="1424128" y="2808075"/>
            <a:ext cx="480484"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3</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 name="椭圆 7">
            <a:extLst>
              <a:ext uri="{FF2B5EF4-FFF2-40B4-BE49-F238E27FC236}">
                <a16:creationId xmlns:a16="http://schemas.microsoft.com/office/drawing/2014/main" id="{8C0CF7D1-2AA6-55A5-B689-4856748679AB}"/>
              </a:ext>
            </a:extLst>
          </p:cNvPr>
          <p:cNvSpPr/>
          <p:nvPr/>
        </p:nvSpPr>
        <p:spPr>
          <a:xfrm>
            <a:off x="2529028" y="2808075"/>
            <a:ext cx="478367"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8</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0" name="直接箭头连接符 9">
            <a:extLst>
              <a:ext uri="{FF2B5EF4-FFF2-40B4-BE49-F238E27FC236}">
                <a16:creationId xmlns:a16="http://schemas.microsoft.com/office/drawing/2014/main" id="{BA5E8DFC-97E4-45FD-DA66-BB277C40C755}"/>
              </a:ext>
            </a:extLst>
          </p:cNvPr>
          <p:cNvCxnSpPr>
            <a:cxnSpLocks/>
            <a:endCxn id="7" idx="7"/>
          </p:cNvCxnSpPr>
          <p:nvPr/>
        </p:nvCxnSpPr>
        <p:spPr>
          <a:xfrm flipH="1">
            <a:off x="1834761" y="2662025"/>
            <a:ext cx="213784" cy="21801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E5F2C83B-E197-03AD-319B-1874B6E22024}"/>
              </a:ext>
            </a:extLst>
          </p:cNvPr>
          <p:cNvCxnSpPr/>
          <p:nvPr/>
        </p:nvCxnSpPr>
        <p:spPr>
          <a:xfrm>
            <a:off x="2387212" y="2662025"/>
            <a:ext cx="211667" cy="21801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椭圆 11">
            <a:extLst>
              <a:ext uri="{FF2B5EF4-FFF2-40B4-BE49-F238E27FC236}">
                <a16:creationId xmlns:a16="http://schemas.microsoft.com/office/drawing/2014/main" id="{BEA3B644-E3F0-3BB3-A41E-B354FE640960}"/>
              </a:ext>
            </a:extLst>
          </p:cNvPr>
          <p:cNvSpPr/>
          <p:nvPr/>
        </p:nvSpPr>
        <p:spPr>
          <a:xfrm>
            <a:off x="3650862" y="2812308"/>
            <a:ext cx="480484"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3" name="直接箭头连接符 12">
            <a:extLst>
              <a:ext uri="{FF2B5EF4-FFF2-40B4-BE49-F238E27FC236}">
                <a16:creationId xmlns:a16="http://schemas.microsoft.com/office/drawing/2014/main" id="{614E8E8D-CB52-78F1-4D0D-AE6888F12F02}"/>
              </a:ext>
            </a:extLst>
          </p:cNvPr>
          <p:cNvCxnSpPr>
            <a:cxnSpLocks/>
            <a:endCxn id="12" idx="1"/>
          </p:cNvCxnSpPr>
          <p:nvPr/>
        </p:nvCxnSpPr>
        <p:spPr>
          <a:xfrm>
            <a:off x="3509045" y="2664141"/>
            <a:ext cx="211667" cy="21801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椭圆 13">
            <a:extLst>
              <a:ext uri="{FF2B5EF4-FFF2-40B4-BE49-F238E27FC236}">
                <a16:creationId xmlns:a16="http://schemas.microsoft.com/office/drawing/2014/main" id="{B2E44408-EB9C-2779-45BF-7FF5A12A1743}"/>
              </a:ext>
            </a:extLst>
          </p:cNvPr>
          <p:cNvSpPr/>
          <p:nvPr/>
        </p:nvSpPr>
        <p:spPr>
          <a:xfrm>
            <a:off x="4226595" y="3371108"/>
            <a:ext cx="480484"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5" name="直接箭头连接符 14">
            <a:extLst>
              <a:ext uri="{FF2B5EF4-FFF2-40B4-BE49-F238E27FC236}">
                <a16:creationId xmlns:a16="http://schemas.microsoft.com/office/drawing/2014/main" id="{AC229513-A645-B5B1-E16B-19F52311F538}"/>
              </a:ext>
            </a:extLst>
          </p:cNvPr>
          <p:cNvCxnSpPr>
            <a:cxnSpLocks/>
            <a:endCxn id="14" idx="1"/>
          </p:cNvCxnSpPr>
          <p:nvPr/>
        </p:nvCxnSpPr>
        <p:spPr>
          <a:xfrm>
            <a:off x="4084778" y="3225058"/>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38B09C18-C7B4-1E02-5C91-F0DD12828C07}"/>
              </a:ext>
            </a:extLst>
          </p:cNvPr>
          <p:cNvSpPr/>
          <p:nvPr/>
        </p:nvSpPr>
        <p:spPr>
          <a:xfrm>
            <a:off x="880145" y="3383808"/>
            <a:ext cx="480483"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4</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椭圆 16">
            <a:extLst>
              <a:ext uri="{FF2B5EF4-FFF2-40B4-BE49-F238E27FC236}">
                <a16:creationId xmlns:a16="http://schemas.microsoft.com/office/drawing/2014/main" id="{3349CE14-AADE-B5C7-BF87-454F01986C95}"/>
              </a:ext>
            </a:extLst>
          </p:cNvPr>
          <p:cNvSpPr/>
          <p:nvPr/>
        </p:nvSpPr>
        <p:spPr>
          <a:xfrm>
            <a:off x="1985046" y="3383808"/>
            <a:ext cx="478367"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6</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8" name="直接箭头连接符 17">
            <a:extLst>
              <a:ext uri="{FF2B5EF4-FFF2-40B4-BE49-F238E27FC236}">
                <a16:creationId xmlns:a16="http://schemas.microsoft.com/office/drawing/2014/main" id="{330CFC6B-8789-844D-37FE-42020CE6017D}"/>
              </a:ext>
            </a:extLst>
          </p:cNvPr>
          <p:cNvCxnSpPr>
            <a:cxnSpLocks/>
            <a:endCxn id="16" idx="7"/>
          </p:cNvCxnSpPr>
          <p:nvPr/>
        </p:nvCxnSpPr>
        <p:spPr>
          <a:xfrm flipH="1">
            <a:off x="1290779" y="3237758"/>
            <a:ext cx="213783"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F8CD12DB-6030-1750-7D42-4FE2C3D56DCF}"/>
              </a:ext>
            </a:extLst>
          </p:cNvPr>
          <p:cNvCxnSpPr>
            <a:cxnSpLocks/>
            <a:endCxn id="17" idx="1"/>
          </p:cNvCxnSpPr>
          <p:nvPr/>
        </p:nvCxnSpPr>
        <p:spPr>
          <a:xfrm>
            <a:off x="1843228" y="3237758"/>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783F3A6B-93DD-CCD5-925E-656FC772C7A9}"/>
              </a:ext>
            </a:extLst>
          </p:cNvPr>
          <p:cNvSpPr/>
          <p:nvPr/>
        </p:nvSpPr>
        <p:spPr>
          <a:xfrm>
            <a:off x="3077245" y="3354175"/>
            <a:ext cx="480483"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5</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21" name="直接箭头连接符 20">
            <a:extLst>
              <a:ext uri="{FF2B5EF4-FFF2-40B4-BE49-F238E27FC236}">
                <a16:creationId xmlns:a16="http://schemas.microsoft.com/office/drawing/2014/main" id="{E9AEA6DE-4714-1051-4D71-6B5070D3464E}"/>
              </a:ext>
            </a:extLst>
          </p:cNvPr>
          <p:cNvCxnSpPr>
            <a:cxnSpLocks/>
            <a:endCxn id="20" idx="1"/>
          </p:cNvCxnSpPr>
          <p:nvPr/>
        </p:nvCxnSpPr>
        <p:spPr>
          <a:xfrm>
            <a:off x="2937545" y="3208125"/>
            <a:ext cx="209549" cy="21801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1582A00F-A8D0-4595-5513-EC9C5F68DB64}"/>
              </a:ext>
            </a:extLst>
          </p:cNvPr>
          <p:cNvSpPr/>
          <p:nvPr/>
        </p:nvSpPr>
        <p:spPr>
          <a:xfrm>
            <a:off x="4254947" y="3455776"/>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10</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7983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childTnLst>
                          </p:cTn>
                        </p:par>
                      </p:childTnLst>
                    </p:cTn>
                  </p:par>
                  <p:par>
                    <p:cTn id="65" fill="hold">
                      <p:stCondLst>
                        <p:cond delay="indefinite"/>
                      </p:stCondLst>
                      <p:childTnLst>
                        <p:par>
                          <p:cTn id="66" fill="hold">
                            <p:stCondLst>
                              <p:cond delay="0"/>
                            </p:stCondLst>
                            <p:childTnLst>
                              <p:par>
                                <p:cTn id="67" presetID="37" presetClass="entr" presetSubtype="0" fill="hold" nodeType="clickEffect">
                                  <p:stCondLst>
                                    <p:cond delay="0"/>
                                  </p:stCondLst>
                                  <p:childTnLst>
                                    <p:set>
                                      <p:cBhvr>
                                        <p:cTn id="68" dur="1" fill="hold">
                                          <p:stCondLst>
                                            <p:cond delay="0"/>
                                          </p:stCondLst>
                                        </p:cTn>
                                        <p:tgtEl>
                                          <p:spTgt spid="187"/>
                                        </p:tgtEl>
                                        <p:attrNameLst>
                                          <p:attrName>style.visibility</p:attrName>
                                        </p:attrNameLst>
                                      </p:cBhvr>
                                      <p:to>
                                        <p:strVal val="visible"/>
                                      </p:to>
                                    </p:set>
                                    <p:animEffect transition="in" filter="fade">
                                      <p:cBhvr>
                                        <p:cTn id="69" dur="1000"/>
                                        <p:tgtEl>
                                          <p:spTgt spid="187"/>
                                        </p:tgtEl>
                                      </p:cBhvr>
                                    </p:animEffect>
                                    <p:anim calcmode="lin" valueType="num">
                                      <p:cBhvr>
                                        <p:cTn id="70" dur="1000" fill="hold"/>
                                        <p:tgtEl>
                                          <p:spTgt spid="187"/>
                                        </p:tgtEl>
                                        <p:attrNameLst>
                                          <p:attrName>ppt_x</p:attrName>
                                        </p:attrNameLst>
                                      </p:cBhvr>
                                      <p:tavLst>
                                        <p:tav tm="0">
                                          <p:val>
                                            <p:strVal val="#ppt_x"/>
                                          </p:val>
                                        </p:tav>
                                        <p:tav tm="100000">
                                          <p:val>
                                            <p:strVal val="#ppt_x"/>
                                          </p:val>
                                        </p:tav>
                                      </p:tavLst>
                                    </p:anim>
                                    <p:anim calcmode="lin" valueType="num">
                                      <p:cBhvr>
                                        <p:cTn id="71" dur="900" decel="100000" fill="hold"/>
                                        <p:tgtEl>
                                          <p:spTgt spid="187"/>
                                        </p:tgtEl>
                                        <p:attrNameLst>
                                          <p:attrName>ppt_y</p:attrName>
                                        </p:attrNameLst>
                                      </p:cBhvr>
                                      <p:tavLst>
                                        <p:tav tm="0">
                                          <p:val>
                                            <p:strVal val="#ppt_y+1"/>
                                          </p:val>
                                        </p:tav>
                                        <p:tav tm="100000">
                                          <p:val>
                                            <p:strVal val="#ppt_y-.03"/>
                                          </p:val>
                                        </p:tav>
                                      </p:tavLst>
                                    </p:anim>
                                    <p:anim calcmode="lin" valueType="num">
                                      <p:cBhvr>
                                        <p:cTn id="72" dur="100" accel="100000" fill="hold">
                                          <p:stCondLst>
                                            <p:cond delay="900"/>
                                          </p:stCondLst>
                                        </p:cTn>
                                        <p:tgtEl>
                                          <p:spTgt spid="187"/>
                                        </p:tgtEl>
                                        <p:attrNameLst>
                                          <p:attrName>ppt_y</p:attrName>
                                        </p:attrNameLst>
                                      </p:cBhvr>
                                      <p:tavLst>
                                        <p:tav tm="0">
                                          <p:val>
                                            <p:strVal val="#ppt_y-.03"/>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8" presetClass="emph" presetSubtype="0" fill="hold" nodeType="clickEffect">
                                  <p:stCondLst>
                                    <p:cond delay="0"/>
                                  </p:stCondLst>
                                  <p:childTnLst>
                                    <p:animRot by="10800000">
                                      <p:cBhvr>
                                        <p:cTn id="76" dur="1000" fill="hold"/>
                                        <p:tgtEl>
                                          <p:spTgt spid="18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animBg="1"/>
      <p:bldP spid="8" grpId="0" animBg="1"/>
      <p:bldP spid="12" grpId="0" animBg="1"/>
      <p:bldP spid="14" grpId="0" animBg="1"/>
      <p:bldP spid="16" grpId="0" animBg="1"/>
      <p:bldP spid="17" grpId="0" animBg="1"/>
      <p:bldP spid="20" grpId="0" animBg="1"/>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D9EDD17-2C65-B3A2-D78D-4C2480F08C65}"/>
              </a:ext>
            </a:extLst>
          </p:cNvPr>
          <p:cNvPicPr>
            <a:picLocks noChangeAspect="1"/>
          </p:cNvPicPr>
          <p:nvPr/>
        </p:nvPicPr>
        <p:blipFill rotWithShape="1">
          <a:blip r:embed="rId2">
            <a:extLst>
              <a:ext uri="{28A0092B-C50C-407E-A947-70E740481C1C}">
                <a14:useLocalDpi xmlns:a14="http://schemas.microsoft.com/office/drawing/2010/main" val="0"/>
              </a:ext>
            </a:extLst>
          </a:blip>
          <a:srcRect l="1436" r="76582" b="5308"/>
          <a:stretch/>
        </p:blipFill>
        <p:spPr>
          <a:xfrm>
            <a:off x="9546233" y="1888596"/>
            <a:ext cx="903316" cy="357359"/>
          </a:xfrm>
          <a:prstGeom prst="rect">
            <a:avLst/>
          </a:prstGeom>
        </p:spPr>
      </p:pic>
      <p:pic>
        <p:nvPicPr>
          <p:cNvPr id="5" name="图片 4">
            <a:extLst>
              <a:ext uri="{FF2B5EF4-FFF2-40B4-BE49-F238E27FC236}">
                <a16:creationId xmlns:a16="http://schemas.microsoft.com/office/drawing/2014/main" id="{A7EA45C1-C7A2-B670-C36A-304AA58C1DF5}"/>
              </a:ext>
            </a:extLst>
          </p:cNvPr>
          <p:cNvPicPr>
            <a:picLocks noChangeAspect="1"/>
          </p:cNvPicPr>
          <p:nvPr/>
        </p:nvPicPr>
        <p:blipFill rotWithShape="1">
          <a:blip r:embed="rId3">
            <a:extLst>
              <a:ext uri="{28A0092B-C50C-407E-A947-70E740481C1C}">
                <a14:useLocalDpi xmlns:a14="http://schemas.microsoft.com/office/drawing/2010/main" val="0"/>
              </a:ext>
            </a:extLst>
          </a:blip>
          <a:srcRect l="1746" t="-934" r="52281" b="-648"/>
          <a:stretch/>
        </p:blipFill>
        <p:spPr>
          <a:xfrm>
            <a:off x="9546232" y="2398202"/>
            <a:ext cx="1965716" cy="1196652"/>
          </a:xfrm>
          <a:prstGeom prst="rect">
            <a:avLst/>
          </a:prstGeom>
        </p:spPr>
      </p:pic>
      <p:sp>
        <p:nvSpPr>
          <p:cNvPr id="25" name="椭圆 24">
            <a:extLst>
              <a:ext uri="{FF2B5EF4-FFF2-40B4-BE49-F238E27FC236}">
                <a16:creationId xmlns:a16="http://schemas.microsoft.com/office/drawing/2014/main" id="{9F7612F3-0E84-CF18-CF46-2A6500EF640F}"/>
              </a:ext>
            </a:extLst>
          </p:cNvPr>
          <p:cNvSpPr/>
          <p:nvPr/>
        </p:nvSpPr>
        <p:spPr>
          <a:xfrm>
            <a:off x="7575983" y="2330621"/>
            <a:ext cx="480483" cy="48048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7</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6" name="椭圆 25">
            <a:extLst>
              <a:ext uri="{FF2B5EF4-FFF2-40B4-BE49-F238E27FC236}">
                <a16:creationId xmlns:a16="http://schemas.microsoft.com/office/drawing/2014/main" id="{3568F6F6-EA78-AE93-F782-7AE323C68D78}"/>
              </a:ext>
            </a:extLst>
          </p:cNvPr>
          <p:cNvSpPr/>
          <p:nvPr/>
        </p:nvSpPr>
        <p:spPr>
          <a:xfrm>
            <a:off x="7023533" y="2887305"/>
            <a:ext cx="478367"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4</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7" name="椭圆 26">
            <a:extLst>
              <a:ext uri="{FF2B5EF4-FFF2-40B4-BE49-F238E27FC236}">
                <a16:creationId xmlns:a16="http://schemas.microsoft.com/office/drawing/2014/main" id="{23721412-C6E9-D0B4-ADFF-F564BF465CC6}"/>
              </a:ext>
            </a:extLst>
          </p:cNvPr>
          <p:cNvSpPr/>
          <p:nvPr/>
        </p:nvSpPr>
        <p:spPr>
          <a:xfrm>
            <a:off x="8126317" y="2887305"/>
            <a:ext cx="480483"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28" name="直接箭头连接符 27">
            <a:extLst>
              <a:ext uri="{FF2B5EF4-FFF2-40B4-BE49-F238E27FC236}">
                <a16:creationId xmlns:a16="http://schemas.microsoft.com/office/drawing/2014/main" id="{12D8AFC5-E388-7353-0BDF-DC52EBD5D758}"/>
              </a:ext>
            </a:extLst>
          </p:cNvPr>
          <p:cNvCxnSpPr>
            <a:cxnSpLocks/>
            <a:stCxn id="25" idx="3"/>
            <a:endCxn id="26" idx="7"/>
          </p:cNvCxnSpPr>
          <p:nvPr/>
        </p:nvCxnSpPr>
        <p:spPr>
          <a:xfrm flipH="1">
            <a:off x="7432051" y="2741255"/>
            <a:ext cx="213783"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922E279E-E73D-95FE-D3B9-3F1015C50FDB}"/>
              </a:ext>
            </a:extLst>
          </p:cNvPr>
          <p:cNvCxnSpPr>
            <a:cxnSpLocks/>
            <a:stCxn id="25" idx="5"/>
            <a:endCxn id="27" idx="1"/>
          </p:cNvCxnSpPr>
          <p:nvPr/>
        </p:nvCxnSpPr>
        <p:spPr>
          <a:xfrm>
            <a:off x="7984499" y="2741255"/>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7A24BC83-7EAD-89A4-6950-4516752CF076}"/>
              </a:ext>
            </a:extLst>
          </p:cNvPr>
          <p:cNvSpPr/>
          <p:nvPr/>
        </p:nvSpPr>
        <p:spPr>
          <a:xfrm>
            <a:off x="6462617" y="3416471"/>
            <a:ext cx="480483"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2</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1" name="椭圆 30">
            <a:extLst>
              <a:ext uri="{FF2B5EF4-FFF2-40B4-BE49-F238E27FC236}">
                <a16:creationId xmlns:a16="http://schemas.microsoft.com/office/drawing/2014/main" id="{B2BBDE94-1F4B-AE79-9FCC-45EB626F4448}"/>
              </a:ext>
            </a:extLst>
          </p:cNvPr>
          <p:cNvSpPr/>
          <p:nvPr/>
        </p:nvSpPr>
        <p:spPr>
          <a:xfrm>
            <a:off x="7567517" y="3416471"/>
            <a:ext cx="478367"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5</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32" name="直接箭头连接符 31">
            <a:extLst>
              <a:ext uri="{FF2B5EF4-FFF2-40B4-BE49-F238E27FC236}">
                <a16:creationId xmlns:a16="http://schemas.microsoft.com/office/drawing/2014/main" id="{2FE088B4-A39F-B0B9-DAC5-99EECE70136F}"/>
              </a:ext>
            </a:extLst>
          </p:cNvPr>
          <p:cNvCxnSpPr>
            <a:cxnSpLocks/>
            <a:endCxn id="30" idx="7"/>
          </p:cNvCxnSpPr>
          <p:nvPr/>
        </p:nvCxnSpPr>
        <p:spPr>
          <a:xfrm flipH="1">
            <a:off x="6873251" y="3270422"/>
            <a:ext cx="213783" cy="21801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011358FA-9613-EF2C-FD1A-D400A696C409}"/>
              </a:ext>
            </a:extLst>
          </p:cNvPr>
          <p:cNvCxnSpPr/>
          <p:nvPr/>
        </p:nvCxnSpPr>
        <p:spPr>
          <a:xfrm>
            <a:off x="7425699" y="3270422"/>
            <a:ext cx="211667" cy="21801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椭圆 33">
            <a:extLst>
              <a:ext uri="{FF2B5EF4-FFF2-40B4-BE49-F238E27FC236}">
                <a16:creationId xmlns:a16="http://schemas.microsoft.com/office/drawing/2014/main" id="{E8E45198-C42B-F12E-19EC-E6F509762BCB}"/>
              </a:ext>
            </a:extLst>
          </p:cNvPr>
          <p:cNvSpPr/>
          <p:nvPr/>
        </p:nvSpPr>
        <p:spPr>
          <a:xfrm>
            <a:off x="8689350" y="3420705"/>
            <a:ext cx="480483"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35" name="直接箭头连接符 34">
            <a:extLst>
              <a:ext uri="{FF2B5EF4-FFF2-40B4-BE49-F238E27FC236}">
                <a16:creationId xmlns:a16="http://schemas.microsoft.com/office/drawing/2014/main" id="{CBD3D640-40C7-4C23-3150-3E80ADA6929F}"/>
              </a:ext>
            </a:extLst>
          </p:cNvPr>
          <p:cNvCxnSpPr>
            <a:cxnSpLocks/>
            <a:endCxn id="34" idx="1"/>
          </p:cNvCxnSpPr>
          <p:nvPr/>
        </p:nvCxnSpPr>
        <p:spPr>
          <a:xfrm>
            <a:off x="8547533" y="3272538"/>
            <a:ext cx="211667" cy="21801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椭圆 35">
            <a:extLst>
              <a:ext uri="{FF2B5EF4-FFF2-40B4-BE49-F238E27FC236}">
                <a16:creationId xmlns:a16="http://schemas.microsoft.com/office/drawing/2014/main" id="{4814586A-7134-CF97-7FEF-E275776B0E3A}"/>
              </a:ext>
            </a:extLst>
          </p:cNvPr>
          <p:cNvSpPr/>
          <p:nvPr/>
        </p:nvSpPr>
        <p:spPr>
          <a:xfrm>
            <a:off x="9265083" y="3979505"/>
            <a:ext cx="480483"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37" name="直接箭头连接符 36">
            <a:extLst>
              <a:ext uri="{FF2B5EF4-FFF2-40B4-BE49-F238E27FC236}">
                <a16:creationId xmlns:a16="http://schemas.microsoft.com/office/drawing/2014/main" id="{74181256-C8B7-EF75-1454-945DB7F8CEBD}"/>
              </a:ext>
            </a:extLst>
          </p:cNvPr>
          <p:cNvCxnSpPr>
            <a:cxnSpLocks/>
            <a:endCxn id="36" idx="1"/>
          </p:cNvCxnSpPr>
          <p:nvPr/>
        </p:nvCxnSpPr>
        <p:spPr>
          <a:xfrm>
            <a:off x="9123266" y="3833455"/>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椭圆 37">
            <a:extLst>
              <a:ext uri="{FF2B5EF4-FFF2-40B4-BE49-F238E27FC236}">
                <a16:creationId xmlns:a16="http://schemas.microsoft.com/office/drawing/2014/main" id="{B34CC893-032B-A8F8-71D4-5BAEE8778BB6}"/>
              </a:ext>
            </a:extLst>
          </p:cNvPr>
          <p:cNvSpPr/>
          <p:nvPr/>
        </p:nvSpPr>
        <p:spPr>
          <a:xfrm>
            <a:off x="5918633" y="3992205"/>
            <a:ext cx="480484"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9" name="椭圆 38">
            <a:extLst>
              <a:ext uri="{FF2B5EF4-FFF2-40B4-BE49-F238E27FC236}">
                <a16:creationId xmlns:a16="http://schemas.microsoft.com/office/drawing/2014/main" id="{A2D958FB-DCF8-DBD4-35D0-4FB58F07C8AD}"/>
              </a:ext>
            </a:extLst>
          </p:cNvPr>
          <p:cNvSpPr/>
          <p:nvPr/>
        </p:nvSpPr>
        <p:spPr>
          <a:xfrm>
            <a:off x="7023533" y="3992205"/>
            <a:ext cx="478367"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3</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40" name="直接箭头连接符 39">
            <a:extLst>
              <a:ext uri="{FF2B5EF4-FFF2-40B4-BE49-F238E27FC236}">
                <a16:creationId xmlns:a16="http://schemas.microsoft.com/office/drawing/2014/main" id="{537C28E1-7DE0-B6FC-969E-DD9DC552DD72}"/>
              </a:ext>
            </a:extLst>
          </p:cNvPr>
          <p:cNvCxnSpPr>
            <a:cxnSpLocks/>
            <a:endCxn id="38" idx="7"/>
          </p:cNvCxnSpPr>
          <p:nvPr/>
        </p:nvCxnSpPr>
        <p:spPr>
          <a:xfrm flipH="1">
            <a:off x="6329266" y="3846155"/>
            <a:ext cx="213784"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1D4F1BDB-F626-56A1-5EC2-769886351DF6}"/>
              </a:ext>
            </a:extLst>
          </p:cNvPr>
          <p:cNvCxnSpPr>
            <a:cxnSpLocks/>
            <a:endCxn id="39" idx="1"/>
          </p:cNvCxnSpPr>
          <p:nvPr/>
        </p:nvCxnSpPr>
        <p:spPr>
          <a:xfrm>
            <a:off x="6881717" y="3846155"/>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椭圆 41">
            <a:extLst>
              <a:ext uri="{FF2B5EF4-FFF2-40B4-BE49-F238E27FC236}">
                <a16:creationId xmlns:a16="http://schemas.microsoft.com/office/drawing/2014/main" id="{AD4734A7-2093-46C2-D715-A7E2BC7C2F7E}"/>
              </a:ext>
            </a:extLst>
          </p:cNvPr>
          <p:cNvSpPr/>
          <p:nvPr/>
        </p:nvSpPr>
        <p:spPr>
          <a:xfrm>
            <a:off x="8115733" y="3962571"/>
            <a:ext cx="480484"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6</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43" name="直接箭头连接符 42">
            <a:extLst>
              <a:ext uri="{FF2B5EF4-FFF2-40B4-BE49-F238E27FC236}">
                <a16:creationId xmlns:a16="http://schemas.microsoft.com/office/drawing/2014/main" id="{A5738D4D-E3D3-E289-3985-F8ED47B76AFD}"/>
              </a:ext>
            </a:extLst>
          </p:cNvPr>
          <p:cNvCxnSpPr>
            <a:cxnSpLocks/>
            <a:endCxn id="42" idx="1"/>
          </p:cNvCxnSpPr>
          <p:nvPr/>
        </p:nvCxnSpPr>
        <p:spPr>
          <a:xfrm>
            <a:off x="7976033" y="3816522"/>
            <a:ext cx="209551" cy="21801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0598B187-6CE3-A6F6-16C2-89E67698FF83}"/>
              </a:ext>
            </a:extLst>
          </p:cNvPr>
          <p:cNvSpPr/>
          <p:nvPr/>
        </p:nvSpPr>
        <p:spPr>
          <a:xfrm>
            <a:off x="9293435" y="4064172"/>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12</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5" name="矩形 44">
            <a:extLst>
              <a:ext uri="{FF2B5EF4-FFF2-40B4-BE49-F238E27FC236}">
                <a16:creationId xmlns:a16="http://schemas.microsoft.com/office/drawing/2014/main" id="{F838A662-2F48-52EE-EB58-8A07466C5C14}"/>
              </a:ext>
            </a:extLst>
          </p:cNvPr>
          <p:cNvSpPr/>
          <p:nvPr/>
        </p:nvSpPr>
        <p:spPr>
          <a:xfrm>
            <a:off x="8129268" y="2976206"/>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10</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6" name="矩形 45">
            <a:extLst>
              <a:ext uri="{FF2B5EF4-FFF2-40B4-BE49-F238E27FC236}">
                <a16:creationId xmlns:a16="http://schemas.microsoft.com/office/drawing/2014/main" id="{C6E27B71-5C78-A2B1-BEEF-2E584F74F225}"/>
              </a:ext>
            </a:extLst>
          </p:cNvPr>
          <p:cNvSpPr/>
          <p:nvPr/>
        </p:nvSpPr>
        <p:spPr>
          <a:xfrm>
            <a:off x="8718760" y="3492672"/>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11</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7" name="矩形 46">
            <a:extLst>
              <a:ext uri="{FF2B5EF4-FFF2-40B4-BE49-F238E27FC236}">
                <a16:creationId xmlns:a16="http://schemas.microsoft.com/office/drawing/2014/main" id="{66C17FC0-3F1E-C0CB-5691-D55351CA6148}"/>
              </a:ext>
            </a:extLst>
          </p:cNvPr>
          <p:cNvSpPr/>
          <p:nvPr/>
        </p:nvSpPr>
        <p:spPr>
          <a:xfrm>
            <a:off x="1606984" y="4601806"/>
            <a:ext cx="2031325" cy="461665"/>
          </a:xfrm>
          <a:prstGeom prst="rect">
            <a:avLst/>
          </a:prstGeom>
        </p:spPr>
        <p:txBody>
          <a:bodyPr wrap="none">
            <a:spAutoFit/>
          </a:bodyPr>
          <a:lstStyle/>
          <a:p>
            <a:pPr>
              <a:defRPr/>
            </a:pPr>
            <a:r>
              <a:rPr lang="zh-CN" altLang="en-US" sz="2400" b="1" dirty="0">
                <a:solidFill>
                  <a:schemeClr val="tx1">
                    <a:lumMod val="75000"/>
                  </a:schemeClr>
                </a:solidFill>
                <a:latin typeface="微软雅黑" pitchFamily="34" charset="-122"/>
                <a:ea typeface="微软雅黑" pitchFamily="34" charset="-122"/>
              </a:rPr>
              <a:t>普通的二叉树</a:t>
            </a:r>
            <a:endParaRPr lang="zh-CN" altLang="en-US" sz="2400" dirty="0">
              <a:solidFill>
                <a:schemeClr val="tx1">
                  <a:lumMod val="75000"/>
                </a:schemeClr>
              </a:solidFill>
            </a:endParaRPr>
          </a:p>
        </p:txBody>
      </p:sp>
      <p:sp>
        <p:nvSpPr>
          <p:cNvPr id="48" name="矩形 47">
            <a:extLst>
              <a:ext uri="{FF2B5EF4-FFF2-40B4-BE49-F238E27FC236}">
                <a16:creationId xmlns:a16="http://schemas.microsoft.com/office/drawing/2014/main" id="{6F50C51D-C2A4-5719-C39C-8068939D1B25}"/>
              </a:ext>
            </a:extLst>
          </p:cNvPr>
          <p:cNvSpPr/>
          <p:nvPr/>
        </p:nvSpPr>
        <p:spPr>
          <a:xfrm>
            <a:off x="6388406" y="4618738"/>
            <a:ext cx="3877985" cy="461665"/>
          </a:xfrm>
          <a:prstGeom prst="rect">
            <a:avLst/>
          </a:prstGeom>
        </p:spPr>
        <p:txBody>
          <a:bodyPr wrap="none">
            <a:spAutoFit/>
          </a:bodyPr>
          <a:lstStyle/>
          <a:p>
            <a:pPr>
              <a:defRPr/>
            </a:pPr>
            <a:r>
              <a:rPr lang="zh-CN" altLang="en-US" sz="2400" b="1" dirty="0">
                <a:solidFill>
                  <a:schemeClr val="tx1">
                    <a:lumMod val="75000"/>
                  </a:schemeClr>
                </a:solidFill>
                <a:latin typeface="微软雅黑" pitchFamily="34" charset="-122"/>
                <a:ea typeface="微软雅黑" pitchFamily="34" charset="-122"/>
              </a:rPr>
              <a:t>二叉查找树（二叉排序树）</a:t>
            </a:r>
          </a:p>
        </p:txBody>
      </p:sp>
      <p:sp>
        <p:nvSpPr>
          <p:cNvPr id="56" name="标题 3">
            <a:extLst>
              <a:ext uri="{FF2B5EF4-FFF2-40B4-BE49-F238E27FC236}">
                <a16:creationId xmlns:a16="http://schemas.microsoft.com/office/drawing/2014/main" id="{04B83921-C604-43ED-D243-70A3CD6FC7CF}"/>
              </a:ext>
            </a:extLst>
          </p:cNvPr>
          <p:cNvSpPr>
            <a:spLocks noGrp="1"/>
          </p:cNvSpPr>
          <p:nvPr>
            <p:ph type="title"/>
          </p:nvPr>
        </p:nvSpPr>
        <p:spPr/>
        <p:txBody>
          <a:bodyPr/>
          <a:lstStyle/>
          <a:p>
            <a:r>
              <a:rPr lang="en-US" altLang="zh-CN" dirty="0" err="1"/>
              <a:t>TreeSet</a:t>
            </a:r>
            <a:r>
              <a:rPr lang="en-US" altLang="zh-CN" dirty="0"/>
              <a:t> </a:t>
            </a:r>
            <a:r>
              <a:rPr lang="zh-CN" altLang="en-US" dirty="0"/>
              <a:t>集合底层数据结构</a:t>
            </a:r>
          </a:p>
        </p:txBody>
      </p:sp>
      <p:sp>
        <p:nvSpPr>
          <p:cNvPr id="57" name="椭圆 56">
            <a:extLst>
              <a:ext uri="{FF2B5EF4-FFF2-40B4-BE49-F238E27FC236}">
                <a16:creationId xmlns:a16="http://schemas.microsoft.com/office/drawing/2014/main" id="{74B9F545-5C83-858B-F291-5D13BB8B047E}"/>
              </a:ext>
            </a:extLst>
          </p:cNvPr>
          <p:cNvSpPr/>
          <p:nvPr/>
        </p:nvSpPr>
        <p:spPr>
          <a:xfrm>
            <a:off x="2537495" y="2305699"/>
            <a:ext cx="480484" cy="48048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9</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8" name="椭圆 57">
            <a:extLst>
              <a:ext uri="{FF2B5EF4-FFF2-40B4-BE49-F238E27FC236}">
                <a16:creationId xmlns:a16="http://schemas.microsoft.com/office/drawing/2014/main" id="{DCC171B2-C922-947C-5E46-900F3F762A58}"/>
              </a:ext>
            </a:extLst>
          </p:cNvPr>
          <p:cNvSpPr/>
          <p:nvPr/>
        </p:nvSpPr>
        <p:spPr>
          <a:xfrm>
            <a:off x="1985046" y="2862382"/>
            <a:ext cx="478367"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7</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9" name="椭圆 58">
            <a:extLst>
              <a:ext uri="{FF2B5EF4-FFF2-40B4-BE49-F238E27FC236}">
                <a16:creationId xmlns:a16="http://schemas.microsoft.com/office/drawing/2014/main" id="{31D4B791-8B6E-57AF-9220-88F9A91E5B07}"/>
              </a:ext>
            </a:extLst>
          </p:cNvPr>
          <p:cNvSpPr/>
          <p:nvPr/>
        </p:nvSpPr>
        <p:spPr>
          <a:xfrm>
            <a:off x="3087828" y="2862382"/>
            <a:ext cx="480484"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2</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0" name="直接箭头连接符 59">
            <a:extLst>
              <a:ext uri="{FF2B5EF4-FFF2-40B4-BE49-F238E27FC236}">
                <a16:creationId xmlns:a16="http://schemas.microsoft.com/office/drawing/2014/main" id="{449C038A-DD48-C87A-1202-F2DC70C50983}"/>
              </a:ext>
            </a:extLst>
          </p:cNvPr>
          <p:cNvCxnSpPr>
            <a:cxnSpLocks/>
            <a:stCxn id="57" idx="3"/>
            <a:endCxn id="58" idx="7"/>
          </p:cNvCxnSpPr>
          <p:nvPr/>
        </p:nvCxnSpPr>
        <p:spPr>
          <a:xfrm flipH="1">
            <a:off x="2393561" y="2716332"/>
            <a:ext cx="213784"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489E7E8F-0D70-DCC3-8771-EF9E38AA494D}"/>
              </a:ext>
            </a:extLst>
          </p:cNvPr>
          <p:cNvCxnSpPr>
            <a:cxnSpLocks/>
            <a:stCxn id="57" idx="5"/>
            <a:endCxn id="59" idx="1"/>
          </p:cNvCxnSpPr>
          <p:nvPr/>
        </p:nvCxnSpPr>
        <p:spPr>
          <a:xfrm>
            <a:off x="2946012" y="2716332"/>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椭圆 61">
            <a:extLst>
              <a:ext uri="{FF2B5EF4-FFF2-40B4-BE49-F238E27FC236}">
                <a16:creationId xmlns:a16="http://schemas.microsoft.com/office/drawing/2014/main" id="{49AD41C4-6659-AD8D-E1BB-E694446F9BDA}"/>
              </a:ext>
            </a:extLst>
          </p:cNvPr>
          <p:cNvSpPr/>
          <p:nvPr/>
        </p:nvSpPr>
        <p:spPr>
          <a:xfrm>
            <a:off x="1424128" y="3391549"/>
            <a:ext cx="480484"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3</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63" name="椭圆 62">
            <a:extLst>
              <a:ext uri="{FF2B5EF4-FFF2-40B4-BE49-F238E27FC236}">
                <a16:creationId xmlns:a16="http://schemas.microsoft.com/office/drawing/2014/main" id="{2812B0B4-FB04-ED74-73BA-5B406FA76931}"/>
              </a:ext>
            </a:extLst>
          </p:cNvPr>
          <p:cNvSpPr/>
          <p:nvPr/>
        </p:nvSpPr>
        <p:spPr>
          <a:xfrm>
            <a:off x="2529028" y="3391549"/>
            <a:ext cx="478367"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8</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4" name="直接箭头连接符 63">
            <a:extLst>
              <a:ext uri="{FF2B5EF4-FFF2-40B4-BE49-F238E27FC236}">
                <a16:creationId xmlns:a16="http://schemas.microsoft.com/office/drawing/2014/main" id="{295A8340-2A3C-C94E-A41E-066739C1B82D}"/>
              </a:ext>
            </a:extLst>
          </p:cNvPr>
          <p:cNvCxnSpPr>
            <a:cxnSpLocks/>
            <a:endCxn id="62" idx="7"/>
          </p:cNvCxnSpPr>
          <p:nvPr/>
        </p:nvCxnSpPr>
        <p:spPr>
          <a:xfrm flipH="1">
            <a:off x="1834761" y="3245499"/>
            <a:ext cx="213784" cy="21801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83B00023-78DC-B580-FA6C-C1EAA30204B7}"/>
              </a:ext>
            </a:extLst>
          </p:cNvPr>
          <p:cNvCxnSpPr/>
          <p:nvPr/>
        </p:nvCxnSpPr>
        <p:spPr>
          <a:xfrm>
            <a:off x="2387212" y="3245499"/>
            <a:ext cx="211667" cy="21801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6" name="椭圆 65">
            <a:extLst>
              <a:ext uri="{FF2B5EF4-FFF2-40B4-BE49-F238E27FC236}">
                <a16:creationId xmlns:a16="http://schemas.microsoft.com/office/drawing/2014/main" id="{C41DC332-455A-DA20-EA4A-6BF011DAD159}"/>
              </a:ext>
            </a:extLst>
          </p:cNvPr>
          <p:cNvSpPr/>
          <p:nvPr/>
        </p:nvSpPr>
        <p:spPr>
          <a:xfrm>
            <a:off x="3650862" y="3395782"/>
            <a:ext cx="480484"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7" name="直接箭头连接符 66">
            <a:extLst>
              <a:ext uri="{FF2B5EF4-FFF2-40B4-BE49-F238E27FC236}">
                <a16:creationId xmlns:a16="http://schemas.microsoft.com/office/drawing/2014/main" id="{B090C992-6A43-E252-6AF5-DE882DF83C89}"/>
              </a:ext>
            </a:extLst>
          </p:cNvPr>
          <p:cNvCxnSpPr>
            <a:cxnSpLocks/>
            <a:endCxn id="66" idx="1"/>
          </p:cNvCxnSpPr>
          <p:nvPr/>
        </p:nvCxnSpPr>
        <p:spPr>
          <a:xfrm>
            <a:off x="3509045" y="3247615"/>
            <a:ext cx="211667" cy="21801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椭圆 67">
            <a:extLst>
              <a:ext uri="{FF2B5EF4-FFF2-40B4-BE49-F238E27FC236}">
                <a16:creationId xmlns:a16="http://schemas.microsoft.com/office/drawing/2014/main" id="{4019F554-64DC-D02A-662B-03948F809B2E}"/>
              </a:ext>
            </a:extLst>
          </p:cNvPr>
          <p:cNvSpPr/>
          <p:nvPr/>
        </p:nvSpPr>
        <p:spPr>
          <a:xfrm>
            <a:off x="4226595" y="3954582"/>
            <a:ext cx="480484"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9" name="直接箭头连接符 68">
            <a:extLst>
              <a:ext uri="{FF2B5EF4-FFF2-40B4-BE49-F238E27FC236}">
                <a16:creationId xmlns:a16="http://schemas.microsoft.com/office/drawing/2014/main" id="{2E157342-EB1B-E647-2A0C-1257AB4B546D}"/>
              </a:ext>
            </a:extLst>
          </p:cNvPr>
          <p:cNvCxnSpPr>
            <a:cxnSpLocks/>
            <a:endCxn id="68" idx="1"/>
          </p:cNvCxnSpPr>
          <p:nvPr/>
        </p:nvCxnSpPr>
        <p:spPr>
          <a:xfrm>
            <a:off x="4084778" y="3808532"/>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90011A90-90A0-DF87-D99C-C3FAE08272C9}"/>
              </a:ext>
            </a:extLst>
          </p:cNvPr>
          <p:cNvSpPr/>
          <p:nvPr/>
        </p:nvSpPr>
        <p:spPr>
          <a:xfrm>
            <a:off x="880145" y="3967282"/>
            <a:ext cx="480483"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4</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1" name="椭圆 70">
            <a:extLst>
              <a:ext uri="{FF2B5EF4-FFF2-40B4-BE49-F238E27FC236}">
                <a16:creationId xmlns:a16="http://schemas.microsoft.com/office/drawing/2014/main" id="{2B9FB3EB-813A-6756-95BF-C3CBCA0AEC01}"/>
              </a:ext>
            </a:extLst>
          </p:cNvPr>
          <p:cNvSpPr/>
          <p:nvPr/>
        </p:nvSpPr>
        <p:spPr>
          <a:xfrm>
            <a:off x="1985046" y="3967282"/>
            <a:ext cx="478367"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6</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72" name="直接箭头连接符 71">
            <a:extLst>
              <a:ext uri="{FF2B5EF4-FFF2-40B4-BE49-F238E27FC236}">
                <a16:creationId xmlns:a16="http://schemas.microsoft.com/office/drawing/2014/main" id="{86F158C6-D097-DEB8-A385-3868C669B69C}"/>
              </a:ext>
            </a:extLst>
          </p:cNvPr>
          <p:cNvCxnSpPr>
            <a:cxnSpLocks/>
            <a:endCxn id="70" idx="7"/>
          </p:cNvCxnSpPr>
          <p:nvPr/>
        </p:nvCxnSpPr>
        <p:spPr>
          <a:xfrm flipH="1">
            <a:off x="1290779" y="3821232"/>
            <a:ext cx="213783"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0F57CED1-4E2E-2E93-D5B2-5765A271AE2E}"/>
              </a:ext>
            </a:extLst>
          </p:cNvPr>
          <p:cNvCxnSpPr>
            <a:cxnSpLocks/>
            <a:endCxn id="71" idx="1"/>
          </p:cNvCxnSpPr>
          <p:nvPr/>
        </p:nvCxnSpPr>
        <p:spPr>
          <a:xfrm>
            <a:off x="1843228" y="3821232"/>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4" name="椭圆 73">
            <a:extLst>
              <a:ext uri="{FF2B5EF4-FFF2-40B4-BE49-F238E27FC236}">
                <a16:creationId xmlns:a16="http://schemas.microsoft.com/office/drawing/2014/main" id="{2810A31D-1ED9-6D33-2882-4D17C4CD0D4A}"/>
              </a:ext>
            </a:extLst>
          </p:cNvPr>
          <p:cNvSpPr/>
          <p:nvPr/>
        </p:nvSpPr>
        <p:spPr>
          <a:xfrm>
            <a:off x="3077245" y="3937649"/>
            <a:ext cx="480483"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5</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75" name="直接箭头连接符 74">
            <a:extLst>
              <a:ext uri="{FF2B5EF4-FFF2-40B4-BE49-F238E27FC236}">
                <a16:creationId xmlns:a16="http://schemas.microsoft.com/office/drawing/2014/main" id="{7F7DC88B-960A-C95E-3117-9D8795EC1AEF}"/>
              </a:ext>
            </a:extLst>
          </p:cNvPr>
          <p:cNvCxnSpPr>
            <a:cxnSpLocks/>
            <a:endCxn id="74" idx="1"/>
          </p:cNvCxnSpPr>
          <p:nvPr/>
        </p:nvCxnSpPr>
        <p:spPr>
          <a:xfrm>
            <a:off x="2937545" y="3791599"/>
            <a:ext cx="209549" cy="21801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6" name="矩形 75">
            <a:extLst>
              <a:ext uri="{FF2B5EF4-FFF2-40B4-BE49-F238E27FC236}">
                <a16:creationId xmlns:a16="http://schemas.microsoft.com/office/drawing/2014/main" id="{27CF3EA0-5A76-D089-44A6-5B93CD04514F}"/>
              </a:ext>
            </a:extLst>
          </p:cNvPr>
          <p:cNvSpPr/>
          <p:nvPr/>
        </p:nvSpPr>
        <p:spPr>
          <a:xfrm>
            <a:off x="4254947" y="4039250"/>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10</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2630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up)">
                                      <p:cBhvr>
                                        <p:cTn id="12" dur="500"/>
                                        <p:tgtEl>
                                          <p:spTgt spid="25"/>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up)">
                                      <p:cBhvr>
                                        <p:cTn id="15" dur="500"/>
                                        <p:tgtEl>
                                          <p:spTgt spid="26"/>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up)">
                                      <p:cBhvr>
                                        <p:cTn id="18" dur="500"/>
                                        <p:tgtEl>
                                          <p:spTgt spid="27"/>
                                        </p:tgtEl>
                                      </p:cBhvr>
                                    </p:animEffect>
                                  </p:childTnLst>
                                </p:cTn>
                              </p:par>
                              <p:par>
                                <p:cTn id="19" presetID="22" presetClass="entr" presetSubtype="1"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wipe(up)">
                                      <p:cBhvr>
                                        <p:cTn id="21" dur="500"/>
                                        <p:tgtEl>
                                          <p:spTgt spid="28"/>
                                        </p:tgtEl>
                                      </p:cBhvr>
                                    </p:animEffect>
                                  </p:childTnLst>
                                </p:cTn>
                              </p:par>
                              <p:par>
                                <p:cTn id="22" presetID="22" presetClass="entr" presetSubtype="1" fill="hold"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up)">
                                      <p:cBhvr>
                                        <p:cTn id="24" dur="500"/>
                                        <p:tgtEl>
                                          <p:spTgt spid="29"/>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up)">
                                      <p:cBhvr>
                                        <p:cTn id="27" dur="500"/>
                                        <p:tgtEl>
                                          <p:spTgt spid="30"/>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wipe(up)">
                                      <p:cBhvr>
                                        <p:cTn id="30" dur="500"/>
                                        <p:tgtEl>
                                          <p:spTgt spid="31"/>
                                        </p:tgtEl>
                                      </p:cBhvr>
                                    </p:animEffect>
                                  </p:childTnLst>
                                </p:cTn>
                              </p:par>
                              <p:par>
                                <p:cTn id="31" presetID="22" presetClass="entr" presetSubtype="1"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wipe(up)">
                                      <p:cBhvr>
                                        <p:cTn id="33" dur="500"/>
                                        <p:tgtEl>
                                          <p:spTgt spid="32"/>
                                        </p:tgtEl>
                                      </p:cBhvr>
                                    </p:animEffect>
                                  </p:childTnLst>
                                </p:cTn>
                              </p:par>
                              <p:par>
                                <p:cTn id="34" presetID="22" presetClass="entr" presetSubtype="1" fill="hold"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wipe(up)">
                                      <p:cBhvr>
                                        <p:cTn id="36" dur="500"/>
                                        <p:tgtEl>
                                          <p:spTgt spid="33"/>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wipe(up)">
                                      <p:cBhvr>
                                        <p:cTn id="39" dur="500"/>
                                        <p:tgtEl>
                                          <p:spTgt spid="34"/>
                                        </p:tgtEl>
                                      </p:cBhvr>
                                    </p:animEffect>
                                  </p:childTnLst>
                                </p:cTn>
                              </p:par>
                              <p:par>
                                <p:cTn id="40" presetID="22" presetClass="entr" presetSubtype="1" fill="hold"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wipe(up)">
                                      <p:cBhvr>
                                        <p:cTn id="42" dur="500"/>
                                        <p:tgtEl>
                                          <p:spTgt spid="35"/>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wipe(up)">
                                      <p:cBhvr>
                                        <p:cTn id="45" dur="500"/>
                                        <p:tgtEl>
                                          <p:spTgt spid="36"/>
                                        </p:tgtEl>
                                      </p:cBhvr>
                                    </p:animEffect>
                                  </p:childTnLst>
                                </p:cTn>
                              </p:par>
                              <p:par>
                                <p:cTn id="46" presetID="22" presetClass="entr" presetSubtype="1" fill="hold" nodeType="with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up)">
                                      <p:cBhvr>
                                        <p:cTn id="48" dur="500"/>
                                        <p:tgtEl>
                                          <p:spTgt spid="37"/>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wipe(up)">
                                      <p:cBhvr>
                                        <p:cTn id="51" dur="500"/>
                                        <p:tgtEl>
                                          <p:spTgt spid="38"/>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wipe(up)">
                                      <p:cBhvr>
                                        <p:cTn id="54" dur="500"/>
                                        <p:tgtEl>
                                          <p:spTgt spid="39"/>
                                        </p:tgtEl>
                                      </p:cBhvr>
                                    </p:animEffect>
                                  </p:childTnLst>
                                </p:cTn>
                              </p:par>
                              <p:par>
                                <p:cTn id="55" presetID="22" presetClass="entr" presetSubtype="1" fill="hold"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wipe(up)">
                                      <p:cBhvr>
                                        <p:cTn id="57" dur="500"/>
                                        <p:tgtEl>
                                          <p:spTgt spid="40"/>
                                        </p:tgtEl>
                                      </p:cBhvr>
                                    </p:animEffect>
                                  </p:childTnLst>
                                </p:cTn>
                              </p:par>
                              <p:par>
                                <p:cTn id="58" presetID="22" presetClass="entr" presetSubtype="1" fill="hold"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wipe(up)">
                                      <p:cBhvr>
                                        <p:cTn id="60" dur="500"/>
                                        <p:tgtEl>
                                          <p:spTgt spid="41"/>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wipe(up)">
                                      <p:cBhvr>
                                        <p:cTn id="63" dur="500"/>
                                        <p:tgtEl>
                                          <p:spTgt spid="42"/>
                                        </p:tgtEl>
                                      </p:cBhvr>
                                    </p:animEffect>
                                  </p:childTnLst>
                                </p:cTn>
                              </p:par>
                              <p:par>
                                <p:cTn id="64" presetID="22" presetClass="entr" presetSubtype="1" fill="hold" nodeType="with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wipe(up)">
                                      <p:cBhvr>
                                        <p:cTn id="66" dur="500"/>
                                        <p:tgtEl>
                                          <p:spTgt spid="43"/>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animEffect transition="in" filter="wipe(up)">
                                      <p:cBhvr>
                                        <p:cTn id="69" dur="500"/>
                                        <p:tgtEl>
                                          <p:spTgt spid="44"/>
                                        </p:tgtEl>
                                      </p:cBhvr>
                                    </p:animEffect>
                                  </p:childTnLst>
                                </p:cTn>
                              </p:par>
                              <p:par>
                                <p:cTn id="70" presetID="22" presetClass="entr" presetSubtype="1" fill="hold" grpId="0" nodeType="withEffect">
                                  <p:stCondLst>
                                    <p:cond delay="0"/>
                                  </p:stCondLst>
                                  <p:childTnLst>
                                    <p:set>
                                      <p:cBhvr>
                                        <p:cTn id="71" dur="1" fill="hold">
                                          <p:stCondLst>
                                            <p:cond delay="0"/>
                                          </p:stCondLst>
                                        </p:cTn>
                                        <p:tgtEl>
                                          <p:spTgt spid="45"/>
                                        </p:tgtEl>
                                        <p:attrNameLst>
                                          <p:attrName>style.visibility</p:attrName>
                                        </p:attrNameLst>
                                      </p:cBhvr>
                                      <p:to>
                                        <p:strVal val="visible"/>
                                      </p:to>
                                    </p:set>
                                    <p:animEffect transition="in" filter="wipe(up)">
                                      <p:cBhvr>
                                        <p:cTn id="72" dur="500"/>
                                        <p:tgtEl>
                                          <p:spTgt spid="45"/>
                                        </p:tgtEl>
                                      </p:cBhvr>
                                    </p:animEffect>
                                  </p:childTnLst>
                                </p:cTn>
                              </p:par>
                              <p:par>
                                <p:cTn id="73" presetID="22" presetClass="entr" presetSubtype="1"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wipe(up)">
                                      <p:cBhvr>
                                        <p:cTn id="75" dur="500"/>
                                        <p:tgtEl>
                                          <p:spTgt spid="46"/>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grpId="0" nodeType="clickEffect">
                                  <p:stCondLst>
                                    <p:cond delay="0"/>
                                  </p:stCondLst>
                                  <p:childTnLst>
                                    <p:set>
                                      <p:cBhvr>
                                        <p:cTn id="79" dur="1" fill="hold">
                                          <p:stCondLst>
                                            <p:cond delay="0"/>
                                          </p:stCondLst>
                                        </p:cTn>
                                        <p:tgtEl>
                                          <p:spTgt spid="48"/>
                                        </p:tgtEl>
                                        <p:attrNameLst>
                                          <p:attrName>style.visibility</p:attrName>
                                        </p:attrNameLst>
                                      </p:cBhvr>
                                      <p:to>
                                        <p:strVal val="visible"/>
                                      </p:to>
                                    </p:set>
                                    <p:animEffect transition="in" filter="wipe(up)">
                                      <p:cBhvr>
                                        <p:cTn id="80" dur="500"/>
                                        <p:tgtEl>
                                          <p:spTgt spid="48"/>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nodeType="clickEffect">
                                  <p:stCondLst>
                                    <p:cond delay="0"/>
                                  </p:stCondLst>
                                  <p:childTnLst>
                                    <p:set>
                                      <p:cBhvr>
                                        <p:cTn id="84" dur="1" fill="hold">
                                          <p:stCondLst>
                                            <p:cond delay="0"/>
                                          </p:stCondLst>
                                        </p:cTn>
                                        <p:tgtEl>
                                          <p:spTgt spid="4"/>
                                        </p:tgtEl>
                                        <p:attrNameLst>
                                          <p:attrName>style.visibility</p:attrName>
                                        </p:attrNameLst>
                                      </p:cBhvr>
                                      <p:to>
                                        <p:strVal val="visible"/>
                                      </p:to>
                                    </p:set>
                                    <p:animEffect transition="in" filter="wipe(down)">
                                      <p:cBhvr>
                                        <p:cTn id="85" dur="500"/>
                                        <p:tgtEl>
                                          <p:spTgt spid="4"/>
                                        </p:tgtEl>
                                      </p:cBhvr>
                                    </p:animEffect>
                                  </p:childTnLst>
                                </p:cTn>
                              </p:par>
                              <p:par>
                                <p:cTn id="86" presetID="22" presetClass="entr" presetSubtype="4" fill="hold" nodeType="withEffect">
                                  <p:stCondLst>
                                    <p:cond delay="0"/>
                                  </p:stCondLst>
                                  <p:childTnLst>
                                    <p:set>
                                      <p:cBhvr>
                                        <p:cTn id="87" dur="1" fill="hold">
                                          <p:stCondLst>
                                            <p:cond delay="0"/>
                                          </p:stCondLst>
                                        </p:cTn>
                                        <p:tgtEl>
                                          <p:spTgt spid="5"/>
                                        </p:tgtEl>
                                        <p:attrNameLst>
                                          <p:attrName>style.visibility</p:attrName>
                                        </p:attrNameLst>
                                      </p:cBhvr>
                                      <p:to>
                                        <p:strVal val="visible"/>
                                      </p:to>
                                    </p:set>
                                    <p:animEffect transition="in" filter="wipe(down)">
                                      <p:cBhvr>
                                        <p:cTn id="8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30" grpId="0" animBg="1"/>
      <p:bldP spid="31" grpId="0" animBg="1"/>
      <p:bldP spid="34" grpId="0" animBg="1"/>
      <p:bldP spid="36" grpId="0" animBg="1"/>
      <p:bldP spid="38" grpId="0" animBg="1"/>
      <p:bldP spid="39" grpId="0" animBg="1"/>
      <p:bldP spid="42" grpId="0" animBg="1"/>
      <p:bldP spid="44" grpId="0"/>
      <p:bldP spid="45" grpId="0"/>
      <p:bldP spid="46" grpId="0"/>
      <p:bldP spid="47" grpId="0"/>
      <p:bldP spid="4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椭圆 81">
            <a:extLst>
              <a:ext uri="{FF2B5EF4-FFF2-40B4-BE49-F238E27FC236}">
                <a16:creationId xmlns:a16="http://schemas.microsoft.com/office/drawing/2014/main" id="{6D446A97-4C48-4F19-BAEA-04F24BE6072B}"/>
              </a:ext>
            </a:extLst>
          </p:cNvPr>
          <p:cNvSpPr/>
          <p:nvPr/>
        </p:nvSpPr>
        <p:spPr>
          <a:xfrm>
            <a:off x="1358024" y="1994678"/>
            <a:ext cx="480484" cy="44954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7</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4" name="椭圆 83">
            <a:extLst>
              <a:ext uri="{FF2B5EF4-FFF2-40B4-BE49-F238E27FC236}">
                <a16:creationId xmlns:a16="http://schemas.microsoft.com/office/drawing/2014/main" id="{AAD3BF00-C06F-4DA6-AB4F-A8E14B5211A0}"/>
              </a:ext>
            </a:extLst>
          </p:cNvPr>
          <p:cNvSpPr/>
          <p:nvPr/>
        </p:nvSpPr>
        <p:spPr>
          <a:xfrm>
            <a:off x="2244907" y="1994678"/>
            <a:ext cx="480483" cy="44954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9" name="椭圆 88">
            <a:extLst>
              <a:ext uri="{FF2B5EF4-FFF2-40B4-BE49-F238E27FC236}">
                <a16:creationId xmlns:a16="http://schemas.microsoft.com/office/drawing/2014/main" id="{BBEF0B7A-E189-4F43-B69C-DEF4C9DF05C1}"/>
              </a:ext>
            </a:extLst>
          </p:cNvPr>
          <p:cNvSpPr/>
          <p:nvPr/>
        </p:nvSpPr>
        <p:spPr>
          <a:xfrm>
            <a:off x="3119090" y="1992561"/>
            <a:ext cx="480484" cy="44954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FF958524-97AD-47D6-977A-853EE1EB7D75}"/>
              </a:ext>
            </a:extLst>
          </p:cNvPr>
          <p:cNvGrpSpPr>
            <a:grpSpLocks/>
          </p:cNvGrpSpPr>
          <p:nvPr/>
        </p:nvGrpSpPr>
        <p:grpSpPr bwMode="auto">
          <a:xfrm>
            <a:off x="3972104" y="1969280"/>
            <a:ext cx="480482" cy="449543"/>
            <a:chOff x="3265488" y="1872000"/>
            <a:chExt cx="360362" cy="360363"/>
          </a:xfrm>
        </p:grpSpPr>
        <p:sp>
          <p:nvSpPr>
            <p:cNvPr id="91" name="椭圆 90">
              <a:extLst>
                <a:ext uri="{FF2B5EF4-FFF2-40B4-BE49-F238E27FC236}">
                  <a16:creationId xmlns:a16="http://schemas.microsoft.com/office/drawing/2014/main" id="{6C83EC93-6187-4D86-8632-16B824DD182F}"/>
                </a:ext>
              </a:extLst>
            </p:cNvPr>
            <p:cNvSpPr/>
            <p:nvPr/>
          </p:nvSpPr>
          <p:spPr>
            <a:xfrm>
              <a:off x="3265488" y="1872000"/>
              <a:ext cx="360362" cy="36036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93" name="矩形 92">
              <a:extLst>
                <a:ext uri="{FF2B5EF4-FFF2-40B4-BE49-F238E27FC236}">
                  <a16:creationId xmlns:a16="http://schemas.microsoft.com/office/drawing/2014/main" id="{1C5F51BA-8C51-4578-B57E-1F65261E6C57}"/>
                </a:ext>
              </a:extLst>
            </p:cNvPr>
            <p:cNvSpPr/>
            <p:nvPr/>
          </p:nvSpPr>
          <p:spPr>
            <a:xfrm>
              <a:off x="3305801" y="1925975"/>
              <a:ext cx="297197" cy="230833"/>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12</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2" name="组合 1">
            <a:extLst>
              <a:ext uri="{FF2B5EF4-FFF2-40B4-BE49-F238E27FC236}">
                <a16:creationId xmlns:a16="http://schemas.microsoft.com/office/drawing/2014/main" id="{9760F21D-0309-4564-AF1A-6A167FB5BAE7}"/>
              </a:ext>
            </a:extLst>
          </p:cNvPr>
          <p:cNvGrpSpPr>
            <a:grpSpLocks/>
          </p:cNvGrpSpPr>
          <p:nvPr/>
        </p:nvGrpSpPr>
        <p:grpSpPr bwMode="auto">
          <a:xfrm>
            <a:off x="4835704" y="1969278"/>
            <a:ext cx="480482" cy="449543"/>
            <a:chOff x="3702050" y="1872000"/>
            <a:chExt cx="360363" cy="360363"/>
          </a:xfrm>
        </p:grpSpPr>
        <p:sp>
          <p:nvSpPr>
            <p:cNvPr id="94" name="椭圆 93">
              <a:extLst>
                <a:ext uri="{FF2B5EF4-FFF2-40B4-BE49-F238E27FC236}">
                  <a16:creationId xmlns:a16="http://schemas.microsoft.com/office/drawing/2014/main" id="{CE170168-63F4-4371-BBF8-E9E699844965}"/>
                </a:ext>
              </a:extLst>
            </p:cNvPr>
            <p:cNvSpPr/>
            <p:nvPr/>
          </p:nvSpPr>
          <p:spPr>
            <a:xfrm>
              <a:off x="3702050" y="1872000"/>
              <a:ext cx="360363" cy="36036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00" name="矩形 99">
              <a:extLst>
                <a:ext uri="{FF2B5EF4-FFF2-40B4-BE49-F238E27FC236}">
                  <a16:creationId xmlns:a16="http://schemas.microsoft.com/office/drawing/2014/main" id="{FDDD2721-1F44-4146-B917-0A2647107A1B}"/>
                </a:ext>
              </a:extLst>
            </p:cNvPr>
            <p:cNvSpPr/>
            <p:nvPr/>
          </p:nvSpPr>
          <p:spPr>
            <a:xfrm>
              <a:off x="3742363" y="1924387"/>
              <a:ext cx="297197" cy="230833"/>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13</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cxnSp>
        <p:nvCxnSpPr>
          <p:cNvPr id="102" name="直接箭头连接符 101">
            <a:extLst>
              <a:ext uri="{FF2B5EF4-FFF2-40B4-BE49-F238E27FC236}">
                <a16:creationId xmlns:a16="http://schemas.microsoft.com/office/drawing/2014/main" id="{7FB31D34-4299-4DD2-B2F2-B9CBD5860815}"/>
              </a:ext>
            </a:extLst>
          </p:cNvPr>
          <p:cNvCxnSpPr/>
          <p:nvPr/>
        </p:nvCxnSpPr>
        <p:spPr>
          <a:xfrm>
            <a:off x="3013256" y="3654954"/>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C2244798-2A6F-4B28-8DD6-AA9271CEFE08}"/>
              </a:ext>
            </a:extLst>
          </p:cNvPr>
          <p:cNvCxnSpPr/>
          <p:nvPr/>
        </p:nvCxnSpPr>
        <p:spPr>
          <a:xfrm>
            <a:off x="3576290" y="4186238"/>
            <a:ext cx="211667" cy="21801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6644C55B-566B-4A62-9613-50275061E1D3}"/>
              </a:ext>
            </a:extLst>
          </p:cNvPr>
          <p:cNvCxnSpPr/>
          <p:nvPr/>
        </p:nvCxnSpPr>
        <p:spPr>
          <a:xfrm>
            <a:off x="4152023" y="4747154"/>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接箭头连接符 104">
            <a:extLst>
              <a:ext uri="{FF2B5EF4-FFF2-40B4-BE49-F238E27FC236}">
                <a16:creationId xmlns:a16="http://schemas.microsoft.com/office/drawing/2014/main" id="{B1748D14-140E-4EAF-A28B-4338F4A97393}"/>
              </a:ext>
            </a:extLst>
          </p:cNvPr>
          <p:cNvCxnSpPr/>
          <p:nvPr/>
        </p:nvCxnSpPr>
        <p:spPr>
          <a:xfrm>
            <a:off x="4734108" y="5314421"/>
            <a:ext cx="213783"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椭圆 3">
            <a:extLst>
              <a:ext uri="{FF2B5EF4-FFF2-40B4-BE49-F238E27FC236}">
                <a16:creationId xmlns:a16="http://schemas.microsoft.com/office/drawing/2014/main" id="{9ABA9D46-EE10-4569-B052-F5D73B827A68}"/>
              </a:ext>
            </a:extLst>
          </p:cNvPr>
          <p:cNvSpPr/>
          <p:nvPr/>
        </p:nvSpPr>
        <p:spPr>
          <a:xfrm>
            <a:off x="2236441" y="3222264"/>
            <a:ext cx="1712383" cy="540641"/>
          </a:xfrm>
          <a:prstGeom prst="ellipse">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106" name="椭圆 105">
            <a:extLst>
              <a:ext uri="{FF2B5EF4-FFF2-40B4-BE49-F238E27FC236}">
                <a16:creationId xmlns:a16="http://schemas.microsoft.com/office/drawing/2014/main" id="{D90DCE81-7D89-4931-871D-9ED8E4B0510A}"/>
              </a:ext>
            </a:extLst>
          </p:cNvPr>
          <p:cNvSpPr/>
          <p:nvPr/>
        </p:nvSpPr>
        <p:spPr>
          <a:xfrm>
            <a:off x="2820641" y="3800115"/>
            <a:ext cx="1714500" cy="540639"/>
          </a:xfrm>
          <a:prstGeom prst="ellipse">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107" name="椭圆 106">
            <a:extLst>
              <a:ext uri="{FF2B5EF4-FFF2-40B4-BE49-F238E27FC236}">
                <a16:creationId xmlns:a16="http://schemas.microsoft.com/office/drawing/2014/main" id="{D96FB4F2-3ED2-417E-8D9C-23E845D3F809}"/>
              </a:ext>
            </a:extLst>
          </p:cNvPr>
          <p:cNvSpPr/>
          <p:nvPr/>
        </p:nvSpPr>
        <p:spPr>
          <a:xfrm>
            <a:off x="3400608" y="4373730"/>
            <a:ext cx="1714500" cy="540641"/>
          </a:xfrm>
          <a:prstGeom prst="ellipse">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108" name="椭圆 107">
            <a:extLst>
              <a:ext uri="{FF2B5EF4-FFF2-40B4-BE49-F238E27FC236}">
                <a16:creationId xmlns:a16="http://schemas.microsoft.com/office/drawing/2014/main" id="{C819E35B-830A-446A-A4E0-1876E35F108F}"/>
              </a:ext>
            </a:extLst>
          </p:cNvPr>
          <p:cNvSpPr/>
          <p:nvPr/>
        </p:nvSpPr>
        <p:spPr>
          <a:xfrm>
            <a:off x="3862041" y="4837282"/>
            <a:ext cx="1712383" cy="540639"/>
          </a:xfrm>
          <a:prstGeom prst="ellipse">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33" name="矩形 32">
            <a:extLst>
              <a:ext uri="{FF2B5EF4-FFF2-40B4-BE49-F238E27FC236}">
                <a16:creationId xmlns:a16="http://schemas.microsoft.com/office/drawing/2014/main" id="{5444369D-4F6D-414A-8E5E-71B8CA82C297}"/>
              </a:ext>
            </a:extLst>
          </p:cNvPr>
          <p:cNvSpPr/>
          <p:nvPr/>
        </p:nvSpPr>
        <p:spPr>
          <a:xfrm>
            <a:off x="2266909" y="2046288"/>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10</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4" name="矩形 33">
            <a:extLst>
              <a:ext uri="{FF2B5EF4-FFF2-40B4-BE49-F238E27FC236}">
                <a16:creationId xmlns:a16="http://schemas.microsoft.com/office/drawing/2014/main" id="{BA6B02AB-63C2-45B7-98D5-F2E0639AD054}"/>
              </a:ext>
            </a:extLst>
          </p:cNvPr>
          <p:cNvSpPr/>
          <p:nvPr/>
        </p:nvSpPr>
        <p:spPr>
          <a:xfrm>
            <a:off x="3161201" y="2048405"/>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11</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9" name="TextBox 4">
            <a:extLst>
              <a:ext uri="{FF2B5EF4-FFF2-40B4-BE49-F238E27FC236}">
                <a16:creationId xmlns:a16="http://schemas.microsoft.com/office/drawing/2014/main" id="{666CE555-BF1C-4628-B8EA-B2A15FBA7904}"/>
              </a:ext>
            </a:extLst>
          </p:cNvPr>
          <p:cNvSpPr txBox="1"/>
          <p:nvPr/>
        </p:nvSpPr>
        <p:spPr>
          <a:xfrm>
            <a:off x="799220" y="1416115"/>
            <a:ext cx="4036484" cy="468975"/>
          </a:xfrm>
          <a:prstGeom prst="rect">
            <a:avLst/>
          </a:prstGeom>
          <a:noFill/>
        </p:spPr>
        <p:txBody>
          <a:bodyPr>
            <a:spAutoFit/>
          </a:bodyPr>
          <a:lstStyle/>
          <a:p>
            <a:pPr marL="285750" indent="-285750">
              <a:lnSpc>
                <a:spcPct val="150000"/>
              </a:lnSpc>
              <a:buFont typeface="Wingdings" panose="05000000000000000000" pitchFamily="2" charset="2"/>
              <a:buChar char="l"/>
              <a:defRPr/>
            </a:pPr>
            <a:r>
              <a:rPr lang="zh-CN" altLang="en-US"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二叉查找树存在的问题：</a:t>
            </a:r>
          </a:p>
        </p:txBody>
      </p:sp>
      <p:sp>
        <p:nvSpPr>
          <p:cNvPr id="17" name="文本框 16">
            <a:extLst>
              <a:ext uri="{FF2B5EF4-FFF2-40B4-BE49-F238E27FC236}">
                <a16:creationId xmlns:a16="http://schemas.microsoft.com/office/drawing/2014/main" id="{F09CFC76-7637-48BF-A78F-14B9FE847369}"/>
              </a:ext>
            </a:extLst>
          </p:cNvPr>
          <p:cNvSpPr txBox="1"/>
          <p:nvPr/>
        </p:nvSpPr>
        <p:spPr>
          <a:xfrm>
            <a:off x="802902" y="2018852"/>
            <a:ext cx="6936514" cy="338554"/>
          </a:xfrm>
          <a:prstGeom prst="rect">
            <a:avLst/>
          </a:prstGeom>
          <a:noFill/>
        </p:spPr>
        <p:txBody>
          <a:bodyPr wrap="none" rtlCol="0">
            <a:spAutoFit/>
          </a:bodyPr>
          <a:lstStyle/>
          <a:p>
            <a:pPr marL="285750" indent="-285750" fontAlgn="auto">
              <a:spcBef>
                <a:spcPts val="0"/>
              </a:spcBef>
              <a:spcAft>
                <a:spcPts val="0"/>
              </a:spcAft>
              <a:buFont typeface="Wingdings" panose="05000000000000000000" pitchFamily="2" charset="2"/>
              <a:buChar char="l"/>
            </a:pP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当数据已经是排好序的，导致查询的性能与单链表一样，查询速度变慢！</a:t>
            </a:r>
          </a:p>
        </p:txBody>
      </p:sp>
      <p:sp>
        <p:nvSpPr>
          <p:cNvPr id="6" name="标题 5">
            <a:extLst>
              <a:ext uri="{FF2B5EF4-FFF2-40B4-BE49-F238E27FC236}">
                <a16:creationId xmlns:a16="http://schemas.microsoft.com/office/drawing/2014/main" id="{73C54082-76BB-546D-24A9-429EE267ECEC}"/>
              </a:ext>
            </a:extLst>
          </p:cNvPr>
          <p:cNvSpPr>
            <a:spLocks noGrp="1"/>
          </p:cNvSpPr>
          <p:nvPr>
            <p:ph type="title"/>
          </p:nvPr>
        </p:nvSpPr>
        <p:spPr/>
        <p:txBody>
          <a:bodyPr/>
          <a:lstStyle/>
          <a:p>
            <a:r>
              <a:rPr lang="en-US" altLang="zh-CN" dirty="0" err="1"/>
              <a:t>TreeSet</a:t>
            </a:r>
            <a:r>
              <a:rPr lang="en-US" altLang="zh-CN" dirty="0"/>
              <a:t> </a:t>
            </a:r>
            <a:r>
              <a:rPr lang="zh-CN" altLang="en-US" dirty="0"/>
              <a:t>集合底层数据结构</a:t>
            </a:r>
          </a:p>
        </p:txBody>
      </p:sp>
      <p:pic>
        <p:nvPicPr>
          <p:cNvPr id="5" name="Picture 4">
            <a:extLst>
              <a:ext uri="{FF2B5EF4-FFF2-40B4-BE49-F238E27FC236}">
                <a16:creationId xmlns:a16="http://schemas.microsoft.com/office/drawing/2014/main" id="{34BEFA9C-1098-734E-8DEE-7CE2A3B40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461658" y="1418929"/>
            <a:ext cx="4665226" cy="49131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fill="hold" grpId="0" nodeType="clickEffect">
                                  <p:stCondLst>
                                    <p:cond delay="0"/>
                                  </p:stCondLst>
                                  <p:childTnLst>
                                    <p:animMotion origin="layout" path="M 4.16667E-7 -1.11111E-6 L 0.10039 0.18519 " pathEditMode="relative" rAng="0" ptsTypes="AA">
                                      <p:cBhvr>
                                        <p:cTn id="6" dur="1000" fill="hold"/>
                                        <p:tgtEl>
                                          <p:spTgt spid="82"/>
                                        </p:tgtEl>
                                        <p:attrNameLst>
                                          <p:attrName>ppt_x</p:attrName>
                                          <p:attrName>ppt_y</p:attrName>
                                        </p:attrNameLst>
                                      </p:cBhvr>
                                      <p:rCtr x="5013" y="9259"/>
                                    </p:animMotion>
                                  </p:childTnLst>
                                </p:cTn>
                              </p:par>
                            </p:childTnLst>
                          </p:cTn>
                        </p:par>
                        <p:par>
                          <p:cTn id="7" fill="hold" nodeType="afterGroup">
                            <p:stCondLst>
                              <p:cond delay="1000"/>
                            </p:stCondLst>
                            <p:childTnLst>
                              <p:par>
                                <p:cTn id="8" presetID="22" presetClass="entr" presetSubtype="1" fill="hold" nodeType="afterEffect">
                                  <p:stCondLst>
                                    <p:cond delay="0"/>
                                  </p:stCondLst>
                                  <p:childTnLst>
                                    <p:set>
                                      <p:cBhvr>
                                        <p:cTn id="9" dur="1" fill="hold">
                                          <p:stCondLst>
                                            <p:cond delay="0"/>
                                          </p:stCondLst>
                                        </p:cTn>
                                        <p:tgtEl>
                                          <p:spTgt spid="102"/>
                                        </p:tgtEl>
                                        <p:attrNameLst>
                                          <p:attrName>style.visibility</p:attrName>
                                        </p:attrNameLst>
                                      </p:cBhvr>
                                      <p:to>
                                        <p:strVal val="visible"/>
                                      </p:to>
                                    </p:set>
                                    <p:animEffect transition="in" filter="wipe(up)">
                                      <p:cBhvr>
                                        <p:cTn id="10" dur="500"/>
                                        <p:tgtEl>
                                          <p:spTgt spid="10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2" presetClass="path" presetSubtype="0" fill="hold" grpId="0" nodeType="clickEffect">
                                  <p:stCondLst>
                                    <p:cond delay="0"/>
                                  </p:stCondLst>
                                  <p:childTnLst>
                                    <p:animMotion origin="layout" path="M 3.95833E-6 -1.11111E-6 L 0.07487 0.18519 " pathEditMode="relative" rAng="0" ptsTypes="AA">
                                      <p:cBhvr>
                                        <p:cTn id="14" dur="1000" fill="hold"/>
                                        <p:tgtEl>
                                          <p:spTgt spid="84"/>
                                        </p:tgtEl>
                                        <p:attrNameLst>
                                          <p:attrName>ppt_x</p:attrName>
                                          <p:attrName>ppt_y</p:attrName>
                                        </p:attrNameLst>
                                      </p:cBhvr>
                                      <p:rCtr x="3737" y="9259"/>
                                    </p:animMotion>
                                  </p:childTnLst>
                                </p:cTn>
                              </p:par>
                              <p:par>
                                <p:cTn id="15" presetID="42" presetClass="path" presetSubtype="0" fill="hold" grpId="0" nodeType="withEffect">
                                  <p:stCondLst>
                                    <p:cond delay="0"/>
                                  </p:stCondLst>
                                  <p:childTnLst>
                                    <p:animMotion origin="layout" path="M -3.54167E-6 -3.33333E-6 L 0.07487 0.18519 " pathEditMode="relative" rAng="0" ptsTypes="AA">
                                      <p:cBhvr>
                                        <p:cTn id="16" dur="1000" fill="hold"/>
                                        <p:tgtEl>
                                          <p:spTgt spid="33"/>
                                        </p:tgtEl>
                                        <p:attrNameLst>
                                          <p:attrName>ppt_x</p:attrName>
                                          <p:attrName>ppt_y</p:attrName>
                                        </p:attrNameLst>
                                      </p:cBhvr>
                                      <p:rCtr x="3737" y="9259"/>
                                    </p:animMotion>
                                  </p:childTnLst>
                                </p:cTn>
                              </p:par>
                            </p:childTnLst>
                          </p:cTn>
                        </p:par>
                      </p:childTnLst>
                    </p:cTn>
                  </p:par>
                  <p:par>
                    <p:cTn id="17" fill="hold" nodeType="clickPar">
                      <p:stCondLst>
                        <p:cond delay="indefinite"/>
                      </p:stCondLst>
                      <p:childTnLst>
                        <p:par>
                          <p:cTn id="18" fill="hold" nodeType="withGroup">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heel(1)">
                                      <p:cBhvr>
                                        <p:cTn id="21" dur="2000"/>
                                        <p:tgtEl>
                                          <p:spTgt spid="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4"/>
                                        </p:tgtEl>
                                        <p:attrNameLst>
                                          <p:attrName>style.visibility</p:attrName>
                                        </p:attrNameLst>
                                      </p:cBhvr>
                                      <p:to>
                                        <p:strVal val="hidden"/>
                                      </p:to>
                                    </p:set>
                                  </p:childTnLst>
                                </p:cTn>
                              </p:par>
                              <p:par>
                                <p:cTn id="26" presetID="42" presetClass="path" presetSubtype="0" fill="hold" grpId="1" nodeType="withEffect">
                                  <p:stCondLst>
                                    <p:cond delay="0"/>
                                  </p:stCondLst>
                                  <p:childTnLst>
                                    <p:animMotion origin="layout" path="M 0.07487 0.18519 L 0.07487 0.26921 " pathEditMode="relative" rAng="0" ptsTypes="AA">
                                      <p:cBhvr>
                                        <p:cTn id="27" dur="1000" fill="hold"/>
                                        <p:tgtEl>
                                          <p:spTgt spid="84"/>
                                        </p:tgtEl>
                                        <p:attrNameLst>
                                          <p:attrName>ppt_x</p:attrName>
                                          <p:attrName>ppt_y</p:attrName>
                                        </p:attrNameLst>
                                      </p:cBhvr>
                                      <p:rCtr x="0" y="4190"/>
                                    </p:animMotion>
                                  </p:childTnLst>
                                </p:cTn>
                              </p:par>
                              <p:par>
                                <p:cTn id="28" presetID="42" presetClass="path" presetSubtype="0" fill="hold" grpId="1" nodeType="withEffect">
                                  <p:stCondLst>
                                    <p:cond delay="0"/>
                                  </p:stCondLst>
                                  <p:childTnLst>
                                    <p:animMotion origin="layout" path="M 0.07487 0.18519 L 0.07487 0.26922 " pathEditMode="relative" rAng="0" ptsTypes="AA">
                                      <p:cBhvr>
                                        <p:cTn id="29" dur="1000" fill="hold"/>
                                        <p:tgtEl>
                                          <p:spTgt spid="33"/>
                                        </p:tgtEl>
                                        <p:attrNameLst>
                                          <p:attrName>ppt_x</p:attrName>
                                          <p:attrName>ppt_y</p:attrName>
                                        </p:attrNameLst>
                                      </p:cBhvr>
                                      <p:rCtr x="0" y="4190"/>
                                    </p:animMotion>
                                  </p:childTnLst>
                                </p:cTn>
                              </p:par>
                            </p:childTnLst>
                          </p:cTn>
                        </p:par>
                        <p:par>
                          <p:cTn id="30" fill="hold" nodeType="afterGroup">
                            <p:stCondLst>
                              <p:cond delay="1000"/>
                            </p:stCondLst>
                            <p:childTnLst>
                              <p:par>
                                <p:cTn id="31" presetID="22" presetClass="entr" presetSubtype="1" fill="hold" nodeType="afterEffect">
                                  <p:stCondLst>
                                    <p:cond delay="0"/>
                                  </p:stCondLst>
                                  <p:childTnLst>
                                    <p:set>
                                      <p:cBhvr>
                                        <p:cTn id="32" dur="1" fill="hold">
                                          <p:stCondLst>
                                            <p:cond delay="0"/>
                                          </p:stCondLst>
                                        </p:cTn>
                                        <p:tgtEl>
                                          <p:spTgt spid="103"/>
                                        </p:tgtEl>
                                        <p:attrNameLst>
                                          <p:attrName>style.visibility</p:attrName>
                                        </p:attrNameLst>
                                      </p:cBhvr>
                                      <p:to>
                                        <p:strVal val="visible"/>
                                      </p:to>
                                    </p:set>
                                    <p:animEffect transition="in" filter="wipe(up)">
                                      <p:cBhvr>
                                        <p:cTn id="33" dur="500"/>
                                        <p:tgtEl>
                                          <p:spTgt spid="10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2" presetClass="path" presetSubtype="0" fill="hold" grpId="0" nodeType="clickEffect">
                                  <p:stCondLst>
                                    <p:cond delay="0"/>
                                  </p:stCondLst>
                                  <p:childTnLst>
                                    <p:animMotion origin="layout" path="M -8.33333E-7 1.85185E-6 L 0.00313 0.18541 " pathEditMode="relative" rAng="0" ptsTypes="AA">
                                      <p:cBhvr>
                                        <p:cTn id="37" dur="1000" fill="hold"/>
                                        <p:tgtEl>
                                          <p:spTgt spid="89"/>
                                        </p:tgtEl>
                                        <p:attrNameLst>
                                          <p:attrName>ppt_x</p:attrName>
                                          <p:attrName>ppt_y</p:attrName>
                                        </p:attrNameLst>
                                      </p:cBhvr>
                                      <p:rCtr x="156" y="9259"/>
                                    </p:animMotion>
                                  </p:childTnLst>
                                </p:cTn>
                              </p:par>
                              <p:par>
                                <p:cTn id="38" presetID="42" presetClass="path" presetSubtype="0" fill="hold" grpId="0" nodeType="withEffect">
                                  <p:stCondLst>
                                    <p:cond delay="0"/>
                                  </p:stCondLst>
                                  <p:childTnLst>
                                    <p:animMotion origin="layout" path="M -8.33333E-7 -4.81481E-6 L 0.00313 0.18542 " pathEditMode="relative" rAng="0" ptsTypes="AA">
                                      <p:cBhvr>
                                        <p:cTn id="39" dur="1000" fill="hold"/>
                                        <p:tgtEl>
                                          <p:spTgt spid="34"/>
                                        </p:tgtEl>
                                        <p:attrNameLst>
                                          <p:attrName>ppt_x</p:attrName>
                                          <p:attrName>ppt_y</p:attrName>
                                        </p:attrNameLst>
                                      </p:cBhvr>
                                      <p:rCtr x="156" y="9259"/>
                                    </p:animMotion>
                                  </p:childTnLst>
                                </p:cTn>
                              </p:par>
                            </p:childTnLst>
                          </p:cTn>
                        </p:par>
                      </p:childTnLst>
                    </p:cTn>
                  </p:par>
                  <p:par>
                    <p:cTn id="40" fill="hold" nodeType="clickPar">
                      <p:stCondLst>
                        <p:cond delay="indefinite"/>
                      </p:stCondLst>
                      <p:childTnLst>
                        <p:par>
                          <p:cTn id="41" fill="hold" nodeType="withGroup">
                            <p:stCondLst>
                              <p:cond delay="0"/>
                            </p:stCondLst>
                            <p:childTnLst>
                              <p:par>
                                <p:cTn id="42" presetID="21" presetClass="entr" presetSubtype="1" fill="hold" grpId="2"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heel(1)">
                                      <p:cBhvr>
                                        <p:cTn id="44" dur="2000"/>
                                        <p:tgtEl>
                                          <p:spTgt spid="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xit" presetSubtype="0" fill="hold" grpId="3" nodeType="clickEffect">
                                  <p:stCondLst>
                                    <p:cond delay="0"/>
                                  </p:stCondLst>
                                  <p:childTnLst>
                                    <p:set>
                                      <p:cBhvr>
                                        <p:cTn id="48" dur="1" fill="hold">
                                          <p:stCondLst>
                                            <p:cond delay="0"/>
                                          </p:stCondLst>
                                        </p:cTn>
                                        <p:tgtEl>
                                          <p:spTgt spid="4"/>
                                        </p:tgtEl>
                                        <p:attrNameLst>
                                          <p:attrName>style.visibility</p:attrName>
                                        </p:attrNameLst>
                                      </p:cBhvr>
                                      <p:to>
                                        <p:strVal val="hidden"/>
                                      </p:to>
                                    </p:set>
                                  </p:childTnLst>
                                </p:cTn>
                              </p:par>
                              <p:par>
                                <p:cTn id="49" presetID="42" presetClass="path" presetSubtype="0" fill="hold" grpId="1" nodeType="withEffect">
                                  <p:stCondLst>
                                    <p:cond delay="0"/>
                                  </p:stCondLst>
                                  <p:childTnLst>
                                    <p:animMotion origin="layout" path="M 0.00313 0.18541 L 0.05039 0.26944 " pathEditMode="relative" rAng="0" ptsTypes="AA">
                                      <p:cBhvr>
                                        <p:cTn id="50" dur="1000" fill="hold"/>
                                        <p:tgtEl>
                                          <p:spTgt spid="89"/>
                                        </p:tgtEl>
                                        <p:attrNameLst>
                                          <p:attrName>ppt_x</p:attrName>
                                          <p:attrName>ppt_y</p:attrName>
                                        </p:attrNameLst>
                                      </p:cBhvr>
                                      <p:rCtr x="2357" y="4190"/>
                                    </p:animMotion>
                                  </p:childTnLst>
                                </p:cTn>
                              </p:par>
                              <p:par>
                                <p:cTn id="51" presetID="42" presetClass="path" presetSubtype="0" fill="hold" grpId="1" nodeType="withEffect">
                                  <p:stCondLst>
                                    <p:cond delay="0"/>
                                  </p:stCondLst>
                                  <p:childTnLst>
                                    <p:animMotion origin="layout" path="M 0.00313 0.18542 L 0.05039 0.26945 " pathEditMode="relative" rAng="0" ptsTypes="AA">
                                      <p:cBhvr>
                                        <p:cTn id="52" dur="1000" fill="hold"/>
                                        <p:tgtEl>
                                          <p:spTgt spid="34"/>
                                        </p:tgtEl>
                                        <p:attrNameLst>
                                          <p:attrName>ppt_x</p:attrName>
                                          <p:attrName>ppt_y</p:attrName>
                                        </p:attrNameLst>
                                      </p:cBhvr>
                                      <p:rCtr x="2357" y="4190"/>
                                    </p:animMotion>
                                  </p:childTnLst>
                                </p:cTn>
                              </p:par>
                            </p:childTnLst>
                          </p:cTn>
                        </p:par>
                        <p:par>
                          <p:cTn id="53" fill="hold" nodeType="afterGroup">
                            <p:stCondLst>
                              <p:cond delay="1000"/>
                            </p:stCondLst>
                            <p:childTnLst>
                              <p:par>
                                <p:cTn id="54" presetID="21" presetClass="entr" presetSubtype="1" fill="hold" grpId="0" nodeType="afterEffect">
                                  <p:stCondLst>
                                    <p:cond delay="0"/>
                                  </p:stCondLst>
                                  <p:childTnLst>
                                    <p:set>
                                      <p:cBhvr>
                                        <p:cTn id="55" dur="1" fill="hold">
                                          <p:stCondLst>
                                            <p:cond delay="0"/>
                                          </p:stCondLst>
                                        </p:cTn>
                                        <p:tgtEl>
                                          <p:spTgt spid="106"/>
                                        </p:tgtEl>
                                        <p:attrNameLst>
                                          <p:attrName>style.visibility</p:attrName>
                                        </p:attrNameLst>
                                      </p:cBhvr>
                                      <p:to>
                                        <p:strVal val="visible"/>
                                      </p:to>
                                    </p:set>
                                    <p:animEffect transition="in" filter="wheel(1)">
                                      <p:cBhvr>
                                        <p:cTn id="56" dur="2000"/>
                                        <p:tgtEl>
                                          <p:spTgt spid="10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106"/>
                                        </p:tgtEl>
                                        <p:attrNameLst>
                                          <p:attrName>style.visibility</p:attrName>
                                        </p:attrNameLst>
                                      </p:cBhvr>
                                      <p:to>
                                        <p:strVal val="hidden"/>
                                      </p:to>
                                    </p:set>
                                  </p:childTnLst>
                                </p:cTn>
                              </p:par>
                            </p:childTnLst>
                          </p:cTn>
                        </p:par>
                        <p:par>
                          <p:cTn id="61" fill="hold" nodeType="afterGroup">
                            <p:stCondLst>
                              <p:cond delay="0"/>
                            </p:stCondLst>
                            <p:childTnLst>
                              <p:par>
                                <p:cTn id="62" presetID="42" presetClass="path" presetSubtype="0" fill="hold" grpId="2" nodeType="afterEffect">
                                  <p:stCondLst>
                                    <p:cond delay="0"/>
                                  </p:stCondLst>
                                  <p:childTnLst>
                                    <p:animMotion origin="layout" path="M 0.05039 0.26944 L 0.05039 0.35347 " pathEditMode="relative" rAng="0" ptsTypes="AA">
                                      <p:cBhvr>
                                        <p:cTn id="63" dur="1000" fill="hold"/>
                                        <p:tgtEl>
                                          <p:spTgt spid="89"/>
                                        </p:tgtEl>
                                        <p:attrNameLst>
                                          <p:attrName>ppt_x</p:attrName>
                                          <p:attrName>ppt_y</p:attrName>
                                        </p:attrNameLst>
                                      </p:cBhvr>
                                      <p:rCtr x="0" y="4190"/>
                                    </p:animMotion>
                                  </p:childTnLst>
                                </p:cTn>
                              </p:par>
                              <p:par>
                                <p:cTn id="64" presetID="42" presetClass="path" presetSubtype="0" fill="hold" grpId="2" nodeType="withEffect">
                                  <p:stCondLst>
                                    <p:cond delay="0"/>
                                  </p:stCondLst>
                                  <p:childTnLst>
                                    <p:animMotion origin="layout" path="M 0.05039 0.26945 L 0.05039 0.35348 " pathEditMode="relative" rAng="0" ptsTypes="AA">
                                      <p:cBhvr>
                                        <p:cTn id="65" dur="1000" fill="hold"/>
                                        <p:tgtEl>
                                          <p:spTgt spid="34"/>
                                        </p:tgtEl>
                                        <p:attrNameLst>
                                          <p:attrName>ppt_x</p:attrName>
                                          <p:attrName>ppt_y</p:attrName>
                                        </p:attrNameLst>
                                      </p:cBhvr>
                                      <p:rCtr x="0" y="4190"/>
                                    </p:animMotion>
                                  </p:childTnLst>
                                </p:cTn>
                              </p:par>
                            </p:childTnLst>
                          </p:cTn>
                        </p:par>
                        <p:par>
                          <p:cTn id="66" fill="hold" nodeType="afterGroup">
                            <p:stCondLst>
                              <p:cond delay="1000"/>
                            </p:stCondLst>
                            <p:childTnLst>
                              <p:par>
                                <p:cTn id="67" presetID="22" presetClass="entr" presetSubtype="1" fill="hold" nodeType="afterEffect">
                                  <p:stCondLst>
                                    <p:cond delay="0"/>
                                  </p:stCondLst>
                                  <p:childTnLst>
                                    <p:set>
                                      <p:cBhvr>
                                        <p:cTn id="68" dur="1" fill="hold">
                                          <p:stCondLst>
                                            <p:cond delay="0"/>
                                          </p:stCondLst>
                                        </p:cTn>
                                        <p:tgtEl>
                                          <p:spTgt spid="104"/>
                                        </p:tgtEl>
                                        <p:attrNameLst>
                                          <p:attrName>style.visibility</p:attrName>
                                        </p:attrNameLst>
                                      </p:cBhvr>
                                      <p:to>
                                        <p:strVal val="visible"/>
                                      </p:to>
                                    </p:set>
                                    <p:animEffect transition="in" filter="wipe(up)">
                                      <p:cBhvr>
                                        <p:cTn id="69" dur="500"/>
                                        <p:tgtEl>
                                          <p:spTgt spid="10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42" presetClass="path" presetSubtype="0" fill="hold" nodeType="clickEffect">
                                  <p:stCondLst>
                                    <p:cond delay="0"/>
                                  </p:stCondLst>
                                  <p:childTnLst>
                                    <p:animMotion origin="layout" path="M -2.70833E-6 2.59259E-6 L -0.06679 0.18889 " pathEditMode="relative" rAng="0" ptsTypes="AA">
                                      <p:cBhvr>
                                        <p:cTn id="73" dur="1000" fill="hold"/>
                                        <p:tgtEl>
                                          <p:spTgt spid="3"/>
                                        </p:tgtEl>
                                        <p:attrNameLst>
                                          <p:attrName>ppt_x</p:attrName>
                                          <p:attrName>ppt_y</p:attrName>
                                        </p:attrNameLst>
                                      </p:cBhvr>
                                      <p:rCtr x="-3346" y="9444"/>
                                    </p:animMotion>
                                  </p:childTnLst>
                                </p:cTn>
                              </p:par>
                            </p:childTnLst>
                          </p:cTn>
                        </p:par>
                      </p:childTnLst>
                    </p:cTn>
                  </p:par>
                  <p:par>
                    <p:cTn id="74" fill="hold" nodeType="clickPar">
                      <p:stCondLst>
                        <p:cond delay="indefinite"/>
                      </p:stCondLst>
                      <p:childTnLst>
                        <p:par>
                          <p:cTn id="75" fill="hold" nodeType="withGroup">
                            <p:stCondLst>
                              <p:cond delay="0"/>
                            </p:stCondLst>
                            <p:childTnLst>
                              <p:par>
                                <p:cTn id="76" presetID="21" presetClass="entr" presetSubtype="1" fill="hold" grpId="4" nodeType="clickEffect">
                                  <p:stCondLst>
                                    <p:cond delay="0"/>
                                  </p:stCondLst>
                                  <p:childTnLst>
                                    <p:set>
                                      <p:cBhvr>
                                        <p:cTn id="77" dur="1" fill="hold">
                                          <p:stCondLst>
                                            <p:cond delay="0"/>
                                          </p:stCondLst>
                                        </p:cTn>
                                        <p:tgtEl>
                                          <p:spTgt spid="4"/>
                                        </p:tgtEl>
                                        <p:attrNameLst>
                                          <p:attrName>style.visibility</p:attrName>
                                        </p:attrNameLst>
                                      </p:cBhvr>
                                      <p:to>
                                        <p:strVal val="visible"/>
                                      </p:to>
                                    </p:set>
                                    <p:animEffect transition="in" filter="wheel(1)">
                                      <p:cBhvr>
                                        <p:cTn id="78" dur="2000"/>
                                        <p:tgtEl>
                                          <p:spTgt spid="4"/>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xit" presetSubtype="0" fill="hold" grpId="5" nodeType="clickEffect">
                                  <p:stCondLst>
                                    <p:cond delay="0"/>
                                  </p:stCondLst>
                                  <p:childTnLst>
                                    <p:set>
                                      <p:cBhvr>
                                        <p:cTn id="82" dur="1" fill="hold">
                                          <p:stCondLst>
                                            <p:cond delay="0"/>
                                          </p:stCondLst>
                                        </p:cTn>
                                        <p:tgtEl>
                                          <p:spTgt spid="4"/>
                                        </p:tgtEl>
                                        <p:attrNameLst>
                                          <p:attrName>style.visibility</p:attrName>
                                        </p:attrNameLst>
                                      </p:cBhvr>
                                      <p:to>
                                        <p:strVal val="hidden"/>
                                      </p:to>
                                    </p:set>
                                  </p:childTnLst>
                                </p:cTn>
                              </p:par>
                            </p:childTnLst>
                          </p:cTn>
                        </p:par>
                        <p:par>
                          <p:cTn id="83" fill="hold" nodeType="afterGroup">
                            <p:stCondLst>
                              <p:cond delay="0"/>
                            </p:stCondLst>
                            <p:childTnLst>
                              <p:par>
                                <p:cTn id="84" presetID="42" presetClass="path" presetSubtype="0" fill="hold" nodeType="afterEffect">
                                  <p:stCondLst>
                                    <p:cond delay="0"/>
                                  </p:stCondLst>
                                  <p:childTnLst>
                                    <p:animMotion origin="layout" path="M -0.06679 0.18889 L -0.01966 0.27291 " pathEditMode="relative" rAng="0" ptsTypes="AA">
                                      <p:cBhvr>
                                        <p:cTn id="85" dur="1000" fill="hold"/>
                                        <p:tgtEl>
                                          <p:spTgt spid="3"/>
                                        </p:tgtEl>
                                        <p:attrNameLst>
                                          <p:attrName>ppt_x</p:attrName>
                                          <p:attrName>ppt_y</p:attrName>
                                        </p:attrNameLst>
                                      </p:cBhvr>
                                      <p:rCtr x="2357" y="4190"/>
                                    </p:animMotion>
                                  </p:childTnLst>
                                </p:cTn>
                              </p:par>
                            </p:childTnLst>
                          </p:cTn>
                        </p:par>
                      </p:childTnLst>
                    </p:cTn>
                  </p:par>
                  <p:par>
                    <p:cTn id="86" fill="hold" nodeType="clickPar">
                      <p:stCondLst>
                        <p:cond delay="indefinite"/>
                      </p:stCondLst>
                      <p:childTnLst>
                        <p:par>
                          <p:cTn id="87" fill="hold" nodeType="withGroup">
                            <p:stCondLst>
                              <p:cond delay="0"/>
                            </p:stCondLst>
                            <p:childTnLst>
                              <p:par>
                                <p:cTn id="88" presetID="21" presetClass="entr" presetSubtype="1" fill="hold" grpId="2" nodeType="clickEffect">
                                  <p:stCondLst>
                                    <p:cond delay="0"/>
                                  </p:stCondLst>
                                  <p:childTnLst>
                                    <p:set>
                                      <p:cBhvr>
                                        <p:cTn id="89" dur="1" fill="hold">
                                          <p:stCondLst>
                                            <p:cond delay="0"/>
                                          </p:stCondLst>
                                        </p:cTn>
                                        <p:tgtEl>
                                          <p:spTgt spid="106"/>
                                        </p:tgtEl>
                                        <p:attrNameLst>
                                          <p:attrName>style.visibility</p:attrName>
                                        </p:attrNameLst>
                                      </p:cBhvr>
                                      <p:to>
                                        <p:strVal val="visible"/>
                                      </p:to>
                                    </p:set>
                                    <p:animEffect transition="in" filter="wheel(1)">
                                      <p:cBhvr>
                                        <p:cTn id="90" dur="2000"/>
                                        <p:tgtEl>
                                          <p:spTgt spid="106"/>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xit" presetSubtype="0" fill="hold" grpId="3" nodeType="clickEffect">
                                  <p:stCondLst>
                                    <p:cond delay="0"/>
                                  </p:stCondLst>
                                  <p:childTnLst>
                                    <p:set>
                                      <p:cBhvr>
                                        <p:cTn id="94" dur="1" fill="hold">
                                          <p:stCondLst>
                                            <p:cond delay="0"/>
                                          </p:stCondLst>
                                        </p:cTn>
                                        <p:tgtEl>
                                          <p:spTgt spid="106"/>
                                        </p:tgtEl>
                                        <p:attrNameLst>
                                          <p:attrName>style.visibility</p:attrName>
                                        </p:attrNameLst>
                                      </p:cBhvr>
                                      <p:to>
                                        <p:strVal val="hidden"/>
                                      </p:to>
                                    </p:set>
                                  </p:childTnLst>
                                </p:cTn>
                              </p:par>
                            </p:childTnLst>
                          </p:cTn>
                        </p:par>
                        <p:par>
                          <p:cTn id="95" fill="hold" nodeType="afterGroup">
                            <p:stCondLst>
                              <p:cond delay="0"/>
                            </p:stCondLst>
                            <p:childTnLst>
                              <p:par>
                                <p:cTn id="96" presetID="42" presetClass="path" presetSubtype="0" fill="hold" nodeType="afterEffect">
                                  <p:stCondLst>
                                    <p:cond delay="0"/>
                                  </p:stCondLst>
                                  <p:childTnLst>
                                    <p:animMotion origin="layout" path="M -0.01966 0.27291 L 0.02761 0.35671 " pathEditMode="relative" rAng="0" ptsTypes="AA">
                                      <p:cBhvr>
                                        <p:cTn id="97" dur="1000" fill="hold"/>
                                        <p:tgtEl>
                                          <p:spTgt spid="3"/>
                                        </p:tgtEl>
                                        <p:attrNameLst>
                                          <p:attrName>ppt_x</p:attrName>
                                          <p:attrName>ppt_y</p:attrName>
                                        </p:attrNameLst>
                                      </p:cBhvr>
                                      <p:rCtr x="2357" y="4190"/>
                                    </p:animMotion>
                                  </p:childTnLst>
                                </p:cTn>
                              </p:par>
                            </p:childTnLst>
                          </p:cTn>
                        </p:par>
                        <p:par>
                          <p:cTn id="98" fill="hold" nodeType="afterGroup">
                            <p:stCondLst>
                              <p:cond delay="1000"/>
                            </p:stCondLst>
                            <p:childTnLst>
                              <p:par>
                                <p:cTn id="99" presetID="21" presetClass="entr" presetSubtype="1" fill="hold" grpId="0" nodeType="afterEffect">
                                  <p:stCondLst>
                                    <p:cond delay="0"/>
                                  </p:stCondLst>
                                  <p:childTnLst>
                                    <p:set>
                                      <p:cBhvr>
                                        <p:cTn id="100" dur="1" fill="hold">
                                          <p:stCondLst>
                                            <p:cond delay="0"/>
                                          </p:stCondLst>
                                        </p:cTn>
                                        <p:tgtEl>
                                          <p:spTgt spid="107"/>
                                        </p:tgtEl>
                                        <p:attrNameLst>
                                          <p:attrName>style.visibility</p:attrName>
                                        </p:attrNameLst>
                                      </p:cBhvr>
                                      <p:to>
                                        <p:strVal val="visible"/>
                                      </p:to>
                                    </p:set>
                                    <p:animEffect transition="in" filter="wheel(1)">
                                      <p:cBhvr>
                                        <p:cTn id="101" dur="2000"/>
                                        <p:tgtEl>
                                          <p:spTgt spid="107"/>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xit" presetSubtype="0" fill="hold" grpId="1" nodeType="clickEffect">
                                  <p:stCondLst>
                                    <p:cond delay="0"/>
                                  </p:stCondLst>
                                  <p:childTnLst>
                                    <p:set>
                                      <p:cBhvr>
                                        <p:cTn id="105" dur="1" fill="hold">
                                          <p:stCondLst>
                                            <p:cond delay="0"/>
                                          </p:stCondLst>
                                        </p:cTn>
                                        <p:tgtEl>
                                          <p:spTgt spid="107"/>
                                        </p:tgtEl>
                                        <p:attrNameLst>
                                          <p:attrName>style.visibility</p:attrName>
                                        </p:attrNameLst>
                                      </p:cBhvr>
                                      <p:to>
                                        <p:strVal val="hidden"/>
                                      </p:to>
                                    </p:set>
                                  </p:childTnLst>
                                </p:cTn>
                              </p:par>
                            </p:childTnLst>
                          </p:cTn>
                        </p:par>
                        <p:par>
                          <p:cTn id="106" fill="hold" nodeType="afterGroup">
                            <p:stCondLst>
                              <p:cond delay="0"/>
                            </p:stCondLst>
                            <p:childTnLst>
                              <p:par>
                                <p:cTn id="107" presetID="42" presetClass="path" presetSubtype="0" fill="hold" nodeType="afterEffect">
                                  <p:stCondLst>
                                    <p:cond delay="0"/>
                                  </p:stCondLst>
                                  <p:childTnLst>
                                    <p:animMotion origin="layout" path="M 0.02761 0.35671 L 0.02761 0.42685 " pathEditMode="relative" rAng="0" ptsTypes="AA">
                                      <p:cBhvr>
                                        <p:cTn id="108" dur="1000" fill="hold"/>
                                        <p:tgtEl>
                                          <p:spTgt spid="3"/>
                                        </p:tgtEl>
                                        <p:attrNameLst>
                                          <p:attrName>ppt_x</p:attrName>
                                          <p:attrName>ppt_y</p:attrName>
                                        </p:attrNameLst>
                                      </p:cBhvr>
                                      <p:rCtr x="0" y="3495"/>
                                    </p:animMotion>
                                  </p:childTnLst>
                                </p:cTn>
                              </p:par>
                            </p:childTnLst>
                          </p:cTn>
                        </p:par>
                        <p:par>
                          <p:cTn id="109" fill="hold" nodeType="afterGroup">
                            <p:stCondLst>
                              <p:cond delay="1000"/>
                            </p:stCondLst>
                            <p:childTnLst>
                              <p:par>
                                <p:cTn id="110" presetID="22" presetClass="entr" presetSubtype="1" fill="hold" nodeType="afterEffect">
                                  <p:stCondLst>
                                    <p:cond delay="0"/>
                                  </p:stCondLst>
                                  <p:childTnLst>
                                    <p:set>
                                      <p:cBhvr>
                                        <p:cTn id="111" dur="1" fill="hold">
                                          <p:stCondLst>
                                            <p:cond delay="0"/>
                                          </p:stCondLst>
                                        </p:cTn>
                                        <p:tgtEl>
                                          <p:spTgt spid="105"/>
                                        </p:tgtEl>
                                        <p:attrNameLst>
                                          <p:attrName>style.visibility</p:attrName>
                                        </p:attrNameLst>
                                      </p:cBhvr>
                                      <p:to>
                                        <p:strVal val="visible"/>
                                      </p:to>
                                    </p:set>
                                    <p:animEffect transition="in" filter="wipe(up)">
                                      <p:cBhvr>
                                        <p:cTn id="112" dur="500"/>
                                        <p:tgtEl>
                                          <p:spTgt spid="105"/>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42" presetClass="path" presetSubtype="0" fill="hold" nodeType="clickEffect">
                                  <p:stCondLst>
                                    <p:cond delay="0"/>
                                  </p:stCondLst>
                                  <p:childTnLst>
                                    <p:animMotion origin="layout" path="M 3.95833E-6 2.59259E-6 L -0.13763 0.18889 " pathEditMode="relative" rAng="0" ptsTypes="AA">
                                      <p:cBhvr>
                                        <p:cTn id="116" dur="1000" fill="hold"/>
                                        <p:tgtEl>
                                          <p:spTgt spid="2"/>
                                        </p:tgtEl>
                                        <p:attrNameLst>
                                          <p:attrName>ppt_x</p:attrName>
                                          <p:attrName>ppt_y</p:attrName>
                                        </p:attrNameLst>
                                      </p:cBhvr>
                                      <p:rCtr x="-6888" y="9444"/>
                                    </p:animMotion>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1" presetClass="entr" presetSubtype="1" fill="hold" grpId="6" nodeType="clickEffect">
                                  <p:stCondLst>
                                    <p:cond delay="0"/>
                                  </p:stCondLst>
                                  <p:childTnLst>
                                    <p:set>
                                      <p:cBhvr>
                                        <p:cTn id="120" dur="1" fill="hold">
                                          <p:stCondLst>
                                            <p:cond delay="0"/>
                                          </p:stCondLst>
                                        </p:cTn>
                                        <p:tgtEl>
                                          <p:spTgt spid="4"/>
                                        </p:tgtEl>
                                        <p:attrNameLst>
                                          <p:attrName>style.visibility</p:attrName>
                                        </p:attrNameLst>
                                      </p:cBhvr>
                                      <p:to>
                                        <p:strVal val="visible"/>
                                      </p:to>
                                    </p:set>
                                    <p:animEffect transition="in" filter="wheel(1)">
                                      <p:cBhvr>
                                        <p:cTn id="121" dur="2000"/>
                                        <p:tgtEl>
                                          <p:spTgt spid="4"/>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1" presetClass="exit" presetSubtype="0" fill="hold" grpId="7" nodeType="clickEffect">
                                  <p:stCondLst>
                                    <p:cond delay="0"/>
                                  </p:stCondLst>
                                  <p:childTnLst>
                                    <p:set>
                                      <p:cBhvr>
                                        <p:cTn id="125" dur="1" fill="hold">
                                          <p:stCondLst>
                                            <p:cond delay="0"/>
                                          </p:stCondLst>
                                        </p:cTn>
                                        <p:tgtEl>
                                          <p:spTgt spid="4"/>
                                        </p:tgtEl>
                                        <p:attrNameLst>
                                          <p:attrName>style.visibility</p:attrName>
                                        </p:attrNameLst>
                                      </p:cBhvr>
                                      <p:to>
                                        <p:strVal val="hidden"/>
                                      </p:to>
                                    </p:set>
                                  </p:childTnLst>
                                </p:cTn>
                              </p:par>
                            </p:childTnLst>
                          </p:cTn>
                        </p:par>
                        <p:par>
                          <p:cTn id="126" fill="hold" nodeType="afterGroup">
                            <p:stCondLst>
                              <p:cond delay="0"/>
                            </p:stCondLst>
                            <p:childTnLst>
                              <p:par>
                                <p:cTn id="127" presetID="42" presetClass="path" presetSubtype="0" fill="hold" nodeType="afterEffect">
                                  <p:stCondLst>
                                    <p:cond delay="0"/>
                                  </p:stCondLst>
                                  <p:childTnLst>
                                    <p:animMotion origin="layout" path="M -0.13763 0.18889 L -0.0905 0.27291 " pathEditMode="relative" rAng="0" ptsTypes="AA">
                                      <p:cBhvr>
                                        <p:cTn id="128" dur="1000" fill="hold"/>
                                        <p:tgtEl>
                                          <p:spTgt spid="2"/>
                                        </p:tgtEl>
                                        <p:attrNameLst>
                                          <p:attrName>ppt_x</p:attrName>
                                          <p:attrName>ppt_y</p:attrName>
                                        </p:attrNameLst>
                                      </p:cBhvr>
                                      <p:rCtr x="2357" y="4190"/>
                                    </p:animMotion>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1" presetClass="entr" presetSubtype="1" fill="hold" grpId="4" nodeType="clickEffect">
                                  <p:stCondLst>
                                    <p:cond delay="0"/>
                                  </p:stCondLst>
                                  <p:childTnLst>
                                    <p:set>
                                      <p:cBhvr>
                                        <p:cTn id="132" dur="1" fill="hold">
                                          <p:stCondLst>
                                            <p:cond delay="0"/>
                                          </p:stCondLst>
                                        </p:cTn>
                                        <p:tgtEl>
                                          <p:spTgt spid="106"/>
                                        </p:tgtEl>
                                        <p:attrNameLst>
                                          <p:attrName>style.visibility</p:attrName>
                                        </p:attrNameLst>
                                      </p:cBhvr>
                                      <p:to>
                                        <p:strVal val="visible"/>
                                      </p:to>
                                    </p:set>
                                    <p:animEffect transition="in" filter="wheel(1)">
                                      <p:cBhvr>
                                        <p:cTn id="133" dur="2000"/>
                                        <p:tgtEl>
                                          <p:spTgt spid="106"/>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 presetClass="exit" presetSubtype="0" fill="hold" grpId="5" nodeType="clickEffect">
                                  <p:stCondLst>
                                    <p:cond delay="0"/>
                                  </p:stCondLst>
                                  <p:childTnLst>
                                    <p:set>
                                      <p:cBhvr>
                                        <p:cTn id="137" dur="1" fill="hold">
                                          <p:stCondLst>
                                            <p:cond delay="0"/>
                                          </p:stCondLst>
                                        </p:cTn>
                                        <p:tgtEl>
                                          <p:spTgt spid="106"/>
                                        </p:tgtEl>
                                        <p:attrNameLst>
                                          <p:attrName>style.visibility</p:attrName>
                                        </p:attrNameLst>
                                      </p:cBhvr>
                                      <p:to>
                                        <p:strVal val="hidden"/>
                                      </p:to>
                                    </p:set>
                                  </p:childTnLst>
                                </p:cTn>
                              </p:par>
                            </p:childTnLst>
                          </p:cTn>
                        </p:par>
                        <p:par>
                          <p:cTn id="138" fill="hold" nodeType="afterGroup">
                            <p:stCondLst>
                              <p:cond delay="0"/>
                            </p:stCondLst>
                            <p:childTnLst>
                              <p:par>
                                <p:cTn id="139" presetID="42" presetClass="path" presetSubtype="0" fill="hold" nodeType="afterEffect">
                                  <p:stCondLst>
                                    <p:cond delay="0"/>
                                  </p:stCondLst>
                                  <p:childTnLst>
                                    <p:animMotion origin="layout" path="M -0.0905 0.27291 L -0.04323 0.35671 " pathEditMode="relative" rAng="0" ptsTypes="AA">
                                      <p:cBhvr>
                                        <p:cTn id="140" dur="1000" fill="hold"/>
                                        <p:tgtEl>
                                          <p:spTgt spid="2"/>
                                        </p:tgtEl>
                                        <p:attrNameLst>
                                          <p:attrName>ppt_x</p:attrName>
                                          <p:attrName>ppt_y</p:attrName>
                                        </p:attrNameLst>
                                      </p:cBhvr>
                                      <p:rCtr x="2357" y="4190"/>
                                    </p:animMotion>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1" presetClass="entr" presetSubtype="1" fill="hold" grpId="2" nodeType="clickEffect">
                                  <p:stCondLst>
                                    <p:cond delay="0"/>
                                  </p:stCondLst>
                                  <p:childTnLst>
                                    <p:set>
                                      <p:cBhvr>
                                        <p:cTn id="144" dur="1" fill="hold">
                                          <p:stCondLst>
                                            <p:cond delay="0"/>
                                          </p:stCondLst>
                                        </p:cTn>
                                        <p:tgtEl>
                                          <p:spTgt spid="107"/>
                                        </p:tgtEl>
                                        <p:attrNameLst>
                                          <p:attrName>style.visibility</p:attrName>
                                        </p:attrNameLst>
                                      </p:cBhvr>
                                      <p:to>
                                        <p:strVal val="visible"/>
                                      </p:to>
                                    </p:set>
                                    <p:animEffect transition="in" filter="wheel(1)">
                                      <p:cBhvr>
                                        <p:cTn id="145" dur="2000"/>
                                        <p:tgtEl>
                                          <p:spTgt spid="107"/>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 presetClass="exit" presetSubtype="0" fill="hold" grpId="3" nodeType="clickEffect">
                                  <p:stCondLst>
                                    <p:cond delay="0"/>
                                  </p:stCondLst>
                                  <p:childTnLst>
                                    <p:set>
                                      <p:cBhvr>
                                        <p:cTn id="149" dur="1" fill="hold">
                                          <p:stCondLst>
                                            <p:cond delay="0"/>
                                          </p:stCondLst>
                                        </p:cTn>
                                        <p:tgtEl>
                                          <p:spTgt spid="107"/>
                                        </p:tgtEl>
                                        <p:attrNameLst>
                                          <p:attrName>style.visibility</p:attrName>
                                        </p:attrNameLst>
                                      </p:cBhvr>
                                      <p:to>
                                        <p:strVal val="hidden"/>
                                      </p:to>
                                    </p:set>
                                  </p:childTnLst>
                                </p:cTn>
                              </p:par>
                            </p:childTnLst>
                          </p:cTn>
                        </p:par>
                        <p:par>
                          <p:cTn id="150" fill="hold" nodeType="afterGroup">
                            <p:stCondLst>
                              <p:cond delay="0"/>
                            </p:stCondLst>
                            <p:childTnLst>
                              <p:par>
                                <p:cTn id="151" presetID="42" presetClass="path" presetSubtype="0" fill="hold" nodeType="afterEffect">
                                  <p:stCondLst>
                                    <p:cond delay="0"/>
                                  </p:stCondLst>
                                  <p:childTnLst>
                                    <p:animMotion origin="layout" path="M -0.04323 0.35671 L 0.00403 0.42685 " pathEditMode="relative" rAng="0" ptsTypes="AA">
                                      <p:cBhvr>
                                        <p:cTn id="152" dur="1000" fill="hold"/>
                                        <p:tgtEl>
                                          <p:spTgt spid="2"/>
                                        </p:tgtEl>
                                        <p:attrNameLst>
                                          <p:attrName>ppt_x</p:attrName>
                                          <p:attrName>ppt_y</p:attrName>
                                        </p:attrNameLst>
                                      </p:cBhvr>
                                      <p:rCtr x="2357" y="3495"/>
                                    </p:animMotion>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1" presetClass="entr" presetSubtype="1" fill="hold" grpId="0" nodeType="clickEffect">
                                  <p:stCondLst>
                                    <p:cond delay="0"/>
                                  </p:stCondLst>
                                  <p:childTnLst>
                                    <p:set>
                                      <p:cBhvr>
                                        <p:cTn id="156" dur="1" fill="hold">
                                          <p:stCondLst>
                                            <p:cond delay="0"/>
                                          </p:stCondLst>
                                        </p:cTn>
                                        <p:tgtEl>
                                          <p:spTgt spid="108"/>
                                        </p:tgtEl>
                                        <p:attrNameLst>
                                          <p:attrName>style.visibility</p:attrName>
                                        </p:attrNameLst>
                                      </p:cBhvr>
                                      <p:to>
                                        <p:strVal val="visible"/>
                                      </p:to>
                                    </p:set>
                                    <p:animEffect transition="in" filter="wheel(1)">
                                      <p:cBhvr>
                                        <p:cTn id="157" dur="2000"/>
                                        <p:tgtEl>
                                          <p:spTgt spid="108"/>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 presetClass="exit" presetSubtype="0" fill="hold" grpId="1" nodeType="clickEffect">
                                  <p:stCondLst>
                                    <p:cond delay="0"/>
                                  </p:stCondLst>
                                  <p:childTnLst>
                                    <p:set>
                                      <p:cBhvr>
                                        <p:cTn id="161" dur="1" fill="hold">
                                          <p:stCondLst>
                                            <p:cond delay="0"/>
                                          </p:stCondLst>
                                        </p:cTn>
                                        <p:tgtEl>
                                          <p:spTgt spid="108"/>
                                        </p:tgtEl>
                                        <p:attrNameLst>
                                          <p:attrName>style.visibility</p:attrName>
                                        </p:attrNameLst>
                                      </p:cBhvr>
                                      <p:to>
                                        <p:strVal val="hidden"/>
                                      </p:to>
                                    </p:set>
                                  </p:childTnLst>
                                </p:cTn>
                              </p:par>
                            </p:childTnLst>
                          </p:cTn>
                        </p:par>
                        <p:par>
                          <p:cTn id="162" fill="hold" nodeType="afterGroup">
                            <p:stCondLst>
                              <p:cond delay="0"/>
                            </p:stCondLst>
                            <p:childTnLst>
                              <p:par>
                                <p:cTn id="163" presetID="42" presetClass="path" presetSubtype="0" fill="hold" nodeType="afterEffect">
                                  <p:stCondLst>
                                    <p:cond delay="0"/>
                                  </p:stCondLst>
                                  <p:childTnLst>
                                    <p:animMotion origin="layout" path="M 0.00403 0.42685 L 0.00403 0.51088 " pathEditMode="relative" rAng="0" ptsTypes="AA">
                                      <p:cBhvr>
                                        <p:cTn id="164" dur="1000" fill="hold"/>
                                        <p:tgtEl>
                                          <p:spTgt spid="2"/>
                                        </p:tgtEl>
                                        <p:attrNameLst>
                                          <p:attrName>ppt_x</p:attrName>
                                          <p:attrName>ppt_y</p:attrName>
                                        </p:attrNameLst>
                                      </p:cBhvr>
                                      <p:rCtr x="0" y="4190"/>
                                    </p:animMotion>
                                  </p:childTnLst>
                                </p:cTn>
                              </p:par>
                            </p:childTnLst>
                          </p:cTn>
                        </p:par>
                      </p:childTnLst>
                    </p:cTn>
                  </p:par>
                  <p:par>
                    <p:cTn id="165" fill="hold">
                      <p:stCondLst>
                        <p:cond delay="indefinite"/>
                      </p:stCondLst>
                      <p:childTnLst>
                        <p:par>
                          <p:cTn id="166" fill="hold">
                            <p:stCondLst>
                              <p:cond delay="0"/>
                            </p:stCondLst>
                            <p:childTnLst>
                              <p:par>
                                <p:cTn id="167" presetID="2" presetClass="entr" presetSubtype="4" fill="hold" grpId="0" nodeType="clickEffect">
                                  <p:stCondLst>
                                    <p:cond delay="0"/>
                                  </p:stCondLst>
                                  <p:childTnLst>
                                    <p:set>
                                      <p:cBhvr>
                                        <p:cTn id="168" dur="1" fill="hold">
                                          <p:stCondLst>
                                            <p:cond delay="0"/>
                                          </p:stCondLst>
                                        </p:cTn>
                                        <p:tgtEl>
                                          <p:spTgt spid="17"/>
                                        </p:tgtEl>
                                        <p:attrNameLst>
                                          <p:attrName>style.visibility</p:attrName>
                                        </p:attrNameLst>
                                      </p:cBhvr>
                                      <p:to>
                                        <p:strVal val="visible"/>
                                      </p:to>
                                    </p:set>
                                    <p:anim calcmode="lin" valueType="num">
                                      <p:cBhvr additive="base">
                                        <p:cTn id="169" dur="500" fill="hold"/>
                                        <p:tgtEl>
                                          <p:spTgt spid="17"/>
                                        </p:tgtEl>
                                        <p:attrNameLst>
                                          <p:attrName>ppt_x</p:attrName>
                                        </p:attrNameLst>
                                      </p:cBhvr>
                                      <p:tavLst>
                                        <p:tav tm="0">
                                          <p:val>
                                            <p:strVal val="#ppt_x"/>
                                          </p:val>
                                        </p:tav>
                                        <p:tav tm="100000">
                                          <p:val>
                                            <p:strVal val="#ppt_x"/>
                                          </p:val>
                                        </p:tav>
                                      </p:tavLst>
                                    </p:anim>
                                    <p:anim calcmode="lin" valueType="num">
                                      <p:cBhvr additive="base">
                                        <p:cTn id="17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10" presetClass="entr" presetSubtype="0" fill="hold" nodeType="clickEffect">
                                  <p:stCondLst>
                                    <p:cond delay="0"/>
                                  </p:stCondLst>
                                  <p:childTnLst>
                                    <p:set>
                                      <p:cBhvr>
                                        <p:cTn id="174" dur="1" fill="hold">
                                          <p:stCondLst>
                                            <p:cond delay="0"/>
                                          </p:stCondLst>
                                        </p:cTn>
                                        <p:tgtEl>
                                          <p:spTgt spid="5"/>
                                        </p:tgtEl>
                                        <p:attrNameLst>
                                          <p:attrName>style.visibility</p:attrName>
                                        </p:attrNameLst>
                                      </p:cBhvr>
                                      <p:to>
                                        <p:strVal val="visible"/>
                                      </p:to>
                                    </p:set>
                                    <p:animEffect transition="in" filter="fade">
                                      <p:cBhvr>
                                        <p:cTn id="17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4" grpId="0" animBg="1"/>
      <p:bldP spid="84" grpId="1" animBg="1"/>
      <p:bldP spid="89" grpId="0" animBg="1"/>
      <p:bldP spid="89" grpId="1" animBg="1"/>
      <p:bldP spid="89" grpId="2" animBg="1"/>
      <p:bldP spid="4" grpId="0" animBg="1"/>
      <p:bldP spid="4" grpId="1" animBg="1"/>
      <p:bldP spid="4" grpId="2" animBg="1"/>
      <p:bldP spid="4" grpId="3" animBg="1"/>
      <p:bldP spid="4" grpId="4" animBg="1"/>
      <p:bldP spid="4" grpId="5" animBg="1"/>
      <p:bldP spid="4" grpId="6" animBg="1"/>
      <p:bldP spid="4" grpId="7" animBg="1"/>
      <p:bldP spid="106" grpId="0" animBg="1"/>
      <p:bldP spid="106" grpId="1" animBg="1"/>
      <p:bldP spid="106" grpId="2" animBg="1"/>
      <p:bldP spid="106" grpId="3" animBg="1"/>
      <p:bldP spid="106" grpId="4" animBg="1"/>
      <p:bldP spid="106" grpId="5" animBg="1"/>
      <p:bldP spid="107" grpId="0" animBg="1"/>
      <p:bldP spid="107" grpId="1" animBg="1"/>
      <p:bldP spid="107" grpId="2" animBg="1"/>
      <p:bldP spid="107" grpId="3" animBg="1"/>
      <p:bldP spid="108" grpId="0" animBg="1"/>
      <p:bldP spid="108" grpId="1" animBg="1"/>
      <p:bldP spid="33" grpId="0"/>
      <p:bldP spid="33" grpId="1"/>
      <p:bldP spid="34" grpId="0"/>
      <p:bldP spid="34" grpId="1"/>
      <p:bldP spid="34" grpId="2"/>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5">
            <a:extLst>
              <a:ext uri="{FF2B5EF4-FFF2-40B4-BE49-F238E27FC236}">
                <a16:creationId xmlns:a16="http://schemas.microsoft.com/office/drawing/2014/main" id="{167EB349-9384-4826-B705-87B70D9A04C3}"/>
              </a:ext>
            </a:extLst>
          </p:cNvPr>
          <p:cNvSpPr txBox="1"/>
          <p:nvPr/>
        </p:nvSpPr>
        <p:spPr>
          <a:xfrm>
            <a:off x="876810" y="1545424"/>
            <a:ext cx="7662333" cy="468975"/>
          </a:xfrm>
          <a:prstGeom prst="rect">
            <a:avLst/>
          </a:prstGeom>
          <a:noFill/>
        </p:spPr>
        <p:txBody>
          <a:bodyPr>
            <a:spAutoFit/>
          </a:bodyPr>
          <a:lstStyle/>
          <a:p>
            <a:pPr>
              <a:lnSpc>
                <a:spcPct val="150000"/>
              </a:lnSpc>
              <a:defRPr/>
            </a:pPr>
            <a:r>
              <a:rPr lang="zh-CN" altLang="en-US"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平衡二叉树</a:t>
            </a:r>
          </a:p>
        </p:txBody>
      </p:sp>
      <p:sp>
        <p:nvSpPr>
          <p:cNvPr id="48" name="椭圆 47">
            <a:extLst>
              <a:ext uri="{FF2B5EF4-FFF2-40B4-BE49-F238E27FC236}">
                <a16:creationId xmlns:a16="http://schemas.microsoft.com/office/drawing/2014/main" id="{653B84FE-2B3F-4B03-B99F-2FE2BBAE5BBF}"/>
              </a:ext>
            </a:extLst>
          </p:cNvPr>
          <p:cNvSpPr/>
          <p:nvPr/>
        </p:nvSpPr>
        <p:spPr>
          <a:xfrm>
            <a:off x="1827850" y="3300634"/>
            <a:ext cx="480484" cy="48048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7</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2" name="椭圆 51">
            <a:extLst>
              <a:ext uri="{FF2B5EF4-FFF2-40B4-BE49-F238E27FC236}">
                <a16:creationId xmlns:a16="http://schemas.microsoft.com/office/drawing/2014/main" id="{EE156C76-383B-4CA0-A21E-8A8182B6C256}"/>
              </a:ext>
            </a:extLst>
          </p:cNvPr>
          <p:cNvSpPr/>
          <p:nvPr/>
        </p:nvSpPr>
        <p:spPr>
          <a:xfrm>
            <a:off x="2378183" y="3857318"/>
            <a:ext cx="480484"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54" name="直接箭头连接符 53">
            <a:extLst>
              <a:ext uri="{FF2B5EF4-FFF2-40B4-BE49-F238E27FC236}">
                <a16:creationId xmlns:a16="http://schemas.microsoft.com/office/drawing/2014/main" id="{09D345AC-BC24-4F56-AD90-3AD5408D7A0E}"/>
              </a:ext>
            </a:extLst>
          </p:cNvPr>
          <p:cNvCxnSpPr>
            <a:stCxn id="48" idx="5"/>
            <a:endCxn id="52" idx="1"/>
          </p:cNvCxnSpPr>
          <p:nvPr/>
        </p:nvCxnSpPr>
        <p:spPr>
          <a:xfrm>
            <a:off x="2236366" y="3711268"/>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1" name="椭圆 60">
            <a:extLst>
              <a:ext uri="{FF2B5EF4-FFF2-40B4-BE49-F238E27FC236}">
                <a16:creationId xmlns:a16="http://schemas.microsoft.com/office/drawing/2014/main" id="{7BD9E53D-8CD1-440B-A5AF-938289508B13}"/>
              </a:ext>
            </a:extLst>
          </p:cNvPr>
          <p:cNvSpPr/>
          <p:nvPr/>
        </p:nvSpPr>
        <p:spPr>
          <a:xfrm>
            <a:off x="2941216" y="4390718"/>
            <a:ext cx="480484"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2" name="直接箭头连接符 61">
            <a:extLst>
              <a:ext uri="{FF2B5EF4-FFF2-40B4-BE49-F238E27FC236}">
                <a16:creationId xmlns:a16="http://schemas.microsoft.com/office/drawing/2014/main" id="{EE76E4CB-8881-45A3-B357-65B73B366F32}"/>
              </a:ext>
            </a:extLst>
          </p:cNvPr>
          <p:cNvCxnSpPr>
            <a:endCxn id="61" idx="1"/>
          </p:cNvCxnSpPr>
          <p:nvPr/>
        </p:nvCxnSpPr>
        <p:spPr>
          <a:xfrm>
            <a:off x="2799400" y="4242551"/>
            <a:ext cx="211667" cy="21801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2" name="椭圆 81">
            <a:extLst>
              <a:ext uri="{FF2B5EF4-FFF2-40B4-BE49-F238E27FC236}">
                <a16:creationId xmlns:a16="http://schemas.microsoft.com/office/drawing/2014/main" id="{DB37366F-C9C6-4939-8492-E967094F9E35}"/>
              </a:ext>
            </a:extLst>
          </p:cNvPr>
          <p:cNvSpPr/>
          <p:nvPr/>
        </p:nvSpPr>
        <p:spPr>
          <a:xfrm>
            <a:off x="3516950" y="4949518"/>
            <a:ext cx="480484"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84" name="直接箭头连接符 83">
            <a:extLst>
              <a:ext uri="{FF2B5EF4-FFF2-40B4-BE49-F238E27FC236}">
                <a16:creationId xmlns:a16="http://schemas.microsoft.com/office/drawing/2014/main" id="{C44EBE6F-5400-4523-B9FE-CF51F3907057}"/>
              </a:ext>
            </a:extLst>
          </p:cNvPr>
          <p:cNvCxnSpPr>
            <a:endCxn id="82" idx="1"/>
          </p:cNvCxnSpPr>
          <p:nvPr/>
        </p:nvCxnSpPr>
        <p:spPr>
          <a:xfrm>
            <a:off x="3375133" y="4803468"/>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9" name="矩形 88">
            <a:extLst>
              <a:ext uri="{FF2B5EF4-FFF2-40B4-BE49-F238E27FC236}">
                <a16:creationId xmlns:a16="http://schemas.microsoft.com/office/drawing/2014/main" id="{7DA97209-C787-4C52-AE2A-592F104E809B}"/>
              </a:ext>
            </a:extLst>
          </p:cNvPr>
          <p:cNvSpPr/>
          <p:nvPr/>
        </p:nvSpPr>
        <p:spPr>
          <a:xfrm>
            <a:off x="3546360" y="5034185"/>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12</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91" name="椭圆 90">
            <a:extLst>
              <a:ext uri="{FF2B5EF4-FFF2-40B4-BE49-F238E27FC236}">
                <a16:creationId xmlns:a16="http://schemas.microsoft.com/office/drawing/2014/main" id="{ED9C4A28-FA4D-4B4C-BB4D-2852CBDB4BC8}"/>
              </a:ext>
            </a:extLst>
          </p:cNvPr>
          <p:cNvSpPr/>
          <p:nvPr/>
        </p:nvSpPr>
        <p:spPr>
          <a:xfrm>
            <a:off x="4099033" y="5516784"/>
            <a:ext cx="480483"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93" name="直接箭头连接符 92">
            <a:extLst>
              <a:ext uri="{FF2B5EF4-FFF2-40B4-BE49-F238E27FC236}">
                <a16:creationId xmlns:a16="http://schemas.microsoft.com/office/drawing/2014/main" id="{A1EA1FA1-E724-4EBF-82DF-355123DD9489}"/>
              </a:ext>
            </a:extLst>
          </p:cNvPr>
          <p:cNvCxnSpPr>
            <a:endCxn id="91" idx="1"/>
          </p:cNvCxnSpPr>
          <p:nvPr/>
        </p:nvCxnSpPr>
        <p:spPr>
          <a:xfrm>
            <a:off x="3957216" y="5370734"/>
            <a:ext cx="213784"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4" name="矩形 93">
            <a:extLst>
              <a:ext uri="{FF2B5EF4-FFF2-40B4-BE49-F238E27FC236}">
                <a16:creationId xmlns:a16="http://schemas.microsoft.com/office/drawing/2014/main" id="{052EDFD4-C50A-4297-BFD2-5713DD1BCB25}"/>
              </a:ext>
            </a:extLst>
          </p:cNvPr>
          <p:cNvSpPr/>
          <p:nvPr/>
        </p:nvSpPr>
        <p:spPr>
          <a:xfrm>
            <a:off x="4130560" y="5586635"/>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13</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00" name="右箭头 99">
            <a:extLst>
              <a:ext uri="{FF2B5EF4-FFF2-40B4-BE49-F238E27FC236}">
                <a16:creationId xmlns:a16="http://schemas.microsoft.com/office/drawing/2014/main" id="{3AE18274-6EA7-4C83-9BF0-D05F141AAD9C}"/>
              </a:ext>
            </a:extLst>
          </p:cNvPr>
          <p:cNvSpPr/>
          <p:nvPr/>
        </p:nvSpPr>
        <p:spPr>
          <a:xfrm>
            <a:off x="4192166" y="4111317"/>
            <a:ext cx="673100" cy="480483"/>
          </a:xfrm>
          <a:prstGeom prst="rightArrow">
            <a:avLst/>
          </a:prstGeom>
          <a:solidFill>
            <a:srgbClr val="7030A0"/>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101" name="椭圆 100">
            <a:extLst>
              <a:ext uri="{FF2B5EF4-FFF2-40B4-BE49-F238E27FC236}">
                <a16:creationId xmlns:a16="http://schemas.microsoft.com/office/drawing/2014/main" id="{0A3FC1C6-9F20-4D95-B04D-93EFCF08E543}"/>
              </a:ext>
            </a:extLst>
          </p:cNvPr>
          <p:cNvSpPr/>
          <p:nvPr/>
        </p:nvSpPr>
        <p:spPr>
          <a:xfrm>
            <a:off x="6722762" y="3262533"/>
            <a:ext cx="480483" cy="48048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02" name="直接箭头连接符 101">
            <a:extLst>
              <a:ext uri="{FF2B5EF4-FFF2-40B4-BE49-F238E27FC236}">
                <a16:creationId xmlns:a16="http://schemas.microsoft.com/office/drawing/2014/main" id="{2BC78760-0EA1-4095-B80E-6C0D229D8A74}"/>
              </a:ext>
            </a:extLst>
          </p:cNvPr>
          <p:cNvCxnSpPr/>
          <p:nvPr/>
        </p:nvCxnSpPr>
        <p:spPr>
          <a:xfrm flipH="1">
            <a:off x="6587296" y="3694334"/>
            <a:ext cx="215900"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2ECE7FBC-B11E-4B0C-AF6D-A1365DAC7469}"/>
              </a:ext>
            </a:extLst>
          </p:cNvPr>
          <p:cNvCxnSpPr/>
          <p:nvPr/>
        </p:nvCxnSpPr>
        <p:spPr>
          <a:xfrm flipH="1">
            <a:off x="6028496" y="4223500"/>
            <a:ext cx="215900" cy="21801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 name="椭圆 103">
            <a:extLst>
              <a:ext uri="{FF2B5EF4-FFF2-40B4-BE49-F238E27FC236}">
                <a16:creationId xmlns:a16="http://schemas.microsoft.com/office/drawing/2014/main" id="{04C95073-F78F-4644-8386-C558990EFC22}"/>
              </a:ext>
            </a:extLst>
          </p:cNvPr>
          <p:cNvSpPr/>
          <p:nvPr/>
        </p:nvSpPr>
        <p:spPr>
          <a:xfrm>
            <a:off x="6204178" y="3827683"/>
            <a:ext cx="480484" cy="48048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05" name="椭圆 104">
            <a:extLst>
              <a:ext uri="{FF2B5EF4-FFF2-40B4-BE49-F238E27FC236}">
                <a16:creationId xmlns:a16="http://schemas.microsoft.com/office/drawing/2014/main" id="{9757A048-ED7F-42A5-AE4C-9F096D369B4A}"/>
              </a:ext>
            </a:extLst>
          </p:cNvPr>
          <p:cNvSpPr/>
          <p:nvPr/>
        </p:nvSpPr>
        <p:spPr>
          <a:xfrm>
            <a:off x="5596695" y="4356850"/>
            <a:ext cx="480483" cy="48048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7</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06" name="直接箭头连接符 105">
            <a:extLst>
              <a:ext uri="{FF2B5EF4-FFF2-40B4-BE49-F238E27FC236}">
                <a16:creationId xmlns:a16="http://schemas.microsoft.com/office/drawing/2014/main" id="{A2BD4919-EEB1-4014-9190-99960E79704C}"/>
              </a:ext>
            </a:extLst>
          </p:cNvPr>
          <p:cNvCxnSpPr/>
          <p:nvPr/>
        </p:nvCxnSpPr>
        <p:spPr>
          <a:xfrm>
            <a:off x="7124928" y="3694334"/>
            <a:ext cx="211667" cy="215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a:extLst>
              <a:ext uri="{FF2B5EF4-FFF2-40B4-BE49-F238E27FC236}">
                <a16:creationId xmlns:a16="http://schemas.microsoft.com/office/drawing/2014/main" id="{E2C6D46B-C790-4795-933D-DC23E3DACB4E}"/>
              </a:ext>
            </a:extLst>
          </p:cNvPr>
          <p:cNvCxnSpPr/>
          <p:nvPr/>
        </p:nvCxnSpPr>
        <p:spPr>
          <a:xfrm>
            <a:off x="7687962" y="4225617"/>
            <a:ext cx="211667" cy="21801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8" name="椭圆 107">
            <a:extLst>
              <a:ext uri="{FF2B5EF4-FFF2-40B4-BE49-F238E27FC236}">
                <a16:creationId xmlns:a16="http://schemas.microsoft.com/office/drawing/2014/main" id="{1BDD226C-DA77-4520-AA46-66B779F9B9E0}"/>
              </a:ext>
            </a:extLst>
          </p:cNvPr>
          <p:cNvSpPr/>
          <p:nvPr/>
        </p:nvSpPr>
        <p:spPr>
          <a:xfrm>
            <a:off x="7243462" y="3810750"/>
            <a:ext cx="480483" cy="48048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09" name="矩形 108">
            <a:extLst>
              <a:ext uri="{FF2B5EF4-FFF2-40B4-BE49-F238E27FC236}">
                <a16:creationId xmlns:a16="http://schemas.microsoft.com/office/drawing/2014/main" id="{87D8C143-E231-4004-9FD0-9749DDA6980E}"/>
              </a:ext>
            </a:extLst>
          </p:cNvPr>
          <p:cNvSpPr/>
          <p:nvPr/>
        </p:nvSpPr>
        <p:spPr>
          <a:xfrm>
            <a:off x="7270756" y="3895417"/>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12</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10" name="椭圆 109">
            <a:extLst>
              <a:ext uri="{FF2B5EF4-FFF2-40B4-BE49-F238E27FC236}">
                <a16:creationId xmlns:a16="http://schemas.microsoft.com/office/drawing/2014/main" id="{1ABD168F-560B-4622-AE8C-95C58C1A4B5F}"/>
              </a:ext>
            </a:extLst>
          </p:cNvPr>
          <p:cNvSpPr/>
          <p:nvPr/>
        </p:nvSpPr>
        <p:spPr>
          <a:xfrm>
            <a:off x="7825545" y="4378016"/>
            <a:ext cx="480484" cy="48048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11" name="矩形 110">
            <a:extLst>
              <a:ext uri="{FF2B5EF4-FFF2-40B4-BE49-F238E27FC236}">
                <a16:creationId xmlns:a16="http://schemas.microsoft.com/office/drawing/2014/main" id="{2CF4A6B1-D367-4FAD-96B5-BF150EF728DB}"/>
              </a:ext>
            </a:extLst>
          </p:cNvPr>
          <p:cNvSpPr/>
          <p:nvPr/>
        </p:nvSpPr>
        <p:spPr>
          <a:xfrm>
            <a:off x="7854956" y="4447867"/>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13</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 name="椭圆 2">
            <a:extLst>
              <a:ext uri="{FF2B5EF4-FFF2-40B4-BE49-F238E27FC236}">
                <a16:creationId xmlns:a16="http://schemas.microsoft.com/office/drawing/2014/main" id="{03C7CA96-B8D0-45FE-B5D4-28F1A33265FC}"/>
              </a:ext>
            </a:extLst>
          </p:cNvPr>
          <p:cNvSpPr/>
          <p:nvPr/>
        </p:nvSpPr>
        <p:spPr>
          <a:xfrm>
            <a:off x="5234745" y="2824383"/>
            <a:ext cx="3456517" cy="3272367"/>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4" name="矩形 3">
            <a:extLst>
              <a:ext uri="{FF2B5EF4-FFF2-40B4-BE49-F238E27FC236}">
                <a16:creationId xmlns:a16="http://schemas.microsoft.com/office/drawing/2014/main" id="{D2993220-F8CF-4CD3-9957-C95EACEA0BE4}"/>
              </a:ext>
            </a:extLst>
          </p:cNvPr>
          <p:cNvSpPr>
            <a:spLocks noChangeArrowheads="1"/>
          </p:cNvSpPr>
          <p:nvPr/>
        </p:nvSpPr>
        <p:spPr bwMode="auto">
          <a:xfrm>
            <a:off x="6062363" y="5239500"/>
            <a:ext cx="1699504" cy="59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400" b="1" dirty="0">
                <a:solidFill>
                  <a:srgbClr val="AD2B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平衡二叉树</a:t>
            </a:r>
          </a:p>
        </p:txBody>
      </p:sp>
      <p:sp>
        <p:nvSpPr>
          <p:cNvPr id="112" name="矩形 111">
            <a:extLst>
              <a:ext uri="{FF2B5EF4-FFF2-40B4-BE49-F238E27FC236}">
                <a16:creationId xmlns:a16="http://schemas.microsoft.com/office/drawing/2014/main" id="{4427E83D-DE1C-4B1F-9176-B9B40161D25F}"/>
              </a:ext>
            </a:extLst>
          </p:cNvPr>
          <p:cNvSpPr/>
          <p:nvPr/>
        </p:nvSpPr>
        <p:spPr>
          <a:xfrm>
            <a:off x="2366318" y="3944101"/>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10</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13" name="矩形 112">
            <a:extLst>
              <a:ext uri="{FF2B5EF4-FFF2-40B4-BE49-F238E27FC236}">
                <a16:creationId xmlns:a16="http://schemas.microsoft.com/office/drawing/2014/main" id="{0E4B0490-0E1D-46E3-9BCD-FEE008319278}"/>
              </a:ext>
            </a:extLst>
          </p:cNvPr>
          <p:cNvSpPr/>
          <p:nvPr/>
        </p:nvSpPr>
        <p:spPr>
          <a:xfrm>
            <a:off x="2955810" y="4462685"/>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11</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14" name="矩形 113">
            <a:extLst>
              <a:ext uri="{FF2B5EF4-FFF2-40B4-BE49-F238E27FC236}">
                <a16:creationId xmlns:a16="http://schemas.microsoft.com/office/drawing/2014/main" id="{9DEF3A46-445C-410F-9807-FF828592C8C5}"/>
              </a:ext>
            </a:extLst>
          </p:cNvPr>
          <p:cNvSpPr/>
          <p:nvPr/>
        </p:nvSpPr>
        <p:spPr>
          <a:xfrm>
            <a:off x="6229356" y="3920817"/>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10</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15" name="矩形 114">
            <a:extLst>
              <a:ext uri="{FF2B5EF4-FFF2-40B4-BE49-F238E27FC236}">
                <a16:creationId xmlns:a16="http://schemas.microsoft.com/office/drawing/2014/main" id="{ED2F091B-D47B-42BA-9145-8374C188868D}"/>
              </a:ext>
            </a:extLst>
          </p:cNvPr>
          <p:cNvSpPr/>
          <p:nvPr/>
        </p:nvSpPr>
        <p:spPr>
          <a:xfrm>
            <a:off x="6759580" y="3326034"/>
            <a:ext cx="396262" cy="307777"/>
          </a:xfrm>
          <a:prstGeom prst="rect">
            <a:avLst/>
          </a:prstGeom>
        </p:spPr>
        <p:txBody>
          <a:bodyPr wrap="none">
            <a:spAutoFit/>
          </a:bodyPr>
          <a:lstStyle/>
          <a:p>
            <a:pPr algn="ctr">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11</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5161C10B-0B53-46DD-B3D8-C4556FA0FB68}"/>
              </a:ext>
            </a:extLst>
          </p:cNvPr>
          <p:cNvSpPr txBox="1"/>
          <p:nvPr/>
        </p:nvSpPr>
        <p:spPr>
          <a:xfrm>
            <a:off x="826251" y="2121003"/>
            <a:ext cx="7865011" cy="338554"/>
          </a:xfrm>
          <a:prstGeom prst="rect">
            <a:avLst/>
          </a:prstGeom>
          <a:noFill/>
        </p:spPr>
        <p:txBody>
          <a:bodyPr wrap="square" rtlCol="0">
            <a:spAutoFit/>
          </a:bodyPr>
          <a:lstStyle/>
          <a:p>
            <a:pPr marL="285750" indent="-285750" fontAlgn="auto">
              <a:spcBef>
                <a:spcPts val="0"/>
              </a:spcBef>
              <a:spcAft>
                <a:spcPts val="0"/>
              </a:spcAft>
              <a:buFont typeface="Wingdings" panose="05000000000000000000" pitchFamily="2" charset="2"/>
              <a:buChar char="l"/>
            </a:pP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在满足查找二叉树的大小规则下，让树尽可能矮小，以此提高查数据的性能。</a:t>
            </a:r>
          </a:p>
        </p:txBody>
      </p:sp>
      <p:sp>
        <p:nvSpPr>
          <p:cNvPr id="7" name="标题 6">
            <a:extLst>
              <a:ext uri="{FF2B5EF4-FFF2-40B4-BE49-F238E27FC236}">
                <a16:creationId xmlns:a16="http://schemas.microsoft.com/office/drawing/2014/main" id="{6E401DDF-E6AD-944A-84CE-CFC3994C5FA6}"/>
              </a:ext>
            </a:extLst>
          </p:cNvPr>
          <p:cNvSpPr>
            <a:spLocks noGrp="1"/>
          </p:cNvSpPr>
          <p:nvPr>
            <p:ph type="title"/>
          </p:nvPr>
        </p:nvSpPr>
        <p:spPr/>
        <p:txBody>
          <a:bodyPr/>
          <a:lstStyle/>
          <a:p>
            <a:r>
              <a:rPr lang="en-US" altLang="zh-CN" dirty="0" err="1"/>
              <a:t>TreeSet</a:t>
            </a:r>
            <a:r>
              <a:rPr lang="en-US" altLang="zh-CN" dirty="0"/>
              <a:t> </a:t>
            </a:r>
            <a:r>
              <a:rPr lang="zh-CN" altLang="en-US" dirty="0"/>
              <a:t>集合底层数据结构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randombar(horizontal)">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
                                        </p:tgtEl>
                                        <p:attrNameLst>
                                          <p:attrName>style.visibility</p:attrName>
                                        </p:attrNameLst>
                                      </p:cBhvr>
                                      <p:to>
                                        <p:strVal val="visible"/>
                                      </p:to>
                                    </p:set>
                                    <p:animEffect transition="in" filter="wipe(left)">
                                      <p:cBhvr>
                                        <p:cTn id="12" dur="500"/>
                                        <p:tgtEl>
                                          <p:spTgt spid="1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1"/>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1" presetClass="entr" presetSubtype="1"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heel(1)">
                                      <p:cBhvr>
                                        <p:cTn id="45" dur="2000"/>
                                        <p:tgtEl>
                                          <p:spTgt spid="3"/>
                                        </p:tgtEl>
                                      </p:cBhvr>
                                    </p:animEffect>
                                  </p:childTnLst>
                                </p:cTn>
                              </p:par>
                            </p:childTnLst>
                          </p:cTn>
                        </p:par>
                        <p:par>
                          <p:cTn id="46" fill="hold" nodeType="afterGroup">
                            <p:stCondLst>
                              <p:cond delay="2000"/>
                            </p:stCondLst>
                            <p:childTnLst>
                              <p:par>
                                <p:cTn id="47" presetID="1" presetClass="entr" presetSubtype="0" fill="hold" grpId="0" nodeType="afterEffect">
                                  <p:stCondLst>
                                    <p:cond delay="0"/>
                                  </p:stCondLst>
                                  <p:childTnLst>
                                    <p:set>
                                      <p:cBhvr>
                                        <p:cTn id="4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animBg="1"/>
      <p:bldP spid="104" grpId="0" animBg="1"/>
      <p:bldP spid="105" grpId="0" animBg="1"/>
      <p:bldP spid="108" grpId="0" animBg="1"/>
      <p:bldP spid="109" grpId="0"/>
      <p:bldP spid="110" grpId="0" animBg="1"/>
      <p:bldP spid="111" grpId="0"/>
      <p:bldP spid="3" grpId="0" animBg="1"/>
      <p:bldP spid="4" grpId="0"/>
      <p:bldP spid="114" grpId="0"/>
      <p:bldP spid="115" grpId="0"/>
      <p:bldP spid="4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2A95D-3DAA-82BC-37DC-C1AEA948FBDB}"/>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B55E5CB4-E029-9A72-7608-794BCB8704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9206" y="2749009"/>
            <a:ext cx="4583360" cy="3357416"/>
          </a:xfrm>
          <a:prstGeom prst="rect">
            <a:avLst/>
          </a:prstGeom>
        </p:spPr>
      </p:pic>
      <p:sp>
        <p:nvSpPr>
          <p:cNvPr id="46" name="TextBox 45">
            <a:extLst>
              <a:ext uri="{FF2B5EF4-FFF2-40B4-BE49-F238E27FC236}">
                <a16:creationId xmlns:a16="http://schemas.microsoft.com/office/drawing/2014/main" id="{0D41B24A-DBE7-FB9D-8E0A-CA267307C147}"/>
              </a:ext>
            </a:extLst>
          </p:cNvPr>
          <p:cNvSpPr txBox="1"/>
          <p:nvPr/>
        </p:nvSpPr>
        <p:spPr>
          <a:xfrm>
            <a:off x="876810" y="1545424"/>
            <a:ext cx="7662333" cy="468975"/>
          </a:xfrm>
          <a:prstGeom prst="rect">
            <a:avLst/>
          </a:prstGeom>
          <a:noFill/>
        </p:spPr>
        <p:txBody>
          <a:bodyPr>
            <a:spAutoFit/>
          </a:bodyPr>
          <a:lstStyle/>
          <a:p>
            <a:pPr>
              <a:lnSpc>
                <a:spcPct val="150000"/>
              </a:lnSpc>
              <a:defRPr/>
            </a:pPr>
            <a:r>
              <a:rPr lang="zh-CN" altLang="en-US"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平衡二叉树</a:t>
            </a:r>
          </a:p>
        </p:txBody>
      </p:sp>
      <p:sp>
        <p:nvSpPr>
          <p:cNvPr id="41" name="文本框 40">
            <a:extLst>
              <a:ext uri="{FF2B5EF4-FFF2-40B4-BE49-F238E27FC236}">
                <a16:creationId xmlns:a16="http://schemas.microsoft.com/office/drawing/2014/main" id="{74D10938-B5B9-4C8E-0F62-095C799A8D3A}"/>
              </a:ext>
            </a:extLst>
          </p:cNvPr>
          <p:cNvSpPr txBox="1"/>
          <p:nvPr/>
        </p:nvSpPr>
        <p:spPr>
          <a:xfrm>
            <a:off x="826251" y="2121003"/>
            <a:ext cx="7865011" cy="338554"/>
          </a:xfrm>
          <a:prstGeom prst="rect">
            <a:avLst/>
          </a:prstGeom>
          <a:noFill/>
        </p:spPr>
        <p:txBody>
          <a:bodyPr wrap="square" rtlCol="0">
            <a:spAutoFit/>
          </a:bodyPr>
          <a:lstStyle/>
          <a:p>
            <a:pPr marL="285750" indent="-285750" fontAlgn="auto">
              <a:spcBef>
                <a:spcPts val="0"/>
              </a:spcBef>
              <a:spcAft>
                <a:spcPts val="0"/>
              </a:spcAft>
              <a:buFont typeface="Wingdings" panose="05000000000000000000" pitchFamily="2" charset="2"/>
              <a:buChar char="l"/>
            </a:pP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在满足查找二叉树的大小规则下，让树尽可能矮小，以此提高查数据的性能。</a:t>
            </a:r>
          </a:p>
        </p:txBody>
      </p:sp>
      <p:sp>
        <p:nvSpPr>
          <p:cNvPr id="7" name="标题 6">
            <a:extLst>
              <a:ext uri="{FF2B5EF4-FFF2-40B4-BE49-F238E27FC236}">
                <a16:creationId xmlns:a16="http://schemas.microsoft.com/office/drawing/2014/main" id="{24CF59C1-FAA8-ED4C-650C-6E3F91F76FD3}"/>
              </a:ext>
            </a:extLst>
          </p:cNvPr>
          <p:cNvSpPr>
            <a:spLocks noGrp="1"/>
          </p:cNvSpPr>
          <p:nvPr>
            <p:ph type="title"/>
          </p:nvPr>
        </p:nvSpPr>
        <p:spPr/>
        <p:txBody>
          <a:bodyPr/>
          <a:lstStyle/>
          <a:p>
            <a:r>
              <a:rPr lang="en-US" altLang="zh-CN" dirty="0" err="1"/>
              <a:t>TreeSet</a:t>
            </a:r>
            <a:r>
              <a:rPr lang="en-US" altLang="zh-CN" dirty="0"/>
              <a:t> </a:t>
            </a:r>
            <a:r>
              <a:rPr lang="zh-CN" altLang="en-US" dirty="0"/>
              <a:t>集合底层数据结构</a:t>
            </a:r>
          </a:p>
        </p:txBody>
      </p:sp>
      <p:pic>
        <p:nvPicPr>
          <p:cNvPr id="5" name="图片 2">
            <a:extLst>
              <a:ext uri="{FF2B5EF4-FFF2-40B4-BE49-F238E27FC236}">
                <a16:creationId xmlns:a16="http://schemas.microsoft.com/office/drawing/2014/main" id="{78F41B42-2836-80C2-A234-3BC1F828A58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82391" y="2789417"/>
            <a:ext cx="38227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817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3E6BA46F-8461-41B1-A707-9FC5E95BE3B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77697" y="2393549"/>
            <a:ext cx="6144684" cy="2923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45">
            <a:extLst>
              <a:ext uri="{FF2B5EF4-FFF2-40B4-BE49-F238E27FC236}">
                <a16:creationId xmlns:a16="http://schemas.microsoft.com/office/drawing/2014/main" id="{46DF1BED-DE2C-400A-7D17-D24742027D2A}"/>
              </a:ext>
            </a:extLst>
          </p:cNvPr>
          <p:cNvSpPr txBox="1"/>
          <p:nvPr/>
        </p:nvSpPr>
        <p:spPr>
          <a:xfrm>
            <a:off x="576197" y="1081456"/>
            <a:ext cx="5181997" cy="427105"/>
          </a:xfrm>
          <a:prstGeom prst="rect">
            <a:avLst/>
          </a:prstGeom>
          <a:noFill/>
        </p:spPr>
        <p:txBody>
          <a:bodyPr wrap="square">
            <a:spAutoFit/>
          </a:bodyPr>
          <a:lstStyle/>
          <a:p>
            <a:pPr marL="285750" indent="-285750">
              <a:lnSpc>
                <a:spcPct val="150000"/>
              </a:lnSpc>
              <a:buFont typeface="Wingdings" panose="05000000000000000000" pitchFamily="2" charset="2"/>
              <a:buChar char="l"/>
              <a:defRPr/>
            </a:pPr>
            <a:r>
              <a:rPr lang="zh-CN" altLang="en-US" sz="16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红黑树，就是可以自平衡的二叉树</a:t>
            </a:r>
          </a:p>
        </p:txBody>
      </p:sp>
      <p:sp>
        <p:nvSpPr>
          <p:cNvPr id="5" name="文本框 4">
            <a:extLst>
              <a:ext uri="{FF2B5EF4-FFF2-40B4-BE49-F238E27FC236}">
                <a16:creationId xmlns:a16="http://schemas.microsoft.com/office/drawing/2014/main" id="{0F30ABC6-3B3E-48A0-1656-78AC2038CB12}"/>
              </a:ext>
            </a:extLst>
          </p:cNvPr>
          <p:cNvSpPr txBox="1"/>
          <p:nvPr/>
        </p:nvSpPr>
        <p:spPr>
          <a:xfrm>
            <a:off x="576196" y="1617846"/>
            <a:ext cx="5648529" cy="427105"/>
          </a:xfrm>
          <a:prstGeom prst="rect">
            <a:avLst/>
          </a:prstGeom>
          <a:noFill/>
        </p:spPr>
        <p:txBody>
          <a:bodyPr wrap="square">
            <a:spAutoFit/>
          </a:bodyPr>
          <a:lstStyle/>
          <a:p>
            <a:pPr marL="285750" indent="-285750" fontAlgn="auto">
              <a:lnSpc>
                <a:spcPct val="150000"/>
              </a:lnSpc>
              <a:spcBef>
                <a:spcPts val="0"/>
              </a:spcBef>
              <a:spcAft>
                <a:spcPts val="0"/>
              </a:spcAft>
              <a:buFont typeface="Wingdings" panose="05000000000000000000" pitchFamily="2" charset="2"/>
              <a:buChar char="l"/>
            </a:pP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红黑树是一种增删改查数据性能相对都较好的结构。</a:t>
            </a:r>
          </a:p>
        </p:txBody>
      </p:sp>
      <p:sp>
        <p:nvSpPr>
          <p:cNvPr id="2" name="标题 1">
            <a:extLst>
              <a:ext uri="{FF2B5EF4-FFF2-40B4-BE49-F238E27FC236}">
                <a16:creationId xmlns:a16="http://schemas.microsoft.com/office/drawing/2014/main" id="{19348CB7-191A-4E15-5109-8B21D1C63BC8}"/>
              </a:ext>
            </a:extLst>
          </p:cNvPr>
          <p:cNvSpPr>
            <a:spLocks noGrp="1"/>
          </p:cNvSpPr>
          <p:nvPr>
            <p:ph type="title"/>
          </p:nvPr>
        </p:nvSpPr>
        <p:spPr/>
        <p:txBody>
          <a:bodyPr/>
          <a:lstStyle/>
          <a:p>
            <a:r>
              <a:rPr lang="en-US" altLang="zh-CN" dirty="0" err="1"/>
              <a:t>TreeSet</a:t>
            </a:r>
            <a:r>
              <a:rPr lang="en-US" altLang="zh-CN" dirty="0"/>
              <a:t> </a:t>
            </a:r>
            <a:r>
              <a:rPr lang="zh-CN" altLang="en-US" dirty="0"/>
              <a:t>集合底层数据结构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C7456-0141-76FB-3481-54402C79A962}"/>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A02966CE-8D53-8F24-1975-FC3DF957836C}"/>
              </a:ext>
            </a:extLst>
          </p:cNvPr>
          <p:cNvSpPr>
            <a:spLocks noGrp="1"/>
          </p:cNvSpPr>
          <p:nvPr>
            <p:ph type="body" sz="quarter" idx="10"/>
          </p:nvPr>
        </p:nvSpPr>
        <p:spPr>
          <a:xfrm>
            <a:off x="3936569" y="1483864"/>
            <a:ext cx="7906181" cy="3962399"/>
          </a:xfrm>
        </p:spPr>
        <p:txBody>
          <a:bodyPr/>
          <a:lstStyle/>
          <a:p>
            <a:r>
              <a:rPr lang="en-US" altLang="zh-CN"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底层是红黑树结构</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红黑树是一种自平衡的二叉树，增删改查性能都很好</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基本特点：</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buAutoNum type="arabicPeriod"/>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任意节点开始，左边的节点都比当前节点小，右边的节点都比当前节点大</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buAutoNum type="arabicPeriod"/>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每一次添加节点，都从根节点开始比大小，小的左边走，大的右边走，一样的不存</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4001578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0">
            <a:extLst>
              <a:ext uri="{FF2B5EF4-FFF2-40B4-BE49-F238E27FC236}">
                <a16:creationId xmlns:a16="http://schemas.microsoft.com/office/drawing/2014/main" id="{50B4453D-271E-76D4-FD1B-62A3C99A48F1}"/>
              </a:ext>
            </a:extLst>
          </p:cNvPr>
          <p:cNvSpPr txBox="1"/>
          <p:nvPr/>
        </p:nvSpPr>
        <p:spPr>
          <a:xfrm>
            <a:off x="576626" y="1043638"/>
            <a:ext cx="10088155" cy="1126847"/>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200000"/>
              </a:lnSpc>
              <a:buFont typeface="Wingdings" panose="05000000000000000000" pitchFamily="2" charset="2"/>
              <a:buChar char="l"/>
              <a:defRPr/>
            </a:pP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自然排序 </a:t>
            </a:r>
            <a:endPar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indent="-285750">
              <a:lnSpc>
                <a:spcPct val="200000"/>
              </a:lnSpc>
              <a:buFont typeface="Wingdings" panose="05000000000000000000" pitchFamily="2" charset="2"/>
              <a:buChar char="l"/>
              <a:defRPr/>
            </a:pP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比较器排序</a:t>
            </a:r>
            <a:endPar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标题 1">
            <a:extLst>
              <a:ext uri="{FF2B5EF4-FFF2-40B4-BE49-F238E27FC236}">
                <a16:creationId xmlns:a16="http://schemas.microsoft.com/office/drawing/2014/main" id="{D764DC6F-00CB-DD4B-5CD9-87026E91912C}"/>
              </a:ext>
            </a:extLst>
          </p:cNvPr>
          <p:cNvSpPr>
            <a:spLocks noGrp="1"/>
          </p:cNvSpPr>
          <p:nvPr>
            <p:ph type="title"/>
          </p:nvPr>
        </p:nvSpPr>
        <p:spPr/>
        <p:txBody>
          <a:bodyPr/>
          <a:lstStyle/>
          <a:p>
            <a:r>
              <a:rPr lang="en-US" altLang="zh-CN"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的两种排序方式</a:t>
            </a:r>
            <a:endParaRPr lang="zh-CN" altLang="en-US" dirty="0"/>
          </a:p>
        </p:txBody>
      </p:sp>
    </p:spTree>
    <p:extLst>
      <p:ext uri="{BB962C8B-B14F-4D97-AF65-F5344CB8AC3E}">
        <p14:creationId xmlns:p14="http://schemas.microsoft.com/office/powerpoint/2010/main" val="4247973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0">
            <a:extLst>
              <a:ext uri="{FF2B5EF4-FFF2-40B4-BE49-F238E27FC236}">
                <a16:creationId xmlns:a16="http://schemas.microsoft.com/office/drawing/2014/main" id="{50B4453D-271E-76D4-FD1B-62A3C99A48F1}"/>
              </a:ext>
            </a:extLst>
          </p:cNvPr>
          <p:cNvSpPr txBox="1"/>
          <p:nvPr/>
        </p:nvSpPr>
        <p:spPr>
          <a:xfrm>
            <a:off x="576626" y="1005001"/>
            <a:ext cx="10088155" cy="3342838"/>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200000"/>
              </a:lnSpc>
              <a:buAutoNum type="arabicPeriod"/>
              <a:defRPr/>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类实现 </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Comparable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接口</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200000"/>
              </a:lnSpc>
              <a:buAutoNum type="arabicPeriod"/>
              <a:defRPr/>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重写 </a:t>
            </a:r>
            <a:r>
              <a:rPr lang="en-US" altLang="zh-CN"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compareTo</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200000"/>
              </a:lnSpc>
              <a:buAutoNum type="arabicPeriod"/>
              <a:defRPr/>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根据方法的返回值</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来组织排序规则</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200000"/>
              </a:lnSpc>
              <a:defRPr/>
            </a:pP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负数 </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左边走</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200000"/>
              </a:lnSpc>
              <a:defRPr/>
            </a:pP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正数 </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右边走</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200000"/>
              </a:lnSpc>
              <a:defRPr/>
            </a:pP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0  :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不存</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p:txBody>
      </p:sp>
      <p:sp>
        <p:nvSpPr>
          <p:cNvPr id="2" name="标题 1">
            <a:extLst>
              <a:ext uri="{FF2B5EF4-FFF2-40B4-BE49-F238E27FC236}">
                <a16:creationId xmlns:a16="http://schemas.microsoft.com/office/drawing/2014/main" id="{6A977D37-6F42-9089-5579-FD105202E9F6}"/>
              </a:ext>
            </a:extLst>
          </p:cNvPr>
          <p:cNvSpPr>
            <a:spLocks noGrp="1"/>
          </p:cNvSpPr>
          <p:nvPr>
            <p:ph type="title"/>
          </p:nvPr>
        </p:nvSpPr>
        <p:spPr/>
        <p:txBody>
          <a:bodyPr/>
          <a:lstStyle/>
          <a:p>
            <a:r>
              <a:rPr lang="en-US" altLang="zh-CN"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排序 </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自然排序</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dirty="0"/>
          </a:p>
        </p:txBody>
      </p:sp>
    </p:spTree>
    <p:extLst>
      <p:ext uri="{BB962C8B-B14F-4D97-AF65-F5344CB8AC3E}">
        <p14:creationId xmlns:p14="http://schemas.microsoft.com/office/powerpoint/2010/main" val="2817569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fade">
                                      <p:cBhvr>
                                        <p:cTn id="32" dur="500"/>
                                        <p:tgtEl>
                                          <p:spTgt spid="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0">
            <a:extLst>
              <a:ext uri="{FF2B5EF4-FFF2-40B4-BE49-F238E27FC236}">
                <a16:creationId xmlns:a16="http://schemas.microsoft.com/office/drawing/2014/main" id="{50B4453D-271E-76D4-FD1B-62A3C99A48F1}"/>
              </a:ext>
            </a:extLst>
          </p:cNvPr>
          <p:cNvSpPr txBox="1"/>
          <p:nvPr/>
        </p:nvSpPr>
        <p:spPr>
          <a:xfrm>
            <a:off x="576626" y="1022370"/>
            <a:ext cx="3488839" cy="20000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类实现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Comparable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接口</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重写 </a:t>
            </a:r>
            <a:r>
              <a:rPr lang="en-US" altLang="zh-CN" sz="140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compareTo</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根据方法的返回值</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来组织排序规则</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负数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左边走</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正数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右边走</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0  :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不存</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p:txBody>
      </p:sp>
      <p:sp>
        <p:nvSpPr>
          <p:cNvPr id="2" name="文本框 1">
            <a:extLst>
              <a:ext uri="{FF2B5EF4-FFF2-40B4-BE49-F238E27FC236}">
                <a16:creationId xmlns:a16="http://schemas.microsoft.com/office/drawing/2014/main" id="{C9039FBB-CF05-8E70-74B0-38832E24A529}"/>
              </a:ext>
            </a:extLst>
          </p:cNvPr>
          <p:cNvSpPr txBox="1"/>
          <p:nvPr/>
        </p:nvSpPr>
        <p:spPr>
          <a:xfrm>
            <a:off x="576626" y="3338768"/>
            <a:ext cx="4686300" cy="1384995"/>
          </a:xfrm>
          <a:prstGeom prst="rect">
            <a:avLst/>
          </a:prstGeom>
          <a:solidFill>
            <a:srgbClr val="FFFFE4"/>
          </a:solidFill>
          <a:ln>
            <a:solidFill>
              <a:schemeClr val="tx1">
                <a:lumMod val="95000"/>
                <a:lumOff val="5000"/>
              </a:schemeClr>
            </a:solidFill>
          </a:ln>
        </p:spPr>
        <p:txBody>
          <a:bodyPr wrap="square" rtlCol="0">
            <a:spAutoFit/>
          </a:bodyPr>
          <a:lstStyle/>
          <a:p>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implements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Comparable</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&gt;{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public int </a:t>
            </a:r>
            <a:r>
              <a:rPr kumimoji="0" lang="zh-CN" altLang="zh-CN" sz="1200" b="0" i="0" u="none" strike="noStrike" cap="none" normalizeH="0" baseline="0" dirty="0">
                <a:ln>
                  <a:noFill/>
                </a:ln>
                <a:solidFill>
                  <a:srgbClr val="00627A"/>
                </a:solidFill>
                <a:effectLst/>
                <a:latin typeface="Consolas" panose="020B0609020204030204" pitchFamily="49" charset="0"/>
                <a:ea typeface="JetBrains Mono"/>
              </a:rPr>
              <a:t>compareTo</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o) {</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return this</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871094"/>
                </a:solidFill>
                <a:effectLst/>
                <a:latin typeface="Consolas" panose="020B0609020204030204" pitchFamily="49" charset="0"/>
                <a:ea typeface="JetBrains Mono"/>
              </a:rPr>
              <a:t>age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o.</a:t>
            </a:r>
            <a:r>
              <a:rPr kumimoji="0" lang="zh-CN" altLang="zh-CN" sz="1200" b="0" i="0" u="none" strike="noStrike" cap="none" normalizeH="0" baseline="0" dirty="0">
                <a:ln>
                  <a:noFill/>
                </a:ln>
                <a:solidFill>
                  <a:srgbClr val="871094"/>
                </a:solidFill>
                <a:effectLst/>
                <a:latin typeface="Consolas" panose="020B0609020204030204" pitchFamily="49" charset="0"/>
                <a:ea typeface="JetBrains Mono"/>
              </a:rPr>
              <a:t>age</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endParaRPr kumimoji="0" lang="zh-CN" altLang="zh-CN" sz="1200" b="0" i="0" u="none" strike="noStrike" cap="none" normalizeH="0" baseline="0" dirty="0">
              <a:ln>
                <a:noFill/>
              </a:ln>
              <a:solidFill>
                <a:schemeClr val="tx1"/>
              </a:solidFill>
              <a:effectLst/>
              <a:latin typeface="Consolas" panose="020B0609020204030204" pitchFamily="49" charset="0"/>
            </a:endParaRPr>
          </a:p>
          <a:p>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endParaRPr kumimoji="0" lang="zh-CN" altLang="zh-CN" sz="1200" b="0" i="0" u="none" strike="noStrike" cap="none" normalizeH="0" baseline="0" dirty="0">
              <a:ln>
                <a:noFill/>
              </a:ln>
              <a:solidFill>
                <a:schemeClr val="tx1"/>
              </a:solidFill>
              <a:effectLst/>
              <a:latin typeface="Consolas" panose="020B0609020204030204" pitchFamily="49" charset="0"/>
            </a:endParaRPr>
          </a:p>
        </p:txBody>
      </p:sp>
      <p:sp>
        <p:nvSpPr>
          <p:cNvPr id="5" name="文本框 4">
            <a:extLst>
              <a:ext uri="{FF2B5EF4-FFF2-40B4-BE49-F238E27FC236}">
                <a16:creationId xmlns:a16="http://schemas.microsoft.com/office/drawing/2014/main" id="{12650141-1EE0-7EBD-9B13-EEE42730BAFC}"/>
              </a:ext>
            </a:extLst>
          </p:cNvPr>
          <p:cNvSpPr txBox="1"/>
          <p:nvPr/>
        </p:nvSpPr>
        <p:spPr>
          <a:xfrm>
            <a:off x="576626" y="4829637"/>
            <a:ext cx="4686300" cy="1200329"/>
          </a:xfrm>
          <a:prstGeom prst="rect">
            <a:avLst/>
          </a:prstGeom>
          <a:solidFill>
            <a:srgbClr val="FFFFE4"/>
          </a:solidFill>
          <a:ln>
            <a:solidFill>
              <a:schemeClr val="tx1">
                <a:lumMod val="95000"/>
                <a:lumOff val="5000"/>
              </a:schemeClr>
            </a:solidFill>
          </a:ln>
        </p:spPr>
        <p:txBody>
          <a:bodyPr wrap="square" rtlCol="0">
            <a:spAutoFit/>
          </a:bodyPr>
          <a:lstStyle/>
          <a:p>
            <a:pPr eaLnBrk="0" fontAlgn="base" hangingPunct="0">
              <a:spcBef>
                <a:spcPct val="0"/>
              </a:spcBef>
              <a:spcAft>
                <a:spcPct val="0"/>
              </a:spcAft>
            </a:pP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TreeSet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&gt;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ts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TreeSet&lt;&gt;();</a:t>
            </a:r>
            <a:endParaRPr kumimoji="0" lang="en-US" altLang="zh-CN" sz="1200" b="0" i="0" u="none" strike="noStrike" cap="none" normalizeH="0" baseline="0" dirty="0">
              <a:ln>
                <a:noFill/>
              </a:ln>
              <a:solidFill>
                <a:srgbClr val="080808"/>
              </a:solidFill>
              <a:effectLst/>
              <a:latin typeface="Consolas" panose="020B0609020204030204" pitchFamily="49" charset="0"/>
              <a:ea typeface="JetBrains Mono"/>
            </a:endParaRPr>
          </a:p>
          <a:p>
            <a:pPr eaLnBrk="0" fontAlgn="base" hangingPunct="0">
              <a:spcBef>
                <a:spcPct val="0"/>
              </a:spcBef>
              <a:spcAft>
                <a:spcPct val="0"/>
              </a:spcAft>
            </a:pP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李四</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24</a:t>
            </a:r>
            <a:r>
              <a:rPr lang="zh-CN" altLang="zh-CN" sz="1200" dirty="0">
                <a:solidFill>
                  <a:srgbClr val="080808"/>
                </a:solidFill>
                <a:latin typeface="Consolas" panose="020B0609020204030204" pitchFamily="49" charset="0"/>
                <a:ea typeface="JetBrains Mono"/>
              </a:rPr>
              <a:t>));</a:t>
            </a:r>
            <a:endParaRPr lang="en-US" altLang="zh-CN" sz="12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张三</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23</a:t>
            </a:r>
            <a:r>
              <a:rPr lang="zh-CN" altLang="zh-CN" sz="1200" dirty="0">
                <a:solidFill>
                  <a:srgbClr val="080808"/>
                </a:solidFill>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ts</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2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赵六</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26</a:t>
            </a:r>
            <a:r>
              <a:rPr lang="zh-CN" altLang="zh-CN" sz="1200" dirty="0">
                <a:solidFill>
                  <a:srgbClr val="080808"/>
                </a:solidFill>
                <a:latin typeface="Consolas" panose="020B0609020204030204" pitchFamily="49" charset="0"/>
                <a:ea typeface="JetBrains Mono"/>
              </a:rPr>
              <a:t>));</a:t>
            </a:r>
            <a:endParaRPr lang="zh-CN" altLang="zh-CN" sz="2000" dirty="0">
              <a:latin typeface="Consolas" panose="020B0609020204030204" pitchFamily="49" charset="0"/>
            </a:endParaRPr>
          </a:p>
        </p:txBody>
      </p:sp>
      <p:sp>
        <p:nvSpPr>
          <p:cNvPr id="4" name="标题 3">
            <a:extLst>
              <a:ext uri="{FF2B5EF4-FFF2-40B4-BE49-F238E27FC236}">
                <a16:creationId xmlns:a16="http://schemas.microsoft.com/office/drawing/2014/main" id="{F30C3157-C479-3B2C-91D3-654EB887E740}"/>
              </a:ext>
            </a:extLst>
          </p:cNvPr>
          <p:cNvSpPr>
            <a:spLocks noGrp="1"/>
          </p:cNvSpPr>
          <p:nvPr>
            <p:ph type="title"/>
          </p:nvPr>
        </p:nvSpPr>
        <p:spPr/>
        <p:txBody>
          <a:bodyPr/>
          <a:lstStyle/>
          <a:p>
            <a:r>
              <a:rPr lang="en-US" altLang="zh-CN"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排序 </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自然排序</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dirty="0"/>
          </a:p>
        </p:txBody>
      </p:sp>
      <p:sp>
        <p:nvSpPr>
          <p:cNvPr id="6" name="矩形: 圆角 5">
            <a:extLst>
              <a:ext uri="{FF2B5EF4-FFF2-40B4-BE49-F238E27FC236}">
                <a16:creationId xmlns:a16="http://schemas.microsoft.com/office/drawing/2014/main" id="{4D5E26A8-3755-813C-B6A6-605FCD86CC2C}"/>
              </a:ext>
            </a:extLst>
          </p:cNvPr>
          <p:cNvSpPr/>
          <p:nvPr/>
        </p:nvSpPr>
        <p:spPr>
          <a:xfrm>
            <a:off x="7546988" y="1020043"/>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李四，</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24</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文本框 6">
            <a:extLst>
              <a:ext uri="{FF2B5EF4-FFF2-40B4-BE49-F238E27FC236}">
                <a16:creationId xmlns:a16="http://schemas.microsoft.com/office/drawing/2014/main" id="{8B804E62-CEC1-5F7C-7456-69107F5E110B}"/>
              </a:ext>
            </a:extLst>
          </p:cNvPr>
          <p:cNvSpPr txBox="1"/>
          <p:nvPr/>
        </p:nvSpPr>
        <p:spPr>
          <a:xfrm>
            <a:off x="3786240" y="2605123"/>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sp>
        <p:nvSpPr>
          <p:cNvPr id="8" name="矩形: 圆角 7">
            <a:extLst>
              <a:ext uri="{FF2B5EF4-FFF2-40B4-BE49-F238E27FC236}">
                <a16:creationId xmlns:a16="http://schemas.microsoft.com/office/drawing/2014/main" id="{6C601D65-02FB-BDB0-E1B9-65E82841ED60}"/>
              </a:ext>
            </a:extLst>
          </p:cNvPr>
          <p:cNvSpPr/>
          <p:nvPr/>
        </p:nvSpPr>
        <p:spPr>
          <a:xfrm>
            <a:off x="5048393" y="1020043"/>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张三，</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23</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9" name="矩形 8">
            <a:extLst>
              <a:ext uri="{FF2B5EF4-FFF2-40B4-BE49-F238E27FC236}">
                <a16:creationId xmlns:a16="http://schemas.microsoft.com/office/drawing/2014/main" id="{A17D3110-1B3D-3DC2-9227-B097DB2E76D7}"/>
              </a:ext>
            </a:extLst>
          </p:cNvPr>
          <p:cNvSpPr/>
          <p:nvPr/>
        </p:nvSpPr>
        <p:spPr>
          <a:xfrm>
            <a:off x="882203" y="3709115"/>
            <a:ext cx="3342067" cy="907961"/>
          </a:xfrm>
          <a:prstGeom prst="rect">
            <a:avLst/>
          </a:prstGeom>
          <a:solidFill>
            <a:schemeClr val="accent6">
              <a:alpha val="40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39A69805-3921-B0FF-7B94-088580BF1579}"/>
              </a:ext>
            </a:extLst>
          </p:cNvPr>
          <p:cNvSpPr txBox="1"/>
          <p:nvPr/>
        </p:nvSpPr>
        <p:spPr>
          <a:xfrm>
            <a:off x="3786240" y="2605123"/>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23</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spTree>
    <p:extLst>
      <p:ext uri="{BB962C8B-B14F-4D97-AF65-F5344CB8AC3E}">
        <p14:creationId xmlns:p14="http://schemas.microsoft.com/office/powerpoint/2010/main" val="8220457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7" presetClass="emph" presetSubtype="0" repeatCount="3000" fill="remove" grpId="1" nodeType="clickEffect">
                                  <p:stCondLst>
                                    <p:cond delay="0"/>
                                  </p:stCondLst>
                                  <p:childTnLst>
                                    <p:animClr clrSpc="rgb" dir="cw">
                                      <p:cBhvr override="childStyle">
                                        <p:cTn id="33" dur="250" autoRev="1" fill="remove"/>
                                        <p:tgtEl>
                                          <p:spTgt spid="6"/>
                                        </p:tgtEl>
                                        <p:attrNameLst>
                                          <p:attrName>style.color</p:attrName>
                                        </p:attrNameLst>
                                      </p:cBhvr>
                                      <p:to>
                                        <a:schemeClr val="accent1"/>
                                      </p:to>
                                    </p:animClr>
                                    <p:animClr clrSpc="rgb" dir="cw">
                                      <p:cBhvr>
                                        <p:cTn id="34" dur="250" autoRev="1" fill="remove"/>
                                        <p:tgtEl>
                                          <p:spTgt spid="6"/>
                                        </p:tgtEl>
                                        <p:attrNameLst>
                                          <p:attrName>fillcolor</p:attrName>
                                        </p:attrNameLst>
                                      </p:cBhvr>
                                      <p:to>
                                        <a:schemeClr val="accent1"/>
                                      </p:to>
                                    </p:animClr>
                                    <p:set>
                                      <p:cBhvr>
                                        <p:cTn id="35" dur="250" autoRev="1" fill="remove"/>
                                        <p:tgtEl>
                                          <p:spTgt spid="6"/>
                                        </p:tgtEl>
                                        <p:attrNameLst>
                                          <p:attrName>fill.type</p:attrName>
                                        </p:attrNameLst>
                                      </p:cBhvr>
                                      <p:to>
                                        <p:strVal val="solid"/>
                                      </p:to>
                                    </p:set>
                                    <p:set>
                                      <p:cBhvr>
                                        <p:cTn id="36" dur="250" autoRev="1" fill="remove"/>
                                        <p:tgtEl>
                                          <p:spTgt spid="6"/>
                                        </p:tgtEl>
                                        <p:attrNameLst>
                                          <p:attrName>fill.on</p:attrName>
                                        </p:attrNameLst>
                                      </p:cBhvr>
                                      <p:to>
                                        <p:strVal val="true"/>
                                      </p:to>
                                    </p:se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p:cTn id="41" dur="500" fill="hold"/>
                                        <p:tgtEl>
                                          <p:spTgt spid="8"/>
                                        </p:tgtEl>
                                        <p:attrNameLst>
                                          <p:attrName>ppt_w</p:attrName>
                                        </p:attrNameLst>
                                      </p:cBhvr>
                                      <p:tavLst>
                                        <p:tav tm="0">
                                          <p:val>
                                            <p:fltVal val="0"/>
                                          </p:val>
                                        </p:tav>
                                        <p:tav tm="100000">
                                          <p:val>
                                            <p:strVal val="#ppt_w"/>
                                          </p:val>
                                        </p:tav>
                                      </p:tavLst>
                                    </p:anim>
                                    <p:anim calcmode="lin" valueType="num">
                                      <p:cBhvr>
                                        <p:cTn id="42" dur="500" fill="hold"/>
                                        <p:tgtEl>
                                          <p:spTgt spid="8"/>
                                        </p:tgtEl>
                                        <p:attrNameLst>
                                          <p:attrName>ppt_h</p:attrName>
                                        </p:attrNameLst>
                                      </p:cBhvr>
                                      <p:tavLst>
                                        <p:tav tm="0">
                                          <p:val>
                                            <p:fltVal val="0"/>
                                          </p:val>
                                        </p:tav>
                                        <p:tav tm="100000">
                                          <p:val>
                                            <p:strVal val="#ppt_h"/>
                                          </p:val>
                                        </p:tav>
                                      </p:tavLst>
                                    </p:anim>
                                    <p:animEffect transition="in" filter="fade">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27" presetClass="emph" presetSubtype="0" repeatCount="3000" fill="remove" grpId="1" nodeType="clickEffect">
                                  <p:stCondLst>
                                    <p:cond delay="0"/>
                                  </p:stCondLst>
                                  <p:childTnLst>
                                    <p:animClr clrSpc="rgb" dir="cw">
                                      <p:cBhvr override="childStyle">
                                        <p:cTn id="47" dur="250" autoRev="1" fill="remove"/>
                                        <p:tgtEl>
                                          <p:spTgt spid="9"/>
                                        </p:tgtEl>
                                        <p:attrNameLst>
                                          <p:attrName>style.color</p:attrName>
                                        </p:attrNameLst>
                                      </p:cBhvr>
                                      <p:to>
                                        <a:schemeClr val="bg1"/>
                                      </p:to>
                                    </p:animClr>
                                    <p:animClr clrSpc="rgb" dir="cw">
                                      <p:cBhvr>
                                        <p:cTn id="48" dur="250" autoRev="1" fill="remove"/>
                                        <p:tgtEl>
                                          <p:spTgt spid="9"/>
                                        </p:tgtEl>
                                        <p:attrNameLst>
                                          <p:attrName>fillcolor</p:attrName>
                                        </p:attrNameLst>
                                      </p:cBhvr>
                                      <p:to>
                                        <a:schemeClr val="bg1"/>
                                      </p:to>
                                    </p:animClr>
                                    <p:set>
                                      <p:cBhvr>
                                        <p:cTn id="49" dur="250" autoRev="1" fill="remove"/>
                                        <p:tgtEl>
                                          <p:spTgt spid="9"/>
                                        </p:tgtEl>
                                        <p:attrNameLst>
                                          <p:attrName>fill.type</p:attrName>
                                        </p:attrNameLst>
                                      </p:cBhvr>
                                      <p:to>
                                        <p:strVal val="solid"/>
                                      </p:to>
                                    </p:set>
                                    <p:set>
                                      <p:cBhvr>
                                        <p:cTn id="50" dur="250" autoRev="1" fill="remove"/>
                                        <p:tgtEl>
                                          <p:spTgt spid="9"/>
                                        </p:tgtEl>
                                        <p:attrNameLst>
                                          <p:attrName>fill.on</p:attrName>
                                        </p:attrNameLst>
                                      </p:cBhvr>
                                      <p:to>
                                        <p:strVal val="true"/>
                                      </p:to>
                                    </p:se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p:cTn id="55" dur="500" fill="hold"/>
                                        <p:tgtEl>
                                          <p:spTgt spid="10"/>
                                        </p:tgtEl>
                                        <p:attrNameLst>
                                          <p:attrName>ppt_w</p:attrName>
                                        </p:attrNameLst>
                                      </p:cBhvr>
                                      <p:tavLst>
                                        <p:tav tm="0">
                                          <p:val>
                                            <p:fltVal val="0"/>
                                          </p:val>
                                        </p:tav>
                                        <p:tav tm="100000">
                                          <p:val>
                                            <p:strVal val="#ppt_w"/>
                                          </p:val>
                                        </p:tav>
                                      </p:tavLst>
                                    </p:anim>
                                    <p:anim calcmode="lin" valueType="num">
                                      <p:cBhvr>
                                        <p:cTn id="56" dur="500" fill="hold"/>
                                        <p:tgtEl>
                                          <p:spTgt spid="10"/>
                                        </p:tgtEl>
                                        <p:attrNameLst>
                                          <p:attrName>ppt_h</p:attrName>
                                        </p:attrNameLst>
                                      </p:cBhvr>
                                      <p:tavLst>
                                        <p:tav tm="0">
                                          <p:val>
                                            <p:fltVal val="0"/>
                                          </p:val>
                                        </p:tav>
                                        <p:tav tm="100000">
                                          <p:val>
                                            <p:strVal val="#ppt_h"/>
                                          </p:val>
                                        </p:tav>
                                      </p:tavLst>
                                    </p:anim>
                                    <p:animEffect transition="in" filter="fade">
                                      <p:cBhvr>
                                        <p:cTn id="5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6" grpId="1" animBg="1"/>
      <p:bldP spid="7" grpId="0" animBg="1"/>
      <p:bldP spid="8" grpId="0" animBg="1"/>
      <p:bldP spid="9" grpId="0" animBg="1"/>
      <p:bldP spid="9" grpId="1"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54E46-AAB1-0F00-D633-930BEC4A2F81}"/>
            </a:ext>
          </a:extLst>
        </p:cNvPr>
        <p:cNvGrpSpPr/>
        <p:nvPr/>
      </p:nvGrpSpPr>
      <p:grpSpPr>
        <a:xfrm>
          <a:off x="0" y="0"/>
          <a:ext cx="0" cy="0"/>
          <a:chOff x="0" y="0"/>
          <a:chExt cx="0" cy="0"/>
        </a:xfrm>
      </p:grpSpPr>
      <p:sp>
        <p:nvSpPr>
          <p:cNvPr id="13" name="TextBox 10">
            <a:extLst>
              <a:ext uri="{FF2B5EF4-FFF2-40B4-BE49-F238E27FC236}">
                <a16:creationId xmlns:a16="http://schemas.microsoft.com/office/drawing/2014/main" id="{3E264F9E-EE54-0CBE-144D-73370A751E6E}"/>
              </a:ext>
            </a:extLst>
          </p:cNvPr>
          <p:cNvSpPr txBox="1"/>
          <p:nvPr/>
        </p:nvSpPr>
        <p:spPr>
          <a:xfrm>
            <a:off x="576626" y="1022370"/>
            <a:ext cx="3488839" cy="20000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类实现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Comparable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接口</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重写 </a:t>
            </a:r>
            <a:r>
              <a:rPr lang="en-US" altLang="zh-CN" sz="140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compareTo</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根据方法的返回值</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来组织排序规则</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负数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左边走</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正数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右边走</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0  :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不存</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p:txBody>
      </p:sp>
      <p:sp>
        <p:nvSpPr>
          <p:cNvPr id="2" name="文本框 1">
            <a:extLst>
              <a:ext uri="{FF2B5EF4-FFF2-40B4-BE49-F238E27FC236}">
                <a16:creationId xmlns:a16="http://schemas.microsoft.com/office/drawing/2014/main" id="{05607F89-25ED-D463-D1E2-CF263081292D}"/>
              </a:ext>
            </a:extLst>
          </p:cNvPr>
          <p:cNvSpPr txBox="1"/>
          <p:nvPr/>
        </p:nvSpPr>
        <p:spPr>
          <a:xfrm>
            <a:off x="576626" y="3338768"/>
            <a:ext cx="4686300" cy="1384995"/>
          </a:xfrm>
          <a:prstGeom prst="rect">
            <a:avLst/>
          </a:prstGeom>
          <a:solidFill>
            <a:srgbClr val="FFFFE4"/>
          </a:solidFill>
          <a:ln>
            <a:solidFill>
              <a:schemeClr val="tx1">
                <a:lumMod val="95000"/>
                <a:lumOff val="5000"/>
              </a:schemeClr>
            </a:solidFill>
          </a:ln>
        </p:spPr>
        <p:txBody>
          <a:bodyPr wrap="square" rtlCol="0">
            <a:spAutoFit/>
          </a:bodyPr>
          <a:lstStyle/>
          <a:p>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implements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Comparable</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&gt;{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public int </a:t>
            </a:r>
            <a:r>
              <a:rPr kumimoji="0" lang="zh-CN" altLang="zh-CN" sz="1200" b="0" i="0" u="none" strike="noStrike" cap="none" normalizeH="0" baseline="0" dirty="0">
                <a:ln>
                  <a:noFill/>
                </a:ln>
                <a:solidFill>
                  <a:srgbClr val="00627A"/>
                </a:solidFill>
                <a:effectLst/>
                <a:latin typeface="Consolas" panose="020B0609020204030204" pitchFamily="49" charset="0"/>
                <a:ea typeface="JetBrains Mono"/>
              </a:rPr>
              <a:t>compareTo</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o) {</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return this</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871094"/>
                </a:solidFill>
                <a:effectLst/>
                <a:latin typeface="Consolas" panose="020B0609020204030204" pitchFamily="49" charset="0"/>
                <a:ea typeface="JetBrains Mono"/>
              </a:rPr>
              <a:t>age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o.</a:t>
            </a:r>
            <a:r>
              <a:rPr kumimoji="0" lang="zh-CN" altLang="zh-CN" sz="1200" b="0" i="0" u="none" strike="noStrike" cap="none" normalizeH="0" baseline="0" dirty="0">
                <a:ln>
                  <a:noFill/>
                </a:ln>
                <a:solidFill>
                  <a:srgbClr val="871094"/>
                </a:solidFill>
                <a:effectLst/>
                <a:latin typeface="Consolas" panose="020B0609020204030204" pitchFamily="49" charset="0"/>
                <a:ea typeface="JetBrains Mono"/>
              </a:rPr>
              <a:t>age</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endParaRPr kumimoji="0" lang="zh-CN" altLang="zh-CN" sz="1200" b="0" i="0" u="none" strike="noStrike" cap="none" normalizeH="0" baseline="0" dirty="0">
              <a:ln>
                <a:noFill/>
              </a:ln>
              <a:solidFill>
                <a:schemeClr val="tx1"/>
              </a:solidFill>
              <a:effectLst/>
              <a:latin typeface="Consolas" panose="020B0609020204030204" pitchFamily="49" charset="0"/>
            </a:endParaRPr>
          </a:p>
          <a:p>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endParaRPr kumimoji="0" lang="zh-CN" altLang="zh-CN" sz="1200" b="0" i="0" u="none" strike="noStrike" cap="none" normalizeH="0" baseline="0" dirty="0">
              <a:ln>
                <a:noFill/>
              </a:ln>
              <a:solidFill>
                <a:schemeClr val="tx1"/>
              </a:solidFill>
              <a:effectLst/>
              <a:latin typeface="Consolas" panose="020B0609020204030204" pitchFamily="49" charset="0"/>
            </a:endParaRPr>
          </a:p>
        </p:txBody>
      </p:sp>
      <p:sp>
        <p:nvSpPr>
          <p:cNvPr id="5" name="文本框 4">
            <a:extLst>
              <a:ext uri="{FF2B5EF4-FFF2-40B4-BE49-F238E27FC236}">
                <a16:creationId xmlns:a16="http://schemas.microsoft.com/office/drawing/2014/main" id="{942A5743-3A61-6964-1247-D326751DE47F}"/>
              </a:ext>
            </a:extLst>
          </p:cNvPr>
          <p:cNvSpPr txBox="1"/>
          <p:nvPr/>
        </p:nvSpPr>
        <p:spPr>
          <a:xfrm>
            <a:off x="576626" y="4829637"/>
            <a:ext cx="4686300" cy="1200329"/>
          </a:xfrm>
          <a:prstGeom prst="rect">
            <a:avLst/>
          </a:prstGeom>
          <a:solidFill>
            <a:srgbClr val="FFFFE4"/>
          </a:solidFill>
          <a:ln>
            <a:solidFill>
              <a:schemeClr val="tx1">
                <a:lumMod val="95000"/>
                <a:lumOff val="5000"/>
              </a:schemeClr>
            </a:solidFill>
          </a:ln>
        </p:spPr>
        <p:txBody>
          <a:bodyPr wrap="square" rtlCol="0">
            <a:spAutoFit/>
          </a:bodyPr>
          <a:lstStyle/>
          <a:p>
            <a:pPr eaLnBrk="0" fontAlgn="base" hangingPunct="0">
              <a:spcBef>
                <a:spcPct val="0"/>
              </a:spcBef>
              <a:spcAft>
                <a:spcPct val="0"/>
              </a:spcAft>
            </a:pP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TreeSet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&gt;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ts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TreeSet&lt;&gt;();</a:t>
            </a:r>
            <a:endParaRPr kumimoji="0" lang="en-US" altLang="zh-CN" sz="1200" b="0" i="0" u="none" strike="noStrike" cap="none" normalizeH="0" baseline="0" dirty="0">
              <a:ln>
                <a:noFill/>
              </a:ln>
              <a:solidFill>
                <a:srgbClr val="080808"/>
              </a:solidFill>
              <a:effectLst/>
              <a:latin typeface="Consolas" panose="020B0609020204030204" pitchFamily="49" charset="0"/>
              <a:ea typeface="JetBrains Mono"/>
            </a:endParaRPr>
          </a:p>
          <a:p>
            <a:pPr eaLnBrk="0" fontAlgn="base" hangingPunct="0">
              <a:spcBef>
                <a:spcPct val="0"/>
              </a:spcBef>
              <a:spcAft>
                <a:spcPct val="0"/>
              </a:spcAft>
            </a:pP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李四</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24</a:t>
            </a:r>
            <a:r>
              <a:rPr lang="zh-CN" altLang="zh-CN" sz="1200" dirty="0">
                <a:solidFill>
                  <a:srgbClr val="080808"/>
                </a:solidFill>
                <a:latin typeface="Consolas" panose="020B0609020204030204" pitchFamily="49" charset="0"/>
                <a:ea typeface="JetBrains Mono"/>
              </a:rPr>
              <a:t>));</a:t>
            </a:r>
            <a:endParaRPr lang="en-US" altLang="zh-CN" sz="12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张三</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23</a:t>
            </a:r>
            <a:r>
              <a:rPr lang="zh-CN" altLang="zh-CN" sz="1200" dirty="0">
                <a:solidFill>
                  <a:srgbClr val="080808"/>
                </a:solidFill>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ts</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2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赵六</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26</a:t>
            </a:r>
            <a:r>
              <a:rPr lang="zh-CN" altLang="zh-CN" sz="1200" dirty="0">
                <a:solidFill>
                  <a:srgbClr val="080808"/>
                </a:solidFill>
                <a:latin typeface="Consolas" panose="020B0609020204030204" pitchFamily="49" charset="0"/>
                <a:ea typeface="JetBrains Mono"/>
              </a:rPr>
              <a:t>));</a:t>
            </a:r>
            <a:endParaRPr lang="zh-CN" altLang="zh-CN" sz="2000" dirty="0">
              <a:latin typeface="Consolas" panose="020B0609020204030204" pitchFamily="49" charset="0"/>
            </a:endParaRPr>
          </a:p>
        </p:txBody>
      </p:sp>
      <p:sp>
        <p:nvSpPr>
          <p:cNvPr id="4" name="标题 3">
            <a:extLst>
              <a:ext uri="{FF2B5EF4-FFF2-40B4-BE49-F238E27FC236}">
                <a16:creationId xmlns:a16="http://schemas.microsoft.com/office/drawing/2014/main" id="{0DC81964-8035-378A-2F59-F5CD7ADFC2FF}"/>
              </a:ext>
            </a:extLst>
          </p:cNvPr>
          <p:cNvSpPr>
            <a:spLocks noGrp="1"/>
          </p:cNvSpPr>
          <p:nvPr>
            <p:ph type="title"/>
          </p:nvPr>
        </p:nvSpPr>
        <p:spPr/>
        <p:txBody>
          <a:bodyPr/>
          <a:lstStyle/>
          <a:p>
            <a:r>
              <a:rPr lang="en-US" altLang="zh-CN"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排序 </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自然排序</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dirty="0"/>
          </a:p>
        </p:txBody>
      </p:sp>
      <p:sp>
        <p:nvSpPr>
          <p:cNvPr id="3" name="矩形 2">
            <a:extLst>
              <a:ext uri="{FF2B5EF4-FFF2-40B4-BE49-F238E27FC236}">
                <a16:creationId xmlns:a16="http://schemas.microsoft.com/office/drawing/2014/main" id="{2BCBC25C-981C-FDD7-10A3-37EE50B5E2B5}"/>
              </a:ext>
            </a:extLst>
          </p:cNvPr>
          <p:cNvSpPr/>
          <p:nvPr/>
        </p:nvSpPr>
        <p:spPr>
          <a:xfrm>
            <a:off x="882203" y="3709115"/>
            <a:ext cx="3342067" cy="907961"/>
          </a:xfrm>
          <a:prstGeom prst="rect">
            <a:avLst/>
          </a:prstGeom>
          <a:solidFill>
            <a:schemeClr val="accent6">
              <a:alpha val="40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C6DE6A47-391F-E989-3E1D-CC4682EF0754}"/>
              </a:ext>
            </a:extLst>
          </p:cNvPr>
          <p:cNvSpPr/>
          <p:nvPr/>
        </p:nvSpPr>
        <p:spPr>
          <a:xfrm>
            <a:off x="7546988" y="1020043"/>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李四，</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24</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2" name="矩形: 圆角 11">
            <a:extLst>
              <a:ext uri="{FF2B5EF4-FFF2-40B4-BE49-F238E27FC236}">
                <a16:creationId xmlns:a16="http://schemas.microsoft.com/office/drawing/2014/main" id="{C9293518-70F4-9BD3-584B-391A2A1A63C9}"/>
              </a:ext>
            </a:extLst>
          </p:cNvPr>
          <p:cNvSpPr/>
          <p:nvPr/>
        </p:nvSpPr>
        <p:spPr>
          <a:xfrm>
            <a:off x="5750291" y="1992834"/>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张三，</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23</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5" name="直接箭头连接符 14">
            <a:extLst>
              <a:ext uri="{FF2B5EF4-FFF2-40B4-BE49-F238E27FC236}">
                <a16:creationId xmlns:a16="http://schemas.microsoft.com/office/drawing/2014/main" id="{42B539BB-D3EB-C6B9-BC10-8408FC56D3D5}"/>
              </a:ext>
            </a:extLst>
          </p:cNvPr>
          <p:cNvCxnSpPr>
            <a:stCxn id="11" idx="2"/>
            <a:endCxn id="12" idx="0"/>
          </p:cNvCxnSpPr>
          <p:nvPr/>
        </p:nvCxnSpPr>
        <p:spPr>
          <a:xfrm flipH="1">
            <a:off x="6552048" y="1592892"/>
            <a:ext cx="1796697" cy="399942"/>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1943465C-2B89-2037-FAC0-42EEE64F4681}"/>
              </a:ext>
            </a:extLst>
          </p:cNvPr>
          <p:cNvSpPr txBox="1"/>
          <p:nvPr/>
        </p:nvSpPr>
        <p:spPr>
          <a:xfrm>
            <a:off x="3786240" y="2605123"/>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23</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sp>
        <p:nvSpPr>
          <p:cNvPr id="18" name="矩形: 圆角 17">
            <a:extLst>
              <a:ext uri="{FF2B5EF4-FFF2-40B4-BE49-F238E27FC236}">
                <a16:creationId xmlns:a16="http://schemas.microsoft.com/office/drawing/2014/main" id="{652DD1DA-7040-4B7E-F095-4FA5A2DB8727}"/>
              </a:ext>
            </a:extLst>
          </p:cNvPr>
          <p:cNvSpPr/>
          <p:nvPr/>
        </p:nvSpPr>
        <p:spPr>
          <a:xfrm>
            <a:off x="4948534" y="861893"/>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王五，</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25</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文本框 18">
            <a:extLst>
              <a:ext uri="{FF2B5EF4-FFF2-40B4-BE49-F238E27FC236}">
                <a16:creationId xmlns:a16="http://schemas.microsoft.com/office/drawing/2014/main" id="{2E95A802-6E64-4B51-E703-2049943E3C50}"/>
              </a:ext>
            </a:extLst>
          </p:cNvPr>
          <p:cNvSpPr txBox="1"/>
          <p:nvPr/>
        </p:nvSpPr>
        <p:spPr>
          <a:xfrm>
            <a:off x="3786240" y="2605123"/>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25</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spTree>
    <p:extLst>
      <p:ext uri="{BB962C8B-B14F-4D97-AF65-F5344CB8AC3E}">
        <p14:creationId xmlns:p14="http://schemas.microsoft.com/office/powerpoint/2010/main" val="419823838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Effect transition="in" filter="fade">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27" presetClass="emph" presetSubtype="0" repeatCount="3000" fill="remove" grpId="0" nodeType="clickEffect">
                                  <p:stCondLst>
                                    <p:cond delay="0"/>
                                  </p:stCondLst>
                                  <p:childTnLst>
                                    <p:animClr clrSpc="rgb" dir="cw">
                                      <p:cBhvr override="childStyle">
                                        <p:cTn id="18" dur="250" autoRev="1" fill="remove"/>
                                        <p:tgtEl>
                                          <p:spTgt spid="3"/>
                                        </p:tgtEl>
                                        <p:attrNameLst>
                                          <p:attrName>style.color</p:attrName>
                                        </p:attrNameLst>
                                      </p:cBhvr>
                                      <p:to>
                                        <a:schemeClr val="bg1"/>
                                      </p:to>
                                    </p:animClr>
                                    <p:animClr clrSpc="rgb" dir="cw">
                                      <p:cBhvr>
                                        <p:cTn id="19" dur="250" autoRev="1" fill="remove"/>
                                        <p:tgtEl>
                                          <p:spTgt spid="3"/>
                                        </p:tgtEl>
                                        <p:attrNameLst>
                                          <p:attrName>fillcolor</p:attrName>
                                        </p:attrNameLst>
                                      </p:cBhvr>
                                      <p:to>
                                        <a:schemeClr val="bg1"/>
                                      </p:to>
                                    </p:animClr>
                                    <p:set>
                                      <p:cBhvr>
                                        <p:cTn id="20" dur="250" autoRev="1" fill="remove"/>
                                        <p:tgtEl>
                                          <p:spTgt spid="3"/>
                                        </p:tgtEl>
                                        <p:attrNameLst>
                                          <p:attrName>fill.type</p:attrName>
                                        </p:attrNameLst>
                                      </p:cBhvr>
                                      <p:to>
                                        <p:strVal val="solid"/>
                                      </p:to>
                                    </p:set>
                                    <p:set>
                                      <p:cBhvr>
                                        <p:cTn id="21" dur="250" autoRev="1" fill="remove"/>
                                        <p:tgtEl>
                                          <p:spTgt spid="3"/>
                                        </p:tgtEl>
                                        <p:attrNameLst>
                                          <p:attrName>fill.on</p:attrName>
                                        </p:attrNameLst>
                                      </p:cBhvr>
                                      <p:to>
                                        <p:strVal val="true"/>
                                      </p:to>
                                    </p:se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cBhvr>
                                        <p:cTn id="26" dur="500" fill="hold"/>
                                        <p:tgtEl>
                                          <p:spTgt spid="19"/>
                                        </p:tgtEl>
                                        <p:attrNameLst>
                                          <p:attrName>ppt_w</p:attrName>
                                        </p:attrNameLst>
                                      </p:cBhvr>
                                      <p:tavLst>
                                        <p:tav tm="0">
                                          <p:val>
                                            <p:fltVal val="0"/>
                                          </p:val>
                                        </p:tav>
                                        <p:tav tm="100000">
                                          <p:val>
                                            <p:strVal val="#ppt_w"/>
                                          </p:val>
                                        </p:tav>
                                      </p:tavLst>
                                    </p:anim>
                                    <p:anim calcmode="lin" valueType="num">
                                      <p:cBhvr>
                                        <p:cTn id="27" dur="500" fill="hold"/>
                                        <p:tgtEl>
                                          <p:spTgt spid="19"/>
                                        </p:tgtEl>
                                        <p:attrNameLst>
                                          <p:attrName>ppt_h</p:attrName>
                                        </p:attrNameLst>
                                      </p:cBhvr>
                                      <p:tavLst>
                                        <p:tav tm="0">
                                          <p:val>
                                            <p:fltVal val="0"/>
                                          </p:val>
                                        </p:tav>
                                        <p:tav tm="100000">
                                          <p:val>
                                            <p:strVal val="#ppt_h"/>
                                          </p:val>
                                        </p:tav>
                                      </p:tavLst>
                                    </p:anim>
                                    <p:animEffect transition="in" filter="fade">
                                      <p:cBhvr>
                                        <p:cTn id="2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8" grpId="0" animBg="1"/>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BC4F1-5CCE-65E3-3B7C-4FD81144F33F}"/>
            </a:ext>
          </a:extLst>
        </p:cNvPr>
        <p:cNvGrpSpPr/>
        <p:nvPr/>
      </p:nvGrpSpPr>
      <p:grpSpPr>
        <a:xfrm>
          <a:off x="0" y="0"/>
          <a:ext cx="0" cy="0"/>
          <a:chOff x="0" y="0"/>
          <a:chExt cx="0" cy="0"/>
        </a:xfrm>
      </p:grpSpPr>
      <p:sp>
        <p:nvSpPr>
          <p:cNvPr id="13" name="TextBox 10">
            <a:extLst>
              <a:ext uri="{FF2B5EF4-FFF2-40B4-BE49-F238E27FC236}">
                <a16:creationId xmlns:a16="http://schemas.microsoft.com/office/drawing/2014/main" id="{B2FA47C9-328E-2C21-536D-8CFA84253DA9}"/>
              </a:ext>
            </a:extLst>
          </p:cNvPr>
          <p:cNvSpPr txBox="1"/>
          <p:nvPr/>
        </p:nvSpPr>
        <p:spPr>
          <a:xfrm>
            <a:off x="576626" y="1022370"/>
            <a:ext cx="3488839" cy="20000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类实现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Comparable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接口</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重写 </a:t>
            </a:r>
            <a:r>
              <a:rPr lang="en-US" altLang="zh-CN" sz="140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compareTo</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根据方法的返回值</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来组织排序规则</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负数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左边走</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正数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右边走</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0  :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不存</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p:txBody>
      </p:sp>
      <p:sp>
        <p:nvSpPr>
          <p:cNvPr id="2" name="文本框 1">
            <a:extLst>
              <a:ext uri="{FF2B5EF4-FFF2-40B4-BE49-F238E27FC236}">
                <a16:creationId xmlns:a16="http://schemas.microsoft.com/office/drawing/2014/main" id="{07E0D33C-8A2C-AE37-FE01-F63F6AB787F2}"/>
              </a:ext>
            </a:extLst>
          </p:cNvPr>
          <p:cNvSpPr txBox="1"/>
          <p:nvPr/>
        </p:nvSpPr>
        <p:spPr>
          <a:xfrm>
            <a:off x="576626" y="3338768"/>
            <a:ext cx="4686300" cy="1384995"/>
          </a:xfrm>
          <a:prstGeom prst="rect">
            <a:avLst/>
          </a:prstGeom>
          <a:solidFill>
            <a:srgbClr val="FFFFE4"/>
          </a:solidFill>
          <a:ln>
            <a:solidFill>
              <a:schemeClr val="tx1">
                <a:lumMod val="95000"/>
                <a:lumOff val="5000"/>
              </a:schemeClr>
            </a:solidFill>
          </a:ln>
        </p:spPr>
        <p:txBody>
          <a:bodyPr wrap="square" rtlCol="0">
            <a:spAutoFit/>
          </a:bodyPr>
          <a:lstStyle/>
          <a:p>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implements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Comparable</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&gt;{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public int </a:t>
            </a:r>
            <a:r>
              <a:rPr kumimoji="0" lang="zh-CN" altLang="zh-CN" sz="1200" b="0" i="0" u="none" strike="noStrike" cap="none" normalizeH="0" baseline="0" dirty="0">
                <a:ln>
                  <a:noFill/>
                </a:ln>
                <a:solidFill>
                  <a:srgbClr val="00627A"/>
                </a:solidFill>
                <a:effectLst/>
                <a:latin typeface="Consolas" panose="020B0609020204030204" pitchFamily="49" charset="0"/>
                <a:ea typeface="JetBrains Mono"/>
              </a:rPr>
              <a:t>compareTo</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o) {</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return this</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871094"/>
                </a:solidFill>
                <a:effectLst/>
                <a:latin typeface="Consolas" panose="020B0609020204030204" pitchFamily="49" charset="0"/>
                <a:ea typeface="JetBrains Mono"/>
              </a:rPr>
              <a:t>age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o.</a:t>
            </a:r>
            <a:r>
              <a:rPr kumimoji="0" lang="zh-CN" altLang="zh-CN" sz="1200" b="0" i="0" u="none" strike="noStrike" cap="none" normalizeH="0" baseline="0" dirty="0">
                <a:ln>
                  <a:noFill/>
                </a:ln>
                <a:solidFill>
                  <a:srgbClr val="871094"/>
                </a:solidFill>
                <a:effectLst/>
                <a:latin typeface="Consolas" panose="020B0609020204030204" pitchFamily="49" charset="0"/>
                <a:ea typeface="JetBrains Mono"/>
              </a:rPr>
              <a:t>age</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endParaRPr kumimoji="0" lang="zh-CN" altLang="zh-CN" sz="1200" b="0" i="0" u="none" strike="noStrike" cap="none" normalizeH="0" baseline="0" dirty="0">
              <a:ln>
                <a:noFill/>
              </a:ln>
              <a:solidFill>
                <a:schemeClr val="tx1"/>
              </a:solidFill>
              <a:effectLst/>
              <a:latin typeface="Consolas" panose="020B0609020204030204" pitchFamily="49" charset="0"/>
            </a:endParaRPr>
          </a:p>
          <a:p>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endParaRPr kumimoji="0" lang="zh-CN" altLang="zh-CN" sz="1200" b="0" i="0" u="none" strike="noStrike" cap="none" normalizeH="0" baseline="0" dirty="0">
              <a:ln>
                <a:noFill/>
              </a:ln>
              <a:solidFill>
                <a:schemeClr val="tx1"/>
              </a:solidFill>
              <a:effectLst/>
              <a:latin typeface="Consolas" panose="020B0609020204030204" pitchFamily="49" charset="0"/>
            </a:endParaRPr>
          </a:p>
        </p:txBody>
      </p:sp>
      <p:sp>
        <p:nvSpPr>
          <p:cNvPr id="5" name="文本框 4">
            <a:extLst>
              <a:ext uri="{FF2B5EF4-FFF2-40B4-BE49-F238E27FC236}">
                <a16:creationId xmlns:a16="http://schemas.microsoft.com/office/drawing/2014/main" id="{D0654167-9494-8561-0B14-9E9330C48077}"/>
              </a:ext>
            </a:extLst>
          </p:cNvPr>
          <p:cNvSpPr txBox="1"/>
          <p:nvPr/>
        </p:nvSpPr>
        <p:spPr>
          <a:xfrm>
            <a:off x="576626" y="4829637"/>
            <a:ext cx="4686300" cy="1200329"/>
          </a:xfrm>
          <a:prstGeom prst="rect">
            <a:avLst/>
          </a:prstGeom>
          <a:solidFill>
            <a:srgbClr val="FFFFE4"/>
          </a:solidFill>
          <a:ln>
            <a:solidFill>
              <a:schemeClr val="tx1">
                <a:lumMod val="95000"/>
                <a:lumOff val="5000"/>
              </a:schemeClr>
            </a:solidFill>
          </a:ln>
        </p:spPr>
        <p:txBody>
          <a:bodyPr wrap="square" rtlCol="0">
            <a:spAutoFit/>
          </a:bodyPr>
          <a:lstStyle/>
          <a:p>
            <a:pPr eaLnBrk="0" fontAlgn="base" hangingPunct="0">
              <a:spcBef>
                <a:spcPct val="0"/>
              </a:spcBef>
              <a:spcAft>
                <a:spcPct val="0"/>
              </a:spcAft>
            </a:pP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TreeSet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&gt;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ts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TreeSet&lt;&gt;();</a:t>
            </a:r>
            <a:endParaRPr kumimoji="0" lang="en-US" altLang="zh-CN" sz="1200" b="0" i="0" u="none" strike="noStrike" cap="none" normalizeH="0" baseline="0" dirty="0">
              <a:ln>
                <a:noFill/>
              </a:ln>
              <a:solidFill>
                <a:srgbClr val="080808"/>
              </a:solidFill>
              <a:effectLst/>
              <a:latin typeface="Consolas" panose="020B0609020204030204" pitchFamily="49" charset="0"/>
              <a:ea typeface="JetBrains Mono"/>
            </a:endParaRPr>
          </a:p>
          <a:p>
            <a:pPr eaLnBrk="0" fontAlgn="base" hangingPunct="0">
              <a:spcBef>
                <a:spcPct val="0"/>
              </a:spcBef>
              <a:spcAft>
                <a:spcPct val="0"/>
              </a:spcAft>
            </a:pP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李四</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24</a:t>
            </a:r>
            <a:r>
              <a:rPr lang="zh-CN" altLang="zh-CN" sz="1200" dirty="0">
                <a:solidFill>
                  <a:srgbClr val="080808"/>
                </a:solidFill>
                <a:latin typeface="Consolas" panose="020B0609020204030204" pitchFamily="49" charset="0"/>
                <a:ea typeface="JetBrains Mono"/>
              </a:rPr>
              <a:t>));</a:t>
            </a:r>
            <a:endParaRPr lang="en-US" altLang="zh-CN" sz="12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张三</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23</a:t>
            </a:r>
            <a:r>
              <a:rPr lang="zh-CN" altLang="zh-CN" sz="1200" dirty="0">
                <a:solidFill>
                  <a:srgbClr val="080808"/>
                </a:solidFill>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ts</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2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赵六</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26</a:t>
            </a:r>
            <a:r>
              <a:rPr lang="zh-CN" altLang="zh-CN" sz="1200" dirty="0">
                <a:solidFill>
                  <a:srgbClr val="080808"/>
                </a:solidFill>
                <a:latin typeface="Consolas" panose="020B0609020204030204" pitchFamily="49" charset="0"/>
                <a:ea typeface="JetBrains Mono"/>
              </a:rPr>
              <a:t>));</a:t>
            </a:r>
            <a:endParaRPr lang="zh-CN" altLang="zh-CN" sz="2000" dirty="0">
              <a:latin typeface="Consolas" panose="020B0609020204030204" pitchFamily="49" charset="0"/>
            </a:endParaRPr>
          </a:p>
        </p:txBody>
      </p:sp>
      <p:sp>
        <p:nvSpPr>
          <p:cNvPr id="4" name="标题 3">
            <a:extLst>
              <a:ext uri="{FF2B5EF4-FFF2-40B4-BE49-F238E27FC236}">
                <a16:creationId xmlns:a16="http://schemas.microsoft.com/office/drawing/2014/main" id="{38BE865A-4F8B-6E8A-6D76-F38678A12448}"/>
              </a:ext>
            </a:extLst>
          </p:cNvPr>
          <p:cNvSpPr>
            <a:spLocks noGrp="1"/>
          </p:cNvSpPr>
          <p:nvPr>
            <p:ph type="title"/>
          </p:nvPr>
        </p:nvSpPr>
        <p:spPr/>
        <p:txBody>
          <a:bodyPr/>
          <a:lstStyle/>
          <a:p>
            <a:r>
              <a:rPr lang="en-US" altLang="zh-CN"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排序 </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自然排序</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dirty="0"/>
          </a:p>
        </p:txBody>
      </p:sp>
      <p:sp>
        <p:nvSpPr>
          <p:cNvPr id="3" name="矩形 2">
            <a:extLst>
              <a:ext uri="{FF2B5EF4-FFF2-40B4-BE49-F238E27FC236}">
                <a16:creationId xmlns:a16="http://schemas.microsoft.com/office/drawing/2014/main" id="{EDA87045-A5D7-C344-6907-B015E423A166}"/>
              </a:ext>
            </a:extLst>
          </p:cNvPr>
          <p:cNvSpPr/>
          <p:nvPr/>
        </p:nvSpPr>
        <p:spPr>
          <a:xfrm>
            <a:off x="882203" y="3709115"/>
            <a:ext cx="3342067" cy="907961"/>
          </a:xfrm>
          <a:prstGeom prst="rect">
            <a:avLst/>
          </a:prstGeom>
          <a:solidFill>
            <a:schemeClr val="accent6">
              <a:alpha val="40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3FB130DF-9F40-AAF9-786C-52AE81A7568C}"/>
              </a:ext>
            </a:extLst>
          </p:cNvPr>
          <p:cNvSpPr/>
          <p:nvPr/>
        </p:nvSpPr>
        <p:spPr>
          <a:xfrm>
            <a:off x="7546988" y="1020043"/>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李四，</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24</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2" name="矩形: 圆角 11">
            <a:extLst>
              <a:ext uri="{FF2B5EF4-FFF2-40B4-BE49-F238E27FC236}">
                <a16:creationId xmlns:a16="http://schemas.microsoft.com/office/drawing/2014/main" id="{D22632BB-43B5-8774-5AE5-2AB37319FB91}"/>
              </a:ext>
            </a:extLst>
          </p:cNvPr>
          <p:cNvSpPr/>
          <p:nvPr/>
        </p:nvSpPr>
        <p:spPr>
          <a:xfrm>
            <a:off x="5750291" y="1992834"/>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张三，</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23</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5" name="直接箭头连接符 14">
            <a:extLst>
              <a:ext uri="{FF2B5EF4-FFF2-40B4-BE49-F238E27FC236}">
                <a16:creationId xmlns:a16="http://schemas.microsoft.com/office/drawing/2014/main" id="{3AE68BCD-14FB-7D38-DB48-69A2A5675F7E}"/>
              </a:ext>
            </a:extLst>
          </p:cNvPr>
          <p:cNvCxnSpPr>
            <a:stCxn id="11" idx="2"/>
            <a:endCxn id="12" idx="0"/>
          </p:cNvCxnSpPr>
          <p:nvPr/>
        </p:nvCxnSpPr>
        <p:spPr>
          <a:xfrm flipH="1">
            <a:off x="6552048" y="1592892"/>
            <a:ext cx="1796697" cy="399942"/>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BF9CFA12-9B7C-F12E-CF67-AEFB4B1E5CD6}"/>
              </a:ext>
            </a:extLst>
          </p:cNvPr>
          <p:cNvSpPr txBox="1"/>
          <p:nvPr/>
        </p:nvSpPr>
        <p:spPr>
          <a:xfrm>
            <a:off x="3786240" y="2605123"/>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23</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sp>
        <p:nvSpPr>
          <p:cNvPr id="18" name="矩形: 圆角 17">
            <a:extLst>
              <a:ext uri="{FF2B5EF4-FFF2-40B4-BE49-F238E27FC236}">
                <a16:creationId xmlns:a16="http://schemas.microsoft.com/office/drawing/2014/main" id="{A57CCD23-4B27-87C4-D527-B39655CE39D9}"/>
              </a:ext>
            </a:extLst>
          </p:cNvPr>
          <p:cNvSpPr/>
          <p:nvPr/>
        </p:nvSpPr>
        <p:spPr>
          <a:xfrm>
            <a:off x="9038630" y="1990984"/>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王五，</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25</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文本框 18">
            <a:extLst>
              <a:ext uri="{FF2B5EF4-FFF2-40B4-BE49-F238E27FC236}">
                <a16:creationId xmlns:a16="http://schemas.microsoft.com/office/drawing/2014/main" id="{6C6D9FA4-1304-6D02-2843-1A85F0E9A9D7}"/>
              </a:ext>
            </a:extLst>
          </p:cNvPr>
          <p:cNvSpPr txBox="1"/>
          <p:nvPr/>
        </p:nvSpPr>
        <p:spPr>
          <a:xfrm>
            <a:off x="3786240" y="2605123"/>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25</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cxnSp>
        <p:nvCxnSpPr>
          <p:cNvPr id="6" name="直接箭头连接符 5">
            <a:extLst>
              <a:ext uri="{FF2B5EF4-FFF2-40B4-BE49-F238E27FC236}">
                <a16:creationId xmlns:a16="http://schemas.microsoft.com/office/drawing/2014/main" id="{AE79E45F-B398-3962-5BE1-45540EB95D6D}"/>
              </a:ext>
            </a:extLst>
          </p:cNvPr>
          <p:cNvCxnSpPr>
            <a:cxnSpLocks/>
            <a:stCxn id="11" idx="2"/>
            <a:endCxn id="18" idx="0"/>
          </p:cNvCxnSpPr>
          <p:nvPr/>
        </p:nvCxnSpPr>
        <p:spPr>
          <a:xfrm>
            <a:off x="8348745" y="1592892"/>
            <a:ext cx="1491642" cy="398092"/>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圆角 9">
            <a:extLst>
              <a:ext uri="{FF2B5EF4-FFF2-40B4-BE49-F238E27FC236}">
                <a16:creationId xmlns:a16="http://schemas.microsoft.com/office/drawing/2014/main" id="{A03249C9-AA51-1C34-B78E-7FB4BE80A399}"/>
              </a:ext>
            </a:extLst>
          </p:cNvPr>
          <p:cNvSpPr/>
          <p:nvPr/>
        </p:nvSpPr>
        <p:spPr>
          <a:xfrm>
            <a:off x="4948534" y="933590"/>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赵六，</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26</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文本框 13">
            <a:extLst>
              <a:ext uri="{FF2B5EF4-FFF2-40B4-BE49-F238E27FC236}">
                <a16:creationId xmlns:a16="http://schemas.microsoft.com/office/drawing/2014/main" id="{EC214698-0D10-92AF-B71A-DAEEDB2FCCB2}"/>
              </a:ext>
            </a:extLst>
          </p:cNvPr>
          <p:cNvSpPr txBox="1"/>
          <p:nvPr/>
        </p:nvSpPr>
        <p:spPr>
          <a:xfrm>
            <a:off x="3786240" y="2605123"/>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26</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spTree>
    <p:extLst>
      <p:ext uri="{BB962C8B-B14F-4D97-AF65-F5344CB8AC3E}">
        <p14:creationId xmlns:p14="http://schemas.microsoft.com/office/powerpoint/2010/main" val="135699097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27" presetClass="emph" presetSubtype="0" repeatCount="3000" fill="remove" grpId="0" nodeType="clickEffect">
                                  <p:stCondLst>
                                    <p:cond delay="0"/>
                                  </p:stCondLst>
                                  <p:childTnLst>
                                    <p:animClr clrSpc="rgb" dir="cw">
                                      <p:cBhvr override="childStyle">
                                        <p:cTn id="13" dur="250" autoRev="1" fill="remove"/>
                                        <p:tgtEl>
                                          <p:spTgt spid="3"/>
                                        </p:tgtEl>
                                        <p:attrNameLst>
                                          <p:attrName>style.color</p:attrName>
                                        </p:attrNameLst>
                                      </p:cBhvr>
                                      <p:to>
                                        <a:schemeClr val="bg1"/>
                                      </p:to>
                                    </p:animClr>
                                    <p:animClr clrSpc="rgb" dir="cw">
                                      <p:cBhvr>
                                        <p:cTn id="14" dur="250" autoRev="1" fill="remove"/>
                                        <p:tgtEl>
                                          <p:spTgt spid="3"/>
                                        </p:tgtEl>
                                        <p:attrNameLst>
                                          <p:attrName>fillcolor</p:attrName>
                                        </p:attrNameLst>
                                      </p:cBhvr>
                                      <p:to>
                                        <a:schemeClr val="bg1"/>
                                      </p:to>
                                    </p:animClr>
                                    <p:set>
                                      <p:cBhvr>
                                        <p:cTn id="15" dur="250" autoRev="1" fill="remove"/>
                                        <p:tgtEl>
                                          <p:spTgt spid="3"/>
                                        </p:tgtEl>
                                        <p:attrNameLst>
                                          <p:attrName>fill.type</p:attrName>
                                        </p:attrNameLst>
                                      </p:cBhvr>
                                      <p:to>
                                        <p:strVal val="solid"/>
                                      </p:to>
                                    </p:set>
                                    <p:set>
                                      <p:cBhvr>
                                        <p:cTn id="16" dur="250" autoRev="1" fill="remove"/>
                                        <p:tgtEl>
                                          <p:spTgt spid="3"/>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p:cTn id="21" dur="500" fill="hold"/>
                                        <p:tgtEl>
                                          <p:spTgt spid="14"/>
                                        </p:tgtEl>
                                        <p:attrNameLst>
                                          <p:attrName>ppt_w</p:attrName>
                                        </p:attrNameLst>
                                      </p:cBhvr>
                                      <p:tavLst>
                                        <p:tav tm="0">
                                          <p:val>
                                            <p:fltVal val="0"/>
                                          </p:val>
                                        </p:tav>
                                        <p:tav tm="100000">
                                          <p:val>
                                            <p:strVal val="#ppt_w"/>
                                          </p:val>
                                        </p:tav>
                                      </p:tavLst>
                                    </p:anim>
                                    <p:anim calcmode="lin" valueType="num">
                                      <p:cBhvr>
                                        <p:cTn id="22" dur="500" fill="hold"/>
                                        <p:tgtEl>
                                          <p:spTgt spid="14"/>
                                        </p:tgtEl>
                                        <p:attrNameLst>
                                          <p:attrName>ppt_h</p:attrName>
                                        </p:attrNameLst>
                                      </p:cBhvr>
                                      <p:tavLst>
                                        <p:tav tm="0">
                                          <p:val>
                                            <p:fltVal val="0"/>
                                          </p:val>
                                        </p:tav>
                                        <p:tav tm="100000">
                                          <p:val>
                                            <p:strVal val="#ppt_h"/>
                                          </p:val>
                                        </p:tav>
                                      </p:tavLst>
                                    </p:anim>
                                    <p:animEffect transition="in" filter="fade">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83748-5FE8-1EAF-0466-6940A76BC60D}"/>
            </a:ext>
          </a:extLst>
        </p:cNvPr>
        <p:cNvGrpSpPr/>
        <p:nvPr/>
      </p:nvGrpSpPr>
      <p:grpSpPr>
        <a:xfrm>
          <a:off x="0" y="0"/>
          <a:ext cx="0" cy="0"/>
          <a:chOff x="0" y="0"/>
          <a:chExt cx="0" cy="0"/>
        </a:xfrm>
      </p:grpSpPr>
      <p:sp>
        <p:nvSpPr>
          <p:cNvPr id="13" name="TextBox 10">
            <a:extLst>
              <a:ext uri="{FF2B5EF4-FFF2-40B4-BE49-F238E27FC236}">
                <a16:creationId xmlns:a16="http://schemas.microsoft.com/office/drawing/2014/main" id="{5B7B1884-C8E5-D544-4541-A64C3EC84101}"/>
              </a:ext>
            </a:extLst>
          </p:cNvPr>
          <p:cNvSpPr txBox="1"/>
          <p:nvPr/>
        </p:nvSpPr>
        <p:spPr>
          <a:xfrm>
            <a:off x="576626" y="1022370"/>
            <a:ext cx="3488839" cy="20000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类实现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Comparable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接口</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重写 </a:t>
            </a:r>
            <a:r>
              <a:rPr lang="en-US" altLang="zh-CN" sz="140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compareTo</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根据方法的返回值</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来组织排序规则</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负数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左边走</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正数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右边走</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0  :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不存</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p:txBody>
      </p:sp>
      <p:sp>
        <p:nvSpPr>
          <p:cNvPr id="2" name="文本框 1">
            <a:extLst>
              <a:ext uri="{FF2B5EF4-FFF2-40B4-BE49-F238E27FC236}">
                <a16:creationId xmlns:a16="http://schemas.microsoft.com/office/drawing/2014/main" id="{4F86113D-5988-E731-1993-1C1132C78885}"/>
              </a:ext>
            </a:extLst>
          </p:cNvPr>
          <p:cNvSpPr txBox="1"/>
          <p:nvPr/>
        </p:nvSpPr>
        <p:spPr>
          <a:xfrm>
            <a:off x="576626" y="3338768"/>
            <a:ext cx="4686300" cy="1384995"/>
          </a:xfrm>
          <a:prstGeom prst="rect">
            <a:avLst/>
          </a:prstGeom>
          <a:solidFill>
            <a:srgbClr val="FFFFE4"/>
          </a:solidFill>
          <a:ln>
            <a:solidFill>
              <a:schemeClr val="tx1">
                <a:lumMod val="95000"/>
                <a:lumOff val="5000"/>
              </a:schemeClr>
            </a:solidFill>
          </a:ln>
        </p:spPr>
        <p:txBody>
          <a:bodyPr wrap="square" rtlCol="0">
            <a:spAutoFit/>
          </a:bodyPr>
          <a:lstStyle/>
          <a:p>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implements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Comparable</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&gt;{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public int </a:t>
            </a:r>
            <a:r>
              <a:rPr kumimoji="0" lang="zh-CN" altLang="zh-CN" sz="1200" b="0" i="0" u="none" strike="noStrike" cap="none" normalizeH="0" baseline="0" dirty="0">
                <a:ln>
                  <a:noFill/>
                </a:ln>
                <a:solidFill>
                  <a:srgbClr val="00627A"/>
                </a:solidFill>
                <a:effectLst/>
                <a:latin typeface="Consolas" panose="020B0609020204030204" pitchFamily="49" charset="0"/>
                <a:ea typeface="JetBrains Mono"/>
              </a:rPr>
              <a:t>compareTo</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o) {</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return this</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871094"/>
                </a:solidFill>
                <a:effectLst/>
                <a:latin typeface="Consolas" panose="020B0609020204030204" pitchFamily="49" charset="0"/>
                <a:ea typeface="JetBrains Mono"/>
              </a:rPr>
              <a:t>age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o.</a:t>
            </a:r>
            <a:r>
              <a:rPr kumimoji="0" lang="zh-CN" altLang="zh-CN" sz="1200" b="0" i="0" u="none" strike="noStrike" cap="none" normalizeH="0" baseline="0" dirty="0">
                <a:ln>
                  <a:noFill/>
                </a:ln>
                <a:solidFill>
                  <a:srgbClr val="871094"/>
                </a:solidFill>
                <a:effectLst/>
                <a:latin typeface="Consolas" panose="020B0609020204030204" pitchFamily="49" charset="0"/>
                <a:ea typeface="JetBrains Mono"/>
              </a:rPr>
              <a:t>age</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endParaRPr kumimoji="0" lang="zh-CN" altLang="zh-CN" sz="1200" b="0" i="0" u="none" strike="noStrike" cap="none" normalizeH="0" baseline="0" dirty="0">
              <a:ln>
                <a:noFill/>
              </a:ln>
              <a:solidFill>
                <a:schemeClr val="tx1"/>
              </a:solidFill>
              <a:effectLst/>
              <a:latin typeface="Consolas" panose="020B0609020204030204" pitchFamily="49" charset="0"/>
            </a:endParaRPr>
          </a:p>
          <a:p>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endParaRPr kumimoji="0" lang="zh-CN" altLang="zh-CN" sz="1200" b="0" i="0" u="none" strike="noStrike" cap="none" normalizeH="0" baseline="0" dirty="0">
              <a:ln>
                <a:noFill/>
              </a:ln>
              <a:solidFill>
                <a:schemeClr val="tx1"/>
              </a:solidFill>
              <a:effectLst/>
              <a:latin typeface="Consolas" panose="020B0609020204030204" pitchFamily="49" charset="0"/>
            </a:endParaRPr>
          </a:p>
        </p:txBody>
      </p:sp>
      <p:sp>
        <p:nvSpPr>
          <p:cNvPr id="5" name="文本框 4">
            <a:extLst>
              <a:ext uri="{FF2B5EF4-FFF2-40B4-BE49-F238E27FC236}">
                <a16:creationId xmlns:a16="http://schemas.microsoft.com/office/drawing/2014/main" id="{D9FF6D0C-23F4-5ED3-DA73-9B49835AE514}"/>
              </a:ext>
            </a:extLst>
          </p:cNvPr>
          <p:cNvSpPr txBox="1"/>
          <p:nvPr/>
        </p:nvSpPr>
        <p:spPr>
          <a:xfrm>
            <a:off x="576626" y="4829637"/>
            <a:ext cx="4686300" cy="1200329"/>
          </a:xfrm>
          <a:prstGeom prst="rect">
            <a:avLst/>
          </a:prstGeom>
          <a:solidFill>
            <a:srgbClr val="FFFFE4"/>
          </a:solidFill>
          <a:ln>
            <a:solidFill>
              <a:schemeClr val="tx1">
                <a:lumMod val="95000"/>
                <a:lumOff val="5000"/>
              </a:schemeClr>
            </a:solidFill>
          </a:ln>
        </p:spPr>
        <p:txBody>
          <a:bodyPr wrap="square" rtlCol="0">
            <a:spAutoFit/>
          </a:bodyPr>
          <a:lstStyle/>
          <a:p>
            <a:pPr eaLnBrk="0" fontAlgn="base" hangingPunct="0">
              <a:spcBef>
                <a:spcPct val="0"/>
              </a:spcBef>
              <a:spcAft>
                <a:spcPct val="0"/>
              </a:spcAft>
            </a:pP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TreeSet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&gt;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ts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TreeSet&lt;&gt;();</a:t>
            </a:r>
            <a:endParaRPr kumimoji="0" lang="en-US" altLang="zh-CN" sz="1200" b="0" i="0" u="none" strike="noStrike" cap="none" normalizeH="0" baseline="0" dirty="0">
              <a:ln>
                <a:noFill/>
              </a:ln>
              <a:solidFill>
                <a:srgbClr val="080808"/>
              </a:solidFill>
              <a:effectLst/>
              <a:latin typeface="Consolas" panose="020B0609020204030204" pitchFamily="49" charset="0"/>
              <a:ea typeface="JetBrains Mono"/>
            </a:endParaRPr>
          </a:p>
          <a:p>
            <a:pPr eaLnBrk="0" fontAlgn="base" hangingPunct="0">
              <a:spcBef>
                <a:spcPct val="0"/>
              </a:spcBef>
              <a:spcAft>
                <a:spcPct val="0"/>
              </a:spcAft>
            </a:pP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李四</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24</a:t>
            </a:r>
            <a:r>
              <a:rPr lang="zh-CN" altLang="zh-CN" sz="1200" dirty="0">
                <a:solidFill>
                  <a:srgbClr val="080808"/>
                </a:solidFill>
                <a:latin typeface="Consolas" panose="020B0609020204030204" pitchFamily="49" charset="0"/>
                <a:ea typeface="JetBrains Mono"/>
              </a:rPr>
              <a:t>));</a:t>
            </a:r>
            <a:endParaRPr lang="en-US" altLang="zh-CN" sz="12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张三</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23</a:t>
            </a:r>
            <a:r>
              <a:rPr lang="zh-CN" altLang="zh-CN" sz="1200" dirty="0">
                <a:solidFill>
                  <a:srgbClr val="080808"/>
                </a:solidFill>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ts</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2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赵六</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26</a:t>
            </a:r>
            <a:r>
              <a:rPr lang="zh-CN" altLang="zh-CN" sz="1200" dirty="0">
                <a:solidFill>
                  <a:srgbClr val="080808"/>
                </a:solidFill>
                <a:latin typeface="Consolas" panose="020B0609020204030204" pitchFamily="49" charset="0"/>
                <a:ea typeface="JetBrains Mono"/>
              </a:rPr>
              <a:t>));</a:t>
            </a:r>
            <a:endParaRPr lang="zh-CN" altLang="zh-CN" sz="2000" dirty="0">
              <a:latin typeface="Consolas" panose="020B0609020204030204" pitchFamily="49" charset="0"/>
            </a:endParaRPr>
          </a:p>
        </p:txBody>
      </p:sp>
      <p:sp>
        <p:nvSpPr>
          <p:cNvPr id="4" name="标题 3">
            <a:extLst>
              <a:ext uri="{FF2B5EF4-FFF2-40B4-BE49-F238E27FC236}">
                <a16:creationId xmlns:a16="http://schemas.microsoft.com/office/drawing/2014/main" id="{7B0CCA91-5C89-C035-F085-4C8F12188F85}"/>
              </a:ext>
            </a:extLst>
          </p:cNvPr>
          <p:cNvSpPr>
            <a:spLocks noGrp="1"/>
          </p:cNvSpPr>
          <p:nvPr>
            <p:ph type="title"/>
          </p:nvPr>
        </p:nvSpPr>
        <p:spPr/>
        <p:txBody>
          <a:bodyPr/>
          <a:lstStyle/>
          <a:p>
            <a:r>
              <a:rPr lang="en-US" altLang="zh-CN"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排序 </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自然排序</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dirty="0"/>
          </a:p>
        </p:txBody>
      </p:sp>
      <p:sp>
        <p:nvSpPr>
          <p:cNvPr id="3" name="矩形 2">
            <a:extLst>
              <a:ext uri="{FF2B5EF4-FFF2-40B4-BE49-F238E27FC236}">
                <a16:creationId xmlns:a16="http://schemas.microsoft.com/office/drawing/2014/main" id="{6D58D3AD-2605-513B-A2B7-F210B6D15BFA}"/>
              </a:ext>
            </a:extLst>
          </p:cNvPr>
          <p:cNvSpPr/>
          <p:nvPr/>
        </p:nvSpPr>
        <p:spPr>
          <a:xfrm>
            <a:off x="882203" y="3709115"/>
            <a:ext cx="3342067" cy="907961"/>
          </a:xfrm>
          <a:prstGeom prst="rect">
            <a:avLst/>
          </a:prstGeom>
          <a:solidFill>
            <a:schemeClr val="accent6">
              <a:alpha val="40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C640F434-FF8A-7395-76F5-A47AE50BB32D}"/>
              </a:ext>
            </a:extLst>
          </p:cNvPr>
          <p:cNvSpPr/>
          <p:nvPr/>
        </p:nvSpPr>
        <p:spPr>
          <a:xfrm>
            <a:off x="7546988" y="1020043"/>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李四，</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24</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2" name="矩形: 圆角 11">
            <a:extLst>
              <a:ext uri="{FF2B5EF4-FFF2-40B4-BE49-F238E27FC236}">
                <a16:creationId xmlns:a16="http://schemas.microsoft.com/office/drawing/2014/main" id="{059F88A7-7296-6275-C57F-5E056B3263C4}"/>
              </a:ext>
            </a:extLst>
          </p:cNvPr>
          <p:cNvSpPr/>
          <p:nvPr/>
        </p:nvSpPr>
        <p:spPr>
          <a:xfrm>
            <a:off x="5750291" y="1992834"/>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张三，</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23</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5" name="直接箭头连接符 14">
            <a:extLst>
              <a:ext uri="{FF2B5EF4-FFF2-40B4-BE49-F238E27FC236}">
                <a16:creationId xmlns:a16="http://schemas.microsoft.com/office/drawing/2014/main" id="{1733AABB-E729-3BEE-4E54-0A8D7A6578A5}"/>
              </a:ext>
            </a:extLst>
          </p:cNvPr>
          <p:cNvCxnSpPr>
            <a:stCxn id="11" idx="2"/>
            <a:endCxn id="12" idx="0"/>
          </p:cNvCxnSpPr>
          <p:nvPr/>
        </p:nvCxnSpPr>
        <p:spPr>
          <a:xfrm flipH="1">
            <a:off x="6552048" y="1592892"/>
            <a:ext cx="1796697" cy="399942"/>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A8A869BB-C3D0-B65B-2858-9AB7C5DD9B5A}"/>
              </a:ext>
            </a:extLst>
          </p:cNvPr>
          <p:cNvSpPr txBox="1"/>
          <p:nvPr/>
        </p:nvSpPr>
        <p:spPr>
          <a:xfrm>
            <a:off x="3786240" y="2605123"/>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23</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sp>
        <p:nvSpPr>
          <p:cNvPr id="18" name="矩形: 圆角 17">
            <a:extLst>
              <a:ext uri="{FF2B5EF4-FFF2-40B4-BE49-F238E27FC236}">
                <a16:creationId xmlns:a16="http://schemas.microsoft.com/office/drawing/2014/main" id="{EDAD651C-BDCD-327C-2FC2-94294AE5E9DA}"/>
              </a:ext>
            </a:extLst>
          </p:cNvPr>
          <p:cNvSpPr/>
          <p:nvPr/>
        </p:nvSpPr>
        <p:spPr>
          <a:xfrm>
            <a:off x="9038630" y="1990984"/>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王五，</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25</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文本框 18">
            <a:extLst>
              <a:ext uri="{FF2B5EF4-FFF2-40B4-BE49-F238E27FC236}">
                <a16:creationId xmlns:a16="http://schemas.microsoft.com/office/drawing/2014/main" id="{3E4CEAB6-5687-C290-B442-F37A050CE632}"/>
              </a:ext>
            </a:extLst>
          </p:cNvPr>
          <p:cNvSpPr txBox="1"/>
          <p:nvPr/>
        </p:nvSpPr>
        <p:spPr>
          <a:xfrm>
            <a:off x="3786240" y="2605123"/>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25</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cxnSp>
        <p:nvCxnSpPr>
          <p:cNvPr id="6" name="直接箭头连接符 5">
            <a:extLst>
              <a:ext uri="{FF2B5EF4-FFF2-40B4-BE49-F238E27FC236}">
                <a16:creationId xmlns:a16="http://schemas.microsoft.com/office/drawing/2014/main" id="{78768E38-5875-CE9E-33C9-8EE79AB3D235}"/>
              </a:ext>
            </a:extLst>
          </p:cNvPr>
          <p:cNvCxnSpPr>
            <a:cxnSpLocks/>
            <a:stCxn id="11" idx="2"/>
            <a:endCxn id="18" idx="0"/>
          </p:cNvCxnSpPr>
          <p:nvPr/>
        </p:nvCxnSpPr>
        <p:spPr>
          <a:xfrm>
            <a:off x="8348745" y="1592892"/>
            <a:ext cx="1491642" cy="398092"/>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圆角 9">
            <a:extLst>
              <a:ext uri="{FF2B5EF4-FFF2-40B4-BE49-F238E27FC236}">
                <a16:creationId xmlns:a16="http://schemas.microsoft.com/office/drawing/2014/main" id="{3761FA97-C90A-652D-5575-AA2092D43AC3}"/>
              </a:ext>
            </a:extLst>
          </p:cNvPr>
          <p:cNvSpPr/>
          <p:nvPr/>
        </p:nvSpPr>
        <p:spPr>
          <a:xfrm>
            <a:off x="10263926" y="1207710"/>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赵六，</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26</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文本框 13">
            <a:extLst>
              <a:ext uri="{FF2B5EF4-FFF2-40B4-BE49-F238E27FC236}">
                <a16:creationId xmlns:a16="http://schemas.microsoft.com/office/drawing/2014/main" id="{889C5F04-C216-3CC7-7961-273509A92541}"/>
              </a:ext>
            </a:extLst>
          </p:cNvPr>
          <p:cNvSpPr txBox="1"/>
          <p:nvPr/>
        </p:nvSpPr>
        <p:spPr>
          <a:xfrm>
            <a:off x="3786240" y="2605123"/>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26</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25</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spTree>
    <p:extLst>
      <p:ext uri="{BB962C8B-B14F-4D97-AF65-F5344CB8AC3E}">
        <p14:creationId xmlns:p14="http://schemas.microsoft.com/office/powerpoint/2010/main" val="24874801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repeatCount="3000" fill="remove" grpId="0" nodeType="clickEffect">
                                  <p:stCondLst>
                                    <p:cond delay="0"/>
                                  </p:stCondLst>
                                  <p:childTnLst>
                                    <p:animClr clrSpc="rgb" dir="cw">
                                      <p:cBhvr override="childStyle">
                                        <p:cTn id="6" dur="250" autoRev="1" fill="remove"/>
                                        <p:tgtEl>
                                          <p:spTgt spid="3"/>
                                        </p:tgtEl>
                                        <p:attrNameLst>
                                          <p:attrName>style.color</p:attrName>
                                        </p:attrNameLst>
                                      </p:cBhvr>
                                      <p:to>
                                        <a:schemeClr val="bg1"/>
                                      </p:to>
                                    </p:animClr>
                                    <p:animClr clrSpc="rgb" dir="cw">
                                      <p:cBhvr>
                                        <p:cTn id="7" dur="250" autoRev="1" fill="remove"/>
                                        <p:tgtEl>
                                          <p:spTgt spid="3"/>
                                        </p:tgtEl>
                                        <p:attrNameLst>
                                          <p:attrName>fillcolor</p:attrName>
                                        </p:attrNameLst>
                                      </p:cBhvr>
                                      <p:to>
                                        <a:schemeClr val="bg1"/>
                                      </p:to>
                                    </p:animClr>
                                    <p:set>
                                      <p:cBhvr>
                                        <p:cTn id="8" dur="250" autoRev="1" fill="remove"/>
                                        <p:tgtEl>
                                          <p:spTgt spid="3"/>
                                        </p:tgtEl>
                                        <p:attrNameLst>
                                          <p:attrName>fill.type</p:attrName>
                                        </p:attrNameLst>
                                      </p:cBhvr>
                                      <p:to>
                                        <p:strVal val="solid"/>
                                      </p:to>
                                    </p:set>
                                    <p:set>
                                      <p:cBhvr>
                                        <p:cTn id="9" dur="250" autoRev="1" fill="remove"/>
                                        <p:tgtEl>
                                          <p:spTgt spid="3"/>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500" fill="hold"/>
                                        <p:tgtEl>
                                          <p:spTgt spid="14"/>
                                        </p:tgtEl>
                                        <p:attrNameLst>
                                          <p:attrName>ppt_w</p:attrName>
                                        </p:attrNameLst>
                                      </p:cBhvr>
                                      <p:tavLst>
                                        <p:tav tm="0">
                                          <p:val>
                                            <p:fltVal val="0"/>
                                          </p:val>
                                        </p:tav>
                                        <p:tav tm="100000">
                                          <p:val>
                                            <p:strVal val="#ppt_w"/>
                                          </p:val>
                                        </p:tav>
                                      </p:tavLst>
                                    </p:anim>
                                    <p:anim calcmode="lin" valueType="num">
                                      <p:cBhvr>
                                        <p:cTn id="15" dur="500" fill="hold"/>
                                        <p:tgtEl>
                                          <p:spTgt spid="14"/>
                                        </p:tgtEl>
                                        <p:attrNameLst>
                                          <p:attrName>ppt_h</p:attrName>
                                        </p:attrNameLst>
                                      </p:cBhvr>
                                      <p:tavLst>
                                        <p:tav tm="0">
                                          <p:val>
                                            <p:fltVal val="0"/>
                                          </p:val>
                                        </p:tav>
                                        <p:tav tm="100000">
                                          <p:val>
                                            <p:strVal val="#ppt_h"/>
                                          </p:val>
                                        </p:tav>
                                      </p:tavLst>
                                    </p:anim>
                                    <p:animEffect transition="in" filter="fade">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D9E95-C4E9-CCE2-30F9-586194CDD808}"/>
            </a:ext>
          </a:extLst>
        </p:cNvPr>
        <p:cNvGrpSpPr/>
        <p:nvPr/>
      </p:nvGrpSpPr>
      <p:grpSpPr>
        <a:xfrm>
          <a:off x="0" y="0"/>
          <a:ext cx="0" cy="0"/>
          <a:chOff x="0" y="0"/>
          <a:chExt cx="0" cy="0"/>
        </a:xfrm>
      </p:grpSpPr>
      <p:sp>
        <p:nvSpPr>
          <p:cNvPr id="13" name="TextBox 10">
            <a:extLst>
              <a:ext uri="{FF2B5EF4-FFF2-40B4-BE49-F238E27FC236}">
                <a16:creationId xmlns:a16="http://schemas.microsoft.com/office/drawing/2014/main" id="{2B37E924-346B-3E6D-1A9B-2190D6ED779D}"/>
              </a:ext>
            </a:extLst>
          </p:cNvPr>
          <p:cNvSpPr txBox="1"/>
          <p:nvPr/>
        </p:nvSpPr>
        <p:spPr>
          <a:xfrm>
            <a:off x="576626" y="1022370"/>
            <a:ext cx="3488839" cy="20000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类实现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Comparable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接口</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重写 </a:t>
            </a:r>
            <a:r>
              <a:rPr lang="en-US" altLang="zh-CN" sz="140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compareTo</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150000"/>
              </a:lnSpc>
              <a:buAutoNum type="arabicPeriod"/>
              <a:defRPr/>
            </a:pP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根据方法的返回值</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来组织排序规则</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负数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左边走</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正数 </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右边走</a:t>
            </a:r>
            <a:endPar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150000"/>
              </a:lnSpc>
              <a:defRPr/>
            </a:pP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0  : </a:t>
            </a:r>
            <a:r>
              <a:rPr lang="zh-CN" altLang="en-US"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不存</a:t>
            </a:r>
            <a:r>
              <a:rPr lang="en-US" altLang="zh-CN" sz="14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p:txBody>
      </p:sp>
      <p:sp>
        <p:nvSpPr>
          <p:cNvPr id="2" name="文本框 1">
            <a:extLst>
              <a:ext uri="{FF2B5EF4-FFF2-40B4-BE49-F238E27FC236}">
                <a16:creationId xmlns:a16="http://schemas.microsoft.com/office/drawing/2014/main" id="{A93C6C59-6169-A288-4F96-AF4809C350A2}"/>
              </a:ext>
            </a:extLst>
          </p:cNvPr>
          <p:cNvSpPr txBox="1"/>
          <p:nvPr/>
        </p:nvSpPr>
        <p:spPr>
          <a:xfrm>
            <a:off x="576626" y="3338768"/>
            <a:ext cx="4686300" cy="1384995"/>
          </a:xfrm>
          <a:prstGeom prst="rect">
            <a:avLst/>
          </a:prstGeom>
          <a:solidFill>
            <a:srgbClr val="FFFFE4"/>
          </a:solidFill>
          <a:ln>
            <a:solidFill>
              <a:schemeClr val="tx1">
                <a:lumMod val="95000"/>
                <a:lumOff val="5000"/>
              </a:schemeClr>
            </a:solidFill>
          </a:ln>
        </p:spPr>
        <p:txBody>
          <a:bodyPr wrap="square" rtlCol="0">
            <a:spAutoFit/>
          </a:bodyPr>
          <a:lstStyle/>
          <a:p>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implements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Comparable</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&gt;{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public int </a:t>
            </a:r>
            <a:r>
              <a:rPr kumimoji="0" lang="zh-CN" altLang="zh-CN" sz="1200" b="0" i="0" u="none" strike="noStrike" cap="none" normalizeH="0" baseline="0" dirty="0">
                <a:ln>
                  <a:noFill/>
                </a:ln>
                <a:solidFill>
                  <a:srgbClr val="00627A"/>
                </a:solidFill>
                <a:effectLst/>
                <a:latin typeface="Consolas" panose="020B0609020204030204" pitchFamily="49" charset="0"/>
                <a:ea typeface="JetBrains Mono"/>
              </a:rPr>
              <a:t>compareTo</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o) {</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return this</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871094"/>
                </a:solidFill>
                <a:effectLst/>
                <a:latin typeface="Consolas" panose="020B0609020204030204" pitchFamily="49" charset="0"/>
                <a:ea typeface="JetBrains Mono"/>
              </a:rPr>
              <a:t>age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o.</a:t>
            </a:r>
            <a:r>
              <a:rPr kumimoji="0" lang="zh-CN" altLang="zh-CN" sz="1200" b="0" i="0" u="none" strike="noStrike" cap="none" normalizeH="0" baseline="0" dirty="0">
                <a:ln>
                  <a:noFill/>
                </a:ln>
                <a:solidFill>
                  <a:srgbClr val="871094"/>
                </a:solidFill>
                <a:effectLst/>
                <a:latin typeface="Consolas" panose="020B0609020204030204" pitchFamily="49" charset="0"/>
                <a:ea typeface="JetBrains Mono"/>
              </a:rPr>
              <a:t>age</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endParaRPr kumimoji="0" lang="zh-CN" altLang="zh-CN" sz="1200" b="0" i="0" u="none" strike="noStrike" cap="none" normalizeH="0" baseline="0" dirty="0">
              <a:ln>
                <a:noFill/>
              </a:ln>
              <a:solidFill>
                <a:schemeClr val="tx1"/>
              </a:solidFill>
              <a:effectLst/>
              <a:latin typeface="Consolas" panose="020B0609020204030204" pitchFamily="49" charset="0"/>
            </a:endParaRPr>
          </a:p>
          <a:p>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endParaRPr kumimoji="0" lang="zh-CN" altLang="zh-CN" sz="1200" b="0" i="0" u="none" strike="noStrike" cap="none" normalizeH="0" baseline="0" dirty="0">
              <a:ln>
                <a:noFill/>
              </a:ln>
              <a:solidFill>
                <a:schemeClr val="tx1"/>
              </a:solidFill>
              <a:effectLst/>
              <a:latin typeface="Consolas" panose="020B0609020204030204" pitchFamily="49" charset="0"/>
            </a:endParaRPr>
          </a:p>
        </p:txBody>
      </p:sp>
      <p:sp>
        <p:nvSpPr>
          <p:cNvPr id="5" name="文本框 4">
            <a:extLst>
              <a:ext uri="{FF2B5EF4-FFF2-40B4-BE49-F238E27FC236}">
                <a16:creationId xmlns:a16="http://schemas.microsoft.com/office/drawing/2014/main" id="{457977F4-F99D-E11C-B4FD-039180DC1C5D}"/>
              </a:ext>
            </a:extLst>
          </p:cNvPr>
          <p:cNvSpPr txBox="1"/>
          <p:nvPr/>
        </p:nvSpPr>
        <p:spPr>
          <a:xfrm>
            <a:off x="576626" y="4829637"/>
            <a:ext cx="4686300" cy="1200329"/>
          </a:xfrm>
          <a:prstGeom prst="rect">
            <a:avLst/>
          </a:prstGeom>
          <a:solidFill>
            <a:srgbClr val="FFFFE4"/>
          </a:solidFill>
          <a:ln>
            <a:solidFill>
              <a:schemeClr val="tx1">
                <a:lumMod val="95000"/>
                <a:lumOff val="5000"/>
              </a:schemeClr>
            </a:solidFill>
          </a:ln>
        </p:spPr>
        <p:txBody>
          <a:bodyPr wrap="square" rtlCol="0">
            <a:spAutoFit/>
          </a:bodyPr>
          <a:lstStyle/>
          <a:p>
            <a:pPr eaLnBrk="0" fontAlgn="base" hangingPunct="0">
              <a:spcBef>
                <a:spcPct val="0"/>
              </a:spcBef>
              <a:spcAft>
                <a:spcPct val="0"/>
              </a:spcAft>
            </a:pP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TreeSet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&gt; </a:t>
            </a: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ts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TreeSet&lt;&gt;();</a:t>
            </a:r>
            <a:endParaRPr kumimoji="0" lang="en-US" altLang="zh-CN" sz="1200" b="0" i="0" u="none" strike="noStrike" cap="none" normalizeH="0" baseline="0" dirty="0">
              <a:ln>
                <a:noFill/>
              </a:ln>
              <a:solidFill>
                <a:srgbClr val="080808"/>
              </a:solidFill>
              <a:effectLst/>
              <a:latin typeface="Consolas" panose="020B0609020204030204" pitchFamily="49" charset="0"/>
              <a:ea typeface="JetBrains Mono"/>
            </a:endParaRPr>
          </a:p>
          <a:p>
            <a:pPr eaLnBrk="0" fontAlgn="base" hangingPunct="0">
              <a:spcBef>
                <a:spcPct val="0"/>
              </a:spcBef>
              <a:spcAft>
                <a:spcPct val="0"/>
              </a:spcAft>
            </a:pP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李四</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24</a:t>
            </a:r>
            <a:r>
              <a:rPr lang="zh-CN" altLang="zh-CN" sz="1200" dirty="0">
                <a:solidFill>
                  <a:srgbClr val="080808"/>
                </a:solidFill>
                <a:latin typeface="Consolas" panose="020B0609020204030204" pitchFamily="49" charset="0"/>
                <a:ea typeface="JetBrains Mono"/>
              </a:rPr>
              <a:t>));</a:t>
            </a:r>
            <a:endParaRPr lang="en-US" altLang="zh-CN" sz="12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张三</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23</a:t>
            </a:r>
            <a:r>
              <a:rPr lang="zh-CN" altLang="zh-CN" sz="1200" dirty="0">
                <a:solidFill>
                  <a:srgbClr val="080808"/>
                </a:solidFill>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200" b="0" i="0" u="none" strike="noStrike" cap="none" normalizeH="0" baseline="0" dirty="0">
                <a:ln>
                  <a:noFill/>
                </a:ln>
                <a:solidFill>
                  <a:srgbClr val="000000"/>
                </a:solidFill>
                <a:effectLst/>
                <a:latin typeface="Consolas" panose="020B0609020204030204" pitchFamily="49" charset="0"/>
                <a:ea typeface="JetBrains Mono"/>
              </a:rPr>
              <a:t>ts</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2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2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2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2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200" b="0" i="0" u="none" strike="noStrike" cap="none" normalizeH="0" baseline="0" dirty="0">
                <a:ln>
                  <a:noFill/>
                </a:ln>
                <a:solidFill>
                  <a:srgbClr val="080808"/>
                </a:solidFill>
                <a:effectLst/>
                <a:latin typeface="Consolas" panose="020B0609020204030204" pitchFamily="49" charset="0"/>
                <a:ea typeface="JetBrains Mono"/>
              </a:rPr>
            </a:br>
            <a:r>
              <a:rPr lang="zh-CN" altLang="zh-CN" sz="1200" dirty="0">
                <a:solidFill>
                  <a:srgbClr val="000000"/>
                </a:solidFill>
                <a:latin typeface="Consolas" panose="020B0609020204030204" pitchFamily="49" charset="0"/>
                <a:ea typeface="JetBrains Mono"/>
              </a:rPr>
              <a:t>ts</a:t>
            </a:r>
            <a:r>
              <a:rPr lang="zh-CN" altLang="zh-CN" sz="1200" dirty="0">
                <a:solidFill>
                  <a:srgbClr val="080808"/>
                </a:solidFill>
                <a:latin typeface="Consolas" panose="020B0609020204030204" pitchFamily="49" charset="0"/>
                <a:ea typeface="JetBrains Mono"/>
              </a:rPr>
              <a:t>.add(</a:t>
            </a:r>
            <a:r>
              <a:rPr lang="zh-CN" altLang="zh-CN" sz="1200" dirty="0">
                <a:solidFill>
                  <a:srgbClr val="0033B3"/>
                </a:solidFill>
                <a:latin typeface="Consolas" panose="020B0609020204030204" pitchFamily="49" charset="0"/>
                <a:ea typeface="JetBrains Mono"/>
              </a:rPr>
              <a:t>new </a:t>
            </a:r>
            <a:r>
              <a:rPr lang="zh-CN" altLang="zh-CN" sz="1200" dirty="0">
                <a:solidFill>
                  <a:srgbClr val="080808"/>
                </a:solidFill>
                <a:latin typeface="Consolas" panose="020B0609020204030204" pitchFamily="49" charset="0"/>
                <a:ea typeface="JetBrains Mono"/>
              </a:rPr>
              <a:t>Student(</a:t>
            </a:r>
            <a:r>
              <a:rPr lang="zh-CN" altLang="zh-CN" sz="1200" dirty="0">
                <a:solidFill>
                  <a:srgbClr val="067D17"/>
                </a:solidFill>
                <a:latin typeface="Consolas" panose="020B0609020204030204" pitchFamily="49" charset="0"/>
                <a:ea typeface="JetBrains Mono"/>
              </a:rPr>
              <a:t>"</a:t>
            </a:r>
            <a:r>
              <a:rPr lang="zh-CN" altLang="zh-CN" sz="1200" dirty="0">
                <a:solidFill>
                  <a:srgbClr val="067D17"/>
                </a:solidFill>
                <a:latin typeface="Consolas" panose="020B0609020204030204" pitchFamily="49" charset="0"/>
                <a:ea typeface="宋体" panose="02010600030101010101" pitchFamily="2" charset="-122"/>
              </a:rPr>
              <a:t>赵六</a:t>
            </a:r>
            <a:r>
              <a:rPr lang="zh-CN" altLang="zh-CN" sz="1200" dirty="0">
                <a:solidFill>
                  <a:srgbClr val="067D17"/>
                </a:solidFill>
                <a:latin typeface="Consolas" panose="020B0609020204030204" pitchFamily="49" charset="0"/>
                <a:ea typeface="JetBrains Mono"/>
              </a:rPr>
              <a:t>"</a:t>
            </a:r>
            <a:r>
              <a:rPr lang="zh-CN" altLang="zh-CN" sz="1200" dirty="0">
                <a:solidFill>
                  <a:srgbClr val="080808"/>
                </a:solidFill>
                <a:latin typeface="Consolas" panose="020B0609020204030204" pitchFamily="49" charset="0"/>
                <a:ea typeface="JetBrains Mono"/>
              </a:rPr>
              <a:t>, </a:t>
            </a:r>
            <a:r>
              <a:rPr lang="zh-CN" altLang="zh-CN" sz="1200" dirty="0">
                <a:solidFill>
                  <a:srgbClr val="1750EB"/>
                </a:solidFill>
                <a:latin typeface="Consolas" panose="020B0609020204030204" pitchFamily="49" charset="0"/>
                <a:ea typeface="JetBrains Mono"/>
              </a:rPr>
              <a:t>26</a:t>
            </a:r>
            <a:r>
              <a:rPr lang="zh-CN" altLang="zh-CN" sz="1200" dirty="0">
                <a:solidFill>
                  <a:srgbClr val="080808"/>
                </a:solidFill>
                <a:latin typeface="Consolas" panose="020B0609020204030204" pitchFamily="49" charset="0"/>
                <a:ea typeface="JetBrains Mono"/>
              </a:rPr>
              <a:t>));</a:t>
            </a:r>
            <a:endParaRPr lang="zh-CN" altLang="zh-CN" sz="2000" dirty="0">
              <a:latin typeface="Consolas" panose="020B0609020204030204" pitchFamily="49" charset="0"/>
            </a:endParaRPr>
          </a:p>
        </p:txBody>
      </p:sp>
      <p:sp>
        <p:nvSpPr>
          <p:cNvPr id="4" name="标题 3">
            <a:extLst>
              <a:ext uri="{FF2B5EF4-FFF2-40B4-BE49-F238E27FC236}">
                <a16:creationId xmlns:a16="http://schemas.microsoft.com/office/drawing/2014/main" id="{62BF6CFB-B77C-1F80-1E3B-A45486C0640C}"/>
              </a:ext>
            </a:extLst>
          </p:cNvPr>
          <p:cNvSpPr>
            <a:spLocks noGrp="1"/>
          </p:cNvSpPr>
          <p:nvPr>
            <p:ph type="title"/>
          </p:nvPr>
        </p:nvSpPr>
        <p:spPr/>
        <p:txBody>
          <a:bodyPr/>
          <a:lstStyle/>
          <a:p>
            <a:r>
              <a:rPr lang="en-US" altLang="zh-CN"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排序 </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自然排序</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dirty="0"/>
          </a:p>
        </p:txBody>
      </p:sp>
      <p:sp>
        <p:nvSpPr>
          <p:cNvPr id="3" name="矩形 2">
            <a:extLst>
              <a:ext uri="{FF2B5EF4-FFF2-40B4-BE49-F238E27FC236}">
                <a16:creationId xmlns:a16="http://schemas.microsoft.com/office/drawing/2014/main" id="{01071627-3B4A-6D38-712F-C69C82639550}"/>
              </a:ext>
            </a:extLst>
          </p:cNvPr>
          <p:cNvSpPr/>
          <p:nvPr/>
        </p:nvSpPr>
        <p:spPr>
          <a:xfrm>
            <a:off x="882203" y="3709115"/>
            <a:ext cx="3342067" cy="907961"/>
          </a:xfrm>
          <a:prstGeom prst="rect">
            <a:avLst/>
          </a:prstGeom>
          <a:solidFill>
            <a:schemeClr val="accent6">
              <a:alpha val="40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562F3AC3-1105-CB54-5FEC-39E696624D3D}"/>
              </a:ext>
            </a:extLst>
          </p:cNvPr>
          <p:cNvSpPr/>
          <p:nvPr/>
        </p:nvSpPr>
        <p:spPr>
          <a:xfrm>
            <a:off x="7546988" y="1020043"/>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李四，</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24</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2" name="矩形: 圆角 11">
            <a:extLst>
              <a:ext uri="{FF2B5EF4-FFF2-40B4-BE49-F238E27FC236}">
                <a16:creationId xmlns:a16="http://schemas.microsoft.com/office/drawing/2014/main" id="{02AEBBF9-BAFF-6C44-71F9-302410F02FBA}"/>
              </a:ext>
            </a:extLst>
          </p:cNvPr>
          <p:cNvSpPr/>
          <p:nvPr/>
        </p:nvSpPr>
        <p:spPr>
          <a:xfrm>
            <a:off x="5750291" y="1992834"/>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张三，</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23</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5" name="直接箭头连接符 14">
            <a:extLst>
              <a:ext uri="{FF2B5EF4-FFF2-40B4-BE49-F238E27FC236}">
                <a16:creationId xmlns:a16="http://schemas.microsoft.com/office/drawing/2014/main" id="{2C84123B-2F67-D1E3-60E0-88129CBE3E80}"/>
              </a:ext>
            </a:extLst>
          </p:cNvPr>
          <p:cNvCxnSpPr>
            <a:stCxn id="11" idx="2"/>
            <a:endCxn id="12" idx="0"/>
          </p:cNvCxnSpPr>
          <p:nvPr/>
        </p:nvCxnSpPr>
        <p:spPr>
          <a:xfrm flipH="1">
            <a:off x="6552048" y="1592892"/>
            <a:ext cx="1796697" cy="399942"/>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EDB6E8FF-3476-D082-0B5F-D052CACB4431}"/>
              </a:ext>
            </a:extLst>
          </p:cNvPr>
          <p:cNvSpPr txBox="1"/>
          <p:nvPr/>
        </p:nvSpPr>
        <p:spPr>
          <a:xfrm>
            <a:off x="3786240" y="2605123"/>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23</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sp>
        <p:nvSpPr>
          <p:cNvPr id="18" name="矩形: 圆角 17">
            <a:extLst>
              <a:ext uri="{FF2B5EF4-FFF2-40B4-BE49-F238E27FC236}">
                <a16:creationId xmlns:a16="http://schemas.microsoft.com/office/drawing/2014/main" id="{677555FF-9F9A-79D0-2203-C4C775735ED9}"/>
              </a:ext>
            </a:extLst>
          </p:cNvPr>
          <p:cNvSpPr/>
          <p:nvPr/>
        </p:nvSpPr>
        <p:spPr>
          <a:xfrm>
            <a:off x="9038630" y="1990984"/>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王五，</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25</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文本框 18">
            <a:extLst>
              <a:ext uri="{FF2B5EF4-FFF2-40B4-BE49-F238E27FC236}">
                <a16:creationId xmlns:a16="http://schemas.microsoft.com/office/drawing/2014/main" id="{9EC88A54-CD56-7D66-08DC-8B3AE4EDF6D2}"/>
              </a:ext>
            </a:extLst>
          </p:cNvPr>
          <p:cNvSpPr txBox="1"/>
          <p:nvPr/>
        </p:nvSpPr>
        <p:spPr>
          <a:xfrm>
            <a:off x="3786240" y="2605123"/>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25</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cxnSp>
        <p:nvCxnSpPr>
          <p:cNvPr id="6" name="直接箭头连接符 5">
            <a:extLst>
              <a:ext uri="{FF2B5EF4-FFF2-40B4-BE49-F238E27FC236}">
                <a16:creationId xmlns:a16="http://schemas.microsoft.com/office/drawing/2014/main" id="{204150D3-C2C7-85D7-CFE4-A88D3EBC32B2}"/>
              </a:ext>
            </a:extLst>
          </p:cNvPr>
          <p:cNvCxnSpPr>
            <a:cxnSpLocks/>
            <a:stCxn id="11" idx="2"/>
            <a:endCxn id="18" idx="0"/>
          </p:cNvCxnSpPr>
          <p:nvPr/>
        </p:nvCxnSpPr>
        <p:spPr>
          <a:xfrm>
            <a:off x="8348745" y="1592892"/>
            <a:ext cx="1491642" cy="398092"/>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圆角 9">
            <a:extLst>
              <a:ext uri="{FF2B5EF4-FFF2-40B4-BE49-F238E27FC236}">
                <a16:creationId xmlns:a16="http://schemas.microsoft.com/office/drawing/2014/main" id="{2EA50A29-DCC0-81A5-5290-E191B970B835}"/>
              </a:ext>
            </a:extLst>
          </p:cNvPr>
          <p:cNvSpPr/>
          <p:nvPr/>
        </p:nvSpPr>
        <p:spPr>
          <a:xfrm>
            <a:off x="10412609" y="3172350"/>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赵六，</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26</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文本框 13">
            <a:extLst>
              <a:ext uri="{FF2B5EF4-FFF2-40B4-BE49-F238E27FC236}">
                <a16:creationId xmlns:a16="http://schemas.microsoft.com/office/drawing/2014/main" id="{808DA106-2527-218A-0BC5-07FFA15CAC2A}"/>
              </a:ext>
            </a:extLst>
          </p:cNvPr>
          <p:cNvSpPr txBox="1"/>
          <p:nvPr/>
        </p:nvSpPr>
        <p:spPr>
          <a:xfrm>
            <a:off x="3786240" y="2605123"/>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26</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25</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cxnSp>
        <p:nvCxnSpPr>
          <p:cNvPr id="7" name="直接箭头连接符 6">
            <a:extLst>
              <a:ext uri="{FF2B5EF4-FFF2-40B4-BE49-F238E27FC236}">
                <a16:creationId xmlns:a16="http://schemas.microsoft.com/office/drawing/2014/main" id="{213F91D9-461E-98C0-10E5-C7C1E5FADFF2}"/>
              </a:ext>
            </a:extLst>
          </p:cNvPr>
          <p:cNvCxnSpPr>
            <a:cxnSpLocks/>
            <a:endCxn id="10" idx="0"/>
          </p:cNvCxnSpPr>
          <p:nvPr/>
        </p:nvCxnSpPr>
        <p:spPr>
          <a:xfrm>
            <a:off x="10296491" y="2563833"/>
            <a:ext cx="917875" cy="608517"/>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矩形: 圆角 8">
            <a:extLst>
              <a:ext uri="{FF2B5EF4-FFF2-40B4-BE49-F238E27FC236}">
                <a16:creationId xmlns:a16="http://schemas.microsoft.com/office/drawing/2014/main" id="{CDE791E1-C1E5-547C-CF09-54F49900121D}"/>
              </a:ext>
            </a:extLst>
          </p:cNvPr>
          <p:cNvSpPr/>
          <p:nvPr/>
        </p:nvSpPr>
        <p:spPr>
          <a:xfrm>
            <a:off x="4775708" y="914830"/>
            <a:ext cx="1603513" cy="572849"/>
          </a:xfrm>
          <a:prstGeom prst="roundRect">
            <a:avLst/>
          </a:prstGeom>
          <a:noFill/>
          <a:ln w="25400">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李四，</a:t>
            </a: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24</a:t>
            </a:r>
            <a:endPar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7" name="文本框 16">
            <a:extLst>
              <a:ext uri="{FF2B5EF4-FFF2-40B4-BE49-F238E27FC236}">
                <a16:creationId xmlns:a16="http://schemas.microsoft.com/office/drawing/2014/main" id="{AB43AC89-7FDB-F2E6-8526-6FBE39895CD5}"/>
              </a:ext>
            </a:extLst>
          </p:cNvPr>
          <p:cNvSpPr txBox="1"/>
          <p:nvPr/>
        </p:nvSpPr>
        <p:spPr>
          <a:xfrm>
            <a:off x="3786240" y="2602686"/>
            <a:ext cx="1476686" cy="523220"/>
          </a:xfrm>
          <a:prstGeom prst="rect">
            <a:avLst/>
          </a:prstGeom>
          <a:solidFill>
            <a:srgbClr val="FFFFE4"/>
          </a:solidFill>
          <a:ln>
            <a:solidFill>
              <a:schemeClr val="tx1">
                <a:lumMod val="95000"/>
                <a:lumOff val="5000"/>
              </a:schemeClr>
            </a:solidFill>
          </a:ln>
        </p:spPr>
        <p:txBody>
          <a:bodyPr wrap="none" rtlCol="0">
            <a:spAutoFit/>
          </a:bodyPr>
          <a:lstStyle/>
          <a:p>
            <a:pPr algn="l"/>
            <a:r>
              <a:rPr kumimoji="0" lang="zh-CN" altLang="zh-CN" sz="1400" b="0" i="0" u="none" strike="noStrike" cap="none" normalizeH="0" baseline="0" dirty="0">
                <a:ln>
                  <a:noFill/>
                </a:ln>
                <a:solidFill>
                  <a:srgbClr val="0033B3"/>
                </a:solidFill>
                <a:effectLst/>
                <a:latin typeface="Consolas" panose="020B0609020204030204" pitchFamily="49" charset="0"/>
                <a:ea typeface="JetBrains Mono"/>
              </a:rPr>
              <a:t>this</a:t>
            </a:r>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400" b="0" i="0" u="none" strike="noStrike" cap="none" normalizeH="0" baseline="0" dirty="0">
                <a:ln>
                  <a:noFill/>
                </a:ln>
                <a:solidFill>
                  <a:srgbClr val="871094"/>
                </a:solidFill>
                <a:effectLst/>
                <a:latin typeface="Consolas" panose="020B0609020204030204" pitchFamily="49" charset="0"/>
                <a:ea typeface="JetBrains Mono"/>
              </a:rPr>
              <a:t>age</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p>
          <a:p>
            <a:pPr algn="l"/>
            <a:r>
              <a:rPr kumimoji="0" lang="zh-CN" altLang="zh-CN" sz="1400" b="0" i="0" u="none" strike="noStrike" cap="none" normalizeH="0" baseline="0" dirty="0">
                <a:ln>
                  <a:noFill/>
                </a:ln>
                <a:solidFill>
                  <a:srgbClr val="080808"/>
                </a:solidFill>
                <a:effectLst/>
                <a:latin typeface="Consolas" panose="020B0609020204030204" pitchFamily="49" charset="0"/>
                <a:ea typeface="JetBrains Mono"/>
              </a:rPr>
              <a:t>o.</a:t>
            </a:r>
            <a:r>
              <a:rPr kumimoji="0" lang="en-US" altLang="zh-CN" sz="1400" b="0" i="0" u="none" strike="noStrike" cap="none" normalizeH="0" baseline="0" dirty="0">
                <a:ln>
                  <a:noFill/>
                </a:ln>
                <a:solidFill>
                  <a:srgbClr val="871094"/>
                </a:solidFill>
                <a:effectLst/>
                <a:latin typeface="Consolas" panose="020B0609020204030204" pitchFamily="49" charset="0"/>
                <a:ea typeface="JetBrains Mono"/>
              </a:rPr>
              <a:t>age </a:t>
            </a:r>
            <a:r>
              <a:rPr kumimoji="0" lang="en-US" altLang="zh-CN" sz="1400" b="0" i="0" u="none" strike="noStrike" cap="none" normalizeH="0" baseline="0" dirty="0">
                <a:ln>
                  <a:noFill/>
                </a:ln>
                <a:solidFill>
                  <a:schemeClr val="tx1">
                    <a:lumMod val="50000"/>
                  </a:schemeClr>
                </a:solidFill>
                <a:effectLst/>
                <a:latin typeface="Consolas" panose="020B0609020204030204" pitchFamily="49" charset="0"/>
                <a:ea typeface="JetBrains Mono"/>
              </a:rPr>
              <a:t>: 24</a:t>
            </a:r>
            <a:endParaRPr kumimoji="0" lang="zh-CN" altLang="en-US" sz="1400" b="0" i="0" u="none" strike="noStrike" cap="none" normalizeH="0" baseline="0" dirty="0">
              <a:ln>
                <a:noFill/>
              </a:ln>
              <a:solidFill>
                <a:schemeClr val="tx1">
                  <a:lumMod val="50000"/>
                </a:schemeClr>
              </a:solidFill>
              <a:effectLst/>
              <a:latin typeface="Consolas" panose="020B0609020204030204" pitchFamily="49" charset="0"/>
              <a:ea typeface="JetBrains Mono"/>
            </a:endParaRPr>
          </a:p>
        </p:txBody>
      </p:sp>
      <p:sp>
        <p:nvSpPr>
          <p:cNvPr id="20" name="文本框 19">
            <a:extLst>
              <a:ext uri="{FF2B5EF4-FFF2-40B4-BE49-F238E27FC236}">
                <a16:creationId xmlns:a16="http://schemas.microsoft.com/office/drawing/2014/main" id="{99E1E0E0-5697-5258-2407-14AA2C7A715D}"/>
              </a:ext>
            </a:extLst>
          </p:cNvPr>
          <p:cNvSpPr txBox="1"/>
          <p:nvPr/>
        </p:nvSpPr>
        <p:spPr>
          <a:xfrm>
            <a:off x="6081783" y="4175340"/>
            <a:ext cx="2996333" cy="523220"/>
          </a:xfrm>
          <a:prstGeom prst="rect">
            <a:avLst/>
          </a:prstGeom>
          <a:noFill/>
          <a:ln>
            <a:noFill/>
          </a:ln>
        </p:spPr>
        <p:txBody>
          <a:bodyPr wrap="none" rtlCol="0">
            <a:spAutoFit/>
          </a:bodyPr>
          <a:lstStyle/>
          <a:p>
            <a:pPr algn="l"/>
            <a:r>
              <a:rPr lang="zh-CN" altLang="en-US" sz="2800" dirty="0">
                <a:solidFill>
                  <a:schemeClr val="tx1">
                    <a:lumMod val="50000"/>
                  </a:schemeClr>
                </a:solidFill>
                <a:latin typeface="杨任东竹石体-Bold" panose="02000000000000000000" pitchFamily="2" charset="-122"/>
                <a:ea typeface="杨任东竹石体-Bold" panose="02000000000000000000" pitchFamily="2" charset="-122"/>
              </a:rPr>
              <a:t>取出顺序 </a:t>
            </a:r>
            <a:r>
              <a:rPr lang="en-US" altLang="zh-CN" sz="2800" dirty="0">
                <a:solidFill>
                  <a:schemeClr val="tx1">
                    <a:lumMod val="50000"/>
                  </a:schemeClr>
                </a:solidFill>
                <a:latin typeface="杨任东竹石体-Bold" panose="02000000000000000000" pitchFamily="2" charset="-122"/>
                <a:ea typeface="杨任东竹石体-Bold" panose="02000000000000000000" pitchFamily="2" charset="-122"/>
              </a:rPr>
              <a:t>: </a:t>
            </a:r>
            <a:r>
              <a:rPr lang="zh-CN" altLang="en-US" sz="2800" dirty="0">
                <a:solidFill>
                  <a:schemeClr val="tx1">
                    <a:lumMod val="50000"/>
                  </a:schemeClr>
                </a:solidFill>
                <a:latin typeface="杨任东竹石体-Bold" panose="02000000000000000000" pitchFamily="2" charset="-122"/>
                <a:ea typeface="杨任东竹石体-Bold" panose="02000000000000000000" pitchFamily="2" charset="-122"/>
              </a:rPr>
              <a:t>左中右</a:t>
            </a:r>
            <a:endParaRPr kumimoji="0" lang="zh-CN" altLang="en-US" sz="2800" b="0" i="0" u="none" strike="noStrike" cap="none" normalizeH="0" baseline="0" dirty="0">
              <a:ln>
                <a:noFill/>
              </a:ln>
              <a:solidFill>
                <a:schemeClr val="tx1">
                  <a:lumMod val="50000"/>
                </a:schemeClr>
              </a:solidFill>
              <a:effectLst/>
              <a:latin typeface="杨任东竹石体-Bold" panose="02000000000000000000" pitchFamily="2" charset="-122"/>
              <a:ea typeface="杨任东竹石体-Bold" panose="02000000000000000000" pitchFamily="2" charset="-122"/>
            </a:endParaRPr>
          </a:p>
        </p:txBody>
      </p:sp>
      <p:sp>
        <p:nvSpPr>
          <p:cNvPr id="21" name="文本框 20">
            <a:extLst>
              <a:ext uri="{FF2B5EF4-FFF2-40B4-BE49-F238E27FC236}">
                <a16:creationId xmlns:a16="http://schemas.microsoft.com/office/drawing/2014/main" id="{C044B1FA-7194-75F2-E410-900F14C3C942}"/>
              </a:ext>
            </a:extLst>
          </p:cNvPr>
          <p:cNvSpPr txBox="1"/>
          <p:nvPr/>
        </p:nvSpPr>
        <p:spPr>
          <a:xfrm>
            <a:off x="6147214" y="5470813"/>
            <a:ext cx="986167" cy="369332"/>
          </a:xfrm>
          <a:prstGeom prst="rect">
            <a:avLst/>
          </a:prstGeom>
          <a:noFill/>
          <a:ln>
            <a:noFill/>
          </a:ln>
        </p:spPr>
        <p:txBody>
          <a:bodyPr wrap="none" rtlCol="0">
            <a:spAutoFit/>
          </a:bodyPr>
          <a:lstStyle/>
          <a:p>
            <a:pPr algn="l"/>
            <a:r>
              <a:rPr kumimoji="0" lang="zh-CN" altLang="en-US" b="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rPr>
              <a:t>张三</a:t>
            </a:r>
            <a:r>
              <a:rPr kumimoji="0" lang="en-US" altLang="zh-CN" b="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rPr>
              <a:t>, 23</a:t>
            </a:r>
            <a:endParaRPr kumimoji="0" lang="zh-CN" altLang="en-US" b="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endParaRPr>
          </a:p>
        </p:txBody>
      </p:sp>
      <p:sp>
        <p:nvSpPr>
          <p:cNvPr id="22" name="文本框 21">
            <a:extLst>
              <a:ext uri="{FF2B5EF4-FFF2-40B4-BE49-F238E27FC236}">
                <a16:creationId xmlns:a16="http://schemas.microsoft.com/office/drawing/2014/main" id="{B1305D5E-8551-F7FC-47A6-294B74516FF9}"/>
              </a:ext>
            </a:extLst>
          </p:cNvPr>
          <p:cNvSpPr txBox="1"/>
          <p:nvPr/>
        </p:nvSpPr>
        <p:spPr>
          <a:xfrm>
            <a:off x="7238094" y="5475472"/>
            <a:ext cx="986167" cy="369332"/>
          </a:xfrm>
          <a:prstGeom prst="rect">
            <a:avLst/>
          </a:prstGeom>
          <a:noFill/>
          <a:ln>
            <a:noFill/>
          </a:ln>
        </p:spPr>
        <p:txBody>
          <a:bodyPr wrap="none" rtlCol="0">
            <a:spAutoFit/>
          </a:bodyPr>
          <a:lstStyle/>
          <a:p>
            <a:pPr algn="l"/>
            <a:r>
              <a:rPr kumimoji="0" lang="zh-CN" altLang="en-US" b="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rPr>
              <a:t>李四</a:t>
            </a:r>
            <a:r>
              <a:rPr kumimoji="0" lang="en-US" altLang="zh-CN" b="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rPr>
              <a:t>, 24</a:t>
            </a:r>
            <a:endParaRPr kumimoji="0" lang="zh-CN" altLang="en-US" b="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endParaRPr>
          </a:p>
        </p:txBody>
      </p:sp>
      <p:sp>
        <p:nvSpPr>
          <p:cNvPr id="23" name="文本框 22">
            <a:extLst>
              <a:ext uri="{FF2B5EF4-FFF2-40B4-BE49-F238E27FC236}">
                <a16:creationId xmlns:a16="http://schemas.microsoft.com/office/drawing/2014/main" id="{DF0E6F92-C235-1319-FDAA-FF1D4DE036D9}"/>
              </a:ext>
            </a:extLst>
          </p:cNvPr>
          <p:cNvSpPr txBox="1"/>
          <p:nvPr/>
        </p:nvSpPr>
        <p:spPr>
          <a:xfrm>
            <a:off x="8328974" y="5480132"/>
            <a:ext cx="986167" cy="369332"/>
          </a:xfrm>
          <a:prstGeom prst="rect">
            <a:avLst/>
          </a:prstGeom>
          <a:noFill/>
          <a:ln>
            <a:noFill/>
          </a:ln>
        </p:spPr>
        <p:txBody>
          <a:bodyPr wrap="none" rtlCol="0">
            <a:spAutoFit/>
          </a:bodyPr>
          <a:lstStyle/>
          <a:p>
            <a:pPr algn="l"/>
            <a:r>
              <a:rPr kumimoji="0" lang="zh-CN" altLang="en-US" b="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rPr>
              <a:t>王五</a:t>
            </a:r>
            <a:r>
              <a:rPr kumimoji="0" lang="en-US" altLang="zh-CN" b="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rPr>
              <a:t>, 25</a:t>
            </a:r>
            <a:endParaRPr kumimoji="0" lang="zh-CN" altLang="en-US" b="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endParaRPr>
          </a:p>
        </p:txBody>
      </p:sp>
      <p:sp>
        <p:nvSpPr>
          <p:cNvPr id="24" name="文本框 23">
            <a:extLst>
              <a:ext uri="{FF2B5EF4-FFF2-40B4-BE49-F238E27FC236}">
                <a16:creationId xmlns:a16="http://schemas.microsoft.com/office/drawing/2014/main" id="{C9AFD8DA-6F4A-7978-9F53-D8D4036C7C16}"/>
              </a:ext>
            </a:extLst>
          </p:cNvPr>
          <p:cNvSpPr txBox="1"/>
          <p:nvPr/>
        </p:nvSpPr>
        <p:spPr>
          <a:xfrm>
            <a:off x="9419855" y="5466154"/>
            <a:ext cx="986167" cy="369332"/>
          </a:xfrm>
          <a:prstGeom prst="rect">
            <a:avLst/>
          </a:prstGeom>
          <a:noFill/>
          <a:ln>
            <a:noFill/>
          </a:ln>
        </p:spPr>
        <p:txBody>
          <a:bodyPr wrap="none" rtlCol="0">
            <a:spAutoFit/>
          </a:bodyPr>
          <a:lstStyle/>
          <a:p>
            <a:pPr algn="l"/>
            <a:r>
              <a:rPr kumimoji="0" lang="zh-CN" altLang="en-US" b="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rPr>
              <a:t>赵六</a:t>
            </a:r>
            <a:r>
              <a:rPr kumimoji="0" lang="en-US" altLang="zh-CN" b="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rPr>
              <a:t>, 26</a:t>
            </a:r>
            <a:endParaRPr kumimoji="0" lang="zh-CN" altLang="en-US" b="0"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endParaRPr>
          </a:p>
        </p:txBody>
      </p:sp>
    </p:spTree>
    <p:extLst>
      <p:ext uri="{BB962C8B-B14F-4D97-AF65-F5344CB8AC3E}">
        <p14:creationId xmlns:p14="http://schemas.microsoft.com/office/powerpoint/2010/main" val="59490290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7" presetClass="emph" presetSubtype="0" repeatCount="3000" fill="remove" grpId="0" nodeType="clickEffect">
                                  <p:stCondLst>
                                    <p:cond delay="0"/>
                                  </p:stCondLst>
                                  <p:childTnLst>
                                    <p:animClr clrSpc="rgb" dir="cw">
                                      <p:cBhvr override="childStyle">
                                        <p:cTn id="18" dur="250" autoRev="1" fill="remove"/>
                                        <p:tgtEl>
                                          <p:spTgt spid="3"/>
                                        </p:tgtEl>
                                        <p:attrNameLst>
                                          <p:attrName>style.color</p:attrName>
                                        </p:attrNameLst>
                                      </p:cBhvr>
                                      <p:to>
                                        <a:schemeClr val="bg1"/>
                                      </p:to>
                                    </p:animClr>
                                    <p:animClr clrSpc="rgb" dir="cw">
                                      <p:cBhvr>
                                        <p:cTn id="19" dur="250" autoRev="1" fill="remove"/>
                                        <p:tgtEl>
                                          <p:spTgt spid="3"/>
                                        </p:tgtEl>
                                        <p:attrNameLst>
                                          <p:attrName>fillcolor</p:attrName>
                                        </p:attrNameLst>
                                      </p:cBhvr>
                                      <p:to>
                                        <a:schemeClr val="bg1"/>
                                      </p:to>
                                    </p:animClr>
                                    <p:set>
                                      <p:cBhvr>
                                        <p:cTn id="20" dur="250" autoRev="1" fill="remove"/>
                                        <p:tgtEl>
                                          <p:spTgt spid="3"/>
                                        </p:tgtEl>
                                        <p:attrNameLst>
                                          <p:attrName>fill.type</p:attrName>
                                        </p:attrNameLst>
                                      </p:cBhvr>
                                      <p:to>
                                        <p:strVal val="solid"/>
                                      </p:to>
                                    </p:set>
                                    <p:set>
                                      <p:cBhvr>
                                        <p:cTn id="21" dur="250" autoRev="1" fill="remove"/>
                                        <p:tgtEl>
                                          <p:spTgt spid="3"/>
                                        </p:tgtEl>
                                        <p:attrNameLst>
                                          <p:attrName>fill.on</p:attrName>
                                        </p:attrNameLst>
                                      </p:cBhvr>
                                      <p:to>
                                        <p:strVal val="tru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xit" presetSubtype="0" fill="hold" grpId="1" nodeType="clickEffect">
                                  <p:stCondLst>
                                    <p:cond delay="0"/>
                                  </p:stCondLst>
                                  <p:childTnLst>
                                    <p:animEffect transition="out" filter="dissolve">
                                      <p:cBhvr>
                                        <p:cTn id="30" dur="500"/>
                                        <p:tgtEl>
                                          <p:spTgt spid="9"/>
                                        </p:tgtEl>
                                      </p:cBhvr>
                                    </p:animEffect>
                                    <p:set>
                                      <p:cBhvr>
                                        <p:cTn id="31" dur="1" fill="hold">
                                          <p:stCondLst>
                                            <p:cond delay="499"/>
                                          </p:stCondLst>
                                        </p:cTn>
                                        <p:tgtEl>
                                          <p:spTgt spid="9"/>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randombar(horizontal)">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9" grpId="1" animBg="1"/>
      <p:bldP spid="17" grpId="0" animBg="1"/>
      <p:bldP spid="20" grpId="0"/>
      <p:bldP spid="21" grpId="0"/>
      <p:bldP spid="22" grpId="0"/>
      <p:bldP spid="23" grpId="0"/>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EB26B-1834-DB5F-61B9-BD1F7074A1E7}"/>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3F87132D-305D-8255-BC12-CDD957C9C040}"/>
              </a:ext>
            </a:extLst>
          </p:cNvPr>
          <p:cNvSpPr>
            <a:spLocks noGrp="1"/>
          </p:cNvSpPr>
          <p:nvPr>
            <p:ph type="body" sz="quarter" idx="10"/>
          </p:nvPr>
        </p:nvSpPr>
        <p:spPr/>
        <p:txBody>
          <a:bodyPr/>
          <a:lstStyle/>
          <a:p>
            <a:r>
              <a:rPr lang="en-US" altLang="zh-CN"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集合自然排序</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buAutoNum type="arabicPeriod"/>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让类实现 </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Comparable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接口</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buAutoNum type="arabicPeriod"/>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重写 </a:t>
            </a:r>
            <a:r>
              <a:rPr lang="en-US" altLang="zh-CN" sz="160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compareTo</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buAutoNum type="arabicPeriod"/>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根据方法的返回值来指定排序规则</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this.xxx</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 </a:t>
            </a:r>
            <a:r>
              <a:rPr lang="en-US" altLang="zh-CN"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o.xxx</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正序</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o.xxx</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 </a:t>
            </a:r>
            <a:r>
              <a:rPr lang="en-US" altLang="zh-CN"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this.xxx</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降序</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4.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取出元素的过程（左，中，右）</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40701226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id="{4011B726-5A29-9A15-1059-8FE2CA86E6F6}"/>
              </a:ext>
            </a:extLst>
          </p:cNvPr>
          <p:cNvSpPr txBox="1"/>
          <p:nvPr/>
        </p:nvSpPr>
        <p:spPr>
          <a:xfrm>
            <a:off x="576626" y="1101593"/>
            <a:ext cx="10088155" cy="3342838"/>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200000"/>
              </a:lnSpc>
              <a:buAutoNum type="arabicPeriod"/>
              <a:defRPr/>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在 </a:t>
            </a:r>
            <a:r>
              <a:rPr lang="en-US" altLang="zh-CN"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的构造方法中</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传入 </a:t>
            </a:r>
            <a:r>
              <a:rPr lang="en-US" altLang="zh-CN"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Compartor</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接口的实现类对象</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200000"/>
              </a:lnSpc>
              <a:buAutoNum type="arabicPeriod"/>
              <a:defRPr/>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重写 </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compare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lnSpc>
                <a:spcPct val="200000"/>
              </a:lnSpc>
              <a:buAutoNum type="arabicPeriod"/>
              <a:defRPr/>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根据方法的返回值</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来组织排序规则</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200000"/>
              </a:lnSpc>
              <a:defRPr/>
            </a:pP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负数 </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左边走</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200000"/>
              </a:lnSpc>
              <a:defRPr/>
            </a:pP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正数 </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右边走</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a:lnSpc>
                <a:spcPct val="200000"/>
              </a:lnSpc>
              <a:defRPr/>
            </a:pP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0  :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不存</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p:txBody>
      </p:sp>
      <p:sp>
        <p:nvSpPr>
          <p:cNvPr id="2" name="标题 1">
            <a:extLst>
              <a:ext uri="{FF2B5EF4-FFF2-40B4-BE49-F238E27FC236}">
                <a16:creationId xmlns:a16="http://schemas.microsoft.com/office/drawing/2014/main" id="{84BC12D6-3198-B760-F5A8-952218B6D25E}"/>
              </a:ext>
            </a:extLst>
          </p:cNvPr>
          <p:cNvSpPr>
            <a:spLocks noGrp="1"/>
          </p:cNvSpPr>
          <p:nvPr>
            <p:ph type="title"/>
          </p:nvPr>
        </p:nvSpPr>
        <p:spPr/>
        <p:txBody>
          <a:bodyPr/>
          <a:lstStyle/>
          <a:p>
            <a:r>
              <a:rPr lang="en-US" altLang="zh-CN"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排序 </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比较器排序</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dirty="0"/>
          </a:p>
        </p:txBody>
      </p:sp>
    </p:spTree>
    <p:extLst>
      <p:ext uri="{BB962C8B-B14F-4D97-AF65-F5344CB8AC3E}">
        <p14:creationId xmlns:p14="http://schemas.microsoft.com/office/powerpoint/2010/main" val="20210142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0">
            <a:extLst>
              <a:ext uri="{FF2B5EF4-FFF2-40B4-BE49-F238E27FC236}">
                <a16:creationId xmlns:a16="http://schemas.microsoft.com/office/drawing/2014/main" id="{50B4453D-271E-76D4-FD1B-62A3C99A48F1}"/>
              </a:ext>
            </a:extLst>
          </p:cNvPr>
          <p:cNvSpPr txBox="1"/>
          <p:nvPr/>
        </p:nvSpPr>
        <p:spPr>
          <a:xfrm>
            <a:off x="877752" y="1842128"/>
            <a:ext cx="10088155" cy="1126847"/>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200000"/>
              </a:lnSpc>
              <a:buFont typeface="Wingdings" panose="05000000000000000000" pitchFamily="2" charset="2"/>
              <a:buChar char="l"/>
              <a:defRPr/>
            </a:pP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自然排序 </a:t>
            </a:r>
            <a:endPar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indent="-285750">
              <a:lnSpc>
                <a:spcPct val="200000"/>
              </a:lnSpc>
              <a:buFont typeface="Wingdings" panose="05000000000000000000" pitchFamily="2" charset="2"/>
              <a:buChar char="l"/>
              <a:defRPr/>
            </a:pP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比较器排序</a:t>
            </a:r>
            <a:endPar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矩形 3">
            <a:extLst>
              <a:ext uri="{FF2B5EF4-FFF2-40B4-BE49-F238E27FC236}">
                <a16:creationId xmlns:a16="http://schemas.microsoft.com/office/drawing/2014/main" id="{5D4DA95B-5E89-56D5-4945-8B3D695269A5}"/>
              </a:ext>
            </a:extLst>
          </p:cNvPr>
          <p:cNvSpPr/>
          <p:nvPr/>
        </p:nvSpPr>
        <p:spPr>
          <a:xfrm>
            <a:off x="877752" y="3544257"/>
            <a:ext cx="9852377" cy="2554545"/>
          </a:xfrm>
          <a:prstGeom prst="rect">
            <a:avLst/>
          </a:prstGeom>
          <a:noFill/>
        </p:spPr>
        <p:txBody>
          <a:bodyPr wrap="none" lIns="91440" tIns="45720" rIns="91440" bIns="45720">
            <a:spAutoFit/>
          </a:bodyPr>
          <a:lstStyle/>
          <a:p>
            <a:pPr>
              <a:defRPr/>
            </a:pP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Java</a:t>
            </a: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已经写好类</a:t>
            </a: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 </a:t>
            </a: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大多数都具有自然排序的规则</a:t>
            </a: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 </a:t>
            </a: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这些规则放在源代码中</a:t>
            </a: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 </a:t>
            </a: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我们无法修改</a:t>
            </a:r>
          </a:p>
          <a:p>
            <a:pPr>
              <a:defRPr/>
            </a:pP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	</a:t>
            </a: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(String, Integer, Double...)</a:t>
            </a:r>
          </a:p>
          <a:p>
            <a:pPr>
              <a:defRPr/>
            </a:pP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	String : </a:t>
            </a: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默认是字典顺序排序</a:t>
            </a:r>
          </a:p>
          <a:p>
            <a:pPr>
              <a:defRPr/>
            </a:pP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	</a:t>
            </a: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Integer : </a:t>
            </a: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默认是升序排序</a:t>
            </a:r>
          </a:p>
          <a:p>
            <a:pPr>
              <a:defRPr/>
            </a:pP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	</a:t>
            </a: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Double : </a:t>
            </a: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默认是升序排序</a:t>
            </a:r>
          </a:p>
          <a:p>
            <a:pPr>
              <a:defRPr/>
            </a:pPr>
            <a:endPar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endParaRPr>
          </a:p>
          <a:p>
            <a:pPr>
              <a:defRPr/>
            </a:pP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	如果我们要实现的需求</a:t>
            </a: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 </a:t>
            </a: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排序规则</a:t>
            </a: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 </a:t>
            </a: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跟已经具备的自然排序</a:t>
            </a: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 </a:t>
            </a: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不一样</a:t>
            </a: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a:t>
            </a:r>
          </a:p>
          <a:p>
            <a:pPr>
              <a:defRPr/>
            </a:pP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	</a:t>
            </a:r>
            <a:r>
              <a:rPr lang="zh-CN" altLang="en-US"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这时候就要使用比较器排序</a:t>
            </a:r>
            <a:r>
              <a:rPr lang="en-US" altLang="zh-CN" sz="2000" dirty="0">
                <a:ln w="0"/>
                <a:solidFill>
                  <a:schemeClr val="tx1">
                    <a:lumMod val="50000"/>
                  </a:schemeClr>
                </a:solidFill>
                <a:effectLst>
                  <a:outerShdw blurRad="38100" dist="19050" dir="2700000" algn="tl" rotWithShape="0">
                    <a:schemeClr val="dk1">
                      <a:alpha val="40000"/>
                    </a:schemeClr>
                  </a:outerShdw>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a:t>
            </a:r>
          </a:p>
        </p:txBody>
      </p:sp>
      <p:sp>
        <p:nvSpPr>
          <p:cNvPr id="5" name="矩形: 圆角 4">
            <a:extLst>
              <a:ext uri="{FF2B5EF4-FFF2-40B4-BE49-F238E27FC236}">
                <a16:creationId xmlns:a16="http://schemas.microsoft.com/office/drawing/2014/main" id="{FC0CF1B6-81D8-3B99-8A2D-6C1D6222387B}"/>
              </a:ext>
            </a:extLst>
          </p:cNvPr>
          <p:cNvSpPr/>
          <p:nvPr/>
        </p:nvSpPr>
        <p:spPr>
          <a:xfrm>
            <a:off x="4030980" y="2019300"/>
            <a:ext cx="5715000" cy="949675"/>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a:t>重点</a:t>
            </a:r>
            <a:r>
              <a:rPr lang="en-US" altLang="zh-CN" dirty="0"/>
              <a:t>: </a:t>
            </a:r>
            <a:r>
              <a:rPr lang="zh-CN" altLang="en-US" dirty="0"/>
              <a:t>如果同具备自然排序</a:t>
            </a:r>
            <a:r>
              <a:rPr lang="en-US" altLang="zh-CN" dirty="0"/>
              <a:t>, </a:t>
            </a:r>
            <a:r>
              <a:rPr lang="zh-CN" altLang="en-US" dirty="0"/>
              <a:t>和比较器排序</a:t>
            </a:r>
            <a:r>
              <a:rPr lang="en-US" altLang="zh-CN" dirty="0"/>
              <a:t>, </a:t>
            </a:r>
            <a:r>
              <a:rPr lang="zh-CN" altLang="en-US" dirty="0"/>
              <a:t>会优先按照比较器进行排序操作</a:t>
            </a:r>
          </a:p>
        </p:txBody>
      </p:sp>
      <p:sp>
        <p:nvSpPr>
          <p:cNvPr id="2" name="标题 1">
            <a:extLst>
              <a:ext uri="{FF2B5EF4-FFF2-40B4-BE49-F238E27FC236}">
                <a16:creationId xmlns:a16="http://schemas.microsoft.com/office/drawing/2014/main" id="{FC67C346-4327-42A4-E08A-587D5E14BE4D}"/>
              </a:ext>
            </a:extLst>
          </p:cNvPr>
          <p:cNvSpPr>
            <a:spLocks noGrp="1"/>
          </p:cNvSpPr>
          <p:nvPr>
            <p:ph type="title"/>
          </p:nvPr>
        </p:nvSpPr>
        <p:spPr/>
        <p:txBody>
          <a:bodyPr/>
          <a:lstStyle/>
          <a:p>
            <a:r>
              <a:rPr lang="en-US" altLang="zh-CN"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排序 </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比较器排序</a:t>
            </a:r>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zh-CN" altLang="en-US" dirty="0"/>
          </a:p>
        </p:txBody>
      </p:sp>
    </p:spTree>
    <p:extLst>
      <p:ext uri="{BB962C8B-B14F-4D97-AF65-F5344CB8AC3E}">
        <p14:creationId xmlns:p14="http://schemas.microsoft.com/office/powerpoint/2010/main" val="2298059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randombar(horizont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DE073-F835-46E6-1D7C-D9BF551CC833}"/>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86B0C1F2-2193-8532-C14D-9CC86815AD37}"/>
              </a:ext>
            </a:extLst>
          </p:cNvPr>
          <p:cNvSpPr>
            <a:spLocks noGrp="1"/>
          </p:cNvSpPr>
          <p:nvPr>
            <p:ph type="body" sz="quarter" idx="10"/>
          </p:nvPr>
        </p:nvSpPr>
        <p:spPr/>
        <p:txBody>
          <a:bodyPr/>
          <a:lstStyle/>
          <a:p>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可通过比较器排序来覆盖自然排序的规则</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操作流程：</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342900" indent="-342900">
              <a:buAutoNum type="arabicPeriod"/>
            </a:pP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在 </a:t>
            </a:r>
            <a:r>
              <a:rPr lang="en-US" altLang="zh-CN"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TreeSet</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集合的构造方法中，传入比较器对象</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Comparator</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接口的实现类对象）</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2.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重写 </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compare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方法</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3.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根据方法的返回值组织排序规则</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参数</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1.xxx –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参数</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2.xxx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正序</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参数</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2.xxx –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参数</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1.xxx </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倒序</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4151359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07312EB-2BAA-2B9C-5408-C89C51A296C3}"/>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FC996429-13C6-1384-F578-0EFB3F19355B}"/>
              </a:ext>
            </a:extLst>
          </p:cNvPr>
          <p:cNvSpPr>
            <a:spLocks noGrp="1"/>
          </p:cNvSpPr>
          <p:nvPr>
            <p:ph type="body" sz="quarter" idx="10"/>
          </p:nvPr>
        </p:nvSpPr>
        <p:spPr>
          <a:xfrm>
            <a:off x="5982521" y="2505975"/>
            <a:ext cx="4410730" cy="1956553"/>
          </a:xfrm>
        </p:spPr>
        <p:txBody>
          <a:bodyPr/>
          <a:lstStyle/>
          <a:p>
            <a:r>
              <a:rPr kumimoji="1" lang="en-US" altLang="zh-CN" dirty="0">
                <a:latin typeface="Consolas" panose="020B0609020204030204" pitchFamily="49" charset="0"/>
              </a:rPr>
              <a:t>Set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TreeSet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HashSet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LinkedHashSet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Collections </a:t>
            </a:r>
            <a:r>
              <a:rPr kumimoji="1" lang="zh-CN" altLang="en-US" dirty="0">
                <a:latin typeface="Consolas" panose="020B0609020204030204" pitchFamily="49" charset="0"/>
              </a:rPr>
              <a:t>工具类</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集合三种遍历方式</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集合的实现类</a:t>
            </a:r>
            <a:endParaRPr kumimoji="1" lang="en-US" altLang="zh-CN" dirty="0">
              <a:latin typeface="Consolas" panose="020B0609020204030204" pitchFamily="49" charset="0"/>
            </a:endParaRPr>
          </a:p>
        </p:txBody>
      </p:sp>
    </p:spTree>
    <p:extLst>
      <p:ext uri="{BB962C8B-B14F-4D97-AF65-F5344CB8AC3E}">
        <p14:creationId xmlns:p14="http://schemas.microsoft.com/office/powerpoint/2010/main" val="202164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85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stCondLst>
                                            <p:cond delay="0"/>
                                          </p:stCondLst>
                                        </p:cTn>
                                        <p:tgtEl>
                                          <p:spTgt spid="2"/>
                                        </p:tgtEl>
                                      </p:cBhvr>
                                    </p:animEffect>
                                    <p:anim to="0" calcmode="lin" valueType="num">
                                      <p:cBhvr>
                                        <p:cTn id="8" dur="500" fill="hold">
                                          <p:stCondLst>
                                            <p:cond delay="0"/>
                                          </p:stCondLst>
                                        </p:cTn>
                                        <p:tgtEl>
                                          <p:spTgt spid="2"/>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B0FBF-AD81-AFE6-B2A9-E0C4C11BF1D6}"/>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E297A430-A980-88AB-CE2C-F80689627F3E}"/>
              </a:ext>
            </a:extLst>
          </p:cNvPr>
          <p:cNvSpPr>
            <a:spLocks noGrp="1"/>
          </p:cNvSpPr>
          <p:nvPr>
            <p:ph type="body" sz="quarter" idx="13"/>
          </p:nvPr>
        </p:nvSpPr>
        <p:spPr>
          <a:xfrm>
            <a:off x="5834080" y="2465278"/>
            <a:ext cx="4831831" cy="901700"/>
          </a:xfrm>
        </p:spPr>
        <p:txBody>
          <a:bodyPr/>
          <a:lstStyle/>
          <a:p>
            <a:r>
              <a:rPr lang="en-US" altLang="zh-CN" dirty="0"/>
              <a:t>HashSet </a:t>
            </a:r>
            <a:r>
              <a:rPr lang="zh-CN" altLang="en-US" dirty="0"/>
              <a:t>集合</a:t>
            </a:r>
          </a:p>
        </p:txBody>
      </p:sp>
      <p:sp>
        <p:nvSpPr>
          <p:cNvPr id="10" name="文本占位符 9">
            <a:extLst>
              <a:ext uri="{FF2B5EF4-FFF2-40B4-BE49-F238E27FC236}">
                <a16:creationId xmlns:a16="http://schemas.microsoft.com/office/drawing/2014/main" id="{823C8B5E-8B9F-65D1-A782-C9B3160C54B5}"/>
              </a:ext>
            </a:extLst>
          </p:cNvPr>
          <p:cNvSpPr>
            <a:spLocks noGrp="1"/>
          </p:cNvSpPr>
          <p:nvPr>
            <p:ph type="body" sz="quarter" idx="14"/>
          </p:nvPr>
        </p:nvSpPr>
        <p:spPr/>
        <p:txBody>
          <a:bodyPr/>
          <a:lstStyle/>
          <a:p>
            <a:r>
              <a:rPr lang="en-US" altLang="zh-CN" dirty="0"/>
              <a:t>3</a:t>
            </a:r>
            <a:endParaRPr lang="zh-CN" altLang="en-US" dirty="0"/>
          </a:p>
        </p:txBody>
      </p:sp>
    </p:spTree>
    <p:extLst>
      <p:ext uri="{BB962C8B-B14F-4D97-AF65-F5344CB8AC3E}">
        <p14:creationId xmlns:p14="http://schemas.microsoft.com/office/powerpoint/2010/main" val="36928001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E90CFB-5013-47B8-BF42-0596C1816431}"/>
              </a:ext>
            </a:extLst>
          </p:cNvPr>
          <p:cNvSpPr txBox="1"/>
          <p:nvPr/>
        </p:nvSpPr>
        <p:spPr>
          <a:xfrm>
            <a:off x="877752" y="1094478"/>
            <a:ext cx="4686300" cy="572849"/>
          </a:xfrm>
          <a:prstGeom prst="rect">
            <a:avLst/>
          </a:prstGeom>
          <a:noFill/>
        </p:spPr>
        <p:txBody>
          <a:bodyPr>
            <a:spAutoFit/>
          </a:bodyPr>
          <a:lstStyle/>
          <a:p>
            <a:pPr eaLnBrk="0" hangingPunct="0">
              <a:lnSpc>
                <a:spcPct val="200000"/>
              </a:lnSpc>
              <a:defRPr/>
            </a:pPr>
            <a:endPar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 name="TextBox 10">
            <a:extLst>
              <a:ext uri="{FF2B5EF4-FFF2-40B4-BE49-F238E27FC236}">
                <a16:creationId xmlns:a16="http://schemas.microsoft.com/office/drawing/2014/main" id="{F4B2CD95-D23E-9EA2-D1A1-89E535010BA7}"/>
              </a:ext>
            </a:extLst>
          </p:cNvPr>
          <p:cNvSpPr txBox="1"/>
          <p:nvPr/>
        </p:nvSpPr>
        <p:spPr>
          <a:xfrm>
            <a:off x="576626" y="1208578"/>
            <a:ext cx="10088155" cy="884473"/>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l"/>
            </a:pPr>
            <a:r>
              <a:rPr lang="en-US" altLang="zh-CN" dirty="0">
                <a:latin typeface="Consolas" panose="020B0609020204030204" pitchFamily="49" charset="0"/>
                <a:ea typeface="阿里巴巴普惠体" panose="00020600040101010101" pitchFamily="18" charset="-122"/>
                <a:cs typeface="阿里巴巴普惠体" panose="00020600040101010101" pitchFamily="18" charset="-122"/>
              </a:rPr>
              <a:t>HashSet </a:t>
            </a:r>
            <a:r>
              <a:rPr lang="zh-CN" altLang="en-US" dirty="0">
                <a:latin typeface="Consolas" panose="020B0609020204030204" pitchFamily="49" charset="0"/>
                <a:ea typeface="阿里巴巴普惠体" panose="00020600040101010101" pitchFamily="18" charset="-122"/>
                <a:cs typeface="阿里巴巴普惠体" panose="00020600040101010101" pitchFamily="18" charset="-122"/>
              </a:rPr>
              <a:t>集合底层采取</a:t>
            </a:r>
            <a:r>
              <a:rPr lang="zh-CN" altLang="en-US"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哈希表</a:t>
            </a:r>
            <a:r>
              <a:rPr lang="zh-CN" altLang="en-US" dirty="0">
                <a:latin typeface="Consolas" panose="020B0609020204030204" pitchFamily="49" charset="0"/>
                <a:ea typeface="阿里巴巴普惠体" panose="00020600040101010101" pitchFamily="18" charset="-122"/>
                <a:cs typeface="阿里巴巴普惠体" panose="00020600040101010101" pitchFamily="18" charset="-122"/>
              </a:rPr>
              <a:t>存储数据，确保元素的唯一性</a:t>
            </a:r>
          </a:p>
          <a:p>
            <a:pPr marL="285750" indent="-285750">
              <a:lnSpc>
                <a:spcPct val="150000"/>
              </a:lnSpc>
              <a:buFont typeface="Wingdings" panose="05000000000000000000" pitchFamily="2" charset="2"/>
              <a:buChar char="l"/>
            </a:pPr>
            <a:r>
              <a:rPr lang="zh-CN" altLang="en-US" dirty="0">
                <a:latin typeface="Consolas" panose="020B0609020204030204" pitchFamily="49" charset="0"/>
                <a:ea typeface="阿里巴巴普惠体" panose="00020600040101010101" pitchFamily="18" charset="-122"/>
                <a:cs typeface="阿里巴巴普惠体" panose="00020600040101010101" pitchFamily="18" charset="-122"/>
              </a:rPr>
              <a:t>哈希表是一种对于增删改查数据性能都较好的结构</a:t>
            </a:r>
          </a:p>
        </p:txBody>
      </p:sp>
      <p:sp>
        <p:nvSpPr>
          <p:cNvPr id="5" name="标题 4">
            <a:extLst>
              <a:ext uri="{FF2B5EF4-FFF2-40B4-BE49-F238E27FC236}">
                <a16:creationId xmlns:a16="http://schemas.microsoft.com/office/drawing/2014/main" id="{E8A04F25-0A97-D4E5-CD37-C863F637C882}"/>
              </a:ext>
            </a:extLst>
          </p:cNvPr>
          <p:cNvSpPr>
            <a:spLocks noGrp="1"/>
          </p:cNvSpPr>
          <p:nvPr>
            <p:ph type="title"/>
          </p:nvPr>
        </p:nvSpPr>
        <p:spPr/>
        <p:txBody>
          <a:bodyPr/>
          <a:lstStyle/>
          <a:p>
            <a:r>
              <a:rPr lang="en-US" altLang="zh-CN"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HashSet </a:t>
            </a: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介绍</a:t>
            </a:r>
            <a:b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br>
            <a:endParaRPr lang="zh-CN" altLang="en-US" dirty="0"/>
          </a:p>
        </p:txBody>
      </p:sp>
    </p:spTree>
    <p:extLst>
      <p:ext uri="{BB962C8B-B14F-4D97-AF65-F5344CB8AC3E}">
        <p14:creationId xmlns:p14="http://schemas.microsoft.com/office/powerpoint/2010/main" val="2280593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B26AE30-F61C-E575-4733-3CE6581F50A6}"/>
              </a:ext>
            </a:extLst>
          </p:cNvPr>
          <p:cNvSpPr>
            <a:spLocks noGrp="1"/>
          </p:cNvSpPr>
          <p:nvPr>
            <p:ph type="body" sz="quarter" idx="10"/>
          </p:nvPr>
        </p:nvSpPr>
        <p:spPr>
          <a:prstGeom prst="rect">
            <a:avLst/>
          </a:prstGeom>
        </p:spPr>
        <p:txBody>
          <a:bodyPr/>
          <a:lstStyle/>
          <a:p>
            <a:pPr marL="0" indent="0">
              <a:buNone/>
            </a:pPr>
            <a:r>
              <a:rPr lang="en-US" altLang="zh-CN" dirty="0"/>
              <a:t>HashSet</a:t>
            </a:r>
            <a:r>
              <a:rPr lang="zh-CN" altLang="en-US" dirty="0"/>
              <a:t>想要保证元素唯一</a:t>
            </a:r>
            <a:endParaRPr lang="en-US" altLang="zh-CN" dirty="0"/>
          </a:p>
          <a:p>
            <a:pPr marL="0" indent="0">
              <a:buNone/>
            </a:pPr>
            <a:r>
              <a:rPr lang="zh-CN" altLang="en-US" dirty="0"/>
              <a:t>需要同时重写对象中的 </a:t>
            </a:r>
            <a:r>
              <a:rPr lang="en-US" altLang="zh-CN" dirty="0" err="1"/>
              <a:t>hashCode</a:t>
            </a:r>
            <a:r>
              <a:rPr lang="en-US" altLang="zh-CN" dirty="0"/>
              <a:t> </a:t>
            </a:r>
            <a:r>
              <a:rPr lang="zh-CN" altLang="en-US" dirty="0"/>
              <a:t>方法和 </a:t>
            </a:r>
            <a:r>
              <a:rPr lang="en-US" altLang="zh-CN" dirty="0"/>
              <a:t>equals </a:t>
            </a:r>
            <a:r>
              <a:rPr lang="zh-CN" altLang="en-US" dirty="0"/>
              <a:t>方法</a:t>
            </a:r>
          </a:p>
        </p:txBody>
      </p:sp>
    </p:spTree>
    <p:extLst>
      <p:ext uri="{BB962C8B-B14F-4D97-AF65-F5344CB8AC3E}">
        <p14:creationId xmlns:p14="http://schemas.microsoft.com/office/powerpoint/2010/main" val="2967604326"/>
      </p:ext>
    </p:extLst>
  </p:cSld>
  <p:clrMapOvr>
    <a:masterClrMapping/>
  </p:clrMapOvr>
  <p:transition spd="slow">
    <p:comb/>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50FAA13-A6F1-06E2-58D2-CE222146859D}"/>
              </a:ext>
            </a:extLst>
          </p:cNvPr>
          <p:cNvSpPr txBox="1"/>
          <p:nvPr/>
        </p:nvSpPr>
        <p:spPr>
          <a:xfrm>
            <a:off x="221877" y="1680882"/>
            <a:ext cx="4027394" cy="2400657"/>
          </a:xfrm>
          <a:prstGeom prst="rect">
            <a:avLst/>
          </a:prstGeom>
          <a:solidFill>
            <a:srgbClr val="FFFFE4"/>
          </a:solidFill>
          <a:ln>
            <a:solidFill>
              <a:schemeClr val="tx1"/>
            </a:solidFill>
          </a:ln>
        </p:spPr>
        <p:txBody>
          <a:bodyPr wrap="square" rtlCol="0">
            <a:spAutoFit/>
          </a:bodyPr>
          <a:lstStyle/>
          <a:p>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name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int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age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boolean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Object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o)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方法被调用执行</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en-US" altLang="zh-CN" sz="1000" b="0" i="0" u="none" strike="noStrike" cap="none" normalizeH="0" baseline="0" dirty="0">
                <a:ln>
                  <a:noFill/>
                </a:ln>
                <a:solidFill>
                  <a:srgbClr val="0033B3"/>
                </a:solidFill>
                <a:effectLst/>
                <a:latin typeface="Consolas" panose="020B0609020204030204" pitchFamily="49" charset="0"/>
                <a:ea typeface="JetBrains Mono"/>
              </a:rPr>
              <a:t>...</a:t>
            </a:r>
          </a:p>
          <a:p>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int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hashCode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return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1</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endParaRPr kumimoji="0" lang="zh-CN" altLang="zh-CN" sz="1000" b="0" i="0" u="none" strike="noStrike" cap="none" normalizeH="0" baseline="0" dirty="0">
              <a:ln>
                <a:noFill/>
              </a:ln>
              <a:solidFill>
                <a:schemeClr val="tx1"/>
              </a:solidFill>
              <a:effectLst/>
              <a:latin typeface="Consolas" panose="020B0609020204030204" pitchFamily="49" charset="0"/>
            </a:endParaRPr>
          </a:p>
          <a:p>
            <a:pPr algn="l"/>
            <a:endParaRPr kumimoji="0" lang="zh-CN" altLang="en-US" sz="1000" b="0" i="0" u="none" strike="noStrike" cap="none" normalizeH="0" baseline="0" dirty="0">
              <a:ln>
                <a:noFill/>
              </a:ln>
              <a:solidFill>
                <a:srgbClr val="0033B3"/>
              </a:solidFill>
              <a:effectLst/>
              <a:latin typeface="Consolas" panose="020B0609020204030204" pitchFamily="49" charset="0"/>
              <a:ea typeface="JetBrains Mono"/>
            </a:endParaRPr>
          </a:p>
        </p:txBody>
      </p:sp>
      <p:sp>
        <p:nvSpPr>
          <p:cNvPr id="5" name="文本框 4">
            <a:extLst>
              <a:ext uri="{FF2B5EF4-FFF2-40B4-BE49-F238E27FC236}">
                <a16:creationId xmlns:a16="http://schemas.microsoft.com/office/drawing/2014/main" id="{FF15FEF4-7790-2797-BB10-C16145A1BDD7}"/>
              </a:ext>
            </a:extLst>
          </p:cNvPr>
          <p:cNvSpPr txBox="1"/>
          <p:nvPr/>
        </p:nvSpPr>
        <p:spPr>
          <a:xfrm>
            <a:off x="221877" y="4227234"/>
            <a:ext cx="4027394" cy="1938992"/>
          </a:xfrm>
          <a:prstGeom prst="rect">
            <a:avLst/>
          </a:prstGeom>
          <a:solidFill>
            <a:srgbClr val="FFFFE4"/>
          </a:solid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HashSetDemo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static void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main</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args)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&gt;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HashSet&lt;&gt;();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张三</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23</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李四</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24</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endParaRPr kumimoji="0" lang="zh-CN" altLang="zh-CN" sz="1400" b="0" i="0" u="none" strike="noStrike" cap="none" normalizeH="0" baseline="0" dirty="0">
              <a:ln>
                <a:noFill/>
              </a:ln>
              <a:solidFill>
                <a:schemeClr val="tx1"/>
              </a:solidFill>
              <a:effectLst/>
              <a:latin typeface="Consolas" panose="020B0609020204030204" pitchFamily="49" charset="0"/>
            </a:endParaRPr>
          </a:p>
        </p:txBody>
      </p:sp>
      <p:sp>
        <p:nvSpPr>
          <p:cNvPr id="7" name="文本框 6">
            <a:extLst>
              <a:ext uri="{FF2B5EF4-FFF2-40B4-BE49-F238E27FC236}">
                <a16:creationId xmlns:a16="http://schemas.microsoft.com/office/drawing/2014/main" id="{CFE86F14-71AA-9633-E943-509D74BE1C3A}"/>
              </a:ext>
            </a:extLst>
          </p:cNvPr>
          <p:cNvSpPr txBox="1"/>
          <p:nvPr/>
        </p:nvSpPr>
        <p:spPr>
          <a:xfrm>
            <a:off x="8982636" y="5196730"/>
            <a:ext cx="3127779" cy="1169551"/>
          </a:xfrm>
          <a:prstGeom prst="rect">
            <a:avLst/>
          </a:prstGeom>
          <a:noFill/>
        </p:spPr>
        <p:txBody>
          <a:bodyPr wrap="none" rtlCol="0">
            <a:spAutoFit/>
          </a:bodyPr>
          <a:lstStyle/>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HashSet</a:t>
            </a:r>
            <a:r>
              <a:rPr lang="zh-CN" altLang="en-US" sz="1400" dirty="0">
                <a:solidFill>
                  <a:srgbClr val="0033B3"/>
                </a:solidFill>
                <a:latin typeface="杨任东竹石体-Bold" panose="02000000000000000000" pitchFamily="2" charset="-122"/>
                <a:ea typeface="杨任东竹石体-Bold" panose="02000000000000000000" pitchFamily="2" charset="-122"/>
              </a:rPr>
              <a:t>底层的数据结构是哈希表结构 </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endParaRPr kumimoji="0" lang="en-US" altLang="zh-CN"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a:p>
            <a:pPr algn="l"/>
            <a:r>
              <a:rPr lang="zh-CN" altLang="en-US" sz="1400" dirty="0">
                <a:solidFill>
                  <a:srgbClr val="0033B3"/>
                </a:solidFill>
                <a:latin typeface="杨任东竹石体-Bold" panose="02000000000000000000" pitchFamily="2" charset="-122"/>
                <a:ea typeface="杨任东竹石体-Bold" panose="02000000000000000000" pitchFamily="2" charset="-122"/>
              </a:rPr>
              <a:t>哈希表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版本之前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版本之后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红黑树</a:t>
            </a:r>
            <a:endParaRPr kumimoji="0" lang="zh-CN" altLang="en-US"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p:txBody>
      </p:sp>
      <p:sp>
        <p:nvSpPr>
          <p:cNvPr id="9" name="矩形: 圆角 8">
            <a:extLst>
              <a:ext uri="{FF2B5EF4-FFF2-40B4-BE49-F238E27FC236}">
                <a16:creationId xmlns:a16="http://schemas.microsoft.com/office/drawing/2014/main" id="{BDA45E1E-2A70-5024-5BDF-31D0E92D3DA7}"/>
              </a:ext>
            </a:extLst>
          </p:cNvPr>
          <p:cNvSpPr/>
          <p:nvPr/>
        </p:nvSpPr>
        <p:spPr>
          <a:xfrm>
            <a:off x="4558553" y="168088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5DA57C1D-DC40-2406-B045-2EE204F3EA11}"/>
              </a:ext>
            </a:extLst>
          </p:cNvPr>
          <p:cNvCxnSpPr>
            <a:cxnSpLocks/>
          </p:cNvCxnSpPr>
          <p:nvPr/>
        </p:nvCxnSpPr>
        <p:spPr>
          <a:xfrm>
            <a:off x="5587252"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22280C04-0594-DE48-B488-AD6907107085}"/>
              </a:ext>
            </a:extLst>
          </p:cNvPr>
          <p:cNvCxnSpPr>
            <a:cxnSpLocks/>
          </p:cNvCxnSpPr>
          <p:nvPr/>
        </p:nvCxnSpPr>
        <p:spPr>
          <a:xfrm>
            <a:off x="6631283"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89C1DAB1-E89C-51FE-BE54-C7899881D71B}"/>
              </a:ext>
            </a:extLst>
          </p:cNvPr>
          <p:cNvCxnSpPr>
            <a:cxnSpLocks/>
          </p:cNvCxnSpPr>
          <p:nvPr/>
        </p:nvCxnSpPr>
        <p:spPr>
          <a:xfrm>
            <a:off x="7675314"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FCBE0A88-129E-1586-FE05-3134924DA347}"/>
              </a:ext>
            </a:extLst>
          </p:cNvPr>
          <p:cNvCxnSpPr>
            <a:cxnSpLocks/>
          </p:cNvCxnSpPr>
          <p:nvPr/>
        </p:nvCxnSpPr>
        <p:spPr>
          <a:xfrm>
            <a:off x="8719345"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D3C8CDE3-F2E9-4A2B-D76E-D1F6EA81E8D6}"/>
              </a:ext>
            </a:extLst>
          </p:cNvPr>
          <p:cNvCxnSpPr>
            <a:cxnSpLocks/>
          </p:cNvCxnSpPr>
          <p:nvPr/>
        </p:nvCxnSpPr>
        <p:spPr>
          <a:xfrm>
            <a:off x="9763376"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EC4B0208-4739-FF4E-E10E-C7CEFEABF9A1}"/>
              </a:ext>
            </a:extLst>
          </p:cNvPr>
          <p:cNvCxnSpPr>
            <a:cxnSpLocks/>
          </p:cNvCxnSpPr>
          <p:nvPr/>
        </p:nvCxnSpPr>
        <p:spPr>
          <a:xfrm>
            <a:off x="10807409" y="168088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18" name="矩形: 圆角 17">
            <a:extLst>
              <a:ext uri="{FF2B5EF4-FFF2-40B4-BE49-F238E27FC236}">
                <a16:creationId xmlns:a16="http://schemas.microsoft.com/office/drawing/2014/main" id="{4236C6D8-805B-28E2-8061-96CE3931BEF7}"/>
              </a:ext>
            </a:extLst>
          </p:cNvPr>
          <p:cNvSpPr/>
          <p:nvPr/>
        </p:nvSpPr>
        <p:spPr>
          <a:xfrm>
            <a:off x="5901045" y="4503370"/>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张三，</a:t>
            </a:r>
            <a:r>
              <a:rPr lang="en-US" altLang="zh-CN" dirty="0">
                <a:latin typeface="杨任东竹石体-Bold" panose="02000000000000000000" pitchFamily="2" charset="-122"/>
                <a:ea typeface="杨任东竹石体-Bold" panose="02000000000000000000" pitchFamily="2" charset="-122"/>
              </a:rPr>
              <a:t>23</a:t>
            </a:r>
            <a:endParaRPr lang="zh-CN" altLang="en-US" dirty="0">
              <a:latin typeface="杨任东竹石体-Bold" panose="02000000000000000000" pitchFamily="2" charset="-122"/>
              <a:ea typeface="杨任东竹石体-Bold" panose="02000000000000000000" pitchFamily="2" charset="-122"/>
            </a:endParaRPr>
          </a:p>
        </p:txBody>
      </p:sp>
      <p:sp>
        <p:nvSpPr>
          <p:cNvPr id="19" name="文本框 18">
            <a:extLst>
              <a:ext uri="{FF2B5EF4-FFF2-40B4-BE49-F238E27FC236}">
                <a16:creationId xmlns:a16="http://schemas.microsoft.com/office/drawing/2014/main" id="{ABBBC050-E6CC-7D99-DC1A-164DB4BC6E52}"/>
              </a:ext>
            </a:extLst>
          </p:cNvPr>
          <p:cNvSpPr txBox="1"/>
          <p:nvPr/>
        </p:nvSpPr>
        <p:spPr>
          <a:xfrm>
            <a:off x="4871447" y="2692824"/>
            <a:ext cx="7320553" cy="276999"/>
          </a:xfrm>
          <a:prstGeom prst="rect">
            <a:avLst/>
          </a:prstGeom>
          <a:noFill/>
        </p:spPr>
        <p:txBody>
          <a:bodyPr wrap="square" rtlCol="0">
            <a:spAutoFit/>
          </a:bodyPr>
          <a:lstStyle/>
          <a:p>
            <a:pPr algn="l"/>
            <a:r>
              <a:rPr kumimoji="0" lang="en-US" altLang="zh-CN"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rPr>
              <a:t>0            1            2           3           4            5            6</a:t>
            </a:r>
            <a:endParaRPr kumimoji="0" lang="zh-CN" altLang="en-US"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endParaRPr>
          </a:p>
        </p:txBody>
      </p:sp>
      <p:sp>
        <p:nvSpPr>
          <p:cNvPr id="20" name="矩形 19">
            <a:extLst>
              <a:ext uri="{FF2B5EF4-FFF2-40B4-BE49-F238E27FC236}">
                <a16:creationId xmlns:a16="http://schemas.microsoft.com/office/drawing/2014/main" id="{F379E318-6AF2-C592-8CB5-267FE9E422FF}"/>
              </a:ext>
            </a:extLst>
          </p:cNvPr>
          <p:cNvSpPr/>
          <p:nvPr/>
        </p:nvSpPr>
        <p:spPr>
          <a:xfrm>
            <a:off x="221877" y="3186952"/>
            <a:ext cx="4027394" cy="732865"/>
          </a:xfrm>
          <a:prstGeom prst="rect">
            <a:avLst/>
          </a:prstGeom>
          <a:solidFill>
            <a:schemeClr val="accent2">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3" name="标题 2">
            <a:extLst>
              <a:ext uri="{FF2B5EF4-FFF2-40B4-BE49-F238E27FC236}">
                <a16:creationId xmlns:a16="http://schemas.microsoft.com/office/drawing/2014/main" id="{3A0A699C-1842-B4E9-5FAD-D7379A68CFDC}"/>
              </a:ext>
            </a:extLst>
          </p:cNvPr>
          <p:cNvSpPr>
            <a:spLocks noGrp="1"/>
          </p:cNvSpPr>
          <p:nvPr>
            <p:ph type="title"/>
          </p:nvPr>
        </p:nvSpPr>
        <p:spPr/>
        <p:txBody>
          <a:bodyPr/>
          <a:lstStyle/>
          <a:p>
            <a:r>
              <a:rPr lang="en-US" altLang="zh-CN"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hashCode</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方法和</a:t>
            </a:r>
            <a:r>
              <a:rPr lang="en-US" altLang="zh-CN"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equals</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方法的配合流程</a:t>
            </a:r>
          </a:p>
        </p:txBody>
      </p:sp>
    </p:spTree>
    <p:extLst>
      <p:ext uri="{BB962C8B-B14F-4D97-AF65-F5344CB8AC3E}">
        <p14:creationId xmlns:p14="http://schemas.microsoft.com/office/powerpoint/2010/main" val="2909316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circle(in)">
                                      <p:cBhvr>
                                        <p:cTn id="20" dur="1000"/>
                                        <p:tgtEl>
                                          <p:spTgt spid="9"/>
                                        </p:tgtEl>
                                      </p:cBhvr>
                                    </p:animEffect>
                                  </p:childTnLst>
                                </p:cTn>
                              </p:par>
                              <p:par>
                                <p:cTn id="21" presetID="6" presetClass="entr" presetSubtype="16"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1000"/>
                                        <p:tgtEl>
                                          <p:spTgt spid="11"/>
                                        </p:tgtEl>
                                      </p:cBhvr>
                                    </p:animEffect>
                                  </p:childTnLst>
                                </p:cTn>
                              </p:par>
                              <p:par>
                                <p:cTn id="24" presetID="6" presetClass="entr" presetSubtype="16"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circle(in)">
                                      <p:cBhvr>
                                        <p:cTn id="26" dur="1000"/>
                                        <p:tgtEl>
                                          <p:spTgt spid="13"/>
                                        </p:tgtEl>
                                      </p:cBhvr>
                                    </p:animEffect>
                                  </p:childTnLst>
                                </p:cTn>
                              </p:par>
                              <p:par>
                                <p:cTn id="27" presetID="6" presetClass="entr" presetSubtype="16"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circle(in)">
                                      <p:cBhvr>
                                        <p:cTn id="29" dur="1000"/>
                                        <p:tgtEl>
                                          <p:spTgt spid="14"/>
                                        </p:tgtEl>
                                      </p:cBhvr>
                                    </p:animEffect>
                                  </p:childTnLst>
                                </p:cTn>
                              </p:par>
                              <p:par>
                                <p:cTn id="30" presetID="6" presetClass="entr" presetSubtype="16"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circle(in)">
                                      <p:cBhvr>
                                        <p:cTn id="32" dur="1000"/>
                                        <p:tgtEl>
                                          <p:spTgt spid="15"/>
                                        </p:tgtEl>
                                      </p:cBhvr>
                                    </p:animEffect>
                                  </p:childTnLst>
                                </p:cTn>
                              </p:par>
                              <p:par>
                                <p:cTn id="33" presetID="6" presetClass="entr" presetSubtype="16"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circle(in)">
                                      <p:cBhvr>
                                        <p:cTn id="35" dur="1000"/>
                                        <p:tgtEl>
                                          <p:spTgt spid="16"/>
                                        </p:tgtEl>
                                      </p:cBhvr>
                                    </p:animEffect>
                                  </p:childTnLst>
                                </p:cTn>
                              </p:par>
                              <p:par>
                                <p:cTn id="36" presetID="6" presetClass="entr" presetSubtype="16"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circle(in)">
                                      <p:cBhvr>
                                        <p:cTn id="38" dur="1000"/>
                                        <p:tgtEl>
                                          <p:spTgt spid="17"/>
                                        </p:tgtEl>
                                      </p:cBhvr>
                                    </p:animEffect>
                                  </p:childTnLst>
                                </p:cTn>
                              </p:par>
                            </p:childTnLst>
                          </p:cTn>
                        </p:par>
                        <p:par>
                          <p:cTn id="39" fill="hold">
                            <p:stCondLst>
                              <p:cond delay="1000"/>
                            </p:stCondLst>
                            <p:childTnLst>
                              <p:par>
                                <p:cTn id="40" presetID="22" presetClass="entr" presetSubtype="4" fill="hold" grpId="0" nodeType="after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down)">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p:cTn id="47" dur="500" fill="hold"/>
                                        <p:tgtEl>
                                          <p:spTgt spid="18"/>
                                        </p:tgtEl>
                                        <p:attrNameLst>
                                          <p:attrName>ppt_w</p:attrName>
                                        </p:attrNameLst>
                                      </p:cBhvr>
                                      <p:tavLst>
                                        <p:tav tm="0">
                                          <p:val>
                                            <p:fltVal val="0"/>
                                          </p:val>
                                        </p:tav>
                                        <p:tav tm="100000">
                                          <p:val>
                                            <p:strVal val="#ppt_w"/>
                                          </p:val>
                                        </p:tav>
                                      </p:tavLst>
                                    </p:anim>
                                    <p:anim calcmode="lin" valueType="num">
                                      <p:cBhvr>
                                        <p:cTn id="48" dur="500" fill="hold"/>
                                        <p:tgtEl>
                                          <p:spTgt spid="18"/>
                                        </p:tgtEl>
                                        <p:attrNameLst>
                                          <p:attrName>ppt_h</p:attrName>
                                        </p:attrNameLst>
                                      </p:cBhvr>
                                      <p:tavLst>
                                        <p:tav tm="0">
                                          <p:val>
                                            <p:fltVal val="0"/>
                                          </p:val>
                                        </p:tav>
                                        <p:tav tm="100000">
                                          <p:val>
                                            <p:strVal val="#ppt_h"/>
                                          </p:val>
                                        </p:tav>
                                      </p:tavLst>
                                    </p:anim>
                                    <p:animEffect transition="in" filter="fade">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left)">
                                      <p:cBhvr>
                                        <p:cTn id="5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p:bldP spid="9" grpId="0" animBg="1"/>
      <p:bldP spid="18" grpId="0" animBg="1"/>
      <p:bldP spid="19" grpId="0"/>
      <p:bldP spid="2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50FAA13-A6F1-06E2-58D2-CE222146859D}"/>
              </a:ext>
            </a:extLst>
          </p:cNvPr>
          <p:cNvSpPr txBox="1"/>
          <p:nvPr/>
        </p:nvSpPr>
        <p:spPr>
          <a:xfrm>
            <a:off x="221877" y="1680882"/>
            <a:ext cx="4027394" cy="2400657"/>
          </a:xfrm>
          <a:prstGeom prst="rect">
            <a:avLst/>
          </a:prstGeom>
          <a:solidFill>
            <a:srgbClr val="FFFFE4"/>
          </a:solidFill>
          <a:ln>
            <a:solidFill>
              <a:schemeClr val="tx1"/>
            </a:solidFill>
          </a:ln>
        </p:spPr>
        <p:txBody>
          <a:bodyPr wrap="square" rtlCol="0">
            <a:spAutoFit/>
          </a:bodyPr>
          <a:lstStyle/>
          <a:p>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name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int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age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boolean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Object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o)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方法被调用执行</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en-US" altLang="zh-CN" sz="1000" b="0" i="0" u="none" strike="noStrike" cap="none" normalizeH="0" baseline="0" dirty="0">
                <a:ln>
                  <a:noFill/>
                </a:ln>
                <a:solidFill>
                  <a:srgbClr val="0033B3"/>
                </a:solidFill>
                <a:effectLst/>
                <a:latin typeface="Consolas" panose="020B0609020204030204" pitchFamily="49" charset="0"/>
                <a:ea typeface="JetBrains Mono"/>
              </a:rPr>
              <a:t>...</a:t>
            </a:r>
          </a:p>
          <a:p>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int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hashCode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return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1</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endParaRPr kumimoji="0" lang="zh-CN" altLang="zh-CN" sz="1000" b="0" i="0" u="none" strike="noStrike" cap="none" normalizeH="0" baseline="0" dirty="0">
              <a:ln>
                <a:noFill/>
              </a:ln>
              <a:solidFill>
                <a:schemeClr val="tx1"/>
              </a:solidFill>
              <a:effectLst/>
              <a:latin typeface="Consolas" panose="020B0609020204030204" pitchFamily="49" charset="0"/>
            </a:endParaRPr>
          </a:p>
          <a:p>
            <a:pPr algn="l"/>
            <a:endParaRPr kumimoji="0" lang="zh-CN" altLang="en-US" sz="1000" b="0" i="0" u="none" strike="noStrike" cap="none" normalizeH="0" baseline="0" dirty="0">
              <a:ln>
                <a:noFill/>
              </a:ln>
              <a:solidFill>
                <a:srgbClr val="0033B3"/>
              </a:solidFill>
              <a:effectLst/>
              <a:latin typeface="Consolas" panose="020B0609020204030204" pitchFamily="49" charset="0"/>
              <a:ea typeface="JetBrains Mono"/>
            </a:endParaRPr>
          </a:p>
        </p:txBody>
      </p:sp>
      <p:sp>
        <p:nvSpPr>
          <p:cNvPr id="5" name="文本框 4">
            <a:extLst>
              <a:ext uri="{FF2B5EF4-FFF2-40B4-BE49-F238E27FC236}">
                <a16:creationId xmlns:a16="http://schemas.microsoft.com/office/drawing/2014/main" id="{FF15FEF4-7790-2797-BB10-C16145A1BDD7}"/>
              </a:ext>
            </a:extLst>
          </p:cNvPr>
          <p:cNvSpPr txBox="1"/>
          <p:nvPr/>
        </p:nvSpPr>
        <p:spPr>
          <a:xfrm>
            <a:off x="221877" y="4227234"/>
            <a:ext cx="4027394" cy="1938992"/>
          </a:xfrm>
          <a:prstGeom prst="rect">
            <a:avLst/>
          </a:prstGeom>
          <a:solidFill>
            <a:srgbClr val="FFFFE4"/>
          </a:solid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HashSetDemo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static void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main</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args)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&gt;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HashSet&lt;&gt;();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张三</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23</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李四</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24</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endParaRPr kumimoji="0" lang="zh-CN" altLang="zh-CN" sz="1400" b="0" i="0" u="none" strike="noStrike" cap="none" normalizeH="0" baseline="0" dirty="0">
              <a:ln>
                <a:noFill/>
              </a:ln>
              <a:solidFill>
                <a:schemeClr val="tx1"/>
              </a:solidFill>
              <a:effectLst/>
              <a:latin typeface="Consolas" panose="020B0609020204030204" pitchFamily="49" charset="0"/>
            </a:endParaRPr>
          </a:p>
        </p:txBody>
      </p:sp>
      <p:sp>
        <p:nvSpPr>
          <p:cNvPr id="7" name="文本框 6">
            <a:extLst>
              <a:ext uri="{FF2B5EF4-FFF2-40B4-BE49-F238E27FC236}">
                <a16:creationId xmlns:a16="http://schemas.microsoft.com/office/drawing/2014/main" id="{CFE86F14-71AA-9633-E943-509D74BE1C3A}"/>
              </a:ext>
            </a:extLst>
          </p:cNvPr>
          <p:cNvSpPr txBox="1"/>
          <p:nvPr/>
        </p:nvSpPr>
        <p:spPr>
          <a:xfrm>
            <a:off x="8982636" y="5196730"/>
            <a:ext cx="3127779" cy="1169551"/>
          </a:xfrm>
          <a:prstGeom prst="rect">
            <a:avLst/>
          </a:prstGeom>
          <a:noFill/>
        </p:spPr>
        <p:txBody>
          <a:bodyPr wrap="none" rtlCol="0">
            <a:spAutoFit/>
          </a:bodyPr>
          <a:lstStyle/>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HashSet</a:t>
            </a:r>
            <a:r>
              <a:rPr lang="zh-CN" altLang="en-US" sz="1400" dirty="0">
                <a:solidFill>
                  <a:srgbClr val="0033B3"/>
                </a:solidFill>
                <a:latin typeface="杨任东竹石体-Bold" panose="02000000000000000000" pitchFamily="2" charset="-122"/>
                <a:ea typeface="杨任东竹石体-Bold" panose="02000000000000000000" pitchFamily="2" charset="-122"/>
              </a:rPr>
              <a:t>底层的数据结构是哈希表结构 </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endParaRPr kumimoji="0" lang="en-US" altLang="zh-CN"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a:p>
            <a:pPr algn="l"/>
            <a:r>
              <a:rPr lang="zh-CN" altLang="en-US" sz="1400" dirty="0">
                <a:solidFill>
                  <a:srgbClr val="0033B3"/>
                </a:solidFill>
                <a:latin typeface="杨任东竹石体-Bold" panose="02000000000000000000" pitchFamily="2" charset="-122"/>
                <a:ea typeface="杨任东竹石体-Bold" panose="02000000000000000000" pitchFamily="2" charset="-122"/>
              </a:rPr>
              <a:t>哈希表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版本之前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版本之后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红黑树</a:t>
            </a:r>
            <a:endParaRPr kumimoji="0" lang="zh-CN" altLang="en-US"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p:txBody>
      </p:sp>
      <p:sp>
        <p:nvSpPr>
          <p:cNvPr id="9" name="矩形: 圆角 8">
            <a:extLst>
              <a:ext uri="{FF2B5EF4-FFF2-40B4-BE49-F238E27FC236}">
                <a16:creationId xmlns:a16="http://schemas.microsoft.com/office/drawing/2014/main" id="{BDA45E1E-2A70-5024-5BDF-31D0E92D3DA7}"/>
              </a:ext>
            </a:extLst>
          </p:cNvPr>
          <p:cNvSpPr/>
          <p:nvPr/>
        </p:nvSpPr>
        <p:spPr>
          <a:xfrm>
            <a:off x="4558553" y="168088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5DA57C1D-DC40-2406-B045-2EE204F3EA11}"/>
              </a:ext>
            </a:extLst>
          </p:cNvPr>
          <p:cNvCxnSpPr>
            <a:cxnSpLocks/>
          </p:cNvCxnSpPr>
          <p:nvPr/>
        </p:nvCxnSpPr>
        <p:spPr>
          <a:xfrm>
            <a:off x="5587252"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22280C04-0594-DE48-B488-AD6907107085}"/>
              </a:ext>
            </a:extLst>
          </p:cNvPr>
          <p:cNvCxnSpPr>
            <a:cxnSpLocks/>
          </p:cNvCxnSpPr>
          <p:nvPr/>
        </p:nvCxnSpPr>
        <p:spPr>
          <a:xfrm>
            <a:off x="6631283"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89C1DAB1-E89C-51FE-BE54-C7899881D71B}"/>
              </a:ext>
            </a:extLst>
          </p:cNvPr>
          <p:cNvCxnSpPr>
            <a:cxnSpLocks/>
          </p:cNvCxnSpPr>
          <p:nvPr/>
        </p:nvCxnSpPr>
        <p:spPr>
          <a:xfrm>
            <a:off x="7675314"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FCBE0A88-129E-1586-FE05-3134924DA347}"/>
              </a:ext>
            </a:extLst>
          </p:cNvPr>
          <p:cNvCxnSpPr>
            <a:cxnSpLocks/>
          </p:cNvCxnSpPr>
          <p:nvPr/>
        </p:nvCxnSpPr>
        <p:spPr>
          <a:xfrm>
            <a:off x="8719345"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D3C8CDE3-F2E9-4A2B-D76E-D1F6EA81E8D6}"/>
              </a:ext>
            </a:extLst>
          </p:cNvPr>
          <p:cNvCxnSpPr>
            <a:cxnSpLocks/>
          </p:cNvCxnSpPr>
          <p:nvPr/>
        </p:nvCxnSpPr>
        <p:spPr>
          <a:xfrm>
            <a:off x="9763376"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EC4B0208-4739-FF4E-E10E-C7CEFEABF9A1}"/>
              </a:ext>
            </a:extLst>
          </p:cNvPr>
          <p:cNvCxnSpPr>
            <a:cxnSpLocks/>
          </p:cNvCxnSpPr>
          <p:nvPr/>
        </p:nvCxnSpPr>
        <p:spPr>
          <a:xfrm>
            <a:off x="10807409" y="168088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18" name="矩形: 圆角 17">
            <a:extLst>
              <a:ext uri="{FF2B5EF4-FFF2-40B4-BE49-F238E27FC236}">
                <a16:creationId xmlns:a16="http://schemas.microsoft.com/office/drawing/2014/main" id="{4236C6D8-805B-28E2-8061-96CE3931BEF7}"/>
              </a:ext>
            </a:extLst>
          </p:cNvPr>
          <p:cNvSpPr/>
          <p:nvPr/>
        </p:nvSpPr>
        <p:spPr>
          <a:xfrm>
            <a:off x="5265850" y="3303860"/>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张三，</a:t>
            </a:r>
            <a:r>
              <a:rPr lang="en-US" altLang="zh-CN" dirty="0">
                <a:latin typeface="杨任东竹石体-Bold" panose="02000000000000000000" pitchFamily="2" charset="-122"/>
                <a:ea typeface="杨任东竹石体-Bold" panose="02000000000000000000" pitchFamily="2" charset="-122"/>
              </a:rPr>
              <a:t>23</a:t>
            </a:r>
            <a:endParaRPr lang="zh-CN" altLang="en-US" dirty="0">
              <a:latin typeface="杨任东竹石体-Bold" panose="02000000000000000000" pitchFamily="2" charset="-122"/>
              <a:ea typeface="杨任东竹石体-Bold" panose="02000000000000000000" pitchFamily="2" charset="-122"/>
            </a:endParaRPr>
          </a:p>
        </p:txBody>
      </p:sp>
      <p:sp>
        <p:nvSpPr>
          <p:cNvPr id="19" name="文本框 18">
            <a:extLst>
              <a:ext uri="{FF2B5EF4-FFF2-40B4-BE49-F238E27FC236}">
                <a16:creationId xmlns:a16="http://schemas.microsoft.com/office/drawing/2014/main" id="{ABBBC050-E6CC-7D99-DC1A-164DB4BC6E52}"/>
              </a:ext>
            </a:extLst>
          </p:cNvPr>
          <p:cNvSpPr txBox="1"/>
          <p:nvPr/>
        </p:nvSpPr>
        <p:spPr>
          <a:xfrm>
            <a:off x="4871447" y="2692824"/>
            <a:ext cx="7320553" cy="276999"/>
          </a:xfrm>
          <a:prstGeom prst="rect">
            <a:avLst/>
          </a:prstGeom>
          <a:noFill/>
        </p:spPr>
        <p:txBody>
          <a:bodyPr wrap="square" rtlCol="0">
            <a:spAutoFit/>
          </a:bodyPr>
          <a:lstStyle/>
          <a:p>
            <a:pPr algn="l"/>
            <a:r>
              <a:rPr kumimoji="0" lang="en-US" altLang="zh-CN"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rPr>
              <a:t>0            1            2           3           4            5            6</a:t>
            </a:r>
            <a:endParaRPr kumimoji="0" lang="zh-CN" altLang="en-US"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endParaRPr>
          </a:p>
        </p:txBody>
      </p:sp>
      <p:sp>
        <p:nvSpPr>
          <p:cNvPr id="20" name="矩形 19">
            <a:extLst>
              <a:ext uri="{FF2B5EF4-FFF2-40B4-BE49-F238E27FC236}">
                <a16:creationId xmlns:a16="http://schemas.microsoft.com/office/drawing/2014/main" id="{F379E318-6AF2-C592-8CB5-267FE9E422FF}"/>
              </a:ext>
            </a:extLst>
          </p:cNvPr>
          <p:cNvSpPr/>
          <p:nvPr/>
        </p:nvSpPr>
        <p:spPr>
          <a:xfrm>
            <a:off x="221877" y="3186952"/>
            <a:ext cx="4027394" cy="732865"/>
          </a:xfrm>
          <a:prstGeom prst="rect">
            <a:avLst/>
          </a:prstGeom>
          <a:solidFill>
            <a:schemeClr val="accent2">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cxnSp>
        <p:nvCxnSpPr>
          <p:cNvPr id="4" name="直接箭头连接符 3">
            <a:extLst>
              <a:ext uri="{FF2B5EF4-FFF2-40B4-BE49-F238E27FC236}">
                <a16:creationId xmlns:a16="http://schemas.microsoft.com/office/drawing/2014/main" id="{E8B21907-126F-0EE1-8FDB-C322E497C11A}"/>
              </a:ext>
            </a:extLst>
          </p:cNvPr>
          <p:cNvCxnSpPr>
            <a:cxnSpLocks/>
          </p:cNvCxnSpPr>
          <p:nvPr/>
        </p:nvCxnSpPr>
        <p:spPr>
          <a:xfrm>
            <a:off x="5847229" y="2507876"/>
            <a:ext cx="0" cy="795984"/>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矩形: 圆角 5">
            <a:extLst>
              <a:ext uri="{FF2B5EF4-FFF2-40B4-BE49-F238E27FC236}">
                <a16:creationId xmlns:a16="http://schemas.microsoft.com/office/drawing/2014/main" id="{CF1033C0-990F-1828-8B5B-CEF2D4756CC3}"/>
              </a:ext>
            </a:extLst>
          </p:cNvPr>
          <p:cNvSpPr/>
          <p:nvPr/>
        </p:nvSpPr>
        <p:spPr>
          <a:xfrm>
            <a:off x="6015015" y="5063183"/>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李四，</a:t>
            </a:r>
            <a:r>
              <a:rPr lang="en-US" altLang="zh-CN" dirty="0">
                <a:latin typeface="杨任东竹石体-Bold" panose="02000000000000000000" pitchFamily="2" charset="-122"/>
                <a:ea typeface="杨任东竹石体-Bold" panose="02000000000000000000" pitchFamily="2" charset="-122"/>
              </a:rPr>
              <a:t>24</a:t>
            </a:r>
            <a:endParaRPr lang="zh-CN" altLang="en-US" dirty="0">
              <a:latin typeface="杨任东竹石体-Bold" panose="02000000000000000000" pitchFamily="2" charset="-122"/>
              <a:ea typeface="杨任东竹石体-Bold" panose="02000000000000000000" pitchFamily="2" charset="-122"/>
            </a:endParaRPr>
          </a:p>
        </p:txBody>
      </p:sp>
      <p:pic>
        <p:nvPicPr>
          <p:cNvPr id="22" name="图片 21">
            <a:extLst>
              <a:ext uri="{FF2B5EF4-FFF2-40B4-BE49-F238E27FC236}">
                <a16:creationId xmlns:a16="http://schemas.microsoft.com/office/drawing/2014/main" id="{8DEF9531-225A-46F3-5E49-D176C58BA8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7310364" y="3187480"/>
            <a:ext cx="1788117" cy="1788117"/>
          </a:xfrm>
          <a:prstGeom prst="ellipse">
            <a:avLst/>
          </a:prstGeom>
          <a:ln>
            <a:noFill/>
          </a:ln>
          <a:effectLst>
            <a:softEdge rad="112500"/>
          </a:effectLst>
        </p:spPr>
      </p:pic>
      <p:sp>
        <p:nvSpPr>
          <p:cNvPr id="23" name="矩形 22">
            <a:extLst>
              <a:ext uri="{FF2B5EF4-FFF2-40B4-BE49-F238E27FC236}">
                <a16:creationId xmlns:a16="http://schemas.microsoft.com/office/drawing/2014/main" id="{28B8DB4B-3768-34A8-C00C-6A14747E5287}"/>
              </a:ext>
            </a:extLst>
          </p:cNvPr>
          <p:cNvSpPr/>
          <p:nvPr/>
        </p:nvSpPr>
        <p:spPr>
          <a:xfrm>
            <a:off x="221877" y="2349858"/>
            <a:ext cx="4027394" cy="795984"/>
          </a:xfrm>
          <a:prstGeom prst="rect">
            <a:avLst/>
          </a:prstGeom>
          <a:solidFill>
            <a:schemeClr val="accent1">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dirty="0"/>
          </a:p>
        </p:txBody>
      </p:sp>
      <p:sp>
        <p:nvSpPr>
          <p:cNvPr id="24" name="矩形: 圆角 23">
            <a:extLst>
              <a:ext uri="{FF2B5EF4-FFF2-40B4-BE49-F238E27FC236}">
                <a16:creationId xmlns:a16="http://schemas.microsoft.com/office/drawing/2014/main" id="{A1E2B148-FEA1-920E-42D5-68E152407E6D}"/>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3" name="标题 2">
            <a:extLst>
              <a:ext uri="{FF2B5EF4-FFF2-40B4-BE49-F238E27FC236}">
                <a16:creationId xmlns:a16="http://schemas.microsoft.com/office/drawing/2014/main" id="{6288B57A-3C1A-4496-76B7-3594885A5CC1}"/>
              </a:ext>
            </a:extLst>
          </p:cNvPr>
          <p:cNvSpPr>
            <a:spLocks noGrp="1"/>
          </p:cNvSpPr>
          <p:nvPr>
            <p:ph type="title"/>
          </p:nvPr>
        </p:nvSpPr>
        <p:spPr/>
        <p:txBody>
          <a:bodyPr/>
          <a:lstStyle/>
          <a:p>
            <a:r>
              <a:rPr lang="en-US" altLang="zh-CN"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hashCode</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方法和</a:t>
            </a:r>
            <a:r>
              <a:rPr lang="en-US" altLang="zh-CN"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equals</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方法的配合流程</a:t>
            </a:r>
            <a:endParaRPr lang="zh-CN" altLang="en-US" dirty="0"/>
          </a:p>
        </p:txBody>
      </p:sp>
    </p:spTree>
    <p:extLst>
      <p:ext uri="{BB962C8B-B14F-4D97-AF65-F5344CB8AC3E}">
        <p14:creationId xmlns:p14="http://schemas.microsoft.com/office/powerpoint/2010/main" val="32054712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7" presetClass="emph" presetSubtype="0" repeatCount="3000" fill="remove" grpId="0" nodeType="clickEffect">
                                  <p:stCondLst>
                                    <p:cond delay="0"/>
                                  </p:stCondLst>
                                  <p:childTnLst>
                                    <p:animClr clrSpc="rgb" dir="cw">
                                      <p:cBhvr override="childStyle">
                                        <p:cTn id="18" dur="250" autoRev="1" fill="remove"/>
                                        <p:tgtEl>
                                          <p:spTgt spid="20"/>
                                        </p:tgtEl>
                                        <p:attrNameLst>
                                          <p:attrName>style.color</p:attrName>
                                        </p:attrNameLst>
                                      </p:cBhvr>
                                      <p:to>
                                        <a:schemeClr val="hlink"/>
                                      </p:to>
                                    </p:animClr>
                                    <p:animClr clrSpc="rgb" dir="cw">
                                      <p:cBhvr>
                                        <p:cTn id="19" dur="250" autoRev="1" fill="remove"/>
                                        <p:tgtEl>
                                          <p:spTgt spid="20"/>
                                        </p:tgtEl>
                                        <p:attrNameLst>
                                          <p:attrName>fillcolor</p:attrName>
                                        </p:attrNameLst>
                                      </p:cBhvr>
                                      <p:to>
                                        <a:schemeClr val="hlink"/>
                                      </p:to>
                                    </p:animClr>
                                    <p:set>
                                      <p:cBhvr>
                                        <p:cTn id="20" dur="250" autoRev="1" fill="remove"/>
                                        <p:tgtEl>
                                          <p:spTgt spid="20"/>
                                        </p:tgtEl>
                                        <p:attrNameLst>
                                          <p:attrName>fill.type</p:attrName>
                                        </p:attrNameLst>
                                      </p:cBhvr>
                                      <p:to>
                                        <p:strVal val="solid"/>
                                      </p:to>
                                    </p:set>
                                    <p:set>
                                      <p:cBhvr>
                                        <p:cTn id="21" dur="250" autoRev="1" fill="remove"/>
                                        <p:tgtEl>
                                          <p:spTgt spid="20"/>
                                        </p:tgtEl>
                                        <p:attrNameLst>
                                          <p:attrName>fill.on</p:attrName>
                                        </p:attrNameLst>
                                      </p:cBhvr>
                                      <p:to>
                                        <p:strVal val="tru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randombar(horizontal)">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 calcmode="lin" valueType="num">
                                      <p:cBhvr additive="base">
                                        <p:cTn id="36" dur="500" fill="hold"/>
                                        <p:tgtEl>
                                          <p:spTgt spid="24"/>
                                        </p:tgtEl>
                                        <p:attrNameLst>
                                          <p:attrName>ppt_x</p:attrName>
                                        </p:attrNameLst>
                                      </p:cBhvr>
                                      <p:tavLst>
                                        <p:tav tm="0">
                                          <p:val>
                                            <p:strVal val="1+#ppt_w/2"/>
                                          </p:val>
                                        </p:tav>
                                        <p:tav tm="100000">
                                          <p:val>
                                            <p:strVal val="#ppt_x"/>
                                          </p:val>
                                        </p:tav>
                                      </p:tavLst>
                                    </p:anim>
                                    <p:anim calcmode="lin" valueType="num">
                                      <p:cBhvr additive="base">
                                        <p:cTn id="37"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6" grpId="0" animBg="1"/>
      <p:bldP spid="23" grpId="0" animBg="1"/>
      <p:bldP spid="2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50FAA13-A6F1-06E2-58D2-CE222146859D}"/>
              </a:ext>
            </a:extLst>
          </p:cNvPr>
          <p:cNvSpPr txBox="1"/>
          <p:nvPr/>
        </p:nvSpPr>
        <p:spPr>
          <a:xfrm>
            <a:off x="221877" y="1680882"/>
            <a:ext cx="4027394" cy="2400657"/>
          </a:xfrm>
          <a:prstGeom prst="rect">
            <a:avLst/>
          </a:prstGeom>
          <a:solidFill>
            <a:srgbClr val="FFFFE4"/>
          </a:solidFill>
          <a:ln>
            <a:solidFill>
              <a:schemeClr val="tx1"/>
            </a:solidFill>
          </a:ln>
        </p:spPr>
        <p:txBody>
          <a:bodyPr wrap="square" rtlCol="0">
            <a:spAutoFit/>
          </a:bodyPr>
          <a:lstStyle/>
          <a:p>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name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int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age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boolean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Object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o)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方法被调用执行</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en-US" altLang="zh-CN" sz="1000" b="0" i="0" u="none" strike="noStrike" cap="none" normalizeH="0" baseline="0" dirty="0">
                <a:ln>
                  <a:noFill/>
                </a:ln>
                <a:solidFill>
                  <a:srgbClr val="0033B3"/>
                </a:solidFill>
                <a:effectLst/>
                <a:latin typeface="Consolas" panose="020B0609020204030204" pitchFamily="49" charset="0"/>
                <a:ea typeface="JetBrains Mono"/>
              </a:rPr>
              <a:t>...</a:t>
            </a:r>
          </a:p>
          <a:p>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int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hashCode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return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1</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endParaRPr kumimoji="0" lang="zh-CN" altLang="zh-CN" sz="1000" b="0" i="0" u="none" strike="noStrike" cap="none" normalizeH="0" baseline="0" dirty="0">
              <a:ln>
                <a:noFill/>
              </a:ln>
              <a:solidFill>
                <a:schemeClr val="tx1"/>
              </a:solidFill>
              <a:effectLst/>
              <a:latin typeface="Consolas" panose="020B0609020204030204" pitchFamily="49" charset="0"/>
            </a:endParaRPr>
          </a:p>
          <a:p>
            <a:pPr algn="l"/>
            <a:endParaRPr kumimoji="0" lang="zh-CN" altLang="en-US" sz="1000" b="0" i="0" u="none" strike="noStrike" cap="none" normalizeH="0" baseline="0" dirty="0">
              <a:ln>
                <a:noFill/>
              </a:ln>
              <a:solidFill>
                <a:srgbClr val="0033B3"/>
              </a:solidFill>
              <a:effectLst/>
              <a:latin typeface="Consolas" panose="020B0609020204030204" pitchFamily="49" charset="0"/>
              <a:ea typeface="JetBrains Mono"/>
            </a:endParaRPr>
          </a:p>
        </p:txBody>
      </p:sp>
      <p:sp>
        <p:nvSpPr>
          <p:cNvPr id="5" name="文本框 4">
            <a:extLst>
              <a:ext uri="{FF2B5EF4-FFF2-40B4-BE49-F238E27FC236}">
                <a16:creationId xmlns:a16="http://schemas.microsoft.com/office/drawing/2014/main" id="{FF15FEF4-7790-2797-BB10-C16145A1BDD7}"/>
              </a:ext>
            </a:extLst>
          </p:cNvPr>
          <p:cNvSpPr txBox="1"/>
          <p:nvPr/>
        </p:nvSpPr>
        <p:spPr>
          <a:xfrm>
            <a:off x="221877" y="4227234"/>
            <a:ext cx="4027394" cy="1938992"/>
          </a:xfrm>
          <a:prstGeom prst="rect">
            <a:avLst/>
          </a:prstGeom>
          <a:solidFill>
            <a:srgbClr val="FFFFE4"/>
          </a:solid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HashSetDemo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static void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main</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args)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&gt;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HashSet&lt;&gt;();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张三</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23</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李四</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24</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endParaRPr kumimoji="0" lang="zh-CN" altLang="zh-CN" sz="1400" b="0" i="0" u="none" strike="noStrike" cap="none" normalizeH="0" baseline="0" dirty="0">
              <a:ln>
                <a:noFill/>
              </a:ln>
              <a:solidFill>
                <a:schemeClr val="tx1"/>
              </a:solidFill>
              <a:effectLst/>
              <a:latin typeface="Consolas" panose="020B0609020204030204" pitchFamily="49" charset="0"/>
            </a:endParaRPr>
          </a:p>
        </p:txBody>
      </p:sp>
      <p:sp>
        <p:nvSpPr>
          <p:cNvPr id="7" name="文本框 6">
            <a:extLst>
              <a:ext uri="{FF2B5EF4-FFF2-40B4-BE49-F238E27FC236}">
                <a16:creationId xmlns:a16="http://schemas.microsoft.com/office/drawing/2014/main" id="{CFE86F14-71AA-9633-E943-509D74BE1C3A}"/>
              </a:ext>
            </a:extLst>
          </p:cNvPr>
          <p:cNvSpPr txBox="1"/>
          <p:nvPr/>
        </p:nvSpPr>
        <p:spPr>
          <a:xfrm>
            <a:off x="8982636" y="5196730"/>
            <a:ext cx="3127779" cy="1169551"/>
          </a:xfrm>
          <a:prstGeom prst="rect">
            <a:avLst/>
          </a:prstGeom>
          <a:noFill/>
        </p:spPr>
        <p:txBody>
          <a:bodyPr wrap="none" rtlCol="0">
            <a:spAutoFit/>
          </a:bodyPr>
          <a:lstStyle/>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HashSet</a:t>
            </a:r>
            <a:r>
              <a:rPr lang="zh-CN" altLang="en-US" sz="1400" dirty="0">
                <a:solidFill>
                  <a:srgbClr val="0033B3"/>
                </a:solidFill>
                <a:latin typeface="杨任东竹石体-Bold" panose="02000000000000000000" pitchFamily="2" charset="-122"/>
                <a:ea typeface="杨任东竹石体-Bold" panose="02000000000000000000" pitchFamily="2" charset="-122"/>
              </a:rPr>
              <a:t>底层的数据结构是哈希表结构 </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endParaRPr kumimoji="0" lang="en-US" altLang="zh-CN"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a:p>
            <a:pPr algn="l"/>
            <a:r>
              <a:rPr lang="zh-CN" altLang="en-US" sz="1400" dirty="0">
                <a:solidFill>
                  <a:srgbClr val="0033B3"/>
                </a:solidFill>
                <a:latin typeface="杨任东竹石体-Bold" panose="02000000000000000000" pitchFamily="2" charset="-122"/>
                <a:ea typeface="杨任东竹石体-Bold" panose="02000000000000000000" pitchFamily="2" charset="-122"/>
              </a:rPr>
              <a:t>哈希表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版本之前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版本之后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红黑树</a:t>
            </a:r>
            <a:endParaRPr kumimoji="0" lang="zh-CN" altLang="en-US"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p:txBody>
      </p:sp>
      <p:sp>
        <p:nvSpPr>
          <p:cNvPr id="9" name="矩形: 圆角 8">
            <a:extLst>
              <a:ext uri="{FF2B5EF4-FFF2-40B4-BE49-F238E27FC236}">
                <a16:creationId xmlns:a16="http://schemas.microsoft.com/office/drawing/2014/main" id="{BDA45E1E-2A70-5024-5BDF-31D0E92D3DA7}"/>
              </a:ext>
            </a:extLst>
          </p:cNvPr>
          <p:cNvSpPr/>
          <p:nvPr/>
        </p:nvSpPr>
        <p:spPr>
          <a:xfrm>
            <a:off x="4558553" y="168088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5DA57C1D-DC40-2406-B045-2EE204F3EA11}"/>
              </a:ext>
            </a:extLst>
          </p:cNvPr>
          <p:cNvCxnSpPr>
            <a:cxnSpLocks/>
          </p:cNvCxnSpPr>
          <p:nvPr/>
        </p:nvCxnSpPr>
        <p:spPr>
          <a:xfrm>
            <a:off x="5587252"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22280C04-0594-DE48-B488-AD6907107085}"/>
              </a:ext>
            </a:extLst>
          </p:cNvPr>
          <p:cNvCxnSpPr>
            <a:cxnSpLocks/>
          </p:cNvCxnSpPr>
          <p:nvPr/>
        </p:nvCxnSpPr>
        <p:spPr>
          <a:xfrm>
            <a:off x="6631283"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89C1DAB1-E89C-51FE-BE54-C7899881D71B}"/>
              </a:ext>
            </a:extLst>
          </p:cNvPr>
          <p:cNvCxnSpPr>
            <a:cxnSpLocks/>
          </p:cNvCxnSpPr>
          <p:nvPr/>
        </p:nvCxnSpPr>
        <p:spPr>
          <a:xfrm>
            <a:off x="7675314"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FCBE0A88-129E-1586-FE05-3134924DA347}"/>
              </a:ext>
            </a:extLst>
          </p:cNvPr>
          <p:cNvCxnSpPr>
            <a:cxnSpLocks/>
          </p:cNvCxnSpPr>
          <p:nvPr/>
        </p:nvCxnSpPr>
        <p:spPr>
          <a:xfrm>
            <a:off x="8719345"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D3C8CDE3-F2E9-4A2B-D76E-D1F6EA81E8D6}"/>
              </a:ext>
            </a:extLst>
          </p:cNvPr>
          <p:cNvCxnSpPr>
            <a:cxnSpLocks/>
          </p:cNvCxnSpPr>
          <p:nvPr/>
        </p:nvCxnSpPr>
        <p:spPr>
          <a:xfrm>
            <a:off x="9763376"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EC4B0208-4739-FF4E-E10E-C7CEFEABF9A1}"/>
              </a:ext>
            </a:extLst>
          </p:cNvPr>
          <p:cNvCxnSpPr>
            <a:cxnSpLocks/>
          </p:cNvCxnSpPr>
          <p:nvPr/>
        </p:nvCxnSpPr>
        <p:spPr>
          <a:xfrm>
            <a:off x="10807409" y="168088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18" name="矩形: 圆角 17">
            <a:extLst>
              <a:ext uri="{FF2B5EF4-FFF2-40B4-BE49-F238E27FC236}">
                <a16:creationId xmlns:a16="http://schemas.microsoft.com/office/drawing/2014/main" id="{4236C6D8-805B-28E2-8061-96CE3931BEF7}"/>
              </a:ext>
            </a:extLst>
          </p:cNvPr>
          <p:cNvSpPr/>
          <p:nvPr/>
        </p:nvSpPr>
        <p:spPr>
          <a:xfrm>
            <a:off x="5265850" y="3303860"/>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张三，</a:t>
            </a:r>
            <a:r>
              <a:rPr lang="en-US" altLang="zh-CN" dirty="0">
                <a:latin typeface="杨任东竹石体-Bold" panose="02000000000000000000" pitchFamily="2" charset="-122"/>
                <a:ea typeface="杨任东竹石体-Bold" panose="02000000000000000000" pitchFamily="2" charset="-122"/>
              </a:rPr>
              <a:t>23</a:t>
            </a:r>
            <a:endParaRPr lang="zh-CN" altLang="en-US" dirty="0">
              <a:latin typeface="杨任东竹石体-Bold" panose="02000000000000000000" pitchFamily="2" charset="-122"/>
              <a:ea typeface="杨任东竹石体-Bold" panose="02000000000000000000" pitchFamily="2" charset="-122"/>
            </a:endParaRPr>
          </a:p>
        </p:txBody>
      </p:sp>
      <p:sp>
        <p:nvSpPr>
          <p:cNvPr id="19" name="文本框 18">
            <a:extLst>
              <a:ext uri="{FF2B5EF4-FFF2-40B4-BE49-F238E27FC236}">
                <a16:creationId xmlns:a16="http://schemas.microsoft.com/office/drawing/2014/main" id="{ABBBC050-E6CC-7D99-DC1A-164DB4BC6E52}"/>
              </a:ext>
            </a:extLst>
          </p:cNvPr>
          <p:cNvSpPr txBox="1"/>
          <p:nvPr/>
        </p:nvSpPr>
        <p:spPr>
          <a:xfrm>
            <a:off x="4871447" y="2692824"/>
            <a:ext cx="7320553" cy="276999"/>
          </a:xfrm>
          <a:prstGeom prst="rect">
            <a:avLst/>
          </a:prstGeom>
          <a:noFill/>
        </p:spPr>
        <p:txBody>
          <a:bodyPr wrap="square" rtlCol="0">
            <a:spAutoFit/>
          </a:bodyPr>
          <a:lstStyle/>
          <a:p>
            <a:pPr algn="l"/>
            <a:r>
              <a:rPr kumimoji="0" lang="en-US" altLang="zh-CN"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rPr>
              <a:t>0            1            2           3           4            5            6</a:t>
            </a:r>
            <a:endParaRPr kumimoji="0" lang="zh-CN" altLang="en-US"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endParaRPr>
          </a:p>
        </p:txBody>
      </p:sp>
      <p:sp>
        <p:nvSpPr>
          <p:cNvPr id="20" name="矩形 19">
            <a:extLst>
              <a:ext uri="{FF2B5EF4-FFF2-40B4-BE49-F238E27FC236}">
                <a16:creationId xmlns:a16="http://schemas.microsoft.com/office/drawing/2014/main" id="{F379E318-6AF2-C592-8CB5-267FE9E422FF}"/>
              </a:ext>
            </a:extLst>
          </p:cNvPr>
          <p:cNvSpPr/>
          <p:nvPr/>
        </p:nvSpPr>
        <p:spPr>
          <a:xfrm>
            <a:off x="221877" y="3186952"/>
            <a:ext cx="4027394" cy="732865"/>
          </a:xfrm>
          <a:prstGeom prst="rect">
            <a:avLst/>
          </a:prstGeom>
          <a:solidFill>
            <a:schemeClr val="accent2">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cxnSp>
        <p:nvCxnSpPr>
          <p:cNvPr id="4" name="直接箭头连接符 3">
            <a:extLst>
              <a:ext uri="{FF2B5EF4-FFF2-40B4-BE49-F238E27FC236}">
                <a16:creationId xmlns:a16="http://schemas.microsoft.com/office/drawing/2014/main" id="{E8B21907-126F-0EE1-8FDB-C322E497C11A}"/>
              </a:ext>
            </a:extLst>
          </p:cNvPr>
          <p:cNvCxnSpPr>
            <a:cxnSpLocks/>
          </p:cNvCxnSpPr>
          <p:nvPr/>
        </p:nvCxnSpPr>
        <p:spPr>
          <a:xfrm>
            <a:off x="5847229" y="2507876"/>
            <a:ext cx="0" cy="795984"/>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矩形: 圆角 5">
            <a:extLst>
              <a:ext uri="{FF2B5EF4-FFF2-40B4-BE49-F238E27FC236}">
                <a16:creationId xmlns:a16="http://schemas.microsoft.com/office/drawing/2014/main" id="{CF1033C0-990F-1828-8B5B-CEF2D4756CC3}"/>
              </a:ext>
            </a:extLst>
          </p:cNvPr>
          <p:cNvSpPr/>
          <p:nvPr/>
        </p:nvSpPr>
        <p:spPr>
          <a:xfrm>
            <a:off x="5265850" y="4334763"/>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李四，</a:t>
            </a:r>
            <a:r>
              <a:rPr lang="en-US" altLang="zh-CN" dirty="0">
                <a:latin typeface="杨任东竹石体-Bold" panose="02000000000000000000" pitchFamily="2" charset="-122"/>
                <a:ea typeface="杨任东竹石体-Bold" panose="02000000000000000000" pitchFamily="2" charset="-122"/>
              </a:rPr>
              <a:t>24</a:t>
            </a:r>
            <a:endParaRPr lang="zh-CN" altLang="en-US" dirty="0">
              <a:latin typeface="杨任东竹石体-Bold" panose="02000000000000000000" pitchFamily="2" charset="-122"/>
              <a:ea typeface="杨任东竹石体-Bold" panose="02000000000000000000" pitchFamily="2" charset="-122"/>
            </a:endParaRPr>
          </a:p>
        </p:txBody>
      </p:sp>
      <p:sp>
        <p:nvSpPr>
          <p:cNvPr id="23" name="矩形 22">
            <a:extLst>
              <a:ext uri="{FF2B5EF4-FFF2-40B4-BE49-F238E27FC236}">
                <a16:creationId xmlns:a16="http://schemas.microsoft.com/office/drawing/2014/main" id="{28B8DB4B-3768-34A8-C00C-6A14747E5287}"/>
              </a:ext>
            </a:extLst>
          </p:cNvPr>
          <p:cNvSpPr/>
          <p:nvPr/>
        </p:nvSpPr>
        <p:spPr>
          <a:xfrm>
            <a:off x="221877" y="2349858"/>
            <a:ext cx="4027394" cy="795984"/>
          </a:xfrm>
          <a:prstGeom prst="rect">
            <a:avLst/>
          </a:prstGeom>
          <a:solidFill>
            <a:schemeClr val="accent1">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dirty="0"/>
          </a:p>
        </p:txBody>
      </p:sp>
      <p:cxnSp>
        <p:nvCxnSpPr>
          <p:cNvPr id="3" name="直接箭头连接符 2">
            <a:extLst>
              <a:ext uri="{FF2B5EF4-FFF2-40B4-BE49-F238E27FC236}">
                <a16:creationId xmlns:a16="http://schemas.microsoft.com/office/drawing/2014/main" id="{187C8DB7-2C6E-7AFD-5F21-16676C2208D9}"/>
              </a:ext>
            </a:extLst>
          </p:cNvPr>
          <p:cNvCxnSpPr>
            <a:cxnSpLocks/>
          </p:cNvCxnSpPr>
          <p:nvPr/>
        </p:nvCxnSpPr>
        <p:spPr>
          <a:xfrm>
            <a:off x="5854978" y="3829242"/>
            <a:ext cx="0" cy="505521"/>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圆角 25">
            <a:extLst>
              <a:ext uri="{FF2B5EF4-FFF2-40B4-BE49-F238E27FC236}">
                <a16:creationId xmlns:a16="http://schemas.microsoft.com/office/drawing/2014/main" id="{A5DD1F5E-7B4E-ED41-48E2-C19D9AA00644}"/>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endParaRPr lang="zh-CN" altLang="en-US" sz="1400" dirty="0"/>
          </a:p>
        </p:txBody>
      </p:sp>
      <p:pic>
        <p:nvPicPr>
          <p:cNvPr id="30" name="图片 29">
            <a:extLst>
              <a:ext uri="{FF2B5EF4-FFF2-40B4-BE49-F238E27FC236}">
                <a16:creationId xmlns:a16="http://schemas.microsoft.com/office/drawing/2014/main" id="{2B25AC4F-A7E3-156C-5EBE-A0883548A5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7310364" y="3187480"/>
            <a:ext cx="1788117" cy="1788117"/>
          </a:xfrm>
          <a:prstGeom prst="ellipse">
            <a:avLst/>
          </a:prstGeom>
          <a:ln>
            <a:noFill/>
          </a:ln>
          <a:effectLst>
            <a:softEdge rad="112500"/>
          </a:effectLst>
        </p:spPr>
      </p:pic>
      <p:pic>
        <p:nvPicPr>
          <p:cNvPr id="32" name="图片 31">
            <a:extLst>
              <a:ext uri="{FF2B5EF4-FFF2-40B4-BE49-F238E27FC236}">
                <a16:creationId xmlns:a16="http://schemas.microsoft.com/office/drawing/2014/main" id="{1B42BBAD-E6A2-505F-9954-483600C143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3087969" y="3073317"/>
            <a:ext cx="1955891" cy="1955891"/>
          </a:xfrm>
          <a:prstGeom prst="ellipse">
            <a:avLst/>
          </a:prstGeom>
          <a:ln>
            <a:noFill/>
          </a:ln>
          <a:effectLst>
            <a:softEdge rad="112500"/>
          </a:effectLst>
        </p:spPr>
      </p:pic>
      <p:sp>
        <p:nvSpPr>
          <p:cNvPr id="10" name="标题 9">
            <a:extLst>
              <a:ext uri="{FF2B5EF4-FFF2-40B4-BE49-F238E27FC236}">
                <a16:creationId xmlns:a16="http://schemas.microsoft.com/office/drawing/2014/main" id="{CAA4320B-6064-FE3D-1C4F-D4BAFB34B0B5}"/>
              </a:ext>
            </a:extLst>
          </p:cNvPr>
          <p:cNvSpPr>
            <a:spLocks noGrp="1"/>
          </p:cNvSpPr>
          <p:nvPr>
            <p:ph type="title"/>
          </p:nvPr>
        </p:nvSpPr>
        <p:spPr/>
        <p:txBody>
          <a:bodyPr/>
          <a:lstStyle/>
          <a:p>
            <a:r>
              <a:rPr lang="en-US" altLang="zh-CN"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hashCode</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方法和</a:t>
            </a:r>
            <a:r>
              <a:rPr lang="en-US" altLang="zh-CN"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equals</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方法的配合流程</a:t>
            </a:r>
            <a:endParaRPr lang="zh-CN" altLang="en-US" dirty="0"/>
          </a:p>
        </p:txBody>
      </p:sp>
    </p:spTree>
    <p:extLst>
      <p:ext uri="{BB962C8B-B14F-4D97-AF65-F5344CB8AC3E}">
        <p14:creationId xmlns:p14="http://schemas.microsoft.com/office/powerpoint/2010/main" val="35985144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50FAA13-A6F1-06E2-58D2-CE222146859D}"/>
              </a:ext>
            </a:extLst>
          </p:cNvPr>
          <p:cNvSpPr txBox="1"/>
          <p:nvPr/>
        </p:nvSpPr>
        <p:spPr>
          <a:xfrm>
            <a:off x="221877" y="1680882"/>
            <a:ext cx="4027394" cy="2400657"/>
          </a:xfrm>
          <a:prstGeom prst="rect">
            <a:avLst/>
          </a:prstGeom>
          <a:solidFill>
            <a:srgbClr val="FFFFE4"/>
          </a:solidFill>
          <a:ln>
            <a:solidFill>
              <a:schemeClr val="tx1"/>
            </a:solidFill>
          </a:ln>
        </p:spPr>
        <p:txBody>
          <a:bodyPr wrap="square" rtlCol="0">
            <a:spAutoFit/>
          </a:bodyPr>
          <a:lstStyle/>
          <a:p>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name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int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age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boolean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Object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o)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方法被调用执行</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en-US" altLang="zh-CN" sz="1000" b="0" i="0" u="none" strike="noStrike" cap="none" normalizeH="0" baseline="0" dirty="0">
                <a:ln>
                  <a:noFill/>
                </a:ln>
                <a:solidFill>
                  <a:srgbClr val="0033B3"/>
                </a:solidFill>
                <a:effectLst/>
                <a:latin typeface="Consolas" panose="020B0609020204030204" pitchFamily="49" charset="0"/>
                <a:ea typeface="JetBrains Mono"/>
              </a:rPr>
              <a:t>...</a:t>
            </a:r>
          </a:p>
          <a:p>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int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hashCode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return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1</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endParaRPr kumimoji="0" lang="zh-CN" altLang="zh-CN" sz="1000" b="0" i="0" u="none" strike="noStrike" cap="none" normalizeH="0" baseline="0" dirty="0">
              <a:ln>
                <a:noFill/>
              </a:ln>
              <a:solidFill>
                <a:schemeClr val="tx1"/>
              </a:solidFill>
              <a:effectLst/>
              <a:latin typeface="Consolas" panose="020B0609020204030204" pitchFamily="49" charset="0"/>
            </a:endParaRPr>
          </a:p>
          <a:p>
            <a:pPr algn="l"/>
            <a:endParaRPr kumimoji="0" lang="zh-CN" altLang="en-US" sz="1000" b="0" i="0" u="none" strike="noStrike" cap="none" normalizeH="0" baseline="0" dirty="0">
              <a:ln>
                <a:noFill/>
              </a:ln>
              <a:solidFill>
                <a:srgbClr val="0033B3"/>
              </a:solidFill>
              <a:effectLst/>
              <a:latin typeface="Consolas" panose="020B0609020204030204" pitchFamily="49" charset="0"/>
              <a:ea typeface="JetBrains Mono"/>
            </a:endParaRPr>
          </a:p>
        </p:txBody>
      </p:sp>
      <p:sp>
        <p:nvSpPr>
          <p:cNvPr id="5" name="文本框 4">
            <a:extLst>
              <a:ext uri="{FF2B5EF4-FFF2-40B4-BE49-F238E27FC236}">
                <a16:creationId xmlns:a16="http://schemas.microsoft.com/office/drawing/2014/main" id="{FF15FEF4-7790-2797-BB10-C16145A1BDD7}"/>
              </a:ext>
            </a:extLst>
          </p:cNvPr>
          <p:cNvSpPr txBox="1"/>
          <p:nvPr/>
        </p:nvSpPr>
        <p:spPr>
          <a:xfrm>
            <a:off x="221877" y="4227234"/>
            <a:ext cx="4027394" cy="1938992"/>
          </a:xfrm>
          <a:prstGeom prst="rect">
            <a:avLst/>
          </a:prstGeom>
          <a:solidFill>
            <a:srgbClr val="FFFFE4"/>
          </a:solid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HashSetDemo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static void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main</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args)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&gt;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HashSet&lt;&gt;();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张三</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23</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李四</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24</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endParaRPr kumimoji="0" lang="zh-CN" altLang="zh-CN" sz="1400" b="0" i="0" u="none" strike="noStrike" cap="none" normalizeH="0" baseline="0" dirty="0">
              <a:ln>
                <a:noFill/>
              </a:ln>
              <a:solidFill>
                <a:schemeClr val="tx1"/>
              </a:solidFill>
              <a:effectLst/>
              <a:latin typeface="Consolas" panose="020B0609020204030204" pitchFamily="49" charset="0"/>
            </a:endParaRPr>
          </a:p>
        </p:txBody>
      </p:sp>
      <p:sp>
        <p:nvSpPr>
          <p:cNvPr id="7" name="文本框 6">
            <a:extLst>
              <a:ext uri="{FF2B5EF4-FFF2-40B4-BE49-F238E27FC236}">
                <a16:creationId xmlns:a16="http://schemas.microsoft.com/office/drawing/2014/main" id="{CFE86F14-71AA-9633-E943-509D74BE1C3A}"/>
              </a:ext>
            </a:extLst>
          </p:cNvPr>
          <p:cNvSpPr txBox="1"/>
          <p:nvPr/>
        </p:nvSpPr>
        <p:spPr>
          <a:xfrm>
            <a:off x="8982636" y="5196730"/>
            <a:ext cx="3127779" cy="1169551"/>
          </a:xfrm>
          <a:prstGeom prst="rect">
            <a:avLst/>
          </a:prstGeom>
          <a:noFill/>
        </p:spPr>
        <p:txBody>
          <a:bodyPr wrap="none" rtlCol="0">
            <a:spAutoFit/>
          </a:bodyPr>
          <a:lstStyle/>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HashSet</a:t>
            </a:r>
            <a:r>
              <a:rPr lang="zh-CN" altLang="en-US" sz="1400" dirty="0">
                <a:solidFill>
                  <a:srgbClr val="0033B3"/>
                </a:solidFill>
                <a:latin typeface="杨任东竹石体-Bold" panose="02000000000000000000" pitchFamily="2" charset="-122"/>
                <a:ea typeface="杨任东竹石体-Bold" panose="02000000000000000000" pitchFamily="2" charset="-122"/>
              </a:rPr>
              <a:t>底层的数据结构是哈希表结构 </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endParaRPr kumimoji="0" lang="en-US" altLang="zh-CN"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a:p>
            <a:pPr algn="l"/>
            <a:r>
              <a:rPr lang="zh-CN" altLang="en-US" sz="1400" dirty="0">
                <a:solidFill>
                  <a:srgbClr val="0033B3"/>
                </a:solidFill>
                <a:latin typeface="杨任东竹石体-Bold" panose="02000000000000000000" pitchFamily="2" charset="-122"/>
                <a:ea typeface="杨任东竹石体-Bold" panose="02000000000000000000" pitchFamily="2" charset="-122"/>
              </a:rPr>
              <a:t>哈希表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版本之前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版本之后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红黑树</a:t>
            </a:r>
            <a:endParaRPr kumimoji="0" lang="zh-CN" altLang="en-US"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p:txBody>
      </p:sp>
      <p:sp>
        <p:nvSpPr>
          <p:cNvPr id="9" name="矩形: 圆角 8">
            <a:extLst>
              <a:ext uri="{FF2B5EF4-FFF2-40B4-BE49-F238E27FC236}">
                <a16:creationId xmlns:a16="http://schemas.microsoft.com/office/drawing/2014/main" id="{BDA45E1E-2A70-5024-5BDF-31D0E92D3DA7}"/>
              </a:ext>
            </a:extLst>
          </p:cNvPr>
          <p:cNvSpPr/>
          <p:nvPr/>
        </p:nvSpPr>
        <p:spPr>
          <a:xfrm>
            <a:off x="4558553" y="168088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5DA57C1D-DC40-2406-B045-2EE204F3EA11}"/>
              </a:ext>
            </a:extLst>
          </p:cNvPr>
          <p:cNvCxnSpPr>
            <a:cxnSpLocks/>
          </p:cNvCxnSpPr>
          <p:nvPr/>
        </p:nvCxnSpPr>
        <p:spPr>
          <a:xfrm>
            <a:off x="5587252"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22280C04-0594-DE48-B488-AD6907107085}"/>
              </a:ext>
            </a:extLst>
          </p:cNvPr>
          <p:cNvCxnSpPr>
            <a:cxnSpLocks/>
          </p:cNvCxnSpPr>
          <p:nvPr/>
        </p:nvCxnSpPr>
        <p:spPr>
          <a:xfrm>
            <a:off x="6631283"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89C1DAB1-E89C-51FE-BE54-C7899881D71B}"/>
              </a:ext>
            </a:extLst>
          </p:cNvPr>
          <p:cNvCxnSpPr>
            <a:cxnSpLocks/>
          </p:cNvCxnSpPr>
          <p:nvPr/>
        </p:nvCxnSpPr>
        <p:spPr>
          <a:xfrm>
            <a:off x="7675314"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FCBE0A88-129E-1586-FE05-3134924DA347}"/>
              </a:ext>
            </a:extLst>
          </p:cNvPr>
          <p:cNvCxnSpPr>
            <a:cxnSpLocks/>
          </p:cNvCxnSpPr>
          <p:nvPr/>
        </p:nvCxnSpPr>
        <p:spPr>
          <a:xfrm>
            <a:off x="8719345"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D3C8CDE3-F2E9-4A2B-D76E-D1F6EA81E8D6}"/>
              </a:ext>
            </a:extLst>
          </p:cNvPr>
          <p:cNvCxnSpPr>
            <a:cxnSpLocks/>
          </p:cNvCxnSpPr>
          <p:nvPr/>
        </p:nvCxnSpPr>
        <p:spPr>
          <a:xfrm>
            <a:off x="9763376"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EC4B0208-4739-FF4E-E10E-C7CEFEABF9A1}"/>
              </a:ext>
            </a:extLst>
          </p:cNvPr>
          <p:cNvCxnSpPr>
            <a:cxnSpLocks/>
          </p:cNvCxnSpPr>
          <p:nvPr/>
        </p:nvCxnSpPr>
        <p:spPr>
          <a:xfrm>
            <a:off x="10807409" y="168088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18" name="矩形: 圆角 17">
            <a:extLst>
              <a:ext uri="{FF2B5EF4-FFF2-40B4-BE49-F238E27FC236}">
                <a16:creationId xmlns:a16="http://schemas.microsoft.com/office/drawing/2014/main" id="{4236C6D8-805B-28E2-8061-96CE3931BEF7}"/>
              </a:ext>
            </a:extLst>
          </p:cNvPr>
          <p:cNvSpPr/>
          <p:nvPr/>
        </p:nvSpPr>
        <p:spPr>
          <a:xfrm>
            <a:off x="5265850" y="3303860"/>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张三，</a:t>
            </a:r>
            <a:r>
              <a:rPr lang="en-US" altLang="zh-CN" dirty="0">
                <a:latin typeface="杨任东竹石体-Bold" panose="02000000000000000000" pitchFamily="2" charset="-122"/>
                <a:ea typeface="杨任东竹石体-Bold" panose="02000000000000000000" pitchFamily="2" charset="-122"/>
              </a:rPr>
              <a:t>23</a:t>
            </a:r>
            <a:endParaRPr lang="zh-CN" altLang="en-US" dirty="0">
              <a:latin typeface="杨任东竹石体-Bold" panose="02000000000000000000" pitchFamily="2" charset="-122"/>
              <a:ea typeface="杨任东竹石体-Bold" panose="02000000000000000000" pitchFamily="2" charset="-122"/>
            </a:endParaRPr>
          </a:p>
        </p:txBody>
      </p:sp>
      <p:sp>
        <p:nvSpPr>
          <p:cNvPr id="19" name="文本框 18">
            <a:extLst>
              <a:ext uri="{FF2B5EF4-FFF2-40B4-BE49-F238E27FC236}">
                <a16:creationId xmlns:a16="http://schemas.microsoft.com/office/drawing/2014/main" id="{ABBBC050-E6CC-7D99-DC1A-164DB4BC6E52}"/>
              </a:ext>
            </a:extLst>
          </p:cNvPr>
          <p:cNvSpPr txBox="1"/>
          <p:nvPr/>
        </p:nvSpPr>
        <p:spPr>
          <a:xfrm>
            <a:off x="4871447" y="2692824"/>
            <a:ext cx="7320553" cy="276999"/>
          </a:xfrm>
          <a:prstGeom prst="rect">
            <a:avLst/>
          </a:prstGeom>
          <a:noFill/>
        </p:spPr>
        <p:txBody>
          <a:bodyPr wrap="square" rtlCol="0">
            <a:spAutoFit/>
          </a:bodyPr>
          <a:lstStyle/>
          <a:p>
            <a:pPr algn="l"/>
            <a:r>
              <a:rPr kumimoji="0" lang="en-US" altLang="zh-CN"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rPr>
              <a:t>0            1            2           3           4            5            6</a:t>
            </a:r>
            <a:endParaRPr kumimoji="0" lang="zh-CN" altLang="en-US"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endParaRPr>
          </a:p>
        </p:txBody>
      </p:sp>
      <p:sp>
        <p:nvSpPr>
          <p:cNvPr id="20" name="矩形 19">
            <a:extLst>
              <a:ext uri="{FF2B5EF4-FFF2-40B4-BE49-F238E27FC236}">
                <a16:creationId xmlns:a16="http://schemas.microsoft.com/office/drawing/2014/main" id="{F379E318-6AF2-C592-8CB5-267FE9E422FF}"/>
              </a:ext>
            </a:extLst>
          </p:cNvPr>
          <p:cNvSpPr/>
          <p:nvPr/>
        </p:nvSpPr>
        <p:spPr>
          <a:xfrm>
            <a:off x="221877" y="3186952"/>
            <a:ext cx="4027394" cy="732865"/>
          </a:xfrm>
          <a:prstGeom prst="rect">
            <a:avLst/>
          </a:prstGeom>
          <a:solidFill>
            <a:schemeClr val="accent2">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cxnSp>
        <p:nvCxnSpPr>
          <p:cNvPr id="4" name="直接箭头连接符 3">
            <a:extLst>
              <a:ext uri="{FF2B5EF4-FFF2-40B4-BE49-F238E27FC236}">
                <a16:creationId xmlns:a16="http://schemas.microsoft.com/office/drawing/2014/main" id="{E8B21907-126F-0EE1-8FDB-C322E497C11A}"/>
              </a:ext>
            </a:extLst>
          </p:cNvPr>
          <p:cNvCxnSpPr>
            <a:cxnSpLocks/>
          </p:cNvCxnSpPr>
          <p:nvPr/>
        </p:nvCxnSpPr>
        <p:spPr>
          <a:xfrm>
            <a:off x="5847229" y="2507876"/>
            <a:ext cx="0" cy="795984"/>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矩形: 圆角 5">
            <a:extLst>
              <a:ext uri="{FF2B5EF4-FFF2-40B4-BE49-F238E27FC236}">
                <a16:creationId xmlns:a16="http://schemas.microsoft.com/office/drawing/2014/main" id="{CF1033C0-990F-1828-8B5B-CEF2D4756CC3}"/>
              </a:ext>
            </a:extLst>
          </p:cNvPr>
          <p:cNvSpPr/>
          <p:nvPr/>
        </p:nvSpPr>
        <p:spPr>
          <a:xfrm>
            <a:off x="5265850" y="4334763"/>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李四，</a:t>
            </a:r>
            <a:r>
              <a:rPr lang="en-US" altLang="zh-CN" dirty="0">
                <a:latin typeface="杨任东竹石体-Bold" panose="02000000000000000000" pitchFamily="2" charset="-122"/>
                <a:ea typeface="杨任东竹石体-Bold" panose="02000000000000000000" pitchFamily="2" charset="-122"/>
              </a:rPr>
              <a:t>24</a:t>
            </a:r>
            <a:endParaRPr lang="zh-CN" altLang="en-US" dirty="0">
              <a:latin typeface="杨任东竹石体-Bold" panose="02000000000000000000" pitchFamily="2" charset="-122"/>
              <a:ea typeface="杨任东竹石体-Bold" panose="02000000000000000000" pitchFamily="2" charset="-122"/>
            </a:endParaRPr>
          </a:p>
        </p:txBody>
      </p:sp>
      <p:sp>
        <p:nvSpPr>
          <p:cNvPr id="23" name="矩形 22">
            <a:extLst>
              <a:ext uri="{FF2B5EF4-FFF2-40B4-BE49-F238E27FC236}">
                <a16:creationId xmlns:a16="http://schemas.microsoft.com/office/drawing/2014/main" id="{28B8DB4B-3768-34A8-C00C-6A14747E5287}"/>
              </a:ext>
            </a:extLst>
          </p:cNvPr>
          <p:cNvSpPr/>
          <p:nvPr/>
        </p:nvSpPr>
        <p:spPr>
          <a:xfrm>
            <a:off x="221877" y="2349858"/>
            <a:ext cx="4027394" cy="795984"/>
          </a:xfrm>
          <a:prstGeom prst="rect">
            <a:avLst/>
          </a:prstGeom>
          <a:solidFill>
            <a:schemeClr val="accent1">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dirty="0"/>
          </a:p>
        </p:txBody>
      </p:sp>
      <p:cxnSp>
        <p:nvCxnSpPr>
          <p:cNvPr id="3" name="直接箭头连接符 2">
            <a:extLst>
              <a:ext uri="{FF2B5EF4-FFF2-40B4-BE49-F238E27FC236}">
                <a16:creationId xmlns:a16="http://schemas.microsoft.com/office/drawing/2014/main" id="{187C8DB7-2C6E-7AFD-5F21-16676C2208D9}"/>
              </a:ext>
            </a:extLst>
          </p:cNvPr>
          <p:cNvCxnSpPr>
            <a:cxnSpLocks/>
          </p:cNvCxnSpPr>
          <p:nvPr/>
        </p:nvCxnSpPr>
        <p:spPr>
          <a:xfrm>
            <a:off x="5854978" y="3829242"/>
            <a:ext cx="0" cy="505521"/>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圆角 25">
            <a:extLst>
              <a:ext uri="{FF2B5EF4-FFF2-40B4-BE49-F238E27FC236}">
                <a16:creationId xmlns:a16="http://schemas.microsoft.com/office/drawing/2014/main" id="{A5DD1F5E-7B4E-ED41-48E2-C19D9AA00644}"/>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28" name="矩形: 圆角 27">
            <a:extLst>
              <a:ext uri="{FF2B5EF4-FFF2-40B4-BE49-F238E27FC236}">
                <a16:creationId xmlns:a16="http://schemas.microsoft.com/office/drawing/2014/main" id="{D7F6EC65-6743-2235-AD60-0A956162D649}"/>
              </a:ext>
            </a:extLst>
          </p:cNvPr>
          <p:cNvSpPr/>
          <p:nvPr/>
        </p:nvSpPr>
        <p:spPr>
          <a:xfrm>
            <a:off x="6747880" y="5667178"/>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25</a:t>
            </a:r>
            <a:endParaRPr lang="zh-CN" altLang="en-US" dirty="0">
              <a:latin typeface="杨任东竹石体-Bold" panose="02000000000000000000" pitchFamily="2" charset="-122"/>
              <a:ea typeface="杨任东竹石体-Bold" panose="02000000000000000000" pitchFamily="2" charset="-122"/>
            </a:endParaRPr>
          </a:p>
        </p:txBody>
      </p:sp>
      <p:sp>
        <p:nvSpPr>
          <p:cNvPr id="29" name="矩形: 圆角 28">
            <a:extLst>
              <a:ext uri="{FF2B5EF4-FFF2-40B4-BE49-F238E27FC236}">
                <a16:creationId xmlns:a16="http://schemas.microsoft.com/office/drawing/2014/main" id="{5FD33919-7833-6E71-5712-729E89050027}"/>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10" name="箭头: 左 9">
            <a:extLst>
              <a:ext uri="{FF2B5EF4-FFF2-40B4-BE49-F238E27FC236}">
                <a16:creationId xmlns:a16="http://schemas.microsoft.com/office/drawing/2014/main" id="{663F718E-F0F6-CE18-F9BB-901E94E8148E}"/>
              </a:ext>
            </a:extLst>
          </p:cNvPr>
          <p:cNvSpPr/>
          <p:nvPr/>
        </p:nvSpPr>
        <p:spPr>
          <a:xfrm>
            <a:off x="7127433" y="3384263"/>
            <a:ext cx="1582376" cy="338242"/>
          </a:xfrm>
          <a:prstGeom prst="leftArrow">
            <a:avLst/>
          </a:prstGeom>
          <a:ln/>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dirty="0"/>
          </a:p>
        </p:txBody>
      </p:sp>
      <p:sp>
        <p:nvSpPr>
          <p:cNvPr id="12" name="标题 11">
            <a:extLst>
              <a:ext uri="{FF2B5EF4-FFF2-40B4-BE49-F238E27FC236}">
                <a16:creationId xmlns:a16="http://schemas.microsoft.com/office/drawing/2014/main" id="{40D245E9-05C1-95B8-E6B5-4A95C19F1C55}"/>
              </a:ext>
            </a:extLst>
          </p:cNvPr>
          <p:cNvSpPr>
            <a:spLocks noGrp="1"/>
          </p:cNvSpPr>
          <p:nvPr>
            <p:ph type="title"/>
          </p:nvPr>
        </p:nvSpPr>
        <p:spPr/>
        <p:txBody>
          <a:bodyPr/>
          <a:lstStyle/>
          <a:p>
            <a:r>
              <a:rPr lang="en-US" altLang="zh-CN"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hashCode</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方法和</a:t>
            </a:r>
            <a:r>
              <a:rPr lang="en-US" altLang="zh-CN"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equals</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方法的配合流程</a:t>
            </a:r>
            <a:endParaRPr lang="zh-CN" altLang="en-US" dirty="0"/>
          </a:p>
        </p:txBody>
      </p:sp>
    </p:spTree>
    <p:extLst>
      <p:ext uri="{BB962C8B-B14F-4D97-AF65-F5344CB8AC3E}">
        <p14:creationId xmlns:p14="http://schemas.microsoft.com/office/powerpoint/2010/main" val="341524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childTnLst>
                          </p:cTn>
                        </p:par>
                      </p:childTnLst>
                    </p:cTn>
                  </p:par>
                  <p:par>
                    <p:cTn id="10" fill="hold">
                      <p:stCondLst>
                        <p:cond delay="indefinite"/>
                      </p:stCondLst>
                      <p:childTnLst>
                        <p:par>
                          <p:cTn id="11" fill="hold">
                            <p:stCondLst>
                              <p:cond delay="0"/>
                            </p:stCondLst>
                            <p:childTnLst>
                              <p:par>
                                <p:cTn id="12" presetID="27" presetClass="emph" presetSubtype="0" repeatCount="3000" fill="remove" grpId="0" nodeType="clickEffect">
                                  <p:stCondLst>
                                    <p:cond delay="0"/>
                                  </p:stCondLst>
                                  <p:childTnLst>
                                    <p:animClr clrSpc="rgb" dir="cw">
                                      <p:cBhvr override="childStyle">
                                        <p:cTn id="13" dur="250" autoRev="1" fill="remove"/>
                                        <p:tgtEl>
                                          <p:spTgt spid="20"/>
                                        </p:tgtEl>
                                        <p:attrNameLst>
                                          <p:attrName>style.color</p:attrName>
                                        </p:attrNameLst>
                                      </p:cBhvr>
                                      <p:to>
                                        <a:schemeClr val="hlink"/>
                                      </p:to>
                                    </p:animClr>
                                    <p:animClr clrSpc="rgb" dir="cw">
                                      <p:cBhvr>
                                        <p:cTn id="14" dur="250" autoRev="1" fill="remove"/>
                                        <p:tgtEl>
                                          <p:spTgt spid="20"/>
                                        </p:tgtEl>
                                        <p:attrNameLst>
                                          <p:attrName>fillcolor</p:attrName>
                                        </p:attrNameLst>
                                      </p:cBhvr>
                                      <p:to>
                                        <a:schemeClr val="hlink"/>
                                      </p:to>
                                    </p:animClr>
                                    <p:set>
                                      <p:cBhvr>
                                        <p:cTn id="15" dur="250" autoRev="1" fill="remove"/>
                                        <p:tgtEl>
                                          <p:spTgt spid="20"/>
                                        </p:tgtEl>
                                        <p:attrNameLst>
                                          <p:attrName>fill.type</p:attrName>
                                        </p:attrNameLst>
                                      </p:cBhvr>
                                      <p:to>
                                        <p:strVal val="solid"/>
                                      </p:to>
                                    </p:set>
                                    <p:set>
                                      <p:cBhvr>
                                        <p:cTn id="16" dur="250" autoRev="1" fill="remove"/>
                                        <p:tgtEl>
                                          <p:spTgt spid="20"/>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27" presetClass="emph" presetSubtype="0" repeatCount="3000" fill="remove" grpId="0" nodeType="clickEffect">
                                  <p:stCondLst>
                                    <p:cond delay="0"/>
                                  </p:stCondLst>
                                  <p:childTnLst>
                                    <p:animClr clrSpc="rgb" dir="cw">
                                      <p:cBhvr override="childStyle">
                                        <p:cTn id="20" dur="250" autoRev="1" fill="remove"/>
                                        <p:tgtEl>
                                          <p:spTgt spid="23"/>
                                        </p:tgtEl>
                                        <p:attrNameLst>
                                          <p:attrName>style.color</p:attrName>
                                        </p:attrNameLst>
                                      </p:cBhvr>
                                      <p:to>
                                        <a:schemeClr val="tx1"/>
                                      </p:to>
                                    </p:animClr>
                                    <p:animClr clrSpc="rgb" dir="cw">
                                      <p:cBhvr>
                                        <p:cTn id="21" dur="250" autoRev="1" fill="remove"/>
                                        <p:tgtEl>
                                          <p:spTgt spid="23"/>
                                        </p:tgtEl>
                                        <p:attrNameLst>
                                          <p:attrName>fillcolor</p:attrName>
                                        </p:attrNameLst>
                                      </p:cBhvr>
                                      <p:to>
                                        <a:schemeClr val="tx1"/>
                                      </p:to>
                                    </p:animClr>
                                    <p:set>
                                      <p:cBhvr>
                                        <p:cTn id="22" dur="250" autoRev="1" fill="remove"/>
                                        <p:tgtEl>
                                          <p:spTgt spid="23"/>
                                        </p:tgtEl>
                                        <p:attrNameLst>
                                          <p:attrName>fill.type</p:attrName>
                                        </p:attrNameLst>
                                      </p:cBhvr>
                                      <p:to>
                                        <p:strVal val="solid"/>
                                      </p:to>
                                    </p:set>
                                    <p:set>
                                      <p:cBhvr>
                                        <p:cTn id="23" dur="250" autoRev="1" fill="remove"/>
                                        <p:tgtEl>
                                          <p:spTgt spid="23"/>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righ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P spid="28" grpId="0" animBg="1"/>
      <p:bldP spid="29" grpId="0" animBg="1"/>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50FAA13-A6F1-06E2-58D2-CE222146859D}"/>
              </a:ext>
            </a:extLst>
          </p:cNvPr>
          <p:cNvSpPr txBox="1"/>
          <p:nvPr/>
        </p:nvSpPr>
        <p:spPr>
          <a:xfrm>
            <a:off x="221877" y="1680882"/>
            <a:ext cx="4027394" cy="2400657"/>
          </a:xfrm>
          <a:prstGeom prst="rect">
            <a:avLst/>
          </a:prstGeom>
          <a:solidFill>
            <a:srgbClr val="FFFFE4"/>
          </a:solidFill>
          <a:ln>
            <a:solidFill>
              <a:schemeClr val="tx1"/>
            </a:solidFill>
          </a:ln>
        </p:spPr>
        <p:txBody>
          <a:bodyPr wrap="square" rtlCol="0">
            <a:spAutoFit/>
          </a:bodyPr>
          <a:lstStyle/>
          <a:p>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name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int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age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boolean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Object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o)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方法被调用执行</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en-US" altLang="zh-CN" sz="1000" b="0" i="0" u="none" strike="noStrike" cap="none" normalizeH="0" baseline="0" dirty="0">
                <a:ln>
                  <a:noFill/>
                </a:ln>
                <a:solidFill>
                  <a:srgbClr val="0033B3"/>
                </a:solidFill>
                <a:effectLst/>
                <a:latin typeface="Consolas" panose="020B0609020204030204" pitchFamily="49" charset="0"/>
                <a:ea typeface="JetBrains Mono"/>
              </a:rPr>
              <a:t>...</a:t>
            </a:r>
          </a:p>
          <a:p>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int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hashCode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return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1</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endParaRPr kumimoji="0" lang="zh-CN" altLang="zh-CN" sz="1000" b="0" i="0" u="none" strike="noStrike" cap="none" normalizeH="0" baseline="0" dirty="0">
              <a:ln>
                <a:noFill/>
              </a:ln>
              <a:solidFill>
                <a:schemeClr val="tx1"/>
              </a:solidFill>
              <a:effectLst/>
              <a:latin typeface="Consolas" panose="020B0609020204030204" pitchFamily="49" charset="0"/>
            </a:endParaRPr>
          </a:p>
          <a:p>
            <a:pPr algn="l"/>
            <a:endParaRPr kumimoji="0" lang="zh-CN" altLang="en-US" sz="1000" b="0" i="0" u="none" strike="noStrike" cap="none" normalizeH="0" baseline="0" dirty="0">
              <a:ln>
                <a:noFill/>
              </a:ln>
              <a:solidFill>
                <a:srgbClr val="0033B3"/>
              </a:solidFill>
              <a:effectLst/>
              <a:latin typeface="Consolas" panose="020B0609020204030204" pitchFamily="49" charset="0"/>
              <a:ea typeface="JetBrains Mono"/>
            </a:endParaRPr>
          </a:p>
        </p:txBody>
      </p:sp>
      <p:sp>
        <p:nvSpPr>
          <p:cNvPr id="5" name="文本框 4">
            <a:extLst>
              <a:ext uri="{FF2B5EF4-FFF2-40B4-BE49-F238E27FC236}">
                <a16:creationId xmlns:a16="http://schemas.microsoft.com/office/drawing/2014/main" id="{FF15FEF4-7790-2797-BB10-C16145A1BDD7}"/>
              </a:ext>
            </a:extLst>
          </p:cNvPr>
          <p:cNvSpPr txBox="1"/>
          <p:nvPr/>
        </p:nvSpPr>
        <p:spPr>
          <a:xfrm>
            <a:off x="221877" y="4227234"/>
            <a:ext cx="4027394" cy="1938992"/>
          </a:xfrm>
          <a:prstGeom prst="rect">
            <a:avLst/>
          </a:prstGeom>
          <a:solidFill>
            <a:srgbClr val="FFFFE4"/>
          </a:solid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HashSetDemo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static void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main</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args)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&gt;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HashSet&lt;&gt;();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张三</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23</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李四</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24</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endParaRPr kumimoji="0" lang="zh-CN" altLang="zh-CN" sz="1400" b="0" i="0" u="none" strike="noStrike" cap="none" normalizeH="0" baseline="0" dirty="0">
              <a:ln>
                <a:noFill/>
              </a:ln>
              <a:solidFill>
                <a:schemeClr val="tx1"/>
              </a:solidFill>
              <a:effectLst/>
              <a:latin typeface="Consolas" panose="020B0609020204030204" pitchFamily="49" charset="0"/>
            </a:endParaRPr>
          </a:p>
        </p:txBody>
      </p:sp>
      <p:sp>
        <p:nvSpPr>
          <p:cNvPr id="7" name="文本框 6">
            <a:extLst>
              <a:ext uri="{FF2B5EF4-FFF2-40B4-BE49-F238E27FC236}">
                <a16:creationId xmlns:a16="http://schemas.microsoft.com/office/drawing/2014/main" id="{CFE86F14-71AA-9633-E943-509D74BE1C3A}"/>
              </a:ext>
            </a:extLst>
          </p:cNvPr>
          <p:cNvSpPr txBox="1"/>
          <p:nvPr/>
        </p:nvSpPr>
        <p:spPr>
          <a:xfrm>
            <a:off x="8982636" y="5196730"/>
            <a:ext cx="3127779" cy="1169551"/>
          </a:xfrm>
          <a:prstGeom prst="rect">
            <a:avLst/>
          </a:prstGeom>
          <a:noFill/>
        </p:spPr>
        <p:txBody>
          <a:bodyPr wrap="none" rtlCol="0">
            <a:spAutoFit/>
          </a:bodyPr>
          <a:lstStyle/>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HashSet</a:t>
            </a:r>
            <a:r>
              <a:rPr lang="zh-CN" altLang="en-US" sz="1400" dirty="0">
                <a:solidFill>
                  <a:srgbClr val="0033B3"/>
                </a:solidFill>
                <a:latin typeface="杨任东竹石体-Bold" panose="02000000000000000000" pitchFamily="2" charset="-122"/>
                <a:ea typeface="杨任东竹石体-Bold" panose="02000000000000000000" pitchFamily="2" charset="-122"/>
              </a:rPr>
              <a:t>底层的数据结构是哈希表结构 </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endParaRPr kumimoji="0" lang="en-US" altLang="zh-CN"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a:p>
            <a:pPr algn="l"/>
            <a:r>
              <a:rPr lang="zh-CN" altLang="en-US" sz="1400" dirty="0">
                <a:solidFill>
                  <a:srgbClr val="0033B3"/>
                </a:solidFill>
                <a:latin typeface="杨任东竹石体-Bold" panose="02000000000000000000" pitchFamily="2" charset="-122"/>
                <a:ea typeface="杨任东竹石体-Bold" panose="02000000000000000000" pitchFamily="2" charset="-122"/>
              </a:rPr>
              <a:t>哈希表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版本之前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版本之后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红黑树</a:t>
            </a:r>
            <a:endParaRPr kumimoji="0" lang="zh-CN" altLang="en-US"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p:txBody>
      </p:sp>
      <p:sp>
        <p:nvSpPr>
          <p:cNvPr id="9" name="矩形: 圆角 8">
            <a:extLst>
              <a:ext uri="{FF2B5EF4-FFF2-40B4-BE49-F238E27FC236}">
                <a16:creationId xmlns:a16="http://schemas.microsoft.com/office/drawing/2014/main" id="{BDA45E1E-2A70-5024-5BDF-31D0E92D3DA7}"/>
              </a:ext>
            </a:extLst>
          </p:cNvPr>
          <p:cNvSpPr/>
          <p:nvPr/>
        </p:nvSpPr>
        <p:spPr>
          <a:xfrm>
            <a:off x="4558553" y="168088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5DA57C1D-DC40-2406-B045-2EE204F3EA11}"/>
              </a:ext>
            </a:extLst>
          </p:cNvPr>
          <p:cNvCxnSpPr>
            <a:cxnSpLocks/>
          </p:cNvCxnSpPr>
          <p:nvPr/>
        </p:nvCxnSpPr>
        <p:spPr>
          <a:xfrm>
            <a:off x="5587252"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22280C04-0594-DE48-B488-AD6907107085}"/>
              </a:ext>
            </a:extLst>
          </p:cNvPr>
          <p:cNvCxnSpPr>
            <a:cxnSpLocks/>
          </p:cNvCxnSpPr>
          <p:nvPr/>
        </p:nvCxnSpPr>
        <p:spPr>
          <a:xfrm>
            <a:off x="6631283"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89C1DAB1-E89C-51FE-BE54-C7899881D71B}"/>
              </a:ext>
            </a:extLst>
          </p:cNvPr>
          <p:cNvCxnSpPr>
            <a:cxnSpLocks/>
          </p:cNvCxnSpPr>
          <p:nvPr/>
        </p:nvCxnSpPr>
        <p:spPr>
          <a:xfrm>
            <a:off x="7675314"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FCBE0A88-129E-1586-FE05-3134924DA347}"/>
              </a:ext>
            </a:extLst>
          </p:cNvPr>
          <p:cNvCxnSpPr>
            <a:cxnSpLocks/>
          </p:cNvCxnSpPr>
          <p:nvPr/>
        </p:nvCxnSpPr>
        <p:spPr>
          <a:xfrm>
            <a:off x="8719345"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D3C8CDE3-F2E9-4A2B-D76E-D1F6EA81E8D6}"/>
              </a:ext>
            </a:extLst>
          </p:cNvPr>
          <p:cNvCxnSpPr>
            <a:cxnSpLocks/>
          </p:cNvCxnSpPr>
          <p:nvPr/>
        </p:nvCxnSpPr>
        <p:spPr>
          <a:xfrm>
            <a:off x="9763376"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EC4B0208-4739-FF4E-E10E-C7CEFEABF9A1}"/>
              </a:ext>
            </a:extLst>
          </p:cNvPr>
          <p:cNvCxnSpPr>
            <a:cxnSpLocks/>
          </p:cNvCxnSpPr>
          <p:nvPr/>
        </p:nvCxnSpPr>
        <p:spPr>
          <a:xfrm>
            <a:off x="10807409" y="168088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18" name="矩形: 圆角 17">
            <a:extLst>
              <a:ext uri="{FF2B5EF4-FFF2-40B4-BE49-F238E27FC236}">
                <a16:creationId xmlns:a16="http://schemas.microsoft.com/office/drawing/2014/main" id="{4236C6D8-805B-28E2-8061-96CE3931BEF7}"/>
              </a:ext>
            </a:extLst>
          </p:cNvPr>
          <p:cNvSpPr/>
          <p:nvPr/>
        </p:nvSpPr>
        <p:spPr>
          <a:xfrm>
            <a:off x="5265850" y="3303860"/>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张三，</a:t>
            </a:r>
            <a:r>
              <a:rPr lang="en-US" altLang="zh-CN" dirty="0">
                <a:latin typeface="杨任东竹石体-Bold" panose="02000000000000000000" pitchFamily="2" charset="-122"/>
                <a:ea typeface="杨任东竹石体-Bold" panose="02000000000000000000" pitchFamily="2" charset="-122"/>
              </a:rPr>
              <a:t>23</a:t>
            </a:r>
            <a:endParaRPr lang="zh-CN" altLang="en-US" dirty="0">
              <a:latin typeface="杨任东竹石体-Bold" panose="02000000000000000000" pitchFamily="2" charset="-122"/>
              <a:ea typeface="杨任东竹石体-Bold" panose="02000000000000000000" pitchFamily="2" charset="-122"/>
            </a:endParaRPr>
          </a:p>
        </p:txBody>
      </p:sp>
      <p:sp>
        <p:nvSpPr>
          <p:cNvPr id="19" name="文本框 18">
            <a:extLst>
              <a:ext uri="{FF2B5EF4-FFF2-40B4-BE49-F238E27FC236}">
                <a16:creationId xmlns:a16="http://schemas.microsoft.com/office/drawing/2014/main" id="{ABBBC050-E6CC-7D99-DC1A-164DB4BC6E52}"/>
              </a:ext>
            </a:extLst>
          </p:cNvPr>
          <p:cNvSpPr txBox="1"/>
          <p:nvPr/>
        </p:nvSpPr>
        <p:spPr>
          <a:xfrm>
            <a:off x="4871447" y="2692824"/>
            <a:ext cx="7320553" cy="276999"/>
          </a:xfrm>
          <a:prstGeom prst="rect">
            <a:avLst/>
          </a:prstGeom>
          <a:noFill/>
        </p:spPr>
        <p:txBody>
          <a:bodyPr wrap="square" rtlCol="0">
            <a:spAutoFit/>
          </a:bodyPr>
          <a:lstStyle/>
          <a:p>
            <a:pPr algn="l"/>
            <a:r>
              <a:rPr kumimoji="0" lang="en-US" altLang="zh-CN"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rPr>
              <a:t>0            1            2           3           4            5            6</a:t>
            </a:r>
            <a:endParaRPr kumimoji="0" lang="zh-CN" altLang="en-US"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endParaRPr>
          </a:p>
        </p:txBody>
      </p:sp>
      <p:sp>
        <p:nvSpPr>
          <p:cNvPr id="20" name="矩形 19">
            <a:extLst>
              <a:ext uri="{FF2B5EF4-FFF2-40B4-BE49-F238E27FC236}">
                <a16:creationId xmlns:a16="http://schemas.microsoft.com/office/drawing/2014/main" id="{F379E318-6AF2-C592-8CB5-267FE9E422FF}"/>
              </a:ext>
            </a:extLst>
          </p:cNvPr>
          <p:cNvSpPr/>
          <p:nvPr/>
        </p:nvSpPr>
        <p:spPr>
          <a:xfrm>
            <a:off x="221877" y="3186952"/>
            <a:ext cx="4027394" cy="732865"/>
          </a:xfrm>
          <a:prstGeom prst="rect">
            <a:avLst/>
          </a:prstGeom>
          <a:solidFill>
            <a:schemeClr val="accent2">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cxnSp>
        <p:nvCxnSpPr>
          <p:cNvPr id="4" name="直接箭头连接符 3">
            <a:extLst>
              <a:ext uri="{FF2B5EF4-FFF2-40B4-BE49-F238E27FC236}">
                <a16:creationId xmlns:a16="http://schemas.microsoft.com/office/drawing/2014/main" id="{E8B21907-126F-0EE1-8FDB-C322E497C11A}"/>
              </a:ext>
            </a:extLst>
          </p:cNvPr>
          <p:cNvCxnSpPr>
            <a:cxnSpLocks/>
          </p:cNvCxnSpPr>
          <p:nvPr/>
        </p:nvCxnSpPr>
        <p:spPr>
          <a:xfrm>
            <a:off x="5847229" y="2507876"/>
            <a:ext cx="0" cy="795984"/>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矩形: 圆角 5">
            <a:extLst>
              <a:ext uri="{FF2B5EF4-FFF2-40B4-BE49-F238E27FC236}">
                <a16:creationId xmlns:a16="http://schemas.microsoft.com/office/drawing/2014/main" id="{CF1033C0-990F-1828-8B5B-CEF2D4756CC3}"/>
              </a:ext>
            </a:extLst>
          </p:cNvPr>
          <p:cNvSpPr/>
          <p:nvPr/>
        </p:nvSpPr>
        <p:spPr>
          <a:xfrm>
            <a:off x="5265850" y="4334763"/>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李四，</a:t>
            </a:r>
            <a:r>
              <a:rPr lang="en-US" altLang="zh-CN" dirty="0">
                <a:latin typeface="杨任东竹石体-Bold" panose="02000000000000000000" pitchFamily="2" charset="-122"/>
                <a:ea typeface="杨任东竹石体-Bold" panose="02000000000000000000" pitchFamily="2" charset="-122"/>
              </a:rPr>
              <a:t>24</a:t>
            </a:r>
            <a:endParaRPr lang="zh-CN" altLang="en-US" dirty="0">
              <a:latin typeface="杨任东竹石体-Bold" panose="02000000000000000000" pitchFamily="2" charset="-122"/>
              <a:ea typeface="杨任东竹石体-Bold" panose="02000000000000000000" pitchFamily="2" charset="-122"/>
            </a:endParaRPr>
          </a:p>
        </p:txBody>
      </p:sp>
      <p:sp>
        <p:nvSpPr>
          <p:cNvPr id="23" name="矩形 22">
            <a:extLst>
              <a:ext uri="{FF2B5EF4-FFF2-40B4-BE49-F238E27FC236}">
                <a16:creationId xmlns:a16="http://schemas.microsoft.com/office/drawing/2014/main" id="{28B8DB4B-3768-34A8-C00C-6A14747E5287}"/>
              </a:ext>
            </a:extLst>
          </p:cNvPr>
          <p:cNvSpPr/>
          <p:nvPr/>
        </p:nvSpPr>
        <p:spPr>
          <a:xfrm>
            <a:off x="221877" y="2349858"/>
            <a:ext cx="4027394" cy="795984"/>
          </a:xfrm>
          <a:prstGeom prst="rect">
            <a:avLst/>
          </a:prstGeom>
          <a:solidFill>
            <a:schemeClr val="accent1">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dirty="0"/>
          </a:p>
        </p:txBody>
      </p:sp>
      <p:cxnSp>
        <p:nvCxnSpPr>
          <p:cNvPr id="3" name="直接箭头连接符 2">
            <a:extLst>
              <a:ext uri="{FF2B5EF4-FFF2-40B4-BE49-F238E27FC236}">
                <a16:creationId xmlns:a16="http://schemas.microsoft.com/office/drawing/2014/main" id="{187C8DB7-2C6E-7AFD-5F21-16676C2208D9}"/>
              </a:ext>
            </a:extLst>
          </p:cNvPr>
          <p:cNvCxnSpPr>
            <a:cxnSpLocks/>
          </p:cNvCxnSpPr>
          <p:nvPr/>
        </p:nvCxnSpPr>
        <p:spPr>
          <a:xfrm>
            <a:off x="5854978" y="3829242"/>
            <a:ext cx="0" cy="505521"/>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圆角 25">
            <a:extLst>
              <a:ext uri="{FF2B5EF4-FFF2-40B4-BE49-F238E27FC236}">
                <a16:creationId xmlns:a16="http://schemas.microsoft.com/office/drawing/2014/main" id="{A5DD1F5E-7B4E-ED41-48E2-C19D9AA00644}"/>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28" name="矩形: 圆角 27">
            <a:extLst>
              <a:ext uri="{FF2B5EF4-FFF2-40B4-BE49-F238E27FC236}">
                <a16:creationId xmlns:a16="http://schemas.microsoft.com/office/drawing/2014/main" id="{D7F6EC65-6743-2235-AD60-0A956162D649}"/>
              </a:ext>
            </a:extLst>
          </p:cNvPr>
          <p:cNvSpPr/>
          <p:nvPr/>
        </p:nvSpPr>
        <p:spPr>
          <a:xfrm>
            <a:off x="6747880" y="5667178"/>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25</a:t>
            </a:r>
            <a:endParaRPr lang="zh-CN" altLang="en-US" dirty="0">
              <a:latin typeface="杨任东竹石体-Bold" panose="02000000000000000000" pitchFamily="2" charset="-122"/>
              <a:ea typeface="杨任东竹石体-Bold" panose="02000000000000000000" pitchFamily="2" charset="-122"/>
            </a:endParaRPr>
          </a:p>
        </p:txBody>
      </p:sp>
      <p:sp>
        <p:nvSpPr>
          <p:cNvPr id="29" name="矩形: 圆角 28">
            <a:extLst>
              <a:ext uri="{FF2B5EF4-FFF2-40B4-BE49-F238E27FC236}">
                <a16:creationId xmlns:a16="http://schemas.microsoft.com/office/drawing/2014/main" id="{5FD33919-7833-6E71-5712-729E89050027}"/>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10" name="箭头: 左 9">
            <a:extLst>
              <a:ext uri="{FF2B5EF4-FFF2-40B4-BE49-F238E27FC236}">
                <a16:creationId xmlns:a16="http://schemas.microsoft.com/office/drawing/2014/main" id="{663F718E-F0F6-CE18-F9BB-901E94E8148E}"/>
              </a:ext>
            </a:extLst>
          </p:cNvPr>
          <p:cNvSpPr/>
          <p:nvPr/>
        </p:nvSpPr>
        <p:spPr>
          <a:xfrm>
            <a:off x="7136969" y="4396801"/>
            <a:ext cx="1582376" cy="338242"/>
          </a:xfrm>
          <a:prstGeom prst="leftArrow">
            <a:avLst/>
          </a:prstGeom>
          <a:ln/>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2981172B-7F9D-B02B-7AE3-6B02C8BC8CF8}"/>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21" name="标题 20">
            <a:extLst>
              <a:ext uri="{FF2B5EF4-FFF2-40B4-BE49-F238E27FC236}">
                <a16:creationId xmlns:a16="http://schemas.microsoft.com/office/drawing/2014/main" id="{3AE2F280-ACA9-4D4C-9A29-D84CC07C927C}"/>
              </a:ext>
            </a:extLst>
          </p:cNvPr>
          <p:cNvSpPr>
            <a:spLocks noGrp="1"/>
          </p:cNvSpPr>
          <p:nvPr>
            <p:ph type="title"/>
          </p:nvPr>
        </p:nvSpPr>
        <p:spPr/>
        <p:txBody>
          <a:bodyPr/>
          <a:lstStyle/>
          <a:p>
            <a:r>
              <a:rPr lang="en-US" altLang="zh-CN"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hashCode</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方法和</a:t>
            </a:r>
            <a:r>
              <a:rPr lang="en-US" altLang="zh-CN"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equals</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方法的配合流程</a:t>
            </a:r>
            <a:endParaRPr lang="zh-CN" altLang="en-US" dirty="0"/>
          </a:p>
        </p:txBody>
      </p:sp>
    </p:spTree>
    <p:extLst>
      <p:ext uri="{BB962C8B-B14F-4D97-AF65-F5344CB8AC3E}">
        <p14:creationId xmlns:p14="http://schemas.microsoft.com/office/powerpoint/2010/main" val="11040525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repeatCount="3000" fill="remove" grpId="0" nodeType="clickEffect">
                                  <p:stCondLst>
                                    <p:cond delay="0"/>
                                  </p:stCondLst>
                                  <p:childTnLst>
                                    <p:animClr clrSpc="rgb" dir="cw">
                                      <p:cBhvr override="childStyle">
                                        <p:cTn id="6" dur="250" autoRev="1" fill="remove"/>
                                        <p:tgtEl>
                                          <p:spTgt spid="23"/>
                                        </p:tgtEl>
                                        <p:attrNameLst>
                                          <p:attrName>style.color</p:attrName>
                                        </p:attrNameLst>
                                      </p:cBhvr>
                                      <p:to>
                                        <a:schemeClr val="tx1"/>
                                      </p:to>
                                    </p:animClr>
                                    <p:animClr clrSpc="rgb" dir="cw">
                                      <p:cBhvr>
                                        <p:cTn id="7" dur="250" autoRev="1" fill="remove"/>
                                        <p:tgtEl>
                                          <p:spTgt spid="23"/>
                                        </p:tgtEl>
                                        <p:attrNameLst>
                                          <p:attrName>fillcolor</p:attrName>
                                        </p:attrNameLst>
                                      </p:cBhvr>
                                      <p:to>
                                        <a:schemeClr val="tx1"/>
                                      </p:to>
                                    </p:animClr>
                                    <p:set>
                                      <p:cBhvr>
                                        <p:cTn id="8" dur="250" autoRev="1" fill="remove"/>
                                        <p:tgtEl>
                                          <p:spTgt spid="23"/>
                                        </p:tgtEl>
                                        <p:attrNameLst>
                                          <p:attrName>fill.type</p:attrName>
                                        </p:attrNameLst>
                                      </p:cBhvr>
                                      <p:to>
                                        <p:strVal val="solid"/>
                                      </p:to>
                                    </p:set>
                                    <p:set>
                                      <p:cBhvr>
                                        <p:cTn id="9" dur="250" autoRev="1" fill="remove"/>
                                        <p:tgtEl>
                                          <p:spTgt spid="23"/>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50FAA13-A6F1-06E2-58D2-CE222146859D}"/>
              </a:ext>
            </a:extLst>
          </p:cNvPr>
          <p:cNvSpPr txBox="1"/>
          <p:nvPr/>
        </p:nvSpPr>
        <p:spPr>
          <a:xfrm>
            <a:off x="221877" y="1680882"/>
            <a:ext cx="4027394" cy="2400657"/>
          </a:xfrm>
          <a:prstGeom prst="rect">
            <a:avLst/>
          </a:prstGeom>
          <a:solidFill>
            <a:srgbClr val="FFFFE4"/>
          </a:solidFill>
          <a:ln>
            <a:solidFill>
              <a:schemeClr val="tx1"/>
            </a:solidFill>
          </a:ln>
        </p:spPr>
        <p:txBody>
          <a:bodyPr wrap="square" rtlCol="0">
            <a:spAutoFit/>
          </a:bodyPr>
          <a:lstStyle/>
          <a:p>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name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int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age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boolean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Object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o)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方法被调用执行</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en-US" altLang="zh-CN" sz="1000" b="0" i="0" u="none" strike="noStrike" cap="none" normalizeH="0" baseline="0" dirty="0">
                <a:ln>
                  <a:noFill/>
                </a:ln>
                <a:solidFill>
                  <a:srgbClr val="0033B3"/>
                </a:solidFill>
                <a:effectLst/>
                <a:latin typeface="Consolas" panose="020B0609020204030204" pitchFamily="49" charset="0"/>
                <a:ea typeface="JetBrains Mono"/>
              </a:rPr>
              <a:t>...</a:t>
            </a:r>
          </a:p>
          <a:p>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int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hashCode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return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1</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endParaRPr kumimoji="0" lang="zh-CN" altLang="zh-CN" sz="1000" b="0" i="0" u="none" strike="noStrike" cap="none" normalizeH="0" baseline="0" dirty="0">
              <a:ln>
                <a:noFill/>
              </a:ln>
              <a:solidFill>
                <a:schemeClr val="tx1"/>
              </a:solidFill>
              <a:effectLst/>
              <a:latin typeface="Consolas" panose="020B0609020204030204" pitchFamily="49" charset="0"/>
            </a:endParaRPr>
          </a:p>
          <a:p>
            <a:pPr algn="l"/>
            <a:endParaRPr kumimoji="0" lang="zh-CN" altLang="en-US" sz="1000" b="0" i="0" u="none" strike="noStrike" cap="none" normalizeH="0" baseline="0" dirty="0">
              <a:ln>
                <a:noFill/>
              </a:ln>
              <a:solidFill>
                <a:srgbClr val="0033B3"/>
              </a:solidFill>
              <a:effectLst/>
              <a:latin typeface="Consolas" panose="020B0609020204030204" pitchFamily="49" charset="0"/>
              <a:ea typeface="JetBrains Mono"/>
            </a:endParaRPr>
          </a:p>
        </p:txBody>
      </p:sp>
      <p:sp>
        <p:nvSpPr>
          <p:cNvPr id="5" name="文本框 4">
            <a:extLst>
              <a:ext uri="{FF2B5EF4-FFF2-40B4-BE49-F238E27FC236}">
                <a16:creationId xmlns:a16="http://schemas.microsoft.com/office/drawing/2014/main" id="{FF15FEF4-7790-2797-BB10-C16145A1BDD7}"/>
              </a:ext>
            </a:extLst>
          </p:cNvPr>
          <p:cNvSpPr txBox="1"/>
          <p:nvPr/>
        </p:nvSpPr>
        <p:spPr>
          <a:xfrm>
            <a:off x="221877" y="4227234"/>
            <a:ext cx="4027394" cy="1938992"/>
          </a:xfrm>
          <a:prstGeom prst="rect">
            <a:avLst/>
          </a:prstGeom>
          <a:solidFill>
            <a:srgbClr val="FFFFE4"/>
          </a:solid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HashSetDemo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static void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main</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args)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&gt;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HashSet&lt;&gt;();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张三</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23</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李四</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24</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endParaRPr kumimoji="0" lang="zh-CN" altLang="zh-CN" sz="1400" b="0" i="0" u="none" strike="noStrike" cap="none" normalizeH="0" baseline="0" dirty="0">
              <a:ln>
                <a:noFill/>
              </a:ln>
              <a:solidFill>
                <a:schemeClr val="tx1"/>
              </a:solidFill>
              <a:effectLst/>
              <a:latin typeface="Consolas" panose="020B0609020204030204" pitchFamily="49" charset="0"/>
            </a:endParaRPr>
          </a:p>
        </p:txBody>
      </p:sp>
      <p:sp>
        <p:nvSpPr>
          <p:cNvPr id="7" name="文本框 6">
            <a:extLst>
              <a:ext uri="{FF2B5EF4-FFF2-40B4-BE49-F238E27FC236}">
                <a16:creationId xmlns:a16="http://schemas.microsoft.com/office/drawing/2014/main" id="{CFE86F14-71AA-9633-E943-509D74BE1C3A}"/>
              </a:ext>
            </a:extLst>
          </p:cNvPr>
          <p:cNvSpPr txBox="1"/>
          <p:nvPr/>
        </p:nvSpPr>
        <p:spPr>
          <a:xfrm>
            <a:off x="8982636" y="5196730"/>
            <a:ext cx="3127779" cy="1169551"/>
          </a:xfrm>
          <a:prstGeom prst="rect">
            <a:avLst/>
          </a:prstGeom>
          <a:noFill/>
        </p:spPr>
        <p:txBody>
          <a:bodyPr wrap="none" rtlCol="0">
            <a:spAutoFit/>
          </a:bodyPr>
          <a:lstStyle/>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HashSet</a:t>
            </a:r>
            <a:r>
              <a:rPr lang="zh-CN" altLang="en-US" sz="1400" dirty="0">
                <a:solidFill>
                  <a:srgbClr val="0033B3"/>
                </a:solidFill>
                <a:latin typeface="杨任东竹石体-Bold" panose="02000000000000000000" pitchFamily="2" charset="-122"/>
                <a:ea typeface="杨任东竹石体-Bold" panose="02000000000000000000" pitchFamily="2" charset="-122"/>
              </a:rPr>
              <a:t>底层的数据结构是哈希表结构 </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endParaRPr kumimoji="0" lang="en-US" altLang="zh-CN"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a:p>
            <a:pPr algn="l"/>
            <a:r>
              <a:rPr lang="zh-CN" altLang="en-US" sz="1400" dirty="0">
                <a:solidFill>
                  <a:srgbClr val="0033B3"/>
                </a:solidFill>
                <a:latin typeface="杨任东竹石体-Bold" panose="02000000000000000000" pitchFamily="2" charset="-122"/>
                <a:ea typeface="杨任东竹石体-Bold" panose="02000000000000000000" pitchFamily="2" charset="-122"/>
              </a:rPr>
              <a:t>哈希表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版本之前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版本之后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红黑树</a:t>
            </a:r>
            <a:endParaRPr kumimoji="0" lang="zh-CN" altLang="en-US"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p:txBody>
      </p:sp>
      <p:sp>
        <p:nvSpPr>
          <p:cNvPr id="9" name="矩形: 圆角 8">
            <a:extLst>
              <a:ext uri="{FF2B5EF4-FFF2-40B4-BE49-F238E27FC236}">
                <a16:creationId xmlns:a16="http://schemas.microsoft.com/office/drawing/2014/main" id="{BDA45E1E-2A70-5024-5BDF-31D0E92D3DA7}"/>
              </a:ext>
            </a:extLst>
          </p:cNvPr>
          <p:cNvSpPr/>
          <p:nvPr/>
        </p:nvSpPr>
        <p:spPr>
          <a:xfrm>
            <a:off x="4558553" y="168088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5DA57C1D-DC40-2406-B045-2EE204F3EA11}"/>
              </a:ext>
            </a:extLst>
          </p:cNvPr>
          <p:cNvCxnSpPr>
            <a:cxnSpLocks/>
          </p:cNvCxnSpPr>
          <p:nvPr/>
        </p:nvCxnSpPr>
        <p:spPr>
          <a:xfrm>
            <a:off x="5587252"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22280C04-0594-DE48-B488-AD6907107085}"/>
              </a:ext>
            </a:extLst>
          </p:cNvPr>
          <p:cNvCxnSpPr>
            <a:cxnSpLocks/>
          </p:cNvCxnSpPr>
          <p:nvPr/>
        </p:nvCxnSpPr>
        <p:spPr>
          <a:xfrm>
            <a:off x="6631283"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89C1DAB1-E89C-51FE-BE54-C7899881D71B}"/>
              </a:ext>
            </a:extLst>
          </p:cNvPr>
          <p:cNvCxnSpPr>
            <a:cxnSpLocks/>
          </p:cNvCxnSpPr>
          <p:nvPr/>
        </p:nvCxnSpPr>
        <p:spPr>
          <a:xfrm>
            <a:off x="7675314"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FCBE0A88-129E-1586-FE05-3134924DA347}"/>
              </a:ext>
            </a:extLst>
          </p:cNvPr>
          <p:cNvCxnSpPr>
            <a:cxnSpLocks/>
          </p:cNvCxnSpPr>
          <p:nvPr/>
        </p:nvCxnSpPr>
        <p:spPr>
          <a:xfrm>
            <a:off x="8719345"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D3C8CDE3-F2E9-4A2B-D76E-D1F6EA81E8D6}"/>
              </a:ext>
            </a:extLst>
          </p:cNvPr>
          <p:cNvCxnSpPr>
            <a:cxnSpLocks/>
          </p:cNvCxnSpPr>
          <p:nvPr/>
        </p:nvCxnSpPr>
        <p:spPr>
          <a:xfrm>
            <a:off x="9763376"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EC4B0208-4739-FF4E-E10E-C7CEFEABF9A1}"/>
              </a:ext>
            </a:extLst>
          </p:cNvPr>
          <p:cNvCxnSpPr>
            <a:cxnSpLocks/>
          </p:cNvCxnSpPr>
          <p:nvPr/>
        </p:nvCxnSpPr>
        <p:spPr>
          <a:xfrm>
            <a:off x="10807409" y="168088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18" name="矩形: 圆角 17">
            <a:extLst>
              <a:ext uri="{FF2B5EF4-FFF2-40B4-BE49-F238E27FC236}">
                <a16:creationId xmlns:a16="http://schemas.microsoft.com/office/drawing/2014/main" id="{4236C6D8-805B-28E2-8061-96CE3931BEF7}"/>
              </a:ext>
            </a:extLst>
          </p:cNvPr>
          <p:cNvSpPr/>
          <p:nvPr/>
        </p:nvSpPr>
        <p:spPr>
          <a:xfrm>
            <a:off x="5265850" y="3303860"/>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张三，</a:t>
            </a:r>
            <a:r>
              <a:rPr lang="en-US" altLang="zh-CN" dirty="0">
                <a:latin typeface="杨任东竹石体-Bold" panose="02000000000000000000" pitchFamily="2" charset="-122"/>
                <a:ea typeface="杨任东竹石体-Bold" panose="02000000000000000000" pitchFamily="2" charset="-122"/>
              </a:rPr>
              <a:t>23</a:t>
            </a:r>
            <a:endParaRPr lang="zh-CN" altLang="en-US" dirty="0">
              <a:latin typeface="杨任东竹石体-Bold" panose="02000000000000000000" pitchFamily="2" charset="-122"/>
              <a:ea typeface="杨任东竹石体-Bold" panose="02000000000000000000" pitchFamily="2" charset="-122"/>
            </a:endParaRPr>
          </a:p>
        </p:txBody>
      </p:sp>
      <p:sp>
        <p:nvSpPr>
          <p:cNvPr id="19" name="文本框 18">
            <a:extLst>
              <a:ext uri="{FF2B5EF4-FFF2-40B4-BE49-F238E27FC236}">
                <a16:creationId xmlns:a16="http://schemas.microsoft.com/office/drawing/2014/main" id="{ABBBC050-E6CC-7D99-DC1A-164DB4BC6E52}"/>
              </a:ext>
            </a:extLst>
          </p:cNvPr>
          <p:cNvSpPr txBox="1"/>
          <p:nvPr/>
        </p:nvSpPr>
        <p:spPr>
          <a:xfrm>
            <a:off x="4871447" y="2692824"/>
            <a:ext cx="7320553" cy="276999"/>
          </a:xfrm>
          <a:prstGeom prst="rect">
            <a:avLst/>
          </a:prstGeom>
          <a:noFill/>
        </p:spPr>
        <p:txBody>
          <a:bodyPr wrap="square" rtlCol="0">
            <a:spAutoFit/>
          </a:bodyPr>
          <a:lstStyle/>
          <a:p>
            <a:pPr algn="l"/>
            <a:r>
              <a:rPr kumimoji="0" lang="en-US" altLang="zh-CN"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rPr>
              <a:t>0            1            2           3           4            5            6</a:t>
            </a:r>
            <a:endParaRPr kumimoji="0" lang="zh-CN" altLang="en-US"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endParaRPr>
          </a:p>
        </p:txBody>
      </p:sp>
      <p:sp>
        <p:nvSpPr>
          <p:cNvPr id="20" name="矩形 19">
            <a:extLst>
              <a:ext uri="{FF2B5EF4-FFF2-40B4-BE49-F238E27FC236}">
                <a16:creationId xmlns:a16="http://schemas.microsoft.com/office/drawing/2014/main" id="{F379E318-6AF2-C592-8CB5-267FE9E422FF}"/>
              </a:ext>
            </a:extLst>
          </p:cNvPr>
          <p:cNvSpPr/>
          <p:nvPr/>
        </p:nvSpPr>
        <p:spPr>
          <a:xfrm>
            <a:off x="221877" y="3186952"/>
            <a:ext cx="4027394" cy="732865"/>
          </a:xfrm>
          <a:prstGeom prst="rect">
            <a:avLst/>
          </a:prstGeom>
          <a:solidFill>
            <a:schemeClr val="accent2">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cxnSp>
        <p:nvCxnSpPr>
          <p:cNvPr id="4" name="直接箭头连接符 3">
            <a:extLst>
              <a:ext uri="{FF2B5EF4-FFF2-40B4-BE49-F238E27FC236}">
                <a16:creationId xmlns:a16="http://schemas.microsoft.com/office/drawing/2014/main" id="{E8B21907-126F-0EE1-8FDB-C322E497C11A}"/>
              </a:ext>
            </a:extLst>
          </p:cNvPr>
          <p:cNvCxnSpPr>
            <a:cxnSpLocks/>
          </p:cNvCxnSpPr>
          <p:nvPr/>
        </p:nvCxnSpPr>
        <p:spPr>
          <a:xfrm>
            <a:off x="5847229" y="2507876"/>
            <a:ext cx="0" cy="795984"/>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矩形: 圆角 5">
            <a:extLst>
              <a:ext uri="{FF2B5EF4-FFF2-40B4-BE49-F238E27FC236}">
                <a16:creationId xmlns:a16="http://schemas.microsoft.com/office/drawing/2014/main" id="{CF1033C0-990F-1828-8B5B-CEF2D4756CC3}"/>
              </a:ext>
            </a:extLst>
          </p:cNvPr>
          <p:cNvSpPr/>
          <p:nvPr/>
        </p:nvSpPr>
        <p:spPr>
          <a:xfrm>
            <a:off x="5265850" y="4334763"/>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李四，</a:t>
            </a:r>
            <a:r>
              <a:rPr lang="en-US" altLang="zh-CN" dirty="0">
                <a:latin typeface="杨任东竹石体-Bold" panose="02000000000000000000" pitchFamily="2" charset="-122"/>
                <a:ea typeface="杨任东竹石体-Bold" panose="02000000000000000000" pitchFamily="2" charset="-122"/>
              </a:rPr>
              <a:t>24</a:t>
            </a:r>
            <a:endParaRPr lang="zh-CN" altLang="en-US" dirty="0">
              <a:latin typeface="杨任东竹石体-Bold" panose="02000000000000000000" pitchFamily="2" charset="-122"/>
              <a:ea typeface="杨任东竹石体-Bold" panose="02000000000000000000" pitchFamily="2" charset="-122"/>
            </a:endParaRPr>
          </a:p>
        </p:txBody>
      </p:sp>
      <p:sp>
        <p:nvSpPr>
          <p:cNvPr id="23" name="矩形 22">
            <a:extLst>
              <a:ext uri="{FF2B5EF4-FFF2-40B4-BE49-F238E27FC236}">
                <a16:creationId xmlns:a16="http://schemas.microsoft.com/office/drawing/2014/main" id="{28B8DB4B-3768-34A8-C00C-6A14747E5287}"/>
              </a:ext>
            </a:extLst>
          </p:cNvPr>
          <p:cNvSpPr/>
          <p:nvPr/>
        </p:nvSpPr>
        <p:spPr>
          <a:xfrm>
            <a:off x="221877" y="2349858"/>
            <a:ext cx="4027394" cy="795984"/>
          </a:xfrm>
          <a:prstGeom prst="rect">
            <a:avLst/>
          </a:prstGeom>
          <a:solidFill>
            <a:schemeClr val="accent1">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dirty="0"/>
          </a:p>
        </p:txBody>
      </p:sp>
      <p:cxnSp>
        <p:nvCxnSpPr>
          <p:cNvPr id="3" name="直接箭头连接符 2">
            <a:extLst>
              <a:ext uri="{FF2B5EF4-FFF2-40B4-BE49-F238E27FC236}">
                <a16:creationId xmlns:a16="http://schemas.microsoft.com/office/drawing/2014/main" id="{187C8DB7-2C6E-7AFD-5F21-16676C2208D9}"/>
              </a:ext>
            </a:extLst>
          </p:cNvPr>
          <p:cNvCxnSpPr>
            <a:cxnSpLocks/>
          </p:cNvCxnSpPr>
          <p:nvPr/>
        </p:nvCxnSpPr>
        <p:spPr>
          <a:xfrm>
            <a:off x="5847229" y="3829242"/>
            <a:ext cx="0" cy="505521"/>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圆角 27">
            <a:extLst>
              <a:ext uri="{FF2B5EF4-FFF2-40B4-BE49-F238E27FC236}">
                <a16:creationId xmlns:a16="http://schemas.microsoft.com/office/drawing/2014/main" id="{D7F6EC65-6743-2235-AD60-0A956162D649}"/>
              </a:ext>
            </a:extLst>
          </p:cNvPr>
          <p:cNvSpPr/>
          <p:nvPr/>
        </p:nvSpPr>
        <p:spPr>
          <a:xfrm>
            <a:off x="5265849" y="5339332"/>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25</a:t>
            </a:r>
            <a:endParaRPr lang="zh-CN" altLang="en-US" dirty="0">
              <a:latin typeface="杨任东竹石体-Bold" panose="02000000000000000000" pitchFamily="2" charset="-122"/>
              <a:ea typeface="杨任东竹石体-Bold" panose="02000000000000000000" pitchFamily="2" charset="-122"/>
            </a:endParaRPr>
          </a:p>
        </p:txBody>
      </p:sp>
      <p:cxnSp>
        <p:nvCxnSpPr>
          <p:cNvPr id="10" name="直接箭头连接符 9">
            <a:extLst>
              <a:ext uri="{FF2B5EF4-FFF2-40B4-BE49-F238E27FC236}">
                <a16:creationId xmlns:a16="http://schemas.microsoft.com/office/drawing/2014/main" id="{22671144-BB12-39F1-25E5-1E2EA09961BF}"/>
              </a:ext>
            </a:extLst>
          </p:cNvPr>
          <p:cNvCxnSpPr>
            <a:cxnSpLocks/>
          </p:cNvCxnSpPr>
          <p:nvPr/>
        </p:nvCxnSpPr>
        <p:spPr>
          <a:xfrm>
            <a:off x="5847229" y="4833811"/>
            <a:ext cx="0" cy="505521"/>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圆角 20">
            <a:extLst>
              <a:ext uri="{FF2B5EF4-FFF2-40B4-BE49-F238E27FC236}">
                <a16:creationId xmlns:a16="http://schemas.microsoft.com/office/drawing/2014/main" id="{257A22D6-FD8E-3912-9527-F052397030E8}"/>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22" name="矩形: 圆角 21">
            <a:extLst>
              <a:ext uri="{FF2B5EF4-FFF2-40B4-BE49-F238E27FC236}">
                <a16:creationId xmlns:a16="http://schemas.microsoft.com/office/drawing/2014/main" id="{03BE5446-C22B-6438-4CA3-494AC57C2CB8}"/>
              </a:ext>
            </a:extLst>
          </p:cNvPr>
          <p:cNvSpPr/>
          <p:nvPr/>
        </p:nvSpPr>
        <p:spPr>
          <a:xfrm>
            <a:off x="7059046" y="6116757"/>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25</a:t>
            </a:r>
            <a:endParaRPr lang="zh-CN" altLang="en-US" dirty="0">
              <a:latin typeface="杨任东竹石体-Bold" panose="02000000000000000000" pitchFamily="2" charset="-122"/>
              <a:ea typeface="杨任东竹石体-Bold" panose="02000000000000000000" pitchFamily="2" charset="-122"/>
            </a:endParaRPr>
          </a:p>
        </p:txBody>
      </p:sp>
      <p:sp>
        <p:nvSpPr>
          <p:cNvPr id="24" name="箭头: 左 23">
            <a:extLst>
              <a:ext uri="{FF2B5EF4-FFF2-40B4-BE49-F238E27FC236}">
                <a16:creationId xmlns:a16="http://schemas.microsoft.com/office/drawing/2014/main" id="{DA4E7E50-DA4C-BED1-9A33-8E1BCF4F49DA}"/>
              </a:ext>
            </a:extLst>
          </p:cNvPr>
          <p:cNvSpPr/>
          <p:nvPr/>
        </p:nvSpPr>
        <p:spPr>
          <a:xfrm>
            <a:off x="7151540" y="3354388"/>
            <a:ext cx="1582376" cy="338242"/>
          </a:xfrm>
          <a:prstGeom prst="leftArrow">
            <a:avLst/>
          </a:prstGeom>
          <a:ln/>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dirty="0"/>
          </a:p>
        </p:txBody>
      </p:sp>
      <p:sp>
        <p:nvSpPr>
          <p:cNvPr id="25" name="矩形: 圆角 24">
            <a:extLst>
              <a:ext uri="{FF2B5EF4-FFF2-40B4-BE49-F238E27FC236}">
                <a16:creationId xmlns:a16="http://schemas.microsoft.com/office/drawing/2014/main" id="{6BA58223-B0E8-DE6A-A3F0-E8719B242E1D}"/>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12" name="标题 11">
            <a:extLst>
              <a:ext uri="{FF2B5EF4-FFF2-40B4-BE49-F238E27FC236}">
                <a16:creationId xmlns:a16="http://schemas.microsoft.com/office/drawing/2014/main" id="{8B300727-14C3-9C82-4B6E-8512B020BB30}"/>
              </a:ext>
            </a:extLst>
          </p:cNvPr>
          <p:cNvSpPr>
            <a:spLocks noGrp="1"/>
          </p:cNvSpPr>
          <p:nvPr>
            <p:ph type="title"/>
          </p:nvPr>
        </p:nvSpPr>
        <p:spPr/>
        <p:txBody>
          <a:bodyPr/>
          <a:lstStyle/>
          <a:p>
            <a:r>
              <a:rPr lang="en-US" altLang="zh-CN"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hashCode</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方法和</a:t>
            </a:r>
            <a:r>
              <a:rPr lang="en-US" altLang="zh-CN"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equals</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方法的配合流程</a:t>
            </a:r>
            <a:endParaRPr lang="zh-CN" altLang="en-US" dirty="0"/>
          </a:p>
        </p:txBody>
      </p:sp>
    </p:spTree>
    <p:extLst>
      <p:ext uri="{BB962C8B-B14F-4D97-AF65-F5344CB8AC3E}">
        <p14:creationId xmlns:p14="http://schemas.microsoft.com/office/powerpoint/2010/main" val="38453899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childTnLst>
                    </p:cTn>
                  </p:par>
                  <p:par>
                    <p:cTn id="10" fill="hold">
                      <p:stCondLst>
                        <p:cond delay="indefinite"/>
                      </p:stCondLst>
                      <p:childTnLst>
                        <p:par>
                          <p:cTn id="11" fill="hold">
                            <p:stCondLst>
                              <p:cond delay="0"/>
                            </p:stCondLst>
                            <p:childTnLst>
                              <p:par>
                                <p:cTn id="12" presetID="27" presetClass="emph" presetSubtype="0" repeatCount="3000" fill="remove" grpId="0" nodeType="clickEffect">
                                  <p:stCondLst>
                                    <p:cond delay="0"/>
                                  </p:stCondLst>
                                  <p:childTnLst>
                                    <p:animClr clrSpc="rgb" dir="cw">
                                      <p:cBhvr override="childStyle">
                                        <p:cTn id="13" dur="250" autoRev="1" fill="remove"/>
                                        <p:tgtEl>
                                          <p:spTgt spid="20"/>
                                        </p:tgtEl>
                                        <p:attrNameLst>
                                          <p:attrName>style.color</p:attrName>
                                        </p:attrNameLst>
                                      </p:cBhvr>
                                      <p:to>
                                        <a:schemeClr val="hlink"/>
                                      </p:to>
                                    </p:animClr>
                                    <p:animClr clrSpc="rgb" dir="cw">
                                      <p:cBhvr>
                                        <p:cTn id="14" dur="250" autoRev="1" fill="remove"/>
                                        <p:tgtEl>
                                          <p:spTgt spid="20"/>
                                        </p:tgtEl>
                                        <p:attrNameLst>
                                          <p:attrName>fillcolor</p:attrName>
                                        </p:attrNameLst>
                                      </p:cBhvr>
                                      <p:to>
                                        <a:schemeClr val="hlink"/>
                                      </p:to>
                                    </p:animClr>
                                    <p:set>
                                      <p:cBhvr>
                                        <p:cTn id="15" dur="250" autoRev="1" fill="remove"/>
                                        <p:tgtEl>
                                          <p:spTgt spid="20"/>
                                        </p:tgtEl>
                                        <p:attrNameLst>
                                          <p:attrName>fill.type</p:attrName>
                                        </p:attrNameLst>
                                      </p:cBhvr>
                                      <p:to>
                                        <p:strVal val="solid"/>
                                      </p:to>
                                    </p:set>
                                    <p:set>
                                      <p:cBhvr>
                                        <p:cTn id="16" dur="250" autoRev="1" fill="remove"/>
                                        <p:tgtEl>
                                          <p:spTgt spid="20"/>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27" presetClass="emph" presetSubtype="0" repeatCount="3000" fill="remove" grpId="0" nodeType="clickEffect">
                                  <p:stCondLst>
                                    <p:cond delay="0"/>
                                  </p:stCondLst>
                                  <p:childTnLst>
                                    <p:animClr clrSpc="rgb" dir="cw">
                                      <p:cBhvr override="childStyle">
                                        <p:cTn id="20" dur="250" autoRev="1" fill="remove"/>
                                        <p:tgtEl>
                                          <p:spTgt spid="23"/>
                                        </p:tgtEl>
                                        <p:attrNameLst>
                                          <p:attrName>style.color</p:attrName>
                                        </p:attrNameLst>
                                      </p:cBhvr>
                                      <p:to>
                                        <a:schemeClr val="tx1"/>
                                      </p:to>
                                    </p:animClr>
                                    <p:animClr clrSpc="rgb" dir="cw">
                                      <p:cBhvr>
                                        <p:cTn id="21" dur="250" autoRev="1" fill="remove"/>
                                        <p:tgtEl>
                                          <p:spTgt spid="23"/>
                                        </p:tgtEl>
                                        <p:attrNameLst>
                                          <p:attrName>fillcolor</p:attrName>
                                        </p:attrNameLst>
                                      </p:cBhvr>
                                      <p:to>
                                        <a:schemeClr val="tx1"/>
                                      </p:to>
                                    </p:animClr>
                                    <p:set>
                                      <p:cBhvr>
                                        <p:cTn id="22" dur="250" autoRev="1" fill="remove"/>
                                        <p:tgtEl>
                                          <p:spTgt spid="23"/>
                                        </p:tgtEl>
                                        <p:attrNameLst>
                                          <p:attrName>fill.type</p:attrName>
                                        </p:attrNameLst>
                                      </p:cBhvr>
                                      <p:to>
                                        <p:strVal val="solid"/>
                                      </p:to>
                                    </p:set>
                                    <p:set>
                                      <p:cBhvr>
                                        <p:cTn id="23" dur="250" autoRev="1" fill="remove"/>
                                        <p:tgtEl>
                                          <p:spTgt spid="23"/>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right)">
                                      <p:cBhvr>
                                        <p:cTn id="28" dur="500"/>
                                        <p:tgtEl>
                                          <p:spTgt spid="2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P spid="22" grpId="0" animBg="1"/>
      <p:bldP spid="24" grpId="0" animBg="1"/>
      <p:bldP spid="2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50FAA13-A6F1-06E2-58D2-CE222146859D}"/>
              </a:ext>
            </a:extLst>
          </p:cNvPr>
          <p:cNvSpPr txBox="1"/>
          <p:nvPr/>
        </p:nvSpPr>
        <p:spPr>
          <a:xfrm>
            <a:off x="221877" y="1680882"/>
            <a:ext cx="4027394" cy="2400657"/>
          </a:xfrm>
          <a:prstGeom prst="rect">
            <a:avLst/>
          </a:prstGeom>
          <a:solidFill>
            <a:srgbClr val="FFFFE4"/>
          </a:solidFill>
          <a:ln>
            <a:solidFill>
              <a:schemeClr val="tx1"/>
            </a:solidFill>
          </a:ln>
        </p:spPr>
        <p:txBody>
          <a:bodyPr wrap="square" rtlCol="0">
            <a:spAutoFit/>
          </a:bodyPr>
          <a:lstStyle/>
          <a:p>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name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int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age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boolean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Object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o)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方法被调用执行</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en-US" altLang="zh-CN" sz="1000" b="0" i="0" u="none" strike="noStrike" cap="none" normalizeH="0" baseline="0" dirty="0">
                <a:ln>
                  <a:noFill/>
                </a:ln>
                <a:solidFill>
                  <a:srgbClr val="0033B3"/>
                </a:solidFill>
                <a:effectLst/>
                <a:latin typeface="Consolas" panose="020B0609020204030204" pitchFamily="49" charset="0"/>
                <a:ea typeface="JetBrains Mono"/>
              </a:rPr>
              <a:t>...</a:t>
            </a:r>
          </a:p>
          <a:p>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int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hashCode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return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1</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endParaRPr kumimoji="0" lang="zh-CN" altLang="zh-CN" sz="1000" b="0" i="0" u="none" strike="noStrike" cap="none" normalizeH="0" baseline="0" dirty="0">
              <a:ln>
                <a:noFill/>
              </a:ln>
              <a:solidFill>
                <a:schemeClr val="tx1"/>
              </a:solidFill>
              <a:effectLst/>
              <a:latin typeface="Consolas" panose="020B0609020204030204" pitchFamily="49" charset="0"/>
            </a:endParaRPr>
          </a:p>
          <a:p>
            <a:pPr algn="l"/>
            <a:endParaRPr kumimoji="0" lang="zh-CN" altLang="en-US" sz="1000" b="0" i="0" u="none" strike="noStrike" cap="none" normalizeH="0" baseline="0" dirty="0">
              <a:ln>
                <a:noFill/>
              </a:ln>
              <a:solidFill>
                <a:srgbClr val="0033B3"/>
              </a:solidFill>
              <a:effectLst/>
              <a:latin typeface="Consolas" panose="020B0609020204030204" pitchFamily="49" charset="0"/>
              <a:ea typeface="JetBrains Mono"/>
            </a:endParaRPr>
          </a:p>
        </p:txBody>
      </p:sp>
      <p:sp>
        <p:nvSpPr>
          <p:cNvPr id="5" name="文本框 4">
            <a:extLst>
              <a:ext uri="{FF2B5EF4-FFF2-40B4-BE49-F238E27FC236}">
                <a16:creationId xmlns:a16="http://schemas.microsoft.com/office/drawing/2014/main" id="{FF15FEF4-7790-2797-BB10-C16145A1BDD7}"/>
              </a:ext>
            </a:extLst>
          </p:cNvPr>
          <p:cNvSpPr txBox="1"/>
          <p:nvPr/>
        </p:nvSpPr>
        <p:spPr>
          <a:xfrm>
            <a:off x="221877" y="4227234"/>
            <a:ext cx="4027394" cy="1938992"/>
          </a:xfrm>
          <a:prstGeom prst="rect">
            <a:avLst/>
          </a:prstGeom>
          <a:solidFill>
            <a:srgbClr val="FFFFE4"/>
          </a:solid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HashSetDemo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static void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main</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args)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&gt;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HashSet&lt;&gt;();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张三</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23</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李四</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24</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endParaRPr kumimoji="0" lang="zh-CN" altLang="zh-CN" sz="1400" b="0" i="0" u="none" strike="noStrike" cap="none" normalizeH="0" baseline="0" dirty="0">
              <a:ln>
                <a:noFill/>
              </a:ln>
              <a:solidFill>
                <a:schemeClr val="tx1"/>
              </a:solidFill>
              <a:effectLst/>
              <a:latin typeface="Consolas" panose="020B0609020204030204" pitchFamily="49" charset="0"/>
            </a:endParaRPr>
          </a:p>
        </p:txBody>
      </p:sp>
      <p:sp>
        <p:nvSpPr>
          <p:cNvPr id="7" name="文本框 6">
            <a:extLst>
              <a:ext uri="{FF2B5EF4-FFF2-40B4-BE49-F238E27FC236}">
                <a16:creationId xmlns:a16="http://schemas.microsoft.com/office/drawing/2014/main" id="{CFE86F14-71AA-9633-E943-509D74BE1C3A}"/>
              </a:ext>
            </a:extLst>
          </p:cNvPr>
          <p:cNvSpPr txBox="1"/>
          <p:nvPr/>
        </p:nvSpPr>
        <p:spPr>
          <a:xfrm>
            <a:off x="8982636" y="5196730"/>
            <a:ext cx="3127779" cy="1169551"/>
          </a:xfrm>
          <a:prstGeom prst="rect">
            <a:avLst/>
          </a:prstGeom>
          <a:noFill/>
        </p:spPr>
        <p:txBody>
          <a:bodyPr wrap="none" rtlCol="0">
            <a:spAutoFit/>
          </a:bodyPr>
          <a:lstStyle/>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HashSet</a:t>
            </a:r>
            <a:r>
              <a:rPr lang="zh-CN" altLang="en-US" sz="1400" dirty="0">
                <a:solidFill>
                  <a:srgbClr val="0033B3"/>
                </a:solidFill>
                <a:latin typeface="杨任东竹石体-Bold" panose="02000000000000000000" pitchFamily="2" charset="-122"/>
                <a:ea typeface="杨任东竹石体-Bold" panose="02000000000000000000" pitchFamily="2" charset="-122"/>
              </a:rPr>
              <a:t>底层的数据结构是哈希表结构 </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endParaRPr kumimoji="0" lang="en-US" altLang="zh-CN"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a:p>
            <a:pPr algn="l"/>
            <a:r>
              <a:rPr lang="zh-CN" altLang="en-US" sz="1400" dirty="0">
                <a:solidFill>
                  <a:srgbClr val="0033B3"/>
                </a:solidFill>
                <a:latin typeface="杨任东竹石体-Bold" panose="02000000000000000000" pitchFamily="2" charset="-122"/>
                <a:ea typeface="杨任东竹石体-Bold" panose="02000000000000000000" pitchFamily="2" charset="-122"/>
              </a:rPr>
              <a:t>哈希表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版本之前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版本之后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红黑树</a:t>
            </a:r>
            <a:endParaRPr kumimoji="0" lang="zh-CN" altLang="en-US"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p:txBody>
      </p:sp>
      <p:sp>
        <p:nvSpPr>
          <p:cNvPr id="9" name="矩形: 圆角 8">
            <a:extLst>
              <a:ext uri="{FF2B5EF4-FFF2-40B4-BE49-F238E27FC236}">
                <a16:creationId xmlns:a16="http://schemas.microsoft.com/office/drawing/2014/main" id="{BDA45E1E-2A70-5024-5BDF-31D0E92D3DA7}"/>
              </a:ext>
            </a:extLst>
          </p:cNvPr>
          <p:cNvSpPr/>
          <p:nvPr/>
        </p:nvSpPr>
        <p:spPr>
          <a:xfrm>
            <a:off x="4558553" y="168088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5DA57C1D-DC40-2406-B045-2EE204F3EA11}"/>
              </a:ext>
            </a:extLst>
          </p:cNvPr>
          <p:cNvCxnSpPr>
            <a:cxnSpLocks/>
          </p:cNvCxnSpPr>
          <p:nvPr/>
        </p:nvCxnSpPr>
        <p:spPr>
          <a:xfrm>
            <a:off x="5587252"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22280C04-0594-DE48-B488-AD6907107085}"/>
              </a:ext>
            </a:extLst>
          </p:cNvPr>
          <p:cNvCxnSpPr>
            <a:cxnSpLocks/>
          </p:cNvCxnSpPr>
          <p:nvPr/>
        </p:nvCxnSpPr>
        <p:spPr>
          <a:xfrm>
            <a:off x="6631283"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89C1DAB1-E89C-51FE-BE54-C7899881D71B}"/>
              </a:ext>
            </a:extLst>
          </p:cNvPr>
          <p:cNvCxnSpPr>
            <a:cxnSpLocks/>
          </p:cNvCxnSpPr>
          <p:nvPr/>
        </p:nvCxnSpPr>
        <p:spPr>
          <a:xfrm>
            <a:off x="7675314"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FCBE0A88-129E-1586-FE05-3134924DA347}"/>
              </a:ext>
            </a:extLst>
          </p:cNvPr>
          <p:cNvCxnSpPr>
            <a:cxnSpLocks/>
          </p:cNvCxnSpPr>
          <p:nvPr/>
        </p:nvCxnSpPr>
        <p:spPr>
          <a:xfrm>
            <a:off x="8719345"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D3C8CDE3-F2E9-4A2B-D76E-D1F6EA81E8D6}"/>
              </a:ext>
            </a:extLst>
          </p:cNvPr>
          <p:cNvCxnSpPr>
            <a:cxnSpLocks/>
          </p:cNvCxnSpPr>
          <p:nvPr/>
        </p:nvCxnSpPr>
        <p:spPr>
          <a:xfrm>
            <a:off x="9763376"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EC4B0208-4739-FF4E-E10E-C7CEFEABF9A1}"/>
              </a:ext>
            </a:extLst>
          </p:cNvPr>
          <p:cNvCxnSpPr>
            <a:cxnSpLocks/>
          </p:cNvCxnSpPr>
          <p:nvPr/>
        </p:nvCxnSpPr>
        <p:spPr>
          <a:xfrm>
            <a:off x="10807409" y="168088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18" name="矩形: 圆角 17">
            <a:extLst>
              <a:ext uri="{FF2B5EF4-FFF2-40B4-BE49-F238E27FC236}">
                <a16:creationId xmlns:a16="http://schemas.microsoft.com/office/drawing/2014/main" id="{4236C6D8-805B-28E2-8061-96CE3931BEF7}"/>
              </a:ext>
            </a:extLst>
          </p:cNvPr>
          <p:cNvSpPr/>
          <p:nvPr/>
        </p:nvSpPr>
        <p:spPr>
          <a:xfrm>
            <a:off x="5265850" y="3303860"/>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张三，</a:t>
            </a:r>
            <a:r>
              <a:rPr lang="en-US" altLang="zh-CN" dirty="0">
                <a:latin typeface="杨任东竹石体-Bold" panose="02000000000000000000" pitchFamily="2" charset="-122"/>
                <a:ea typeface="杨任东竹石体-Bold" panose="02000000000000000000" pitchFamily="2" charset="-122"/>
              </a:rPr>
              <a:t>23</a:t>
            </a:r>
            <a:endParaRPr lang="zh-CN" altLang="en-US" dirty="0">
              <a:latin typeface="杨任东竹石体-Bold" panose="02000000000000000000" pitchFamily="2" charset="-122"/>
              <a:ea typeface="杨任东竹石体-Bold" panose="02000000000000000000" pitchFamily="2" charset="-122"/>
            </a:endParaRPr>
          </a:p>
        </p:txBody>
      </p:sp>
      <p:sp>
        <p:nvSpPr>
          <p:cNvPr id="19" name="文本框 18">
            <a:extLst>
              <a:ext uri="{FF2B5EF4-FFF2-40B4-BE49-F238E27FC236}">
                <a16:creationId xmlns:a16="http://schemas.microsoft.com/office/drawing/2014/main" id="{ABBBC050-E6CC-7D99-DC1A-164DB4BC6E52}"/>
              </a:ext>
            </a:extLst>
          </p:cNvPr>
          <p:cNvSpPr txBox="1"/>
          <p:nvPr/>
        </p:nvSpPr>
        <p:spPr>
          <a:xfrm>
            <a:off x="4871447" y="2692824"/>
            <a:ext cx="7320553" cy="276999"/>
          </a:xfrm>
          <a:prstGeom prst="rect">
            <a:avLst/>
          </a:prstGeom>
          <a:noFill/>
        </p:spPr>
        <p:txBody>
          <a:bodyPr wrap="square" rtlCol="0">
            <a:spAutoFit/>
          </a:bodyPr>
          <a:lstStyle/>
          <a:p>
            <a:pPr algn="l"/>
            <a:r>
              <a:rPr kumimoji="0" lang="en-US" altLang="zh-CN"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rPr>
              <a:t>0            1            2           3           4            5            6</a:t>
            </a:r>
            <a:endParaRPr kumimoji="0" lang="zh-CN" altLang="en-US"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endParaRPr>
          </a:p>
        </p:txBody>
      </p:sp>
      <p:sp>
        <p:nvSpPr>
          <p:cNvPr id="20" name="矩形 19">
            <a:extLst>
              <a:ext uri="{FF2B5EF4-FFF2-40B4-BE49-F238E27FC236}">
                <a16:creationId xmlns:a16="http://schemas.microsoft.com/office/drawing/2014/main" id="{F379E318-6AF2-C592-8CB5-267FE9E422FF}"/>
              </a:ext>
            </a:extLst>
          </p:cNvPr>
          <p:cNvSpPr/>
          <p:nvPr/>
        </p:nvSpPr>
        <p:spPr>
          <a:xfrm>
            <a:off x="221877" y="3186952"/>
            <a:ext cx="4027394" cy="732865"/>
          </a:xfrm>
          <a:prstGeom prst="rect">
            <a:avLst/>
          </a:prstGeom>
          <a:solidFill>
            <a:schemeClr val="accent2">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cxnSp>
        <p:nvCxnSpPr>
          <p:cNvPr id="4" name="直接箭头连接符 3">
            <a:extLst>
              <a:ext uri="{FF2B5EF4-FFF2-40B4-BE49-F238E27FC236}">
                <a16:creationId xmlns:a16="http://schemas.microsoft.com/office/drawing/2014/main" id="{E8B21907-126F-0EE1-8FDB-C322E497C11A}"/>
              </a:ext>
            </a:extLst>
          </p:cNvPr>
          <p:cNvCxnSpPr>
            <a:cxnSpLocks/>
          </p:cNvCxnSpPr>
          <p:nvPr/>
        </p:nvCxnSpPr>
        <p:spPr>
          <a:xfrm>
            <a:off x="5847229" y="2507876"/>
            <a:ext cx="0" cy="795984"/>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矩形: 圆角 5">
            <a:extLst>
              <a:ext uri="{FF2B5EF4-FFF2-40B4-BE49-F238E27FC236}">
                <a16:creationId xmlns:a16="http://schemas.microsoft.com/office/drawing/2014/main" id="{CF1033C0-990F-1828-8B5B-CEF2D4756CC3}"/>
              </a:ext>
            </a:extLst>
          </p:cNvPr>
          <p:cNvSpPr/>
          <p:nvPr/>
        </p:nvSpPr>
        <p:spPr>
          <a:xfrm>
            <a:off x="5265850" y="4334763"/>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李四，</a:t>
            </a:r>
            <a:r>
              <a:rPr lang="en-US" altLang="zh-CN" dirty="0">
                <a:latin typeface="杨任东竹石体-Bold" panose="02000000000000000000" pitchFamily="2" charset="-122"/>
                <a:ea typeface="杨任东竹石体-Bold" panose="02000000000000000000" pitchFamily="2" charset="-122"/>
              </a:rPr>
              <a:t>24</a:t>
            </a:r>
            <a:endParaRPr lang="zh-CN" altLang="en-US" dirty="0">
              <a:latin typeface="杨任东竹石体-Bold" panose="02000000000000000000" pitchFamily="2" charset="-122"/>
              <a:ea typeface="杨任东竹石体-Bold" panose="02000000000000000000" pitchFamily="2" charset="-122"/>
            </a:endParaRPr>
          </a:p>
        </p:txBody>
      </p:sp>
      <p:sp>
        <p:nvSpPr>
          <p:cNvPr id="23" name="矩形 22">
            <a:extLst>
              <a:ext uri="{FF2B5EF4-FFF2-40B4-BE49-F238E27FC236}">
                <a16:creationId xmlns:a16="http://schemas.microsoft.com/office/drawing/2014/main" id="{28B8DB4B-3768-34A8-C00C-6A14747E5287}"/>
              </a:ext>
            </a:extLst>
          </p:cNvPr>
          <p:cNvSpPr/>
          <p:nvPr/>
        </p:nvSpPr>
        <p:spPr>
          <a:xfrm>
            <a:off x="221877" y="2349858"/>
            <a:ext cx="4027394" cy="795984"/>
          </a:xfrm>
          <a:prstGeom prst="rect">
            <a:avLst/>
          </a:prstGeom>
          <a:solidFill>
            <a:schemeClr val="accent1">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dirty="0"/>
          </a:p>
        </p:txBody>
      </p:sp>
      <p:cxnSp>
        <p:nvCxnSpPr>
          <p:cNvPr id="3" name="直接箭头连接符 2">
            <a:extLst>
              <a:ext uri="{FF2B5EF4-FFF2-40B4-BE49-F238E27FC236}">
                <a16:creationId xmlns:a16="http://schemas.microsoft.com/office/drawing/2014/main" id="{187C8DB7-2C6E-7AFD-5F21-16676C2208D9}"/>
              </a:ext>
            </a:extLst>
          </p:cNvPr>
          <p:cNvCxnSpPr>
            <a:cxnSpLocks/>
          </p:cNvCxnSpPr>
          <p:nvPr/>
        </p:nvCxnSpPr>
        <p:spPr>
          <a:xfrm>
            <a:off x="5847229" y="3829242"/>
            <a:ext cx="0" cy="505521"/>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圆角 27">
            <a:extLst>
              <a:ext uri="{FF2B5EF4-FFF2-40B4-BE49-F238E27FC236}">
                <a16:creationId xmlns:a16="http://schemas.microsoft.com/office/drawing/2014/main" id="{D7F6EC65-6743-2235-AD60-0A956162D649}"/>
              </a:ext>
            </a:extLst>
          </p:cNvPr>
          <p:cNvSpPr/>
          <p:nvPr/>
        </p:nvSpPr>
        <p:spPr>
          <a:xfrm>
            <a:off x="5265849" y="5339332"/>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25</a:t>
            </a:r>
            <a:endParaRPr lang="zh-CN" altLang="en-US" dirty="0">
              <a:latin typeface="杨任东竹石体-Bold" panose="02000000000000000000" pitchFamily="2" charset="-122"/>
              <a:ea typeface="杨任东竹石体-Bold" panose="02000000000000000000" pitchFamily="2" charset="-122"/>
            </a:endParaRPr>
          </a:p>
        </p:txBody>
      </p:sp>
      <p:cxnSp>
        <p:nvCxnSpPr>
          <p:cNvPr id="10" name="直接箭头连接符 9">
            <a:extLst>
              <a:ext uri="{FF2B5EF4-FFF2-40B4-BE49-F238E27FC236}">
                <a16:creationId xmlns:a16="http://schemas.microsoft.com/office/drawing/2014/main" id="{22671144-BB12-39F1-25E5-1E2EA09961BF}"/>
              </a:ext>
            </a:extLst>
          </p:cNvPr>
          <p:cNvCxnSpPr>
            <a:cxnSpLocks/>
          </p:cNvCxnSpPr>
          <p:nvPr/>
        </p:nvCxnSpPr>
        <p:spPr>
          <a:xfrm>
            <a:off x="5847229" y="4833811"/>
            <a:ext cx="0" cy="505521"/>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圆角 20">
            <a:extLst>
              <a:ext uri="{FF2B5EF4-FFF2-40B4-BE49-F238E27FC236}">
                <a16:creationId xmlns:a16="http://schemas.microsoft.com/office/drawing/2014/main" id="{257A22D6-FD8E-3912-9527-F052397030E8}"/>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22" name="矩形: 圆角 21">
            <a:extLst>
              <a:ext uri="{FF2B5EF4-FFF2-40B4-BE49-F238E27FC236}">
                <a16:creationId xmlns:a16="http://schemas.microsoft.com/office/drawing/2014/main" id="{03BE5446-C22B-6438-4CA3-494AC57C2CB8}"/>
              </a:ext>
            </a:extLst>
          </p:cNvPr>
          <p:cNvSpPr/>
          <p:nvPr/>
        </p:nvSpPr>
        <p:spPr>
          <a:xfrm>
            <a:off x="7059046" y="6116757"/>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25</a:t>
            </a:r>
            <a:endParaRPr lang="zh-CN" altLang="en-US" dirty="0">
              <a:latin typeface="杨任东竹石体-Bold" panose="02000000000000000000" pitchFamily="2" charset="-122"/>
              <a:ea typeface="杨任东竹石体-Bold" panose="02000000000000000000" pitchFamily="2" charset="-122"/>
            </a:endParaRPr>
          </a:p>
        </p:txBody>
      </p:sp>
      <p:sp>
        <p:nvSpPr>
          <p:cNvPr id="24" name="箭头: 左 23">
            <a:extLst>
              <a:ext uri="{FF2B5EF4-FFF2-40B4-BE49-F238E27FC236}">
                <a16:creationId xmlns:a16="http://schemas.microsoft.com/office/drawing/2014/main" id="{DA4E7E50-DA4C-BED1-9A33-8E1BCF4F49DA}"/>
              </a:ext>
            </a:extLst>
          </p:cNvPr>
          <p:cNvSpPr/>
          <p:nvPr/>
        </p:nvSpPr>
        <p:spPr>
          <a:xfrm>
            <a:off x="7136969" y="4415166"/>
            <a:ext cx="1582376" cy="338242"/>
          </a:xfrm>
          <a:prstGeom prst="leftArrow">
            <a:avLst/>
          </a:prstGeom>
          <a:ln/>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dirty="0"/>
          </a:p>
        </p:txBody>
      </p:sp>
      <p:sp>
        <p:nvSpPr>
          <p:cNvPr id="25" name="矩形: 圆角 24">
            <a:extLst>
              <a:ext uri="{FF2B5EF4-FFF2-40B4-BE49-F238E27FC236}">
                <a16:creationId xmlns:a16="http://schemas.microsoft.com/office/drawing/2014/main" id="{6BA58223-B0E8-DE6A-A3F0-E8719B242E1D}"/>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12" name="矩形: 圆角 11">
            <a:extLst>
              <a:ext uri="{FF2B5EF4-FFF2-40B4-BE49-F238E27FC236}">
                <a16:creationId xmlns:a16="http://schemas.microsoft.com/office/drawing/2014/main" id="{BAC13C41-7934-611C-E9AA-DEA8D328B3FE}"/>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26" name="标题 25">
            <a:extLst>
              <a:ext uri="{FF2B5EF4-FFF2-40B4-BE49-F238E27FC236}">
                <a16:creationId xmlns:a16="http://schemas.microsoft.com/office/drawing/2014/main" id="{2153FD21-2041-B4FC-4631-40B4C52273DC}"/>
              </a:ext>
            </a:extLst>
          </p:cNvPr>
          <p:cNvSpPr>
            <a:spLocks noGrp="1"/>
          </p:cNvSpPr>
          <p:nvPr>
            <p:ph type="title"/>
          </p:nvPr>
        </p:nvSpPr>
        <p:spPr/>
        <p:txBody>
          <a:bodyPr/>
          <a:lstStyle/>
          <a:p>
            <a:r>
              <a:rPr lang="en-US" altLang="zh-CN"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hashCode</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方法和</a:t>
            </a:r>
            <a:r>
              <a:rPr lang="en-US" altLang="zh-CN"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equals</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方法的配合流程</a:t>
            </a:r>
            <a:endParaRPr lang="zh-CN" altLang="en-US" dirty="0"/>
          </a:p>
        </p:txBody>
      </p:sp>
    </p:spTree>
    <p:extLst>
      <p:ext uri="{BB962C8B-B14F-4D97-AF65-F5344CB8AC3E}">
        <p14:creationId xmlns:p14="http://schemas.microsoft.com/office/powerpoint/2010/main" val="15944643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repeatCount="3000" fill="remove" grpId="0" nodeType="clickEffect">
                                  <p:stCondLst>
                                    <p:cond delay="0"/>
                                  </p:stCondLst>
                                  <p:childTnLst>
                                    <p:animClr clrSpc="rgb" dir="cw">
                                      <p:cBhvr override="childStyle">
                                        <p:cTn id="6" dur="250" autoRev="1" fill="remove"/>
                                        <p:tgtEl>
                                          <p:spTgt spid="23"/>
                                        </p:tgtEl>
                                        <p:attrNameLst>
                                          <p:attrName>style.color</p:attrName>
                                        </p:attrNameLst>
                                      </p:cBhvr>
                                      <p:to>
                                        <a:schemeClr val="tx1"/>
                                      </p:to>
                                    </p:animClr>
                                    <p:animClr clrSpc="rgb" dir="cw">
                                      <p:cBhvr>
                                        <p:cTn id="7" dur="250" autoRev="1" fill="remove"/>
                                        <p:tgtEl>
                                          <p:spTgt spid="23"/>
                                        </p:tgtEl>
                                        <p:attrNameLst>
                                          <p:attrName>fillcolor</p:attrName>
                                        </p:attrNameLst>
                                      </p:cBhvr>
                                      <p:to>
                                        <a:schemeClr val="tx1"/>
                                      </p:to>
                                    </p:animClr>
                                    <p:set>
                                      <p:cBhvr>
                                        <p:cTn id="8" dur="250" autoRev="1" fill="remove"/>
                                        <p:tgtEl>
                                          <p:spTgt spid="23"/>
                                        </p:tgtEl>
                                        <p:attrNameLst>
                                          <p:attrName>fill.type</p:attrName>
                                        </p:attrNameLst>
                                      </p:cBhvr>
                                      <p:to>
                                        <p:strVal val="solid"/>
                                      </p:to>
                                    </p:set>
                                    <p:set>
                                      <p:cBhvr>
                                        <p:cTn id="9" dur="250" autoRev="1" fill="remove"/>
                                        <p:tgtEl>
                                          <p:spTgt spid="23"/>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50FAA13-A6F1-06E2-58D2-CE222146859D}"/>
              </a:ext>
            </a:extLst>
          </p:cNvPr>
          <p:cNvSpPr txBox="1"/>
          <p:nvPr/>
        </p:nvSpPr>
        <p:spPr>
          <a:xfrm>
            <a:off x="221877" y="1680882"/>
            <a:ext cx="4027394" cy="2400657"/>
          </a:xfrm>
          <a:prstGeom prst="rect">
            <a:avLst/>
          </a:prstGeom>
          <a:solidFill>
            <a:srgbClr val="FFFFE4"/>
          </a:solidFill>
          <a:ln>
            <a:solidFill>
              <a:schemeClr val="tx1"/>
            </a:solidFill>
          </a:ln>
        </p:spPr>
        <p:txBody>
          <a:bodyPr wrap="square" rtlCol="0">
            <a:spAutoFit/>
          </a:bodyPr>
          <a:lstStyle/>
          <a:p>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name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private int </a:t>
            </a:r>
            <a:r>
              <a:rPr kumimoji="0" lang="zh-CN" altLang="zh-CN" sz="1000" b="0" i="0" u="none" strike="noStrike" cap="none" normalizeH="0" baseline="0" dirty="0">
                <a:ln>
                  <a:noFill/>
                </a:ln>
                <a:solidFill>
                  <a:srgbClr val="871094"/>
                </a:solidFill>
                <a:effectLst/>
                <a:latin typeface="Consolas" panose="020B0609020204030204" pitchFamily="49" charset="0"/>
                <a:ea typeface="JetBrains Mono"/>
              </a:rPr>
              <a:t>age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boolean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Object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o)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"equals</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方法被调用执行</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en-US" altLang="zh-CN" sz="1000" b="0" i="0" u="none" strike="noStrike" cap="none" normalizeH="0" baseline="0" dirty="0">
                <a:ln>
                  <a:noFill/>
                </a:ln>
                <a:solidFill>
                  <a:srgbClr val="0033B3"/>
                </a:solidFill>
                <a:effectLst/>
                <a:latin typeface="Consolas" panose="020B0609020204030204" pitchFamily="49" charset="0"/>
                <a:ea typeface="JetBrains Mono"/>
              </a:rPr>
              <a:t>...</a:t>
            </a:r>
          </a:p>
          <a:p>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@Override</a:t>
            </a:r>
            <a:b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9E880D"/>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int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hashCode</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return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1</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endParaRPr kumimoji="0" lang="zh-CN" altLang="zh-CN" sz="1000" b="0" i="0" u="none" strike="noStrike" cap="none" normalizeH="0" baseline="0" dirty="0">
              <a:ln>
                <a:noFill/>
              </a:ln>
              <a:solidFill>
                <a:schemeClr val="tx1"/>
              </a:solidFill>
              <a:effectLst/>
              <a:latin typeface="Consolas" panose="020B0609020204030204" pitchFamily="49" charset="0"/>
            </a:endParaRPr>
          </a:p>
          <a:p>
            <a:pPr algn="l"/>
            <a:endParaRPr kumimoji="0" lang="zh-CN" altLang="en-US" sz="1000" b="0" i="0" u="none" strike="noStrike" cap="none" normalizeH="0" baseline="0" dirty="0">
              <a:ln>
                <a:noFill/>
              </a:ln>
              <a:solidFill>
                <a:srgbClr val="0033B3"/>
              </a:solidFill>
              <a:effectLst/>
              <a:latin typeface="Consolas" panose="020B0609020204030204" pitchFamily="49" charset="0"/>
              <a:ea typeface="JetBrains Mono"/>
            </a:endParaRPr>
          </a:p>
        </p:txBody>
      </p:sp>
      <p:sp>
        <p:nvSpPr>
          <p:cNvPr id="5" name="文本框 4">
            <a:extLst>
              <a:ext uri="{FF2B5EF4-FFF2-40B4-BE49-F238E27FC236}">
                <a16:creationId xmlns:a16="http://schemas.microsoft.com/office/drawing/2014/main" id="{FF15FEF4-7790-2797-BB10-C16145A1BDD7}"/>
              </a:ext>
            </a:extLst>
          </p:cNvPr>
          <p:cNvSpPr txBox="1"/>
          <p:nvPr/>
        </p:nvSpPr>
        <p:spPr>
          <a:xfrm>
            <a:off x="221877" y="4227234"/>
            <a:ext cx="4027394" cy="1938992"/>
          </a:xfrm>
          <a:prstGeom prst="rect">
            <a:avLst/>
          </a:prstGeom>
          <a:solidFill>
            <a:srgbClr val="FFFFE4"/>
          </a:solid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class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HashSetDemo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public static void </a:t>
            </a:r>
            <a:r>
              <a:rPr kumimoji="0" lang="zh-CN" altLang="zh-CN" sz="1000" b="0" i="0" u="none" strike="noStrike" cap="none" normalizeH="0" baseline="0" dirty="0">
                <a:ln>
                  <a:noFill/>
                </a:ln>
                <a:solidFill>
                  <a:srgbClr val="00627A"/>
                </a:solidFill>
                <a:effectLst/>
                <a:latin typeface="Consolas" panose="020B0609020204030204" pitchFamily="49" charset="0"/>
                <a:ea typeface="JetBrains Mono"/>
              </a:rPr>
              <a:t>main</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String</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args)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HashSet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&lt;</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&gt;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HashSet&lt;&gt;();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张三</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23</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李四</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24</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.add(</a:t>
            </a:r>
            <a:r>
              <a:rPr kumimoji="0" lang="zh-CN" altLang="zh-CN" sz="1000" b="0" i="0" u="none" strike="noStrike" cap="none" normalizeH="0" baseline="0" dirty="0">
                <a:ln>
                  <a:noFill/>
                </a:ln>
                <a:solidFill>
                  <a:srgbClr val="0033B3"/>
                </a:solidFill>
                <a:effectLst/>
                <a:latin typeface="Consolas" panose="020B0609020204030204" pitchFamily="49" charset="0"/>
                <a:ea typeface="JetBrains Mono"/>
              </a:rPr>
              <a:t>new </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Student(</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67D17"/>
                </a:solidFill>
                <a:effectLst/>
                <a:latin typeface="Consolas" panose="020B0609020204030204" pitchFamily="49" charset="0"/>
                <a:ea typeface="宋体" panose="02010600030101010101" pitchFamily="2" charset="-122"/>
              </a:rPr>
              <a:t>王五</a:t>
            </a:r>
            <a:r>
              <a:rPr kumimoji="0" lang="zh-CN" altLang="zh-CN" sz="1000" b="0" i="0" u="none" strike="noStrike" cap="none" normalizeH="0" baseline="0" dirty="0">
                <a:ln>
                  <a:noFill/>
                </a:ln>
                <a:solidFill>
                  <a:srgbClr val="067D17"/>
                </a:solidFill>
                <a:effectLst/>
                <a:latin typeface="Consolas" panose="020B0609020204030204" pitchFamily="49" charset="0"/>
                <a:ea typeface="JetBrains Mono"/>
              </a:rPr>
              <a: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1750EB"/>
                </a:solidFill>
                <a:effectLst/>
                <a:latin typeface="Consolas" panose="020B0609020204030204" pitchFamily="49" charset="0"/>
                <a:ea typeface="JetBrains Mono"/>
              </a:rPr>
              <a:t>25</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System</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r>
              <a:rPr kumimoji="0" lang="zh-CN" altLang="zh-CN" sz="1000" b="0" i="1" u="none" strike="noStrike" cap="none" normalizeH="0" baseline="0" dirty="0">
                <a:ln>
                  <a:noFill/>
                </a:ln>
                <a:solidFill>
                  <a:srgbClr val="871094"/>
                </a:solidFill>
                <a:effectLst/>
                <a:latin typeface="Consolas" panose="020B0609020204030204" pitchFamily="49" charset="0"/>
                <a:ea typeface="JetBrains Mono"/>
              </a:rPr>
              <a:t>out</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.println(</a:t>
            </a:r>
            <a:r>
              <a:rPr kumimoji="0" lang="zh-CN" altLang="zh-CN" sz="1000" b="0" i="0" u="none" strike="noStrike" cap="none" normalizeH="0" baseline="0" dirty="0">
                <a:ln>
                  <a:noFill/>
                </a:ln>
                <a:solidFill>
                  <a:srgbClr val="000000"/>
                </a:solidFill>
                <a:effectLst/>
                <a:latin typeface="Consolas" panose="020B0609020204030204" pitchFamily="49" charset="0"/>
                <a:ea typeface="JetBrains Mono"/>
              </a:rPr>
              <a:t>hs</a:t>
            </a: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    }</a:t>
            </a:r>
            <a:b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br>
            <a:r>
              <a:rPr kumimoji="0" lang="zh-CN" altLang="zh-CN" sz="1000" b="0" i="0" u="none" strike="noStrike" cap="none" normalizeH="0" baseline="0" dirty="0">
                <a:ln>
                  <a:noFill/>
                </a:ln>
                <a:solidFill>
                  <a:srgbClr val="080808"/>
                </a:solidFill>
                <a:effectLst/>
                <a:latin typeface="Consolas" panose="020B0609020204030204" pitchFamily="49" charset="0"/>
                <a:ea typeface="JetBrains Mono"/>
              </a:rPr>
              <a:t>}</a:t>
            </a:r>
            <a:endParaRPr kumimoji="0" lang="zh-CN" altLang="zh-CN" sz="1400" b="0" i="0" u="none" strike="noStrike" cap="none" normalizeH="0" baseline="0" dirty="0">
              <a:ln>
                <a:noFill/>
              </a:ln>
              <a:solidFill>
                <a:schemeClr val="tx1"/>
              </a:solidFill>
              <a:effectLst/>
              <a:latin typeface="Consolas" panose="020B0609020204030204" pitchFamily="49" charset="0"/>
            </a:endParaRPr>
          </a:p>
        </p:txBody>
      </p:sp>
      <p:sp>
        <p:nvSpPr>
          <p:cNvPr id="7" name="文本框 6">
            <a:extLst>
              <a:ext uri="{FF2B5EF4-FFF2-40B4-BE49-F238E27FC236}">
                <a16:creationId xmlns:a16="http://schemas.microsoft.com/office/drawing/2014/main" id="{CFE86F14-71AA-9633-E943-509D74BE1C3A}"/>
              </a:ext>
            </a:extLst>
          </p:cNvPr>
          <p:cNvSpPr txBox="1"/>
          <p:nvPr/>
        </p:nvSpPr>
        <p:spPr>
          <a:xfrm>
            <a:off x="8982636" y="5196730"/>
            <a:ext cx="3127779" cy="1169551"/>
          </a:xfrm>
          <a:prstGeom prst="rect">
            <a:avLst/>
          </a:prstGeom>
          <a:noFill/>
        </p:spPr>
        <p:txBody>
          <a:bodyPr wrap="none" rtlCol="0">
            <a:spAutoFit/>
          </a:bodyPr>
          <a:lstStyle/>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HashSet</a:t>
            </a:r>
            <a:r>
              <a:rPr lang="zh-CN" altLang="en-US" sz="1400" dirty="0">
                <a:solidFill>
                  <a:srgbClr val="0033B3"/>
                </a:solidFill>
                <a:latin typeface="杨任东竹石体-Bold" panose="02000000000000000000" pitchFamily="2" charset="-122"/>
                <a:ea typeface="杨任东竹石体-Bold" panose="02000000000000000000" pitchFamily="2" charset="-122"/>
              </a:rPr>
              <a:t>底层的数据结构是哈希表结构 </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endParaRPr kumimoji="0" lang="en-US" altLang="zh-CN"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a:p>
            <a:pPr algn="l"/>
            <a:r>
              <a:rPr lang="zh-CN" altLang="en-US" sz="1400" dirty="0">
                <a:solidFill>
                  <a:srgbClr val="0033B3"/>
                </a:solidFill>
                <a:latin typeface="杨任东竹石体-Bold" panose="02000000000000000000" pitchFamily="2" charset="-122"/>
                <a:ea typeface="杨任东竹石体-Bold" panose="02000000000000000000" pitchFamily="2" charset="-122"/>
              </a:rPr>
              <a:t>哈希表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版本之前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a:t>
            </a:r>
            <a:endParaRPr lang="en-US" altLang="zh-CN" sz="1400" dirty="0">
              <a:solidFill>
                <a:srgbClr val="0033B3"/>
              </a:solidFill>
              <a:latin typeface="杨任东竹石体-Bold" panose="02000000000000000000" pitchFamily="2" charset="-122"/>
              <a:ea typeface="杨任东竹石体-Bold" panose="02000000000000000000" pitchFamily="2" charset="-122"/>
            </a:endParaRPr>
          </a:p>
          <a:p>
            <a:pPr algn="l"/>
            <a:r>
              <a:rPr lang="en-US" altLang="zh-CN" sz="1400" dirty="0">
                <a:solidFill>
                  <a:srgbClr val="0033B3"/>
                </a:solidFill>
                <a:latin typeface="杨任东竹石体-Bold" panose="02000000000000000000" pitchFamily="2" charset="-122"/>
                <a:ea typeface="杨任东竹石体-Bold" panose="02000000000000000000" pitchFamily="2" charset="-122"/>
              </a:rPr>
              <a:t>JDK8</a:t>
            </a:r>
            <a:r>
              <a:rPr lang="zh-CN" altLang="en-US" sz="1400" dirty="0">
                <a:solidFill>
                  <a:srgbClr val="0033B3"/>
                </a:solidFill>
                <a:latin typeface="杨任东竹石体-Bold" panose="02000000000000000000" pitchFamily="2" charset="-122"/>
                <a:ea typeface="杨任东竹石体-Bold" panose="02000000000000000000" pitchFamily="2" charset="-122"/>
              </a:rPr>
              <a:t>版本之后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数组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链表 </a:t>
            </a:r>
            <a:r>
              <a:rPr lang="en-US" altLang="zh-CN" sz="1400" dirty="0">
                <a:solidFill>
                  <a:srgbClr val="0033B3"/>
                </a:solidFill>
                <a:latin typeface="杨任东竹石体-Bold" panose="02000000000000000000" pitchFamily="2" charset="-122"/>
                <a:ea typeface="杨任东竹石体-Bold" panose="02000000000000000000" pitchFamily="2" charset="-122"/>
              </a:rPr>
              <a:t>+  </a:t>
            </a:r>
            <a:r>
              <a:rPr lang="zh-CN" altLang="en-US" sz="1400" dirty="0">
                <a:solidFill>
                  <a:srgbClr val="0033B3"/>
                </a:solidFill>
                <a:latin typeface="杨任东竹石体-Bold" panose="02000000000000000000" pitchFamily="2" charset="-122"/>
                <a:ea typeface="杨任东竹石体-Bold" panose="02000000000000000000" pitchFamily="2" charset="-122"/>
              </a:rPr>
              <a:t>红黑树</a:t>
            </a:r>
            <a:endParaRPr kumimoji="0" lang="zh-CN" altLang="en-US" sz="1400" b="0" i="0" u="none" strike="noStrike" cap="none" normalizeH="0" baseline="0" dirty="0">
              <a:ln>
                <a:noFill/>
              </a:ln>
              <a:solidFill>
                <a:srgbClr val="0033B3"/>
              </a:solidFill>
              <a:effectLst/>
              <a:latin typeface="杨任东竹石体-Bold" panose="02000000000000000000" pitchFamily="2" charset="-122"/>
              <a:ea typeface="杨任东竹石体-Bold" panose="02000000000000000000" pitchFamily="2" charset="-122"/>
            </a:endParaRPr>
          </a:p>
        </p:txBody>
      </p:sp>
      <p:sp>
        <p:nvSpPr>
          <p:cNvPr id="9" name="矩形: 圆角 8">
            <a:extLst>
              <a:ext uri="{FF2B5EF4-FFF2-40B4-BE49-F238E27FC236}">
                <a16:creationId xmlns:a16="http://schemas.microsoft.com/office/drawing/2014/main" id="{BDA45E1E-2A70-5024-5BDF-31D0E92D3DA7}"/>
              </a:ext>
            </a:extLst>
          </p:cNvPr>
          <p:cNvSpPr/>
          <p:nvPr/>
        </p:nvSpPr>
        <p:spPr>
          <a:xfrm>
            <a:off x="4558553" y="168088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5DA57C1D-DC40-2406-B045-2EE204F3EA11}"/>
              </a:ext>
            </a:extLst>
          </p:cNvPr>
          <p:cNvCxnSpPr>
            <a:cxnSpLocks/>
          </p:cNvCxnSpPr>
          <p:nvPr/>
        </p:nvCxnSpPr>
        <p:spPr>
          <a:xfrm>
            <a:off x="5587252"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22280C04-0594-DE48-B488-AD6907107085}"/>
              </a:ext>
            </a:extLst>
          </p:cNvPr>
          <p:cNvCxnSpPr>
            <a:cxnSpLocks/>
          </p:cNvCxnSpPr>
          <p:nvPr/>
        </p:nvCxnSpPr>
        <p:spPr>
          <a:xfrm>
            <a:off x="6631283"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89C1DAB1-E89C-51FE-BE54-C7899881D71B}"/>
              </a:ext>
            </a:extLst>
          </p:cNvPr>
          <p:cNvCxnSpPr>
            <a:cxnSpLocks/>
          </p:cNvCxnSpPr>
          <p:nvPr/>
        </p:nvCxnSpPr>
        <p:spPr>
          <a:xfrm>
            <a:off x="7675314"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FCBE0A88-129E-1586-FE05-3134924DA347}"/>
              </a:ext>
            </a:extLst>
          </p:cNvPr>
          <p:cNvCxnSpPr>
            <a:cxnSpLocks/>
          </p:cNvCxnSpPr>
          <p:nvPr/>
        </p:nvCxnSpPr>
        <p:spPr>
          <a:xfrm>
            <a:off x="8719345"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D3C8CDE3-F2E9-4A2B-D76E-D1F6EA81E8D6}"/>
              </a:ext>
            </a:extLst>
          </p:cNvPr>
          <p:cNvCxnSpPr>
            <a:cxnSpLocks/>
          </p:cNvCxnSpPr>
          <p:nvPr/>
        </p:nvCxnSpPr>
        <p:spPr>
          <a:xfrm>
            <a:off x="9763376" y="168088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EC4B0208-4739-FF4E-E10E-C7CEFEABF9A1}"/>
              </a:ext>
            </a:extLst>
          </p:cNvPr>
          <p:cNvCxnSpPr>
            <a:cxnSpLocks/>
          </p:cNvCxnSpPr>
          <p:nvPr/>
        </p:nvCxnSpPr>
        <p:spPr>
          <a:xfrm>
            <a:off x="10807409" y="168088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18" name="矩形: 圆角 17">
            <a:extLst>
              <a:ext uri="{FF2B5EF4-FFF2-40B4-BE49-F238E27FC236}">
                <a16:creationId xmlns:a16="http://schemas.microsoft.com/office/drawing/2014/main" id="{4236C6D8-805B-28E2-8061-96CE3931BEF7}"/>
              </a:ext>
            </a:extLst>
          </p:cNvPr>
          <p:cNvSpPr/>
          <p:nvPr/>
        </p:nvSpPr>
        <p:spPr>
          <a:xfrm>
            <a:off x="5265850" y="3303860"/>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张三，</a:t>
            </a:r>
            <a:r>
              <a:rPr lang="en-US" altLang="zh-CN" dirty="0">
                <a:latin typeface="杨任东竹石体-Bold" panose="02000000000000000000" pitchFamily="2" charset="-122"/>
                <a:ea typeface="杨任东竹石体-Bold" panose="02000000000000000000" pitchFamily="2" charset="-122"/>
              </a:rPr>
              <a:t>23</a:t>
            </a:r>
            <a:endParaRPr lang="zh-CN" altLang="en-US" dirty="0">
              <a:latin typeface="杨任东竹石体-Bold" panose="02000000000000000000" pitchFamily="2" charset="-122"/>
              <a:ea typeface="杨任东竹石体-Bold" panose="02000000000000000000" pitchFamily="2" charset="-122"/>
            </a:endParaRPr>
          </a:p>
        </p:txBody>
      </p:sp>
      <p:sp>
        <p:nvSpPr>
          <p:cNvPr id="19" name="文本框 18">
            <a:extLst>
              <a:ext uri="{FF2B5EF4-FFF2-40B4-BE49-F238E27FC236}">
                <a16:creationId xmlns:a16="http://schemas.microsoft.com/office/drawing/2014/main" id="{ABBBC050-E6CC-7D99-DC1A-164DB4BC6E52}"/>
              </a:ext>
            </a:extLst>
          </p:cNvPr>
          <p:cNvSpPr txBox="1"/>
          <p:nvPr/>
        </p:nvSpPr>
        <p:spPr>
          <a:xfrm>
            <a:off x="4871447" y="2692824"/>
            <a:ext cx="7320553" cy="276999"/>
          </a:xfrm>
          <a:prstGeom prst="rect">
            <a:avLst/>
          </a:prstGeom>
          <a:noFill/>
        </p:spPr>
        <p:txBody>
          <a:bodyPr wrap="square" rtlCol="0">
            <a:spAutoFit/>
          </a:bodyPr>
          <a:lstStyle/>
          <a:p>
            <a:pPr algn="l"/>
            <a:r>
              <a:rPr kumimoji="0" lang="en-US" altLang="zh-CN"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rPr>
              <a:t>0            1            2           3           4            5            6</a:t>
            </a:r>
            <a:endParaRPr kumimoji="0" lang="zh-CN" altLang="en-US"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endParaRPr>
          </a:p>
        </p:txBody>
      </p:sp>
      <p:sp>
        <p:nvSpPr>
          <p:cNvPr id="20" name="矩形 19">
            <a:extLst>
              <a:ext uri="{FF2B5EF4-FFF2-40B4-BE49-F238E27FC236}">
                <a16:creationId xmlns:a16="http://schemas.microsoft.com/office/drawing/2014/main" id="{F379E318-6AF2-C592-8CB5-267FE9E422FF}"/>
              </a:ext>
            </a:extLst>
          </p:cNvPr>
          <p:cNvSpPr/>
          <p:nvPr/>
        </p:nvSpPr>
        <p:spPr>
          <a:xfrm>
            <a:off x="221877" y="3186952"/>
            <a:ext cx="4027394" cy="732865"/>
          </a:xfrm>
          <a:prstGeom prst="rect">
            <a:avLst/>
          </a:prstGeom>
          <a:solidFill>
            <a:schemeClr val="accent2">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cxnSp>
        <p:nvCxnSpPr>
          <p:cNvPr id="4" name="直接箭头连接符 3">
            <a:extLst>
              <a:ext uri="{FF2B5EF4-FFF2-40B4-BE49-F238E27FC236}">
                <a16:creationId xmlns:a16="http://schemas.microsoft.com/office/drawing/2014/main" id="{E8B21907-126F-0EE1-8FDB-C322E497C11A}"/>
              </a:ext>
            </a:extLst>
          </p:cNvPr>
          <p:cNvCxnSpPr>
            <a:cxnSpLocks/>
          </p:cNvCxnSpPr>
          <p:nvPr/>
        </p:nvCxnSpPr>
        <p:spPr>
          <a:xfrm>
            <a:off x="5847229" y="2507876"/>
            <a:ext cx="0" cy="795984"/>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矩形: 圆角 5">
            <a:extLst>
              <a:ext uri="{FF2B5EF4-FFF2-40B4-BE49-F238E27FC236}">
                <a16:creationId xmlns:a16="http://schemas.microsoft.com/office/drawing/2014/main" id="{CF1033C0-990F-1828-8B5B-CEF2D4756CC3}"/>
              </a:ext>
            </a:extLst>
          </p:cNvPr>
          <p:cNvSpPr/>
          <p:nvPr/>
        </p:nvSpPr>
        <p:spPr>
          <a:xfrm>
            <a:off x="5265850" y="4334763"/>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李四，</a:t>
            </a:r>
            <a:r>
              <a:rPr lang="en-US" altLang="zh-CN" dirty="0">
                <a:latin typeface="杨任东竹石体-Bold" panose="02000000000000000000" pitchFamily="2" charset="-122"/>
                <a:ea typeface="杨任东竹石体-Bold" panose="02000000000000000000" pitchFamily="2" charset="-122"/>
              </a:rPr>
              <a:t>24</a:t>
            </a:r>
            <a:endParaRPr lang="zh-CN" altLang="en-US" dirty="0">
              <a:latin typeface="杨任东竹石体-Bold" panose="02000000000000000000" pitchFamily="2" charset="-122"/>
              <a:ea typeface="杨任东竹石体-Bold" panose="02000000000000000000" pitchFamily="2" charset="-122"/>
            </a:endParaRPr>
          </a:p>
        </p:txBody>
      </p:sp>
      <p:sp>
        <p:nvSpPr>
          <p:cNvPr id="23" name="矩形 22">
            <a:extLst>
              <a:ext uri="{FF2B5EF4-FFF2-40B4-BE49-F238E27FC236}">
                <a16:creationId xmlns:a16="http://schemas.microsoft.com/office/drawing/2014/main" id="{28B8DB4B-3768-34A8-C00C-6A14747E5287}"/>
              </a:ext>
            </a:extLst>
          </p:cNvPr>
          <p:cNvSpPr/>
          <p:nvPr/>
        </p:nvSpPr>
        <p:spPr>
          <a:xfrm>
            <a:off x="221877" y="2349858"/>
            <a:ext cx="4027394" cy="795984"/>
          </a:xfrm>
          <a:prstGeom prst="rect">
            <a:avLst/>
          </a:prstGeom>
          <a:solidFill>
            <a:schemeClr val="accent1">
              <a:lumMod val="60000"/>
              <a:lumOff val="40000"/>
              <a:alpha val="3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dirty="0"/>
          </a:p>
        </p:txBody>
      </p:sp>
      <p:cxnSp>
        <p:nvCxnSpPr>
          <p:cNvPr id="3" name="直接箭头连接符 2">
            <a:extLst>
              <a:ext uri="{FF2B5EF4-FFF2-40B4-BE49-F238E27FC236}">
                <a16:creationId xmlns:a16="http://schemas.microsoft.com/office/drawing/2014/main" id="{187C8DB7-2C6E-7AFD-5F21-16676C2208D9}"/>
              </a:ext>
            </a:extLst>
          </p:cNvPr>
          <p:cNvCxnSpPr>
            <a:cxnSpLocks/>
          </p:cNvCxnSpPr>
          <p:nvPr/>
        </p:nvCxnSpPr>
        <p:spPr>
          <a:xfrm>
            <a:off x="5847229" y="3829242"/>
            <a:ext cx="0" cy="505521"/>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圆角 27">
            <a:extLst>
              <a:ext uri="{FF2B5EF4-FFF2-40B4-BE49-F238E27FC236}">
                <a16:creationId xmlns:a16="http://schemas.microsoft.com/office/drawing/2014/main" id="{D7F6EC65-6743-2235-AD60-0A956162D649}"/>
              </a:ext>
            </a:extLst>
          </p:cNvPr>
          <p:cNvSpPr/>
          <p:nvPr/>
        </p:nvSpPr>
        <p:spPr>
          <a:xfrm>
            <a:off x="5265849" y="5339332"/>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25</a:t>
            </a:r>
            <a:endParaRPr lang="zh-CN" altLang="en-US" dirty="0">
              <a:latin typeface="杨任东竹石体-Bold" panose="02000000000000000000" pitchFamily="2" charset="-122"/>
              <a:ea typeface="杨任东竹石体-Bold" panose="02000000000000000000" pitchFamily="2" charset="-122"/>
            </a:endParaRPr>
          </a:p>
        </p:txBody>
      </p:sp>
      <p:cxnSp>
        <p:nvCxnSpPr>
          <p:cNvPr id="10" name="直接箭头连接符 9">
            <a:extLst>
              <a:ext uri="{FF2B5EF4-FFF2-40B4-BE49-F238E27FC236}">
                <a16:creationId xmlns:a16="http://schemas.microsoft.com/office/drawing/2014/main" id="{22671144-BB12-39F1-25E5-1E2EA09961BF}"/>
              </a:ext>
            </a:extLst>
          </p:cNvPr>
          <p:cNvCxnSpPr>
            <a:cxnSpLocks/>
          </p:cNvCxnSpPr>
          <p:nvPr/>
        </p:nvCxnSpPr>
        <p:spPr>
          <a:xfrm>
            <a:off x="5847229" y="4833811"/>
            <a:ext cx="0" cy="505521"/>
          </a:xfrm>
          <a:prstGeom prst="straightConnector1">
            <a:avLst/>
          </a:prstGeom>
          <a:ln w="254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圆角 20">
            <a:extLst>
              <a:ext uri="{FF2B5EF4-FFF2-40B4-BE49-F238E27FC236}">
                <a16:creationId xmlns:a16="http://schemas.microsoft.com/office/drawing/2014/main" id="{257A22D6-FD8E-3912-9527-F052397030E8}"/>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22" name="矩形: 圆角 21">
            <a:extLst>
              <a:ext uri="{FF2B5EF4-FFF2-40B4-BE49-F238E27FC236}">
                <a16:creationId xmlns:a16="http://schemas.microsoft.com/office/drawing/2014/main" id="{03BE5446-C22B-6438-4CA3-494AC57C2CB8}"/>
              </a:ext>
            </a:extLst>
          </p:cNvPr>
          <p:cNvSpPr/>
          <p:nvPr/>
        </p:nvSpPr>
        <p:spPr>
          <a:xfrm>
            <a:off x="7059046" y="6116757"/>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25</a:t>
            </a:r>
            <a:endParaRPr lang="zh-CN" altLang="en-US" dirty="0">
              <a:latin typeface="杨任东竹石体-Bold" panose="02000000000000000000" pitchFamily="2" charset="-122"/>
              <a:ea typeface="杨任东竹石体-Bold" panose="02000000000000000000" pitchFamily="2" charset="-122"/>
            </a:endParaRPr>
          </a:p>
        </p:txBody>
      </p:sp>
      <p:sp>
        <p:nvSpPr>
          <p:cNvPr id="24" name="箭头: 左 23">
            <a:extLst>
              <a:ext uri="{FF2B5EF4-FFF2-40B4-BE49-F238E27FC236}">
                <a16:creationId xmlns:a16="http://schemas.microsoft.com/office/drawing/2014/main" id="{DA4E7E50-DA4C-BED1-9A33-8E1BCF4F49DA}"/>
              </a:ext>
            </a:extLst>
          </p:cNvPr>
          <p:cNvSpPr/>
          <p:nvPr/>
        </p:nvSpPr>
        <p:spPr>
          <a:xfrm>
            <a:off x="7098007" y="5419735"/>
            <a:ext cx="1582376" cy="338242"/>
          </a:xfrm>
          <a:prstGeom prst="leftArrow">
            <a:avLst/>
          </a:prstGeom>
          <a:ln/>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dirty="0"/>
          </a:p>
        </p:txBody>
      </p:sp>
      <p:sp>
        <p:nvSpPr>
          <p:cNvPr id="25" name="矩形: 圆角 24">
            <a:extLst>
              <a:ext uri="{FF2B5EF4-FFF2-40B4-BE49-F238E27FC236}">
                <a16:creationId xmlns:a16="http://schemas.microsoft.com/office/drawing/2014/main" id="{6BA58223-B0E8-DE6A-A3F0-E8719B242E1D}"/>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12" name="矩形: 圆角 11">
            <a:extLst>
              <a:ext uri="{FF2B5EF4-FFF2-40B4-BE49-F238E27FC236}">
                <a16:creationId xmlns:a16="http://schemas.microsoft.com/office/drawing/2014/main" id="{BAC13C41-7934-611C-E9AA-DEA8D328B3FE}"/>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26" name="矩形: 圆角 25">
            <a:extLst>
              <a:ext uri="{FF2B5EF4-FFF2-40B4-BE49-F238E27FC236}">
                <a16:creationId xmlns:a16="http://schemas.microsoft.com/office/drawing/2014/main" id="{6BFFB0C2-FC60-3866-D84D-B8E60BC15181}"/>
              </a:ext>
            </a:extLst>
          </p:cNvPr>
          <p:cNvSpPr/>
          <p:nvPr/>
        </p:nvSpPr>
        <p:spPr>
          <a:xfrm>
            <a:off x="9314481" y="3186952"/>
            <a:ext cx="2655642" cy="1788117"/>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p>
          <a:p>
            <a:pPr algn="ctr"/>
            <a:r>
              <a:rPr lang="en-US" altLang="zh-CN" sz="1400" dirty="0"/>
              <a:t>equals</a:t>
            </a:r>
            <a:r>
              <a:rPr lang="zh-CN" altLang="en-US" sz="1400" dirty="0"/>
              <a:t>方法被调用执行</a:t>
            </a:r>
            <a:r>
              <a:rPr lang="en-US" altLang="zh-CN" sz="1400" dirty="0"/>
              <a:t>…</a:t>
            </a:r>
            <a:endParaRPr lang="zh-CN" altLang="en-US" sz="1400" dirty="0"/>
          </a:p>
        </p:txBody>
      </p:sp>
      <p:sp>
        <p:nvSpPr>
          <p:cNvPr id="27" name="文本框 26">
            <a:extLst>
              <a:ext uri="{FF2B5EF4-FFF2-40B4-BE49-F238E27FC236}">
                <a16:creationId xmlns:a16="http://schemas.microsoft.com/office/drawing/2014/main" id="{4C54B478-55FC-143A-24AE-E0EC33FC230F}"/>
              </a:ext>
            </a:extLst>
          </p:cNvPr>
          <p:cNvSpPr txBox="1"/>
          <p:nvPr/>
        </p:nvSpPr>
        <p:spPr>
          <a:xfrm>
            <a:off x="4699746" y="1016054"/>
            <a:ext cx="7014883" cy="369332"/>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zh-CN" altLang="en-US" dirty="0">
                <a:solidFill>
                  <a:schemeClr val="bg1"/>
                </a:solidFill>
                <a:latin typeface="杨任东竹石体-Bold" panose="02000000000000000000" pitchFamily="2" charset="-122"/>
                <a:ea typeface="杨任东竹石体-Bold" panose="02000000000000000000" pitchFamily="2" charset="-122"/>
              </a:rPr>
              <a:t>如果</a:t>
            </a:r>
            <a:r>
              <a:rPr lang="en-US" altLang="zh-CN" dirty="0" err="1">
                <a:solidFill>
                  <a:schemeClr val="bg1"/>
                </a:solidFill>
                <a:latin typeface="杨任东竹石体-Bold" panose="02000000000000000000" pitchFamily="2" charset="-122"/>
                <a:ea typeface="杨任东竹石体-Bold" panose="02000000000000000000" pitchFamily="2" charset="-122"/>
              </a:rPr>
              <a:t>hashCode</a:t>
            </a:r>
            <a:r>
              <a:rPr lang="zh-CN" altLang="en-US" dirty="0">
                <a:solidFill>
                  <a:schemeClr val="bg1"/>
                </a:solidFill>
                <a:latin typeface="杨任东竹石体-Bold" panose="02000000000000000000" pitchFamily="2" charset="-122"/>
                <a:ea typeface="杨任东竹石体-Bold" panose="02000000000000000000" pitchFamily="2" charset="-122"/>
              </a:rPr>
              <a:t>方法固定返回相同的值，数据都会挂在一个索引下面</a:t>
            </a:r>
            <a:endParaRPr kumimoji="0" lang="zh-CN" altLang="en-US" b="0" i="0" u="none" strike="noStrike" cap="none" normalizeH="0" baseline="0" dirty="0">
              <a:ln>
                <a:noFill/>
              </a:ln>
              <a:solidFill>
                <a:schemeClr val="bg1"/>
              </a:solidFill>
              <a:effectLst/>
              <a:latin typeface="杨任东竹石体-Bold" panose="02000000000000000000" pitchFamily="2" charset="-122"/>
              <a:ea typeface="杨任东竹石体-Bold" panose="02000000000000000000" pitchFamily="2" charset="-122"/>
            </a:endParaRPr>
          </a:p>
        </p:txBody>
      </p:sp>
      <p:sp>
        <p:nvSpPr>
          <p:cNvPr id="29" name="标题 28">
            <a:extLst>
              <a:ext uri="{FF2B5EF4-FFF2-40B4-BE49-F238E27FC236}">
                <a16:creationId xmlns:a16="http://schemas.microsoft.com/office/drawing/2014/main" id="{DE424B4E-F919-AD7F-A7AB-9DA4399555F2}"/>
              </a:ext>
            </a:extLst>
          </p:cNvPr>
          <p:cNvSpPr>
            <a:spLocks noGrp="1"/>
          </p:cNvSpPr>
          <p:nvPr>
            <p:ph type="title"/>
          </p:nvPr>
        </p:nvSpPr>
        <p:spPr/>
        <p:txBody>
          <a:bodyPr/>
          <a:lstStyle/>
          <a:p>
            <a:r>
              <a:rPr lang="en-US" altLang="zh-CN"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hashCode</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方法和</a:t>
            </a:r>
            <a:r>
              <a:rPr lang="en-US" altLang="zh-CN"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equals</a:t>
            </a:r>
            <a:r>
              <a:rPr lang="zh-CN" altLang="en-US"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方法的配合流程</a:t>
            </a:r>
            <a:endParaRPr lang="zh-CN" altLang="en-US" dirty="0"/>
          </a:p>
        </p:txBody>
      </p:sp>
    </p:spTree>
    <p:extLst>
      <p:ext uri="{BB962C8B-B14F-4D97-AF65-F5344CB8AC3E}">
        <p14:creationId xmlns:p14="http://schemas.microsoft.com/office/powerpoint/2010/main" val="2819566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repeatCount="3000" fill="remove" grpId="0" nodeType="clickEffect">
                                  <p:stCondLst>
                                    <p:cond delay="0"/>
                                  </p:stCondLst>
                                  <p:childTnLst>
                                    <p:animClr clrSpc="rgb" dir="cw">
                                      <p:cBhvr override="childStyle">
                                        <p:cTn id="6" dur="250" autoRev="1" fill="remove"/>
                                        <p:tgtEl>
                                          <p:spTgt spid="23"/>
                                        </p:tgtEl>
                                        <p:attrNameLst>
                                          <p:attrName>style.color</p:attrName>
                                        </p:attrNameLst>
                                      </p:cBhvr>
                                      <p:to>
                                        <a:schemeClr val="tx1"/>
                                      </p:to>
                                    </p:animClr>
                                    <p:animClr clrSpc="rgb" dir="cw">
                                      <p:cBhvr>
                                        <p:cTn id="7" dur="250" autoRev="1" fill="remove"/>
                                        <p:tgtEl>
                                          <p:spTgt spid="23"/>
                                        </p:tgtEl>
                                        <p:attrNameLst>
                                          <p:attrName>fillcolor</p:attrName>
                                        </p:attrNameLst>
                                      </p:cBhvr>
                                      <p:to>
                                        <a:schemeClr val="tx1"/>
                                      </p:to>
                                    </p:animClr>
                                    <p:set>
                                      <p:cBhvr>
                                        <p:cTn id="8" dur="250" autoRev="1" fill="remove"/>
                                        <p:tgtEl>
                                          <p:spTgt spid="23"/>
                                        </p:tgtEl>
                                        <p:attrNameLst>
                                          <p:attrName>fill.type</p:attrName>
                                        </p:attrNameLst>
                                      </p:cBhvr>
                                      <p:to>
                                        <p:strVal val="solid"/>
                                      </p:to>
                                    </p:set>
                                    <p:set>
                                      <p:cBhvr>
                                        <p:cTn id="9" dur="250" autoRev="1" fill="remove"/>
                                        <p:tgtEl>
                                          <p:spTgt spid="23"/>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500"/>
                                        <p:tgtEl>
                                          <p:spTgt spid="26"/>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xit" presetSubtype="0" fill="hold" grpId="0" nodeType="clickEffect">
                                  <p:stCondLst>
                                    <p:cond delay="0"/>
                                  </p:stCondLst>
                                  <p:childTnLst>
                                    <p:animEffect transition="out" filter="dissolve">
                                      <p:cBhvr>
                                        <p:cTn id="18" dur="1000"/>
                                        <p:tgtEl>
                                          <p:spTgt spid="22"/>
                                        </p:tgtEl>
                                      </p:cBhvr>
                                    </p:animEffect>
                                    <p:set>
                                      <p:cBhvr>
                                        <p:cTn id="19" dur="1" fill="hold">
                                          <p:stCondLst>
                                            <p:cond delay="999"/>
                                          </p:stCondLst>
                                        </p:cTn>
                                        <p:tgtEl>
                                          <p:spTgt spid="22"/>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barn(inVertical)">
                                      <p:cBhvr>
                                        <p:cTn id="2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2" grpId="0" animBg="1"/>
      <p:bldP spid="26" grpId="0" animBg="1"/>
      <p:bldP spid="2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占位符 26">
            <a:extLst>
              <a:ext uri="{FF2B5EF4-FFF2-40B4-BE49-F238E27FC236}">
                <a16:creationId xmlns:a16="http://schemas.microsoft.com/office/drawing/2014/main" id="{4EB06F89-B255-CEA1-185D-F45B016980A2}"/>
              </a:ext>
            </a:extLst>
          </p:cNvPr>
          <p:cNvSpPr>
            <a:spLocks noGrp="1"/>
          </p:cNvSpPr>
          <p:nvPr>
            <p:ph type="body" sz="quarter" idx="10"/>
          </p:nvPr>
        </p:nvSpPr>
        <p:spPr>
          <a:prstGeom prst="rect">
            <a:avLst/>
          </a:prstGeom>
        </p:spPr>
        <p:txBody>
          <a:bodyPr/>
          <a:lstStyle/>
          <a:p>
            <a:pPr marL="285750" indent="-285750">
              <a:buFont typeface="Wingdings" panose="05000000000000000000" pitchFamily="2" charset="2"/>
              <a:buChar char="l"/>
            </a:pPr>
            <a:r>
              <a:rPr lang="zh-CN" altLang="en-US" dirty="0"/>
              <a:t>当添加对象的时候</a:t>
            </a:r>
            <a:r>
              <a:rPr lang="en-US" altLang="zh-CN" dirty="0"/>
              <a:t>, </a:t>
            </a:r>
            <a:r>
              <a:rPr lang="zh-CN" altLang="en-US" dirty="0"/>
              <a:t>会先调用对象的</a:t>
            </a:r>
            <a:r>
              <a:rPr lang="en-US" altLang="zh-CN" dirty="0" err="1"/>
              <a:t>hashCode</a:t>
            </a:r>
            <a:r>
              <a:rPr lang="zh-CN" altLang="en-US" dirty="0"/>
              <a:t>方法计算出一个应该存入的索引位置</a:t>
            </a:r>
            <a:r>
              <a:rPr lang="en-US" altLang="zh-CN" dirty="0"/>
              <a:t>, </a:t>
            </a:r>
            <a:r>
              <a:rPr lang="zh-CN" altLang="en-US" dirty="0"/>
              <a:t>查看该位置上是否存在元素</a:t>
            </a:r>
            <a:endParaRPr lang="en-US" altLang="zh-CN" dirty="0"/>
          </a:p>
          <a:p>
            <a:pPr marL="0" indent="0">
              <a:buNone/>
            </a:pPr>
            <a:r>
              <a:rPr lang="en-US" altLang="zh-CN" dirty="0"/>
              <a:t>	</a:t>
            </a:r>
            <a:r>
              <a:rPr lang="zh-CN" altLang="en-US" dirty="0"/>
              <a:t>不存在：直接存</a:t>
            </a:r>
            <a:endParaRPr lang="en-US" altLang="zh-CN" dirty="0"/>
          </a:p>
          <a:p>
            <a:pPr marL="0" indent="0">
              <a:buNone/>
            </a:pPr>
            <a:r>
              <a:rPr lang="en-US" altLang="zh-CN" dirty="0"/>
              <a:t>	</a:t>
            </a:r>
            <a:r>
              <a:rPr lang="zh-CN" altLang="en-US" dirty="0"/>
              <a:t>存在：调用</a:t>
            </a:r>
            <a:r>
              <a:rPr lang="en-US" altLang="zh-CN" dirty="0"/>
              <a:t>equals</a:t>
            </a:r>
            <a:r>
              <a:rPr lang="zh-CN" altLang="en-US" dirty="0"/>
              <a:t>方法比较内容</a:t>
            </a:r>
            <a:endParaRPr lang="en-US" altLang="zh-CN" dirty="0"/>
          </a:p>
          <a:p>
            <a:pPr marL="0" indent="0">
              <a:buNone/>
            </a:pPr>
            <a:r>
              <a:rPr lang="en-US" altLang="zh-CN" dirty="0"/>
              <a:t>		false : </a:t>
            </a:r>
            <a:r>
              <a:rPr lang="zh-CN" altLang="en-US" dirty="0"/>
              <a:t>存</a:t>
            </a:r>
            <a:endParaRPr lang="en-US" altLang="zh-CN" dirty="0"/>
          </a:p>
          <a:p>
            <a:pPr marL="0" indent="0">
              <a:buNone/>
            </a:pPr>
            <a:r>
              <a:rPr lang="en-US" altLang="zh-CN" dirty="0"/>
              <a:t>		true : </a:t>
            </a:r>
            <a:r>
              <a:rPr lang="zh-CN" altLang="en-US" dirty="0"/>
              <a:t>不存</a:t>
            </a:r>
            <a:endParaRPr lang="en-US" altLang="zh-CN" dirty="0"/>
          </a:p>
        </p:txBody>
      </p:sp>
    </p:spTree>
    <p:extLst>
      <p:ext uri="{BB962C8B-B14F-4D97-AF65-F5344CB8AC3E}">
        <p14:creationId xmlns:p14="http://schemas.microsoft.com/office/powerpoint/2010/main" val="20689111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C4A73D60-7B23-0CEE-CD08-8DDF510CC1D1}"/>
              </a:ext>
            </a:extLst>
          </p:cNvPr>
          <p:cNvSpPr>
            <a:spLocks noGrp="1"/>
          </p:cNvSpPr>
          <p:nvPr>
            <p:ph type="body" sz="quarter" idx="10"/>
          </p:nvPr>
        </p:nvSpPr>
        <p:spPr/>
        <p:txBody>
          <a:bodyPr/>
          <a:lstStyle/>
          <a:p>
            <a:r>
              <a:rPr lang="zh-CN" altLang="en-US" dirty="0">
                <a:solidFill>
                  <a:schemeClr val="tx1">
                    <a:lumMod val="75000"/>
                  </a:schemeClr>
                </a:solidFill>
                <a:latin typeface="杨任东竹石体-Bold" panose="02000000000000000000" pitchFamily="2" charset="-122"/>
                <a:ea typeface="杨任东竹石体-Bold" panose="02000000000000000000" pitchFamily="2" charset="-122"/>
              </a:rPr>
              <a:t>如果</a:t>
            </a:r>
            <a:r>
              <a:rPr lang="en-US" altLang="zh-CN" dirty="0" err="1">
                <a:solidFill>
                  <a:schemeClr val="tx1">
                    <a:lumMod val="75000"/>
                  </a:schemeClr>
                </a:solidFill>
                <a:latin typeface="杨任东竹石体-Bold" panose="02000000000000000000" pitchFamily="2" charset="-122"/>
                <a:ea typeface="杨任东竹石体-Bold" panose="02000000000000000000" pitchFamily="2" charset="-122"/>
              </a:rPr>
              <a:t>hashCode</a:t>
            </a:r>
            <a:r>
              <a:rPr lang="zh-CN" altLang="en-US" dirty="0">
                <a:solidFill>
                  <a:schemeClr val="tx1">
                    <a:lumMod val="75000"/>
                  </a:schemeClr>
                </a:solidFill>
                <a:latin typeface="杨任东竹石体-Bold" panose="02000000000000000000" pitchFamily="2" charset="-122"/>
                <a:ea typeface="杨任东竹石体-Bold" panose="02000000000000000000" pitchFamily="2" charset="-122"/>
              </a:rPr>
              <a:t>方法固定返回相同的值，数据都会挂在一个索引下面</a:t>
            </a:r>
            <a:r>
              <a:rPr lang="en-US" altLang="zh-CN" dirty="0">
                <a:solidFill>
                  <a:schemeClr val="tx1">
                    <a:lumMod val="75000"/>
                  </a:schemeClr>
                </a:solidFill>
                <a:latin typeface="杨任东竹石体-Bold" panose="02000000000000000000" pitchFamily="2" charset="-122"/>
                <a:ea typeface="杨任东竹石体-Bold" panose="02000000000000000000" pitchFamily="2" charset="-122"/>
              </a:rPr>
              <a:t>, </a:t>
            </a:r>
            <a:r>
              <a:rPr lang="zh-CN" altLang="en-US" dirty="0">
                <a:solidFill>
                  <a:schemeClr val="tx1">
                    <a:lumMod val="75000"/>
                  </a:schemeClr>
                </a:solidFill>
                <a:latin typeface="杨任东竹石体-Bold" panose="02000000000000000000" pitchFamily="2" charset="-122"/>
                <a:ea typeface="杨任东竹石体-Bold" panose="02000000000000000000" pitchFamily="2" charset="-122"/>
              </a:rPr>
              <a:t>性能如何</a:t>
            </a:r>
            <a:r>
              <a:rPr lang="en-US" altLang="zh-CN" dirty="0">
                <a:solidFill>
                  <a:schemeClr val="tx1">
                    <a:lumMod val="75000"/>
                  </a:schemeClr>
                </a:solidFill>
                <a:latin typeface="杨任东竹石体-Bold" panose="02000000000000000000" pitchFamily="2" charset="-122"/>
                <a:ea typeface="杨任东竹石体-Bold" panose="02000000000000000000" pitchFamily="2" charset="-122"/>
              </a:rPr>
              <a:t>?</a:t>
            </a:r>
            <a:endParaRPr kumimoji="0" lang="zh-CN" altLang="en-US" b="0" i="0" u="none" strike="noStrike" cap="none" normalizeH="0" baseline="0" dirty="0">
              <a:ln>
                <a:noFill/>
              </a:ln>
              <a:solidFill>
                <a:schemeClr val="tx1">
                  <a:lumMod val="75000"/>
                </a:schemeClr>
              </a:solidFill>
              <a:effectLst/>
              <a:latin typeface="杨任东竹石体-Bold" panose="02000000000000000000" pitchFamily="2" charset="-122"/>
              <a:ea typeface="杨任东竹石体-Bold" panose="02000000000000000000" pitchFamily="2" charset="-122"/>
            </a:endParaRPr>
          </a:p>
        </p:txBody>
      </p:sp>
    </p:spTree>
    <p:extLst>
      <p:ext uri="{BB962C8B-B14F-4D97-AF65-F5344CB8AC3E}">
        <p14:creationId xmlns:p14="http://schemas.microsoft.com/office/powerpoint/2010/main" val="36224367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EBC7BE-D48D-5B2F-89F0-F1AEB02E667E}"/>
              </a:ext>
            </a:extLst>
          </p:cNvPr>
          <p:cNvSpPr>
            <a:spLocks noGrp="1"/>
          </p:cNvSpPr>
          <p:nvPr>
            <p:ph type="title"/>
          </p:nvPr>
        </p:nvSpPr>
        <p:spPr/>
        <p:txBody>
          <a:bodyPr/>
          <a:lstStyle/>
          <a:p>
            <a:r>
              <a:rPr lang="en-US" altLang="zh-CN" dirty="0" err="1"/>
              <a:t>hashCode</a:t>
            </a:r>
            <a:r>
              <a:rPr lang="zh-CN" altLang="en-US" dirty="0"/>
              <a:t>方法改造</a:t>
            </a:r>
          </a:p>
        </p:txBody>
      </p:sp>
    </p:spTree>
    <p:extLst>
      <p:ext uri="{BB962C8B-B14F-4D97-AF65-F5344CB8AC3E}">
        <p14:creationId xmlns:p14="http://schemas.microsoft.com/office/powerpoint/2010/main" val="3655459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76140DC4-230F-D790-2FED-487315521927}"/>
              </a:ext>
            </a:extLst>
          </p:cNvPr>
          <p:cNvSpPr txBox="1"/>
          <p:nvPr/>
        </p:nvSpPr>
        <p:spPr>
          <a:xfrm>
            <a:off x="907676" y="1720134"/>
            <a:ext cx="6096000" cy="467692"/>
          </a:xfrm>
          <a:prstGeom prst="rect">
            <a:avLst/>
          </a:prstGeom>
          <a:noFill/>
        </p:spPr>
        <p:txBody>
          <a:bodyPr wrap="square">
            <a:spAutoFit/>
          </a:bodyPr>
          <a:lstStyle/>
          <a:p>
            <a:pPr>
              <a:lnSpc>
                <a:spcPct val="150000"/>
              </a:lnSpc>
            </a:pPr>
            <a:r>
              <a:rPr lang="zh-CN" altLang="en-US" sz="1800" b="1"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哈希值</a:t>
            </a:r>
            <a:endParaRPr lang="zh-CN" altLang="en-US" b="1"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0" name="文本框 9">
            <a:extLst>
              <a:ext uri="{FF2B5EF4-FFF2-40B4-BE49-F238E27FC236}">
                <a16:creationId xmlns:a16="http://schemas.microsoft.com/office/drawing/2014/main" id="{8C4C9EB9-19B3-677D-FE65-5A8D53DB4318}"/>
              </a:ext>
            </a:extLst>
          </p:cNvPr>
          <p:cNvSpPr txBox="1"/>
          <p:nvPr/>
        </p:nvSpPr>
        <p:spPr>
          <a:xfrm>
            <a:off x="907676" y="2796440"/>
            <a:ext cx="6096000" cy="467692"/>
          </a:xfrm>
          <a:prstGeom prst="rect">
            <a:avLst/>
          </a:prstGeom>
          <a:noFill/>
        </p:spPr>
        <p:txBody>
          <a:bodyPr wrap="square">
            <a:spAutoFit/>
          </a:bodyPr>
          <a:lstStyle/>
          <a:p>
            <a:pPr fontAlgn="auto">
              <a:lnSpc>
                <a:spcPct val="150000"/>
              </a:lnSpc>
              <a:spcBef>
                <a:spcPts val="0"/>
              </a:spcBef>
              <a:spcAft>
                <a:spcPts val="0"/>
              </a:spcAft>
              <a:defRPr/>
            </a:pPr>
            <a:r>
              <a:rPr lang="en-US" altLang="zh-CN" b="1"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Object</a:t>
            </a:r>
            <a:r>
              <a:rPr lang="zh-CN" altLang="en-US" b="1"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类的</a:t>
            </a:r>
            <a:r>
              <a:rPr lang="en-US" altLang="zh-CN" b="1"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API</a:t>
            </a:r>
            <a:endParaRPr lang="en-US" altLang="zh-CN" b="1" dirty="0">
              <a:solidFill>
                <a:srgbClr val="FF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1" name="文本框 10">
            <a:extLst>
              <a:ext uri="{FF2B5EF4-FFF2-40B4-BE49-F238E27FC236}">
                <a16:creationId xmlns:a16="http://schemas.microsoft.com/office/drawing/2014/main" id="{2624B132-1E2B-F70A-F3D4-E00573EA2B36}"/>
              </a:ext>
            </a:extLst>
          </p:cNvPr>
          <p:cNvSpPr txBox="1"/>
          <p:nvPr/>
        </p:nvSpPr>
        <p:spPr>
          <a:xfrm>
            <a:off x="907676" y="4202279"/>
            <a:ext cx="9166112" cy="425950"/>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en-US" altLang="zh-CN"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public int </a:t>
            </a:r>
            <a:r>
              <a:rPr lang="en-US" altLang="zh-CN" sz="1600" dirty="0" err="1">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hashCode</a:t>
            </a:r>
            <a:r>
              <a:rPr lang="en-US" altLang="zh-CN"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：调用底层</a:t>
            </a:r>
            <a:r>
              <a:rPr lang="en-US" altLang="zh-CN"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C++ </a:t>
            </a:r>
            <a:r>
              <a:rPr lang="zh-CN" altLang="en-US"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代码计算出的一个随机数 </a:t>
            </a:r>
            <a:r>
              <a:rPr lang="en-US" altLang="zh-CN"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常被人称作地址值</a:t>
            </a:r>
            <a:r>
              <a:rPr lang="en-US" altLang="zh-CN"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p>
        </p:txBody>
      </p:sp>
      <p:sp>
        <p:nvSpPr>
          <p:cNvPr id="14" name="文本框 13">
            <a:extLst>
              <a:ext uri="{FF2B5EF4-FFF2-40B4-BE49-F238E27FC236}">
                <a16:creationId xmlns:a16="http://schemas.microsoft.com/office/drawing/2014/main" id="{C5BBE280-FAF5-AB17-F682-FFB0F59DC7AD}"/>
              </a:ext>
            </a:extLst>
          </p:cNvPr>
          <p:cNvSpPr txBox="1"/>
          <p:nvPr/>
        </p:nvSpPr>
        <p:spPr>
          <a:xfrm>
            <a:off x="907676" y="2166910"/>
            <a:ext cx="9791699" cy="519438"/>
          </a:xfrm>
          <a:prstGeom prst="rect">
            <a:avLst/>
          </a:prstGeom>
          <a:noFill/>
        </p:spPr>
        <p:txBody>
          <a:bodyPr wrap="square">
            <a:spAutoFit/>
          </a:bodyPr>
          <a:lstStyle/>
          <a:p>
            <a:pPr marL="285750" indent="-285750">
              <a:lnSpc>
                <a:spcPct val="200000"/>
              </a:lnSpc>
              <a:buFont typeface="Wingdings" panose="05000000000000000000" pitchFamily="2" charset="2"/>
              <a:buChar char="l"/>
            </a:pPr>
            <a:r>
              <a:rPr lang="zh-CN" altLang="en-US" sz="1600" dirty="0">
                <a:latin typeface="+mn-ea"/>
              </a:rPr>
              <a:t>就是一个</a:t>
            </a:r>
            <a:r>
              <a:rPr lang="en-US" altLang="zh-CN" sz="1600" dirty="0">
                <a:latin typeface="+mn-ea"/>
              </a:rPr>
              <a:t>int</a:t>
            </a:r>
            <a:r>
              <a:rPr lang="zh-CN" altLang="en-US" sz="1600" dirty="0">
                <a:latin typeface="+mn-ea"/>
              </a:rPr>
              <a:t>类型的</a:t>
            </a:r>
            <a:r>
              <a:rPr lang="zh-CN" altLang="en-US" sz="1600" b="1" dirty="0">
                <a:solidFill>
                  <a:srgbClr val="C00000"/>
                </a:solidFill>
                <a:latin typeface="+mn-ea"/>
              </a:rPr>
              <a:t>随机值，</a:t>
            </a:r>
            <a:r>
              <a:rPr lang="en-US" altLang="zh-CN" sz="1600" b="1" dirty="0">
                <a:solidFill>
                  <a:srgbClr val="C00000"/>
                </a:solidFill>
                <a:latin typeface="+mn-ea"/>
              </a:rPr>
              <a:t>Java</a:t>
            </a:r>
            <a:r>
              <a:rPr lang="zh-CN" altLang="en-US" sz="1600" b="1" dirty="0">
                <a:solidFill>
                  <a:srgbClr val="C00000"/>
                </a:solidFill>
                <a:latin typeface="+mn-ea"/>
              </a:rPr>
              <a:t>中每个对象都有一个哈希值。</a:t>
            </a:r>
            <a:endParaRPr lang="en-US" altLang="zh-CN" sz="1600" b="1" dirty="0">
              <a:solidFill>
                <a:srgbClr val="C00000"/>
              </a:solidFill>
              <a:latin typeface="+mn-ea"/>
            </a:endParaRPr>
          </a:p>
        </p:txBody>
      </p:sp>
      <p:pic>
        <p:nvPicPr>
          <p:cNvPr id="16" name="图片 15">
            <a:extLst>
              <a:ext uri="{FF2B5EF4-FFF2-40B4-BE49-F238E27FC236}">
                <a16:creationId xmlns:a16="http://schemas.microsoft.com/office/drawing/2014/main" id="{4502C1BC-F15B-7F94-8FF2-9B366443A3B2}"/>
              </a:ext>
            </a:extLst>
          </p:cNvPr>
          <p:cNvPicPr>
            <a:picLocks noChangeAspect="1"/>
          </p:cNvPicPr>
          <p:nvPr/>
        </p:nvPicPr>
        <p:blipFill>
          <a:blip r:embed="rId3"/>
          <a:stretch>
            <a:fillRect/>
          </a:stretch>
        </p:blipFill>
        <p:spPr>
          <a:xfrm>
            <a:off x="1169893" y="3440344"/>
            <a:ext cx="3841947" cy="558829"/>
          </a:xfrm>
          <a:prstGeom prst="rect">
            <a:avLst/>
          </a:prstGeom>
        </p:spPr>
      </p:pic>
      <p:sp>
        <p:nvSpPr>
          <p:cNvPr id="17" name="矩形: 圆角 16">
            <a:extLst>
              <a:ext uri="{FF2B5EF4-FFF2-40B4-BE49-F238E27FC236}">
                <a16:creationId xmlns:a16="http://schemas.microsoft.com/office/drawing/2014/main" id="{20EDB74A-3B50-5AAC-094A-8C1A53784F3A}"/>
              </a:ext>
            </a:extLst>
          </p:cNvPr>
          <p:cNvSpPr/>
          <p:nvPr/>
        </p:nvSpPr>
        <p:spPr>
          <a:xfrm>
            <a:off x="1223681" y="488422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8" name="直接连接符 17">
            <a:extLst>
              <a:ext uri="{FF2B5EF4-FFF2-40B4-BE49-F238E27FC236}">
                <a16:creationId xmlns:a16="http://schemas.microsoft.com/office/drawing/2014/main" id="{7E2D7964-8BBE-21B5-CB04-D4011356EE5A}"/>
              </a:ext>
            </a:extLst>
          </p:cNvPr>
          <p:cNvCxnSpPr>
            <a:cxnSpLocks/>
          </p:cNvCxnSpPr>
          <p:nvPr/>
        </p:nvCxnSpPr>
        <p:spPr>
          <a:xfrm>
            <a:off x="2252380" y="4884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9" name="直接连接符 18">
            <a:extLst>
              <a:ext uri="{FF2B5EF4-FFF2-40B4-BE49-F238E27FC236}">
                <a16:creationId xmlns:a16="http://schemas.microsoft.com/office/drawing/2014/main" id="{FA89C0E6-70F1-C24C-2146-C3888130CDA1}"/>
              </a:ext>
            </a:extLst>
          </p:cNvPr>
          <p:cNvCxnSpPr>
            <a:cxnSpLocks/>
          </p:cNvCxnSpPr>
          <p:nvPr/>
        </p:nvCxnSpPr>
        <p:spPr>
          <a:xfrm>
            <a:off x="3296411" y="4884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20" name="直接连接符 19">
            <a:extLst>
              <a:ext uri="{FF2B5EF4-FFF2-40B4-BE49-F238E27FC236}">
                <a16:creationId xmlns:a16="http://schemas.microsoft.com/office/drawing/2014/main" id="{56F1C9B9-DE59-0CF8-E1BE-E0290C5B5CFB}"/>
              </a:ext>
            </a:extLst>
          </p:cNvPr>
          <p:cNvCxnSpPr>
            <a:cxnSpLocks/>
          </p:cNvCxnSpPr>
          <p:nvPr/>
        </p:nvCxnSpPr>
        <p:spPr>
          <a:xfrm>
            <a:off x="4340442" y="4884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21" name="直接连接符 20">
            <a:extLst>
              <a:ext uri="{FF2B5EF4-FFF2-40B4-BE49-F238E27FC236}">
                <a16:creationId xmlns:a16="http://schemas.microsoft.com/office/drawing/2014/main" id="{62699875-4556-9817-B43A-D51972F8513D}"/>
              </a:ext>
            </a:extLst>
          </p:cNvPr>
          <p:cNvCxnSpPr>
            <a:cxnSpLocks/>
          </p:cNvCxnSpPr>
          <p:nvPr/>
        </p:nvCxnSpPr>
        <p:spPr>
          <a:xfrm>
            <a:off x="5384473" y="4884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22" name="直接连接符 21">
            <a:extLst>
              <a:ext uri="{FF2B5EF4-FFF2-40B4-BE49-F238E27FC236}">
                <a16:creationId xmlns:a16="http://schemas.microsoft.com/office/drawing/2014/main" id="{F257F6C8-9236-CEBE-8EB7-E7179E6AEC3A}"/>
              </a:ext>
            </a:extLst>
          </p:cNvPr>
          <p:cNvCxnSpPr>
            <a:cxnSpLocks/>
          </p:cNvCxnSpPr>
          <p:nvPr/>
        </p:nvCxnSpPr>
        <p:spPr>
          <a:xfrm>
            <a:off x="6428504" y="4884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23" name="直接连接符 22">
            <a:extLst>
              <a:ext uri="{FF2B5EF4-FFF2-40B4-BE49-F238E27FC236}">
                <a16:creationId xmlns:a16="http://schemas.microsoft.com/office/drawing/2014/main" id="{384BC76A-C093-5A3B-36A4-BFC97FAA6BE0}"/>
              </a:ext>
            </a:extLst>
          </p:cNvPr>
          <p:cNvCxnSpPr>
            <a:cxnSpLocks/>
          </p:cNvCxnSpPr>
          <p:nvPr/>
        </p:nvCxnSpPr>
        <p:spPr>
          <a:xfrm>
            <a:off x="7472537" y="488422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24" name="文本框 23">
            <a:extLst>
              <a:ext uri="{FF2B5EF4-FFF2-40B4-BE49-F238E27FC236}">
                <a16:creationId xmlns:a16="http://schemas.microsoft.com/office/drawing/2014/main" id="{E917E8B5-1917-DBB7-57C0-2E460E26DCB1}"/>
              </a:ext>
            </a:extLst>
          </p:cNvPr>
          <p:cNvSpPr txBox="1"/>
          <p:nvPr/>
        </p:nvSpPr>
        <p:spPr>
          <a:xfrm>
            <a:off x="1536575" y="5896164"/>
            <a:ext cx="7320553" cy="276999"/>
          </a:xfrm>
          <a:prstGeom prst="rect">
            <a:avLst/>
          </a:prstGeom>
          <a:noFill/>
        </p:spPr>
        <p:txBody>
          <a:bodyPr wrap="square" rtlCol="0">
            <a:spAutoFit/>
          </a:bodyPr>
          <a:lstStyle/>
          <a:p>
            <a:pPr algn="l"/>
            <a:r>
              <a:rPr kumimoji="0" lang="en-US" altLang="zh-CN"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rPr>
              <a:t>0            1            2           3           4            5            6</a:t>
            </a:r>
            <a:endParaRPr kumimoji="0" lang="zh-CN" altLang="en-US"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endParaRPr>
          </a:p>
        </p:txBody>
      </p:sp>
      <p:sp>
        <p:nvSpPr>
          <p:cNvPr id="28" name="矩形: 圆角 27">
            <a:extLst>
              <a:ext uri="{FF2B5EF4-FFF2-40B4-BE49-F238E27FC236}">
                <a16:creationId xmlns:a16="http://schemas.microsoft.com/office/drawing/2014/main" id="{75E2C82A-C855-D9BD-4196-99E6168DD055}"/>
              </a:ext>
            </a:extLst>
          </p:cNvPr>
          <p:cNvSpPr/>
          <p:nvPr/>
        </p:nvSpPr>
        <p:spPr>
          <a:xfrm>
            <a:off x="9163258" y="5404211"/>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25</a:t>
            </a:r>
            <a:endParaRPr lang="zh-CN" altLang="en-US" dirty="0">
              <a:latin typeface="杨任东竹石体-Bold" panose="02000000000000000000" pitchFamily="2" charset="-122"/>
              <a:ea typeface="杨任东竹石体-Bold" panose="02000000000000000000" pitchFamily="2" charset="-122"/>
            </a:endParaRPr>
          </a:p>
        </p:txBody>
      </p:sp>
      <p:sp>
        <p:nvSpPr>
          <p:cNvPr id="29" name="矩形: 圆角 28">
            <a:extLst>
              <a:ext uri="{FF2B5EF4-FFF2-40B4-BE49-F238E27FC236}">
                <a16:creationId xmlns:a16="http://schemas.microsoft.com/office/drawing/2014/main" id="{22D9D1F6-5214-149C-361D-52DE83442570}"/>
              </a:ext>
            </a:extLst>
          </p:cNvPr>
          <p:cNvSpPr/>
          <p:nvPr/>
        </p:nvSpPr>
        <p:spPr>
          <a:xfrm>
            <a:off x="10191957" y="4628229"/>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25</a:t>
            </a:r>
            <a:endParaRPr lang="zh-CN" altLang="en-US" dirty="0">
              <a:latin typeface="杨任东竹石体-Bold" panose="02000000000000000000" pitchFamily="2" charset="-122"/>
              <a:ea typeface="杨任东竹石体-Bold" panose="02000000000000000000" pitchFamily="2" charset="-122"/>
            </a:endParaRPr>
          </a:p>
        </p:txBody>
      </p:sp>
      <p:sp>
        <p:nvSpPr>
          <p:cNvPr id="2" name="标题 1">
            <a:extLst>
              <a:ext uri="{FF2B5EF4-FFF2-40B4-BE49-F238E27FC236}">
                <a16:creationId xmlns:a16="http://schemas.microsoft.com/office/drawing/2014/main" id="{42563EE4-E60E-B613-EA5B-3130FF988428}"/>
              </a:ext>
            </a:extLst>
          </p:cNvPr>
          <p:cNvSpPr>
            <a:spLocks noGrp="1"/>
          </p:cNvSpPr>
          <p:nvPr>
            <p:ph type="title"/>
          </p:nvPr>
        </p:nvSpPr>
        <p:spPr/>
        <p:txBody>
          <a:bodyPr/>
          <a:lstStyle/>
          <a:p>
            <a:r>
              <a:rPr lang="en-US" altLang="zh-CN" dirty="0" err="1"/>
              <a:t>hashCode</a:t>
            </a:r>
            <a:r>
              <a:rPr lang="zh-CN" altLang="en-US" dirty="0"/>
              <a:t>方法介绍</a:t>
            </a:r>
          </a:p>
        </p:txBody>
      </p:sp>
    </p:spTree>
    <p:extLst>
      <p:ext uri="{BB962C8B-B14F-4D97-AF65-F5344CB8AC3E}">
        <p14:creationId xmlns:p14="http://schemas.microsoft.com/office/powerpoint/2010/main" val="368227773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circle(in)">
                                      <p:cBhvr>
                                        <p:cTn id="26" dur="1000"/>
                                        <p:tgtEl>
                                          <p:spTgt spid="17"/>
                                        </p:tgtEl>
                                      </p:cBhvr>
                                    </p:animEffect>
                                  </p:childTnLst>
                                </p:cTn>
                              </p:par>
                              <p:par>
                                <p:cTn id="27" presetID="6" presetClass="entr" presetSubtype="16"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circle(in)">
                                      <p:cBhvr>
                                        <p:cTn id="29" dur="1000"/>
                                        <p:tgtEl>
                                          <p:spTgt spid="18"/>
                                        </p:tgtEl>
                                      </p:cBhvr>
                                    </p:animEffect>
                                  </p:childTnLst>
                                </p:cTn>
                              </p:par>
                              <p:par>
                                <p:cTn id="30" presetID="6" presetClass="entr" presetSubtype="16"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circle(in)">
                                      <p:cBhvr>
                                        <p:cTn id="32" dur="1000"/>
                                        <p:tgtEl>
                                          <p:spTgt spid="19"/>
                                        </p:tgtEl>
                                      </p:cBhvr>
                                    </p:animEffect>
                                  </p:childTnLst>
                                </p:cTn>
                              </p:par>
                              <p:par>
                                <p:cTn id="33" presetID="6" presetClass="entr" presetSubtype="16"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circle(in)">
                                      <p:cBhvr>
                                        <p:cTn id="35" dur="1000"/>
                                        <p:tgtEl>
                                          <p:spTgt spid="20"/>
                                        </p:tgtEl>
                                      </p:cBhvr>
                                    </p:animEffect>
                                  </p:childTnLst>
                                </p:cTn>
                              </p:par>
                              <p:par>
                                <p:cTn id="36" presetID="6" presetClass="entr" presetSubtype="16"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circle(in)">
                                      <p:cBhvr>
                                        <p:cTn id="38" dur="1000"/>
                                        <p:tgtEl>
                                          <p:spTgt spid="21"/>
                                        </p:tgtEl>
                                      </p:cBhvr>
                                    </p:animEffect>
                                  </p:childTnLst>
                                </p:cTn>
                              </p:par>
                              <p:par>
                                <p:cTn id="39" presetID="6" presetClass="entr" presetSubtype="16"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circle(in)">
                                      <p:cBhvr>
                                        <p:cTn id="41" dur="1000"/>
                                        <p:tgtEl>
                                          <p:spTgt spid="22"/>
                                        </p:tgtEl>
                                      </p:cBhvr>
                                    </p:animEffect>
                                  </p:childTnLst>
                                </p:cTn>
                              </p:par>
                              <p:par>
                                <p:cTn id="42" presetID="6" presetClass="entr" presetSubtype="16"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circle(in)">
                                      <p:cBhvr>
                                        <p:cTn id="44" dur="1000"/>
                                        <p:tgtEl>
                                          <p:spTgt spid="23"/>
                                        </p:tgtEl>
                                      </p:cBhvr>
                                    </p:animEffect>
                                  </p:childTnLst>
                                </p:cTn>
                              </p:par>
                            </p:childTnLst>
                          </p:cTn>
                        </p:par>
                        <p:par>
                          <p:cTn id="45" fill="hold">
                            <p:stCondLst>
                              <p:cond delay="1000"/>
                            </p:stCondLst>
                            <p:childTnLst>
                              <p:par>
                                <p:cTn id="46" presetID="22" presetClass="entr" presetSubtype="4" fill="hold" grpId="0" nodeType="after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ipe(down)">
                                      <p:cBhvr>
                                        <p:cTn id="48"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 calcmode="lin" valueType="num">
                                      <p:cBhvr additive="base">
                                        <p:cTn id="53" dur="500" fill="hold"/>
                                        <p:tgtEl>
                                          <p:spTgt spid="29"/>
                                        </p:tgtEl>
                                        <p:attrNameLst>
                                          <p:attrName>ppt_x</p:attrName>
                                        </p:attrNameLst>
                                      </p:cBhvr>
                                      <p:tavLst>
                                        <p:tav tm="0">
                                          <p:val>
                                            <p:strVal val="1+#ppt_w/2"/>
                                          </p:val>
                                        </p:tav>
                                        <p:tav tm="100000">
                                          <p:val>
                                            <p:strVal val="#ppt_x"/>
                                          </p:val>
                                        </p:tav>
                                      </p:tavLst>
                                    </p:anim>
                                    <p:anim calcmode="lin" valueType="num">
                                      <p:cBhvr additive="base">
                                        <p:cTn id="54" dur="500" fill="hold"/>
                                        <p:tgtEl>
                                          <p:spTgt spid="29"/>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 calcmode="lin" valueType="num">
                                      <p:cBhvr additive="base">
                                        <p:cTn id="57" dur="500" fill="hold"/>
                                        <p:tgtEl>
                                          <p:spTgt spid="28"/>
                                        </p:tgtEl>
                                        <p:attrNameLst>
                                          <p:attrName>ppt_x</p:attrName>
                                        </p:attrNameLst>
                                      </p:cBhvr>
                                      <p:tavLst>
                                        <p:tav tm="0">
                                          <p:val>
                                            <p:strVal val="1+#ppt_w/2"/>
                                          </p:val>
                                        </p:tav>
                                        <p:tav tm="100000">
                                          <p:val>
                                            <p:strVal val="#ppt_x"/>
                                          </p:val>
                                        </p:tav>
                                      </p:tavLst>
                                    </p:anim>
                                    <p:anim calcmode="lin" valueType="num">
                                      <p:cBhvr additive="base">
                                        <p:cTn id="5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4" grpId="0"/>
      <p:bldP spid="17" grpId="0" animBg="1"/>
      <p:bldP spid="24" grpId="0"/>
      <p:bldP spid="28" grpId="0" animBg="1"/>
      <p:bldP spid="2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76140DC4-230F-D790-2FED-487315521927}"/>
              </a:ext>
            </a:extLst>
          </p:cNvPr>
          <p:cNvSpPr txBox="1"/>
          <p:nvPr/>
        </p:nvSpPr>
        <p:spPr>
          <a:xfrm>
            <a:off x="907676" y="1720134"/>
            <a:ext cx="6096000" cy="467692"/>
          </a:xfrm>
          <a:prstGeom prst="rect">
            <a:avLst/>
          </a:prstGeom>
          <a:noFill/>
        </p:spPr>
        <p:txBody>
          <a:bodyPr wrap="square">
            <a:spAutoFit/>
          </a:bodyPr>
          <a:lstStyle/>
          <a:p>
            <a:pPr>
              <a:lnSpc>
                <a:spcPct val="150000"/>
              </a:lnSpc>
            </a:pPr>
            <a:r>
              <a:rPr lang="zh-CN" altLang="en-US" sz="1800" b="1"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哈希值</a:t>
            </a:r>
            <a:endParaRPr lang="zh-CN" altLang="en-US" b="1"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0" name="文本框 9">
            <a:extLst>
              <a:ext uri="{FF2B5EF4-FFF2-40B4-BE49-F238E27FC236}">
                <a16:creationId xmlns:a16="http://schemas.microsoft.com/office/drawing/2014/main" id="{8C4C9EB9-19B3-677D-FE65-5A8D53DB4318}"/>
              </a:ext>
            </a:extLst>
          </p:cNvPr>
          <p:cNvSpPr txBox="1"/>
          <p:nvPr/>
        </p:nvSpPr>
        <p:spPr>
          <a:xfrm>
            <a:off x="907676" y="2796440"/>
            <a:ext cx="6096000" cy="467692"/>
          </a:xfrm>
          <a:prstGeom prst="rect">
            <a:avLst/>
          </a:prstGeom>
          <a:noFill/>
        </p:spPr>
        <p:txBody>
          <a:bodyPr wrap="square">
            <a:spAutoFit/>
          </a:bodyPr>
          <a:lstStyle/>
          <a:p>
            <a:pPr fontAlgn="auto">
              <a:lnSpc>
                <a:spcPct val="150000"/>
              </a:lnSpc>
              <a:spcBef>
                <a:spcPts val="0"/>
              </a:spcBef>
              <a:spcAft>
                <a:spcPts val="0"/>
              </a:spcAft>
              <a:defRPr/>
            </a:pPr>
            <a:r>
              <a:rPr lang="en-US" altLang="zh-CN" b="1"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Object</a:t>
            </a:r>
            <a:r>
              <a:rPr lang="zh-CN" altLang="en-US" b="1"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类的</a:t>
            </a:r>
            <a:r>
              <a:rPr lang="en-US" altLang="zh-CN" b="1"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API</a:t>
            </a:r>
            <a:endParaRPr lang="en-US" altLang="zh-CN" b="1" dirty="0">
              <a:solidFill>
                <a:srgbClr val="FF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1" name="文本框 10">
            <a:extLst>
              <a:ext uri="{FF2B5EF4-FFF2-40B4-BE49-F238E27FC236}">
                <a16:creationId xmlns:a16="http://schemas.microsoft.com/office/drawing/2014/main" id="{2624B132-1E2B-F70A-F3D4-E00573EA2B36}"/>
              </a:ext>
            </a:extLst>
          </p:cNvPr>
          <p:cNvSpPr txBox="1"/>
          <p:nvPr/>
        </p:nvSpPr>
        <p:spPr>
          <a:xfrm>
            <a:off x="907676" y="4202279"/>
            <a:ext cx="9166112" cy="425950"/>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en-US" altLang="zh-CN"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public int </a:t>
            </a:r>
            <a:r>
              <a:rPr lang="en-US" altLang="zh-CN" sz="1600" dirty="0" err="1">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hashCode</a:t>
            </a:r>
            <a:r>
              <a:rPr lang="en-US" altLang="zh-CN"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：调用底层</a:t>
            </a:r>
            <a:r>
              <a:rPr lang="en-US" altLang="zh-CN"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C++ </a:t>
            </a:r>
            <a:r>
              <a:rPr lang="zh-CN" altLang="en-US"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代码计算出的一个随机数 </a:t>
            </a:r>
            <a:r>
              <a:rPr lang="en-US" altLang="zh-CN"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常被人称作地址值</a:t>
            </a:r>
            <a:r>
              <a:rPr lang="en-US" altLang="zh-CN" sz="1600" dirty="0">
                <a:solidFill>
                  <a:schemeClr val="tx1">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p>
        </p:txBody>
      </p:sp>
      <p:sp>
        <p:nvSpPr>
          <p:cNvPr id="14" name="文本框 13">
            <a:extLst>
              <a:ext uri="{FF2B5EF4-FFF2-40B4-BE49-F238E27FC236}">
                <a16:creationId xmlns:a16="http://schemas.microsoft.com/office/drawing/2014/main" id="{C5BBE280-FAF5-AB17-F682-FFB0F59DC7AD}"/>
              </a:ext>
            </a:extLst>
          </p:cNvPr>
          <p:cNvSpPr txBox="1"/>
          <p:nvPr/>
        </p:nvSpPr>
        <p:spPr>
          <a:xfrm>
            <a:off x="907676" y="2166910"/>
            <a:ext cx="9791699" cy="519438"/>
          </a:xfrm>
          <a:prstGeom prst="rect">
            <a:avLst/>
          </a:prstGeom>
          <a:noFill/>
        </p:spPr>
        <p:txBody>
          <a:bodyPr wrap="square">
            <a:spAutoFit/>
          </a:bodyPr>
          <a:lstStyle/>
          <a:p>
            <a:pPr marL="285750" indent="-285750">
              <a:lnSpc>
                <a:spcPct val="200000"/>
              </a:lnSpc>
              <a:buFont typeface="Wingdings" panose="05000000000000000000" pitchFamily="2" charset="2"/>
              <a:buChar char="l"/>
            </a:pPr>
            <a:r>
              <a:rPr lang="zh-CN" altLang="en-US" sz="1600" dirty="0">
                <a:latin typeface="+mn-ea"/>
              </a:rPr>
              <a:t>就是一个</a:t>
            </a:r>
            <a:r>
              <a:rPr lang="en-US" altLang="zh-CN" sz="1600" dirty="0">
                <a:latin typeface="+mn-ea"/>
              </a:rPr>
              <a:t>int</a:t>
            </a:r>
            <a:r>
              <a:rPr lang="zh-CN" altLang="en-US" sz="1600" dirty="0">
                <a:latin typeface="+mn-ea"/>
              </a:rPr>
              <a:t>类型的</a:t>
            </a:r>
            <a:r>
              <a:rPr lang="zh-CN" altLang="en-US" sz="1600" b="1" dirty="0">
                <a:solidFill>
                  <a:srgbClr val="C00000"/>
                </a:solidFill>
                <a:latin typeface="+mn-ea"/>
              </a:rPr>
              <a:t>随机值，</a:t>
            </a:r>
            <a:r>
              <a:rPr lang="en-US" altLang="zh-CN" sz="1600" b="1" dirty="0">
                <a:solidFill>
                  <a:srgbClr val="C00000"/>
                </a:solidFill>
                <a:latin typeface="+mn-ea"/>
              </a:rPr>
              <a:t>Java</a:t>
            </a:r>
            <a:r>
              <a:rPr lang="zh-CN" altLang="en-US" sz="1600" b="1" dirty="0">
                <a:solidFill>
                  <a:srgbClr val="C00000"/>
                </a:solidFill>
                <a:latin typeface="+mn-ea"/>
              </a:rPr>
              <a:t>中每个对象都有一个哈希值。</a:t>
            </a:r>
            <a:endParaRPr lang="en-US" altLang="zh-CN" sz="1600" b="1" dirty="0">
              <a:solidFill>
                <a:srgbClr val="C00000"/>
              </a:solidFill>
              <a:latin typeface="+mn-ea"/>
            </a:endParaRPr>
          </a:p>
        </p:txBody>
      </p:sp>
      <p:pic>
        <p:nvPicPr>
          <p:cNvPr id="16" name="图片 15">
            <a:extLst>
              <a:ext uri="{FF2B5EF4-FFF2-40B4-BE49-F238E27FC236}">
                <a16:creationId xmlns:a16="http://schemas.microsoft.com/office/drawing/2014/main" id="{4502C1BC-F15B-7F94-8FF2-9B366443A3B2}"/>
              </a:ext>
            </a:extLst>
          </p:cNvPr>
          <p:cNvPicPr>
            <a:picLocks noChangeAspect="1"/>
          </p:cNvPicPr>
          <p:nvPr/>
        </p:nvPicPr>
        <p:blipFill>
          <a:blip r:embed="rId3"/>
          <a:stretch>
            <a:fillRect/>
          </a:stretch>
        </p:blipFill>
        <p:spPr>
          <a:xfrm>
            <a:off x="1169893" y="3440344"/>
            <a:ext cx="3841947" cy="558829"/>
          </a:xfrm>
          <a:prstGeom prst="rect">
            <a:avLst/>
          </a:prstGeom>
        </p:spPr>
      </p:pic>
      <p:sp>
        <p:nvSpPr>
          <p:cNvPr id="17" name="矩形: 圆角 16">
            <a:extLst>
              <a:ext uri="{FF2B5EF4-FFF2-40B4-BE49-F238E27FC236}">
                <a16:creationId xmlns:a16="http://schemas.microsoft.com/office/drawing/2014/main" id="{20EDB74A-3B50-5AAC-094A-8C1A53784F3A}"/>
              </a:ext>
            </a:extLst>
          </p:cNvPr>
          <p:cNvSpPr/>
          <p:nvPr/>
        </p:nvSpPr>
        <p:spPr>
          <a:xfrm>
            <a:off x="1223681" y="488422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8" name="直接连接符 17">
            <a:extLst>
              <a:ext uri="{FF2B5EF4-FFF2-40B4-BE49-F238E27FC236}">
                <a16:creationId xmlns:a16="http://schemas.microsoft.com/office/drawing/2014/main" id="{7E2D7964-8BBE-21B5-CB04-D4011356EE5A}"/>
              </a:ext>
            </a:extLst>
          </p:cNvPr>
          <p:cNvCxnSpPr>
            <a:cxnSpLocks/>
          </p:cNvCxnSpPr>
          <p:nvPr/>
        </p:nvCxnSpPr>
        <p:spPr>
          <a:xfrm>
            <a:off x="2252380" y="4884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9" name="直接连接符 18">
            <a:extLst>
              <a:ext uri="{FF2B5EF4-FFF2-40B4-BE49-F238E27FC236}">
                <a16:creationId xmlns:a16="http://schemas.microsoft.com/office/drawing/2014/main" id="{FA89C0E6-70F1-C24C-2146-C3888130CDA1}"/>
              </a:ext>
            </a:extLst>
          </p:cNvPr>
          <p:cNvCxnSpPr>
            <a:cxnSpLocks/>
          </p:cNvCxnSpPr>
          <p:nvPr/>
        </p:nvCxnSpPr>
        <p:spPr>
          <a:xfrm>
            <a:off x="3296411" y="4884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20" name="直接连接符 19">
            <a:extLst>
              <a:ext uri="{FF2B5EF4-FFF2-40B4-BE49-F238E27FC236}">
                <a16:creationId xmlns:a16="http://schemas.microsoft.com/office/drawing/2014/main" id="{56F1C9B9-DE59-0CF8-E1BE-E0290C5B5CFB}"/>
              </a:ext>
            </a:extLst>
          </p:cNvPr>
          <p:cNvCxnSpPr>
            <a:cxnSpLocks/>
          </p:cNvCxnSpPr>
          <p:nvPr/>
        </p:nvCxnSpPr>
        <p:spPr>
          <a:xfrm>
            <a:off x="4340442" y="4884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21" name="直接连接符 20">
            <a:extLst>
              <a:ext uri="{FF2B5EF4-FFF2-40B4-BE49-F238E27FC236}">
                <a16:creationId xmlns:a16="http://schemas.microsoft.com/office/drawing/2014/main" id="{62699875-4556-9817-B43A-D51972F8513D}"/>
              </a:ext>
            </a:extLst>
          </p:cNvPr>
          <p:cNvCxnSpPr>
            <a:cxnSpLocks/>
          </p:cNvCxnSpPr>
          <p:nvPr/>
        </p:nvCxnSpPr>
        <p:spPr>
          <a:xfrm>
            <a:off x="5384473" y="4884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22" name="直接连接符 21">
            <a:extLst>
              <a:ext uri="{FF2B5EF4-FFF2-40B4-BE49-F238E27FC236}">
                <a16:creationId xmlns:a16="http://schemas.microsoft.com/office/drawing/2014/main" id="{F257F6C8-9236-CEBE-8EB7-E7179E6AEC3A}"/>
              </a:ext>
            </a:extLst>
          </p:cNvPr>
          <p:cNvCxnSpPr>
            <a:cxnSpLocks/>
          </p:cNvCxnSpPr>
          <p:nvPr/>
        </p:nvCxnSpPr>
        <p:spPr>
          <a:xfrm>
            <a:off x="6428504" y="4884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23" name="直接连接符 22">
            <a:extLst>
              <a:ext uri="{FF2B5EF4-FFF2-40B4-BE49-F238E27FC236}">
                <a16:creationId xmlns:a16="http://schemas.microsoft.com/office/drawing/2014/main" id="{384BC76A-C093-5A3B-36A4-BFC97FAA6BE0}"/>
              </a:ext>
            </a:extLst>
          </p:cNvPr>
          <p:cNvCxnSpPr>
            <a:cxnSpLocks/>
          </p:cNvCxnSpPr>
          <p:nvPr/>
        </p:nvCxnSpPr>
        <p:spPr>
          <a:xfrm>
            <a:off x="7472537" y="488422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24" name="文本框 23">
            <a:extLst>
              <a:ext uri="{FF2B5EF4-FFF2-40B4-BE49-F238E27FC236}">
                <a16:creationId xmlns:a16="http://schemas.microsoft.com/office/drawing/2014/main" id="{E917E8B5-1917-DBB7-57C0-2E460E26DCB1}"/>
              </a:ext>
            </a:extLst>
          </p:cNvPr>
          <p:cNvSpPr txBox="1"/>
          <p:nvPr/>
        </p:nvSpPr>
        <p:spPr>
          <a:xfrm>
            <a:off x="1536575" y="5896164"/>
            <a:ext cx="7320553" cy="276999"/>
          </a:xfrm>
          <a:prstGeom prst="rect">
            <a:avLst/>
          </a:prstGeom>
          <a:noFill/>
        </p:spPr>
        <p:txBody>
          <a:bodyPr wrap="square" rtlCol="0">
            <a:spAutoFit/>
          </a:bodyPr>
          <a:lstStyle/>
          <a:p>
            <a:pPr algn="l"/>
            <a:r>
              <a:rPr kumimoji="0" lang="en-US" altLang="zh-CN"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rPr>
              <a:t>0            1            2           3           4            5            6</a:t>
            </a:r>
            <a:endParaRPr kumimoji="0" lang="zh-CN" altLang="en-US" sz="1200" b="1" i="0" u="none" strike="noStrike" cap="none" normalizeH="0" baseline="0" dirty="0">
              <a:ln>
                <a:noFill/>
              </a:ln>
              <a:solidFill>
                <a:schemeClr val="tx1">
                  <a:lumMod val="95000"/>
                  <a:lumOff val="5000"/>
                </a:schemeClr>
              </a:solidFill>
              <a:effectLst/>
              <a:latin typeface="Consolas" panose="020B0609020204030204" pitchFamily="49" charset="0"/>
              <a:ea typeface="JetBrains Mono"/>
            </a:endParaRPr>
          </a:p>
        </p:txBody>
      </p:sp>
      <p:sp>
        <p:nvSpPr>
          <p:cNvPr id="28" name="矩形: 圆角 27">
            <a:extLst>
              <a:ext uri="{FF2B5EF4-FFF2-40B4-BE49-F238E27FC236}">
                <a16:creationId xmlns:a16="http://schemas.microsoft.com/office/drawing/2014/main" id="{75E2C82A-C855-D9BD-4196-99E6168DD055}"/>
              </a:ext>
            </a:extLst>
          </p:cNvPr>
          <p:cNvSpPr/>
          <p:nvPr/>
        </p:nvSpPr>
        <p:spPr>
          <a:xfrm>
            <a:off x="1892005" y="6173163"/>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25</a:t>
            </a:r>
            <a:endParaRPr lang="zh-CN" altLang="en-US" dirty="0">
              <a:latin typeface="杨任东竹石体-Bold" panose="02000000000000000000" pitchFamily="2" charset="-122"/>
              <a:ea typeface="杨任东竹石体-Bold" panose="02000000000000000000" pitchFamily="2" charset="-122"/>
            </a:endParaRPr>
          </a:p>
        </p:txBody>
      </p:sp>
      <p:sp>
        <p:nvSpPr>
          <p:cNvPr id="29" name="矩形: 圆角 28">
            <a:extLst>
              <a:ext uri="{FF2B5EF4-FFF2-40B4-BE49-F238E27FC236}">
                <a16:creationId xmlns:a16="http://schemas.microsoft.com/office/drawing/2014/main" id="{22D9D1F6-5214-149C-361D-52DE83442570}"/>
              </a:ext>
            </a:extLst>
          </p:cNvPr>
          <p:cNvSpPr/>
          <p:nvPr/>
        </p:nvSpPr>
        <p:spPr>
          <a:xfrm>
            <a:off x="6173526" y="6155433"/>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25</a:t>
            </a:r>
            <a:endParaRPr lang="zh-CN" altLang="en-US" dirty="0">
              <a:latin typeface="杨任东竹石体-Bold" panose="02000000000000000000" pitchFamily="2" charset="-122"/>
              <a:ea typeface="杨任东竹石体-Bold" panose="02000000000000000000" pitchFamily="2" charset="-122"/>
            </a:endParaRPr>
          </a:p>
        </p:txBody>
      </p:sp>
      <p:sp>
        <p:nvSpPr>
          <p:cNvPr id="2" name="标题 1">
            <a:extLst>
              <a:ext uri="{FF2B5EF4-FFF2-40B4-BE49-F238E27FC236}">
                <a16:creationId xmlns:a16="http://schemas.microsoft.com/office/drawing/2014/main" id="{CFE515DA-FCAD-97A3-662A-A1C2A51878C5}"/>
              </a:ext>
            </a:extLst>
          </p:cNvPr>
          <p:cNvSpPr>
            <a:spLocks noGrp="1"/>
          </p:cNvSpPr>
          <p:nvPr>
            <p:ph type="title"/>
          </p:nvPr>
        </p:nvSpPr>
        <p:spPr/>
        <p:txBody>
          <a:bodyPr/>
          <a:lstStyle/>
          <a:p>
            <a:r>
              <a:rPr lang="en-US" altLang="zh-CN" dirty="0" err="1"/>
              <a:t>hashCode</a:t>
            </a:r>
            <a:r>
              <a:rPr lang="zh-CN" altLang="en-US" dirty="0"/>
              <a:t>方法介绍</a:t>
            </a:r>
          </a:p>
        </p:txBody>
      </p:sp>
    </p:spTree>
    <p:extLst>
      <p:ext uri="{BB962C8B-B14F-4D97-AF65-F5344CB8AC3E}">
        <p14:creationId xmlns:p14="http://schemas.microsoft.com/office/powerpoint/2010/main" val="8126438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030-C4D3-DCDF-8F04-A2110204B79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D930531-58CD-A2BD-12B2-952EE31E7FFC}"/>
              </a:ext>
            </a:extLst>
          </p:cNvPr>
          <p:cNvSpPr>
            <a:spLocks noGrp="1"/>
          </p:cNvSpPr>
          <p:nvPr>
            <p:ph type="title"/>
          </p:nvPr>
        </p:nvSpPr>
        <p:spPr/>
        <p:txBody>
          <a:bodyPr/>
          <a:lstStyle/>
          <a:p>
            <a:r>
              <a:rPr lang="en-US" altLang="zh-CN" dirty="0" err="1"/>
              <a:t>hashCode</a:t>
            </a:r>
            <a:r>
              <a:rPr lang="zh-CN" altLang="en-US" dirty="0"/>
              <a:t>方法改造</a:t>
            </a:r>
          </a:p>
        </p:txBody>
      </p:sp>
      <p:pic>
        <p:nvPicPr>
          <p:cNvPr id="6" name="图片 5">
            <a:extLst>
              <a:ext uri="{FF2B5EF4-FFF2-40B4-BE49-F238E27FC236}">
                <a16:creationId xmlns:a16="http://schemas.microsoft.com/office/drawing/2014/main" id="{AE697EF9-969E-9F0F-66C5-4260FA01A93B}"/>
              </a:ext>
            </a:extLst>
          </p:cNvPr>
          <p:cNvPicPr>
            <a:picLocks noChangeAspect="1"/>
          </p:cNvPicPr>
          <p:nvPr/>
        </p:nvPicPr>
        <p:blipFill>
          <a:blip r:embed="rId3"/>
          <a:stretch>
            <a:fillRect/>
          </a:stretch>
        </p:blipFill>
        <p:spPr>
          <a:xfrm>
            <a:off x="576626" y="1269973"/>
            <a:ext cx="3022755" cy="102875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矩形: 圆角 6">
            <a:extLst>
              <a:ext uri="{FF2B5EF4-FFF2-40B4-BE49-F238E27FC236}">
                <a16:creationId xmlns:a16="http://schemas.microsoft.com/office/drawing/2014/main" id="{C060417B-3A4B-8281-F07C-291A59D8C174}"/>
              </a:ext>
            </a:extLst>
          </p:cNvPr>
          <p:cNvSpPr/>
          <p:nvPr/>
        </p:nvSpPr>
        <p:spPr>
          <a:xfrm>
            <a:off x="4239931" y="132822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851F7DF7-B32A-FB00-8FFC-41B37B38074F}"/>
              </a:ext>
            </a:extLst>
          </p:cNvPr>
          <p:cNvCxnSpPr>
            <a:cxnSpLocks/>
          </p:cNvCxnSpPr>
          <p:nvPr/>
        </p:nvCxnSpPr>
        <p:spPr>
          <a:xfrm>
            <a:off x="5268630"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id="{1F0F9833-286B-472D-0093-13650168215C}"/>
              </a:ext>
            </a:extLst>
          </p:cNvPr>
          <p:cNvCxnSpPr>
            <a:cxnSpLocks/>
          </p:cNvCxnSpPr>
          <p:nvPr/>
        </p:nvCxnSpPr>
        <p:spPr>
          <a:xfrm>
            <a:off x="6312661"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B149B729-EDCA-2EA2-4166-14D46560050F}"/>
              </a:ext>
            </a:extLst>
          </p:cNvPr>
          <p:cNvCxnSpPr>
            <a:cxnSpLocks/>
          </p:cNvCxnSpPr>
          <p:nvPr/>
        </p:nvCxnSpPr>
        <p:spPr>
          <a:xfrm>
            <a:off x="7356692"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5D86B038-5F66-2A42-35D0-6A9268A6C1C4}"/>
              </a:ext>
            </a:extLst>
          </p:cNvPr>
          <p:cNvCxnSpPr>
            <a:cxnSpLocks/>
          </p:cNvCxnSpPr>
          <p:nvPr/>
        </p:nvCxnSpPr>
        <p:spPr>
          <a:xfrm>
            <a:off x="8400723"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8FD250E9-067B-5A7C-6F9E-7268E34BCD75}"/>
              </a:ext>
            </a:extLst>
          </p:cNvPr>
          <p:cNvCxnSpPr>
            <a:cxnSpLocks/>
          </p:cNvCxnSpPr>
          <p:nvPr/>
        </p:nvCxnSpPr>
        <p:spPr>
          <a:xfrm>
            <a:off x="9444754"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D7C82F69-805D-6D13-B7B5-C08EF193C9EA}"/>
              </a:ext>
            </a:extLst>
          </p:cNvPr>
          <p:cNvCxnSpPr>
            <a:cxnSpLocks/>
          </p:cNvCxnSpPr>
          <p:nvPr/>
        </p:nvCxnSpPr>
        <p:spPr>
          <a:xfrm>
            <a:off x="10488787" y="132822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14" name="矩形: 圆角 13">
            <a:extLst>
              <a:ext uri="{FF2B5EF4-FFF2-40B4-BE49-F238E27FC236}">
                <a16:creationId xmlns:a16="http://schemas.microsoft.com/office/drawing/2014/main" id="{CBD0F72C-FE1D-AB24-E719-EE7BA2E67BBB}"/>
              </a:ext>
            </a:extLst>
          </p:cNvPr>
          <p:cNvSpPr/>
          <p:nvPr/>
        </p:nvSpPr>
        <p:spPr>
          <a:xfrm>
            <a:off x="4958904" y="2743486"/>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张三，</a:t>
            </a:r>
            <a:r>
              <a:rPr lang="en-US" altLang="zh-CN" dirty="0">
                <a:latin typeface="杨任东竹石体-Bold" panose="02000000000000000000" pitchFamily="2" charset="-122"/>
                <a:ea typeface="杨任东竹石体-Bold" panose="02000000000000000000" pitchFamily="2" charset="-122"/>
              </a:rPr>
              <a:t>1</a:t>
            </a:r>
            <a:endParaRPr lang="zh-CN" altLang="en-US" dirty="0">
              <a:latin typeface="杨任东竹石体-Bold" panose="02000000000000000000" pitchFamily="2" charset="-122"/>
              <a:ea typeface="杨任东竹石体-Bold" panose="02000000000000000000" pitchFamily="2" charset="-122"/>
            </a:endParaRPr>
          </a:p>
        </p:txBody>
      </p:sp>
      <p:sp>
        <p:nvSpPr>
          <p:cNvPr id="15" name="矩形: 圆角 14">
            <a:extLst>
              <a:ext uri="{FF2B5EF4-FFF2-40B4-BE49-F238E27FC236}">
                <a16:creationId xmlns:a16="http://schemas.microsoft.com/office/drawing/2014/main" id="{B9772672-C2D1-A1AB-5347-4B8FCA2422AE}"/>
              </a:ext>
            </a:extLst>
          </p:cNvPr>
          <p:cNvSpPr/>
          <p:nvPr/>
        </p:nvSpPr>
        <p:spPr>
          <a:xfrm>
            <a:off x="4958903" y="3854337"/>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李四，</a:t>
            </a:r>
            <a:r>
              <a:rPr lang="en-US" altLang="zh-CN" dirty="0">
                <a:latin typeface="杨任东竹石体-Bold" panose="02000000000000000000" pitchFamily="2" charset="-122"/>
                <a:ea typeface="杨任东竹石体-Bold" panose="02000000000000000000" pitchFamily="2" charset="-122"/>
              </a:rPr>
              <a:t>2</a:t>
            </a:r>
            <a:endParaRPr lang="zh-CN" altLang="en-US" dirty="0">
              <a:latin typeface="杨任东竹石体-Bold" panose="02000000000000000000" pitchFamily="2" charset="-122"/>
              <a:ea typeface="杨任东竹石体-Bold" panose="02000000000000000000" pitchFamily="2" charset="-122"/>
            </a:endParaRPr>
          </a:p>
        </p:txBody>
      </p:sp>
      <p:sp>
        <p:nvSpPr>
          <p:cNvPr id="16" name="矩形: 圆角 15">
            <a:extLst>
              <a:ext uri="{FF2B5EF4-FFF2-40B4-BE49-F238E27FC236}">
                <a16:creationId xmlns:a16="http://schemas.microsoft.com/office/drawing/2014/main" id="{FE2C2C1C-5AC2-9C6D-8041-80564B37E1C2}"/>
              </a:ext>
            </a:extLst>
          </p:cNvPr>
          <p:cNvSpPr/>
          <p:nvPr/>
        </p:nvSpPr>
        <p:spPr>
          <a:xfrm>
            <a:off x="4958903" y="4965189"/>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3</a:t>
            </a:r>
            <a:endParaRPr lang="zh-CN" altLang="en-US" dirty="0">
              <a:latin typeface="杨任东竹石体-Bold" panose="02000000000000000000" pitchFamily="2" charset="-122"/>
              <a:ea typeface="杨任东竹石体-Bold" panose="02000000000000000000" pitchFamily="2" charset="-122"/>
            </a:endParaRPr>
          </a:p>
        </p:txBody>
      </p:sp>
      <p:cxnSp>
        <p:nvCxnSpPr>
          <p:cNvPr id="18" name="直接箭头连接符 17">
            <a:extLst>
              <a:ext uri="{FF2B5EF4-FFF2-40B4-BE49-F238E27FC236}">
                <a16:creationId xmlns:a16="http://schemas.microsoft.com/office/drawing/2014/main" id="{1513E631-6735-8FD0-AF1B-5C2D7715FC68}"/>
              </a:ext>
            </a:extLst>
          </p:cNvPr>
          <p:cNvCxnSpPr>
            <a:cxnSpLocks/>
          </p:cNvCxnSpPr>
          <p:nvPr/>
        </p:nvCxnSpPr>
        <p:spPr>
          <a:xfrm>
            <a:off x="5789054" y="2155216"/>
            <a:ext cx="0" cy="564737"/>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868F943E-A039-F732-FF2D-C8D54E40490F}"/>
              </a:ext>
            </a:extLst>
          </p:cNvPr>
          <p:cNvCxnSpPr>
            <a:cxnSpLocks/>
          </p:cNvCxnSpPr>
          <p:nvPr/>
        </p:nvCxnSpPr>
        <p:spPr>
          <a:xfrm>
            <a:off x="5789052" y="3266067"/>
            <a:ext cx="0" cy="564737"/>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51ABE8E9-9C39-3464-5B18-55BA561F6F26}"/>
              </a:ext>
            </a:extLst>
          </p:cNvPr>
          <p:cNvCxnSpPr>
            <a:cxnSpLocks/>
          </p:cNvCxnSpPr>
          <p:nvPr/>
        </p:nvCxnSpPr>
        <p:spPr>
          <a:xfrm>
            <a:off x="5789052" y="4353385"/>
            <a:ext cx="0" cy="564737"/>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DB027546-0646-C75A-4866-CB345FD55248}"/>
              </a:ext>
            </a:extLst>
          </p:cNvPr>
          <p:cNvPicPr>
            <a:picLocks noChangeAspect="1"/>
          </p:cNvPicPr>
          <p:nvPr/>
        </p:nvPicPr>
        <p:blipFill>
          <a:blip r:embed="rId4"/>
          <a:stretch>
            <a:fillRect/>
          </a:stretch>
        </p:blipFill>
        <p:spPr>
          <a:xfrm>
            <a:off x="-3764368" y="-1047804"/>
            <a:ext cx="3022754" cy="10478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823481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87598-504A-DB45-D840-8E7DD66BC0C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D9D4DD7-D173-A577-35FF-CFD6D331ECD4}"/>
              </a:ext>
            </a:extLst>
          </p:cNvPr>
          <p:cNvSpPr>
            <a:spLocks noGrp="1"/>
          </p:cNvSpPr>
          <p:nvPr>
            <p:ph type="title"/>
          </p:nvPr>
        </p:nvSpPr>
        <p:spPr/>
        <p:txBody>
          <a:bodyPr/>
          <a:lstStyle/>
          <a:p>
            <a:r>
              <a:rPr lang="en-US" altLang="zh-CN" dirty="0" err="1"/>
              <a:t>hashCode</a:t>
            </a:r>
            <a:r>
              <a:rPr lang="zh-CN" altLang="en-US" dirty="0"/>
              <a:t>方法改造</a:t>
            </a:r>
          </a:p>
        </p:txBody>
      </p:sp>
      <p:sp>
        <p:nvSpPr>
          <p:cNvPr id="7" name="矩形: 圆角 6">
            <a:extLst>
              <a:ext uri="{FF2B5EF4-FFF2-40B4-BE49-F238E27FC236}">
                <a16:creationId xmlns:a16="http://schemas.microsoft.com/office/drawing/2014/main" id="{4F28B37B-56DA-3169-8EFE-C23DC76E9C14}"/>
              </a:ext>
            </a:extLst>
          </p:cNvPr>
          <p:cNvSpPr/>
          <p:nvPr/>
        </p:nvSpPr>
        <p:spPr>
          <a:xfrm>
            <a:off x="4239931" y="132822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FD6F6A1A-FD2C-56F4-D756-5C274FEB7D22}"/>
              </a:ext>
            </a:extLst>
          </p:cNvPr>
          <p:cNvCxnSpPr>
            <a:cxnSpLocks/>
          </p:cNvCxnSpPr>
          <p:nvPr/>
        </p:nvCxnSpPr>
        <p:spPr>
          <a:xfrm>
            <a:off x="5268630"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id="{6895B777-A99B-A081-1EB1-7E63021B0082}"/>
              </a:ext>
            </a:extLst>
          </p:cNvPr>
          <p:cNvCxnSpPr>
            <a:cxnSpLocks/>
          </p:cNvCxnSpPr>
          <p:nvPr/>
        </p:nvCxnSpPr>
        <p:spPr>
          <a:xfrm>
            <a:off x="6312661"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0E226AF3-D469-E19B-0319-F95AB16D97ED}"/>
              </a:ext>
            </a:extLst>
          </p:cNvPr>
          <p:cNvCxnSpPr>
            <a:cxnSpLocks/>
          </p:cNvCxnSpPr>
          <p:nvPr/>
        </p:nvCxnSpPr>
        <p:spPr>
          <a:xfrm>
            <a:off x="7356692"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AAA623D0-292B-058D-7782-577C0A5E8327}"/>
              </a:ext>
            </a:extLst>
          </p:cNvPr>
          <p:cNvCxnSpPr>
            <a:cxnSpLocks/>
          </p:cNvCxnSpPr>
          <p:nvPr/>
        </p:nvCxnSpPr>
        <p:spPr>
          <a:xfrm>
            <a:off x="8400723"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014518FD-CCA8-6708-5993-4B3CEFA93497}"/>
              </a:ext>
            </a:extLst>
          </p:cNvPr>
          <p:cNvCxnSpPr>
            <a:cxnSpLocks/>
          </p:cNvCxnSpPr>
          <p:nvPr/>
        </p:nvCxnSpPr>
        <p:spPr>
          <a:xfrm>
            <a:off x="9444754"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D951B95A-C17E-5305-8014-2117D90CEE1E}"/>
              </a:ext>
            </a:extLst>
          </p:cNvPr>
          <p:cNvCxnSpPr>
            <a:cxnSpLocks/>
          </p:cNvCxnSpPr>
          <p:nvPr/>
        </p:nvCxnSpPr>
        <p:spPr>
          <a:xfrm>
            <a:off x="10488787" y="132822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14" name="矩形: 圆角 13">
            <a:extLst>
              <a:ext uri="{FF2B5EF4-FFF2-40B4-BE49-F238E27FC236}">
                <a16:creationId xmlns:a16="http://schemas.microsoft.com/office/drawing/2014/main" id="{1FCD6DFE-0AE6-95F3-F978-7D78C98EE8BD}"/>
              </a:ext>
            </a:extLst>
          </p:cNvPr>
          <p:cNvSpPr/>
          <p:nvPr/>
        </p:nvSpPr>
        <p:spPr>
          <a:xfrm>
            <a:off x="4958904" y="2743486"/>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张三，</a:t>
            </a:r>
            <a:r>
              <a:rPr lang="en-US" altLang="zh-CN" dirty="0">
                <a:latin typeface="杨任东竹石体-Bold" panose="02000000000000000000" pitchFamily="2" charset="-122"/>
                <a:ea typeface="杨任东竹石体-Bold" panose="02000000000000000000" pitchFamily="2" charset="-122"/>
              </a:rPr>
              <a:t>1</a:t>
            </a:r>
            <a:endParaRPr lang="zh-CN" altLang="en-US" dirty="0">
              <a:latin typeface="杨任东竹石体-Bold" panose="02000000000000000000" pitchFamily="2" charset="-122"/>
              <a:ea typeface="杨任东竹石体-Bold" panose="02000000000000000000" pitchFamily="2" charset="-122"/>
            </a:endParaRPr>
          </a:p>
        </p:txBody>
      </p:sp>
      <p:sp>
        <p:nvSpPr>
          <p:cNvPr id="15" name="矩形: 圆角 14">
            <a:extLst>
              <a:ext uri="{FF2B5EF4-FFF2-40B4-BE49-F238E27FC236}">
                <a16:creationId xmlns:a16="http://schemas.microsoft.com/office/drawing/2014/main" id="{2EBC1FD1-002C-297D-3E7D-5C42E453D6DB}"/>
              </a:ext>
            </a:extLst>
          </p:cNvPr>
          <p:cNvSpPr/>
          <p:nvPr/>
        </p:nvSpPr>
        <p:spPr>
          <a:xfrm>
            <a:off x="4958903" y="3854337"/>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李四，</a:t>
            </a:r>
            <a:r>
              <a:rPr lang="en-US" altLang="zh-CN" dirty="0">
                <a:latin typeface="杨任东竹石体-Bold" panose="02000000000000000000" pitchFamily="2" charset="-122"/>
                <a:ea typeface="杨任东竹石体-Bold" panose="02000000000000000000" pitchFamily="2" charset="-122"/>
              </a:rPr>
              <a:t>2</a:t>
            </a:r>
            <a:endParaRPr lang="zh-CN" altLang="en-US" dirty="0">
              <a:latin typeface="杨任东竹石体-Bold" panose="02000000000000000000" pitchFamily="2" charset="-122"/>
              <a:ea typeface="杨任东竹石体-Bold" panose="02000000000000000000" pitchFamily="2" charset="-122"/>
            </a:endParaRPr>
          </a:p>
        </p:txBody>
      </p:sp>
      <p:sp>
        <p:nvSpPr>
          <p:cNvPr id="16" name="矩形: 圆角 15">
            <a:extLst>
              <a:ext uri="{FF2B5EF4-FFF2-40B4-BE49-F238E27FC236}">
                <a16:creationId xmlns:a16="http://schemas.microsoft.com/office/drawing/2014/main" id="{A72D8374-0674-4A3D-0C92-5073C1441FB9}"/>
              </a:ext>
            </a:extLst>
          </p:cNvPr>
          <p:cNvSpPr/>
          <p:nvPr/>
        </p:nvSpPr>
        <p:spPr>
          <a:xfrm>
            <a:off x="4958903" y="4965189"/>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3</a:t>
            </a:r>
            <a:endParaRPr lang="zh-CN" altLang="en-US" dirty="0">
              <a:latin typeface="杨任东竹石体-Bold" panose="02000000000000000000" pitchFamily="2" charset="-122"/>
              <a:ea typeface="杨任东竹石体-Bold" panose="02000000000000000000" pitchFamily="2" charset="-122"/>
            </a:endParaRPr>
          </a:p>
        </p:txBody>
      </p:sp>
      <p:cxnSp>
        <p:nvCxnSpPr>
          <p:cNvPr id="18" name="直接箭头连接符 17">
            <a:extLst>
              <a:ext uri="{FF2B5EF4-FFF2-40B4-BE49-F238E27FC236}">
                <a16:creationId xmlns:a16="http://schemas.microsoft.com/office/drawing/2014/main" id="{B2224AC2-5080-5E08-D9DB-FD318A797113}"/>
              </a:ext>
            </a:extLst>
          </p:cNvPr>
          <p:cNvCxnSpPr>
            <a:cxnSpLocks/>
          </p:cNvCxnSpPr>
          <p:nvPr/>
        </p:nvCxnSpPr>
        <p:spPr>
          <a:xfrm>
            <a:off x="5789054" y="2155216"/>
            <a:ext cx="0" cy="564737"/>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9E894E39-5FDF-3B8F-1032-4D8F80FC43C4}"/>
              </a:ext>
            </a:extLst>
          </p:cNvPr>
          <p:cNvCxnSpPr>
            <a:cxnSpLocks/>
          </p:cNvCxnSpPr>
          <p:nvPr/>
        </p:nvCxnSpPr>
        <p:spPr>
          <a:xfrm>
            <a:off x="5789052" y="3266067"/>
            <a:ext cx="0" cy="564737"/>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C4E6E77F-D1CD-6267-CBA0-7EB5B6356771}"/>
              </a:ext>
            </a:extLst>
          </p:cNvPr>
          <p:cNvCxnSpPr>
            <a:cxnSpLocks/>
          </p:cNvCxnSpPr>
          <p:nvPr/>
        </p:nvCxnSpPr>
        <p:spPr>
          <a:xfrm>
            <a:off x="5789052" y="4353385"/>
            <a:ext cx="0" cy="564737"/>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33B9DCB2-61BC-52CB-E6DC-8612E92D6A40}"/>
              </a:ext>
            </a:extLst>
          </p:cNvPr>
          <p:cNvPicPr>
            <a:picLocks noChangeAspect="1"/>
          </p:cNvPicPr>
          <p:nvPr/>
        </p:nvPicPr>
        <p:blipFill>
          <a:blip r:embed="rId3"/>
          <a:stretch>
            <a:fillRect/>
          </a:stretch>
        </p:blipFill>
        <p:spPr>
          <a:xfrm>
            <a:off x="568898" y="1328222"/>
            <a:ext cx="3022754" cy="10478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7" name="图片 16">
            <a:extLst>
              <a:ext uri="{FF2B5EF4-FFF2-40B4-BE49-F238E27FC236}">
                <a16:creationId xmlns:a16="http://schemas.microsoft.com/office/drawing/2014/main" id="{24AB2300-59CF-79BB-E4C7-651EA428FCF0}"/>
              </a:ext>
            </a:extLst>
          </p:cNvPr>
          <p:cNvPicPr>
            <a:picLocks noChangeAspect="1"/>
          </p:cNvPicPr>
          <p:nvPr/>
        </p:nvPicPr>
        <p:blipFill>
          <a:blip r:embed="rId4"/>
          <a:stretch>
            <a:fillRect/>
          </a:stretch>
        </p:blipFill>
        <p:spPr>
          <a:xfrm>
            <a:off x="-3496396" y="2914623"/>
            <a:ext cx="3022755" cy="102875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6388221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FD3A9-1E8D-6CDA-3BB9-56E1F481810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9610B72-EB18-886B-5558-ABD8A03FFFF4}"/>
              </a:ext>
            </a:extLst>
          </p:cNvPr>
          <p:cNvSpPr>
            <a:spLocks noGrp="1"/>
          </p:cNvSpPr>
          <p:nvPr>
            <p:ph type="title"/>
          </p:nvPr>
        </p:nvSpPr>
        <p:spPr/>
        <p:txBody>
          <a:bodyPr/>
          <a:lstStyle/>
          <a:p>
            <a:r>
              <a:rPr lang="en-US" altLang="zh-CN" dirty="0" err="1"/>
              <a:t>hashCode</a:t>
            </a:r>
            <a:r>
              <a:rPr lang="zh-CN" altLang="en-US" dirty="0"/>
              <a:t>方法改造</a:t>
            </a:r>
          </a:p>
        </p:txBody>
      </p:sp>
      <p:sp>
        <p:nvSpPr>
          <p:cNvPr id="7" name="矩形: 圆角 6">
            <a:extLst>
              <a:ext uri="{FF2B5EF4-FFF2-40B4-BE49-F238E27FC236}">
                <a16:creationId xmlns:a16="http://schemas.microsoft.com/office/drawing/2014/main" id="{C7636074-DE3D-65B8-6C35-71060CAAE79F}"/>
              </a:ext>
            </a:extLst>
          </p:cNvPr>
          <p:cNvSpPr/>
          <p:nvPr/>
        </p:nvSpPr>
        <p:spPr>
          <a:xfrm>
            <a:off x="4239931" y="132822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C3139652-DB9B-6C0C-4233-7C02FE3B523D}"/>
              </a:ext>
            </a:extLst>
          </p:cNvPr>
          <p:cNvCxnSpPr>
            <a:cxnSpLocks/>
          </p:cNvCxnSpPr>
          <p:nvPr/>
        </p:nvCxnSpPr>
        <p:spPr>
          <a:xfrm>
            <a:off x="5268630"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id="{CF437679-2270-53CA-47B5-1906027C6AEC}"/>
              </a:ext>
            </a:extLst>
          </p:cNvPr>
          <p:cNvCxnSpPr>
            <a:cxnSpLocks/>
          </p:cNvCxnSpPr>
          <p:nvPr/>
        </p:nvCxnSpPr>
        <p:spPr>
          <a:xfrm>
            <a:off x="6312661"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D10F5585-1C69-0862-BE78-A091DD60D92B}"/>
              </a:ext>
            </a:extLst>
          </p:cNvPr>
          <p:cNvCxnSpPr>
            <a:cxnSpLocks/>
          </p:cNvCxnSpPr>
          <p:nvPr/>
        </p:nvCxnSpPr>
        <p:spPr>
          <a:xfrm>
            <a:off x="7356692"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EBDACA66-0F96-906C-F4A5-83818B2499C9}"/>
              </a:ext>
            </a:extLst>
          </p:cNvPr>
          <p:cNvCxnSpPr>
            <a:cxnSpLocks/>
          </p:cNvCxnSpPr>
          <p:nvPr/>
        </p:nvCxnSpPr>
        <p:spPr>
          <a:xfrm>
            <a:off x="8400723"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F31CADF0-906B-1087-B922-55F1C793D7B7}"/>
              </a:ext>
            </a:extLst>
          </p:cNvPr>
          <p:cNvCxnSpPr>
            <a:cxnSpLocks/>
          </p:cNvCxnSpPr>
          <p:nvPr/>
        </p:nvCxnSpPr>
        <p:spPr>
          <a:xfrm>
            <a:off x="9444754"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A03596A4-C5F1-F205-BFC5-2A07A634EF17}"/>
              </a:ext>
            </a:extLst>
          </p:cNvPr>
          <p:cNvCxnSpPr>
            <a:cxnSpLocks/>
          </p:cNvCxnSpPr>
          <p:nvPr/>
        </p:nvCxnSpPr>
        <p:spPr>
          <a:xfrm>
            <a:off x="10488787" y="132822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14" name="矩形: 圆角 13">
            <a:extLst>
              <a:ext uri="{FF2B5EF4-FFF2-40B4-BE49-F238E27FC236}">
                <a16:creationId xmlns:a16="http://schemas.microsoft.com/office/drawing/2014/main" id="{AE634CBB-312E-3B60-B58C-53A467F86743}"/>
              </a:ext>
            </a:extLst>
          </p:cNvPr>
          <p:cNvSpPr/>
          <p:nvPr/>
        </p:nvSpPr>
        <p:spPr>
          <a:xfrm>
            <a:off x="4958904" y="2743486"/>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张三，</a:t>
            </a:r>
            <a:r>
              <a:rPr lang="en-US" altLang="zh-CN" dirty="0">
                <a:latin typeface="杨任东竹石体-Bold" panose="02000000000000000000" pitchFamily="2" charset="-122"/>
                <a:ea typeface="杨任东竹石体-Bold" panose="02000000000000000000" pitchFamily="2" charset="-122"/>
              </a:rPr>
              <a:t>1</a:t>
            </a:r>
            <a:endParaRPr lang="zh-CN" altLang="en-US" dirty="0">
              <a:latin typeface="杨任东竹石体-Bold" panose="02000000000000000000" pitchFamily="2" charset="-122"/>
              <a:ea typeface="杨任东竹石体-Bold" panose="02000000000000000000" pitchFamily="2" charset="-122"/>
            </a:endParaRPr>
          </a:p>
        </p:txBody>
      </p:sp>
      <p:sp>
        <p:nvSpPr>
          <p:cNvPr id="15" name="矩形: 圆角 14">
            <a:extLst>
              <a:ext uri="{FF2B5EF4-FFF2-40B4-BE49-F238E27FC236}">
                <a16:creationId xmlns:a16="http://schemas.microsoft.com/office/drawing/2014/main" id="{B064C54D-6249-7A6A-D149-3F3DD6C96274}"/>
              </a:ext>
            </a:extLst>
          </p:cNvPr>
          <p:cNvSpPr/>
          <p:nvPr/>
        </p:nvSpPr>
        <p:spPr>
          <a:xfrm>
            <a:off x="6096000" y="3403911"/>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李四，</a:t>
            </a:r>
            <a:r>
              <a:rPr lang="en-US" altLang="zh-CN" dirty="0">
                <a:latin typeface="杨任东竹石体-Bold" panose="02000000000000000000" pitchFamily="2" charset="-122"/>
                <a:ea typeface="杨任东竹石体-Bold" panose="02000000000000000000" pitchFamily="2" charset="-122"/>
              </a:rPr>
              <a:t>2</a:t>
            </a:r>
            <a:endParaRPr lang="zh-CN" altLang="en-US" dirty="0">
              <a:latin typeface="杨任东竹石体-Bold" panose="02000000000000000000" pitchFamily="2" charset="-122"/>
              <a:ea typeface="杨任东竹石体-Bold" panose="02000000000000000000" pitchFamily="2" charset="-122"/>
            </a:endParaRPr>
          </a:p>
        </p:txBody>
      </p:sp>
      <p:sp>
        <p:nvSpPr>
          <p:cNvPr id="16" name="矩形: 圆角 15">
            <a:extLst>
              <a:ext uri="{FF2B5EF4-FFF2-40B4-BE49-F238E27FC236}">
                <a16:creationId xmlns:a16="http://schemas.microsoft.com/office/drawing/2014/main" id="{D7866658-F127-746A-852B-B32D3E760185}"/>
              </a:ext>
            </a:extLst>
          </p:cNvPr>
          <p:cNvSpPr/>
          <p:nvPr/>
        </p:nvSpPr>
        <p:spPr>
          <a:xfrm>
            <a:off x="7181262" y="4222046"/>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3</a:t>
            </a:r>
            <a:endParaRPr lang="zh-CN" altLang="en-US" dirty="0">
              <a:latin typeface="杨任东竹石体-Bold" panose="02000000000000000000" pitchFamily="2" charset="-122"/>
              <a:ea typeface="杨任东竹石体-Bold" panose="02000000000000000000" pitchFamily="2" charset="-122"/>
            </a:endParaRPr>
          </a:p>
        </p:txBody>
      </p:sp>
      <p:cxnSp>
        <p:nvCxnSpPr>
          <p:cNvPr id="18" name="直接箭头连接符 17">
            <a:extLst>
              <a:ext uri="{FF2B5EF4-FFF2-40B4-BE49-F238E27FC236}">
                <a16:creationId xmlns:a16="http://schemas.microsoft.com/office/drawing/2014/main" id="{43BC6BFB-448D-4E55-2710-BA54A4FFD1FD}"/>
              </a:ext>
            </a:extLst>
          </p:cNvPr>
          <p:cNvCxnSpPr>
            <a:cxnSpLocks/>
          </p:cNvCxnSpPr>
          <p:nvPr/>
        </p:nvCxnSpPr>
        <p:spPr>
          <a:xfrm>
            <a:off x="5789054" y="2155216"/>
            <a:ext cx="0" cy="564737"/>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24B2B4F2-CAD6-FB89-8F4F-A10A796A294B}"/>
              </a:ext>
            </a:extLst>
          </p:cNvPr>
          <p:cNvCxnSpPr>
            <a:cxnSpLocks/>
          </p:cNvCxnSpPr>
          <p:nvPr/>
        </p:nvCxnSpPr>
        <p:spPr>
          <a:xfrm>
            <a:off x="6926149" y="2153660"/>
            <a:ext cx="0" cy="1226718"/>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5CE9F7D4-A818-BC10-289D-19F3BA502339}"/>
              </a:ext>
            </a:extLst>
          </p:cNvPr>
          <p:cNvCxnSpPr>
            <a:cxnSpLocks/>
          </p:cNvCxnSpPr>
          <p:nvPr/>
        </p:nvCxnSpPr>
        <p:spPr>
          <a:xfrm>
            <a:off x="8011412" y="2153660"/>
            <a:ext cx="0" cy="2044853"/>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95D69440-0ECE-B838-AAFC-4C9D258461F3}"/>
              </a:ext>
            </a:extLst>
          </p:cNvPr>
          <p:cNvPicPr>
            <a:picLocks noChangeAspect="1"/>
          </p:cNvPicPr>
          <p:nvPr/>
        </p:nvPicPr>
        <p:blipFill>
          <a:blip r:embed="rId3"/>
          <a:stretch>
            <a:fillRect/>
          </a:stretch>
        </p:blipFill>
        <p:spPr>
          <a:xfrm>
            <a:off x="568898" y="1328222"/>
            <a:ext cx="3022754" cy="10478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3711845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9C9ED-D173-4E96-5569-DD5CEC14F92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A613BC4-8955-68EB-EAD9-6716DF3A811D}"/>
              </a:ext>
            </a:extLst>
          </p:cNvPr>
          <p:cNvSpPr>
            <a:spLocks noGrp="1"/>
          </p:cNvSpPr>
          <p:nvPr>
            <p:ph type="title"/>
          </p:nvPr>
        </p:nvSpPr>
        <p:spPr/>
        <p:txBody>
          <a:bodyPr/>
          <a:lstStyle/>
          <a:p>
            <a:r>
              <a:rPr lang="en-US" altLang="zh-CN" dirty="0" err="1"/>
              <a:t>hashCode</a:t>
            </a:r>
            <a:r>
              <a:rPr lang="zh-CN" altLang="en-US" dirty="0"/>
              <a:t>方法改造</a:t>
            </a:r>
          </a:p>
        </p:txBody>
      </p:sp>
      <p:sp>
        <p:nvSpPr>
          <p:cNvPr id="7" name="矩形: 圆角 6">
            <a:extLst>
              <a:ext uri="{FF2B5EF4-FFF2-40B4-BE49-F238E27FC236}">
                <a16:creationId xmlns:a16="http://schemas.microsoft.com/office/drawing/2014/main" id="{270F4D43-F29C-47DF-B2A5-93FE5C8BC3FE}"/>
              </a:ext>
            </a:extLst>
          </p:cNvPr>
          <p:cNvSpPr/>
          <p:nvPr/>
        </p:nvSpPr>
        <p:spPr>
          <a:xfrm>
            <a:off x="4239931" y="1328222"/>
            <a:ext cx="7320555" cy="826994"/>
          </a:xfrm>
          <a:prstGeom prst="round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8B67D018-57E0-D3A7-C8B4-47D7E7A45D9E}"/>
              </a:ext>
            </a:extLst>
          </p:cNvPr>
          <p:cNvCxnSpPr>
            <a:cxnSpLocks/>
          </p:cNvCxnSpPr>
          <p:nvPr/>
        </p:nvCxnSpPr>
        <p:spPr>
          <a:xfrm>
            <a:off x="5268630"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id="{04353519-ADDA-0D9D-EEDB-02BB3BD278A6}"/>
              </a:ext>
            </a:extLst>
          </p:cNvPr>
          <p:cNvCxnSpPr>
            <a:cxnSpLocks/>
          </p:cNvCxnSpPr>
          <p:nvPr/>
        </p:nvCxnSpPr>
        <p:spPr>
          <a:xfrm>
            <a:off x="6312661"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72232951-3D65-6055-A1AC-00B4375E22FC}"/>
              </a:ext>
            </a:extLst>
          </p:cNvPr>
          <p:cNvCxnSpPr>
            <a:cxnSpLocks/>
          </p:cNvCxnSpPr>
          <p:nvPr/>
        </p:nvCxnSpPr>
        <p:spPr>
          <a:xfrm>
            <a:off x="7356692"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66FFB62A-3FFC-BE6B-56E5-94D73BDAE331}"/>
              </a:ext>
            </a:extLst>
          </p:cNvPr>
          <p:cNvCxnSpPr>
            <a:cxnSpLocks/>
          </p:cNvCxnSpPr>
          <p:nvPr/>
        </p:nvCxnSpPr>
        <p:spPr>
          <a:xfrm>
            <a:off x="8400723"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764C0DD9-BA21-2B00-D6CC-D2FA18D93F4B}"/>
              </a:ext>
            </a:extLst>
          </p:cNvPr>
          <p:cNvCxnSpPr>
            <a:cxnSpLocks/>
          </p:cNvCxnSpPr>
          <p:nvPr/>
        </p:nvCxnSpPr>
        <p:spPr>
          <a:xfrm>
            <a:off x="9444754" y="1328222"/>
            <a:ext cx="0" cy="826994"/>
          </a:xfrm>
          <a:prstGeom prst="line">
            <a:avLst/>
          </a:prstGeom>
          <a:ln w="254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22B75812-5E4F-8772-1AD7-82B0A643509B}"/>
              </a:ext>
            </a:extLst>
          </p:cNvPr>
          <p:cNvCxnSpPr>
            <a:cxnSpLocks/>
          </p:cNvCxnSpPr>
          <p:nvPr/>
        </p:nvCxnSpPr>
        <p:spPr>
          <a:xfrm>
            <a:off x="10488787" y="1328222"/>
            <a:ext cx="0" cy="826994"/>
          </a:xfrm>
          <a:prstGeom prst="line">
            <a:avLst/>
          </a:prstGeom>
          <a:ln w="25400"/>
        </p:spPr>
        <p:style>
          <a:lnRef idx="1">
            <a:schemeClr val="dk1"/>
          </a:lnRef>
          <a:fillRef idx="0">
            <a:schemeClr val="dk1"/>
          </a:fillRef>
          <a:effectRef idx="0">
            <a:schemeClr val="dk1"/>
          </a:effectRef>
          <a:fontRef idx="minor">
            <a:schemeClr val="tx1"/>
          </a:fontRef>
        </p:style>
      </p:cxnSp>
      <p:sp>
        <p:nvSpPr>
          <p:cNvPr id="14" name="矩形: 圆角 13">
            <a:extLst>
              <a:ext uri="{FF2B5EF4-FFF2-40B4-BE49-F238E27FC236}">
                <a16:creationId xmlns:a16="http://schemas.microsoft.com/office/drawing/2014/main" id="{D5E3217D-6C37-F06A-9CEB-62C1990E3007}"/>
              </a:ext>
            </a:extLst>
          </p:cNvPr>
          <p:cNvSpPr/>
          <p:nvPr/>
        </p:nvSpPr>
        <p:spPr>
          <a:xfrm>
            <a:off x="4958904" y="2743486"/>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张三，</a:t>
            </a:r>
            <a:r>
              <a:rPr lang="en-US" altLang="zh-CN" dirty="0">
                <a:latin typeface="杨任东竹石体-Bold" panose="02000000000000000000" pitchFamily="2" charset="-122"/>
                <a:ea typeface="杨任东竹石体-Bold" panose="02000000000000000000" pitchFamily="2" charset="-122"/>
              </a:rPr>
              <a:t>1</a:t>
            </a:r>
            <a:endParaRPr lang="zh-CN" altLang="en-US" dirty="0">
              <a:latin typeface="杨任东竹石体-Bold" panose="02000000000000000000" pitchFamily="2" charset="-122"/>
              <a:ea typeface="杨任东竹石体-Bold" panose="02000000000000000000" pitchFamily="2" charset="-122"/>
            </a:endParaRPr>
          </a:p>
        </p:txBody>
      </p:sp>
      <p:sp>
        <p:nvSpPr>
          <p:cNvPr id="15" name="矩形: 圆角 14">
            <a:extLst>
              <a:ext uri="{FF2B5EF4-FFF2-40B4-BE49-F238E27FC236}">
                <a16:creationId xmlns:a16="http://schemas.microsoft.com/office/drawing/2014/main" id="{CAFB8692-7761-72F9-3D9D-FED9CB1ADE81}"/>
              </a:ext>
            </a:extLst>
          </p:cNvPr>
          <p:cNvSpPr/>
          <p:nvPr/>
        </p:nvSpPr>
        <p:spPr>
          <a:xfrm>
            <a:off x="6096000" y="3403911"/>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李四，</a:t>
            </a:r>
            <a:r>
              <a:rPr lang="en-US" altLang="zh-CN" dirty="0">
                <a:latin typeface="杨任东竹石体-Bold" panose="02000000000000000000" pitchFamily="2" charset="-122"/>
                <a:ea typeface="杨任东竹石体-Bold" panose="02000000000000000000" pitchFamily="2" charset="-122"/>
              </a:rPr>
              <a:t>1</a:t>
            </a:r>
            <a:endParaRPr lang="zh-CN" altLang="en-US" dirty="0">
              <a:latin typeface="杨任东竹石体-Bold" panose="02000000000000000000" pitchFamily="2" charset="-122"/>
              <a:ea typeface="杨任东竹石体-Bold" panose="02000000000000000000" pitchFamily="2" charset="-122"/>
            </a:endParaRPr>
          </a:p>
        </p:txBody>
      </p:sp>
      <p:sp>
        <p:nvSpPr>
          <p:cNvPr id="16" name="矩形: 圆角 15">
            <a:extLst>
              <a:ext uri="{FF2B5EF4-FFF2-40B4-BE49-F238E27FC236}">
                <a16:creationId xmlns:a16="http://schemas.microsoft.com/office/drawing/2014/main" id="{65511839-D75F-F575-D4DD-E06F397EC47D}"/>
              </a:ext>
            </a:extLst>
          </p:cNvPr>
          <p:cNvSpPr/>
          <p:nvPr/>
        </p:nvSpPr>
        <p:spPr>
          <a:xfrm>
            <a:off x="7181262" y="4222046"/>
            <a:ext cx="1660299" cy="499048"/>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王五，</a:t>
            </a:r>
            <a:r>
              <a:rPr lang="en-US" altLang="zh-CN" dirty="0">
                <a:latin typeface="杨任东竹石体-Bold" panose="02000000000000000000" pitchFamily="2" charset="-122"/>
                <a:ea typeface="杨任东竹石体-Bold" panose="02000000000000000000" pitchFamily="2" charset="-122"/>
              </a:rPr>
              <a:t>1</a:t>
            </a:r>
            <a:endParaRPr lang="zh-CN" altLang="en-US" dirty="0">
              <a:latin typeface="杨任东竹石体-Bold" panose="02000000000000000000" pitchFamily="2" charset="-122"/>
              <a:ea typeface="杨任东竹石体-Bold" panose="02000000000000000000" pitchFamily="2" charset="-122"/>
            </a:endParaRPr>
          </a:p>
        </p:txBody>
      </p:sp>
      <p:cxnSp>
        <p:nvCxnSpPr>
          <p:cNvPr id="18" name="直接箭头连接符 17">
            <a:extLst>
              <a:ext uri="{FF2B5EF4-FFF2-40B4-BE49-F238E27FC236}">
                <a16:creationId xmlns:a16="http://schemas.microsoft.com/office/drawing/2014/main" id="{225E00F2-3462-C716-4D73-1539C4D8FDED}"/>
              </a:ext>
            </a:extLst>
          </p:cNvPr>
          <p:cNvCxnSpPr>
            <a:cxnSpLocks/>
          </p:cNvCxnSpPr>
          <p:nvPr/>
        </p:nvCxnSpPr>
        <p:spPr>
          <a:xfrm>
            <a:off x="5789054" y="2155216"/>
            <a:ext cx="0" cy="564737"/>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010CF035-344F-A098-431F-D8FAC463E973}"/>
              </a:ext>
            </a:extLst>
          </p:cNvPr>
          <p:cNvCxnSpPr>
            <a:cxnSpLocks/>
          </p:cNvCxnSpPr>
          <p:nvPr/>
        </p:nvCxnSpPr>
        <p:spPr>
          <a:xfrm>
            <a:off x="6926149" y="2153660"/>
            <a:ext cx="0" cy="1226718"/>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555452EA-2082-D6E1-BA86-C8696E1C7164}"/>
              </a:ext>
            </a:extLst>
          </p:cNvPr>
          <p:cNvCxnSpPr>
            <a:cxnSpLocks/>
          </p:cNvCxnSpPr>
          <p:nvPr/>
        </p:nvCxnSpPr>
        <p:spPr>
          <a:xfrm>
            <a:off x="8011412" y="2153660"/>
            <a:ext cx="0" cy="2044853"/>
          </a:xfrm>
          <a:prstGeom prst="straightConnector1">
            <a:avLst/>
          </a:prstGeom>
          <a:ln w="2540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06E0E093-01EB-92F6-2609-2C08DC2DD844}"/>
              </a:ext>
            </a:extLst>
          </p:cNvPr>
          <p:cNvPicPr>
            <a:picLocks noChangeAspect="1"/>
          </p:cNvPicPr>
          <p:nvPr/>
        </p:nvPicPr>
        <p:blipFill>
          <a:blip r:embed="rId3"/>
          <a:stretch>
            <a:fillRect/>
          </a:stretch>
        </p:blipFill>
        <p:spPr>
          <a:xfrm>
            <a:off x="568898" y="1328222"/>
            <a:ext cx="3022754" cy="10478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矩形: 圆角 3">
            <a:extLst>
              <a:ext uri="{FF2B5EF4-FFF2-40B4-BE49-F238E27FC236}">
                <a16:creationId xmlns:a16="http://schemas.microsoft.com/office/drawing/2014/main" id="{10A38F20-86DC-E4AD-305E-44CF6AB9C556}"/>
              </a:ext>
            </a:extLst>
          </p:cNvPr>
          <p:cNvSpPr/>
          <p:nvPr/>
        </p:nvSpPr>
        <p:spPr>
          <a:xfrm>
            <a:off x="5344732" y="2852670"/>
            <a:ext cx="547353" cy="309093"/>
          </a:xfrm>
          <a:prstGeom prst="roundRect">
            <a:avLst/>
          </a:prstGeom>
          <a:noFill/>
          <a:ln w="25400">
            <a:solidFill>
              <a:schemeClr val="tx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8B1EE760-843A-C0B2-5537-26851C6800D9}"/>
              </a:ext>
            </a:extLst>
          </p:cNvPr>
          <p:cNvSpPr/>
          <p:nvPr/>
        </p:nvSpPr>
        <p:spPr>
          <a:xfrm>
            <a:off x="6465194" y="3521711"/>
            <a:ext cx="547353" cy="309093"/>
          </a:xfrm>
          <a:prstGeom prst="roundRect">
            <a:avLst/>
          </a:prstGeom>
          <a:noFill/>
          <a:ln w="25400">
            <a:solidFill>
              <a:schemeClr val="tx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7611F6FF-C184-EB77-3588-E6E9C488E23E}"/>
              </a:ext>
            </a:extLst>
          </p:cNvPr>
          <p:cNvSpPr/>
          <p:nvPr/>
        </p:nvSpPr>
        <p:spPr>
          <a:xfrm>
            <a:off x="7572777" y="4317023"/>
            <a:ext cx="547353" cy="309093"/>
          </a:xfrm>
          <a:prstGeom prst="roundRect">
            <a:avLst/>
          </a:prstGeom>
          <a:noFill/>
          <a:ln w="25400">
            <a:solidFill>
              <a:schemeClr val="tx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32259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1)">
                                      <p:cBhvr>
                                        <p:cTn id="7" dur="1000"/>
                                        <p:tgtEl>
                                          <p:spTgt spid="17"/>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1000"/>
                                        <p:tgtEl>
                                          <p:spTgt spid="6"/>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3F8C0-AFD0-6F3A-441A-F49D22AD026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6D485DB-493C-5746-4F75-718A172A35EB}"/>
              </a:ext>
            </a:extLst>
          </p:cNvPr>
          <p:cNvSpPr>
            <a:spLocks noGrp="1"/>
          </p:cNvSpPr>
          <p:nvPr>
            <p:ph type="title"/>
          </p:nvPr>
        </p:nvSpPr>
        <p:spPr/>
        <p:txBody>
          <a:bodyPr/>
          <a:lstStyle/>
          <a:p>
            <a:r>
              <a:rPr lang="en-US" altLang="zh-CN" dirty="0" err="1"/>
              <a:t>hashCode</a:t>
            </a:r>
            <a:r>
              <a:rPr lang="zh-CN" altLang="en-US" dirty="0"/>
              <a:t>方法改造</a:t>
            </a:r>
          </a:p>
        </p:txBody>
      </p:sp>
      <p:pic>
        <p:nvPicPr>
          <p:cNvPr id="22" name="图片 21">
            <a:extLst>
              <a:ext uri="{FF2B5EF4-FFF2-40B4-BE49-F238E27FC236}">
                <a16:creationId xmlns:a16="http://schemas.microsoft.com/office/drawing/2014/main" id="{23FEC8D3-9F5C-BDC3-2507-0131BF333366}"/>
              </a:ext>
            </a:extLst>
          </p:cNvPr>
          <p:cNvPicPr>
            <a:picLocks noChangeAspect="1"/>
          </p:cNvPicPr>
          <p:nvPr/>
        </p:nvPicPr>
        <p:blipFill>
          <a:blip r:embed="rId3"/>
          <a:stretch>
            <a:fillRect/>
          </a:stretch>
        </p:blipFill>
        <p:spPr>
          <a:xfrm>
            <a:off x="576277" y="1090343"/>
            <a:ext cx="3035456" cy="4426177"/>
          </a:xfrm>
          <a:prstGeom prst="rect">
            <a:avLst/>
          </a:prstGeom>
        </p:spPr>
      </p:pic>
      <p:pic>
        <p:nvPicPr>
          <p:cNvPr id="19" name="图片 18">
            <a:extLst>
              <a:ext uri="{FF2B5EF4-FFF2-40B4-BE49-F238E27FC236}">
                <a16:creationId xmlns:a16="http://schemas.microsoft.com/office/drawing/2014/main" id="{352B782C-29A8-2EF0-8147-079994DBFF47}"/>
              </a:ext>
            </a:extLst>
          </p:cNvPr>
          <p:cNvPicPr>
            <a:picLocks noChangeAspect="1"/>
          </p:cNvPicPr>
          <p:nvPr/>
        </p:nvPicPr>
        <p:blipFill>
          <a:blip r:embed="rId4"/>
          <a:stretch>
            <a:fillRect/>
          </a:stretch>
        </p:blipFill>
        <p:spPr>
          <a:xfrm>
            <a:off x="4097087" y="1090343"/>
            <a:ext cx="1911448" cy="2730640"/>
          </a:xfrm>
          <a:prstGeom prst="rect">
            <a:avLst/>
          </a:prstGeom>
        </p:spPr>
      </p:pic>
      <p:pic>
        <p:nvPicPr>
          <p:cNvPr id="24" name="图片 23">
            <a:extLst>
              <a:ext uri="{FF2B5EF4-FFF2-40B4-BE49-F238E27FC236}">
                <a16:creationId xmlns:a16="http://schemas.microsoft.com/office/drawing/2014/main" id="{A6A267A9-1BB3-4BB6-4B8F-FEED27DA2D3D}"/>
              </a:ext>
            </a:extLst>
          </p:cNvPr>
          <p:cNvPicPr>
            <a:picLocks noChangeAspect="1"/>
          </p:cNvPicPr>
          <p:nvPr/>
        </p:nvPicPr>
        <p:blipFill>
          <a:blip r:embed="rId5"/>
          <a:stretch>
            <a:fillRect/>
          </a:stretch>
        </p:blipFill>
        <p:spPr>
          <a:xfrm>
            <a:off x="6826325" y="1090343"/>
            <a:ext cx="4051508" cy="2540131"/>
          </a:xfrm>
          <a:prstGeom prst="rect">
            <a:avLst/>
          </a:prstGeom>
        </p:spPr>
      </p:pic>
      <p:pic>
        <p:nvPicPr>
          <p:cNvPr id="26" name="图片 25">
            <a:extLst>
              <a:ext uri="{FF2B5EF4-FFF2-40B4-BE49-F238E27FC236}">
                <a16:creationId xmlns:a16="http://schemas.microsoft.com/office/drawing/2014/main" id="{782ACC79-8397-FA24-C137-A25A2473CF79}"/>
              </a:ext>
            </a:extLst>
          </p:cNvPr>
          <p:cNvPicPr>
            <a:picLocks noChangeAspect="1"/>
          </p:cNvPicPr>
          <p:nvPr/>
        </p:nvPicPr>
        <p:blipFill>
          <a:blip r:embed="rId6"/>
          <a:stretch>
            <a:fillRect/>
          </a:stretch>
        </p:blipFill>
        <p:spPr>
          <a:xfrm>
            <a:off x="6826325" y="3820983"/>
            <a:ext cx="4051508" cy="2540131"/>
          </a:xfrm>
          <a:prstGeom prst="rect">
            <a:avLst/>
          </a:prstGeom>
        </p:spPr>
      </p:pic>
      <p:pic>
        <p:nvPicPr>
          <p:cNvPr id="30" name="图片 29">
            <a:extLst>
              <a:ext uri="{FF2B5EF4-FFF2-40B4-BE49-F238E27FC236}">
                <a16:creationId xmlns:a16="http://schemas.microsoft.com/office/drawing/2014/main" id="{810D46C0-75D0-258C-95C1-DA7E9C8F84DE}"/>
              </a:ext>
            </a:extLst>
          </p:cNvPr>
          <p:cNvPicPr>
            <a:picLocks noChangeAspect="1"/>
          </p:cNvPicPr>
          <p:nvPr/>
        </p:nvPicPr>
        <p:blipFill>
          <a:blip r:embed="rId7"/>
          <a:stretch>
            <a:fillRect/>
          </a:stretch>
        </p:blipFill>
        <p:spPr>
          <a:xfrm>
            <a:off x="7262138" y="4246454"/>
            <a:ext cx="4051508" cy="2540131"/>
          </a:xfrm>
          <a:prstGeom prst="rect">
            <a:avLst/>
          </a:prstGeom>
        </p:spPr>
      </p:pic>
    </p:spTree>
    <p:extLst>
      <p:ext uri="{BB962C8B-B14F-4D97-AF65-F5344CB8AC3E}">
        <p14:creationId xmlns:p14="http://schemas.microsoft.com/office/powerpoint/2010/main" val="620384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BACC6-95D3-1551-90C3-CACCC8BDABD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A02D360-6B9F-1F63-EE94-282C43447AC5}"/>
              </a:ext>
            </a:extLst>
          </p:cNvPr>
          <p:cNvSpPr>
            <a:spLocks noGrp="1"/>
          </p:cNvSpPr>
          <p:nvPr>
            <p:ph type="title"/>
          </p:nvPr>
        </p:nvSpPr>
        <p:spPr/>
        <p:txBody>
          <a:bodyPr/>
          <a:lstStyle/>
          <a:p>
            <a:r>
              <a:rPr lang="en-US" altLang="zh-CN" dirty="0" err="1"/>
              <a:t>hashCode</a:t>
            </a:r>
            <a:r>
              <a:rPr lang="zh-CN" altLang="en-US" dirty="0"/>
              <a:t>方法改造</a:t>
            </a:r>
          </a:p>
        </p:txBody>
      </p:sp>
      <p:pic>
        <p:nvPicPr>
          <p:cNvPr id="6" name="图片 5">
            <a:extLst>
              <a:ext uri="{FF2B5EF4-FFF2-40B4-BE49-F238E27FC236}">
                <a16:creationId xmlns:a16="http://schemas.microsoft.com/office/drawing/2014/main" id="{1782CB8E-7905-6109-6A37-7D6DE75C6650}"/>
              </a:ext>
            </a:extLst>
          </p:cNvPr>
          <p:cNvPicPr>
            <a:picLocks noChangeAspect="1"/>
          </p:cNvPicPr>
          <p:nvPr/>
        </p:nvPicPr>
        <p:blipFill>
          <a:blip r:embed="rId3"/>
          <a:stretch>
            <a:fillRect/>
          </a:stretch>
        </p:blipFill>
        <p:spPr>
          <a:xfrm>
            <a:off x="682708" y="1257089"/>
            <a:ext cx="7207620" cy="295290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文本框 6">
            <a:extLst>
              <a:ext uri="{FF2B5EF4-FFF2-40B4-BE49-F238E27FC236}">
                <a16:creationId xmlns:a16="http://schemas.microsoft.com/office/drawing/2014/main" id="{75DE5389-13CF-C8D2-7737-D426AC8FF88F}"/>
              </a:ext>
            </a:extLst>
          </p:cNvPr>
          <p:cNvSpPr txBox="1"/>
          <p:nvPr/>
        </p:nvSpPr>
        <p:spPr>
          <a:xfrm>
            <a:off x="543423" y="4789008"/>
            <a:ext cx="10803426" cy="458202"/>
          </a:xfrm>
          <a:prstGeom prst="rect">
            <a:avLst/>
          </a:prstGeom>
          <a:noFill/>
        </p:spPr>
        <p:txBody>
          <a:bodyPr wrap="square">
            <a:spAutoFit/>
          </a:bodyPr>
          <a:lstStyle/>
          <a:p>
            <a:pPr marL="268288" indent="-268288" fontAlgn="auto">
              <a:lnSpc>
                <a:spcPct val="200000"/>
              </a:lnSpc>
              <a:spcBef>
                <a:spcPts val="0"/>
              </a:spcBef>
              <a:spcAft>
                <a:spcPts val="0"/>
              </a:spcAft>
              <a:buFont typeface="Wingdings" pitchFamily="2" charset="2"/>
              <a:buChar char="l"/>
              <a:defRPr/>
            </a:pPr>
            <a:r>
              <a:rPr lang="zh-CN" altLang="en-US" sz="1400" dirty="0">
                <a:solidFill>
                  <a:srgbClr val="C00000"/>
                </a:solidFill>
                <a:latin typeface="+mn-ea"/>
                <a:cs typeface="阿里巴巴普惠体" panose="00020600040101010101" pitchFamily="18" charset="-122"/>
              </a:rPr>
              <a:t>根据对象内容生成</a:t>
            </a:r>
            <a:r>
              <a:rPr lang="en-US" altLang="zh-CN" sz="1400" dirty="0">
                <a:solidFill>
                  <a:srgbClr val="C00000"/>
                </a:solidFill>
                <a:latin typeface="+mn-ea"/>
                <a:cs typeface="阿里巴巴普惠体" panose="00020600040101010101" pitchFamily="18" charset="-122"/>
              </a:rPr>
              <a:t>hash</a:t>
            </a:r>
            <a:r>
              <a:rPr lang="zh-CN" altLang="en-US" sz="1400" dirty="0">
                <a:solidFill>
                  <a:srgbClr val="C00000"/>
                </a:solidFill>
                <a:latin typeface="+mn-ea"/>
                <a:cs typeface="阿里巴巴普惠体" panose="00020600040101010101" pitchFamily="18" charset="-122"/>
              </a:rPr>
              <a:t>值</a:t>
            </a:r>
            <a:r>
              <a:rPr lang="en-US" altLang="zh-CN" sz="1400" dirty="0">
                <a:solidFill>
                  <a:srgbClr val="C00000"/>
                </a:solidFill>
                <a:latin typeface="+mn-ea"/>
                <a:cs typeface="阿里巴巴普惠体" panose="00020600040101010101" pitchFamily="18" charset="-122"/>
              </a:rPr>
              <a:t>,  </a:t>
            </a:r>
            <a:r>
              <a:rPr lang="zh-CN" altLang="en-US" sz="1400" dirty="0">
                <a:solidFill>
                  <a:srgbClr val="C00000"/>
                </a:solidFill>
                <a:latin typeface="+mn-ea"/>
                <a:cs typeface="阿里巴巴普惠体" panose="00020600040101010101" pitchFamily="18" charset="-122"/>
              </a:rPr>
              <a:t>不同的对象</a:t>
            </a:r>
            <a:r>
              <a:rPr lang="en-US" altLang="zh-CN" sz="1400" dirty="0">
                <a:solidFill>
                  <a:srgbClr val="C00000"/>
                </a:solidFill>
                <a:latin typeface="+mn-ea"/>
                <a:cs typeface="阿里巴巴普惠体" panose="00020600040101010101" pitchFamily="18" charset="-122"/>
              </a:rPr>
              <a:t>,</a:t>
            </a:r>
            <a:r>
              <a:rPr lang="zh-CN" altLang="en-US" sz="1400" dirty="0">
                <a:solidFill>
                  <a:srgbClr val="C00000"/>
                </a:solidFill>
                <a:latin typeface="+mn-ea"/>
                <a:cs typeface="阿里巴巴普惠体" panose="00020600040101010101" pitchFamily="18" charset="-122"/>
              </a:rPr>
              <a:t>  </a:t>
            </a:r>
            <a:r>
              <a:rPr lang="en-US" altLang="zh-CN" sz="1400" dirty="0">
                <a:solidFill>
                  <a:srgbClr val="C00000"/>
                </a:solidFill>
                <a:latin typeface="+mn-ea"/>
                <a:cs typeface="阿里巴巴普惠体" panose="00020600040101010101" pitchFamily="18" charset="-122"/>
              </a:rPr>
              <a:t>hash</a:t>
            </a:r>
            <a:r>
              <a:rPr lang="zh-CN" altLang="en-US" sz="1400" dirty="0">
                <a:solidFill>
                  <a:srgbClr val="C00000"/>
                </a:solidFill>
                <a:latin typeface="+mn-ea"/>
                <a:cs typeface="阿里巴巴普惠体" panose="00020600040101010101" pitchFamily="18" charset="-122"/>
              </a:rPr>
              <a:t>值也有可能会相等</a:t>
            </a:r>
            <a:r>
              <a:rPr lang="en-US" altLang="zh-CN" sz="1400" dirty="0">
                <a:solidFill>
                  <a:srgbClr val="C00000"/>
                </a:solidFill>
                <a:latin typeface="+mn-ea"/>
                <a:cs typeface="阿里巴巴普惠体" panose="00020600040101010101" pitchFamily="18" charset="-122"/>
              </a:rPr>
              <a:t>(</a:t>
            </a:r>
            <a:r>
              <a:rPr lang="zh-CN" altLang="en-US" sz="1400" dirty="0">
                <a:solidFill>
                  <a:srgbClr val="C00000"/>
                </a:solidFill>
                <a:latin typeface="+mn-ea"/>
                <a:cs typeface="阿里巴巴普惠体" panose="00020600040101010101" pitchFamily="18" charset="-122"/>
              </a:rPr>
              <a:t>哈希碰撞</a:t>
            </a:r>
            <a:r>
              <a:rPr lang="en-US" altLang="zh-CN" sz="1400" dirty="0">
                <a:solidFill>
                  <a:srgbClr val="C00000"/>
                </a:solidFill>
                <a:latin typeface="+mn-ea"/>
                <a:cs typeface="阿里巴巴普惠体" panose="00020600040101010101" pitchFamily="18" charset="-122"/>
              </a:rPr>
              <a:t>)</a:t>
            </a:r>
            <a:r>
              <a:rPr lang="zh-CN" altLang="en-US" sz="1400" dirty="0">
                <a:solidFill>
                  <a:srgbClr val="C00000"/>
                </a:solidFill>
                <a:latin typeface="+mn-ea"/>
                <a:cs typeface="阿里巴巴普惠体" panose="00020600040101010101" pitchFamily="18" charset="-122"/>
              </a:rPr>
              <a:t>。 </a:t>
            </a:r>
            <a:r>
              <a:rPr lang="en-US" altLang="zh-CN" sz="1400" dirty="0">
                <a:solidFill>
                  <a:schemeClr val="accent3">
                    <a:lumMod val="50000"/>
                  </a:schemeClr>
                </a:solidFill>
                <a:latin typeface="+mn-ea"/>
                <a:cs typeface="阿里巴巴普惠体" panose="00020600040101010101" pitchFamily="18" charset="-122"/>
              </a:rPr>
              <a:t>“</a:t>
            </a:r>
            <a:r>
              <a:rPr lang="zh-CN" altLang="en-US" sz="1400" dirty="0">
                <a:solidFill>
                  <a:schemeClr val="accent3">
                    <a:lumMod val="50000"/>
                  </a:schemeClr>
                </a:solidFill>
                <a:latin typeface="+mn-ea"/>
                <a:cs typeface="阿里巴巴普惠体" panose="00020600040101010101" pitchFamily="18" charset="-122"/>
              </a:rPr>
              <a:t>重地</a:t>
            </a:r>
            <a:r>
              <a:rPr lang="en-US" altLang="zh-CN" sz="1400" dirty="0">
                <a:solidFill>
                  <a:schemeClr val="accent3">
                    <a:lumMod val="50000"/>
                  </a:schemeClr>
                </a:solidFill>
                <a:latin typeface="+mn-ea"/>
                <a:cs typeface="阿里巴巴普惠体" panose="00020600040101010101" pitchFamily="18" charset="-122"/>
              </a:rPr>
              <a:t>”</a:t>
            </a:r>
            <a:r>
              <a:rPr lang="zh-CN" altLang="en-US" sz="1400" dirty="0">
                <a:solidFill>
                  <a:schemeClr val="accent3">
                    <a:lumMod val="50000"/>
                  </a:schemeClr>
                </a:solidFill>
                <a:latin typeface="+mn-ea"/>
                <a:cs typeface="阿里巴巴普惠体" panose="00020600040101010101" pitchFamily="18" charset="-122"/>
              </a:rPr>
              <a:t>“通话</a:t>
            </a:r>
            <a:r>
              <a:rPr lang="en-US" altLang="zh-CN" sz="1400" dirty="0">
                <a:solidFill>
                  <a:schemeClr val="accent3">
                    <a:lumMod val="50000"/>
                  </a:schemeClr>
                </a:solidFill>
                <a:latin typeface="+mn-ea"/>
                <a:cs typeface="阿里巴巴普惠体" panose="00020600040101010101" pitchFamily="18" charset="-122"/>
              </a:rPr>
              <a:t>”</a:t>
            </a:r>
          </a:p>
        </p:txBody>
      </p:sp>
    </p:spTree>
    <p:extLst>
      <p:ext uri="{BB962C8B-B14F-4D97-AF65-F5344CB8AC3E}">
        <p14:creationId xmlns:p14="http://schemas.microsoft.com/office/powerpoint/2010/main" val="2685881169"/>
      </p:ext>
    </p:extLst>
  </p:cSld>
  <p:clrMapOvr>
    <a:masterClrMapping/>
  </p:clrMapOvr>
  <p:transition spd="med">
    <p:pull/>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A1F1886-4314-56ED-79FC-98F35AB62143}"/>
              </a:ext>
            </a:extLst>
          </p:cNvPr>
          <p:cNvSpPr>
            <a:spLocks noGrp="1"/>
          </p:cNvSpPr>
          <p:nvPr>
            <p:ph type="body" sz="quarter" idx="10"/>
          </p:nvPr>
        </p:nvSpPr>
        <p:spPr>
          <a:prstGeom prst="rect">
            <a:avLst/>
          </a:prstGeom>
        </p:spPr>
        <p:txBody>
          <a:bodyPr/>
          <a:lstStyle/>
          <a:p>
            <a:pPr marL="0" indent="0">
              <a:buNone/>
            </a:pPr>
            <a:r>
              <a:rPr lang="zh-CN" altLang="en-US" sz="1800"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重写 </a:t>
            </a:r>
            <a:r>
              <a:rPr lang="en-US" altLang="zh-CN" sz="1800" dirty="0" err="1">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hashCode</a:t>
            </a:r>
            <a:r>
              <a:rPr lang="en-US" altLang="zh-CN" sz="1800"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800"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方法 </a:t>
            </a:r>
            <a:endParaRPr lang="en-US" altLang="zh-CN" sz="1800"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indent="0">
              <a:buNone/>
            </a:pPr>
            <a:r>
              <a:rPr lang="zh-CN" altLang="en-US" sz="1800"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根据对象的属性值计算出的哈希值</a:t>
            </a:r>
            <a:endParaRPr lang="zh-CN" altLang="en-US" dirty="0">
              <a:solidFill>
                <a:schemeClr val="tx1">
                  <a:lumMod val="75000"/>
                </a:schemeClr>
              </a:solidFill>
            </a:endParaRPr>
          </a:p>
        </p:txBody>
      </p:sp>
    </p:spTree>
    <p:extLst>
      <p:ext uri="{BB962C8B-B14F-4D97-AF65-F5344CB8AC3E}">
        <p14:creationId xmlns:p14="http://schemas.microsoft.com/office/powerpoint/2010/main" val="1624940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DF93EDA-4AF6-4F3D-8469-119F42C191C1}"/>
              </a:ext>
            </a:extLst>
          </p:cNvPr>
          <p:cNvSpPr txBox="1"/>
          <p:nvPr/>
        </p:nvSpPr>
        <p:spPr>
          <a:xfrm>
            <a:off x="629257" y="1422585"/>
            <a:ext cx="4362193" cy="1919821"/>
          </a:xfrm>
          <a:prstGeom prst="rect">
            <a:avLst/>
          </a:prstGeom>
          <a:noFill/>
        </p:spPr>
        <p:txBody>
          <a:bodyPr wrap="square">
            <a:spAutoFit/>
          </a:bodyPr>
          <a:lstStyle/>
          <a:p>
            <a:pPr>
              <a:lnSpc>
                <a:spcPct val="250000"/>
              </a:lnSpc>
              <a:defRPr/>
            </a:pPr>
            <a:r>
              <a:rPr lang="zh-CN" altLang="en-US"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哈希表</a:t>
            </a:r>
            <a:endParaRPr lang="en-US" altLang="zh-CN"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57708" indent="-357708">
              <a:lnSpc>
                <a:spcPct val="250000"/>
              </a:lnSpc>
              <a:buFont typeface="Wingdings" pitchFamily="2" charset="2"/>
              <a:buChar char="l"/>
              <a:defRPr/>
            </a:pPr>
            <a:r>
              <a:rPr lang="en-US" altLang="zh-CN" sz="1600"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600"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之前，哈希表 </a:t>
            </a:r>
            <a:r>
              <a:rPr lang="en-US" altLang="zh-CN" sz="1600"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6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a:t>
            </a:r>
            <a:r>
              <a:rPr lang="en-US" altLang="zh-CN" sz="16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链表</a:t>
            </a:r>
            <a:endParaRPr lang="en-US" altLang="zh-CN" sz="1600"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57708" indent="-357708">
              <a:lnSpc>
                <a:spcPct val="250000"/>
              </a:lnSpc>
              <a:buFont typeface="Wingdings" pitchFamily="2" charset="2"/>
              <a:buChar char="l"/>
              <a:defRPr/>
            </a:pPr>
            <a:r>
              <a:rPr lang="en-US" altLang="zh-CN" sz="1600"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600"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开始，哈希表 </a:t>
            </a:r>
            <a:r>
              <a:rPr lang="en-US" altLang="zh-CN" sz="1600"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6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a:t>
            </a:r>
            <a:r>
              <a:rPr lang="en-US" altLang="zh-CN" sz="16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链表</a:t>
            </a:r>
            <a:r>
              <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红黑树</a:t>
            </a:r>
            <a:endPar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a:extLst>
              <a:ext uri="{FF2B5EF4-FFF2-40B4-BE49-F238E27FC236}">
                <a16:creationId xmlns:a16="http://schemas.microsoft.com/office/drawing/2014/main" id="{F4E46111-6C3E-747E-7001-EA363E7C5278}"/>
              </a:ext>
            </a:extLst>
          </p:cNvPr>
          <p:cNvSpPr>
            <a:spLocks noGrp="1"/>
          </p:cNvSpPr>
          <p:nvPr>
            <p:ph type="title"/>
          </p:nvPr>
        </p:nvSpPr>
        <p:spPr/>
        <p:txBody>
          <a:bodyPr/>
          <a:lstStyle/>
          <a:p>
            <a:r>
              <a:rPr lang="en-US" altLang="zh-CN" dirty="0"/>
              <a:t>HashSet</a:t>
            </a:r>
            <a:r>
              <a:rPr lang="zh-CN" altLang="en-US" dirty="0"/>
              <a:t>集合的底层原理</a:t>
            </a:r>
          </a:p>
        </p:txBody>
      </p:sp>
      <p:sp>
        <p:nvSpPr>
          <p:cNvPr id="8" name="文本框 7">
            <a:extLst>
              <a:ext uri="{FF2B5EF4-FFF2-40B4-BE49-F238E27FC236}">
                <a16:creationId xmlns:a16="http://schemas.microsoft.com/office/drawing/2014/main" id="{289A746A-1537-14D5-244D-B0CE24EFCDAB}"/>
              </a:ext>
            </a:extLst>
          </p:cNvPr>
          <p:cNvSpPr txBox="1"/>
          <p:nvPr/>
        </p:nvSpPr>
        <p:spPr>
          <a:xfrm>
            <a:off x="629257" y="3615623"/>
            <a:ext cx="6096000" cy="338554"/>
          </a:xfrm>
          <a:prstGeom prst="rect">
            <a:avLst/>
          </a:prstGeom>
          <a:noFill/>
        </p:spPr>
        <p:txBody>
          <a:bodyPr wrap="square">
            <a:spAutoFit/>
          </a:bodyPr>
          <a:lstStyle/>
          <a:p>
            <a:pPr marL="285750" indent="-285750">
              <a:buFont typeface="Wingdings" panose="05000000000000000000" pitchFamily="2" charset="2"/>
              <a:buChar char="l"/>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哈希表是一种增删改查数据，性能都较好的数据结构</a:t>
            </a:r>
            <a:endParaRPr lang="zh-CN" altLang="en-US" sz="1600" dirty="0">
              <a:solidFill>
                <a:srgbClr val="C0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a:extLst>
              <a:ext uri="{FF2B5EF4-FFF2-40B4-BE49-F238E27FC236}">
                <a16:creationId xmlns:a16="http://schemas.microsoft.com/office/drawing/2014/main" id="{7E9294EB-7ADF-4BFE-920D-914A2694854E}"/>
              </a:ext>
            </a:extLst>
          </p:cNvPr>
          <p:cNvSpPr txBox="1"/>
          <p:nvPr/>
        </p:nvSpPr>
        <p:spPr>
          <a:xfrm>
            <a:off x="769618" y="934083"/>
            <a:ext cx="6731845" cy="466652"/>
          </a:xfrm>
          <a:prstGeom prst="rect">
            <a:avLst/>
          </a:prstGeom>
          <a:noFill/>
        </p:spPr>
        <p:txBody>
          <a:bodyPr wrap="square">
            <a:spAutoFit/>
          </a:bodyPr>
          <a:lstStyle/>
          <a:p>
            <a:pPr>
              <a:lnSpc>
                <a:spcPct val="150000"/>
              </a:lnSpc>
              <a:defRPr/>
            </a:pPr>
            <a:r>
              <a:rPr lang="en-US" altLang="zh-CN"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之前的哈希表：</a:t>
            </a:r>
            <a:r>
              <a:rPr lang="zh-CN" altLang="en-US"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a:t>
            </a:r>
            <a:r>
              <a:rPr lang="en-US" altLang="zh-CN"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链表</a:t>
            </a:r>
            <a:endParaRPr lang="zh-CN" altLang="en-US"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5" name="直接连接符 4">
            <a:extLst>
              <a:ext uri="{FF2B5EF4-FFF2-40B4-BE49-F238E27FC236}">
                <a16:creationId xmlns:a16="http://schemas.microsoft.com/office/drawing/2014/main" id="{8DBC0FCA-5C40-4FCB-9AF6-A92162AB4D17}"/>
              </a:ext>
            </a:extLst>
          </p:cNvPr>
          <p:cNvCxnSpPr>
            <a:cxnSpLocks/>
          </p:cNvCxnSpPr>
          <p:nvPr/>
        </p:nvCxnSpPr>
        <p:spPr>
          <a:xfrm>
            <a:off x="769618" y="1604432"/>
            <a:ext cx="10805583" cy="0"/>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67B8D306-7EE6-4EB6-8BA7-03C1450FB368}"/>
              </a:ext>
            </a:extLst>
          </p:cNvPr>
          <p:cNvCxnSpPr>
            <a:cxnSpLocks/>
          </p:cNvCxnSpPr>
          <p:nvPr/>
        </p:nvCxnSpPr>
        <p:spPr>
          <a:xfrm>
            <a:off x="769618" y="2275416"/>
            <a:ext cx="10805583" cy="6349"/>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0C4FA2C1-7860-479C-8B8B-6EA851A5765A}"/>
              </a:ext>
            </a:extLst>
          </p:cNvPr>
          <p:cNvSpPr/>
          <p:nvPr/>
        </p:nvSpPr>
        <p:spPr>
          <a:xfrm>
            <a:off x="85428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11" name="直接连接符 10">
            <a:extLst>
              <a:ext uri="{FF2B5EF4-FFF2-40B4-BE49-F238E27FC236}">
                <a16:creationId xmlns:a16="http://schemas.microsoft.com/office/drawing/2014/main" id="{F60FFFF4-97F8-4FBB-BB15-3AB60B9C1165}"/>
              </a:ext>
            </a:extLst>
          </p:cNvPr>
          <p:cNvCxnSpPr>
            <a:cxnSpLocks/>
          </p:cNvCxnSpPr>
          <p:nvPr/>
        </p:nvCxnSpPr>
        <p:spPr>
          <a:xfrm>
            <a:off x="21200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2CF108A7-0299-4135-8F4D-B02F4D108F1D}"/>
              </a:ext>
            </a:extLst>
          </p:cNvPr>
          <p:cNvSpPr/>
          <p:nvPr/>
        </p:nvSpPr>
        <p:spPr>
          <a:xfrm>
            <a:off x="152103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13" name="直接连接符 12">
            <a:extLst>
              <a:ext uri="{FF2B5EF4-FFF2-40B4-BE49-F238E27FC236}">
                <a16:creationId xmlns:a16="http://schemas.microsoft.com/office/drawing/2014/main" id="{1BADC812-4777-48E0-947B-95EE7BA02146}"/>
              </a:ext>
            </a:extLst>
          </p:cNvPr>
          <p:cNvCxnSpPr>
            <a:cxnSpLocks/>
          </p:cNvCxnSpPr>
          <p:nvPr/>
        </p:nvCxnSpPr>
        <p:spPr>
          <a:xfrm>
            <a:off x="2791033"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32F86D06-59CB-42F0-9E70-67E4ADFC641F}"/>
              </a:ext>
            </a:extLst>
          </p:cNvPr>
          <p:cNvCxnSpPr>
            <a:cxnSpLocks/>
          </p:cNvCxnSpPr>
          <p:nvPr/>
        </p:nvCxnSpPr>
        <p:spPr>
          <a:xfrm>
            <a:off x="48061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49FC9901-59FE-4843-853D-AD43842D5443}"/>
              </a:ext>
            </a:extLst>
          </p:cNvPr>
          <p:cNvCxnSpPr>
            <a:cxnSpLocks/>
          </p:cNvCxnSpPr>
          <p:nvPr/>
        </p:nvCxnSpPr>
        <p:spPr>
          <a:xfrm>
            <a:off x="54792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C5E0CA6-D141-4B0E-A0C4-EFB5AFB4E3AF}"/>
              </a:ext>
            </a:extLst>
          </p:cNvPr>
          <p:cNvCxnSpPr>
            <a:cxnSpLocks/>
          </p:cNvCxnSpPr>
          <p:nvPr/>
        </p:nvCxnSpPr>
        <p:spPr>
          <a:xfrm>
            <a:off x="6198866"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095D976-BA5F-4898-87F2-A3BCABADC4A9}"/>
              </a:ext>
            </a:extLst>
          </p:cNvPr>
          <p:cNvCxnSpPr>
            <a:cxnSpLocks/>
          </p:cNvCxnSpPr>
          <p:nvPr/>
        </p:nvCxnSpPr>
        <p:spPr>
          <a:xfrm>
            <a:off x="6871966"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C944381C-78BD-45AE-8954-913D4A975100}"/>
              </a:ext>
            </a:extLst>
          </p:cNvPr>
          <p:cNvCxnSpPr>
            <a:cxnSpLocks/>
          </p:cNvCxnSpPr>
          <p:nvPr/>
        </p:nvCxnSpPr>
        <p:spPr>
          <a:xfrm>
            <a:off x="75429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23A038D-AEF7-4E5D-B02E-D1644CBDD90E}"/>
              </a:ext>
            </a:extLst>
          </p:cNvPr>
          <p:cNvCxnSpPr>
            <a:cxnSpLocks/>
          </p:cNvCxnSpPr>
          <p:nvPr/>
        </p:nvCxnSpPr>
        <p:spPr>
          <a:xfrm>
            <a:off x="82160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40C2CF7-C9DD-460C-AE31-5CA65F00D200}"/>
              </a:ext>
            </a:extLst>
          </p:cNvPr>
          <p:cNvCxnSpPr>
            <a:cxnSpLocks/>
          </p:cNvCxnSpPr>
          <p:nvPr/>
        </p:nvCxnSpPr>
        <p:spPr>
          <a:xfrm>
            <a:off x="8887033"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92237A86-9C67-43F0-8DDF-D4EFA67C696B}"/>
              </a:ext>
            </a:extLst>
          </p:cNvPr>
          <p:cNvCxnSpPr>
            <a:cxnSpLocks/>
          </p:cNvCxnSpPr>
          <p:nvPr/>
        </p:nvCxnSpPr>
        <p:spPr>
          <a:xfrm>
            <a:off x="95580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439C95B-56C7-40E5-AFCA-F40D39C7DD15}"/>
              </a:ext>
            </a:extLst>
          </p:cNvPr>
          <p:cNvCxnSpPr>
            <a:cxnSpLocks/>
          </p:cNvCxnSpPr>
          <p:nvPr/>
        </p:nvCxnSpPr>
        <p:spPr>
          <a:xfrm>
            <a:off x="102311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07FC3D32-257C-4F4F-963F-4D70AE49618A}"/>
              </a:ext>
            </a:extLst>
          </p:cNvPr>
          <p:cNvCxnSpPr>
            <a:cxnSpLocks/>
          </p:cNvCxnSpPr>
          <p:nvPr/>
        </p:nvCxnSpPr>
        <p:spPr>
          <a:xfrm>
            <a:off x="109021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F87988F8-E015-4735-87D5-4D316F3C76FE}"/>
              </a:ext>
            </a:extLst>
          </p:cNvPr>
          <p:cNvCxnSpPr>
            <a:cxnSpLocks/>
          </p:cNvCxnSpPr>
          <p:nvPr/>
        </p:nvCxnSpPr>
        <p:spPr>
          <a:xfrm>
            <a:off x="115752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097D475A-9A47-49BA-8130-9AFBD511AF5B}"/>
              </a:ext>
            </a:extLst>
          </p:cNvPr>
          <p:cNvSpPr/>
          <p:nvPr/>
        </p:nvSpPr>
        <p:spPr>
          <a:xfrm>
            <a:off x="22174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28" name="矩形 27">
            <a:extLst>
              <a:ext uri="{FF2B5EF4-FFF2-40B4-BE49-F238E27FC236}">
                <a16:creationId xmlns:a16="http://schemas.microsoft.com/office/drawing/2014/main" id="{3103FC64-A467-49F3-A6B4-BD7BD47B71DD}"/>
              </a:ext>
            </a:extLst>
          </p:cNvPr>
          <p:cNvSpPr/>
          <p:nvPr/>
        </p:nvSpPr>
        <p:spPr>
          <a:xfrm>
            <a:off x="28841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29" name="矩形 28">
            <a:extLst>
              <a:ext uri="{FF2B5EF4-FFF2-40B4-BE49-F238E27FC236}">
                <a16:creationId xmlns:a16="http://schemas.microsoft.com/office/drawing/2014/main" id="{5064CD42-8213-47F5-97C5-1C0FF815C725}"/>
              </a:ext>
            </a:extLst>
          </p:cNvPr>
          <p:cNvSpPr/>
          <p:nvPr/>
        </p:nvSpPr>
        <p:spPr>
          <a:xfrm>
            <a:off x="3523400" y="1775884"/>
            <a:ext cx="546945" cy="338554"/>
          </a:xfrm>
          <a:prstGeom prst="rect">
            <a:avLst/>
          </a:prstGeom>
        </p:spPr>
        <p:txBody>
          <a:bodyPr wrap="square">
            <a:spAutoFit/>
          </a:bodyPr>
          <a:lstStyle/>
          <a:p>
            <a:pPr>
              <a:defRPr/>
            </a:pPr>
            <a:r>
              <a:rPr lang="en-US" altLang="zh-CN" sz="1600" dirty="0">
                <a:latin typeface="微软雅黑" panose="020B0503020204020204" pitchFamily="34" charset="-122"/>
                <a:ea typeface="Alibaba PuHuiTi R"/>
              </a:rPr>
              <a:t>null</a:t>
            </a:r>
            <a:endParaRPr lang="zh-CN" altLang="en-US" sz="1600" dirty="0">
              <a:latin typeface="微软雅黑" panose="020B0503020204020204" pitchFamily="34" charset="-122"/>
              <a:ea typeface="Alibaba PuHuiTi R"/>
            </a:endParaRPr>
          </a:p>
        </p:txBody>
      </p:sp>
      <p:sp>
        <p:nvSpPr>
          <p:cNvPr id="30" name="矩形 29">
            <a:extLst>
              <a:ext uri="{FF2B5EF4-FFF2-40B4-BE49-F238E27FC236}">
                <a16:creationId xmlns:a16="http://schemas.microsoft.com/office/drawing/2014/main" id="{5A94079E-3238-40C9-ADA8-9EB79B434288}"/>
              </a:ext>
            </a:extLst>
          </p:cNvPr>
          <p:cNvSpPr/>
          <p:nvPr/>
        </p:nvSpPr>
        <p:spPr>
          <a:xfrm>
            <a:off x="420708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1" name="矩形 30">
            <a:extLst>
              <a:ext uri="{FF2B5EF4-FFF2-40B4-BE49-F238E27FC236}">
                <a16:creationId xmlns:a16="http://schemas.microsoft.com/office/drawing/2014/main" id="{64352502-E2A2-403D-A840-ED54DE51F912}"/>
              </a:ext>
            </a:extLst>
          </p:cNvPr>
          <p:cNvSpPr/>
          <p:nvPr/>
        </p:nvSpPr>
        <p:spPr>
          <a:xfrm>
            <a:off x="49034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2" name="矩形 31">
            <a:extLst>
              <a:ext uri="{FF2B5EF4-FFF2-40B4-BE49-F238E27FC236}">
                <a16:creationId xmlns:a16="http://schemas.microsoft.com/office/drawing/2014/main" id="{4C301F48-5583-493D-AB1D-1A109DB43325}"/>
              </a:ext>
            </a:extLst>
          </p:cNvPr>
          <p:cNvSpPr/>
          <p:nvPr/>
        </p:nvSpPr>
        <p:spPr>
          <a:xfrm>
            <a:off x="55702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3" name="矩形 32">
            <a:extLst>
              <a:ext uri="{FF2B5EF4-FFF2-40B4-BE49-F238E27FC236}">
                <a16:creationId xmlns:a16="http://schemas.microsoft.com/office/drawing/2014/main" id="{C9AA140A-8675-4DB5-AAFD-92B0877C1719}"/>
              </a:ext>
            </a:extLst>
          </p:cNvPr>
          <p:cNvSpPr/>
          <p:nvPr/>
        </p:nvSpPr>
        <p:spPr>
          <a:xfrm>
            <a:off x="628988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4" name="矩形 33">
            <a:extLst>
              <a:ext uri="{FF2B5EF4-FFF2-40B4-BE49-F238E27FC236}">
                <a16:creationId xmlns:a16="http://schemas.microsoft.com/office/drawing/2014/main" id="{025458F7-75DA-4E7D-B3F7-E6F31000C97F}"/>
              </a:ext>
            </a:extLst>
          </p:cNvPr>
          <p:cNvSpPr/>
          <p:nvPr/>
        </p:nvSpPr>
        <p:spPr>
          <a:xfrm>
            <a:off x="69545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5" name="矩形 34">
            <a:extLst>
              <a:ext uri="{FF2B5EF4-FFF2-40B4-BE49-F238E27FC236}">
                <a16:creationId xmlns:a16="http://schemas.microsoft.com/office/drawing/2014/main" id="{98DA4647-A9AA-41EA-9E54-84F7E5742A6A}"/>
              </a:ext>
            </a:extLst>
          </p:cNvPr>
          <p:cNvSpPr/>
          <p:nvPr/>
        </p:nvSpPr>
        <p:spPr>
          <a:xfrm>
            <a:off x="76530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6" name="矩形 35">
            <a:extLst>
              <a:ext uri="{FF2B5EF4-FFF2-40B4-BE49-F238E27FC236}">
                <a16:creationId xmlns:a16="http://schemas.microsoft.com/office/drawing/2014/main" id="{7F418C73-1215-4BAF-9E38-DCEE2E86E16D}"/>
              </a:ext>
            </a:extLst>
          </p:cNvPr>
          <p:cNvSpPr/>
          <p:nvPr/>
        </p:nvSpPr>
        <p:spPr>
          <a:xfrm>
            <a:off x="8317651"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7" name="矩形 36">
            <a:extLst>
              <a:ext uri="{FF2B5EF4-FFF2-40B4-BE49-F238E27FC236}">
                <a16:creationId xmlns:a16="http://schemas.microsoft.com/office/drawing/2014/main" id="{5193202D-B146-4F6C-BF8F-77D538E26E85}"/>
              </a:ext>
            </a:extLst>
          </p:cNvPr>
          <p:cNvSpPr/>
          <p:nvPr/>
        </p:nvSpPr>
        <p:spPr>
          <a:xfrm>
            <a:off x="897593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8" name="矩形 37">
            <a:extLst>
              <a:ext uri="{FF2B5EF4-FFF2-40B4-BE49-F238E27FC236}">
                <a16:creationId xmlns:a16="http://schemas.microsoft.com/office/drawing/2014/main" id="{B3D534AD-5842-4631-91EA-1F95E2AC7064}"/>
              </a:ext>
            </a:extLst>
          </p:cNvPr>
          <p:cNvSpPr/>
          <p:nvPr/>
        </p:nvSpPr>
        <p:spPr>
          <a:xfrm>
            <a:off x="96405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9" name="矩形 38">
            <a:extLst>
              <a:ext uri="{FF2B5EF4-FFF2-40B4-BE49-F238E27FC236}">
                <a16:creationId xmlns:a16="http://schemas.microsoft.com/office/drawing/2014/main" id="{EF38C6F1-D43E-482A-9A16-7EEACBCAC72A}"/>
              </a:ext>
            </a:extLst>
          </p:cNvPr>
          <p:cNvSpPr/>
          <p:nvPr/>
        </p:nvSpPr>
        <p:spPr>
          <a:xfrm>
            <a:off x="103390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40" name="矩形 39">
            <a:extLst>
              <a:ext uri="{FF2B5EF4-FFF2-40B4-BE49-F238E27FC236}">
                <a16:creationId xmlns:a16="http://schemas.microsoft.com/office/drawing/2014/main" id="{403079E0-AB2B-4FE1-8AE2-E5CD0EBE631B}"/>
              </a:ext>
            </a:extLst>
          </p:cNvPr>
          <p:cNvSpPr/>
          <p:nvPr/>
        </p:nvSpPr>
        <p:spPr>
          <a:xfrm>
            <a:off x="11003700"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41" name="矩形 40">
            <a:extLst>
              <a:ext uri="{FF2B5EF4-FFF2-40B4-BE49-F238E27FC236}">
                <a16:creationId xmlns:a16="http://schemas.microsoft.com/office/drawing/2014/main" id="{A269F245-4005-4198-BC4F-9215E2BB440B}"/>
              </a:ext>
            </a:extLst>
          </p:cNvPr>
          <p:cNvSpPr/>
          <p:nvPr/>
        </p:nvSpPr>
        <p:spPr>
          <a:xfrm>
            <a:off x="943184"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0</a:t>
            </a:r>
            <a:endParaRPr lang="zh-CN" altLang="en-US" sz="1600" dirty="0">
              <a:ea typeface="Alibaba PuHuiTi R"/>
            </a:endParaRPr>
          </a:p>
        </p:txBody>
      </p:sp>
      <p:sp>
        <p:nvSpPr>
          <p:cNvPr id="42" name="矩形 41">
            <a:extLst>
              <a:ext uri="{FF2B5EF4-FFF2-40B4-BE49-F238E27FC236}">
                <a16:creationId xmlns:a16="http://schemas.microsoft.com/office/drawing/2014/main" id="{66F71576-7715-4A8E-ABA3-BB090697A0E7}"/>
              </a:ext>
            </a:extLst>
          </p:cNvPr>
          <p:cNvSpPr/>
          <p:nvPr/>
        </p:nvSpPr>
        <p:spPr>
          <a:xfrm>
            <a:off x="160781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a:t>
            </a:r>
            <a:endParaRPr lang="zh-CN" altLang="en-US" sz="1600" dirty="0">
              <a:ea typeface="Alibaba PuHuiTi R"/>
            </a:endParaRPr>
          </a:p>
        </p:txBody>
      </p:sp>
      <p:sp>
        <p:nvSpPr>
          <p:cNvPr id="43" name="矩形 42">
            <a:extLst>
              <a:ext uri="{FF2B5EF4-FFF2-40B4-BE49-F238E27FC236}">
                <a16:creationId xmlns:a16="http://schemas.microsoft.com/office/drawing/2014/main" id="{F448B3C4-BC25-4FA2-93C8-33982661B21C}"/>
              </a:ext>
            </a:extLst>
          </p:cNvPr>
          <p:cNvSpPr/>
          <p:nvPr/>
        </p:nvSpPr>
        <p:spPr>
          <a:xfrm>
            <a:off x="230631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2</a:t>
            </a:r>
            <a:endParaRPr lang="zh-CN" altLang="en-US" sz="1600" dirty="0">
              <a:ea typeface="Alibaba PuHuiTi R"/>
            </a:endParaRPr>
          </a:p>
        </p:txBody>
      </p:sp>
      <p:sp>
        <p:nvSpPr>
          <p:cNvPr id="44" name="矩形 43">
            <a:extLst>
              <a:ext uri="{FF2B5EF4-FFF2-40B4-BE49-F238E27FC236}">
                <a16:creationId xmlns:a16="http://schemas.microsoft.com/office/drawing/2014/main" id="{1D1B81D8-ACF6-418A-A318-D81BD890DC5D}"/>
              </a:ext>
            </a:extLst>
          </p:cNvPr>
          <p:cNvSpPr/>
          <p:nvPr/>
        </p:nvSpPr>
        <p:spPr>
          <a:xfrm>
            <a:off x="2970951"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3</a:t>
            </a:r>
            <a:endParaRPr lang="zh-CN" altLang="en-US" sz="1600" dirty="0">
              <a:ea typeface="Alibaba PuHuiTi R"/>
            </a:endParaRPr>
          </a:p>
        </p:txBody>
      </p:sp>
      <p:sp>
        <p:nvSpPr>
          <p:cNvPr id="45" name="矩形 44">
            <a:extLst>
              <a:ext uri="{FF2B5EF4-FFF2-40B4-BE49-F238E27FC236}">
                <a16:creationId xmlns:a16="http://schemas.microsoft.com/office/drawing/2014/main" id="{189FBC6B-07F1-4D16-94BD-E4EDD8348CB8}"/>
              </a:ext>
            </a:extLst>
          </p:cNvPr>
          <p:cNvSpPr/>
          <p:nvPr/>
        </p:nvSpPr>
        <p:spPr>
          <a:xfrm>
            <a:off x="3629233"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4</a:t>
            </a:r>
            <a:endParaRPr lang="zh-CN" altLang="en-US" sz="1600" dirty="0">
              <a:ea typeface="Alibaba PuHuiTi R"/>
            </a:endParaRPr>
          </a:p>
        </p:txBody>
      </p:sp>
      <p:sp>
        <p:nvSpPr>
          <p:cNvPr id="46" name="矩形 45">
            <a:extLst>
              <a:ext uri="{FF2B5EF4-FFF2-40B4-BE49-F238E27FC236}">
                <a16:creationId xmlns:a16="http://schemas.microsoft.com/office/drawing/2014/main" id="{E0A88931-CE51-4029-8A66-031F513F10AB}"/>
              </a:ext>
            </a:extLst>
          </p:cNvPr>
          <p:cNvSpPr/>
          <p:nvPr/>
        </p:nvSpPr>
        <p:spPr>
          <a:xfrm>
            <a:off x="429386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5</a:t>
            </a:r>
            <a:endParaRPr lang="zh-CN" altLang="en-US" sz="1600" dirty="0">
              <a:ea typeface="Alibaba PuHuiTi R"/>
            </a:endParaRPr>
          </a:p>
        </p:txBody>
      </p:sp>
      <p:sp>
        <p:nvSpPr>
          <p:cNvPr id="47" name="矩形 46">
            <a:extLst>
              <a:ext uri="{FF2B5EF4-FFF2-40B4-BE49-F238E27FC236}">
                <a16:creationId xmlns:a16="http://schemas.microsoft.com/office/drawing/2014/main" id="{BDCD3623-CA44-4CC2-9B40-11483CB4D8F1}"/>
              </a:ext>
            </a:extLst>
          </p:cNvPr>
          <p:cNvSpPr/>
          <p:nvPr/>
        </p:nvSpPr>
        <p:spPr>
          <a:xfrm>
            <a:off x="499236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6</a:t>
            </a:r>
            <a:endParaRPr lang="zh-CN" altLang="en-US" sz="1600" dirty="0">
              <a:ea typeface="Alibaba PuHuiTi R"/>
            </a:endParaRPr>
          </a:p>
        </p:txBody>
      </p:sp>
      <p:sp>
        <p:nvSpPr>
          <p:cNvPr id="48" name="矩形 47">
            <a:extLst>
              <a:ext uri="{FF2B5EF4-FFF2-40B4-BE49-F238E27FC236}">
                <a16:creationId xmlns:a16="http://schemas.microsoft.com/office/drawing/2014/main" id="{805908F3-D2F6-4018-B6C7-2D6F2EA7B499}"/>
              </a:ext>
            </a:extLst>
          </p:cNvPr>
          <p:cNvSpPr/>
          <p:nvPr/>
        </p:nvSpPr>
        <p:spPr>
          <a:xfrm>
            <a:off x="5657000"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7</a:t>
            </a:r>
            <a:endParaRPr lang="zh-CN" altLang="en-US" sz="1600" dirty="0">
              <a:ea typeface="Alibaba PuHuiTi R"/>
            </a:endParaRPr>
          </a:p>
        </p:txBody>
      </p:sp>
      <p:sp>
        <p:nvSpPr>
          <p:cNvPr id="49" name="矩形 48">
            <a:extLst>
              <a:ext uri="{FF2B5EF4-FFF2-40B4-BE49-F238E27FC236}">
                <a16:creationId xmlns:a16="http://schemas.microsoft.com/office/drawing/2014/main" id="{597FA6D2-2906-4390-95EA-73D862DC94FE}"/>
              </a:ext>
            </a:extLst>
          </p:cNvPr>
          <p:cNvSpPr/>
          <p:nvPr/>
        </p:nvSpPr>
        <p:spPr>
          <a:xfrm>
            <a:off x="637666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8</a:t>
            </a:r>
            <a:endParaRPr lang="zh-CN" altLang="en-US" sz="1600" dirty="0">
              <a:ea typeface="Alibaba PuHuiTi R"/>
            </a:endParaRPr>
          </a:p>
        </p:txBody>
      </p:sp>
      <p:sp>
        <p:nvSpPr>
          <p:cNvPr id="50" name="矩形 49">
            <a:extLst>
              <a:ext uri="{FF2B5EF4-FFF2-40B4-BE49-F238E27FC236}">
                <a16:creationId xmlns:a16="http://schemas.microsoft.com/office/drawing/2014/main" id="{1197A8F8-6FB5-4A1D-A672-61C46C6E3966}"/>
              </a:ext>
            </a:extLst>
          </p:cNvPr>
          <p:cNvSpPr/>
          <p:nvPr/>
        </p:nvSpPr>
        <p:spPr>
          <a:xfrm>
            <a:off x="704341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9</a:t>
            </a:r>
            <a:endParaRPr lang="zh-CN" altLang="en-US" sz="1600" dirty="0">
              <a:ea typeface="Alibaba PuHuiTi R"/>
            </a:endParaRPr>
          </a:p>
        </p:txBody>
      </p:sp>
      <p:sp>
        <p:nvSpPr>
          <p:cNvPr id="51" name="矩形 50">
            <a:extLst>
              <a:ext uri="{FF2B5EF4-FFF2-40B4-BE49-F238E27FC236}">
                <a16:creationId xmlns:a16="http://schemas.microsoft.com/office/drawing/2014/main" id="{8E4622E3-8BC2-4C10-A260-4B0B2BFBB1C5}"/>
              </a:ext>
            </a:extLst>
          </p:cNvPr>
          <p:cNvSpPr/>
          <p:nvPr/>
        </p:nvSpPr>
        <p:spPr>
          <a:xfrm>
            <a:off x="7661484"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10</a:t>
            </a:r>
            <a:endParaRPr lang="zh-CN" altLang="en-US" sz="1600" dirty="0">
              <a:ea typeface="Alibaba PuHuiTi R"/>
            </a:endParaRPr>
          </a:p>
        </p:txBody>
      </p:sp>
      <p:sp>
        <p:nvSpPr>
          <p:cNvPr id="52" name="矩形 51">
            <a:extLst>
              <a:ext uri="{FF2B5EF4-FFF2-40B4-BE49-F238E27FC236}">
                <a16:creationId xmlns:a16="http://schemas.microsoft.com/office/drawing/2014/main" id="{5E7A2FA3-2070-487D-B70F-7B77E2ECA6CA}"/>
              </a:ext>
            </a:extLst>
          </p:cNvPr>
          <p:cNvSpPr/>
          <p:nvPr/>
        </p:nvSpPr>
        <p:spPr>
          <a:xfrm>
            <a:off x="8328233"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11</a:t>
            </a:r>
            <a:endParaRPr lang="zh-CN" altLang="en-US" sz="1600" dirty="0">
              <a:ea typeface="Alibaba PuHuiTi R"/>
            </a:endParaRPr>
          </a:p>
        </p:txBody>
      </p:sp>
      <p:sp>
        <p:nvSpPr>
          <p:cNvPr id="53" name="矩形 52">
            <a:extLst>
              <a:ext uri="{FF2B5EF4-FFF2-40B4-BE49-F238E27FC236}">
                <a16:creationId xmlns:a16="http://schemas.microsoft.com/office/drawing/2014/main" id="{39391A35-CFD8-49AD-81D3-36472B9C4ED7}"/>
              </a:ext>
            </a:extLst>
          </p:cNvPr>
          <p:cNvSpPr/>
          <p:nvPr/>
        </p:nvSpPr>
        <p:spPr>
          <a:xfrm>
            <a:off x="8986517"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12</a:t>
            </a:r>
            <a:endParaRPr lang="zh-CN" altLang="en-US" sz="1600" dirty="0">
              <a:ea typeface="Alibaba PuHuiTi R"/>
            </a:endParaRPr>
          </a:p>
        </p:txBody>
      </p:sp>
      <p:sp>
        <p:nvSpPr>
          <p:cNvPr id="54" name="矩形 53">
            <a:extLst>
              <a:ext uri="{FF2B5EF4-FFF2-40B4-BE49-F238E27FC236}">
                <a16:creationId xmlns:a16="http://schemas.microsoft.com/office/drawing/2014/main" id="{06CE39A7-A2B7-4174-A362-2B4DD47368C3}"/>
              </a:ext>
            </a:extLst>
          </p:cNvPr>
          <p:cNvSpPr/>
          <p:nvPr/>
        </p:nvSpPr>
        <p:spPr>
          <a:xfrm>
            <a:off x="9651151"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13</a:t>
            </a:r>
            <a:endParaRPr lang="zh-CN" altLang="en-US" sz="1600" dirty="0">
              <a:ea typeface="Alibaba PuHuiTi R"/>
            </a:endParaRPr>
          </a:p>
        </p:txBody>
      </p:sp>
      <p:sp>
        <p:nvSpPr>
          <p:cNvPr id="55" name="矩形 54">
            <a:extLst>
              <a:ext uri="{FF2B5EF4-FFF2-40B4-BE49-F238E27FC236}">
                <a16:creationId xmlns:a16="http://schemas.microsoft.com/office/drawing/2014/main" id="{2ACD3C91-D719-47AA-BE19-EE1069C67352}"/>
              </a:ext>
            </a:extLst>
          </p:cNvPr>
          <p:cNvSpPr/>
          <p:nvPr/>
        </p:nvSpPr>
        <p:spPr>
          <a:xfrm>
            <a:off x="10349651"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14</a:t>
            </a:r>
            <a:endParaRPr lang="zh-CN" altLang="en-US" sz="1600" dirty="0">
              <a:ea typeface="Alibaba PuHuiTi R"/>
            </a:endParaRPr>
          </a:p>
        </p:txBody>
      </p:sp>
      <p:sp>
        <p:nvSpPr>
          <p:cNvPr id="56" name="矩形 55">
            <a:extLst>
              <a:ext uri="{FF2B5EF4-FFF2-40B4-BE49-F238E27FC236}">
                <a16:creationId xmlns:a16="http://schemas.microsoft.com/office/drawing/2014/main" id="{62993B67-AA05-4911-8E25-2158D6DF5F10}"/>
              </a:ext>
            </a:extLst>
          </p:cNvPr>
          <p:cNvSpPr/>
          <p:nvPr/>
        </p:nvSpPr>
        <p:spPr>
          <a:xfrm>
            <a:off x="11014284"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15</a:t>
            </a:r>
            <a:endParaRPr lang="zh-CN" altLang="en-US" sz="1600" dirty="0">
              <a:ea typeface="Alibaba PuHuiTi R"/>
            </a:endParaRPr>
          </a:p>
        </p:txBody>
      </p:sp>
      <p:sp>
        <p:nvSpPr>
          <p:cNvPr id="2" name="矩形 1">
            <a:extLst>
              <a:ext uri="{FF2B5EF4-FFF2-40B4-BE49-F238E27FC236}">
                <a16:creationId xmlns:a16="http://schemas.microsoft.com/office/drawing/2014/main" id="{860589D5-1847-42D9-8DAE-F5A00A5BCE2A}"/>
              </a:ext>
            </a:extLst>
          </p:cNvPr>
          <p:cNvSpPr/>
          <p:nvPr/>
        </p:nvSpPr>
        <p:spPr>
          <a:xfrm>
            <a:off x="10576134" y="1079500"/>
            <a:ext cx="816249"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table[]</a:t>
            </a:r>
            <a:endParaRPr lang="zh-CN" altLang="en-US" sz="1600" dirty="0">
              <a:ea typeface="Alibaba PuHuiTi R"/>
            </a:endParaRPr>
          </a:p>
        </p:txBody>
      </p:sp>
      <p:cxnSp>
        <p:nvCxnSpPr>
          <p:cNvPr id="15" name="直接连接符 14">
            <a:extLst>
              <a:ext uri="{FF2B5EF4-FFF2-40B4-BE49-F238E27FC236}">
                <a16:creationId xmlns:a16="http://schemas.microsoft.com/office/drawing/2014/main" id="{D671929C-2148-49E8-A006-C260BCD403FD}"/>
              </a:ext>
            </a:extLst>
          </p:cNvPr>
          <p:cNvCxnSpPr>
            <a:cxnSpLocks/>
          </p:cNvCxnSpPr>
          <p:nvPr/>
        </p:nvCxnSpPr>
        <p:spPr>
          <a:xfrm>
            <a:off x="41351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CDF6C1CE-FD63-4075-9399-FE636D792325}"/>
              </a:ext>
            </a:extLst>
          </p:cNvPr>
          <p:cNvCxnSpPr>
            <a:cxnSpLocks/>
          </p:cNvCxnSpPr>
          <p:nvPr/>
        </p:nvCxnSpPr>
        <p:spPr>
          <a:xfrm>
            <a:off x="34620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AF49D4C-23B2-49F7-88D1-1BD9681222EB}"/>
              </a:ext>
            </a:extLst>
          </p:cNvPr>
          <p:cNvCxnSpPr>
            <a:cxnSpLocks/>
          </p:cNvCxnSpPr>
          <p:nvPr/>
        </p:nvCxnSpPr>
        <p:spPr>
          <a:xfrm>
            <a:off x="7696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F8D7D69A-1253-4BDF-B027-ACF7E4A1A313}"/>
              </a:ext>
            </a:extLst>
          </p:cNvPr>
          <p:cNvCxnSpPr>
            <a:cxnSpLocks/>
          </p:cNvCxnSpPr>
          <p:nvPr/>
        </p:nvCxnSpPr>
        <p:spPr>
          <a:xfrm>
            <a:off x="14469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Rectangle 1">
            <a:extLst>
              <a:ext uri="{FF2B5EF4-FFF2-40B4-BE49-F238E27FC236}">
                <a16:creationId xmlns:a16="http://schemas.microsoft.com/office/drawing/2014/main" id="{CB51D82D-6BC6-43E7-B61D-0E42A9ED4A81}"/>
              </a:ext>
            </a:extLst>
          </p:cNvPr>
          <p:cNvSpPr>
            <a:spLocks noChangeArrowheads="1"/>
          </p:cNvSpPr>
          <p:nvPr/>
        </p:nvSpPr>
        <p:spPr bwMode="auto">
          <a:xfrm>
            <a:off x="769617" y="2882373"/>
            <a:ext cx="3760898" cy="700898"/>
          </a:xfrm>
          <a:prstGeom prst="rect">
            <a:avLst/>
          </a:prstGeom>
          <a:solidFill>
            <a:srgbClr val="F9FBF9"/>
          </a:solidFill>
          <a:ln w="9525" cap="flat" cmpd="sng" algn="ctr">
            <a:solidFill>
              <a:srgbClr val="F9FBF9"/>
            </a:solidFill>
            <a:prstDash val="solid"/>
            <a:round/>
            <a:headEnd type="none" w="med" len="med"/>
            <a:tailEnd type="none" w="med" len="med"/>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wrap="squar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eaLnBrk="0" fontAlgn="base" hangingPunct="0">
              <a:lnSpc>
                <a:spcPct val="150000"/>
              </a:lnSpc>
              <a:spcBef>
                <a:spcPct val="0"/>
              </a:spcBef>
              <a:spcAft>
                <a:spcPct val="0"/>
              </a:spcAft>
            </a:pPr>
            <a:r>
              <a:rPr lang="zh-CN" altLang="zh-CN" sz="1400" dirty="0">
                <a:solidFill>
                  <a:srgbClr val="000000"/>
                </a:solidFill>
                <a:latin typeface="Consolas" panose="020B0609020204030204" pitchFamily="49" charset="0"/>
                <a:ea typeface="JetBrains Mono"/>
              </a:rPr>
              <a:t>Set</a:t>
            </a:r>
            <a:r>
              <a:rPr lang="zh-CN" altLang="zh-CN" sz="1400" dirty="0">
                <a:solidFill>
                  <a:srgbClr val="080808"/>
                </a:solidFill>
                <a:latin typeface="Consolas" panose="020B0609020204030204" pitchFamily="49" charset="0"/>
                <a:ea typeface="JetBrains Mono"/>
              </a:rPr>
              <a:t>&lt;</a:t>
            </a:r>
            <a:r>
              <a:rPr lang="zh-CN" altLang="zh-CN" sz="1400" dirty="0">
                <a:solidFill>
                  <a:srgbClr val="000000"/>
                </a:solidFill>
                <a:latin typeface="Consolas" panose="020B0609020204030204" pitchFamily="49" charset="0"/>
                <a:ea typeface="JetBrains Mono"/>
              </a:rPr>
              <a:t>String</a:t>
            </a:r>
            <a:r>
              <a:rPr lang="zh-CN" altLang="zh-CN" sz="1400" dirty="0">
                <a:solidFill>
                  <a:srgbClr val="080808"/>
                </a:solidFill>
                <a:latin typeface="Consolas" panose="020B0609020204030204" pitchFamily="49" charset="0"/>
                <a:ea typeface="JetBrains Mono"/>
              </a:rPr>
              <a:t>&gt; </a:t>
            </a:r>
            <a:r>
              <a:rPr lang="zh-CN" altLang="zh-CN" sz="1400" dirty="0">
                <a:solidFill>
                  <a:srgbClr val="000000"/>
                </a:solidFill>
                <a:latin typeface="Consolas" panose="020B0609020204030204" pitchFamily="49" charset="0"/>
                <a:ea typeface="JetBrains Mono"/>
              </a:rPr>
              <a:t>set </a:t>
            </a:r>
            <a:r>
              <a:rPr lang="zh-CN" altLang="zh-CN" sz="1400" dirty="0">
                <a:solidFill>
                  <a:srgbClr val="080808"/>
                </a:solidFill>
                <a:latin typeface="Consolas" panose="020B0609020204030204" pitchFamily="49" charset="0"/>
                <a:ea typeface="JetBrains Mono"/>
              </a:rPr>
              <a:t>= </a:t>
            </a:r>
            <a:r>
              <a:rPr lang="zh-CN" altLang="zh-CN" sz="1400" dirty="0">
                <a:solidFill>
                  <a:srgbClr val="0033B3"/>
                </a:solidFill>
                <a:latin typeface="Consolas" panose="020B0609020204030204" pitchFamily="49" charset="0"/>
                <a:ea typeface="JetBrains Mono"/>
              </a:rPr>
              <a:t>new </a:t>
            </a:r>
            <a:r>
              <a:rPr lang="zh-CN" altLang="zh-CN" sz="1400" dirty="0">
                <a:solidFill>
                  <a:srgbClr val="080808"/>
                </a:solidFill>
                <a:latin typeface="Consolas" panose="020B0609020204030204" pitchFamily="49" charset="0"/>
                <a:ea typeface="JetBrains Mono"/>
              </a:rPr>
              <a:t>HashSet&lt;&gt;();</a:t>
            </a:r>
            <a:br>
              <a:rPr lang="zh-CN" altLang="zh-CN" sz="1400" dirty="0">
                <a:solidFill>
                  <a:srgbClr val="080808"/>
                </a:solidFill>
                <a:latin typeface="Consolas" panose="020B0609020204030204" pitchFamily="49" charset="0"/>
                <a:ea typeface="JetBrains Mono"/>
              </a:rPr>
            </a:br>
            <a:r>
              <a:rPr lang="zh-CN" altLang="zh-CN" sz="1400" dirty="0">
                <a:solidFill>
                  <a:srgbClr val="000000"/>
                </a:solidFill>
                <a:latin typeface="Consolas" panose="020B0609020204030204" pitchFamily="49" charset="0"/>
                <a:ea typeface="JetBrains Mono"/>
              </a:rPr>
              <a:t>set</a:t>
            </a:r>
            <a:r>
              <a:rPr lang="zh-CN" altLang="zh-CN" sz="1400" dirty="0">
                <a:solidFill>
                  <a:srgbClr val="080808"/>
                </a:solidFill>
                <a:latin typeface="Consolas" panose="020B0609020204030204" pitchFamily="49" charset="0"/>
                <a:ea typeface="JetBrains Mono"/>
              </a:rPr>
              <a:t>.add(</a:t>
            </a:r>
            <a:r>
              <a:rPr lang="zh-CN" altLang="zh-CN" sz="1400" dirty="0">
                <a:solidFill>
                  <a:srgbClr val="067D17"/>
                </a:solidFill>
                <a:latin typeface="Consolas" panose="020B0609020204030204" pitchFamily="49" charset="0"/>
                <a:ea typeface="JetBrains Mono"/>
              </a:rPr>
              <a:t>"</a:t>
            </a:r>
            <a:r>
              <a:rPr lang="zh-CN" altLang="zh-CN" sz="1400" dirty="0">
                <a:solidFill>
                  <a:srgbClr val="067D17"/>
                </a:solidFill>
                <a:latin typeface="Consolas" panose="020B0609020204030204" pitchFamily="49" charset="0"/>
              </a:rPr>
              <a:t>数据</a:t>
            </a:r>
            <a:r>
              <a:rPr lang="en-US" altLang="zh-CN" sz="1400" dirty="0">
                <a:solidFill>
                  <a:srgbClr val="067D17"/>
                </a:solidFill>
                <a:latin typeface="Consolas" panose="020B0609020204030204" pitchFamily="49" charset="0"/>
              </a:rPr>
              <a:t>1</a:t>
            </a:r>
            <a:r>
              <a:rPr lang="zh-CN" altLang="zh-CN" sz="1400" dirty="0">
                <a:solidFill>
                  <a:srgbClr val="067D17"/>
                </a:solidFill>
                <a:latin typeface="Consolas" panose="020B0609020204030204" pitchFamily="49" charset="0"/>
                <a:ea typeface="JetBrains Mono"/>
              </a:rPr>
              <a:t>"</a:t>
            </a:r>
            <a:r>
              <a:rPr lang="zh-CN" altLang="zh-CN" sz="1400" dirty="0">
                <a:solidFill>
                  <a:srgbClr val="080808"/>
                </a:solidFill>
                <a:latin typeface="Consolas" panose="020B0609020204030204" pitchFamily="49" charset="0"/>
                <a:ea typeface="JetBrains Mono"/>
              </a:rPr>
              <a:t>);</a:t>
            </a:r>
            <a:endParaRPr lang="zh-CN" altLang="zh-CN" sz="3200" dirty="0">
              <a:latin typeface="Consolas" panose="020B0609020204030204" pitchFamily="49" charset="0"/>
            </a:endParaRPr>
          </a:p>
        </p:txBody>
      </p:sp>
      <p:sp>
        <p:nvSpPr>
          <p:cNvPr id="57" name="矩形 56">
            <a:extLst>
              <a:ext uri="{FF2B5EF4-FFF2-40B4-BE49-F238E27FC236}">
                <a16:creationId xmlns:a16="http://schemas.microsoft.com/office/drawing/2014/main" id="{1D7A421E-9220-5FCF-673E-692FFA7749C4}"/>
              </a:ext>
            </a:extLst>
          </p:cNvPr>
          <p:cNvSpPr/>
          <p:nvPr/>
        </p:nvSpPr>
        <p:spPr>
          <a:xfrm>
            <a:off x="5409012" y="2814631"/>
            <a:ext cx="6889663" cy="1011880"/>
          </a:xfrm>
          <a:prstGeom prst="rect">
            <a:avLst/>
          </a:prstGeom>
        </p:spPr>
        <p:txBody>
          <a:bodyPr wrap="square">
            <a:spAutoFit/>
          </a:bodyPr>
          <a:lstStyle/>
          <a:p>
            <a:pPr marL="342900" indent="-342900">
              <a:lnSpc>
                <a:spcPct val="2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创建一个默认长度</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16</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的数组，默认加载因子为</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0.75</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，数组名</a:t>
            </a:r>
            <a:r>
              <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table</a:t>
            </a:r>
          </a:p>
          <a:p>
            <a:pPr>
              <a:lnSpc>
                <a:spcPct val="200000"/>
              </a:lnSpc>
              <a:defRPr/>
            </a:pPr>
            <a:r>
              <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p>
        </p:txBody>
      </p:sp>
      <p:sp>
        <p:nvSpPr>
          <p:cNvPr id="3" name="标题 2">
            <a:extLst>
              <a:ext uri="{FF2B5EF4-FFF2-40B4-BE49-F238E27FC236}">
                <a16:creationId xmlns:a16="http://schemas.microsoft.com/office/drawing/2014/main" id="{D4C521C5-2096-99F6-9B09-62A60321E101}"/>
              </a:ext>
            </a:extLst>
          </p:cNvPr>
          <p:cNvSpPr>
            <a:spLocks noGrp="1"/>
          </p:cNvSpPr>
          <p:nvPr>
            <p:ph type="title"/>
          </p:nvPr>
        </p:nvSpPr>
        <p:spPr/>
        <p:txBody>
          <a:bodyPr/>
          <a:lstStyle/>
          <a:p>
            <a:r>
              <a:rPr lang="en-US" altLang="zh-CN" dirty="0"/>
              <a:t>HashSet</a:t>
            </a:r>
            <a:r>
              <a:rPr lang="zh-CN" altLang="en-US" dirty="0"/>
              <a:t>集合的底层原理</a:t>
            </a:r>
          </a:p>
        </p:txBody>
      </p:sp>
    </p:spTree>
    <p:extLst>
      <p:ext uri="{BB962C8B-B14F-4D97-AF65-F5344CB8AC3E}">
        <p14:creationId xmlns:p14="http://schemas.microsoft.com/office/powerpoint/2010/main" val="38833775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fade">
                                      <p:cBhvr>
                                        <p:cTn id="11" dur="500"/>
                                        <p:tgtEl>
                                          <p:spTgt spid="5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right)">
                                      <p:cBhvr>
                                        <p:cTn id="16" dur="500"/>
                                        <p:tgtEl>
                                          <p:spTgt spid="5"/>
                                        </p:tgtEl>
                                      </p:cBhvr>
                                    </p:animEffect>
                                  </p:childTnLst>
                                </p:cTn>
                              </p:par>
                              <p:par>
                                <p:cTn id="17" presetID="22" presetClass="entr" presetSubtype="8"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4"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par>
                                <p:cTn id="23" presetID="22" presetClass="entr" presetSubtype="1"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up)">
                                      <p:cBhvr>
                                        <p:cTn id="25" dur="500"/>
                                        <p:tgtEl>
                                          <p:spTgt spid="9"/>
                                        </p:tgtEl>
                                      </p:cBhvr>
                                    </p:animEffect>
                                  </p:childTnLst>
                                </p:cTn>
                              </p:par>
                              <p:par>
                                <p:cTn id="26" presetID="22" presetClass="entr" presetSubtype="4"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down)">
                                      <p:cBhvr>
                                        <p:cTn id="28" dur="500"/>
                                        <p:tgtEl>
                                          <p:spTgt spid="11"/>
                                        </p:tgtEl>
                                      </p:cBhvr>
                                    </p:animEffect>
                                  </p:childTnLst>
                                </p:cTn>
                              </p:par>
                              <p:par>
                                <p:cTn id="29" presetID="22" presetClass="entr" presetSubtype="1"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up)">
                                      <p:cBhvr>
                                        <p:cTn id="31" dur="500"/>
                                        <p:tgtEl>
                                          <p:spTgt spid="13"/>
                                        </p:tgtEl>
                                      </p:cBhvr>
                                    </p:animEffect>
                                  </p:childTnLst>
                                </p:cTn>
                              </p:par>
                              <p:par>
                                <p:cTn id="32" presetID="22" presetClass="entr" presetSubtype="4"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down)">
                                      <p:cBhvr>
                                        <p:cTn id="34" dur="500"/>
                                        <p:tgtEl>
                                          <p:spTgt spid="14"/>
                                        </p:tgtEl>
                                      </p:cBhvr>
                                    </p:animEffect>
                                  </p:childTnLst>
                                </p:cTn>
                              </p:par>
                              <p:par>
                                <p:cTn id="35" presetID="22" presetClass="entr" presetSubtype="1"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up)">
                                      <p:cBhvr>
                                        <p:cTn id="37" dur="500"/>
                                        <p:tgtEl>
                                          <p:spTgt spid="15"/>
                                        </p:tgtEl>
                                      </p:cBhvr>
                                    </p:animEffect>
                                  </p:childTnLst>
                                </p:cTn>
                              </p:par>
                              <p:par>
                                <p:cTn id="38" presetID="22" presetClass="entr" presetSubtype="4"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down)">
                                      <p:cBhvr>
                                        <p:cTn id="40" dur="500"/>
                                        <p:tgtEl>
                                          <p:spTgt spid="16"/>
                                        </p:tgtEl>
                                      </p:cBhvr>
                                    </p:animEffect>
                                  </p:childTnLst>
                                </p:cTn>
                              </p:par>
                              <p:par>
                                <p:cTn id="41" presetID="22" presetClass="entr" presetSubtype="1"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up)">
                                      <p:cBhvr>
                                        <p:cTn id="43" dur="500"/>
                                        <p:tgtEl>
                                          <p:spTgt spid="17"/>
                                        </p:tgtEl>
                                      </p:cBhvr>
                                    </p:animEffect>
                                  </p:childTnLst>
                                </p:cTn>
                              </p:par>
                              <p:par>
                                <p:cTn id="44" presetID="22" presetClass="entr" presetSubtype="4"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down)">
                                      <p:cBhvr>
                                        <p:cTn id="46" dur="500"/>
                                        <p:tgtEl>
                                          <p:spTgt spid="18"/>
                                        </p:tgtEl>
                                      </p:cBhvr>
                                    </p:animEffect>
                                  </p:childTnLst>
                                </p:cTn>
                              </p:par>
                              <p:par>
                                <p:cTn id="47" presetID="22" presetClass="entr" presetSubtype="1"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up)">
                                      <p:cBhvr>
                                        <p:cTn id="49" dur="500"/>
                                        <p:tgtEl>
                                          <p:spTgt spid="19"/>
                                        </p:tgtEl>
                                      </p:cBhvr>
                                    </p:animEffect>
                                  </p:childTnLst>
                                </p:cTn>
                              </p:par>
                              <p:par>
                                <p:cTn id="50" presetID="22" presetClass="entr" presetSubtype="4"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down)">
                                      <p:cBhvr>
                                        <p:cTn id="52" dur="500"/>
                                        <p:tgtEl>
                                          <p:spTgt spid="20"/>
                                        </p:tgtEl>
                                      </p:cBhvr>
                                    </p:animEffect>
                                  </p:childTnLst>
                                </p:cTn>
                              </p:par>
                              <p:par>
                                <p:cTn id="53" presetID="22" presetClass="entr" presetSubtype="1"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up)">
                                      <p:cBhvr>
                                        <p:cTn id="55" dur="500"/>
                                        <p:tgtEl>
                                          <p:spTgt spid="21"/>
                                        </p:tgtEl>
                                      </p:cBhvr>
                                    </p:animEffect>
                                  </p:childTnLst>
                                </p:cTn>
                              </p:par>
                              <p:par>
                                <p:cTn id="56" presetID="22" presetClass="entr" presetSubtype="4" fill="hold"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down)">
                                      <p:cBhvr>
                                        <p:cTn id="58" dur="500"/>
                                        <p:tgtEl>
                                          <p:spTgt spid="22"/>
                                        </p:tgtEl>
                                      </p:cBhvr>
                                    </p:animEffect>
                                  </p:childTnLst>
                                </p:cTn>
                              </p:par>
                              <p:par>
                                <p:cTn id="59" presetID="22" presetClass="entr" presetSubtype="1" fill="hold"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wipe(up)">
                                      <p:cBhvr>
                                        <p:cTn id="61" dur="500"/>
                                        <p:tgtEl>
                                          <p:spTgt spid="23"/>
                                        </p:tgtEl>
                                      </p:cBhvr>
                                    </p:animEffect>
                                  </p:childTnLst>
                                </p:cTn>
                              </p:par>
                              <p:par>
                                <p:cTn id="62" presetID="22" presetClass="entr" presetSubtype="4" fill="hold"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wipe(down)">
                                      <p:cBhvr>
                                        <p:cTn id="64" dur="500"/>
                                        <p:tgtEl>
                                          <p:spTgt spid="24"/>
                                        </p:tgtEl>
                                      </p:cBhvr>
                                    </p:animEffect>
                                  </p:childTnLst>
                                </p:cTn>
                              </p:par>
                              <p:par>
                                <p:cTn id="65" presetID="22" presetClass="entr" presetSubtype="1" fill="hold"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wipe(up)">
                                      <p:cBhvr>
                                        <p:cTn id="67" dur="500"/>
                                        <p:tgtEl>
                                          <p:spTgt spid="25"/>
                                        </p:tgtEl>
                                      </p:cBhvr>
                                    </p:animEffect>
                                  </p:childTnLst>
                                </p:cTn>
                              </p:par>
                              <p:par>
                                <p:cTn id="68" presetID="22" presetClass="entr" presetSubtype="4" fill="hold"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wipe(down)">
                                      <p:cBhvr>
                                        <p:cTn id="70" dur="500"/>
                                        <p:tgtEl>
                                          <p:spTgt spid="26"/>
                                        </p:tgtEl>
                                      </p:cBhvr>
                                    </p:animEffect>
                                  </p:childTnLst>
                                </p:cTn>
                              </p:par>
                            </p:childTnLst>
                          </p:cTn>
                        </p:par>
                        <p:par>
                          <p:cTn id="71" fill="hold" nodeType="afterGroup">
                            <p:stCondLst>
                              <p:cond delay="500"/>
                            </p:stCondLst>
                            <p:childTnLst>
                              <p:par>
                                <p:cTn id="72" presetID="1" presetClass="entr" presetSubtype="0" fill="hold" grpId="0" nodeType="afterEffect">
                                  <p:stCondLst>
                                    <p:cond delay="100"/>
                                  </p:stCondLst>
                                  <p:childTnLst>
                                    <p:set>
                                      <p:cBhvr>
                                        <p:cTn id="73" dur="1" fill="hold">
                                          <p:stCondLst>
                                            <p:cond delay="0"/>
                                          </p:stCondLst>
                                        </p:cTn>
                                        <p:tgtEl>
                                          <p:spTgt spid="10"/>
                                        </p:tgtEl>
                                        <p:attrNameLst>
                                          <p:attrName>style.visibility</p:attrName>
                                        </p:attrNameLst>
                                      </p:cBhvr>
                                      <p:to>
                                        <p:strVal val="visible"/>
                                      </p:to>
                                    </p:set>
                                  </p:childTnLst>
                                </p:cTn>
                              </p:par>
                            </p:childTnLst>
                          </p:cTn>
                        </p:par>
                        <p:par>
                          <p:cTn id="74" fill="hold" nodeType="afterGroup">
                            <p:stCondLst>
                              <p:cond delay="600"/>
                            </p:stCondLst>
                            <p:childTnLst>
                              <p:par>
                                <p:cTn id="75" presetID="1" presetClass="entr" presetSubtype="0" fill="hold" grpId="0" nodeType="afterEffect">
                                  <p:stCondLst>
                                    <p:cond delay="100"/>
                                  </p:stCondLst>
                                  <p:childTnLst>
                                    <p:set>
                                      <p:cBhvr>
                                        <p:cTn id="76" dur="1" fill="hold">
                                          <p:stCondLst>
                                            <p:cond delay="0"/>
                                          </p:stCondLst>
                                        </p:cTn>
                                        <p:tgtEl>
                                          <p:spTgt spid="12"/>
                                        </p:tgtEl>
                                        <p:attrNameLst>
                                          <p:attrName>style.visibility</p:attrName>
                                        </p:attrNameLst>
                                      </p:cBhvr>
                                      <p:to>
                                        <p:strVal val="visible"/>
                                      </p:to>
                                    </p:set>
                                  </p:childTnLst>
                                </p:cTn>
                              </p:par>
                            </p:childTnLst>
                          </p:cTn>
                        </p:par>
                        <p:par>
                          <p:cTn id="77" fill="hold" nodeType="afterGroup">
                            <p:stCondLst>
                              <p:cond delay="700"/>
                            </p:stCondLst>
                            <p:childTnLst>
                              <p:par>
                                <p:cTn id="78" presetID="1" presetClass="entr" presetSubtype="0" fill="hold" grpId="0" nodeType="afterEffect">
                                  <p:stCondLst>
                                    <p:cond delay="100"/>
                                  </p:stCondLst>
                                  <p:childTnLst>
                                    <p:set>
                                      <p:cBhvr>
                                        <p:cTn id="79" dur="1" fill="hold">
                                          <p:stCondLst>
                                            <p:cond delay="0"/>
                                          </p:stCondLst>
                                        </p:cTn>
                                        <p:tgtEl>
                                          <p:spTgt spid="27"/>
                                        </p:tgtEl>
                                        <p:attrNameLst>
                                          <p:attrName>style.visibility</p:attrName>
                                        </p:attrNameLst>
                                      </p:cBhvr>
                                      <p:to>
                                        <p:strVal val="visible"/>
                                      </p:to>
                                    </p:set>
                                  </p:childTnLst>
                                </p:cTn>
                              </p:par>
                            </p:childTnLst>
                          </p:cTn>
                        </p:par>
                        <p:par>
                          <p:cTn id="80" fill="hold" nodeType="afterGroup">
                            <p:stCondLst>
                              <p:cond delay="800"/>
                            </p:stCondLst>
                            <p:childTnLst>
                              <p:par>
                                <p:cTn id="81" presetID="1" presetClass="entr" presetSubtype="0" fill="hold" grpId="0" nodeType="afterEffect">
                                  <p:stCondLst>
                                    <p:cond delay="100"/>
                                  </p:stCondLst>
                                  <p:childTnLst>
                                    <p:set>
                                      <p:cBhvr>
                                        <p:cTn id="82" dur="1" fill="hold">
                                          <p:stCondLst>
                                            <p:cond delay="0"/>
                                          </p:stCondLst>
                                        </p:cTn>
                                        <p:tgtEl>
                                          <p:spTgt spid="28"/>
                                        </p:tgtEl>
                                        <p:attrNameLst>
                                          <p:attrName>style.visibility</p:attrName>
                                        </p:attrNameLst>
                                      </p:cBhvr>
                                      <p:to>
                                        <p:strVal val="visible"/>
                                      </p:to>
                                    </p:set>
                                  </p:childTnLst>
                                </p:cTn>
                              </p:par>
                            </p:childTnLst>
                          </p:cTn>
                        </p:par>
                        <p:par>
                          <p:cTn id="83" fill="hold" nodeType="afterGroup">
                            <p:stCondLst>
                              <p:cond delay="900"/>
                            </p:stCondLst>
                            <p:childTnLst>
                              <p:par>
                                <p:cTn id="84" presetID="1" presetClass="entr" presetSubtype="0" fill="hold" grpId="0" nodeType="afterEffect">
                                  <p:stCondLst>
                                    <p:cond delay="100"/>
                                  </p:stCondLst>
                                  <p:childTnLst>
                                    <p:set>
                                      <p:cBhvr>
                                        <p:cTn id="85" dur="1" fill="hold">
                                          <p:stCondLst>
                                            <p:cond delay="0"/>
                                          </p:stCondLst>
                                        </p:cTn>
                                        <p:tgtEl>
                                          <p:spTgt spid="29"/>
                                        </p:tgtEl>
                                        <p:attrNameLst>
                                          <p:attrName>style.visibility</p:attrName>
                                        </p:attrNameLst>
                                      </p:cBhvr>
                                      <p:to>
                                        <p:strVal val="visible"/>
                                      </p:to>
                                    </p:set>
                                  </p:childTnLst>
                                </p:cTn>
                              </p:par>
                            </p:childTnLst>
                          </p:cTn>
                        </p:par>
                        <p:par>
                          <p:cTn id="86" fill="hold" nodeType="afterGroup">
                            <p:stCondLst>
                              <p:cond delay="1000"/>
                            </p:stCondLst>
                            <p:childTnLst>
                              <p:par>
                                <p:cTn id="87" presetID="1" presetClass="entr" presetSubtype="0" fill="hold" grpId="0" nodeType="afterEffect">
                                  <p:stCondLst>
                                    <p:cond delay="100"/>
                                  </p:stCondLst>
                                  <p:childTnLst>
                                    <p:set>
                                      <p:cBhvr>
                                        <p:cTn id="88" dur="1" fill="hold">
                                          <p:stCondLst>
                                            <p:cond delay="0"/>
                                          </p:stCondLst>
                                        </p:cTn>
                                        <p:tgtEl>
                                          <p:spTgt spid="30"/>
                                        </p:tgtEl>
                                        <p:attrNameLst>
                                          <p:attrName>style.visibility</p:attrName>
                                        </p:attrNameLst>
                                      </p:cBhvr>
                                      <p:to>
                                        <p:strVal val="visible"/>
                                      </p:to>
                                    </p:set>
                                  </p:childTnLst>
                                </p:cTn>
                              </p:par>
                            </p:childTnLst>
                          </p:cTn>
                        </p:par>
                        <p:par>
                          <p:cTn id="89" fill="hold" nodeType="afterGroup">
                            <p:stCondLst>
                              <p:cond delay="1100"/>
                            </p:stCondLst>
                            <p:childTnLst>
                              <p:par>
                                <p:cTn id="90" presetID="1" presetClass="entr" presetSubtype="0" fill="hold" grpId="0" nodeType="afterEffect">
                                  <p:stCondLst>
                                    <p:cond delay="100"/>
                                  </p:stCondLst>
                                  <p:childTnLst>
                                    <p:set>
                                      <p:cBhvr>
                                        <p:cTn id="91" dur="1" fill="hold">
                                          <p:stCondLst>
                                            <p:cond delay="0"/>
                                          </p:stCondLst>
                                        </p:cTn>
                                        <p:tgtEl>
                                          <p:spTgt spid="31"/>
                                        </p:tgtEl>
                                        <p:attrNameLst>
                                          <p:attrName>style.visibility</p:attrName>
                                        </p:attrNameLst>
                                      </p:cBhvr>
                                      <p:to>
                                        <p:strVal val="visible"/>
                                      </p:to>
                                    </p:set>
                                  </p:childTnLst>
                                </p:cTn>
                              </p:par>
                            </p:childTnLst>
                          </p:cTn>
                        </p:par>
                        <p:par>
                          <p:cTn id="92" fill="hold" nodeType="afterGroup">
                            <p:stCondLst>
                              <p:cond delay="1200"/>
                            </p:stCondLst>
                            <p:childTnLst>
                              <p:par>
                                <p:cTn id="93" presetID="1" presetClass="entr" presetSubtype="0" fill="hold" grpId="0" nodeType="afterEffect">
                                  <p:stCondLst>
                                    <p:cond delay="100"/>
                                  </p:stCondLst>
                                  <p:childTnLst>
                                    <p:set>
                                      <p:cBhvr>
                                        <p:cTn id="94" dur="1" fill="hold">
                                          <p:stCondLst>
                                            <p:cond delay="0"/>
                                          </p:stCondLst>
                                        </p:cTn>
                                        <p:tgtEl>
                                          <p:spTgt spid="32"/>
                                        </p:tgtEl>
                                        <p:attrNameLst>
                                          <p:attrName>style.visibility</p:attrName>
                                        </p:attrNameLst>
                                      </p:cBhvr>
                                      <p:to>
                                        <p:strVal val="visible"/>
                                      </p:to>
                                    </p:set>
                                  </p:childTnLst>
                                </p:cTn>
                              </p:par>
                            </p:childTnLst>
                          </p:cTn>
                        </p:par>
                        <p:par>
                          <p:cTn id="95" fill="hold" nodeType="afterGroup">
                            <p:stCondLst>
                              <p:cond delay="1300"/>
                            </p:stCondLst>
                            <p:childTnLst>
                              <p:par>
                                <p:cTn id="96" presetID="1" presetClass="entr" presetSubtype="0" fill="hold" grpId="0" nodeType="afterEffect">
                                  <p:stCondLst>
                                    <p:cond delay="100"/>
                                  </p:stCondLst>
                                  <p:childTnLst>
                                    <p:set>
                                      <p:cBhvr>
                                        <p:cTn id="97" dur="1" fill="hold">
                                          <p:stCondLst>
                                            <p:cond delay="0"/>
                                          </p:stCondLst>
                                        </p:cTn>
                                        <p:tgtEl>
                                          <p:spTgt spid="33"/>
                                        </p:tgtEl>
                                        <p:attrNameLst>
                                          <p:attrName>style.visibility</p:attrName>
                                        </p:attrNameLst>
                                      </p:cBhvr>
                                      <p:to>
                                        <p:strVal val="visible"/>
                                      </p:to>
                                    </p:set>
                                  </p:childTnLst>
                                </p:cTn>
                              </p:par>
                            </p:childTnLst>
                          </p:cTn>
                        </p:par>
                        <p:par>
                          <p:cTn id="98" fill="hold" nodeType="afterGroup">
                            <p:stCondLst>
                              <p:cond delay="1400"/>
                            </p:stCondLst>
                            <p:childTnLst>
                              <p:par>
                                <p:cTn id="99" presetID="1" presetClass="entr" presetSubtype="0" fill="hold" grpId="0" nodeType="afterEffect">
                                  <p:stCondLst>
                                    <p:cond delay="100"/>
                                  </p:stCondLst>
                                  <p:childTnLst>
                                    <p:set>
                                      <p:cBhvr>
                                        <p:cTn id="100" dur="1" fill="hold">
                                          <p:stCondLst>
                                            <p:cond delay="0"/>
                                          </p:stCondLst>
                                        </p:cTn>
                                        <p:tgtEl>
                                          <p:spTgt spid="34"/>
                                        </p:tgtEl>
                                        <p:attrNameLst>
                                          <p:attrName>style.visibility</p:attrName>
                                        </p:attrNameLst>
                                      </p:cBhvr>
                                      <p:to>
                                        <p:strVal val="visible"/>
                                      </p:to>
                                    </p:set>
                                  </p:childTnLst>
                                </p:cTn>
                              </p:par>
                            </p:childTnLst>
                          </p:cTn>
                        </p:par>
                        <p:par>
                          <p:cTn id="101" fill="hold" nodeType="afterGroup">
                            <p:stCondLst>
                              <p:cond delay="1500"/>
                            </p:stCondLst>
                            <p:childTnLst>
                              <p:par>
                                <p:cTn id="102" presetID="1" presetClass="entr" presetSubtype="0" fill="hold" grpId="0" nodeType="afterEffect">
                                  <p:stCondLst>
                                    <p:cond delay="100"/>
                                  </p:stCondLst>
                                  <p:childTnLst>
                                    <p:set>
                                      <p:cBhvr>
                                        <p:cTn id="103" dur="1" fill="hold">
                                          <p:stCondLst>
                                            <p:cond delay="0"/>
                                          </p:stCondLst>
                                        </p:cTn>
                                        <p:tgtEl>
                                          <p:spTgt spid="35"/>
                                        </p:tgtEl>
                                        <p:attrNameLst>
                                          <p:attrName>style.visibility</p:attrName>
                                        </p:attrNameLst>
                                      </p:cBhvr>
                                      <p:to>
                                        <p:strVal val="visible"/>
                                      </p:to>
                                    </p:set>
                                  </p:childTnLst>
                                </p:cTn>
                              </p:par>
                            </p:childTnLst>
                          </p:cTn>
                        </p:par>
                        <p:par>
                          <p:cTn id="104" fill="hold" nodeType="afterGroup">
                            <p:stCondLst>
                              <p:cond delay="1600"/>
                            </p:stCondLst>
                            <p:childTnLst>
                              <p:par>
                                <p:cTn id="105" presetID="1" presetClass="entr" presetSubtype="0" fill="hold" grpId="0" nodeType="afterEffect">
                                  <p:stCondLst>
                                    <p:cond delay="100"/>
                                  </p:stCondLst>
                                  <p:childTnLst>
                                    <p:set>
                                      <p:cBhvr>
                                        <p:cTn id="106" dur="1" fill="hold">
                                          <p:stCondLst>
                                            <p:cond delay="0"/>
                                          </p:stCondLst>
                                        </p:cTn>
                                        <p:tgtEl>
                                          <p:spTgt spid="36"/>
                                        </p:tgtEl>
                                        <p:attrNameLst>
                                          <p:attrName>style.visibility</p:attrName>
                                        </p:attrNameLst>
                                      </p:cBhvr>
                                      <p:to>
                                        <p:strVal val="visible"/>
                                      </p:to>
                                    </p:set>
                                  </p:childTnLst>
                                </p:cTn>
                              </p:par>
                            </p:childTnLst>
                          </p:cTn>
                        </p:par>
                        <p:par>
                          <p:cTn id="107" fill="hold" nodeType="afterGroup">
                            <p:stCondLst>
                              <p:cond delay="1700"/>
                            </p:stCondLst>
                            <p:childTnLst>
                              <p:par>
                                <p:cTn id="108" presetID="1" presetClass="entr" presetSubtype="0" fill="hold" grpId="0" nodeType="afterEffect">
                                  <p:stCondLst>
                                    <p:cond delay="100"/>
                                  </p:stCondLst>
                                  <p:childTnLst>
                                    <p:set>
                                      <p:cBhvr>
                                        <p:cTn id="109" dur="1" fill="hold">
                                          <p:stCondLst>
                                            <p:cond delay="0"/>
                                          </p:stCondLst>
                                        </p:cTn>
                                        <p:tgtEl>
                                          <p:spTgt spid="37"/>
                                        </p:tgtEl>
                                        <p:attrNameLst>
                                          <p:attrName>style.visibility</p:attrName>
                                        </p:attrNameLst>
                                      </p:cBhvr>
                                      <p:to>
                                        <p:strVal val="visible"/>
                                      </p:to>
                                    </p:set>
                                  </p:childTnLst>
                                </p:cTn>
                              </p:par>
                            </p:childTnLst>
                          </p:cTn>
                        </p:par>
                        <p:par>
                          <p:cTn id="110" fill="hold" nodeType="afterGroup">
                            <p:stCondLst>
                              <p:cond delay="1800"/>
                            </p:stCondLst>
                            <p:childTnLst>
                              <p:par>
                                <p:cTn id="111" presetID="1" presetClass="entr" presetSubtype="0" fill="hold" grpId="0" nodeType="afterEffect">
                                  <p:stCondLst>
                                    <p:cond delay="100"/>
                                  </p:stCondLst>
                                  <p:childTnLst>
                                    <p:set>
                                      <p:cBhvr>
                                        <p:cTn id="112" dur="1" fill="hold">
                                          <p:stCondLst>
                                            <p:cond delay="0"/>
                                          </p:stCondLst>
                                        </p:cTn>
                                        <p:tgtEl>
                                          <p:spTgt spid="38"/>
                                        </p:tgtEl>
                                        <p:attrNameLst>
                                          <p:attrName>style.visibility</p:attrName>
                                        </p:attrNameLst>
                                      </p:cBhvr>
                                      <p:to>
                                        <p:strVal val="visible"/>
                                      </p:to>
                                    </p:set>
                                  </p:childTnLst>
                                </p:cTn>
                              </p:par>
                            </p:childTnLst>
                          </p:cTn>
                        </p:par>
                        <p:par>
                          <p:cTn id="113" fill="hold" nodeType="afterGroup">
                            <p:stCondLst>
                              <p:cond delay="1900"/>
                            </p:stCondLst>
                            <p:childTnLst>
                              <p:par>
                                <p:cTn id="114" presetID="1" presetClass="entr" presetSubtype="0" fill="hold" grpId="0" nodeType="afterEffect">
                                  <p:stCondLst>
                                    <p:cond delay="100"/>
                                  </p:stCondLst>
                                  <p:childTnLst>
                                    <p:set>
                                      <p:cBhvr>
                                        <p:cTn id="115" dur="1" fill="hold">
                                          <p:stCondLst>
                                            <p:cond delay="0"/>
                                          </p:stCondLst>
                                        </p:cTn>
                                        <p:tgtEl>
                                          <p:spTgt spid="39"/>
                                        </p:tgtEl>
                                        <p:attrNameLst>
                                          <p:attrName>style.visibility</p:attrName>
                                        </p:attrNameLst>
                                      </p:cBhvr>
                                      <p:to>
                                        <p:strVal val="visible"/>
                                      </p:to>
                                    </p:set>
                                  </p:childTnLst>
                                </p:cTn>
                              </p:par>
                            </p:childTnLst>
                          </p:cTn>
                        </p:par>
                        <p:par>
                          <p:cTn id="116" fill="hold" nodeType="afterGroup">
                            <p:stCondLst>
                              <p:cond delay="2000"/>
                            </p:stCondLst>
                            <p:childTnLst>
                              <p:par>
                                <p:cTn id="117" presetID="1" presetClass="entr" presetSubtype="0" fill="hold" grpId="0" nodeType="afterEffect">
                                  <p:stCondLst>
                                    <p:cond delay="100"/>
                                  </p:stCondLst>
                                  <p:childTnLst>
                                    <p:set>
                                      <p:cBhvr>
                                        <p:cTn id="118" dur="1" fill="hold">
                                          <p:stCondLst>
                                            <p:cond delay="0"/>
                                          </p:stCondLst>
                                        </p:cTn>
                                        <p:tgtEl>
                                          <p:spTgt spid="40"/>
                                        </p:tgtEl>
                                        <p:attrNameLst>
                                          <p:attrName>style.visibility</p:attrName>
                                        </p:attrNameLst>
                                      </p:cBhvr>
                                      <p:to>
                                        <p:strVal val="visible"/>
                                      </p:to>
                                    </p:set>
                                  </p:childTnLst>
                                </p:cTn>
                              </p:par>
                            </p:childTnLst>
                          </p:cTn>
                        </p:par>
                        <p:par>
                          <p:cTn id="119" fill="hold" nodeType="afterGroup">
                            <p:stCondLst>
                              <p:cond delay="2100"/>
                            </p:stCondLst>
                            <p:childTnLst>
                              <p:par>
                                <p:cTn id="120" presetID="1" presetClass="entr" presetSubtype="0" fill="hold" grpId="0" nodeType="afterEffect">
                                  <p:stCondLst>
                                    <p:cond delay="100"/>
                                  </p:stCondLst>
                                  <p:childTnLst>
                                    <p:set>
                                      <p:cBhvr>
                                        <p:cTn id="121" dur="1" fill="hold">
                                          <p:stCondLst>
                                            <p:cond delay="0"/>
                                          </p:stCondLst>
                                        </p:cTn>
                                        <p:tgtEl>
                                          <p:spTgt spid="41"/>
                                        </p:tgtEl>
                                        <p:attrNameLst>
                                          <p:attrName>style.visibility</p:attrName>
                                        </p:attrNameLst>
                                      </p:cBhvr>
                                      <p:to>
                                        <p:strVal val="visible"/>
                                      </p:to>
                                    </p:set>
                                  </p:childTnLst>
                                </p:cTn>
                              </p:par>
                            </p:childTnLst>
                          </p:cTn>
                        </p:par>
                        <p:par>
                          <p:cTn id="122" fill="hold" nodeType="afterGroup">
                            <p:stCondLst>
                              <p:cond delay="2200"/>
                            </p:stCondLst>
                            <p:childTnLst>
                              <p:par>
                                <p:cTn id="123" presetID="1" presetClass="entr" presetSubtype="0" fill="hold" grpId="0" nodeType="afterEffect">
                                  <p:stCondLst>
                                    <p:cond delay="100"/>
                                  </p:stCondLst>
                                  <p:childTnLst>
                                    <p:set>
                                      <p:cBhvr>
                                        <p:cTn id="124" dur="1" fill="hold">
                                          <p:stCondLst>
                                            <p:cond delay="0"/>
                                          </p:stCondLst>
                                        </p:cTn>
                                        <p:tgtEl>
                                          <p:spTgt spid="42"/>
                                        </p:tgtEl>
                                        <p:attrNameLst>
                                          <p:attrName>style.visibility</p:attrName>
                                        </p:attrNameLst>
                                      </p:cBhvr>
                                      <p:to>
                                        <p:strVal val="visible"/>
                                      </p:to>
                                    </p:set>
                                  </p:childTnLst>
                                </p:cTn>
                              </p:par>
                            </p:childTnLst>
                          </p:cTn>
                        </p:par>
                        <p:par>
                          <p:cTn id="125" fill="hold" nodeType="afterGroup">
                            <p:stCondLst>
                              <p:cond delay="2300"/>
                            </p:stCondLst>
                            <p:childTnLst>
                              <p:par>
                                <p:cTn id="126" presetID="1" presetClass="entr" presetSubtype="0" fill="hold" grpId="0" nodeType="afterEffect">
                                  <p:stCondLst>
                                    <p:cond delay="100"/>
                                  </p:stCondLst>
                                  <p:childTnLst>
                                    <p:set>
                                      <p:cBhvr>
                                        <p:cTn id="127" dur="1" fill="hold">
                                          <p:stCondLst>
                                            <p:cond delay="0"/>
                                          </p:stCondLst>
                                        </p:cTn>
                                        <p:tgtEl>
                                          <p:spTgt spid="43"/>
                                        </p:tgtEl>
                                        <p:attrNameLst>
                                          <p:attrName>style.visibility</p:attrName>
                                        </p:attrNameLst>
                                      </p:cBhvr>
                                      <p:to>
                                        <p:strVal val="visible"/>
                                      </p:to>
                                    </p:set>
                                  </p:childTnLst>
                                </p:cTn>
                              </p:par>
                            </p:childTnLst>
                          </p:cTn>
                        </p:par>
                        <p:par>
                          <p:cTn id="128" fill="hold" nodeType="afterGroup">
                            <p:stCondLst>
                              <p:cond delay="2400"/>
                            </p:stCondLst>
                            <p:childTnLst>
                              <p:par>
                                <p:cTn id="129" presetID="1" presetClass="entr" presetSubtype="0" fill="hold" grpId="0" nodeType="afterEffect">
                                  <p:stCondLst>
                                    <p:cond delay="100"/>
                                  </p:stCondLst>
                                  <p:childTnLst>
                                    <p:set>
                                      <p:cBhvr>
                                        <p:cTn id="130" dur="1" fill="hold">
                                          <p:stCondLst>
                                            <p:cond delay="0"/>
                                          </p:stCondLst>
                                        </p:cTn>
                                        <p:tgtEl>
                                          <p:spTgt spid="44"/>
                                        </p:tgtEl>
                                        <p:attrNameLst>
                                          <p:attrName>style.visibility</p:attrName>
                                        </p:attrNameLst>
                                      </p:cBhvr>
                                      <p:to>
                                        <p:strVal val="visible"/>
                                      </p:to>
                                    </p:set>
                                  </p:childTnLst>
                                </p:cTn>
                              </p:par>
                            </p:childTnLst>
                          </p:cTn>
                        </p:par>
                        <p:par>
                          <p:cTn id="131" fill="hold" nodeType="afterGroup">
                            <p:stCondLst>
                              <p:cond delay="2500"/>
                            </p:stCondLst>
                            <p:childTnLst>
                              <p:par>
                                <p:cTn id="132" presetID="1" presetClass="entr" presetSubtype="0" fill="hold" grpId="0" nodeType="afterEffect">
                                  <p:stCondLst>
                                    <p:cond delay="100"/>
                                  </p:stCondLst>
                                  <p:childTnLst>
                                    <p:set>
                                      <p:cBhvr>
                                        <p:cTn id="133" dur="1" fill="hold">
                                          <p:stCondLst>
                                            <p:cond delay="0"/>
                                          </p:stCondLst>
                                        </p:cTn>
                                        <p:tgtEl>
                                          <p:spTgt spid="45"/>
                                        </p:tgtEl>
                                        <p:attrNameLst>
                                          <p:attrName>style.visibility</p:attrName>
                                        </p:attrNameLst>
                                      </p:cBhvr>
                                      <p:to>
                                        <p:strVal val="visible"/>
                                      </p:to>
                                    </p:set>
                                  </p:childTnLst>
                                </p:cTn>
                              </p:par>
                            </p:childTnLst>
                          </p:cTn>
                        </p:par>
                        <p:par>
                          <p:cTn id="134" fill="hold" nodeType="afterGroup">
                            <p:stCondLst>
                              <p:cond delay="2600"/>
                            </p:stCondLst>
                            <p:childTnLst>
                              <p:par>
                                <p:cTn id="135" presetID="1" presetClass="entr" presetSubtype="0" fill="hold" grpId="0" nodeType="afterEffect">
                                  <p:stCondLst>
                                    <p:cond delay="100"/>
                                  </p:stCondLst>
                                  <p:childTnLst>
                                    <p:set>
                                      <p:cBhvr>
                                        <p:cTn id="136" dur="1" fill="hold">
                                          <p:stCondLst>
                                            <p:cond delay="0"/>
                                          </p:stCondLst>
                                        </p:cTn>
                                        <p:tgtEl>
                                          <p:spTgt spid="46"/>
                                        </p:tgtEl>
                                        <p:attrNameLst>
                                          <p:attrName>style.visibility</p:attrName>
                                        </p:attrNameLst>
                                      </p:cBhvr>
                                      <p:to>
                                        <p:strVal val="visible"/>
                                      </p:to>
                                    </p:set>
                                  </p:childTnLst>
                                </p:cTn>
                              </p:par>
                            </p:childTnLst>
                          </p:cTn>
                        </p:par>
                        <p:par>
                          <p:cTn id="137" fill="hold" nodeType="afterGroup">
                            <p:stCondLst>
                              <p:cond delay="2700"/>
                            </p:stCondLst>
                            <p:childTnLst>
                              <p:par>
                                <p:cTn id="138" presetID="1" presetClass="entr" presetSubtype="0" fill="hold" grpId="0" nodeType="afterEffect">
                                  <p:stCondLst>
                                    <p:cond delay="100"/>
                                  </p:stCondLst>
                                  <p:childTnLst>
                                    <p:set>
                                      <p:cBhvr>
                                        <p:cTn id="139" dur="1" fill="hold">
                                          <p:stCondLst>
                                            <p:cond delay="0"/>
                                          </p:stCondLst>
                                        </p:cTn>
                                        <p:tgtEl>
                                          <p:spTgt spid="47"/>
                                        </p:tgtEl>
                                        <p:attrNameLst>
                                          <p:attrName>style.visibility</p:attrName>
                                        </p:attrNameLst>
                                      </p:cBhvr>
                                      <p:to>
                                        <p:strVal val="visible"/>
                                      </p:to>
                                    </p:set>
                                  </p:childTnLst>
                                </p:cTn>
                              </p:par>
                            </p:childTnLst>
                          </p:cTn>
                        </p:par>
                        <p:par>
                          <p:cTn id="140" fill="hold" nodeType="afterGroup">
                            <p:stCondLst>
                              <p:cond delay="2800"/>
                            </p:stCondLst>
                            <p:childTnLst>
                              <p:par>
                                <p:cTn id="141" presetID="1" presetClass="entr" presetSubtype="0" fill="hold" grpId="0" nodeType="afterEffect">
                                  <p:stCondLst>
                                    <p:cond delay="100"/>
                                  </p:stCondLst>
                                  <p:childTnLst>
                                    <p:set>
                                      <p:cBhvr>
                                        <p:cTn id="142" dur="1" fill="hold">
                                          <p:stCondLst>
                                            <p:cond delay="0"/>
                                          </p:stCondLst>
                                        </p:cTn>
                                        <p:tgtEl>
                                          <p:spTgt spid="48"/>
                                        </p:tgtEl>
                                        <p:attrNameLst>
                                          <p:attrName>style.visibility</p:attrName>
                                        </p:attrNameLst>
                                      </p:cBhvr>
                                      <p:to>
                                        <p:strVal val="visible"/>
                                      </p:to>
                                    </p:set>
                                  </p:childTnLst>
                                </p:cTn>
                              </p:par>
                            </p:childTnLst>
                          </p:cTn>
                        </p:par>
                        <p:par>
                          <p:cTn id="143" fill="hold" nodeType="afterGroup">
                            <p:stCondLst>
                              <p:cond delay="2900"/>
                            </p:stCondLst>
                            <p:childTnLst>
                              <p:par>
                                <p:cTn id="144" presetID="1" presetClass="entr" presetSubtype="0" fill="hold" grpId="0" nodeType="afterEffect">
                                  <p:stCondLst>
                                    <p:cond delay="100"/>
                                  </p:stCondLst>
                                  <p:childTnLst>
                                    <p:set>
                                      <p:cBhvr>
                                        <p:cTn id="145" dur="1" fill="hold">
                                          <p:stCondLst>
                                            <p:cond delay="0"/>
                                          </p:stCondLst>
                                        </p:cTn>
                                        <p:tgtEl>
                                          <p:spTgt spid="49"/>
                                        </p:tgtEl>
                                        <p:attrNameLst>
                                          <p:attrName>style.visibility</p:attrName>
                                        </p:attrNameLst>
                                      </p:cBhvr>
                                      <p:to>
                                        <p:strVal val="visible"/>
                                      </p:to>
                                    </p:set>
                                  </p:childTnLst>
                                </p:cTn>
                              </p:par>
                            </p:childTnLst>
                          </p:cTn>
                        </p:par>
                        <p:par>
                          <p:cTn id="146" fill="hold" nodeType="afterGroup">
                            <p:stCondLst>
                              <p:cond delay="3000"/>
                            </p:stCondLst>
                            <p:childTnLst>
                              <p:par>
                                <p:cTn id="147" presetID="1" presetClass="entr" presetSubtype="0" fill="hold" grpId="0" nodeType="afterEffect">
                                  <p:stCondLst>
                                    <p:cond delay="100"/>
                                  </p:stCondLst>
                                  <p:childTnLst>
                                    <p:set>
                                      <p:cBhvr>
                                        <p:cTn id="148" dur="1" fill="hold">
                                          <p:stCondLst>
                                            <p:cond delay="0"/>
                                          </p:stCondLst>
                                        </p:cTn>
                                        <p:tgtEl>
                                          <p:spTgt spid="50"/>
                                        </p:tgtEl>
                                        <p:attrNameLst>
                                          <p:attrName>style.visibility</p:attrName>
                                        </p:attrNameLst>
                                      </p:cBhvr>
                                      <p:to>
                                        <p:strVal val="visible"/>
                                      </p:to>
                                    </p:set>
                                  </p:childTnLst>
                                </p:cTn>
                              </p:par>
                            </p:childTnLst>
                          </p:cTn>
                        </p:par>
                        <p:par>
                          <p:cTn id="149" fill="hold" nodeType="afterGroup">
                            <p:stCondLst>
                              <p:cond delay="3100"/>
                            </p:stCondLst>
                            <p:childTnLst>
                              <p:par>
                                <p:cTn id="150" presetID="1" presetClass="entr" presetSubtype="0" fill="hold" grpId="0" nodeType="afterEffect">
                                  <p:stCondLst>
                                    <p:cond delay="100"/>
                                  </p:stCondLst>
                                  <p:childTnLst>
                                    <p:set>
                                      <p:cBhvr>
                                        <p:cTn id="151" dur="1" fill="hold">
                                          <p:stCondLst>
                                            <p:cond delay="0"/>
                                          </p:stCondLst>
                                        </p:cTn>
                                        <p:tgtEl>
                                          <p:spTgt spid="51"/>
                                        </p:tgtEl>
                                        <p:attrNameLst>
                                          <p:attrName>style.visibility</p:attrName>
                                        </p:attrNameLst>
                                      </p:cBhvr>
                                      <p:to>
                                        <p:strVal val="visible"/>
                                      </p:to>
                                    </p:set>
                                  </p:childTnLst>
                                </p:cTn>
                              </p:par>
                            </p:childTnLst>
                          </p:cTn>
                        </p:par>
                        <p:par>
                          <p:cTn id="152" fill="hold" nodeType="afterGroup">
                            <p:stCondLst>
                              <p:cond delay="3200"/>
                            </p:stCondLst>
                            <p:childTnLst>
                              <p:par>
                                <p:cTn id="153" presetID="1" presetClass="entr" presetSubtype="0" fill="hold" grpId="0" nodeType="afterEffect">
                                  <p:stCondLst>
                                    <p:cond delay="100"/>
                                  </p:stCondLst>
                                  <p:childTnLst>
                                    <p:set>
                                      <p:cBhvr>
                                        <p:cTn id="154" dur="1" fill="hold">
                                          <p:stCondLst>
                                            <p:cond delay="0"/>
                                          </p:stCondLst>
                                        </p:cTn>
                                        <p:tgtEl>
                                          <p:spTgt spid="52"/>
                                        </p:tgtEl>
                                        <p:attrNameLst>
                                          <p:attrName>style.visibility</p:attrName>
                                        </p:attrNameLst>
                                      </p:cBhvr>
                                      <p:to>
                                        <p:strVal val="visible"/>
                                      </p:to>
                                    </p:set>
                                  </p:childTnLst>
                                </p:cTn>
                              </p:par>
                            </p:childTnLst>
                          </p:cTn>
                        </p:par>
                        <p:par>
                          <p:cTn id="155" fill="hold" nodeType="afterGroup">
                            <p:stCondLst>
                              <p:cond delay="3300"/>
                            </p:stCondLst>
                            <p:childTnLst>
                              <p:par>
                                <p:cTn id="156" presetID="1" presetClass="entr" presetSubtype="0" fill="hold" grpId="0" nodeType="afterEffect">
                                  <p:stCondLst>
                                    <p:cond delay="100"/>
                                  </p:stCondLst>
                                  <p:childTnLst>
                                    <p:set>
                                      <p:cBhvr>
                                        <p:cTn id="157" dur="1" fill="hold">
                                          <p:stCondLst>
                                            <p:cond delay="0"/>
                                          </p:stCondLst>
                                        </p:cTn>
                                        <p:tgtEl>
                                          <p:spTgt spid="53"/>
                                        </p:tgtEl>
                                        <p:attrNameLst>
                                          <p:attrName>style.visibility</p:attrName>
                                        </p:attrNameLst>
                                      </p:cBhvr>
                                      <p:to>
                                        <p:strVal val="visible"/>
                                      </p:to>
                                    </p:set>
                                  </p:childTnLst>
                                </p:cTn>
                              </p:par>
                            </p:childTnLst>
                          </p:cTn>
                        </p:par>
                        <p:par>
                          <p:cTn id="158" fill="hold" nodeType="afterGroup">
                            <p:stCondLst>
                              <p:cond delay="3400"/>
                            </p:stCondLst>
                            <p:childTnLst>
                              <p:par>
                                <p:cTn id="159" presetID="1" presetClass="entr" presetSubtype="0" fill="hold" grpId="0" nodeType="afterEffect">
                                  <p:stCondLst>
                                    <p:cond delay="100"/>
                                  </p:stCondLst>
                                  <p:childTnLst>
                                    <p:set>
                                      <p:cBhvr>
                                        <p:cTn id="160" dur="1" fill="hold">
                                          <p:stCondLst>
                                            <p:cond delay="0"/>
                                          </p:stCondLst>
                                        </p:cTn>
                                        <p:tgtEl>
                                          <p:spTgt spid="54"/>
                                        </p:tgtEl>
                                        <p:attrNameLst>
                                          <p:attrName>style.visibility</p:attrName>
                                        </p:attrNameLst>
                                      </p:cBhvr>
                                      <p:to>
                                        <p:strVal val="visible"/>
                                      </p:to>
                                    </p:set>
                                  </p:childTnLst>
                                </p:cTn>
                              </p:par>
                            </p:childTnLst>
                          </p:cTn>
                        </p:par>
                        <p:par>
                          <p:cTn id="161" fill="hold" nodeType="afterGroup">
                            <p:stCondLst>
                              <p:cond delay="3500"/>
                            </p:stCondLst>
                            <p:childTnLst>
                              <p:par>
                                <p:cTn id="162" presetID="1" presetClass="entr" presetSubtype="0" fill="hold" grpId="0" nodeType="afterEffect">
                                  <p:stCondLst>
                                    <p:cond delay="100"/>
                                  </p:stCondLst>
                                  <p:childTnLst>
                                    <p:set>
                                      <p:cBhvr>
                                        <p:cTn id="163" dur="1" fill="hold">
                                          <p:stCondLst>
                                            <p:cond delay="0"/>
                                          </p:stCondLst>
                                        </p:cTn>
                                        <p:tgtEl>
                                          <p:spTgt spid="55"/>
                                        </p:tgtEl>
                                        <p:attrNameLst>
                                          <p:attrName>style.visibility</p:attrName>
                                        </p:attrNameLst>
                                      </p:cBhvr>
                                      <p:to>
                                        <p:strVal val="visible"/>
                                      </p:to>
                                    </p:set>
                                  </p:childTnLst>
                                </p:cTn>
                              </p:par>
                            </p:childTnLst>
                          </p:cTn>
                        </p:par>
                        <p:par>
                          <p:cTn id="164" fill="hold" nodeType="afterGroup">
                            <p:stCondLst>
                              <p:cond delay="3600"/>
                            </p:stCondLst>
                            <p:childTnLst>
                              <p:par>
                                <p:cTn id="165" presetID="1" presetClass="entr" presetSubtype="0" fill="hold" grpId="0" nodeType="afterEffect">
                                  <p:stCondLst>
                                    <p:cond delay="100"/>
                                  </p:stCondLst>
                                  <p:childTnLst>
                                    <p:set>
                                      <p:cBhvr>
                                        <p:cTn id="166" dur="1" fill="hold">
                                          <p:stCondLst>
                                            <p:cond delay="0"/>
                                          </p:stCondLst>
                                        </p:cTn>
                                        <p:tgtEl>
                                          <p:spTgt spid="56"/>
                                        </p:tgtEl>
                                        <p:attrNameLst>
                                          <p:attrName>style.visibility</p:attrName>
                                        </p:attrNameLst>
                                      </p:cBhvr>
                                      <p:to>
                                        <p:strVal val="visible"/>
                                      </p:to>
                                    </p:se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2" grpId="0"/>
      <p:bldP spid="62" grpId="0" animBg="1"/>
      <p:bldP spid="5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8DBC0FCA-5C40-4FCB-9AF6-A92162AB4D17}"/>
              </a:ext>
            </a:extLst>
          </p:cNvPr>
          <p:cNvCxnSpPr>
            <a:cxnSpLocks/>
          </p:cNvCxnSpPr>
          <p:nvPr/>
        </p:nvCxnSpPr>
        <p:spPr>
          <a:xfrm>
            <a:off x="769618" y="1604432"/>
            <a:ext cx="10805583" cy="0"/>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67B8D306-7EE6-4EB6-8BA7-03C1450FB368}"/>
              </a:ext>
            </a:extLst>
          </p:cNvPr>
          <p:cNvCxnSpPr>
            <a:cxnSpLocks/>
          </p:cNvCxnSpPr>
          <p:nvPr/>
        </p:nvCxnSpPr>
        <p:spPr>
          <a:xfrm>
            <a:off x="769618" y="2275416"/>
            <a:ext cx="10805583" cy="6349"/>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0C4FA2C1-7860-479C-8B8B-6EA851A5765A}"/>
              </a:ext>
            </a:extLst>
          </p:cNvPr>
          <p:cNvSpPr/>
          <p:nvPr/>
        </p:nvSpPr>
        <p:spPr>
          <a:xfrm>
            <a:off x="85428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11" name="直接连接符 10">
            <a:extLst>
              <a:ext uri="{FF2B5EF4-FFF2-40B4-BE49-F238E27FC236}">
                <a16:creationId xmlns:a16="http://schemas.microsoft.com/office/drawing/2014/main" id="{F60FFFF4-97F8-4FBB-BB15-3AB60B9C1165}"/>
              </a:ext>
            </a:extLst>
          </p:cNvPr>
          <p:cNvCxnSpPr>
            <a:cxnSpLocks/>
          </p:cNvCxnSpPr>
          <p:nvPr/>
        </p:nvCxnSpPr>
        <p:spPr>
          <a:xfrm>
            <a:off x="21200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2CF108A7-0299-4135-8F4D-B02F4D108F1D}"/>
              </a:ext>
            </a:extLst>
          </p:cNvPr>
          <p:cNvSpPr/>
          <p:nvPr/>
        </p:nvSpPr>
        <p:spPr>
          <a:xfrm>
            <a:off x="152103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13" name="直接连接符 12">
            <a:extLst>
              <a:ext uri="{FF2B5EF4-FFF2-40B4-BE49-F238E27FC236}">
                <a16:creationId xmlns:a16="http://schemas.microsoft.com/office/drawing/2014/main" id="{1BADC812-4777-48E0-947B-95EE7BA02146}"/>
              </a:ext>
            </a:extLst>
          </p:cNvPr>
          <p:cNvCxnSpPr>
            <a:cxnSpLocks/>
          </p:cNvCxnSpPr>
          <p:nvPr/>
        </p:nvCxnSpPr>
        <p:spPr>
          <a:xfrm>
            <a:off x="2791033"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32F86D06-59CB-42F0-9E70-67E4ADFC641F}"/>
              </a:ext>
            </a:extLst>
          </p:cNvPr>
          <p:cNvCxnSpPr>
            <a:cxnSpLocks/>
          </p:cNvCxnSpPr>
          <p:nvPr/>
        </p:nvCxnSpPr>
        <p:spPr>
          <a:xfrm>
            <a:off x="48061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49FC9901-59FE-4843-853D-AD43842D5443}"/>
              </a:ext>
            </a:extLst>
          </p:cNvPr>
          <p:cNvCxnSpPr>
            <a:cxnSpLocks/>
          </p:cNvCxnSpPr>
          <p:nvPr/>
        </p:nvCxnSpPr>
        <p:spPr>
          <a:xfrm>
            <a:off x="54792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C5E0CA6-D141-4B0E-A0C4-EFB5AFB4E3AF}"/>
              </a:ext>
            </a:extLst>
          </p:cNvPr>
          <p:cNvCxnSpPr>
            <a:cxnSpLocks/>
          </p:cNvCxnSpPr>
          <p:nvPr/>
        </p:nvCxnSpPr>
        <p:spPr>
          <a:xfrm>
            <a:off x="6198866"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095D976-BA5F-4898-87F2-A3BCABADC4A9}"/>
              </a:ext>
            </a:extLst>
          </p:cNvPr>
          <p:cNvCxnSpPr>
            <a:cxnSpLocks/>
          </p:cNvCxnSpPr>
          <p:nvPr/>
        </p:nvCxnSpPr>
        <p:spPr>
          <a:xfrm>
            <a:off x="6871966"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C944381C-78BD-45AE-8954-913D4A975100}"/>
              </a:ext>
            </a:extLst>
          </p:cNvPr>
          <p:cNvCxnSpPr>
            <a:cxnSpLocks/>
          </p:cNvCxnSpPr>
          <p:nvPr/>
        </p:nvCxnSpPr>
        <p:spPr>
          <a:xfrm>
            <a:off x="75429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23A038D-AEF7-4E5D-B02E-D1644CBDD90E}"/>
              </a:ext>
            </a:extLst>
          </p:cNvPr>
          <p:cNvCxnSpPr>
            <a:cxnSpLocks/>
          </p:cNvCxnSpPr>
          <p:nvPr/>
        </p:nvCxnSpPr>
        <p:spPr>
          <a:xfrm>
            <a:off x="82160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40C2CF7-C9DD-460C-AE31-5CA65F00D200}"/>
              </a:ext>
            </a:extLst>
          </p:cNvPr>
          <p:cNvCxnSpPr>
            <a:cxnSpLocks/>
          </p:cNvCxnSpPr>
          <p:nvPr/>
        </p:nvCxnSpPr>
        <p:spPr>
          <a:xfrm>
            <a:off x="8887033"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92237A86-9C67-43F0-8DDF-D4EFA67C696B}"/>
              </a:ext>
            </a:extLst>
          </p:cNvPr>
          <p:cNvCxnSpPr>
            <a:cxnSpLocks/>
          </p:cNvCxnSpPr>
          <p:nvPr/>
        </p:nvCxnSpPr>
        <p:spPr>
          <a:xfrm>
            <a:off x="95580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439C95B-56C7-40E5-AFCA-F40D39C7DD15}"/>
              </a:ext>
            </a:extLst>
          </p:cNvPr>
          <p:cNvCxnSpPr>
            <a:cxnSpLocks/>
          </p:cNvCxnSpPr>
          <p:nvPr/>
        </p:nvCxnSpPr>
        <p:spPr>
          <a:xfrm>
            <a:off x="102311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07FC3D32-257C-4F4F-963F-4D70AE49618A}"/>
              </a:ext>
            </a:extLst>
          </p:cNvPr>
          <p:cNvCxnSpPr>
            <a:cxnSpLocks/>
          </p:cNvCxnSpPr>
          <p:nvPr/>
        </p:nvCxnSpPr>
        <p:spPr>
          <a:xfrm>
            <a:off x="109021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F87988F8-E015-4735-87D5-4D316F3C76FE}"/>
              </a:ext>
            </a:extLst>
          </p:cNvPr>
          <p:cNvCxnSpPr>
            <a:cxnSpLocks/>
          </p:cNvCxnSpPr>
          <p:nvPr/>
        </p:nvCxnSpPr>
        <p:spPr>
          <a:xfrm>
            <a:off x="115752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097D475A-9A47-49BA-8130-9AFBD511AF5B}"/>
              </a:ext>
            </a:extLst>
          </p:cNvPr>
          <p:cNvSpPr/>
          <p:nvPr/>
        </p:nvSpPr>
        <p:spPr>
          <a:xfrm>
            <a:off x="22174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28" name="矩形 27">
            <a:extLst>
              <a:ext uri="{FF2B5EF4-FFF2-40B4-BE49-F238E27FC236}">
                <a16:creationId xmlns:a16="http://schemas.microsoft.com/office/drawing/2014/main" id="{3103FC64-A467-49F3-A6B4-BD7BD47B71DD}"/>
              </a:ext>
            </a:extLst>
          </p:cNvPr>
          <p:cNvSpPr/>
          <p:nvPr/>
        </p:nvSpPr>
        <p:spPr>
          <a:xfrm>
            <a:off x="28841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29" name="矩形 28">
            <a:extLst>
              <a:ext uri="{FF2B5EF4-FFF2-40B4-BE49-F238E27FC236}">
                <a16:creationId xmlns:a16="http://schemas.microsoft.com/office/drawing/2014/main" id="{5064CD42-8213-47F5-97C5-1C0FF815C725}"/>
              </a:ext>
            </a:extLst>
          </p:cNvPr>
          <p:cNvSpPr/>
          <p:nvPr/>
        </p:nvSpPr>
        <p:spPr>
          <a:xfrm>
            <a:off x="3523400" y="1775884"/>
            <a:ext cx="546945" cy="338554"/>
          </a:xfrm>
          <a:prstGeom prst="rect">
            <a:avLst/>
          </a:prstGeom>
        </p:spPr>
        <p:txBody>
          <a:bodyPr wrap="square">
            <a:spAutoFit/>
          </a:bodyPr>
          <a:lstStyle/>
          <a:p>
            <a:pPr>
              <a:defRPr/>
            </a:pPr>
            <a:r>
              <a:rPr lang="en-US" altLang="zh-CN" sz="1600" dirty="0">
                <a:latin typeface="微软雅黑" panose="020B0503020204020204" pitchFamily="34" charset="-122"/>
                <a:ea typeface="Alibaba PuHuiTi R"/>
              </a:rPr>
              <a:t>null</a:t>
            </a:r>
            <a:endParaRPr lang="zh-CN" altLang="en-US" sz="1600" dirty="0">
              <a:latin typeface="微软雅黑" panose="020B0503020204020204" pitchFamily="34" charset="-122"/>
              <a:ea typeface="Alibaba PuHuiTi R"/>
            </a:endParaRPr>
          </a:p>
        </p:txBody>
      </p:sp>
      <p:sp>
        <p:nvSpPr>
          <p:cNvPr id="30" name="矩形 29">
            <a:extLst>
              <a:ext uri="{FF2B5EF4-FFF2-40B4-BE49-F238E27FC236}">
                <a16:creationId xmlns:a16="http://schemas.microsoft.com/office/drawing/2014/main" id="{5A94079E-3238-40C9-ADA8-9EB79B434288}"/>
              </a:ext>
            </a:extLst>
          </p:cNvPr>
          <p:cNvSpPr/>
          <p:nvPr/>
        </p:nvSpPr>
        <p:spPr>
          <a:xfrm>
            <a:off x="420708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1" name="矩形 30">
            <a:extLst>
              <a:ext uri="{FF2B5EF4-FFF2-40B4-BE49-F238E27FC236}">
                <a16:creationId xmlns:a16="http://schemas.microsoft.com/office/drawing/2014/main" id="{64352502-E2A2-403D-A840-ED54DE51F912}"/>
              </a:ext>
            </a:extLst>
          </p:cNvPr>
          <p:cNvSpPr/>
          <p:nvPr/>
        </p:nvSpPr>
        <p:spPr>
          <a:xfrm>
            <a:off x="49034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2" name="矩形 31">
            <a:extLst>
              <a:ext uri="{FF2B5EF4-FFF2-40B4-BE49-F238E27FC236}">
                <a16:creationId xmlns:a16="http://schemas.microsoft.com/office/drawing/2014/main" id="{4C301F48-5583-493D-AB1D-1A109DB43325}"/>
              </a:ext>
            </a:extLst>
          </p:cNvPr>
          <p:cNvSpPr/>
          <p:nvPr/>
        </p:nvSpPr>
        <p:spPr>
          <a:xfrm>
            <a:off x="55702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3" name="矩形 32">
            <a:extLst>
              <a:ext uri="{FF2B5EF4-FFF2-40B4-BE49-F238E27FC236}">
                <a16:creationId xmlns:a16="http://schemas.microsoft.com/office/drawing/2014/main" id="{C9AA140A-8675-4DB5-AAFD-92B0877C1719}"/>
              </a:ext>
            </a:extLst>
          </p:cNvPr>
          <p:cNvSpPr/>
          <p:nvPr/>
        </p:nvSpPr>
        <p:spPr>
          <a:xfrm>
            <a:off x="628988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4" name="矩形 33">
            <a:extLst>
              <a:ext uri="{FF2B5EF4-FFF2-40B4-BE49-F238E27FC236}">
                <a16:creationId xmlns:a16="http://schemas.microsoft.com/office/drawing/2014/main" id="{025458F7-75DA-4E7D-B3F7-E6F31000C97F}"/>
              </a:ext>
            </a:extLst>
          </p:cNvPr>
          <p:cNvSpPr/>
          <p:nvPr/>
        </p:nvSpPr>
        <p:spPr>
          <a:xfrm>
            <a:off x="69545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5" name="矩形 34">
            <a:extLst>
              <a:ext uri="{FF2B5EF4-FFF2-40B4-BE49-F238E27FC236}">
                <a16:creationId xmlns:a16="http://schemas.microsoft.com/office/drawing/2014/main" id="{98DA4647-A9AA-41EA-9E54-84F7E5742A6A}"/>
              </a:ext>
            </a:extLst>
          </p:cNvPr>
          <p:cNvSpPr/>
          <p:nvPr/>
        </p:nvSpPr>
        <p:spPr>
          <a:xfrm>
            <a:off x="76530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6" name="矩形 35">
            <a:extLst>
              <a:ext uri="{FF2B5EF4-FFF2-40B4-BE49-F238E27FC236}">
                <a16:creationId xmlns:a16="http://schemas.microsoft.com/office/drawing/2014/main" id="{7F418C73-1215-4BAF-9E38-DCEE2E86E16D}"/>
              </a:ext>
            </a:extLst>
          </p:cNvPr>
          <p:cNvSpPr/>
          <p:nvPr/>
        </p:nvSpPr>
        <p:spPr>
          <a:xfrm>
            <a:off x="8317651"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7" name="矩形 36">
            <a:extLst>
              <a:ext uri="{FF2B5EF4-FFF2-40B4-BE49-F238E27FC236}">
                <a16:creationId xmlns:a16="http://schemas.microsoft.com/office/drawing/2014/main" id="{5193202D-B146-4F6C-BF8F-77D538E26E85}"/>
              </a:ext>
            </a:extLst>
          </p:cNvPr>
          <p:cNvSpPr/>
          <p:nvPr/>
        </p:nvSpPr>
        <p:spPr>
          <a:xfrm>
            <a:off x="897593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8" name="矩形 37">
            <a:extLst>
              <a:ext uri="{FF2B5EF4-FFF2-40B4-BE49-F238E27FC236}">
                <a16:creationId xmlns:a16="http://schemas.microsoft.com/office/drawing/2014/main" id="{B3D534AD-5842-4631-91EA-1F95E2AC7064}"/>
              </a:ext>
            </a:extLst>
          </p:cNvPr>
          <p:cNvSpPr/>
          <p:nvPr/>
        </p:nvSpPr>
        <p:spPr>
          <a:xfrm>
            <a:off x="96405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9" name="矩形 38">
            <a:extLst>
              <a:ext uri="{FF2B5EF4-FFF2-40B4-BE49-F238E27FC236}">
                <a16:creationId xmlns:a16="http://schemas.microsoft.com/office/drawing/2014/main" id="{EF38C6F1-D43E-482A-9A16-7EEACBCAC72A}"/>
              </a:ext>
            </a:extLst>
          </p:cNvPr>
          <p:cNvSpPr/>
          <p:nvPr/>
        </p:nvSpPr>
        <p:spPr>
          <a:xfrm>
            <a:off x="103390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40" name="矩形 39">
            <a:extLst>
              <a:ext uri="{FF2B5EF4-FFF2-40B4-BE49-F238E27FC236}">
                <a16:creationId xmlns:a16="http://schemas.microsoft.com/office/drawing/2014/main" id="{403079E0-AB2B-4FE1-8AE2-E5CD0EBE631B}"/>
              </a:ext>
            </a:extLst>
          </p:cNvPr>
          <p:cNvSpPr/>
          <p:nvPr/>
        </p:nvSpPr>
        <p:spPr>
          <a:xfrm>
            <a:off x="11003700"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41" name="矩形 40">
            <a:extLst>
              <a:ext uri="{FF2B5EF4-FFF2-40B4-BE49-F238E27FC236}">
                <a16:creationId xmlns:a16="http://schemas.microsoft.com/office/drawing/2014/main" id="{A269F245-4005-4198-BC4F-9215E2BB440B}"/>
              </a:ext>
            </a:extLst>
          </p:cNvPr>
          <p:cNvSpPr/>
          <p:nvPr/>
        </p:nvSpPr>
        <p:spPr>
          <a:xfrm>
            <a:off x="943184"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0</a:t>
            </a:r>
            <a:endParaRPr lang="zh-CN" altLang="en-US" sz="1600" dirty="0">
              <a:ea typeface="Alibaba PuHuiTi R"/>
            </a:endParaRPr>
          </a:p>
        </p:txBody>
      </p:sp>
      <p:sp>
        <p:nvSpPr>
          <p:cNvPr id="42" name="矩形 41">
            <a:extLst>
              <a:ext uri="{FF2B5EF4-FFF2-40B4-BE49-F238E27FC236}">
                <a16:creationId xmlns:a16="http://schemas.microsoft.com/office/drawing/2014/main" id="{66F71576-7715-4A8E-ABA3-BB090697A0E7}"/>
              </a:ext>
            </a:extLst>
          </p:cNvPr>
          <p:cNvSpPr/>
          <p:nvPr/>
        </p:nvSpPr>
        <p:spPr>
          <a:xfrm>
            <a:off x="160781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a:t>
            </a:r>
            <a:endParaRPr lang="zh-CN" altLang="en-US" sz="1600" dirty="0">
              <a:ea typeface="Alibaba PuHuiTi R"/>
            </a:endParaRPr>
          </a:p>
        </p:txBody>
      </p:sp>
      <p:sp>
        <p:nvSpPr>
          <p:cNvPr id="43" name="矩形 42">
            <a:extLst>
              <a:ext uri="{FF2B5EF4-FFF2-40B4-BE49-F238E27FC236}">
                <a16:creationId xmlns:a16="http://schemas.microsoft.com/office/drawing/2014/main" id="{F448B3C4-BC25-4FA2-93C8-33982661B21C}"/>
              </a:ext>
            </a:extLst>
          </p:cNvPr>
          <p:cNvSpPr/>
          <p:nvPr/>
        </p:nvSpPr>
        <p:spPr>
          <a:xfrm>
            <a:off x="230631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2</a:t>
            </a:r>
            <a:endParaRPr lang="zh-CN" altLang="en-US" sz="1600" dirty="0">
              <a:ea typeface="Alibaba PuHuiTi R"/>
            </a:endParaRPr>
          </a:p>
        </p:txBody>
      </p:sp>
      <p:sp>
        <p:nvSpPr>
          <p:cNvPr id="44" name="矩形 43">
            <a:extLst>
              <a:ext uri="{FF2B5EF4-FFF2-40B4-BE49-F238E27FC236}">
                <a16:creationId xmlns:a16="http://schemas.microsoft.com/office/drawing/2014/main" id="{1D1B81D8-ACF6-418A-A318-D81BD890DC5D}"/>
              </a:ext>
            </a:extLst>
          </p:cNvPr>
          <p:cNvSpPr/>
          <p:nvPr/>
        </p:nvSpPr>
        <p:spPr>
          <a:xfrm>
            <a:off x="2970951"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3</a:t>
            </a:r>
            <a:endParaRPr lang="zh-CN" altLang="en-US" sz="1600" dirty="0">
              <a:ea typeface="Alibaba PuHuiTi R"/>
            </a:endParaRPr>
          </a:p>
        </p:txBody>
      </p:sp>
      <p:sp>
        <p:nvSpPr>
          <p:cNvPr id="45" name="矩形 44">
            <a:extLst>
              <a:ext uri="{FF2B5EF4-FFF2-40B4-BE49-F238E27FC236}">
                <a16:creationId xmlns:a16="http://schemas.microsoft.com/office/drawing/2014/main" id="{189FBC6B-07F1-4D16-94BD-E4EDD8348CB8}"/>
              </a:ext>
            </a:extLst>
          </p:cNvPr>
          <p:cNvSpPr/>
          <p:nvPr/>
        </p:nvSpPr>
        <p:spPr>
          <a:xfrm>
            <a:off x="3629233"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4</a:t>
            </a:r>
            <a:endParaRPr lang="zh-CN" altLang="en-US" sz="1600" dirty="0">
              <a:ea typeface="Alibaba PuHuiTi R"/>
            </a:endParaRPr>
          </a:p>
        </p:txBody>
      </p:sp>
      <p:sp>
        <p:nvSpPr>
          <p:cNvPr id="46" name="矩形 45">
            <a:extLst>
              <a:ext uri="{FF2B5EF4-FFF2-40B4-BE49-F238E27FC236}">
                <a16:creationId xmlns:a16="http://schemas.microsoft.com/office/drawing/2014/main" id="{E0A88931-CE51-4029-8A66-031F513F10AB}"/>
              </a:ext>
            </a:extLst>
          </p:cNvPr>
          <p:cNvSpPr/>
          <p:nvPr/>
        </p:nvSpPr>
        <p:spPr>
          <a:xfrm>
            <a:off x="429386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5</a:t>
            </a:r>
            <a:endParaRPr lang="zh-CN" altLang="en-US" sz="1600" dirty="0">
              <a:ea typeface="Alibaba PuHuiTi R"/>
            </a:endParaRPr>
          </a:p>
        </p:txBody>
      </p:sp>
      <p:sp>
        <p:nvSpPr>
          <p:cNvPr id="47" name="矩形 46">
            <a:extLst>
              <a:ext uri="{FF2B5EF4-FFF2-40B4-BE49-F238E27FC236}">
                <a16:creationId xmlns:a16="http://schemas.microsoft.com/office/drawing/2014/main" id="{BDCD3623-CA44-4CC2-9B40-11483CB4D8F1}"/>
              </a:ext>
            </a:extLst>
          </p:cNvPr>
          <p:cNvSpPr/>
          <p:nvPr/>
        </p:nvSpPr>
        <p:spPr>
          <a:xfrm>
            <a:off x="499236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6</a:t>
            </a:r>
            <a:endParaRPr lang="zh-CN" altLang="en-US" sz="1600" dirty="0">
              <a:ea typeface="Alibaba PuHuiTi R"/>
            </a:endParaRPr>
          </a:p>
        </p:txBody>
      </p:sp>
      <p:sp>
        <p:nvSpPr>
          <p:cNvPr id="48" name="矩形 47">
            <a:extLst>
              <a:ext uri="{FF2B5EF4-FFF2-40B4-BE49-F238E27FC236}">
                <a16:creationId xmlns:a16="http://schemas.microsoft.com/office/drawing/2014/main" id="{805908F3-D2F6-4018-B6C7-2D6F2EA7B499}"/>
              </a:ext>
            </a:extLst>
          </p:cNvPr>
          <p:cNvSpPr/>
          <p:nvPr/>
        </p:nvSpPr>
        <p:spPr>
          <a:xfrm>
            <a:off x="5657000"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7</a:t>
            </a:r>
            <a:endParaRPr lang="zh-CN" altLang="en-US" sz="1600" dirty="0">
              <a:ea typeface="Alibaba PuHuiTi R"/>
            </a:endParaRPr>
          </a:p>
        </p:txBody>
      </p:sp>
      <p:sp>
        <p:nvSpPr>
          <p:cNvPr id="49" name="矩形 48">
            <a:extLst>
              <a:ext uri="{FF2B5EF4-FFF2-40B4-BE49-F238E27FC236}">
                <a16:creationId xmlns:a16="http://schemas.microsoft.com/office/drawing/2014/main" id="{597FA6D2-2906-4390-95EA-73D862DC94FE}"/>
              </a:ext>
            </a:extLst>
          </p:cNvPr>
          <p:cNvSpPr/>
          <p:nvPr/>
        </p:nvSpPr>
        <p:spPr>
          <a:xfrm>
            <a:off x="637666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8</a:t>
            </a:r>
            <a:endParaRPr lang="zh-CN" altLang="en-US" sz="1600" dirty="0">
              <a:ea typeface="Alibaba PuHuiTi R"/>
            </a:endParaRPr>
          </a:p>
        </p:txBody>
      </p:sp>
      <p:sp>
        <p:nvSpPr>
          <p:cNvPr id="50" name="矩形 49">
            <a:extLst>
              <a:ext uri="{FF2B5EF4-FFF2-40B4-BE49-F238E27FC236}">
                <a16:creationId xmlns:a16="http://schemas.microsoft.com/office/drawing/2014/main" id="{1197A8F8-6FB5-4A1D-A672-61C46C6E3966}"/>
              </a:ext>
            </a:extLst>
          </p:cNvPr>
          <p:cNvSpPr/>
          <p:nvPr/>
        </p:nvSpPr>
        <p:spPr>
          <a:xfrm>
            <a:off x="704341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9</a:t>
            </a:r>
            <a:endParaRPr lang="zh-CN" altLang="en-US" sz="1600" dirty="0">
              <a:ea typeface="Alibaba PuHuiTi R"/>
            </a:endParaRPr>
          </a:p>
        </p:txBody>
      </p:sp>
      <p:sp>
        <p:nvSpPr>
          <p:cNvPr id="51" name="矩形 50">
            <a:extLst>
              <a:ext uri="{FF2B5EF4-FFF2-40B4-BE49-F238E27FC236}">
                <a16:creationId xmlns:a16="http://schemas.microsoft.com/office/drawing/2014/main" id="{8E4622E3-8BC2-4C10-A260-4B0B2BFBB1C5}"/>
              </a:ext>
            </a:extLst>
          </p:cNvPr>
          <p:cNvSpPr/>
          <p:nvPr/>
        </p:nvSpPr>
        <p:spPr>
          <a:xfrm>
            <a:off x="7661484"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10</a:t>
            </a:r>
            <a:endParaRPr lang="zh-CN" altLang="en-US" sz="1600" dirty="0">
              <a:ea typeface="Alibaba PuHuiTi R"/>
            </a:endParaRPr>
          </a:p>
        </p:txBody>
      </p:sp>
      <p:sp>
        <p:nvSpPr>
          <p:cNvPr id="52" name="矩形 51">
            <a:extLst>
              <a:ext uri="{FF2B5EF4-FFF2-40B4-BE49-F238E27FC236}">
                <a16:creationId xmlns:a16="http://schemas.microsoft.com/office/drawing/2014/main" id="{5E7A2FA3-2070-487D-B70F-7B77E2ECA6CA}"/>
              </a:ext>
            </a:extLst>
          </p:cNvPr>
          <p:cNvSpPr/>
          <p:nvPr/>
        </p:nvSpPr>
        <p:spPr>
          <a:xfrm>
            <a:off x="8328233"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11</a:t>
            </a:r>
            <a:endParaRPr lang="zh-CN" altLang="en-US" sz="1600" dirty="0">
              <a:ea typeface="Alibaba PuHuiTi R"/>
            </a:endParaRPr>
          </a:p>
        </p:txBody>
      </p:sp>
      <p:sp>
        <p:nvSpPr>
          <p:cNvPr id="53" name="矩形 52">
            <a:extLst>
              <a:ext uri="{FF2B5EF4-FFF2-40B4-BE49-F238E27FC236}">
                <a16:creationId xmlns:a16="http://schemas.microsoft.com/office/drawing/2014/main" id="{39391A35-CFD8-49AD-81D3-36472B9C4ED7}"/>
              </a:ext>
            </a:extLst>
          </p:cNvPr>
          <p:cNvSpPr/>
          <p:nvPr/>
        </p:nvSpPr>
        <p:spPr>
          <a:xfrm>
            <a:off x="8986517"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12</a:t>
            </a:r>
            <a:endParaRPr lang="zh-CN" altLang="en-US" sz="1600" dirty="0">
              <a:ea typeface="Alibaba PuHuiTi R"/>
            </a:endParaRPr>
          </a:p>
        </p:txBody>
      </p:sp>
      <p:sp>
        <p:nvSpPr>
          <p:cNvPr id="54" name="矩形 53">
            <a:extLst>
              <a:ext uri="{FF2B5EF4-FFF2-40B4-BE49-F238E27FC236}">
                <a16:creationId xmlns:a16="http://schemas.microsoft.com/office/drawing/2014/main" id="{06CE39A7-A2B7-4174-A362-2B4DD47368C3}"/>
              </a:ext>
            </a:extLst>
          </p:cNvPr>
          <p:cNvSpPr/>
          <p:nvPr/>
        </p:nvSpPr>
        <p:spPr>
          <a:xfrm>
            <a:off x="9651151"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13</a:t>
            </a:r>
            <a:endParaRPr lang="zh-CN" altLang="en-US" sz="1600" dirty="0">
              <a:ea typeface="Alibaba PuHuiTi R"/>
            </a:endParaRPr>
          </a:p>
        </p:txBody>
      </p:sp>
      <p:sp>
        <p:nvSpPr>
          <p:cNvPr id="55" name="矩形 54">
            <a:extLst>
              <a:ext uri="{FF2B5EF4-FFF2-40B4-BE49-F238E27FC236}">
                <a16:creationId xmlns:a16="http://schemas.microsoft.com/office/drawing/2014/main" id="{2ACD3C91-D719-47AA-BE19-EE1069C67352}"/>
              </a:ext>
            </a:extLst>
          </p:cNvPr>
          <p:cNvSpPr/>
          <p:nvPr/>
        </p:nvSpPr>
        <p:spPr>
          <a:xfrm>
            <a:off x="10349651"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14</a:t>
            </a:r>
            <a:endParaRPr lang="zh-CN" altLang="en-US" sz="1600" dirty="0">
              <a:ea typeface="Alibaba PuHuiTi R"/>
            </a:endParaRPr>
          </a:p>
        </p:txBody>
      </p:sp>
      <p:sp>
        <p:nvSpPr>
          <p:cNvPr id="56" name="矩形 55">
            <a:extLst>
              <a:ext uri="{FF2B5EF4-FFF2-40B4-BE49-F238E27FC236}">
                <a16:creationId xmlns:a16="http://schemas.microsoft.com/office/drawing/2014/main" id="{62993B67-AA05-4911-8E25-2158D6DF5F10}"/>
              </a:ext>
            </a:extLst>
          </p:cNvPr>
          <p:cNvSpPr/>
          <p:nvPr/>
        </p:nvSpPr>
        <p:spPr>
          <a:xfrm>
            <a:off x="11014284"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15</a:t>
            </a:r>
            <a:endParaRPr lang="zh-CN" altLang="en-US" sz="1600" dirty="0">
              <a:ea typeface="Alibaba PuHuiTi R"/>
            </a:endParaRPr>
          </a:p>
        </p:txBody>
      </p:sp>
      <p:sp>
        <p:nvSpPr>
          <p:cNvPr id="2" name="矩形 1">
            <a:extLst>
              <a:ext uri="{FF2B5EF4-FFF2-40B4-BE49-F238E27FC236}">
                <a16:creationId xmlns:a16="http://schemas.microsoft.com/office/drawing/2014/main" id="{860589D5-1847-42D9-8DAE-F5A00A5BCE2A}"/>
              </a:ext>
            </a:extLst>
          </p:cNvPr>
          <p:cNvSpPr/>
          <p:nvPr/>
        </p:nvSpPr>
        <p:spPr>
          <a:xfrm>
            <a:off x="10576134" y="1079500"/>
            <a:ext cx="816249"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table[]</a:t>
            </a:r>
            <a:endParaRPr lang="zh-CN" altLang="en-US" sz="1600" dirty="0">
              <a:ea typeface="Alibaba PuHuiTi R"/>
            </a:endParaRPr>
          </a:p>
        </p:txBody>
      </p:sp>
      <p:cxnSp>
        <p:nvCxnSpPr>
          <p:cNvPr id="15" name="直接连接符 14">
            <a:extLst>
              <a:ext uri="{FF2B5EF4-FFF2-40B4-BE49-F238E27FC236}">
                <a16:creationId xmlns:a16="http://schemas.microsoft.com/office/drawing/2014/main" id="{D671929C-2148-49E8-A006-C260BCD403FD}"/>
              </a:ext>
            </a:extLst>
          </p:cNvPr>
          <p:cNvCxnSpPr>
            <a:cxnSpLocks/>
          </p:cNvCxnSpPr>
          <p:nvPr/>
        </p:nvCxnSpPr>
        <p:spPr>
          <a:xfrm>
            <a:off x="41351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CDF6C1CE-FD63-4075-9399-FE636D792325}"/>
              </a:ext>
            </a:extLst>
          </p:cNvPr>
          <p:cNvCxnSpPr>
            <a:cxnSpLocks/>
          </p:cNvCxnSpPr>
          <p:nvPr/>
        </p:nvCxnSpPr>
        <p:spPr>
          <a:xfrm>
            <a:off x="34620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AF49D4C-23B2-49F7-88D1-1BD9681222EB}"/>
              </a:ext>
            </a:extLst>
          </p:cNvPr>
          <p:cNvCxnSpPr>
            <a:cxnSpLocks/>
          </p:cNvCxnSpPr>
          <p:nvPr/>
        </p:nvCxnSpPr>
        <p:spPr>
          <a:xfrm>
            <a:off x="7696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F8D7D69A-1253-4BDF-B027-ACF7E4A1A313}"/>
              </a:ext>
            </a:extLst>
          </p:cNvPr>
          <p:cNvCxnSpPr>
            <a:cxnSpLocks/>
          </p:cNvCxnSpPr>
          <p:nvPr/>
        </p:nvCxnSpPr>
        <p:spPr>
          <a:xfrm>
            <a:off x="14469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3256291A-6447-4C28-90F2-B0D1AF805C66}"/>
              </a:ext>
            </a:extLst>
          </p:cNvPr>
          <p:cNvSpPr/>
          <p:nvPr/>
        </p:nvSpPr>
        <p:spPr>
          <a:xfrm>
            <a:off x="5409012" y="2814631"/>
            <a:ext cx="6889663" cy="1996765"/>
          </a:xfrm>
          <a:prstGeom prst="rect">
            <a:avLst/>
          </a:prstGeom>
        </p:spPr>
        <p:txBody>
          <a:bodyPr wrap="square">
            <a:spAutoFit/>
          </a:bodyPr>
          <a:lstStyle/>
          <a:p>
            <a:pPr marL="342900" indent="-342900">
              <a:lnSpc>
                <a:spcPct val="2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创建一个默认长度</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16</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的数组，默认加载因子为</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0.75</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，数组名</a:t>
            </a:r>
            <a:r>
              <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table</a:t>
            </a:r>
          </a:p>
          <a:p>
            <a:pPr marL="342900" indent="-342900">
              <a:lnSpc>
                <a:spcPct val="200000"/>
              </a:lnSpc>
              <a:buFont typeface="+mj-ea"/>
              <a:buAutoNum type="circleNumDbPlain"/>
              <a:defRPr/>
            </a:pP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使用元素的</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哈希值</a:t>
            </a: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对</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数组的长度做运算</a:t>
            </a: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计算出应存入的位置</a:t>
            </a:r>
            <a:endPar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a:lnSpc>
                <a:spcPct val="200000"/>
              </a:lnSpc>
              <a:buFont typeface="+mj-ea"/>
              <a:buAutoNum type="circleNumDbPlain"/>
              <a:defRPr/>
            </a:pP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判断当前位置是否为</a:t>
            </a:r>
            <a:r>
              <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，如果是</a:t>
            </a:r>
            <a:r>
              <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直接存入</a:t>
            </a:r>
            <a:endPar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200000"/>
              </a:lnSpc>
              <a:defRPr/>
            </a:pPr>
            <a:r>
              <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p>
        </p:txBody>
      </p:sp>
      <p:sp>
        <p:nvSpPr>
          <p:cNvPr id="59" name="椭圆 58">
            <a:extLst>
              <a:ext uri="{FF2B5EF4-FFF2-40B4-BE49-F238E27FC236}">
                <a16:creationId xmlns:a16="http://schemas.microsoft.com/office/drawing/2014/main" id="{2AB34BD7-EE35-479F-91DF-69B6E01DE61E}"/>
              </a:ext>
            </a:extLst>
          </p:cNvPr>
          <p:cNvSpPr/>
          <p:nvPr/>
        </p:nvSpPr>
        <p:spPr>
          <a:xfrm>
            <a:off x="647273" y="3149787"/>
            <a:ext cx="480483" cy="480483"/>
          </a:xfrm>
          <a:prstGeom prst="ellipse">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cxnSp>
        <p:nvCxnSpPr>
          <p:cNvPr id="60" name="直接箭头连接符 59">
            <a:extLst>
              <a:ext uri="{FF2B5EF4-FFF2-40B4-BE49-F238E27FC236}">
                <a16:creationId xmlns:a16="http://schemas.microsoft.com/office/drawing/2014/main" id="{8566AAEB-B478-492B-B2AC-72BE325959B3}"/>
              </a:ext>
            </a:extLst>
          </p:cNvPr>
          <p:cNvCxnSpPr>
            <a:cxnSpLocks/>
            <a:endCxn id="44" idx="1"/>
          </p:cNvCxnSpPr>
          <p:nvPr/>
        </p:nvCxnSpPr>
        <p:spPr>
          <a:xfrm flipV="1">
            <a:off x="1127756" y="2446810"/>
            <a:ext cx="1843195" cy="85102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2C79F28C-65A9-4EC3-9DDE-C60156CCEA2E}"/>
              </a:ext>
            </a:extLst>
          </p:cNvPr>
          <p:cNvSpPr/>
          <p:nvPr/>
        </p:nvSpPr>
        <p:spPr>
          <a:xfrm>
            <a:off x="1432736" y="4224854"/>
            <a:ext cx="480483" cy="480483"/>
          </a:xfrm>
          <a:prstGeom prst="ellipse">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cxnSp>
        <p:nvCxnSpPr>
          <p:cNvPr id="71" name="直接箭头连接符 70">
            <a:extLst>
              <a:ext uri="{FF2B5EF4-FFF2-40B4-BE49-F238E27FC236}">
                <a16:creationId xmlns:a16="http://schemas.microsoft.com/office/drawing/2014/main" id="{CADCDFEF-4FD3-4E4E-A611-94D8E177301A}"/>
              </a:ext>
            </a:extLst>
          </p:cNvPr>
          <p:cNvCxnSpPr>
            <a:cxnSpLocks/>
          </p:cNvCxnSpPr>
          <p:nvPr/>
        </p:nvCxnSpPr>
        <p:spPr>
          <a:xfrm flipH="1" flipV="1">
            <a:off x="1092589" y="2531449"/>
            <a:ext cx="501239" cy="171716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954E6-3D11-8955-F27C-89DCB8C3E7F9}"/>
              </a:ext>
            </a:extLst>
          </p:cNvPr>
          <p:cNvSpPr txBox="1"/>
          <p:nvPr/>
        </p:nvSpPr>
        <p:spPr>
          <a:xfrm>
            <a:off x="769618" y="934083"/>
            <a:ext cx="6731845" cy="466652"/>
          </a:xfrm>
          <a:prstGeom prst="rect">
            <a:avLst/>
          </a:prstGeom>
          <a:noFill/>
        </p:spPr>
        <p:txBody>
          <a:bodyPr wrap="square">
            <a:spAutoFit/>
          </a:bodyPr>
          <a:lstStyle/>
          <a:p>
            <a:pPr>
              <a:lnSpc>
                <a:spcPct val="150000"/>
              </a:lnSpc>
              <a:defRPr/>
            </a:pPr>
            <a:r>
              <a:rPr lang="en-US" altLang="zh-CN"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之前的哈希表：</a:t>
            </a:r>
            <a:r>
              <a:rPr lang="zh-CN" altLang="en-US"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a:t>
            </a:r>
            <a:r>
              <a:rPr lang="en-US" altLang="zh-CN"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链表</a:t>
            </a:r>
            <a:endParaRPr lang="zh-CN" altLang="en-US"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a:extLst>
              <a:ext uri="{FF2B5EF4-FFF2-40B4-BE49-F238E27FC236}">
                <a16:creationId xmlns:a16="http://schemas.microsoft.com/office/drawing/2014/main" id="{C96C0AF7-755F-E7E8-DAFC-811A134A015F}"/>
              </a:ext>
            </a:extLst>
          </p:cNvPr>
          <p:cNvSpPr>
            <a:spLocks noGrp="1"/>
          </p:cNvSpPr>
          <p:nvPr>
            <p:ph type="title"/>
          </p:nvPr>
        </p:nvSpPr>
        <p:spPr/>
        <p:txBody>
          <a:bodyPr/>
          <a:lstStyle/>
          <a:p>
            <a:r>
              <a:rPr lang="en-US" altLang="zh-CN" dirty="0"/>
              <a:t>HashSet</a:t>
            </a:r>
            <a:r>
              <a:rPr lang="zh-CN" altLang="en-US" dirty="0"/>
              <a:t>集合的底层原理</a:t>
            </a:r>
          </a:p>
        </p:txBody>
      </p:sp>
    </p:spTree>
    <p:extLst>
      <p:ext uri="{BB962C8B-B14F-4D97-AF65-F5344CB8AC3E}">
        <p14:creationId xmlns:p14="http://schemas.microsoft.com/office/powerpoint/2010/main" val="235552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8">
                                            <p:txEl>
                                              <p:pRg st="1" end="1"/>
                                            </p:txEl>
                                          </p:spTgt>
                                        </p:tgtEl>
                                        <p:attrNameLst>
                                          <p:attrName>style.visibility</p:attrName>
                                        </p:attrNameLst>
                                      </p:cBhvr>
                                      <p:to>
                                        <p:strVal val="visible"/>
                                      </p:to>
                                    </p:set>
                                    <p:animEffect transition="in" filter="wipe(left)">
                                      <p:cBhvr>
                                        <p:cTn id="12" dur="500"/>
                                        <p:tgtEl>
                                          <p:spTgt spid="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wipe(down)">
                                      <p:cBhvr>
                                        <p:cTn id="17" dur="500"/>
                                        <p:tgtEl>
                                          <p:spTgt spid="6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8">
                                            <p:txEl>
                                              <p:pRg st="2" end="2"/>
                                            </p:txEl>
                                          </p:spTgt>
                                        </p:tgtEl>
                                        <p:attrNameLst>
                                          <p:attrName>style.visibility</p:attrName>
                                        </p:attrNameLst>
                                      </p:cBhvr>
                                      <p:to>
                                        <p:strVal val="visible"/>
                                      </p:to>
                                    </p:set>
                                    <p:animEffect transition="in" filter="wipe(left)">
                                      <p:cBhvr>
                                        <p:cTn id="22" dur="500"/>
                                        <p:tgtEl>
                                          <p:spTgt spid="7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hidden"/>
                                      </p:to>
                                    </p:set>
                                  </p:childTnLst>
                                </p:cTn>
                              </p:par>
                              <p:par>
                                <p:cTn id="27" presetID="22" presetClass="exit" presetSubtype="4" fill="hold" nodeType="withEffect">
                                  <p:stCondLst>
                                    <p:cond delay="0"/>
                                  </p:stCondLst>
                                  <p:childTnLst>
                                    <p:animEffect transition="out" filter="wipe(down)">
                                      <p:cBhvr>
                                        <p:cTn id="28" dur="500"/>
                                        <p:tgtEl>
                                          <p:spTgt spid="60"/>
                                        </p:tgtEl>
                                      </p:cBhvr>
                                    </p:animEffect>
                                    <p:set>
                                      <p:cBhvr>
                                        <p:cTn id="29" dur="1" fill="hold">
                                          <p:stCondLst>
                                            <p:cond delay="499"/>
                                          </p:stCondLst>
                                        </p:cTn>
                                        <p:tgtEl>
                                          <p:spTgt spid="60"/>
                                        </p:tgtEl>
                                        <p:attrNameLst>
                                          <p:attrName>style.visibility</p:attrName>
                                        </p:attrNameLst>
                                      </p:cBhvr>
                                      <p:to>
                                        <p:strVal val="hidden"/>
                                      </p:to>
                                    </p:set>
                                  </p:childTnLst>
                                </p:cTn>
                              </p:par>
                              <p:par>
                                <p:cTn id="30" presetID="42" presetClass="path" presetSubtype="0" accel="50000" decel="50000" fill="hold" grpId="1" nodeType="withEffect">
                                  <p:stCondLst>
                                    <p:cond delay="0"/>
                                  </p:stCondLst>
                                  <p:childTnLst>
                                    <p:animMotion origin="layout" path="M 3.54167E-6 -2.96296E-6 L 0.18554 -0.21203 " pathEditMode="relative" rAng="0" ptsTypes="AA">
                                      <p:cBhvr>
                                        <p:cTn id="31" dur="2000" fill="hold"/>
                                        <p:tgtEl>
                                          <p:spTgt spid="59"/>
                                        </p:tgtEl>
                                        <p:attrNameLst>
                                          <p:attrName>ppt_x</p:attrName>
                                          <p:attrName>ppt_y</p:attrName>
                                        </p:attrNameLst>
                                      </p:cBhvr>
                                      <p:rCtr x="9271" y="-10602"/>
                                    </p:animMotion>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7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71"/>
                                        </p:tgtEl>
                                        <p:attrNameLst>
                                          <p:attrName>style.visibility</p:attrName>
                                        </p:attrNameLst>
                                      </p:cBhvr>
                                      <p:to>
                                        <p:strVal val="visible"/>
                                      </p:to>
                                    </p:set>
                                    <p:animEffect transition="in" filter="wipe(down)">
                                      <p:cBhvr>
                                        <p:cTn id="40" dur="500"/>
                                        <p:tgtEl>
                                          <p:spTgt spid="71"/>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71"/>
                                        </p:tgtEl>
                                        <p:attrNameLst>
                                          <p:attrName>style.visibility</p:attrName>
                                        </p:attrNameLst>
                                      </p:cBhvr>
                                      <p:to>
                                        <p:strVal val="hidden"/>
                                      </p:to>
                                    </p:set>
                                  </p:childTnLst>
                                </p:cTn>
                              </p:par>
                            </p:childTnLst>
                          </p:cTn>
                        </p:par>
                        <p:par>
                          <p:cTn id="45" fill="hold">
                            <p:stCondLst>
                              <p:cond delay="0"/>
                            </p:stCondLst>
                            <p:childTnLst>
                              <p:par>
                                <p:cTn id="46" presetID="1" presetClass="exit" presetSubtype="0" fill="hold" grpId="0" nodeType="afterEffect">
                                  <p:stCondLst>
                                    <p:cond delay="0"/>
                                  </p:stCondLst>
                                  <p:childTnLst>
                                    <p:set>
                                      <p:cBhvr>
                                        <p:cTn id="47" dur="1" fill="hold">
                                          <p:stCondLst>
                                            <p:cond delay="0"/>
                                          </p:stCondLst>
                                        </p:cTn>
                                        <p:tgtEl>
                                          <p:spTgt spid="10"/>
                                        </p:tgtEl>
                                        <p:attrNameLst>
                                          <p:attrName>style.visibility</p:attrName>
                                        </p:attrNameLst>
                                      </p:cBhvr>
                                      <p:to>
                                        <p:strVal val="hidden"/>
                                      </p:to>
                                    </p:set>
                                  </p:childTnLst>
                                </p:cTn>
                              </p:par>
                            </p:childTnLst>
                          </p:cTn>
                        </p:par>
                        <p:par>
                          <p:cTn id="48" fill="hold">
                            <p:stCondLst>
                              <p:cond delay="0"/>
                            </p:stCondLst>
                            <p:childTnLst>
                              <p:par>
                                <p:cTn id="49" presetID="42" presetClass="path" presetSubtype="0" accel="50000" decel="50000" fill="hold" grpId="1" nodeType="afterEffect">
                                  <p:stCondLst>
                                    <p:cond delay="0"/>
                                  </p:stCondLst>
                                  <p:childTnLst>
                                    <p:animMotion origin="layout" path="M 4.16667E-7 4.07407E-6 L -0.04766 -0.3625 " pathEditMode="relative" rAng="0" ptsTypes="AA">
                                      <p:cBhvr>
                                        <p:cTn id="50" dur="2000" fill="hold"/>
                                        <p:tgtEl>
                                          <p:spTgt spid="70"/>
                                        </p:tgtEl>
                                        <p:attrNameLst>
                                          <p:attrName>ppt_x</p:attrName>
                                          <p:attrName>ppt_y</p:attrName>
                                        </p:attrNameLst>
                                      </p:cBhvr>
                                      <p:rCtr x="-2383" y="-1812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8" grpId="0"/>
      <p:bldP spid="59" grpId="0" animBg="1"/>
      <p:bldP spid="59" grpId="1" animBg="1"/>
      <p:bldP spid="70" grpId="0" animBg="1"/>
      <p:bldP spid="70"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椭圆 62">
            <a:extLst>
              <a:ext uri="{FF2B5EF4-FFF2-40B4-BE49-F238E27FC236}">
                <a16:creationId xmlns:a16="http://schemas.microsoft.com/office/drawing/2014/main" id="{7F6BE9D5-6E71-4F3C-B3A6-5D8661C9AEB9}"/>
              </a:ext>
            </a:extLst>
          </p:cNvPr>
          <p:cNvSpPr/>
          <p:nvPr/>
        </p:nvSpPr>
        <p:spPr>
          <a:xfrm>
            <a:off x="2888935" y="1682430"/>
            <a:ext cx="480483" cy="480483"/>
          </a:xfrm>
          <a:prstGeom prst="ellipse">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cxnSp>
        <p:nvCxnSpPr>
          <p:cNvPr id="5" name="直接连接符 4">
            <a:extLst>
              <a:ext uri="{FF2B5EF4-FFF2-40B4-BE49-F238E27FC236}">
                <a16:creationId xmlns:a16="http://schemas.microsoft.com/office/drawing/2014/main" id="{8DBC0FCA-5C40-4FCB-9AF6-A92162AB4D17}"/>
              </a:ext>
            </a:extLst>
          </p:cNvPr>
          <p:cNvCxnSpPr>
            <a:cxnSpLocks/>
          </p:cNvCxnSpPr>
          <p:nvPr/>
        </p:nvCxnSpPr>
        <p:spPr>
          <a:xfrm>
            <a:off x="769618" y="1604432"/>
            <a:ext cx="10805583" cy="0"/>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67B8D306-7EE6-4EB6-8BA7-03C1450FB368}"/>
              </a:ext>
            </a:extLst>
          </p:cNvPr>
          <p:cNvCxnSpPr>
            <a:cxnSpLocks/>
          </p:cNvCxnSpPr>
          <p:nvPr/>
        </p:nvCxnSpPr>
        <p:spPr>
          <a:xfrm>
            <a:off x="769618" y="2275416"/>
            <a:ext cx="10805583" cy="6349"/>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0C4FA2C1-7860-479C-8B8B-6EA851A5765A}"/>
              </a:ext>
            </a:extLst>
          </p:cNvPr>
          <p:cNvSpPr/>
          <p:nvPr/>
        </p:nvSpPr>
        <p:spPr>
          <a:xfrm>
            <a:off x="85428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11" name="直接连接符 10">
            <a:extLst>
              <a:ext uri="{FF2B5EF4-FFF2-40B4-BE49-F238E27FC236}">
                <a16:creationId xmlns:a16="http://schemas.microsoft.com/office/drawing/2014/main" id="{F60FFFF4-97F8-4FBB-BB15-3AB60B9C1165}"/>
              </a:ext>
            </a:extLst>
          </p:cNvPr>
          <p:cNvCxnSpPr>
            <a:cxnSpLocks/>
          </p:cNvCxnSpPr>
          <p:nvPr/>
        </p:nvCxnSpPr>
        <p:spPr>
          <a:xfrm>
            <a:off x="21200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2CF108A7-0299-4135-8F4D-B02F4D108F1D}"/>
              </a:ext>
            </a:extLst>
          </p:cNvPr>
          <p:cNvSpPr/>
          <p:nvPr/>
        </p:nvSpPr>
        <p:spPr>
          <a:xfrm>
            <a:off x="152103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13" name="直接连接符 12">
            <a:extLst>
              <a:ext uri="{FF2B5EF4-FFF2-40B4-BE49-F238E27FC236}">
                <a16:creationId xmlns:a16="http://schemas.microsoft.com/office/drawing/2014/main" id="{1BADC812-4777-48E0-947B-95EE7BA02146}"/>
              </a:ext>
            </a:extLst>
          </p:cNvPr>
          <p:cNvCxnSpPr>
            <a:cxnSpLocks/>
          </p:cNvCxnSpPr>
          <p:nvPr/>
        </p:nvCxnSpPr>
        <p:spPr>
          <a:xfrm>
            <a:off x="2791033"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32F86D06-59CB-42F0-9E70-67E4ADFC641F}"/>
              </a:ext>
            </a:extLst>
          </p:cNvPr>
          <p:cNvCxnSpPr>
            <a:cxnSpLocks/>
          </p:cNvCxnSpPr>
          <p:nvPr/>
        </p:nvCxnSpPr>
        <p:spPr>
          <a:xfrm>
            <a:off x="48061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49FC9901-59FE-4843-853D-AD43842D5443}"/>
              </a:ext>
            </a:extLst>
          </p:cNvPr>
          <p:cNvCxnSpPr>
            <a:cxnSpLocks/>
          </p:cNvCxnSpPr>
          <p:nvPr/>
        </p:nvCxnSpPr>
        <p:spPr>
          <a:xfrm>
            <a:off x="54792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C5E0CA6-D141-4B0E-A0C4-EFB5AFB4E3AF}"/>
              </a:ext>
            </a:extLst>
          </p:cNvPr>
          <p:cNvCxnSpPr>
            <a:cxnSpLocks/>
          </p:cNvCxnSpPr>
          <p:nvPr/>
        </p:nvCxnSpPr>
        <p:spPr>
          <a:xfrm>
            <a:off x="6198866"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095D976-BA5F-4898-87F2-A3BCABADC4A9}"/>
              </a:ext>
            </a:extLst>
          </p:cNvPr>
          <p:cNvCxnSpPr>
            <a:cxnSpLocks/>
          </p:cNvCxnSpPr>
          <p:nvPr/>
        </p:nvCxnSpPr>
        <p:spPr>
          <a:xfrm>
            <a:off x="6871966"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C944381C-78BD-45AE-8954-913D4A975100}"/>
              </a:ext>
            </a:extLst>
          </p:cNvPr>
          <p:cNvCxnSpPr>
            <a:cxnSpLocks/>
          </p:cNvCxnSpPr>
          <p:nvPr/>
        </p:nvCxnSpPr>
        <p:spPr>
          <a:xfrm>
            <a:off x="75429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23A038D-AEF7-4E5D-B02E-D1644CBDD90E}"/>
              </a:ext>
            </a:extLst>
          </p:cNvPr>
          <p:cNvCxnSpPr>
            <a:cxnSpLocks/>
          </p:cNvCxnSpPr>
          <p:nvPr/>
        </p:nvCxnSpPr>
        <p:spPr>
          <a:xfrm>
            <a:off x="82160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40C2CF7-C9DD-460C-AE31-5CA65F00D200}"/>
              </a:ext>
            </a:extLst>
          </p:cNvPr>
          <p:cNvCxnSpPr>
            <a:cxnSpLocks/>
          </p:cNvCxnSpPr>
          <p:nvPr/>
        </p:nvCxnSpPr>
        <p:spPr>
          <a:xfrm>
            <a:off x="8887033"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92237A86-9C67-43F0-8DDF-D4EFA67C696B}"/>
              </a:ext>
            </a:extLst>
          </p:cNvPr>
          <p:cNvCxnSpPr>
            <a:cxnSpLocks/>
          </p:cNvCxnSpPr>
          <p:nvPr/>
        </p:nvCxnSpPr>
        <p:spPr>
          <a:xfrm>
            <a:off x="95580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439C95B-56C7-40E5-AFCA-F40D39C7DD15}"/>
              </a:ext>
            </a:extLst>
          </p:cNvPr>
          <p:cNvCxnSpPr>
            <a:cxnSpLocks/>
          </p:cNvCxnSpPr>
          <p:nvPr/>
        </p:nvCxnSpPr>
        <p:spPr>
          <a:xfrm>
            <a:off x="102311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07FC3D32-257C-4F4F-963F-4D70AE49618A}"/>
              </a:ext>
            </a:extLst>
          </p:cNvPr>
          <p:cNvCxnSpPr>
            <a:cxnSpLocks/>
          </p:cNvCxnSpPr>
          <p:nvPr/>
        </p:nvCxnSpPr>
        <p:spPr>
          <a:xfrm>
            <a:off x="109021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F87988F8-E015-4735-87D5-4D316F3C76FE}"/>
              </a:ext>
            </a:extLst>
          </p:cNvPr>
          <p:cNvCxnSpPr>
            <a:cxnSpLocks/>
          </p:cNvCxnSpPr>
          <p:nvPr/>
        </p:nvCxnSpPr>
        <p:spPr>
          <a:xfrm>
            <a:off x="115752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097D475A-9A47-49BA-8130-9AFBD511AF5B}"/>
              </a:ext>
            </a:extLst>
          </p:cNvPr>
          <p:cNvSpPr/>
          <p:nvPr/>
        </p:nvSpPr>
        <p:spPr>
          <a:xfrm>
            <a:off x="22174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29" name="矩形 28">
            <a:extLst>
              <a:ext uri="{FF2B5EF4-FFF2-40B4-BE49-F238E27FC236}">
                <a16:creationId xmlns:a16="http://schemas.microsoft.com/office/drawing/2014/main" id="{5064CD42-8213-47F5-97C5-1C0FF815C725}"/>
              </a:ext>
            </a:extLst>
          </p:cNvPr>
          <p:cNvSpPr/>
          <p:nvPr/>
        </p:nvSpPr>
        <p:spPr>
          <a:xfrm>
            <a:off x="3523400" y="1775884"/>
            <a:ext cx="546945" cy="338554"/>
          </a:xfrm>
          <a:prstGeom prst="rect">
            <a:avLst/>
          </a:prstGeom>
        </p:spPr>
        <p:txBody>
          <a:bodyPr wrap="square">
            <a:spAutoFit/>
          </a:bodyPr>
          <a:lstStyle/>
          <a:p>
            <a:pPr>
              <a:defRPr/>
            </a:pPr>
            <a:r>
              <a:rPr lang="en-US" altLang="zh-CN" sz="1600" dirty="0">
                <a:latin typeface="微软雅黑" panose="020B0503020204020204" pitchFamily="34" charset="-122"/>
                <a:ea typeface="Alibaba PuHuiTi R"/>
              </a:rPr>
              <a:t>null</a:t>
            </a:r>
            <a:endParaRPr lang="zh-CN" altLang="en-US" sz="1600" dirty="0">
              <a:latin typeface="微软雅黑" panose="020B0503020204020204" pitchFamily="34" charset="-122"/>
              <a:ea typeface="Alibaba PuHuiTi R"/>
            </a:endParaRPr>
          </a:p>
        </p:txBody>
      </p:sp>
      <p:sp>
        <p:nvSpPr>
          <p:cNvPr id="30" name="矩形 29">
            <a:extLst>
              <a:ext uri="{FF2B5EF4-FFF2-40B4-BE49-F238E27FC236}">
                <a16:creationId xmlns:a16="http://schemas.microsoft.com/office/drawing/2014/main" id="{5A94079E-3238-40C9-ADA8-9EB79B434288}"/>
              </a:ext>
            </a:extLst>
          </p:cNvPr>
          <p:cNvSpPr/>
          <p:nvPr/>
        </p:nvSpPr>
        <p:spPr>
          <a:xfrm>
            <a:off x="420708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1" name="矩形 30">
            <a:extLst>
              <a:ext uri="{FF2B5EF4-FFF2-40B4-BE49-F238E27FC236}">
                <a16:creationId xmlns:a16="http://schemas.microsoft.com/office/drawing/2014/main" id="{64352502-E2A2-403D-A840-ED54DE51F912}"/>
              </a:ext>
            </a:extLst>
          </p:cNvPr>
          <p:cNvSpPr/>
          <p:nvPr/>
        </p:nvSpPr>
        <p:spPr>
          <a:xfrm>
            <a:off x="49034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2" name="矩形 31">
            <a:extLst>
              <a:ext uri="{FF2B5EF4-FFF2-40B4-BE49-F238E27FC236}">
                <a16:creationId xmlns:a16="http://schemas.microsoft.com/office/drawing/2014/main" id="{4C301F48-5583-493D-AB1D-1A109DB43325}"/>
              </a:ext>
            </a:extLst>
          </p:cNvPr>
          <p:cNvSpPr/>
          <p:nvPr/>
        </p:nvSpPr>
        <p:spPr>
          <a:xfrm>
            <a:off x="55702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3" name="矩形 32">
            <a:extLst>
              <a:ext uri="{FF2B5EF4-FFF2-40B4-BE49-F238E27FC236}">
                <a16:creationId xmlns:a16="http://schemas.microsoft.com/office/drawing/2014/main" id="{C9AA140A-8675-4DB5-AAFD-92B0877C1719}"/>
              </a:ext>
            </a:extLst>
          </p:cNvPr>
          <p:cNvSpPr/>
          <p:nvPr/>
        </p:nvSpPr>
        <p:spPr>
          <a:xfrm>
            <a:off x="628988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4" name="矩形 33">
            <a:extLst>
              <a:ext uri="{FF2B5EF4-FFF2-40B4-BE49-F238E27FC236}">
                <a16:creationId xmlns:a16="http://schemas.microsoft.com/office/drawing/2014/main" id="{025458F7-75DA-4E7D-B3F7-E6F31000C97F}"/>
              </a:ext>
            </a:extLst>
          </p:cNvPr>
          <p:cNvSpPr/>
          <p:nvPr/>
        </p:nvSpPr>
        <p:spPr>
          <a:xfrm>
            <a:off x="69545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5" name="矩形 34">
            <a:extLst>
              <a:ext uri="{FF2B5EF4-FFF2-40B4-BE49-F238E27FC236}">
                <a16:creationId xmlns:a16="http://schemas.microsoft.com/office/drawing/2014/main" id="{98DA4647-A9AA-41EA-9E54-84F7E5742A6A}"/>
              </a:ext>
            </a:extLst>
          </p:cNvPr>
          <p:cNvSpPr/>
          <p:nvPr/>
        </p:nvSpPr>
        <p:spPr>
          <a:xfrm>
            <a:off x="76530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6" name="矩形 35">
            <a:extLst>
              <a:ext uri="{FF2B5EF4-FFF2-40B4-BE49-F238E27FC236}">
                <a16:creationId xmlns:a16="http://schemas.microsoft.com/office/drawing/2014/main" id="{7F418C73-1215-4BAF-9E38-DCEE2E86E16D}"/>
              </a:ext>
            </a:extLst>
          </p:cNvPr>
          <p:cNvSpPr/>
          <p:nvPr/>
        </p:nvSpPr>
        <p:spPr>
          <a:xfrm>
            <a:off x="8317651"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7" name="矩形 36">
            <a:extLst>
              <a:ext uri="{FF2B5EF4-FFF2-40B4-BE49-F238E27FC236}">
                <a16:creationId xmlns:a16="http://schemas.microsoft.com/office/drawing/2014/main" id="{5193202D-B146-4F6C-BF8F-77D538E26E85}"/>
              </a:ext>
            </a:extLst>
          </p:cNvPr>
          <p:cNvSpPr/>
          <p:nvPr/>
        </p:nvSpPr>
        <p:spPr>
          <a:xfrm>
            <a:off x="897593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8" name="矩形 37">
            <a:extLst>
              <a:ext uri="{FF2B5EF4-FFF2-40B4-BE49-F238E27FC236}">
                <a16:creationId xmlns:a16="http://schemas.microsoft.com/office/drawing/2014/main" id="{B3D534AD-5842-4631-91EA-1F95E2AC7064}"/>
              </a:ext>
            </a:extLst>
          </p:cNvPr>
          <p:cNvSpPr/>
          <p:nvPr/>
        </p:nvSpPr>
        <p:spPr>
          <a:xfrm>
            <a:off x="96405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9" name="矩形 38">
            <a:extLst>
              <a:ext uri="{FF2B5EF4-FFF2-40B4-BE49-F238E27FC236}">
                <a16:creationId xmlns:a16="http://schemas.microsoft.com/office/drawing/2014/main" id="{EF38C6F1-D43E-482A-9A16-7EEACBCAC72A}"/>
              </a:ext>
            </a:extLst>
          </p:cNvPr>
          <p:cNvSpPr/>
          <p:nvPr/>
        </p:nvSpPr>
        <p:spPr>
          <a:xfrm>
            <a:off x="103390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40" name="矩形 39">
            <a:extLst>
              <a:ext uri="{FF2B5EF4-FFF2-40B4-BE49-F238E27FC236}">
                <a16:creationId xmlns:a16="http://schemas.microsoft.com/office/drawing/2014/main" id="{403079E0-AB2B-4FE1-8AE2-E5CD0EBE631B}"/>
              </a:ext>
            </a:extLst>
          </p:cNvPr>
          <p:cNvSpPr/>
          <p:nvPr/>
        </p:nvSpPr>
        <p:spPr>
          <a:xfrm>
            <a:off x="11003700"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41" name="矩形 40">
            <a:extLst>
              <a:ext uri="{FF2B5EF4-FFF2-40B4-BE49-F238E27FC236}">
                <a16:creationId xmlns:a16="http://schemas.microsoft.com/office/drawing/2014/main" id="{A269F245-4005-4198-BC4F-9215E2BB440B}"/>
              </a:ext>
            </a:extLst>
          </p:cNvPr>
          <p:cNvSpPr/>
          <p:nvPr/>
        </p:nvSpPr>
        <p:spPr>
          <a:xfrm>
            <a:off x="943184"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0</a:t>
            </a:r>
            <a:endParaRPr lang="zh-CN" altLang="en-US" sz="1600" dirty="0">
              <a:ea typeface="Alibaba PuHuiTi R"/>
            </a:endParaRPr>
          </a:p>
        </p:txBody>
      </p:sp>
      <p:sp>
        <p:nvSpPr>
          <p:cNvPr id="42" name="矩形 41">
            <a:extLst>
              <a:ext uri="{FF2B5EF4-FFF2-40B4-BE49-F238E27FC236}">
                <a16:creationId xmlns:a16="http://schemas.microsoft.com/office/drawing/2014/main" id="{66F71576-7715-4A8E-ABA3-BB090697A0E7}"/>
              </a:ext>
            </a:extLst>
          </p:cNvPr>
          <p:cNvSpPr/>
          <p:nvPr/>
        </p:nvSpPr>
        <p:spPr>
          <a:xfrm>
            <a:off x="160781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a:t>
            </a:r>
            <a:endParaRPr lang="zh-CN" altLang="en-US" sz="1600" dirty="0">
              <a:ea typeface="Alibaba PuHuiTi R"/>
            </a:endParaRPr>
          </a:p>
        </p:txBody>
      </p:sp>
      <p:sp>
        <p:nvSpPr>
          <p:cNvPr id="43" name="矩形 42">
            <a:extLst>
              <a:ext uri="{FF2B5EF4-FFF2-40B4-BE49-F238E27FC236}">
                <a16:creationId xmlns:a16="http://schemas.microsoft.com/office/drawing/2014/main" id="{F448B3C4-BC25-4FA2-93C8-33982661B21C}"/>
              </a:ext>
            </a:extLst>
          </p:cNvPr>
          <p:cNvSpPr/>
          <p:nvPr/>
        </p:nvSpPr>
        <p:spPr>
          <a:xfrm>
            <a:off x="230631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2</a:t>
            </a:r>
            <a:endParaRPr lang="zh-CN" altLang="en-US" sz="1600" dirty="0">
              <a:ea typeface="Alibaba PuHuiTi R"/>
            </a:endParaRPr>
          </a:p>
        </p:txBody>
      </p:sp>
      <p:sp>
        <p:nvSpPr>
          <p:cNvPr id="44" name="矩形 43">
            <a:extLst>
              <a:ext uri="{FF2B5EF4-FFF2-40B4-BE49-F238E27FC236}">
                <a16:creationId xmlns:a16="http://schemas.microsoft.com/office/drawing/2014/main" id="{1D1B81D8-ACF6-418A-A318-D81BD890DC5D}"/>
              </a:ext>
            </a:extLst>
          </p:cNvPr>
          <p:cNvSpPr/>
          <p:nvPr/>
        </p:nvSpPr>
        <p:spPr>
          <a:xfrm>
            <a:off x="2970951"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3</a:t>
            </a:r>
            <a:endParaRPr lang="zh-CN" altLang="en-US" sz="1600" dirty="0">
              <a:ea typeface="Alibaba PuHuiTi R"/>
            </a:endParaRPr>
          </a:p>
        </p:txBody>
      </p:sp>
      <p:sp>
        <p:nvSpPr>
          <p:cNvPr id="45" name="矩形 44">
            <a:extLst>
              <a:ext uri="{FF2B5EF4-FFF2-40B4-BE49-F238E27FC236}">
                <a16:creationId xmlns:a16="http://schemas.microsoft.com/office/drawing/2014/main" id="{189FBC6B-07F1-4D16-94BD-E4EDD8348CB8}"/>
              </a:ext>
            </a:extLst>
          </p:cNvPr>
          <p:cNvSpPr/>
          <p:nvPr/>
        </p:nvSpPr>
        <p:spPr>
          <a:xfrm>
            <a:off x="3629233"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4</a:t>
            </a:r>
            <a:endParaRPr lang="zh-CN" altLang="en-US" sz="1600" dirty="0">
              <a:ea typeface="Alibaba PuHuiTi R"/>
            </a:endParaRPr>
          </a:p>
        </p:txBody>
      </p:sp>
      <p:sp>
        <p:nvSpPr>
          <p:cNvPr id="46" name="矩形 45">
            <a:extLst>
              <a:ext uri="{FF2B5EF4-FFF2-40B4-BE49-F238E27FC236}">
                <a16:creationId xmlns:a16="http://schemas.microsoft.com/office/drawing/2014/main" id="{E0A88931-CE51-4029-8A66-031F513F10AB}"/>
              </a:ext>
            </a:extLst>
          </p:cNvPr>
          <p:cNvSpPr/>
          <p:nvPr/>
        </p:nvSpPr>
        <p:spPr>
          <a:xfrm>
            <a:off x="429386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5</a:t>
            </a:r>
            <a:endParaRPr lang="zh-CN" altLang="en-US" sz="1600" dirty="0">
              <a:ea typeface="Alibaba PuHuiTi R"/>
            </a:endParaRPr>
          </a:p>
        </p:txBody>
      </p:sp>
      <p:sp>
        <p:nvSpPr>
          <p:cNvPr id="47" name="矩形 46">
            <a:extLst>
              <a:ext uri="{FF2B5EF4-FFF2-40B4-BE49-F238E27FC236}">
                <a16:creationId xmlns:a16="http://schemas.microsoft.com/office/drawing/2014/main" id="{BDCD3623-CA44-4CC2-9B40-11483CB4D8F1}"/>
              </a:ext>
            </a:extLst>
          </p:cNvPr>
          <p:cNvSpPr/>
          <p:nvPr/>
        </p:nvSpPr>
        <p:spPr>
          <a:xfrm>
            <a:off x="499236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6</a:t>
            </a:r>
            <a:endParaRPr lang="zh-CN" altLang="en-US" sz="1600" dirty="0">
              <a:ea typeface="Alibaba PuHuiTi R"/>
            </a:endParaRPr>
          </a:p>
        </p:txBody>
      </p:sp>
      <p:sp>
        <p:nvSpPr>
          <p:cNvPr id="48" name="矩形 47">
            <a:extLst>
              <a:ext uri="{FF2B5EF4-FFF2-40B4-BE49-F238E27FC236}">
                <a16:creationId xmlns:a16="http://schemas.microsoft.com/office/drawing/2014/main" id="{805908F3-D2F6-4018-B6C7-2D6F2EA7B499}"/>
              </a:ext>
            </a:extLst>
          </p:cNvPr>
          <p:cNvSpPr/>
          <p:nvPr/>
        </p:nvSpPr>
        <p:spPr>
          <a:xfrm>
            <a:off x="5657000"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7</a:t>
            </a:r>
            <a:endParaRPr lang="zh-CN" altLang="en-US" sz="1600" dirty="0">
              <a:ea typeface="Alibaba PuHuiTi R"/>
            </a:endParaRPr>
          </a:p>
        </p:txBody>
      </p:sp>
      <p:sp>
        <p:nvSpPr>
          <p:cNvPr id="49" name="矩形 48">
            <a:extLst>
              <a:ext uri="{FF2B5EF4-FFF2-40B4-BE49-F238E27FC236}">
                <a16:creationId xmlns:a16="http://schemas.microsoft.com/office/drawing/2014/main" id="{597FA6D2-2906-4390-95EA-73D862DC94FE}"/>
              </a:ext>
            </a:extLst>
          </p:cNvPr>
          <p:cNvSpPr/>
          <p:nvPr/>
        </p:nvSpPr>
        <p:spPr>
          <a:xfrm>
            <a:off x="637666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8</a:t>
            </a:r>
            <a:endParaRPr lang="zh-CN" altLang="en-US" sz="1600" dirty="0">
              <a:ea typeface="Alibaba PuHuiTi R"/>
            </a:endParaRPr>
          </a:p>
        </p:txBody>
      </p:sp>
      <p:sp>
        <p:nvSpPr>
          <p:cNvPr id="50" name="矩形 49">
            <a:extLst>
              <a:ext uri="{FF2B5EF4-FFF2-40B4-BE49-F238E27FC236}">
                <a16:creationId xmlns:a16="http://schemas.microsoft.com/office/drawing/2014/main" id="{1197A8F8-6FB5-4A1D-A672-61C46C6E3966}"/>
              </a:ext>
            </a:extLst>
          </p:cNvPr>
          <p:cNvSpPr/>
          <p:nvPr/>
        </p:nvSpPr>
        <p:spPr>
          <a:xfrm>
            <a:off x="704341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9</a:t>
            </a:r>
            <a:endParaRPr lang="zh-CN" altLang="en-US" sz="1600" dirty="0">
              <a:ea typeface="Alibaba PuHuiTi R"/>
            </a:endParaRPr>
          </a:p>
        </p:txBody>
      </p:sp>
      <p:sp>
        <p:nvSpPr>
          <p:cNvPr id="51" name="矩形 50">
            <a:extLst>
              <a:ext uri="{FF2B5EF4-FFF2-40B4-BE49-F238E27FC236}">
                <a16:creationId xmlns:a16="http://schemas.microsoft.com/office/drawing/2014/main" id="{8E4622E3-8BC2-4C10-A260-4B0B2BFBB1C5}"/>
              </a:ext>
            </a:extLst>
          </p:cNvPr>
          <p:cNvSpPr/>
          <p:nvPr/>
        </p:nvSpPr>
        <p:spPr>
          <a:xfrm>
            <a:off x="7661484"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10</a:t>
            </a:r>
            <a:endParaRPr lang="zh-CN" altLang="en-US" sz="1600" dirty="0">
              <a:ea typeface="Alibaba PuHuiTi R"/>
            </a:endParaRPr>
          </a:p>
        </p:txBody>
      </p:sp>
      <p:sp>
        <p:nvSpPr>
          <p:cNvPr id="52" name="矩形 51">
            <a:extLst>
              <a:ext uri="{FF2B5EF4-FFF2-40B4-BE49-F238E27FC236}">
                <a16:creationId xmlns:a16="http://schemas.microsoft.com/office/drawing/2014/main" id="{5E7A2FA3-2070-487D-B70F-7B77E2ECA6CA}"/>
              </a:ext>
            </a:extLst>
          </p:cNvPr>
          <p:cNvSpPr/>
          <p:nvPr/>
        </p:nvSpPr>
        <p:spPr>
          <a:xfrm>
            <a:off x="8328233"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11</a:t>
            </a:r>
            <a:endParaRPr lang="zh-CN" altLang="en-US" sz="1600" dirty="0">
              <a:ea typeface="Alibaba PuHuiTi R"/>
            </a:endParaRPr>
          </a:p>
        </p:txBody>
      </p:sp>
      <p:sp>
        <p:nvSpPr>
          <p:cNvPr id="53" name="矩形 52">
            <a:extLst>
              <a:ext uri="{FF2B5EF4-FFF2-40B4-BE49-F238E27FC236}">
                <a16:creationId xmlns:a16="http://schemas.microsoft.com/office/drawing/2014/main" id="{39391A35-CFD8-49AD-81D3-36472B9C4ED7}"/>
              </a:ext>
            </a:extLst>
          </p:cNvPr>
          <p:cNvSpPr/>
          <p:nvPr/>
        </p:nvSpPr>
        <p:spPr>
          <a:xfrm>
            <a:off x="8986517"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12</a:t>
            </a:r>
            <a:endParaRPr lang="zh-CN" altLang="en-US" sz="1600" dirty="0">
              <a:ea typeface="Alibaba PuHuiTi R"/>
            </a:endParaRPr>
          </a:p>
        </p:txBody>
      </p:sp>
      <p:sp>
        <p:nvSpPr>
          <p:cNvPr id="54" name="矩形 53">
            <a:extLst>
              <a:ext uri="{FF2B5EF4-FFF2-40B4-BE49-F238E27FC236}">
                <a16:creationId xmlns:a16="http://schemas.microsoft.com/office/drawing/2014/main" id="{06CE39A7-A2B7-4174-A362-2B4DD47368C3}"/>
              </a:ext>
            </a:extLst>
          </p:cNvPr>
          <p:cNvSpPr/>
          <p:nvPr/>
        </p:nvSpPr>
        <p:spPr>
          <a:xfrm>
            <a:off x="9651151"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13</a:t>
            </a:r>
            <a:endParaRPr lang="zh-CN" altLang="en-US" sz="1600" dirty="0">
              <a:ea typeface="Alibaba PuHuiTi R"/>
            </a:endParaRPr>
          </a:p>
        </p:txBody>
      </p:sp>
      <p:sp>
        <p:nvSpPr>
          <p:cNvPr id="55" name="矩形 54">
            <a:extLst>
              <a:ext uri="{FF2B5EF4-FFF2-40B4-BE49-F238E27FC236}">
                <a16:creationId xmlns:a16="http://schemas.microsoft.com/office/drawing/2014/main" id="{2ACD3C91-D719-47AA-BE19-EE1069C67352}"/>
              </a:ext>
            </a:extLst>
          </p:cNvPr>
          <p:cNvSpPr/>
          <p:nvPr/>
        </p:nvSpPr>
        <p:spPr>
          <a:xfrm>
            <a:off x="10349651"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14</a:t>
            </a:r>
            <a:endParaRPr lang="zh-CN" altLang="en-US" sz="1600" dirty="0">
              <a:ea typeface="Alibaba PuHuiTi R"/>
            </a:endParaRPr>
          </a:p>
        </p:txBody>
      </p:sp>
      <p:sp>
        <p:nvSpPr>
          <p:cNvPr id="56" name="矩形 55">
            <a:extLst>
              <a:ext uri="{FF2B5EF4-FFF2-40B4-BE49-F238E27FC236}">
                <a16:creationId xmlns:a16="http://schemas.microsoft.com/office/drawing/2014/main" id="{62993B67-AA05-4911-8E25-2158D6DF5F10}"/>
              </a:ext>
            </a:extLst>
          </p:cNvPr>
          <p:cNvSpPr/>
          <p:nvPr/>
        </p:nvSpPr>
        <p:spPr>
          <a:xfrm>
            <a:off x="11014284"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15</a:t>
            </a:r>
            <a:endParaRPr lang="zh-CN" altLang="en-US" sz="1600" dirty="0">
              <a:ea typeface="Alibaba PuHuiTi R"/>
            </a:endParaRPr>
          </a:p>
        </p:txBody>
      </p:sp>
      <p:sp>
        <p:nvSpPr>
          <p:cNvPr id="2" name="矩形 1">
            <a:extLst>
              <a:ext uri="{FF2B5EF4-FFF2-40B4-BE49-F238E27FC236}">
                <a16:creationId xmlns:a16="http://schemas.microsoft.com/office/drawing/2014/main" id="{860589D5-1847-42D9-8DAE-F5A00A5BCE2A}"/>
              </a:ext>
            </a:extLst>
          </p:cNvPr>
          <p:cNvSpPr/>
          <p:nvPr/>
        </p:nvSpPr>
        <p:spPr>
          <a:xfrm>
            <a:off x="10576134" y="1079500"/>
            <a:ext cx="816249"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table[]</a:t>
            </a:r>
            <a:endParaRPr lang="zh-CN" altLang="en-US" sz="1600" dirty="0">
              <a:ea typeface="Alibaba PuHuiTi R"/>
            </a:endParaRPr>
          </a:p>
        </p:txBody>
      </p:sp>
      <p:cxnSp>
        <p:nvCxnSpPr>
          <p:cNvPr id="15" name="直接连接符 14">
            <a:extLst>
              <a:ext uri="{FF2B5EF4-FFF2-40B4-BE49-F238E27FC236}">
                <a16:creationId xmlns:a16="http://schemas.microsoft.com/office/drawing/2014/main" id="{D671929C-2148-49E8-A006-C260BCD403FD}"/>
              </a:ext>
            </a:extLst>
          </p:cNvPr>
          <p:cNvCxnSpPr>
            <a:cxnSpLocks/>
          </p:cNvCxnSpPr>
          <p:nvPr/>
        </p:nvCxnSpPr>
        <p:spPr>
          <a:xfrm>
            <a:off x="41351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CDF6C1CE-FD63-4075-9399-FE636D792325}"/>
              </a:ext>
            </a:extLst>
          </p:cNvPr>
          <p:cNvCxnSpPr>
            <a:cxnSpLocks/>
          </p:cNvCxnSpPr>
          <p:nvPr/>
        </p:nvCxnSpPr>
        <p:spPr>
          <a:xfrm>
            <a:off x="34620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AF49D4C-23B2-49F7-88D1-1BD9681222EB}"/>
              </a:ext>
            </a:extLst>
          </p:cNvPr>
          <p:cNvCxnSpPr>
            <a:cxnSpLocks/>
          </p:cNvCxnSpPr>
          <p:nvPr/>
        </p:nvCxnSpPr>
        <p:spPr>
          <a:xfrm>
            <a:off x="7696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F8D7D69A-1253-4BDF-B027-ACF7E4A1A313}"/>
              </a:ext>
            </a:extLst>
          </p:cNvPr>
          <p:cNvCxnSpPr>
            <a:cxnSpLocks/>
          </p:cNvCxnSpPr>
          <p:nvPr/>
        </p:nvCxnSpPr>
        <p:spPr>
          <a:xfrm>
            <a:off x="14469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3256291A-6447-4C28-90F2-B0D1AF805C66}"/>
              </a:ext>
            </a:extLst>
          </p:cNvPr>
          <p:cNvSpPr/>
          <p:nvPr/>
        </p:nvSpPr>
        <p:spPr>
          <a:xfrm>
            <a:off x="5409012" y="2814631"/>
            <a:ext cx="6889663" cy="3966535"/>
          </a:xfrm>
          <a:prstGeom prst="rect">
            <a:avLst/>
          </a:prstGeom>
        </p:spPr>
        <p:txBody>
          <a:bodyPr wrap="square">
            <a:spAutoFit/>
          </a:bodyPr>
          <a:lstStyle/>
          <a:p>
            <a:pPr marL="342900" indent="-342900">
              <a:lnSpc>
                <a:spcPct val="2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创建一个默认长度</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16</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的数组，默认加载因子为</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0.75</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，数组名</a:t>
            </a:r>
            <a:r>
              <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table</a:t>
            </a:r>
          </a:p>
          <a:p>
            <a:pPr marL="342900" indent="-342900">
              <a:lnSpc>
                <a:spcPct val="200000"/>
              </a:lnSpc>
              <a:buFont typeface="+mj-ea"/>
              <a:buAutoNum type="circleNumDbPlain"/>
              <a:defRPr/>
            </a:pP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使用元素的</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哈希值</a:t>
            </a: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对</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数组的长度做运算</a:t>
            </a: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计算出应存入的位置</a:t>
            </a:r>
            <a:endPar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a:lnSpc>
                <a:spcPct val="200000"/>
              </a:lnSpc>
              <a:buFont typeface="+mj-ea"/>
              <a:buAutoNum type="circleNumDbPlain"/>
              <a:defRPr/>
            </a:pP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判断当前位置是否为</a:t>
            </a:r>
            <a:r>
              <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，如果是</a:t>
            </a:r>
            <a:r>
              <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直接存入</a:t>
            </a:r>
            <a:endPar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a:lnSpc>
                <a:spcPct val="200000"/>
              </a:lnSpc>
              <a:buFont typeface="+mj-ea"/>
              <a:buAutoNum type="circleNumDbPlain"/>
              <a:defRPr/>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如果不为</a:t>
            </a:r>
            <a:r>
              <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，表示有元素，则调用</a:t>
            </a:r>
            <a:r>
              <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equals</a:t>
            </a: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方法比较</a:t>
            </a:r>
            <a:endPar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200000"/>
              </a:lnSpc>
              <a:defRPr/>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相等，则不存；不相等，则存入数组</a:t>
            </a:r>
            <a:endPar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742950" lvl="1" indent="-285750">
              <a:lnSpc>
                <a:spcPct val="200000"/>
              </a:lnSpc>
              <a:buFont typeface="Wingdings" panose="05000000000000000000" pitchFamily="2" charset="2"/>
              <a:buChar char="l"/>
              <a:defRPr/>
            </a:pP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JDK 8</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之前，新元素存入数组，占老元素位置，老元素挂下面</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742950" lvl="1" indent="-285750">
              <a:lnSpc>
                <a:spcPct val="200000"/>
              </a:lnSpc>
              <a:buFont typeface="Wingdings" panose="05000000000000000000" pitchFamily="2" charset="2"/>
              <a:buChar char="l"/>
              <a:defRPr/>
            </a:pP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JDK 8</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开始之后，新元素直接挂在老元素下面</a:t>
            </a:r>
            <a:endPar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200000"/>
              </a:lnSpc>
              <a:defRPr/>
            </a:pPr>
            <a:r>
              <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p>
        </p:txBody>
      </p:sp>
      <p:sp>
        <p:nvSpPr>
          <p:cNvPr id="69" name="TextBox 2">
            <a:extLst>
              <a:ext uri="{FF2B5EF4-FFF2-40B4-BE49-F238E27FC236}">
                <a16:creationId xmlns:a16="http://schemas.microsoft.com/office/drawing/2014/main" id="{17972C20-5260-48C9-A184-040B336042A1}"/>
              </a:ext>
            </a:extLst>
          </p:cNvPr>
          <p:cNvSpPr txBox="1"/>
          <p:nvPr/>
        </p:nvSpPr>
        <p:spPr>
          <a:xfrm>
            <a:off x="769618" y="934083"/>
            <a:ext cx="6731845" cy="466652"/>
          </a:xfrm>
          <a:prstGeom prst="rect">
            <a:avLst/>
          </a:prstGeom>
          <a:noFill/>
        </p:spPr>
        <p:txBody>
          <a:bodyPr wrap="square">
            <a:spAutoFit/>
          </a:bodyPr>
          <a:lstStyle/>
          <a:p>
            <a:pPr>
              <a:lnSpc>
                <a:spcPct val="150000"/>
              </a:lnSpc>
              <a:defRPr/>
            </a:pPr>
            <a:r>
              <a:rPr lang="en-US" altLang="zh-CN"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之前的哈希表：</a:t>
            </a:r>
            <a:r>
              <a:rPr lang="zh-CN" altLang="en-US"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a:t>
            </a:r>
            <a:r>
              <a:rPr lang="en-US" altLang="zh-CN"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链表</a:t>
            </a:r>
            <a:endParaRPr lang="zh-CN" altLang="en-US"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4" name="椭圆 63">
            <a:extLst>
              <a:ext uri="{FF2B5EF4-FFF2-40B4-BE49-F238E27FC236}">
                <a16:creationId xmlns:a16="http://schemas.microsoft.com/office/drawing/2014/main" id="{81023B18-1DE5-420A-A677-29DEB93EFBD9}"/>
              </a:ext>
            </a:extLst>
          </p:cNvPr>
          <p:cNvSpPr/>
          <p:nvPr/>
        </p:nvSpPr>
        <p:spPr>
          <a:xfrm>
            <a:off x="881802" y="1700852"/>
            <a:ext cx="480483" cy="480483"/>
          </a:xfrm>
          <a:prstGeom prst="ellipse">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sp>
        <p:nvSpPr>
          <p:cNvPr id="65" name="椭圆 64">
            <a:extLst>
              <a:ext uri="{FF2B5EF4-FFF2-40B4-BE49-F238E27FC236}">
                <a16:creationId xmlns:a16="http://schemas.microsoft.com/office/drawing/2014/main" id="{A876341D-16F4-43BF-95F8-65CEDD582CA7}"/>
              </a:ext>
            </a:extLst>
          </p:cNvPr>
          <p:cNvSpPr/>
          <p:nvPr/>
        </p:nvSpPr>
        <p:spPr>
          <a:xfrm>
            <a:off x="1367875" y="3813273"/>
            <a:ext cx="478367" cy="480484"/>
          </a:xfrm>
          <a:prstGeom prst="ellipse">
            <a:avLst/>
          </a:prstGeom>
          <a:solidFill>
            <a:srgbClr val="79A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cxnSp>
        <p:nvCxnSpPr>
          <p:cNvPr id="66" name="直接箭头连接符 65">
            <a:extLst>
              <a:ext uri="{FF2B5EF4-FFF2-40B4-BE49-F238E27FC236}">
                <a16:creationId xmlns:a16="http://schemas.microsoft.com/office/drawing/2014/main" id="{F2A15DBF-D58C-486E-82D1-CB2E0D7A7B3E}"/>
              </a:ext>
            </a:extLst>
          </p:cNvPr>
          <p:cNvCxnSpPr>
            <a:stCxn id="65" idx="7"/>
          </p:cNvCxnSpPr>
          <p:nvPr/>
        </p:nvCxnSpPr>
        <p:spPr>
          <a:xfrm flipV="1">
            <a:off x="1776187" y="2560207"/>
            <a:ext cx="1299019" cy="13234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直接箭头连接符 3">
            <a:extLst>
              <a:ext uri="{FF2B5EF4-FFF2-40B4-BE49-F238E27FC236}">
                <a16:creationId xmlns:a16="http://schemas.microsoft.com/office/drawing/2014/main" id="{6C802B25-8977-48ED-9B8D-14FB81972CFF}"/>
              </a:ext>
            </a:extLst>
          </p:cNvPr>
          <p:cNvCxnSpPr>
            <a:cxnSpLocks/>
          </p:cNvCxnSpPr>
          <p:nvPr/>
        </p:nvCxnSpPr>
        <p:spPr>
          <a:xfrm>
            <a:off x="3123397" y="2162913"/>
            <a:ext cx="0" cy="82385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 name="标题 2">
            <a:extLst>
              <a:ext uri="{FF2B5EF4-FFF2-40B4-BE49-F238E27FC236}">
                <a16:creationId xmlns:a16="http://schemas.microsoft.com/office/drawing/2014/main" id="{887214C5-6EF4-FB29-43EC-D2A72D46C3FD}"/>
              </a:ext>
            </a:extLst>
          </p:cNvPr>
          <p:cNvSpPr>
            <a:spLocks noGrp="1"/>
          </p:cNvSpPr>
          <p:nvPr>
            <p:ph type="title"/>
          </p:nvPr>
        </p:nvSpPr>
        <p:spPr/>
        <p:txBody>
          <a:bodyPr/>
          <a:lstStyle/>
          <a:p>
            <a:r>
              <a:rPr lang="en-US" altLang="zh-CN" dirty="0"/>
              <a:t>HashSet</a:t>
            </a:r>
            <a:r>
              <a:rPr lang="zh-CN" altLang="en-US" dirty="0"/>
              <a:t>集合的底层原理</a:t>
            </a:r>
          </a:p>
        </p:txBody>
      </p:sp>
    </p:spTree>
    <p:extLst>
      <p:ext uri="{BB962C8B-B14F-4D97-AF65-F5344CB8AC3E}">
        <p14:creationId xmlns:p14="http://schemas.microsoft.com/office/powerpoint/2010/main" val="2683376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wipe(down)">
                                      <p:cBhvr>
                                        <p:cTn id="11" dur="500"/>
                                        <p:tgtEl>
                                          <p:spTgt spid="6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8">
                                            <p:txEl>
                                              <p:pRg st="3" end="3"/>
                                            </p:txEl>
                                          </p:spTgt>
                                        </p:tgtEl>
                                        <p:attrNameLst>
                                          <p:attrName>style.visibility</p:attrName>
                                        </p:attrNameLst>
                                      </p:cBhvr>
                                      <p:to>
                                        <p:strVal val="visible"/>
                                      </p:to>
                                    </p:set>
                                    <p:animEffect transition="in" filter="wipe(left)">
                                      <p:cBhvr>
                                        <p:cTn id="16" dur="500"/>
                                        <p:tgtEl>
                                          <p:spTgt spid="78">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8">
                                            <p:txEl>
                                              <p:pRg st="4" end="4"/>
                                            </p:txEl>
                                          </p:spTgt>
                                        </p:tgtEl>
                                        <p:attrNameLst>
                                          <p:attrName>style.visibility</p:attrName>
                                        </p:attrNameLst>
                                      </p:cBhvr>
                                      <p:to>
                                        <p:strVal val="visible"/>
                                      </p:to>
                                    </p:set>
                                    <p:animEffect transition="in" filter="wipe(left)">
                                      <p:cBhvr>
                                        <p:cTn id="21" dur="500"/>
                                        <p:tgtEl>
                                          <p:spTgt spid="78">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8">
                                            <p:txEl>
                                              <p:pRg st="5" end="5"/>
                                            </p:txEl>
                                          </p:spTgt>
                                        </p:tgtEl>
                                        <p:attrNameLst>
                                          <p:attrName>style.visibility</p:attrName>
                                        </p:attrNameLst>
                                      </p:cBhvr>
                                      <p:to>
                                        <p:strVal val="visible"/>
                                      </p:to>
                                    </p:set>
                                    <p:animEffect transition="in" filter="wipe(left)">
                                      <p:cBhvr>
                                        <p:cTn id="26" dur="500"/>
                                        <p:tgtEl>
                                          <p:spTgt spid="78">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78">
                                            <p:txEl>
                                              <p:pRg st="6" end="6"/>
                                            </p:txEl>
                                          </p:spTgt>
                                        </p:tgtEl>
                                        <p:attrNameLst>
                                          <p:attrName>style.visibility</p:attrName>
                                        </p:attrNameLst>
                                      </p:cBhvr>
                                      <p:to>
                                        <p:strVal val="visible"/>
                                      </p:to>
                                    </p:set>
                                    <p:animEffect transition="in" filter="wipe(left)">
                                      <p:cBhvr>
                                        <p:cTn id="31" dur="500"/>
                                        <p:tgtEl>
                                          <p:spTgt spid="78">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path" presetSubtype="0" accel="50000" decel="50000" fill="hold" grpId="0" nodeType="clickEffect">
                                  <p:stCondLst>
                                    <p:cond delay="0"/>
                                  </p:stCondLst>
                                  <p:childTnLst>
                                    <p:animMotion origin="layout" path="M -1.875E-6 3.7037E-7 L -0.00338 0.19306 " pathEditMode="relative" rAng="0" ptsTypes="AA">
                                      <p:cBhvr>
                                        <p:cTn id="35" dur="2000" fill="hold"/>
                                        <p:tgtEl>
                                          <p:spTgt spid="63"/>
                                        </p:tgtEl>
                                        <p:attrNameLst>
                                          <p:attrName>ppt_x</p:attrName>
                                          <p:attrName>ppt_y</p:attrName>
                                        </p:attrNameLst>
                                      </p:cBhvr>
                                      <p:rCtr x="-169" y="9653"/>
                                    </p:animMotion>
                                  </p:childTnLst>
                                </p:cTn>
                              </p:par>
                            </p:childTnLst>
                          </p:cTn>
                        </p:par>
                      </p:childTnLst>
                    </p:cTn>
                  </p:par>
                  <p:par>
                    <p:cTn id="36" fill="hold">
                      <p:stCondLst>
                        <p:cond delay="indefinite"/>
                      </p:stCondLst>
                      <p:childTnLst>
                        <p:par>
                          <p:cTn id="37" fill="hold">
                            <p:stCondLst>
                              <p:cond delay="0"/>
                            </p:stCondLst>
                            <p:childTnLst>
                              <p:par>
                                <p:cTn id="38" presetID="42" presetClass="path" presetSubtype="0" accel="50000" decel="50000" fill="hold" grpId="1" nodeType="clickEffect">
                                  <p:stCondLst>
                                    <p:cond delay="0"/>
                                  </p:stCondLst>
                                  <p:childTnLst>
                                    <p:animMotion origin="layout" path="M -8.33333E-7 -2.22222E-6 L 0.12566 -0.31134 " pathEditMode="relative" rAng="0" ptsTypes="AA">
                                      <p:cBhvr>
                                        <p:cTn id="39" dur="2000" fill="hold"/>
                                        <p:tgtEl>
                                          <p:spTgt spid="65"/>
                                        </p:tgtEl>
                                        <p:attrNameLst>
                                          <p:attrName>ppt_x</p:attrName>
                                          <p:attrName>ppt_y</p:attrName>
                                        </p:attrNameLst>
                                      </p:cBhvr>
                                      <p:rCtr x="6380" y="-15509"/>
                                    </p:animMotion>
                                  </p:childTnLst>
                                </p:cTn>
                              </p:par>
                              <p:par>
                                <p:cTn id="40" presetID="22" presetClass="exit" presetSubtype="4" fill="hold" nodeType="withEffect">
                                  <p:stCondLst>
                                    <p:cond delay="0"/>
                                  </p:stCondLst>
                                  <p:childTnLst>
                                    <p:animEffect transition="out" filter="wipe(down)">
                                      <p:cBhvr>
                                        <p:cTn id="41" dur="500"/>
                                        <p:tgtEl>
                                          <p:spTgt spid="66"/>
                                        </p:tgtEl>
                                      </p:cBhvr>
                                    </p:animEffect>
                                    <p:set>
                                      <p:cBhvr>
                                        <p:cTn id="42" dur="1" fill="hold">
                                          <p:stCondLst>
                                            <p:cond delay="499"/>
                                          </p:stCondLst>
                                        </p:cTn>
                                        <p:tgtEl>
                                          <p:spTgt spid="6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up)">
                                      <p:cBhvr>
                                        <p:cTn id="4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5" grpId="0" animBg="1"/>
      <p:bldP spid="65"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椭圆 64">
            <a:extLst>
              <a:ext uri="{FF2B5EF4-FFF2-40B4-BE49-F238E27FC236}">
                <a16:creationId xmlns:a16="http://schemas.microsoft.com/office/drawing/2014/main" id="{A876341D-16F4-43BF-95F8-65CEDD582CA7}"/>
              </a:ext>
            </a:extLst>
          </p:cNvPr>
          <p:cNvSpPr/>
          <p:nvPr/>
        </p:nvSpPr>
        <p:spPr>
          <a:xfrm>
            <a:off x="2879934" y="1676083"/>
            <a:ext cx="478367" cy="480484"/>
          </a:xfrm>
          <a:prstGeom prst="ellipse">
            <a:avLst/>
          </a:prstGeom>
          <a:solidFill>
            <a:srgbClr val="79A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cxnSp>
        <p:nvCxnSpPr>
          <p:cNvPr id="5" name="直接连接符 4">
            <a:extLst>
              <a:ext uri="{FF2B5EF4-FFF2-40B4-BE49-F238E27FC236}">
                <a16:creationId xmlns:a16="http://schemas.microsoft.com/office/drawing/2014/main" id="{8DBC0FCA-5C40-4FCB-9AF6-A92162AB4D17}"/>
              </a:ext>
            </a:extLst>
          </p:cNvPr>
          <p:cNvCxnSpPr>
            <a:cxnSpLocks/>
          </p:cNvCxnSpPr>
          <p:nvPr/>
        </p:nvCxnSpPr>
        <p:spPr>
          <a:xfrm>
            <a:off x="769618" y="1604432"/>
            <a:ext cx="10805583" cy="0"/>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67B8D306-7EE6-4EB6-8BA7-03C1450FB368}"/>
              </a:ext>
            </a:extLst>
          </p:cNvPr>
          <p:cNvCxnSpPr>
            <a:cxnSpLocks/>
          </p:cNvCxnSpPr>
          <p:nvPr/>
        </p:nvCxnSpPr>
        <p:spPr>
          <a:xfrm>
            <a:off x="769618" y="2275416"/>
            <a:ext cx="10805583" cy="6349"/>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0C4FA2C1-7860-479C-8B8B-6EA851A5765A}"/>
              </a:ext>
            </a:extLst>
          </p:cNvPr>
          <p:cNvSpPr/>
          <p:nvPr/>
        </p:nvSpPr>
        <p:spPr>
          <a:xfrm>
            <a:off x="85428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11" name="直接连接符 10">
            <a:extLst>
              <a:ext uri="{FF2B5EF4-FFF2-40B4-BE49-F238E27FC236}">
                <a16:creationId xmlns:a16="http://schemas.microsoft.com/office/drawing/2014/main" id="{F60FFFF4-97F8-4FBB-BB15-3AB60B9C1165}"/>
              </a:ext>
            </a:extLst>
          </p:cNvPr>
          <p:cNvCxnSpPr>
            <a:cxnSpLocks/>
          </p:cNvCxnSpPr>
          <p:nvPr/>
        </p:nvCxnSpPr>
        <p:spPr>
          <a:xfrm>
            <a:off x="21200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2CF108A7-0299-4135-8F4D-B02F4D108F1D}"/>
              </a:ext>
            </a:extLst>
          </p:cNvPr>
          <p:cNvSpPr/>
          <p:nvPr/>
        </p:nvSpPr>
        <p:spPr>
          <a:xfrm>
            <a:off x="152103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13" name="直接连接符 12">
            <a:extLst>
              <a:ext uri="{FF2B5EF4-FFF2-40B4-BE49-F238E27FC236}">
                <a16:creationId xmlns:a16="http://schemas.microsoft.com/office/drawing/2014/main" id="{1BADC812-4777-48E0-947B-95EE7BA02146}"/>
              </a:ext>
            </a:extLst>
          </p:cNvPr>
          <p:cNvCxnSpPr>
            <a:cxnSpLocks/>
          </p:cNvCxnSpPr>
          <p:nvPr/>
        </p:nvCxnSpPr>
        <p:spPr>
          <a:xfrm>
            <a:off x="2791033"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32F86D06-59CB-42F0-9E70-67E4ADFC641F}"/>
              </a:ext>
            </a:extLst>
          </p:cNvPr>
          <p:cNvCxnSpPr>
            <a:cxnSpLocks/>
          </p:cNvCxnSpPr>
          <p:nvPr/>
        </p:nvCxnSpPr>
        <p:spPr>
          <a:xfrm>
            <a:off x="48061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49FC9901-59FE-4843-853D-AD43842D5443}"/>
              </a:ext>
            </a:extLst>
          </p:cNvPr>
          <p:cNvCxnSpPr>
            <a:cxnSpLocks/>
          </p:cNvCxnSpPr>
          <p:nvPr/>
        </p:nvCxnSpPr>
        <p:spPr>
          <a:xfrm>
            <a:off x="54792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C5E0CA6-D141-4B0E-A0C4-EFB5AFB4E3AF}"/>
              </a:ext>
            </a:extLst>
          </p:cNvPr>
          <p:cNvCxnSpPr>
            <a:cxnSpLocks/>
          </p:cNvCxnSpPr>
          <p:nvPr/>
        </p:nvCxnSpPr>
        <p:spPr>
          <a:xfrm>
            <a:off x="6198866"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095D976-BA5F-4898-87F2-A3BCABADC4A9}"/>
              </a:ext>
            </a:extLst>
          </p:cNvPr>
          <p:cNvCxnSpPr>
            <a:cxnSpLocks/>
          </p:cNvCxnSpPr>
          <p:nvPr/>
        </p:nvCxnSpPr>
        <p:spPr>
          <a:xfrm>
            <a:off x="6871966"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C944381C-78BD-45AE-8954-913D4A975100}"/>
              </a:ext>
            </a:extLst>
          </p:cNvPr>
          <p:cNvCxnSpPr>
            <a:cxnSpLocks/>
          </p:cNvCxnSpPr>
          <p:nvPr/>
        </p:nvCxnSpPr>
        <p:spPr>
          <a:xfrm>
            <a:off x="75429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23A038D-AEF7-4E5D-B02E-D1644CBDD90E}"/>
              </a:ext>
            </a:extLst>
          </p:cNvPr>
          <p:cNvCxnSpPr>
            <a:cxnSpLocks/>
          </p:cNvCxnSpPr>
          <p:nvPr/>
        </p:nvCxnSpPr>
        <p:spPr>
          <a:xfrm>
            <a:off x="82160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40C2CF7-C9DD-460C-AE31-5CA65F00D200}"/>
              </a:ext>
            </a:extLst>
          </p:cNvPr>
          <p:cNvCxnSpPr>
            <a:cxnSpLocks/>
          </p:cNvCxnSpPr>
          <p:nvPr/>
        </p:nvCxnSpPr>
        <p:spPr>
          <a:xfrm>
            <a:off x="8887033"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92237A86-9C67-43F0-8DDF-D4EFA67C696B}"/>
              </a:ext>
            </a:extLst>
          </p:cNvPr>
          <p:cNvCxnSpPr>
            <a:cxnSpLocks/>
          </p:cNvCxnSpPr>
          <p:nvPr/>
        </p:nvCxnSpPr>
        <p:spPr>
          <a:xfrm>
            <a:off x="95580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439C95B-56C7-40E5-AFCA-F40D39C7DD15}"/>
              </a:ext>
            </a:extLst>
          </p:cNvPr>
          <p:cNvCxnSpPr>
            <a:cxnSpLocks/>
          </p:cNvCxnSpPr>
          <p:nvPr/>
        </p:nvCxnSpPr>
        <p:spPr>
          <a:xfrm>
            <a:off x="102311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07FC3D32-257C-4F4F-963F-4D70AE49618A}"/>
              </a:ext>
            </a:extLst>
          </p:cNvPr>
          <p:cNvCxnSpPr>
            <a:cxnSpLocks/>
          </p:cNvCxnSpPr>
          <p:nvPr/>
        </p:nvCxnSpPr>
        <p:spPr>
          <a:xfrm>
            <a:off x="109021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F87988F8-E015-4735-87D5-4D316F3C76FE}"/>
              </a:ext>
            </a:extLst>
          </p:cNvPr>
          <p:cNvCxnSpPr>
            <a:cxnSpLocks/>
          </p:cNvCxnSpPr>
          <p:nvPr/>
        </p:nvCxnSpPr>
        <p:spPr>
          <a:xfrm>
            <a:off x="1157520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097D475A-9A47-49BA-8130-9AFBD511AF5B}"/>
              </a:ext>
            </a:extLst>
          </p:cNvPr>
          <p:cNvSpPr/>
          <p:nvPr/>
        </p:nvSpPr>
        <p:spPr>
          <a:xfrm>
            <a:off x="22174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29" name="矩形 28">
            <a:extLst>
              <a:ext uri="{FF2B5EF4-FFF2-40B4-BE49-F238E27FC236}">
                <a16:creationId xmlns:a16="http://schemas.microsoft.com/office/drawing/2014/main" id="{5064CD42-8213-47F5-97C5-1C0FF815C725}"/>
              </a:ext>
            </a:extLst>
          </p:cNvPr>
          <p:cNvSpPr/>
          <p:nvPr/>
        </p:nvSpPr>
        <p:spPr>
          <a:xfrm>
            <a:off x="3523400" y="1775884"/>
            <a:ext cx="546945" cy="338554"/>
          </a:xfrm>
          <a:prstGeom prst="rect">
            <a:avLst/>
          </a:prstGeom>
        </p:spPr>
        <p:txBody>
          <a:bodyPr wrap="square">
            <a:spAutoFit/>
          </a:bodyPr>
          <a:lstStyle/>
          <a:p>
            <a:pPr>
              <a:defRPr/>
            </a:pPr>
            <a:r>
              <a:rPr lang="en-US" altLang="zh-CN" sz="1600" dirty="0">
                <a:latin typeface="微软雅黑" panose="020B0503020204020204" pitchFamily="34" charset="-122"/>
                <a:ea typeface="Alibaba PuHuiTi R"/>
              </a:rPr>
              <a:t>null</a:t>
            </a:r>
            <a:endParaRPr lang="zh-CN" altLang="en-US" sz="1600" dirty="0">
              <a:latin typeface="微软雅黑" panose="020B0503020204020204" pitchFamily="34" charset="-122"/>
              <a:ea typeface="Alibaba PuHuiTi R"/>
            </a:endParaRPr>
          </a:p>
        </p:txBody>
      </p:sp>
      <p:sp>
        <p:nvSpPr>
          <p:cNvPr id="30" name="矩形 29">
            <a:extLst>
              <a:ext uri="{FF2B5EF4-FFF2-40B4-BE49-F238E27FC236}">
                <a16:creationId xmlns:a16="http://schemas.microsoft.com/office/drawing/2014/main" id="{5A94079E-3238-40C9-ADA8-9EB79B434288}"/>
              </a:ext>
            </a:extLst>
          </p:cNvPr>
          <p:cNvSpPr/>
          <p:nvPr/>
        </p:nvSpPr>
        <p:spPr>
          <a:xfrm>
            <a:off x="420708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1" name="矩形 30">
            <a:extLst>
              <a:ext uri="{FF2B5EF4-FFF2-40B4-BE49-F238E27FC236}">
                <a16:creationId xmlns:a16="http://schemas.microsoft.com/office/drawing/2014/main" id="{64352502-E2A2-403D-A840-ED54DE51F912}"/>
              </a:ext>
            </a:extLst>
          </p:cNvPr>
          <p:cNvSpPr/>
          <p:nvPr/>
        </p:nvSpPr>
        <p:spPr>
          <a:xfrm>
            <a:off x="49034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2" name="矩形 31">
            <a:extLst>
              <a:ext uri="{FF2B5EF4-FFF2-40B4-BE49-F238E27FC236}">
                <a16:creationId xmlns:a16="http://schemas.microsoft.com/office/drawing/2014/main" id="{4C301F48-5583-493D-AB1D-1A109DB43325}"/>
              </a:ext>
            </a:extLst>
          </p:cNvPr>
          <p:cNvSpPr/>
          <p:nvPr/>
        </p:nvSpPr>
        <p:spPr>
          <a:xfrm>
            <a:off x="55702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3" name="矩形 32">
            <a:extLst>
              <a:ext uri="{FF2B5EF4-FFF2-40B4-BE49-F238E27FC236}">
                <a16:creationId xmlns:a16="http://schemas.microsoft.com/office/drawing/2014/main" id="{C9AA140A-8675-4DB5-AAFD-92B0877C1719}"/>
              </a:ext>
            </a:extLst>
          </p:cNvPr>
          <p:cNvSpPr/>
          <p:nvPr/>
        </p:nvSpPr>
        <p:spPr>
          <a:xfrm>
            <a:off x="628988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4" name="矩形 33">
            <a:extLst>
              <a:ext uri="{FF2B5EF4-FFF2-40B4-BE49-F238E27FC236}">
                <a16:creationId xmlns:a16="http://schemas.microsoft.com/office/drawing/2014/main" id="{025458F7-75DA-4E7D-B3F7-E6F31000C97F}"/>
              </a:ext>
            </a:extLst>
          </p:cNvPr>
          <p:cNvSpPr/>
          <p:nvPr/>
        </p:nvSpPr>
        <p:spPr>
          <a:xfrm>
            <a:off x="69545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5" name="矩形 34">
            <a:extLst>
              <a:ext uri="{FF2B5EF4-FFF2-40B4-BE49-F238E27FC236}">
                <a16:creationId xmlns:a16="http://schemas.microsoft.com/office/drawing/2014/main" id="{98DA4647-A9AA-41EA-9E54-84F7E5742A6A}"/>
              </a:ext>
            </a:extLst>
          </p:cNvPr>
          <p:cNvSpPr/>
          <p:nvPr/>
        </p:nvSpPr>
        <p:spPr>
          <a:xfrm>
            <a:off x="7653018"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6" name="矩形 35">
            <a:extLst>
              <a:ext uri="{FF2B5EF4-FFF2-40B4-BE49-F238E27FC236}">
                <a16:creationId xmlns:a16="http://schemas.microsoft.com/office/drawing/2014/main" id="{7F418C73-1215-4BAF-9E38-DCEE2E86E16D}"/>
              </a:ext>
            </a:extLst>
          </p:cNvPr>
          <p:cNvSpPr/>
          <p:nvPr/>
        </p:nvSpPr>
        <p:spPr>
          <a:xfrm>
            <a:off x="8317651"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7" name="矩形 36">
            <a:extLst>
              <a:ext uri="{FF2B5EF4-FFF2-40B4-BE49-F238E27FC236}">
                <a16:creationId xmlns:a16="http://schemas.microsoft.com/office/drawing/2014/main" id="{5193202D-B146-4F6C-BF8F-77D538E26E85}"/>
              </a:ext>
            </a:extLst>
          </p:cNvPr>
          <p:cNvSpPr/>
          <p:nvPr/>
        </p:nvSpPr>
        <p:spPr>
          <a:xfrm>
            <a:off x="8975934"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8" name="矩形 37">
            <a:extLst>
              <a:ext uri="{FF2B5EF4-FFF2-40B4-BE49-F238E27FC236}">
                <a16:creationId xmlns:a16="http://schemas.microsoft.com/office/drawing/2014/main" id="{B3D534AD-5842-4631-91EA-1F95E2AC7064}"/>
              </a:ext>
            </a:extLst>
          </p:cNvPr>
          <p:cNvSpPr/>
          <p:nvPr/>
        </p:nvSpPr>
        <p:spPr>
          <a:xfrm>
            <a:off x="96405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9" name="矩形 38">
            <a:extLst>
              <a:ext uri="{FF2B5EF4-FFF2-40B4-BE49-F238E27FC236}">
                <a16:creationId xmlns:a16="http://schemas.microsoft.com/office/drawing/2014/main" id="{EF38C6F1-D43E-482A-9A16-7EEACBCAC72A}"/>
              </a:ext>
            </a:extLst>
          </p:cNvPr>
          <p:cNvSpPr/>
          <p:nvPr/>
        </p:nvSpPr>
        <p:spPr>
          <a:xfrm>
            <a:off x="10339067"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40" name="矩形 39">
            <a:extLst>
              <a:ext uri="{FF2B5EF4-FFF2-40B4-BE49-F238E27FC236}">
                <a16:creationId xmlns:a16="http://schemas.microsoft.com/office/drawing/2014/main" id="{403079E0-AB2B-4FE1-8AE2-E5CD0EBE631B}"/>
              </a:ext>
            </a:extLst>
          </p:cNvPr>
          <p:cNvSpPr/>
          <p:nvPr/>
        </p:nvSpPr>
        <p:spPr>
          <a:xfrm>
            <a:off x="11003700" y="177588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41" name="矩形 40">
            <a:extLst>
              <a:ext uri="{FF2B5EF4-FFF2-40B4-BE49-F238E27FC236}">
                <a16:creationId xmlns:a16="http://schemas.microsoft.com/office/drawing/2014/main" id="{A269F245-4005-4198-BC4F-9215E2BB440B}"/>
              </a:ext>
            </a:extLst>
          </p:cNvPr>
          <p:cNvSpPr/>
          <p:nvPr/>
        </p:nvSpPr>
        <p:spPr>
          <a:xfrm>
            <a:off x="943184"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0</a:t>
            </a:r>
            <a:endParaRPr lang="zh-CN" altLang="en-US" sz="1600" dirty="0">
              <a:ea typeface="Alibaba PuHuiTi R"/>
            </a:endParaRPr>
          </a:p>
        </p:txBody>
      </p:sp>
      <p:sp>
        <p:nvSpPr>
          <p:cNvPr id="42" name="矩形 41">
            <a:extLst>
              <a:ext uri="{FF2B5EF4-FFF2-40B4-BE49-F238E27FC236}">
                <a16:creationId xmlns:a16="http://schemas.microsoft.com/office/drawing/2014/main" id="{66F71576-7715-4A8E-ABA3-BB090697A0E7}"/>
              </a:ext>
            </a:extLst>
          </p:cNvPr>
          <p:cNvSpPr/>
          <p:nvPr/>
        </p:nvSpPr>
        <p:spPr>
          <a:xfrm>
            <a:off x="160781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a:t>
            </a:r>
            <a:endParaRPr lang="zh-CN" altLang="en-US" sz="1600" dirty="0">
              <a:ea typeface="Alibaba PuHuiTi R"/>
            </a:endParaRPr>
          </a:p>
        </p:txBody>
      </p:sp>
      <p:sp>
        <p:nvSpPr>
          <p:cNvPr id="43" name="矩形 42">
            <a:extLst>
              <a:ext uri="{FF2B5EF4-FFF2-40B4-BE49-F238E27FC236}">
                <a16:creationId xmlns:a16="http://schemas.microsoft.com/office/drawing/2014/main" id="{F448B3C4-BC25-4FA2-93C8-33982661B21C}"/>
              </a:ext>
            </a:extLst>
          </p:cNvPr>
          <p:cNvSpPr/>
          <p:nvPr/>
        </p:nvSpPr>
        <p:spPr>
          <a:xfrm>
            <a:off x="230631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2</a:t>
            </a:r>
            <a:endParaRPr lang="zh-CN" altLang="en-US" sz="1600" dirty="0">
              <a:ea typeface="Alibaba PuHuiTi R"/>
            </a:endParaRPr>
          </a:p>
        </p:txBody>
      </p:sp>
      <p:sp>
        <p:nvSpPr>
          <p:cNvPr id="44" name="矩形 43">
            <a:extLst>
              <a:ext uri="{FF2B5EF4-FFF2-40B4-BE49-F238E27FC236}">
                <a16:creationId xmlns:a16="http://schemas.microsoft.com/office/drawing/2014/main" id="{1D1B81D8-ACF6-418A-A318-D81BD890DC5D}"/>
              </a:ext>
            </a:extLst>
          </p:cNvPr>
          <p:cNvSpPr/>
          <p:nvPr/>
        </p:nvSpPr>
        <p:spPr>
          <a:xfrm>
            <a:off x="2970951"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3</a:t>
            </a:r>
            <a:endParaRPr lang="zh-CN" altLang="en-US" sz="1600" dirty="0">
              <a:ea typeface="Alibaba PuHuiTi R"/>
            </a:endParaRPr>
          </a:p>
        </p:txBody>
      </p:sp>
      <p:sp>
        <p:nvSpPr>
          <p:cNvPr id="45" name="矩形 44">
            <a:extLst>
              <a:ext uri="{FF2B5EF4-FFF2-40B4-BE49-F238E27FC236}">
                <a16:creationId xmlns:a16="http://schemas.microsoft.com/office/drawing/2014/main" id="{189FBC6B-07F1-4D16-94BD-E4EDD8348CB8}"/>
              </a:ext>
            </a:extLst>
          </p:cNvPr>
          <p:cNvSpPr/>
          <p:nvPr/>
        </p:nvSpPr>
        <p:spPr>
          <a:xfrm>
            <a:off x="3629233"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4</a:t>
            </a:r>
            <a:endParaRPr lang="zh-CN" altLang="en-US" sz="1600" dirty="0">
              <a:ea typeface="Alibaba PuHuiTi R"/>
            </a:endParaRPr>
          </a:p>
        </p:txBody>
      </p:sp>
      <p:sp>
        <p:nvSpPr>
          <p:cNvPr id="46" name="矩形 45">
            <a:extLst>
              <a:ext uri="{FF2B5EF4-FFF2-40B4-BE49-F238E27FC236}">
                <a16:creationId xmlns:a16="http://schemas.microsoft.com/office/drawing/2014/main" id="{E0A88931-CE51-4029-8A66-031F513F10AB}"/>
              </a:ext>
            </a:extLst>
          </p:cNvPr>
          <p:cNvSpPr/>
          <p:nvPr/>
        </p:nvSpPr>
        <p:spPr>
          <a:xfrm>
            <a:off x="429386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5</a:t>
            </a:r>
            <a:endParaRPr lang="zh-CN" altLang="en-US" sz="1600" dirty="0">
              <a:ea typeface="Alibaba PuHuiTi R"/>
            </a:endParaRPr>
          </a:p>
        </p:txBody>
      </p:sp>
      <p:sp>
        <p:nvSpPr>
          <p:cNvPr id="47" name="矩形 46">
            <a:extLst>
              <a:ext uri="{FF2B5EF4-FFF2-40B4-BE49-F238E27FC236}">
                <a16:creationId xmlns:a16="http://schemas.microsoft.com/office/drawing/2014/main" id="{BDCD3623-CA44-4CC2-9B40-11483CB4D8F1}"/>
              </a:ext>
            </a:extLst>
          </p:cNvPr>
          <p:cNvSpPr/>
          <p:nvPr/>
        </p:nvSpPr>
        <p:spPr>
          <a:xfrm>
            <a:off x="499236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6</a:t>
            </a:r>
            <a:endParaRPr lang="zh-CN" altLang="en-US" sz="1600" dirty="0">
              <a:ea typeface="Alibaba PuHuiTi R"/>
            </a:endParaRPr>
          </a:p>
        </p:txBody>
      </p:sp>
      <p:sp>
        <p:nvSpPr>
          <p:cNvPr id="48" name="矩形 47">
            <a:extLst>
              <a:ext uri="{FF2B5EF4-FFF2-40B4-BE49-F238E27FC236}">
                <a16:creationId xmlns:a16="http://schemas.microsoft.com/office/drawing/2014/main" id="{805908F3-D2F6-4018-B6C7-2D6F2EA7B499}"/>
              </a:ext>
            </a:extLst>
          </p:cNvPr>
          <p:cNvSpPr/>
          <p:nvPr/>
        </p:nvSpPr>
        <p:spPr>
          <a:xfrm>
            <a:off x="5657000"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7</a:t>
            </a:r>
            <a:endParaRPr lang="zh-CN" altLang="en-US" sz="1600" dirty="0">
              <a:ea typeface="Alibaba PuHuiTi R"/>
            </a:endParaRPr>
          </a:p>
        </p:txBody>
      </p:sp>
      <p:sp>
        <p:nvSpPr>
          <p:cNvPr id="49" name="矩形 48">
            <a:extLst>
              <a:ext uri="{FF2B5EF4-FFF2-40B4-BE49-F238E27FC236}">
                <a16:creationId xmlns:a16="http://schemas.microsoft.com/office/drawing/2014/main" id="{597FA6D2-2906-4390-95EA-73D862DC94FE}"/>
              </a:ext>
            </a:extLst>
          </p:cNvPr>
          <p:cNvSpPr/>
          <p:nvPr/>
        </p:nvSpPr>
        <p:spPr>
          <a:xfrm>
            <a:off x="637666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8</a:t>
            </a:r>
            <a:endParaRPr lang="zh-CN" altLang="en-US" sz="1600" dirty="0">
              <a:ea typeface="Alibaba PuHuiTi R"/>
            </a:endParaRPr>
          </a:p>
        </p:txBody>
      </p:sp>
      <p:sp>
        <p:nvSpPr>
          <p:cNvPr id="50" name="矩形 49">
            <a:extLst>
              <a:ext uri="{FF2B5EF4-FFF2-40B4-BE49-F238E27FC236}">
                <a16:creationId xmlns:a16="http://schemas.microsoft.com/office/drawing/2014/main" id="{1197A8F8-6FB5-4A1D-A672-61C46C6E3966}"/>
              </a:ext>
            </a:extLst>
          </p:cNvPr>
          <p:cNvSpPr/>
          <p:nvPr/>
        </p:nvSpPr>
        <p:spPr>
          <a:xfrm>
            <a:off x="7043417" y="2277533"/>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9</a:t>
            </a:r>
            <a:endParaRPr lang="zh-CN" altLang="en-US" sz="1600" dirty="0">
              <a:ea typeface="Alibaba PuHuiTi R"/>
            </a:endParaRPr>
          </a:p>
        </p:txBody>
      </p:sp>
      <p:sp>
        <p:nvSpPr>
          <p:cNvPr id="51" name="矩形 50">
            <a:extLst>
              <a:ext uri="{FF2B5EF4-FFF2-40B4-BE49-F238E27FC236}">
                <a16:creationId xmlns:a16="http://schemas.microsoft.com/office/drawing/2014/main" id="{8E4622E3-8BC2-4C10-A260-4B0B2BFBB1C5}"/>
              </a:ext>
            </a:extLst>
          </p:cNvPr>
          <p:cNvSpPr/>
          <p:nvPr/>
        </p:nvSpPr>
        <p:spPr>
          <a:xfrm>
            <a:off x="7661484"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10</a:t>
            </a:r>
            <a:endParaRPr lang="zh-CN" altLang="en-US" sz="1600" dirty="0">
              <a:ea typeface="Alibaba PuHuiTi R"/>
            </a:endParaRPr>
          </a:p>
        </p:txBody>
      </p:sp>
      <p:sp>
        <p:nvSpPr>
          <p:cNvPr id="52" name="矩形 51">
            <a:extLst>
              <a:ext uri="{FF2B5EF4-FFF2-40B4-BE49-F238E27FC236}">
                <a16:creationId xmlns:a16="http://schemas.microsoft.com/office/drawing/2014/main" id="{5E7A2FA3-2070-487D-B70F-7B77E2ECA6CA}"/>
              </a:ext>
            </a:extLst>
          </p:cNvPr>
          <p:cNvSpPr/>
          <p:nvPr/>
        </p:nvSpPr>
        <p:spPr>
          <a:xfrm>
            <a:off x="8328233"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11</a:t>
            </a:r>
            <a:endParaRPr lang="zh-CN" altLang="en-US" sz="1600" dirty="0">
              <a:ea typeface="Alibaba PuHuiTi R"/>
            </a:endParaRPr>
          </a:p>
        </p:txBody>
      </p:sp>
      <p:sp>
        <p:nvSpPr>
          <p:cNvPr id="53" name="矩形 52">
            <a:extLst>
              <a:ext uri="{FF2B5EF4-FFF2-40B4-BE49-F238E27FC236}">
                <a16:creationId xmlns:a16="http://schemas.microsoft.com/office/drawing/2014/main" id="{39391A35-CFD8-49AD-81D3-36472B9C4ED7}"/>
              </a:ext>
            </a:extLst>
          </p:cNvPr>
          <p:cNvSpPr/>
          <p:nvPr/>
        </p:nvSpPr>
        <p:spPr>
          <a:xfrm>
            <a:off x="8986517"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12</a:t>
            </a:r>
            <a:endParaRPr lang="zh-CN" altLang="en-US" sz="1600" dirty="0">
              <a:ea typeface="Alibaba PuHuiTi R"/>
            </a:endParaRPr>
          </a:p>
        </p:txBody>
      </p:sp>
      <p:sp>
        <p:nvSpPr>
          <p:cNvPr id="54" name="矩形 53">
            <a:extLst>
              <a:ext uri="{FF2B5EF4-FFF2-40B4-BE49-F238E27FC236}">
                <a16:creationId xmlns:a16="http://schemas.microsoft.com/office/drawing/2014/main" id="{06CE39A7-A2B7-4174-A362-2B4DD47368C3}"/>
              </a:ext>
            </a:extLst>
          </p:cNvPr>
          <p:cNvSpPr/>
          <p:nvPr/>
        </p:nvSpPr>
        <p:spPr>
          <a:xfrm>
            <a:off x="9651151"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13</a:t>
            </a:r>
            <a:endParaRPr lang="zh-CN" altLang="en-US" sz="1600" dirty="0">
              <a:ea typeface="Alibaba PuHuiTi R"/>
            </a:endParaRPr>
          </a:p>
        </p:txBody>
      </p:sp>
      <p:sp>
        <p:nvSpPr>
          <p:cNvPr id="55" name="矩形 54">
            <a:extLst>
              <a:ext uri="{FF2B5EF4-FFF2-40B4-BE49-F238E27FC236}">
                <a16:creationId xmlns:a16="http://schemas.microsoft.com/office/drawing/2014/main" id="{2ACD3C91-D719-47AA-BE19-EE1069C67352}"/>
              </a:ext>
            </a:extLst>
          </p:cNvPr>
          <p:cNvSpPr/>
          <p:nvPr/>
        </p:nvSpPr>
        <p:spPr>
          <a:xfrm>
            <a:off x="10349651"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14</a:t>
            </a:r>
            <a:endParaRPr lang="zh-CN" altLang="en-US" sz="1600" dirty="0">
              <a:ea typeface="Alibaba PuHuiTi R"/>
            </a:endParaRPr>
          </a:p>
        </p:txBody>
      </p:sp>
      <p:sp>
        <p:nvSpPr>
          <p:cNvPr id="56" name="矩形 55">
            <a:extLst>
              <a:ext uri="{FF2B5EF4-FFF2-40B4-BE49-F238E27FC236}">
                <a16:creationId xmlns:a16="http://schemas.microsoft.com/office/drawing/2014/main" id="{62993B67-AA05-4911-8E25-2158D6DF5F10}"/>
              </a:ext>
            </a:extLst>
          </p:cNvPr>
          <p:cNvSpPr/>
          <p:nvPr/>
        </p:nvSpPr>
        <p:spPr>
          <a:xfrm>
            <a:off x="11014284" y="2277533"/>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15</a:t>
            </a:r>
            <a:endParaRPr lang="zh-CN" altLang="en-US" sz="1600" dirty="0">
              <a:ea typeface="Alibaba PuHuiTi R"/>
            </a:endParaRPr>
          </a:p>
        </p:txBody>
      </p:sp>
      <p:sp>
        <p:nvSpPr>
          <p:cNvPr id="2" name="矩形 1">
            <a:extLst>
              <a:ext uri="{FF2B5EF4-FFF2-40B4-BE49-F238E27FC236}">
                <a16:creationId xmlns:a16="http://schemas.microsoft.com/office/drawing/2014/main" id="{860589D5-1847-42D9-8DAE-F5A00A5BCE2A}"/>
              </a:ext>
            </a:extLst>
          </p:cNvPr>
          <p:cNvSpPr/>
          <p:nvPr/>
        </p:nvSpPr>
        <p:spPr>
          <a:xfrm>
            <a:off x="10576134" y="1079500"/>
            <a:ext cx="816249"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table[]</a:t>
            </a:r>
            <a:endParaRPr lang="zh-CN" altLang="en-US" sz="1600" dirty="0">
              <a:ea typeface="Alibaba PuHuiTi R"/>
            </a:endParaRPr>
          </a:p>
        </p:txBody>
      </p:sp>
      <p:cxnSp>
        <p:nvCxnSpPr>
          <p:cNvPr id="15" name="直接连接符 14">
            <a:extLst>
              <a:ext uri="{FF2B5EF4-FFF2-40B4-BE49-F238E27FC236}">
                <a16:creationId xmlns:a16="http://schemas.microsoft.com/office/drawing/2014/main" id="{D671929C-2148-49E8-A006-C260BCD403FD}"/>
              </a:ext>
            </a:extLst>
          </p:cNvPr>
          <p:cNvCxnSpPr>
            <a:cxnSpLocks/>
          </p:cNvCxnSpPr>
          <p:nvPr/>
        </p:nvCxnSpPr>
        <p:spPr>
          <a:xfrm>
            <a:off x="41351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CDF6C1CE-FD63-4075-9399-FE636D792325}"/>
              </a:ext>
            </a:extLst>
          </p:cNvPr>
          <p:cNvCxnSpPr>
            <a:cxnSpLocks/>
          </p:cNvCxnSpPr>
          <p:nvPr/>
        </p:nvCxnSpPr>
        <p:spPr>
          <a:xfrm>
            <a:off x="34620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AF49D4C-23B2-49F7-88D1-1BD9681222EB}"/>
              </a:ext>
            </a:extLst>
          </p:cNvPr>
          <p:cNvCxnSpPr>
            <a:cxnSpLocks/>
          </p:cNvCxnSpPr>
          <p:nvPr/>
        </p:nvCxnSpPr>
        <p:spPr>
          <a:xfrm>
            <a:off x="769617"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F8D7D69A-1253-4BDF-B027-ACF7E4A1A313}"/>
              </a:ext>
            </a:extLst>
          </p:cNvPr>
          <p:cNvCxnSpPr>
            <a:cxnSpLocks/>
          </p:cNvCxnSpPr>
          <p:nvPr/>
        </p:nvCxnSpPr>
        <p:spPr>
          <a:xfrm>
            <a:off x="1446950" y="1610783"/>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9" name="TextBox 2">
            <a:extLst>
              <a:ext uri="{FF2B5EF4-FFF2-40B4-BE49-F238E27FC236}">
                <a16:creationId xmlns:a16="http://schemas.microsoft.com/office/drawing/2014/main" id="{17972C20-5260-48C9-A184-040B336042A1}"/>
              </a:ext>
            </a:extLst>
          </p:cNvPr>
          <p:cNvSpPr txBox="1"/>
          <p:nvPr/>
        </p:nvSpPr>
        <p:spPr>
          <a:xfrm>
            <a:off x="769618" y="934083"/>
            <a:ext cx="6731845" cy="466652"/>
          </a:xfrm>
          <a:prstGeom prst="rect">
            <a:avLst/>
          </a:prstGeom>
          <a:noFill/>
        </p:spPr>
        <p:txBody>
          <a:bodyPr wrap="square">
            <a:spAutoFit/>
          </a:bodyPr>
          <a:lstStyle/>
          <a:p>
            <a:pPr>
              <a:lnSpc>
                <a:spcPct val="150000"/>
              </a:lnSpc>
              <a:defRPr/>
            </a:pPr>
            <a:r>
              <a:rPr lang="en-US" altLang="zh-CN"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之前的哈希表：</a:t>
            </a:r>
            <a:r>
              <a:rPr lang="zh-CN" altLang="en-US"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a:t>
            </a:r>
            <a:r>
              <a:rPr lang="en-US" altLang="zh-CN"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链表</a:t>
            </a:r>
            <a:endParaRPr lang="zh-CN" altLang="en-US"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4" name="椭圆 63">
            <a:extLst>
              <a:ext uri="{FF2B5EF4-FFF2-40B4-BE49-F238E27FC236}">
                <a16:creationId xmlns:a16="http://schemas.microsoft.com/office/drawing/2014/main" id="{81023B18-1DE5-420A-A677-29DEB93EFBD9}"/>
              </a:ext>
            </a:extLst>
          </p:cNvPr>
          <p:cNvSpPr/>
          <p:nvPr/>
        </p:nvSpPr>
        <p:spPr>
          <a:xfrm>
            <a:off x="879937" y="1664495"/>
            <a:ext cx="480483" cy="480483"/>
          </a:xfrm>
          <a:prstGeom prst="ellipse">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cxnSp>
        <p:nvCxnSpPr>
          <p:cNvPr id="4" name="直接箭头连接符 3">
            <a:extLst>
              <a:ext uri="{FF2B5EF4-FFF2-40B4-BE49-F238E27FC236}">
                <a16:creationId xmlns:a16="http://schemas.microsoft.com/office/drawing/2014/main" id="{6C802B25-8977-48ED-9B8D-14FB81972CFF}"/>
              </a:ext>
            </a:extLst>
          </p:cNvPr>
          <p:cNvCxnSpPr>
            <a:cxnSpLocks/>
            <a:stCxn id="65" idx="4"/>
            <a:endCxn id="70" idx="0"/>
          </p:cNvCxnSpPr>
          <p:nvPr/>
        </p:nvCxnSpPr>
        <p:spPr>
          <a:xfrm flipH="1">
            <a:off x="3116572" y="2156567"/>
            <a:ext cx="2546" cy="84317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1" name="直接箭头连接符 60">
            <a:extLst>
              <a:ext uri="{FF2B5EF4-FFF2-40B4-BE49-F238E27FC236}">
                <a16:creationId xmlns:a16="http://schemas.microsoft.com/office/drawing/2014/main" id="{F8EE1F10-ECD6-4226-9E3A-855A319826A8}"/>
              </a:ext>
            </a:extLst>
          </p:cNvPr>
          <p:cNvCxnSpPr>
            <a:cxnSpLocks/>
            <a:endCxn id="70" idx="2"/>
          </p:cNvCxnSpPr>
          <p:nvPr/>
        </p:nvCxnSpPr>
        <p:spPr>
          <a:xfrm flipV="1">
            <a:off x="1697347" y="3239984"/>
            <a:ext cx="1178983" cy="45528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椭圆 61">
            <a:extLst>
              <a:ext uri="{FF2B5EF4-FFF2-40B4-BE49-F238E27FC236}">
                <a16:creationId xmlns:a16="http://schemas.microsoft.com/office/drawing/2014/main" id="{E8F581AB-2BB6-46BA-9F79-3D678311FB13}"/>
              </a:ext>
            </a:extLst>
          </p:cNvPr>
          <p:cNvSpPr/>
          <p:nvPr/>
        </p:nvSpPr>
        <p:spPr>
          <a:xfrm>
            <a:off x="1241115" y="3618016"/>
            <a:ext cx="480483" cy="480484"/>
          </a:xfrm>
          <a:prstGeom prst="ellipse">
            <a:avLst/>
          </a:prstGeom>
          <a:solidFill>
            <a:srgbClr val="0000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dirty="0">
              <a:solidFill>
                <a:srgbClr val="FF0000"/>
              </a:solidFill>
            </a:endParaRPr>
          </a:p>
        </p:txBody>
      </p:sp>
      <p:cxnSp>
        <p:nvCxnSpPr>
          <p:cNvPr id="67" name="直接箭头连接符 66">
            <a:extLst>
              <a:ext uri="{FF2B5EF4-FFF2-40B4-BE49-F238E27FC236}">
                <a16:creationId xmlns:a16="http://schemas.microsoft.com/office/drawing/2014/main" id="{F0D3ECFF-D816-4480-AA5D-5F7032AD854C}"/>
              </a:ext>
            </a:extLst>
          </p:cNvPr>
          <p:cNvCxnSpPr>
            <a:cxnSpLocks/>
            <a:stCxn id="62" idx="7"/>
          </p:cNvCxnSpPr>
          <p:nvPr/>
        </p:nvCxnSpPr>
        <p:spPr>
          <a:xfrm flipV="1">
            <a:off x="1651233" y="2013583"/>
            <a:ext cx="1312848" cy="167479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4D266506-F9D9-4F66-9066-33E4E51E3F6D}"/>
              </a:ext>
            </a:extLst>
          </p:cNvPr>
          <p:cNvSpPr/>
          <p:nvPr/>
        </p:nvSpPr>
        <p:spPr>
          <a:xfrm>
            <a:off x="2876330" y="2999742"/>
            <a:ext cx="480483" cy="480483"/>
          </a:xfrm>
          <a:prstGeom prst="ellipse">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cxnSp>
        <p:nvCxnSpPr>
          <p:cNvPr id="75" name="直接箭头连接符 74">
            <a:extLst>
              <a:ext uri="{FF2B5EF4-FFF2-40B4-BE49-F238E27FC236}">
                <a16:creationId xmlns:a16="http://schemas.microsoft.com/office/drawing/2014/main" id="{42846E6B-CE31-4FB5-8AB5-4BA8F0FC9DAF}"/>
              </a:ext>
            </a:extLst>
          </p:cNvPr>
          <p:cNvCxnSpPr>
            <a:cxnSpLocks/>
            <a:stCxn id="65" idx="4"/>
          </p:cNvCxnSpPr>
          <p:nvPr/>
        </p:nvCxnSpPr>
        <p:spPr>
          <a:xfrm>
            <a:off x="3119118" y="2156567"/>
            <a:ext cx="0" cy="119312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66" name="矩形 65">
            <a:extLst>
              <a:ext uri="{FF2B5EF4-FFF2-40B4-BE49-F238E27FC236}">
                <a16:creationId xmlns:a16="http://schemas.microsoft.com/office/drawing/2014/main" id="{D9D13A8D-EC8D-9D4E-87AD-36EB9B1EEA49}"/>
              </a:ext>
            </a:extLst>
          </p:cNvPr>
          <p:cNvSpPr/>
          <p:nvPr/>
        </p:nvSpPr>
        <p:spPr>
          <a:xfrm>
            <a:off x="5409012" y="2814631"/>
            <a:ext cx="6889663" cy="3474093"/>
          </a:xfrm>
          <a:prstGeom prst="rect">
            <a:avLst/>
          </a:prstGeom>
        </p:spPr>
        <p:txBody>
          <a:bodyPr wrap="square">
            <a:spAutoFit/>
          </a:bodyPr>
          <a:lstStyle/>
          <a:p>
            <a:pPr marL="342900" indent="-342900">
              <a:lnSpc>
                <a:spcPct val="2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创建一个默认长度</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16</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的数组，默认加载因子为</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0.75</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，数组名</a:t>
            </a:r>
            <a:r>
              <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table</a:t>
            </a:r>
          </a:p>
          <a:p>
            <a:pPr marL="342900" indent="-342900">
              <a:lnSpc>
                <a:spcPct val="200000"/>
              </a:lnSpc>
              <a:buFont typeface="+mj-ea"/>
              <a:buAutoNum type="circleNumDbPlain"/>
              <a:defRPr/>
            </a:pP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使用元素的</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哈希值</a:t>
            </a: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对</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数组的长度做运算</a:t>
            </a: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计算出应存入的位置</a:t>
            </a:r>
            <a:endPar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a:lnSpc>
                <a:spcPct val="200000"/>
              </a:lnSpc>
              <a:buFont typeface="+mj-ea"/>
              <a:buAutoNum type="circleNumDbPlain"/>
              <a:defRPr/>
            </a:pP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判断当前位置是否为</a:t>
            </a:r>
            <a:r>
              <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，如果是</a:t>
            </a:r>
            <a:r>
              <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直接存入</a:t>
            </a:r>
            <a:endPar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a:lnSpc>
                <a:spcPct val="200000"/>
              </a:lnSpc>
              <a:buFont typeface="+mj-ea"/>
              <a:buAutoNum type="circleNumDbPlain"/>
              <a:defRPr/>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如果不为</a:t>
            </a:r>
            <a:r>
              <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，表示有元素，则调用</a:t>
            </a:r>
            <a:r>
              <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equals</a:t>
            </a: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方法比较</a:t>
            </a:r>
            <a:endPar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200000"/>
              </a:lnSpc>
              <a:defRPr/>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相等，则不存；不相等，则存入数组</a:t>
            </a:r>
            <a:endPar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742950" lvl="1" indent="-285750">
              <a:lnSpc>
                <a:spcPct val="200000"/>
              </a:lnSpc>
              <a:buFont typeface="Wingdings" panose="05000000000000000000" pitchFamily="2" charset="2"/>
              <a:buChar char="l"/>
              <a:defRPr/>
            </a:pP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JDK 8</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之前，新元素存入数组，占老元素位置，老元素挂下面</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742950" lvl="1" indent="-285750">
              <a:lnSpc>
                <a:spcPct val="200000"/>
              </a:lnSpc>
              <a:buFont typeface="Wingdings" panose="05000000000000000000" pitchFamily="2" charset="2"/>
              <a:buChar char="l"/>
              <a:defRPr/>
            </a:pP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JDK 8</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开始之后，新元素直接挂在老元素下面</a:t>
            </a:r>
            <a:endPar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1" name="Rectangle 1">
            <a:extLst>
              <a:ext uri="{FF2B5EF4-FFF2-40B4-BE49-F238E27FC236}">
                <a16:creationId xmlns:a16="http://schemas.microsoft.com/office/drawing/2014/main" id="{DFE926B2-BD98-76B5-B0F2-F4CE0F58122F}"/>
              </a:ext>
            </a:extLst>
          </p:cNvPr>
          <p:cNvSpPr>
            <a:spLocks noChangeArrowheads="1"/>
          </p:cNvSpPr>
          <p:nvPr/>
        </p:nvSpPr>
        <p:spPr bwMode="auto">
          <a:xfrm>
            <a:off x="7320952" y="3356406"/>
            <a:ext cx="3028699" cy="523220"/>
          </a:xfrm>
          <a:prstGeom prst="rect">
            <a:avLst/>
          </a:prstGeom>
          <a:solidFill>
            <a:srgbClr val="F9FBF9"/>
          </a:solidFill>
          <a:ln w="9525" cap="flat" cmpd="sng" algn="ctr">
            <a:solidFill>
              <a:srgbClr val="F9FBF9"/>
            </a:solidFill>
            <a:prstDash val="solid"/>
            <a:round/>
            <a:headEnd type="none" w="med" len="med"/>
            <a:tailEnd type="none" w="med" len="med"/>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rgbClr val="1750EB"/>
                </a:solidFill>
                <a:effectLst/>
                <a:latin typeface="Consolas" panose="020B0609020204030204" pitchFamily="49" charset="0"/>
                <a:ea typeface="JetBrains Mono"/>
              </a:rPr>
              <a:t>16 </a:t>
            </a:r>
            <a:r>
              <a:rPr kumimoji="0" lang="zh-CN" altLang="zh-CN" sz="28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2800" b="0" i="0" u="none" strike="noStrike" cap="none" normalizeH="0" baseline="0" dirty="0">
                <a:ln>
                  <a:noFill/>
                </a:ln>
                <a:solidFill>
                  <a:srgbClr val="1750EB"/>
                </a:solidFill>
                <a:effectLst/>
                <a:latin typeface="Consolas" panose="020B0609020204030204" pitchFamily="49" charset="0"/>
                <a:ea typeface="JetBrains Mono"/>
              </a:rPr>
              <a:t>0.75 </a:t>
            </a:r>
            <a:r>
              <a:rPr kumimoji="0" lang="zh-CN" altLang="zh-CN" sz="2800" b="0" i="0" u="none" strike="noStrike" cap="none" normalizeH="0" baseline="0" dirty="0">
                <a:ln>
                  <a:noFill/>
                </a:ln>
                <a:solidFill>
                  <a:srgbClr val="080808"/>
                </a:solidFill>
                <a:effectLst/>
                <a:latin typeface="Consolas" panose="020B0609020204030204" pitchFamily="49" charset="0"/>
                <a:ea typeface="JetBrains Mono"/>
              </a:rPr>
              <a:t>= </a:t>
            </a:r>
            <a:r>
              <a:rPr kumimoji="0" lang="zh-CN" altLang="zh-CN" sz="2800" b="0" i="0" u="none" strike="noStrike" cap="none" normalizeH="0" baseline="0" dirty="0">
                <a:ln>
                  <a:noFill/>
                </a:ln>
                <a:solidFill>
                  <a:srgbClr val="1750EB"/>
                </a:solidFill>
                <a:effectLst/>
                <a:latin typeface="Consolas" panose="020B0609020204030204" pitchFamily="49" charset="0"/>
                <a:ea typeface="JetBrains Mono"/>
              </a:rPr>
              <a:t>12</a:t>
            </a:r>
            <a:endParaRPr kumimoji="0" lang="zh-CN" altLang="zh-CN" sz="5400" b="0" i="0" u="none" strike="noStrike" cap="none" normalizeH="0" baseline="0" dirty="0">
              <a:ln>
                <a:noFill/>
              </a:ln>
              <a:solidFill>
                <a:schemeClr val="tx1"/>
              </a:solidFill>
              <a:effectLst/>
              <a:latin typeface="Consolas" panose="020B0609020204030204" pitchFamily="49" charset="0"/>
            </a:endParaRPr>
          </a:p>
        </p:txBody>
      </p:sp>
      <p:sp>
        <p:nvSpPr>
          <p:cNvPr id="3" name="椭圆 2">
            <a:extLst>
              <a:ext uri="{FF2B5EF4-FFF2-40B4-BE49-F238E27FC236}">
                <a16:creationId xmlns:a16="http://schemas.microsoft.com/office/drawing/2014/main" id="{C84F303D-B757-3F32-0FF9-D1FCA3815FBA}"/>
              </a:ext>
            </a:extLst>
          </p:cNvPr>
          <p:cNvSpPr/>
          <p:nvPr/>
        </p:nvSpPr>
        <p:spPr>
          <a:xfrm>
            <a:off x="929236" y="3177501"/>
            <a:ext cx="480483" cy="480483"/>
          </a:xfrm>
          <a:prstGeom prst="ellipse">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cxnSp>
        <p:nvCxnSpPr>
          <p:cNvPr id="7" name="直接箭头连接符 6">
            <a:extLst>
              <a:ext uri="{FF2B5EF4-FFF2-40B4-BE49-F238E27FC236}">
                <a16:creationId xmlns:a16="http://schemas.microsoft.com/office/drawing/2014/main" id="{9A75181F-BA5B-178A-F72B-E1036C42E05E}"/>
              </a:ext>
            </a:extLst>
          </p:cNvPr>
          <p:cNvCxnSpPr>
            <a:cxnSpLocks/>
          </p:cNvCxnSpPr>
          <p:nvPr/>
        </p:nvCxnSpPr>
        <p:spPr>
          <a:xfrm>
            <a:off x="1344475" y="3363295"/>
            <a:ext cx="1531855" cy="11693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E09FD3A8-94D4-36C7-47C6-09B45C348933}"/>
              </a:ext>
            </a:extLst>
          </p:cNvPr>
          <p:cNvCxnSpPr>
            <a:cxnSpLocks/>
            <a:endCxn id="44" idx="0"/>
          </p:cNvCxnSpPr>
          <p:nvPr/>
        </p:nvCxnSpPr>
        <p:spPr>
          <a:xfrm flipV="1">
            <a:off x="1298361" y="2277533"/>
            <a:ext cx="1825036" cy="107887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A417D96A-E42E-B42E-3765-285956E4B416}"/>
              </a:ext>
            </a:extLst>
          </p:cNvPr>
          <p:cNvCxnSpPr>
            <a:cxnSpLocks/>
          </p:cNvCxnSpPr>
          <p:nvPr/>
        </p:nvCxnSpPr>
        <p:spPr>
          <a:xfrm>
            <a:off x="1355778" y="3435577"/>
            <a:ext cx="1506199" cy="146630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4D43E07E-D598-4101-AB74-0EF458A6E837}"/>
              </a:ext>
            </a:extLst>
          </p:cNvPr>
          <p:cNvSpPr txBox="1"/>
          <p:nvPr/>
        </p:nvSpPr>
        <p:spPr>
          <a:xfrm>
            <a:off x="2120050" y="3913834"/>
            <a:ext cx="642893" cy="369332"/>
          </a:xfrm>
          <a:prstGeom prst="rect">
            <a:avLst/>
          </a:prstGeom>
          <a:noFill/>
        </p:spPr>
        <p:txBody>
          <a:bodyPr wrap="square">
            <a:spAutoFit/>
          </a:bodyPr>
          <a:lstStyle/>
          <a:p>
            <a:r>
              <a:rPr lang="zh-CN" altLang="en-US" sz="18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相等</a:t>
            </a:r>
            <a:endParaRPr lang="zh-CN" altLang="en-US" dirty="0"/>
          </a:p>
        </p:txBody>
      </p:sp>
      <p:sp>
        <p:nvSpPr>
          <p:cNvPr id="57" name="标题 56">
            <a:extLst>
              <a:ext uri="{FF2B5EF4-FFF2-40B4-BE49-F238E27FC236}">
                <a16:creationId xmlns:a16="http://schemas.microsoft.com/office/drawing/2014/main" id="{E13360B0-8AA9-0681-2CA2-DC2EA78E9E30}"/>
              </a:ext>
            </a:extLst>
          </p:cNvPr>
          <p:cNvSpPr>
            <a:spLocks noGrp="1"/>
          </p:cNvSpPr>
          <p:nvPr>
            <p:ph type="title"/>
          </p:nvPr>
        </p:nvSpPr>
        <p:spPr/>
        <p:txBody>
          <a:bodyPr/>
          <a:lstStyle/>
          <a:p>
            <a:r>
              <a:rPr lang="en-US" altLang="zh-CN" dirty="0"/>
              <a:t>HashSet</a:t>
            </a:r>
            <a:r>
              <a:rPr lang="zh-CN" altLang="en-US" dirty="0"/>
              <a:t>集合的底层原理</a:t>
            </a:r>
          </a:p>
        </p:txBody>
      </p:sp>
    </p:spTree>
    <p:extLst>
      <p:ext uri="{BB962C8B-B14F-4D97-AF65-F5344CB8AC3E}">
        <p14:creationId xmlns:p14="http://schemas.microsoft.com/office/powerpoint/2010/main" val="547840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wipe(down)">
                                      <p:cBhvr>
                                        <p:cTn id="11" dur="500"/>
                                        <p:tgtEl>
                                          <p:spTgt spid="6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wipe(down)">
                                      <p:cBhvr>
                                        <p:cTn id="16" dur="500"/>
                                        <p:tgtEl>
                                          <p:spTgt spid="61"/>
                                        </p:tgtEl>
                                      </p:cBhvr>
                                    </p:animEffect>
                                  </p:childTnLst>
                                </p:cTn>
                              </p:par>
                              <p:par>
                                <p:cTn id="17" presetID="1" presetClass="exit" presetSubtype="0" fill="hold" nodeType="withEffect">
                                  <p:stCondLst>
                                    <p:cond delay="0"/>
                                  </p:stCondLst>
                                  <p:childTnLst>
                                    <p:set>
                                      <p:cBhvr>
                                        <p:cTn id="18" dur="1" fill="hold">
                                          <p:stCondLst>
                                            <p:cond delay="0"/>
                                          </p:stCondLst>
                                        </p:cTn>
                                        <p:tgtEl>
                                          <p:spTgt spid="6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xit" presetSubtype="4" fill="hold" nodeType="clickEffect">
                                  <p:stCondLst>
                                    <p:cond delay="0"/>
                                  </p:stCondLst>
                                  <p:childTnLst>
                                    <p:animEffect transition="out" filter="wipe(down)">
                                      <p:cBhvr>
                                        <p:cTn id="22" dur="500"/>
                                        <p:tgtEl>
                                          <p:spTgt spid="61"/>
                                        </p:tgtEl>
                                      </p:cBhvr>
                                    </p:animEffect>
                                    <p:set>
                                      <p:cBhvr>
                                        <p:cTn id="23" dur="1" fill="hold">
                                          <p:stCondLst>
                                            <p:cond delay="499"/>
                                          </p:stCondLst>
                                        </p:cTn>
                                        <p:tgtEl>
                                          <p:spTgt spid="61"/>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grpId="0" nodeType="clickEffect">
                                  <p:stCondLst>
                                    <p:cond delay="0"/>
                                  </p:stCondLst>
                                  <p:childTnLst>
                                    <p:animMotion origin="layout" path="M 8.33333E-7 1.85185E-6 L 8.33333E-7 0.25 " pathEditMode="relative" rAng="0" ptsTypes="AA">
                                      <p:cBhvr>
                                        <p:cTn id="27" dur="2000" fill="hold"/>
                                        <p:tgtEl>
                                          <p:spTgt spid="65"/>
                                        </p:tgtEl>
                                        <p:attrNameLst>
                                          <p:attrName>ppt_x</p:attrName>
                                          <p:attrName>ppt_y</p:attrName>
                                        </p:attrNameLst>
                                      </p:cBhvr>
                                      <p:rCtr x="0" y="12500"/>
                                    </p:animMotion>
                                  </p:childTnLst>
                                </p:cTn>
                              </p:par>
                              <p:par>
                                <p:cTn id="28" presetID="42" presetClass="path" presetSubtype="0" accel="50000" decel="50000" fill="hold" nodeType="withEffect">
                                  <p:stCondLst>
                                    <p:cond delay="0"/>
                                  </p:stCondLst>
                                  <p:childTnLst>
                                    <p:animMotion origin="layout" path="M 8.33333E-7 4.07407E-6 L 8.33333E-7 0.25 " pathEditMode="relative" rAng="0" ptsTypes="AA">
                                      <p:cBhvr>
                                        <p:cTn id="29" dur="2000" fill="hold"/>
                                        <p:tgtEl>
                                          <p:spTgt spid="4"/>
                                        </p:tgtEl>
                                        <p:attrNameLst>
                                          <p:attrName>ppt_x</p:attrName>
                                          <p:attrName>ppt_y</p:attrName>
                                        </p:attrNameLst>
                                      </p:cBhvr>
                                      <p:rCtr x="0" y="12500"/>
                                    </p:animMotion>
                                  </p:childTnLst>
                                </p:cTn>
                              </p:par>
                              <p:par>
                                <p:cTn id="30" presetID="42" presetClass="path" presetSubtype="0" accel="50000" decel="50000" fill="hold" grpId="0" nodeType="withEffect">
                                  <p:stCondLst>
                                    <p:cond delay="0"/>
                                  </p:stCondLst>
                                  <p:childTnLst>
                                    <p:animMotion origin="layout" path="M 1.04167E-6 -3.7037E-6 L 1.04167E-6 0.25 " pathEditMode="relative" rAng="0" ptsTypes="AA">
                                      <p:cBhvr>
                                        <p:cTn id="31" dur="2000" fill="hold"/>
                                        <p:tgtEl>
                                          <p:spTgt spid="70"/>
                                        </p:tgtEl>
                                        <p:attrNameLst>
                                          <p:attrName>ppt_x</p:attrName>
                                          <p:attrName>ppt_y</p:attrName>
                                        </p:attrNameLst>
                                      </p:cBhvr>
                                      <p:rCtr x="0" y="12500"/>
                                    </p:animMotion>
                                  </p:childTnLst>
                                </p:cTn>
                              </p:par>
                            </p:childTnLst>
                          </p:cTn>
                        </p:par>
                      </p:childTnLst>
                    </p:cTn>
                  </p:par>
                  <p:par>
                    <p:cTn id="32" fill="hold">
                      <p:stCondLst>
                        <p:cond delay="indefinite"/>
                      </p:stCondLst>
                      <p:childTnLst>
                        <p:par>
                          <p:cTn id="33" fill="hold">
                            <p:stCondLst>
                              <p:cond delay="0"/>
                            </p:stCondLst>
                            <p:childTnLst>
                              <p:par>
                                <p:cTn id="34" presetID="42" presetClass="path" presetSubtype="0" accel="50000" decel="50000" fill="hold" grpId="1" nodeType="clickEffect">
                                  <p:stCondLst>
                                    <p:cond delay="0"/>
                                  </p:stCondLst>
                                  <p:childTnLst>
                                    <p:animMotion origin="layout" path="M -4.375E-6 0 L 0.13594 -0.2831 " pathEditMode="relative" rAng="0" ptsTypes="AA">
                                      <p:cBhvr>
                                        <p:cTn id="35" dur="2000" fill="hold"/>
                                        <p:tgtEl>
                                          <p:spTgt spid="62"/>
                                        </p:tgtEl>
                                        <p:attrNameLst>
                                          <p:attrName>ppt_x</p:attrName>
                                          <p:attrName>ppt_y</p:attrName>
                                        </p:attrNameLst>
                                      </p:cBhvr>
                                      <p:rCtr x="6758" y="-14097"/>
                                    </p:animMotion>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5"/>
                                        </p:tgtEl>
                                        <p:attrNameLst>
                                          <p:attrName>style.visibility</p:attrName>
                                        </p:attrNameLst>
                                      </p:cBhvr>
                                      <p:to>
                                        <p:strVal val="visible"/>
                                      </p:to>
                                    </p:set>
                                    <p:animEffect transition="in" filter="wipe(up)">
                                      <p:cBhvr>
                                        <p:cTn id="40" dur="500"/>
                                        <p:tgtEl>
                                          <p:spTgt spid="7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fade">
                                      <p:cBhvr>
                                        <p:cTn id="45" dur="500"/>
                                        <p:tgtEl>
                                          <p:spTgt spid="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wipe(down)">
                                      <p:cBhvr>
                                        <p:cTn id="50" dur="500"/>
                                        <p:tgtEl>
                                          <p:spTgt spid="2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wipe(left)">
                                      <p:cBhvr>
                                        <p:cTn id="55" dur="500"/>
                                        <p:tgtEl>
                                          <p:spTgt spid="7"/>
                                        </p:tgtEl>
                                      </p:cBhvr>
                                    </p:animEffect>
                                  </p:childTnLst>
                                </p:cTn>
                              </p:par>
                              <p:par>
                                <p:cTn id="56" presetID="1" presetClass="exit" presetSubtype="0" fill="hold" nodeType="withEffect">
                                  <p:stCondLst>
                                    <p:cond delay="0"/>
                                  </p:stCondLst>
                                  <p:childTnLst>
                                    <p:set>
                                      <p:cBhvr>
                                        <p:cTn id="57" dur="1" fill="hold">
                                          <p:stCondLst>
                                            <p:cond delay="0"/>
                                          </p:stCondLst>
                                        </p:cTn>
                                        <p:tgtEl>
                                          <p:spTgt spid="2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nodeType="clickEffect">
                                  <p:stCondLst>
                                    <p:cond delay="0"/>
                                  </p:stCondLst>
                                  <p:childTnLst>
                                    <p:set>
                                      <p:cBhvr>
                                        <p:cTn id="61" dur="1" fill="hold">
                                          <p:stCondLst>
                                            <p:cond delay="0"/>
                                          </p:stCondLst>
                                        </p:cTn>
                                        <p:tgtEl>
                                          <p:spTgt spid="7"/>
                                        </p:tgtEl>
                                        <p:attrNameLst>
                                          <p:attrName>style.visibility</p:attrName>
                                        </p:attrNameLst>
                                      </p:cBhvr>
                                      <p:to>
                                        <p:strVal val="hidden"/>
                                      </p:to>
                                    </p:set>
                                  </p:childTnLst>
                                </p:cTn>
                              </p:par>
                              <p:par>
                                <p:cTn id="62" presetID="22" presetClass="entr" presetSubtype="8" fill="hold" nodeType="withEffect">
                                  <p:stCondLst>
                                    <p:cond delay="0"/>
                                  </p:stCondLst>
                                  <p:childTnLst>
                                    <p:set>
                                      <p:cBhvr>
                                        <p:cTn id="63" dur="1" fill="hold">
                                          <p:stCondLst>
                                            <p:cond delay="0"/>
                                          </p:stCondLst>
                                        </p:cTn>
                                        <p:tgtEl>
                                          <p:spTgt spid="63"/>
                                        </p:tgtEl>
                                        <p:attrNameLst>
                                          <p:attrName>style.visibility</p:attrName>
                                        </p:attrNameLst>
                                      </p:cBhvr>
                                      <p:to>
                                        <p:strVal val="visible"/>
                                      </p:to>
                                    </p:set>
                                    <p:animEffect transition="in" filter="wipe(left)">
                                      <p:cBhvr>
                                        <p:cTn id="64" dur="500"/>
                                        <p:tgtEl>
                                          <p:spTgt spid="6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74"/>
                                        </p:tgtEl>
                                        <p:attrNameLst>
                                          <p:attrName>style.visibility</p:attrName>
                                        </p:attrNameLst>
                                      </p:cBhvr>
                                      <p:to>
                                        <p:strVal val="visible"/>
                                      </p:to>
                                    </p:set>
                                    <p:animEffect transition="in" filter="wipe(down)">
                                      <p:cBhvr>
                                        <p:cTn id="69" dur="500"/>
                                        <p:tgtEl>
                                          <p:spTgt spid="7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xit" presetSubtype="4" fill="hold" nodeType="clickEffect">
                                  <p:stCondLst>
                                    <p:cond delay="0"/>
                                  </p:stCondLst>
                                  <p:childTnLst>
                                    <p:animEffect transition="out" filter="wipe(down)">
                                      <p:cBhvr>
                                        <p:cTn id="73" dur="500"/>
                                        <p:tgtEl>
                                          <p:spTgt spid="63"/>
                                        </p:tgtEl>
                                      </p:cBhvr>
                                    </p:animEffect>
                                    <p:set>
                                      <p:cBhvr>
                                        <p:cTn id="74" dur="1" fill="hold">
                                          <p:stCondLst>
                                            <p:cond delay="499"/>
                                          </p:stCondLst>
                                        </p:cTn>
                                        <p:tgtEl>
                                          <p:spTgt spid="63"/>
                                        </p:tgtEl>
                                        <p:attrNameLst>
                                          <p:attrName>style.visibility</p:attrName>
                                        </p:attrNameLst>
                                      </p:cBhvr>
                                      <p:to>
                                        <p:strVal val="hidden"/>
                                      </p:to>
                                    </p:set>
                                  </p:childTnLst>
                                </p:cTn>
                              </p:par>
                              <p:par>
                                <p:cTn id="75" presetID="22" presetClass="exit" presetSubtype="4" fill="hold" grpId="1" nodeType="withEffect">
                                  <p:stCondLst>
                                    <p:cond delay="0"/>
                                  </p:stCondLst>
                                  <p:childTnLst>
                                    <p:animEffect transition="out" filter="wipe(down)">
                                      <p:cBhvr>
                                        <p:cTn id="76" dur="500"/>
                                        <p:tgtEl>
                                          <p:spTgt spid="3"/>
                                        </p:tgtEl>
                                      </p:cBhvr>
                                    </p:animEffect>
                                    <p:set>
                                      <p:cBhvr>
                                        <p:cTn id="77" dur="1" fill="hold">
                                          <p:stCondLst>
                                            <p:cond delay="499"/>
                                          </p:stCondLst>
                                        </p:cTn>
                                        <p:tgtEl>
                                          <p:spTgt spid="3"/>
                                        </p:tgtEl>
                                        <p:attrNameLst>
                                          <p:attrName>style.visibility</p:attrName>
                                        </p:attrNameLst>
                                      </p:cBhvr>
                                      <p:to>
                                        <p:strVal val="hidden"/>
                                      </p:to>
                                    </p:set>
                                  </p:childTnLst>
                                </p:cTn>
                              </p:par>
                              <p:par>
                                <p:cTn id="78" presetID="22" presetClass="exit" presetSubtype="4" fill="hold" grpId="1" nodeType="withEffect">
                                  <p:stCondLst>
                                    <p:cond delay="0"/>
                                  </p:stCondLst>
                                  <p:childTnLst>
                                    <p:animEffect transition="out" filter="wipe(down)">
                                      <p:cBhvr>
                                        <p:cTn id="79" dur="500"/>
                                        <p:tgtEl>
                                          <p:spTgt spid="74"/>
                                        </p:tgtEl>
                                      </p:cBhvr>
                                    </p:animEffect>
                                    <p:set>
                                      <p:cBhvr>
                                        <p:cTn id="80" dur="1" fill="hold">
                                          <p:stCondLst>
                                            <p:cond delay="499"/>
                                          </p:stCondLst>
                                        </p:cTn>
                                        <p:tgtEl>
                                          <p:spTgt spid="74"/>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2" presetClass="entr" presetSubtype="1" fill="hold" grpId="0" nodeType="clickEffect">
                                  <p:stCondLst>
                                    <p:cond delay="0"/>
                                  </p:stCondLst>
                                  <p:childTnLst>
                                    <p:set>
                                      <p:cBhvr>
                                        <p:cTn id="84" dur="1" fill="hold">
                                          <p:stCondLst>
                                            <p:cond delay="0"/>
                                          </p:stCondLst>
                                        </p:cTn>
                                        <p:tgtEl>
                                          <p:spTgt spid="71"/>
                                        </p:tgtEl>
                                        <p:attrNameLst>
                                          <p:attrName>style.visibility</p:attrName>
                                        </p:attrNameLst>
                                      </p:cBhvr>
                                      <p:to>
                                        <p:strVal val="visible"/>
                                      </p:to>
                                    </p:set>
                                    <p:anim calcmode="lin" valueType="num">
                                      <p:cBhvr additive="base">
                                        <p:cTn id="85" dur="500"/>
                                        <p:tgtEl>
                                          <p:spTgt spid="71"/>
                                        </p:tgtEl>
                                        <p:attrNameLst>
                                          <p:attrName>ppt_y</p:attrName>
                                        </p:attrNameLst>
                                      </p:cBhvr>
                                      <p:tavLst>
                                        <p:tav tm="0">
                                          <p:val>
                                            <p:strVal val="#ppt_y-#ppt_h*1.125000"/>
                                          </p:val>
                                        </p:tav>
                                        <p:tav tm="100000">
                                          <p:val>
                                            <p:strVal val="#ppt_y"/>
                                          </p:val>
                                        </p:tav>
                                      </p:tavLst>
                                    </p:anim>
                                    <p:animEffect transition="in" filter="wipe(down)">
                                      <p:cBhvr>
                                        <p:cTn id="86"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2" grpId="0" animBg="1"/>
      <p:bldP spid="62" grpId="1" animBg="1"/>
      <p:bldP spid="70" grpId="0" animBg="1"/>
      <p:bldP spid="71" grpId="0" animBg="1"/>
      <p:bldP spid="3" grpId="0" animBg="1"/>
      <p:bldP spid="3" grpId="1" animBg="1"/>
      <p:bldP spid="74" grpId="0"/>
      <p:bldP spid="74"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201D7D9F-50EB-4D9D-9AE2-8A7FA9E3346E}"/>
              </a:ext>
            </a:extLst>
          </p:cNvPr>
          <p:cNvCxnSpPr/>
          <p:nvPr/>
        </p:nvCxnSpPr>
        <p:spPr>
          <a:xfrm>
            <a:off x="986324" y="1882451"/>
            <a:ext cx="10805583" cy="0"/>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8AC05EE3-4F73-4EF8-960B-7269785906D6}"/>
              </a:ext>
            </a:extLst>
          </p:cNvPr>
          <p:cNvCxnSpPr/>
          <p:nvPr/>
        </p:nvCxnSpPr>
        <p:spPr>
          <a:xfrm>
            <a:off x="986324" y="2553435"/>
            <a:ext cx="10805583" cy="6349"/>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E37972FA-0BDE-4304-BAB5-AE19CD8E3F49}"/>
              </a:ext>
            </a:extLst>
          </p:cNvPr>
          <p:cNvSpPr/>
          <p:nvPr/>
        </p:nvSpPr>
        <p:spPr>
          <a:xfrm>
            <a:off x="1070990"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11" name="直接连接符 10">
            <a:extLst>
              <a:ext uri="{FF2B5EF4-FFF2-40B4-BE49-F238E27FC236}">
                <a16:creationId xmlns:a16="http://schemas.microsoft.com/office/drawing/2014/main" id="{09B8B3F6-D031-42A1-A6B2-191E6AC3BCC0}"/>
              </a:ext>
            </a:extLst>
          </p:cNvPr>
          <p:cNvCxnSpPr/>
          <p:nvPr/>
        </p:nvCxnSpPr>
        <p:spPr>
          <a:xfrm>
            <a:off x="233675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D328CA8F-E052-449F-A13A-F2171F40E9B2}"/>
              </a:ext>
            </a:extLst>
          </p:cNvPr>
          <p:cNvSpPr/>
          <p:nvPr/>
        </p:nvSpPr>
        <p:spPr>
          <a:xfrm>
            <a:off x="1737740"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13" name="直接连接符 12">
            <a:extLst>
              <a:ext uri="{FF2B5EF4-FFF2-40B4-BE49-F238E27FC236}">
                <a16:creationId xmlns:a16="http://schemas.microsoft.com/office/drawing/2014/main" id="{3E7CDDE9-F70D-44EC-8170-06E64BE6B517}"/>
              </a:ext>
            </a:extLst>
          </p:cNvPr>
          <p:cNvCxnSpPr/>
          <p:nvPr/>
        </p:nvCxnSpPr>
        <p:spPr>
          <a:xfrm>
            <a:off x="3007739"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1C6C152-C297-4284-8C57-F73E87911577}"/>
              </a:ext>
            </a:extLst>
          </p:cNvPr>
          <p:cNvCxnSpPr/>
          <p:nvPr/>
        </p:nvCxnSpPr>
        <p:spPr>
          <a:xfrm>
            <a:off x="502280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9518740-244C-4F1B-A7E6-974C97EB3C84}"/>
              </a:ext>
            </a:extLst>
          </p:cNvPr>
          <p:cNvCxnSpPr/>
          <p:nvPr/>
        </p:nvCxnSpPr>
        <p:spPr>
          <a:xfrm>
            <a:off x="569590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3323605-7F49-42DF-A461-B1D0983AA0CD}"/>
              </a:ext>
            </a:extLst>
          </p:cNvPr>
          <p:cNvCxnSpPr/>
          <p:nvPr/>
        </p:nvCxnSpPr>
        <p:spPr>
          <a:xfrm>
            <a:off x="6415572"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8CA79713-3D1A-4B48-8E55-C4AAA50D3BA6}"/>
              </a:ext>
            </a:extLst>
          </p:cNvPr>
          <p:cNvCxnSpPr/>
          <p:nvPr/>
        </p:nvCxnSpPr>
        <p:spPr>
          <a:xfrm>
            <a:off x="7088672"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486AC149-7E95-4FDD-82B4-38B79D099671}"/>
              </a:ext>
            </a:extLst>
          </p:cNvPr>
          <p:cNvCxnSpPr/>
          <p:nvPr/>
        </p:nvCxnSpPr>
        <p:spPr>
          <a:xfrm>
            <a:off x="775965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37CB7109-3844-4E55-9630-50C4BDCD7533}"/>
              </a:ext>
            </a:extLst>
          </p:cNvPr>
          <p:cNvCxnSpPr/>
          <p:nvPr/>
        </p:nvCxnSpPr>
        <p:spPr>
          <a:xfrm>
            <a:off x="9103739"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E1531274-E2D2-4153-8EBC-62B019F19B71}"/>
              </a:ext>
            </a:extLst>
          </p:cNvPr>
          <p:cNvCxnSpPr/>
          <p:nvPr/>
        </p:nvCxnSpPr>
        <p:spPr>
          <a:xfrm>
            <a:off x="9774723"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6A703A7C-CBFC-462E-96C1-CB3713D2A5DA}"/>
              </a:ext>
            </a:extLst>
          </p:cNvPr>
          <p:cNvCxnSpPr/>
          <p:nvPr/>
        </p:nvCxnSpPr>
        <p:spPr>
          <a:xfrm>
            <a:off x="10447823"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B7CB88F8-86BF-4E05-9CDA-E659033860DB}"/>
              </a:ext>
            </a:extLst>
          </p:cNvPr>
          <p:cNvCxnSpPr/>
          <p:nvPr/>
        </p:nvCxnSpPr>
        <p:spPr>
          <a:xfrm>
            <a:off x="1111880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F113361B-AE7C-4FF8-8C72-0870A5759A21}"/>
              </a:ext>
            </a:extLst>
          </p:cNvPr>
          <p:cNvCxnSpPr/>
          <p:nvPr/>
        </p:nvCxnSpPr>
        <p:spPr>
          <a:xfrm>
            <a:off x="1179190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4F915A44-30BB-4B57-AD83-C126FC6CECF1}"/>
              </a:ext>
            </a:extLst>
          </p:cNvPr>
          <p:cNvSpPr/>
          <p:nvPr/>
        </p:nvSpPr>
        <p:spPr>
          <a:xfrm>
            <a:off x="2434124"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28" name="矩形 27">
            <a:extLst>
              <a:ext uri="{FF2B5EF4-FFF2-40B4-BE49-F238E27FC236}">
                <a16:creationId xmlns:a16="http://schemas.microsoft.com/office/drawing/2014/main" id="{0A31BB37-CE1E-4EBC-B16A-E638DBF0C4B8}"/>
              </a:ext>
            </a:extLst>
          </p:cNvPr>
          <p:cNvSpPr/>
          <p:nvPr/>
        </p:nvSpPr>
        <p:spPr>
          <a:xfrm>
            <a:off x="3100873"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0" name="矩形 29">
            <a:extLst>
              <a:ext uri="{FF2B5EF4-FFF2-40B4-BE49-F238E27FC236}">
                <a16:creationId xmlns:a16="http://schemas.microsoft.com/office/drawing/2014/main" id="{2119BA76-7662-49C5-9B17-436F7C9B09DE}"/>
              </a:ext>
            </a:extLst>
          </p:cNvPr>
          <p:cNvSpPr/>
          <p:nvPr/>
        </p:nvSpPr>
        <p:spPr>
          <a:xfrm>
            <a:off x="4423790"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1" name="矩形 30">
            <a:extLst>
              <a:ext uri="{FF2B5EF4-FFF2-40B4-BE49-F238E27FC236}">
                <a16:creationId xmlns:a16="http://schemas.microsoft.com/office/drawing/2014/main" id="{2BDF3838-B3EB-4F38-AF71-F4F3FC1D9ABE}"/>
              </a:ext>
            </a:extLst>
          </p:cNvPr>
          <p:cNvSpPr/>
          <p:nvPr/>
        </p:nvSpPr>
        <p:spPr>
          <a:xfrm>
            <a:off x="5120173"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2" name="矩形 31">
            <a:extLst>
              <a:ext uri="{FF2B5EF4-FFF2-40B4-BE49-F238E27FC236}">
                <a16:creationId xmlns:a16="http://schemas.microsoft.com/office/drawing/2014/main" id="{DC3D77DD-736D-4B54-86FF-F02DD200022F}"/>
              </a:ext>
            </a:extLst>
          </p:cNvPr>
          <p:cNvSpPr/>
          <p:nvPr/>
        </p:nvSpPr>
        <p:spPr>
          <a:xfrm>
            <a:off x="5786924"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3" name="矩形 32">
            <a:extLst>
              <a:ext uri="{FF2B5EF4-FFF2-40B4-BE49-F238E27FC236}">
                <a16:creationId xmlns:a16="http://schemas.microsoft.com/office/drawing/2014/main" id="{22C3580F-1B17-46C8-8020-9E5C01B20E90}"/>
              </a:ext>
            </a:extLst>
          </p:cNvPr>
          <p:cNvSpPr/>
          <p:nvPr/>
        </p:nvSpPr>
        <p:spPr>
          <a:xfrm>
            <a:off x="6506590"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4" name="矩形 33">
            <a:extLst>
              <a:ext uri="{FF2B5EF4-FFF2-40B4-BE49-F238E27FC236}">
                <a16:creationId xmlns:a16="http://schemas.microsoft.com/office/drawing/2014/main" id="{E5F9F97A-80D9-434D-8903-BF22387457F9}"/>
              </a:ext>
            </a:extLst>
          </p:cNvPr>
          <p:cNvSpPr/>
          <p:nvPr/>
        </p:nvSpPr>
        <p:spPr>
          <a:xfrm>
            <a:off x="7171224"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6" name="矩形 35">
            <a:extLst>
              <a:ext uri="{FF2B5EF4-FFF2-40B4-BE49-F238E27FC236}">
                <a16:creationId xmlns:a16="http://schemas.microsoft.com/office/drawing/2014/main" id="{FACAE986-6643-434D-A873-83617E2D038F}"/>
              </a:ext>
            </a:extLst>
          </p:cNvPr>
          <p:cNvSpPr/>
          <p:nvPr/>
        </p:nvSpPr>
        <p:spPr>
          <a:xfrm>
            <a:off x="8534357"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7" name="矩形 36">
            <a:extLst>
              <a:ext uri="{FF2B5EF4-FFF2-40B4-BE49-F238E27FC236}">
                <a16:creationId xmlns:a16="http://schemas.microsoft.com/office/drawing/2014/main" id="{A291CEE4-5203-4F95-A935-C4385C33E49C}"/>
              </a:ext>
            </a:extLst>
          </p:cNvPr>
          <p:cNvSpPr/>
          <p:nvPr/>
        </p:nvSpPr>
        <p:spPr>
          <a:xfrm>
            <a:off x="9192640"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8" name="矩形 37">
            <a:extLst>
              <a:ext uri="{FF2B5EF4-FFF2-40B4-BE49-F238E27FC236}">
                <a16:creationId xmlns:a16="http://schemas.microsoft.com/office/drawing/2014/main" id="{6E46F46D-53B5-465C-ACB8-28C970B23CF4}"/>
              </a:ext>
            </a:extLst>
          </p:cNvPr>
          <p:cNvSpPr/>
          <p:nvPr/>
        </p:nvSpPr>
        <p:spPr>
          <a:xfrm>
            <a:off x="9857273"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9" name="矩形 38">
            <a:extLst>
              <a:ext uri="{FF2B5EF4-FFF2-40B4-BE49-F238E27FC236}">
                <a16:creationId xmlns:a16="http://schemas.microsoft.com/office/drawing/2014/main" id="{5023BD89-AE4A-4465-AE8B-B16718FD3EA1}"/>
              </a:ext>
            </a:extLst>
          </p:cNvPr>
          <p:cNvSpPr/>
          <p:nvPr/>
        </p:nvSpPr>
        <p:spPr>
          <a:xfrm>
            <a:off x="10555773"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40" name="矩形 39">
            <a:extLst>
              <a:ext uri="{FF2B5EF4-FFF2-40B4-BE49-F238E27FC236}">
                <a16:creationId xmlns:a16="http://schemas.microsoft.com/office/drawing/2014/main" id="{86B06177-6BA2-4AD0-ACF2-CCF99BC656AE}"/>
              </a:ext>
            </a:extLst>
          </p:cNvPr>
          <p:cNvSpPr/>
          <p:nvPr/>
        </p:nvSpPr>
        <p:spPr>
          <a:xfrm>
            <a:off x="11220406"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41" name="矩形 40">
            <a:extLst>
              <a:ext uri="{FF2B5EF4-FFF2-40B4-BE49-F238E27FC236}">
                <a16:creationId xmlns:a16="http://schemas.microsoft.com/office/drawing/2014/main" id="{D234CB4B-117F-4D29-99B8-A1854E48B856}"/>
              </a:ext>
            </a:extLst>
          </p:cNvPr>
          <p:cNvSpPr/>
          <p:nvPr/>
        </p:nvSpPr>
        <p:spPr>
          <a:xfrm>
            <a:off x="1159890"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0</a:t>
            </a:r>
            <a:endParaRPr lang="zh-CN" altLang="en-US" sz="1600" dirty="0">
              <a:ea typeface="Alibaba PuHuiTi R"/>
            </a:endParaRPr>
          </a:p>
        </p:txBody>
      </p:sp>
      <p:sp>
        <p:nvSpPr>
          <p:cNvPr id="42" name="矩形 41">
            <a:extLst>
              <a:ext uri="{FF2B5EF4-FFF2-40B4-BE49-F238E27FC236}">
                <a16:creationId xmlns:a16="http://schemas.microsoft.com/office/drawing/2014/main" id="{D01579AD-0E9E-4976-8209-7BBAB77E683F}"/>
              </a:ext>
            </a:extLst>
          </p:cNvPr>
          <p:cNvSpPr/>
          <p:nvPr/>
        </p:nvSpPr>
        <p:spPr>
          <a:xfrm>
            <a:off x="1824523"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a:t>
            </a:r>
            <a:endParaRPr lang="zh-CN" altLang="en-US" sz="1600" dirty="0">
              <a:ea typeface="Alibaba PuHuiTi R"/>
            </a:endParaRPr>
          </a:p>
        </p:txBody>
      </p:sp>
      <p:sp>
        <p:nvSpPr>
          <p:cNvPr id="43" name="矩形 42">
            <a:extLst>
              <a:ext uri="{FF2B5EF4-FFF2-40B4-BE49-F238E27FC236}">
                <a16:creationId xmlns:a16="http://schemas.microsoft.com/office/drawing/2014/main" id="{56DFCBA2-8C31-4574-8908-CF0304C915CD}"/>
              </a:ext>
            </a:extLst>
          </p:cNvPr>
          <p:cNvSpPr/>
          <p:nvPr/>
        </p:nvSpPr>
        <p:spPr>
          <a:xfrm>
            <a:off x="2523023"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2</a:t>
            </a:r>
            <a:endParaRPr lang="zh-CN" altLang="en-US" sz="1600" dirty="0">
              <a:ea typeface="Alibaba PuHuiTi R"/>
            </a:endParaRPr>
          </a:p>
        </p:txBody>
      </p:sp>
      <p:sp>
        <p:nvSpPr>
          <p:cNvPr id="44" name="矩形 43">
            <a:extLst>
              <a:ext uri="{FF2B5EF4-FFF2-40B4-BE49-F238E27FC236}">
                <a16:creationId xmlns:a16="http://schemas.microsoft.com/office/drawing/2014/main" id="{0140C8C6-3516-4137-8199-87539089699A}"/>
              </a:ext>
            </a:extLst>
          </p:cNvPr>
          <p:cNvSpPr/>
          <p:nvPr/>
        </p:nvSpPr>
        <p:spPr>
          <a:xfrm>
            <a:off x="3187657"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3</a:t>
            </a:r>
            <a:endParaRPr lang="zh-CN" altLang="en-US" sz="1600" dirty="0">
              <a:ea typeface="Alibaba PuHuiTi R"/>
            </a:endParaRPr>
          </a:p>
        </p:txBody>
      </p:sp>
      <p:sp>
        <p:nvSpPr>
          <p:cNvPr id="45" name="矩形 44">
            <a:extLst>
              <a:ext uri="{FF2B5EF4-FFF2-40B4-BE49-F238E27FC236}">
                <a16:creationId xmlns:a16="http://schemas.microsoft.com/office/drawing/2014/main" id="{E5BF7CE8-00CD-4165-A34D-1101AE6E1861}"/>
              </a:ext>
            </a:extLst>
          </p:cNvPr>
          <p:cNvSpPr/>
          <p:nvPr/>
        </p:nvSpPr>
        <p:spPr>
          <a:xfrm>
            <a:off x="3845939"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4</a:t>
            </a:r>
            <a:endParaRPr lang="zh-CN" altLang="en-US" sz="1600" dirty="0">
              <a:ea typeface="Alibaba PuHuiTi R"/>
            </a:endParaRPr>
          </a:p>
        </p:txBody>
      </p:sp>
      <p:sp>
        <p:nvSpPr>
          <p:cNvPr id="46" name="矩形 45">
            <a:extLst>
              <a:ext uri="{FF2B5EF4-FFF2-40B4-BE49-F238E27FC236}">
                <a16:creationId xmlns:a16="http://schemas.microsoft.com/office/drawing/2014/main" id="{D589DA99-9793-44C1-BDDE-E01A952B8F9C}"/>
              </a:ext>
            </a:extLst>
          </p:cNvPr>
          <p:cNvSpPr/>
          <p:nvPr/>
        </p:nvSpPr>
        <p:spPr>
          <a:xfrm>
            <a:off x="4510573"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5</a:t>
            </a:r>
            <a:endParaRPr lang="zh-CN" altLang="en-US" sz="1600" dirty="0">
              <a:ea typeface="Alibaba PuHuiTi R"/>
            </a:endParaRPr>
          </a:p>
        </p:txBody>
      </p:sp>
      <p:sp>
        <p:nvSpPr>
          <p:cNvPr id="47" name="矩形 46">
            <a:extLst>
              <a:ext uri="{FF2B5EF4-FFF2-40B4-BE49-F238E27FC236}">
                <a16:creationId xmlns:a16="http://schemas.microsoft.com/office/drawing/2014/main" id="{50A83862-EF8B-466C-961A-4BA89C506005}"/>
              </a:ext>
            </a:extLst>
          </p:cNvPr>
          <p:cNvSpPr/>
          <p:nvPr/>
        </p:nvSpPr>
        <p:spPr>
          <a:xfrm>
            <a:off x="5209073"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6</a:t>
            </a:r>
            <a:endParaRPr lang="zh-CN" altLang="en-US" sz="1600" dirty="0">
              <a:ea typeface="Alibaba PuHuiTi R"/>
            </a:endParaRPr>
          </a:p>
        </p:txBody>
      </p:sp>
      <p:sp>
        <p:nvSpPr>
          <p:cNvPr id="48" name="矩形 47">
            <a:extLst>
              <a:ext uri="{FF2B5EF4-FFF2-40B4-BE49-F238E27FC236}">
                <a16:creationId xmlns:a16="http://schemas.microsoft.com/office/drawing/2014/main" id="{27CFE5AA-F68A-44AA-BD35-9A36A66061B0}"/>
              </a:ext>
            </a:extLst>
          </p:cNvPr>
          <p:cNvSpPr/>
          <p:nvPr/>
        </p:nvSpPr>
        <p:spPr>
          <a:xfrm>
            <a:off x="5873706"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7</a:t>
            </a:r>
            <a:endParaRPr lang="zh-CN" altLang="en-US" sz="1600" dirty="0">
              <a:ea typeface="Alibaba PuHuiTi R"/>
            </a:endParaRPr>
          </a:p>
        </p:txBody>
      </p:sp>
      <p:sp>
        <p:nvSpPr>
          <p:cNvPr id="49" name="矩形 48">
            <a:extLst>
              <a:ext uri="{FF2B5EF4-FFF2-40B4-BE49-F238E27FC236}">
                <a16:creationId xmlns:a16="http://schemas.microsoft.com/office/drawing/2014/main" id="{435C2429-D942-4C83-941D-C720418A77C4}"/>
              </a:ext>
            </a:extLst>
          </p:cNvPr>
          <p:cNvSpPr/>
          <p:nvPr/>
        </p:nvSpPr>
        <p:spPr>
          <a:xfrm>
            <a:off x="6593373"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8</a:t>
            </a:r>
            <a:endParaRPr lang="zh-CN" altLang="en-US" sz="1600" dirty="0">
              <a:ea typeface="Alibaba PuHuiTi R"/>
            </a:endParaRPr>
          </a:p>
        </p:txBody>
      </p:sp>
      <p:sp>
        <p:nvSpPr>
          <p:cNvPr id="50" name="矩形 49">
            <a:extLst>
              <a:ext uri="{FF2B5EF4-FFF2-40B4-BE49-F238E27FC236}">
                <a16:creationId xmlns:a16="http://schemas.microsoft.com/office/drawing/2014/main" id="{D6790824-99A4-48BF-A2E0-B01D459EBD7A}"/>
              </a:ext>
            </a:extLst>
          </p:cNvPr>
          <p:cNvSpPr/>
          <p:nvPr/>
        </p:nvSpPr>
        <p:spPr>
          <a:xfrm>
            <a:off x="7260123"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9</a:t>
            </a:r>
            <a:endParaRPr lang="zh-CN" altLang="en-US" sz="1600" dirty="0">
              <a:ea typeface="Alibaba PuHuiTi R"/>
            </a:endParaRPr>
          </a:p>
        </p:txBody>
      </p:sp>
      <p:sp>
        <p:nvSpPr>
          <p:cNvPr id="51" name="矩形 50">
            <a:extLst>
              <a:ext uri="{FF2B5EF4-FFF2-40B4-BE49-F238E27FC236}">
                <a16:creationId xmlns:a16="http://schemas.microsoft.com/office/drawing/2014/main" id="{9A83DFDC-85DC-467F-86CB-E4B31677FD07}"/>
              </a:ext>
            </a:extLst>
          </p:cNvPr>
          <p:cNvSpPr/>
          <p:nvPr/>
        </p:nvSpPr>
        <p:spPr>
          <a:xfrm>
            <a:off x="7878190" y="2555552"/>
            <a:ext cx="425116"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10</a:t>
            </a:r>
            <a:endParaRPr lang="zh-CN" altLang="en-US" sz="1600" dirty="0">
              <a:ea typeface="Alibaba PuHuiTi R"/>
            </a:endParaRPr>
          </a:p>
        </p:txBody>
      </p:sp>
      <p:sp>
        <p:nvSpPr>
          <p:cNvPr id="52" name="矩形 51">
            <a:extLst>
              <a:ext uri="{FF2B5EF4-FFF2-40B4-BE49-F238E27FC236}">
                <a16:creationId xmlns:a16="http://schemas.microsoft.com/office/drawing/2014/main" id="{FAA711BB-B92F-4D59-9BE4-5C67A6502AFB}"/>
              </a:ext>
            </a:extLst>
          </p:cNvPr>
          <p:cNvSpPr/>
          <p:nvPr/>
        </p:nvSpPr>
        <p:spPr>
          <a:xfrm>
            <a:off x="8544939" y="2555552"/>
            <a:ext cx="425116"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11</a:t>
            </a:r>
            <a:endParaRPr lang="zh-CN" altLang="en-US" sz="1600" dirty="0">
              <a:ea typeface="Alibaba PuHuiTi R"/>
            </a:endParaRPr>
          </a:p>
        </p:txBody>
      </p:sp>
      <p:sp>
        <p:nvSpPr>
          <p:cNvPr id="53" name="矩形 52">
            <a:extLst>
              <a:ext uri="{FF2B5EF4-FFF2-40B4-BE49-F238E27FC236}">
                <a16:creationId xmlns:a16="http://schemas.microsoft.com/office/drawing/2014/main" id="{0BD56E17-25E5-4B30-AAAE-0FA8B2A7D676}"/>
              </a:ext>
            </a:extLst>
          </p:cNvPr>
          <p:cNvSpPr/>
          <p:nvPr/>
        </p:nvSpPr>
        <p:spPr>
          <a:xfrm>
            <a:off x="9203223" y="2555552"/>
            <a:ext cx="425116"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12</a:t>
            </a:r>
            <a:endParaRPr lang="zh-CN" altLang="en-US" sz="1600" dirty="0">
              <a:ea typeface="Alibaba PuHuiTi R"/>
            </a:endParaRPr>
          </a:p>
        </p:txBody>
      </p:sp>
      <p:sp>
        <p:nvSpPr>
          <p:cNvPr id="54" name="矩形 53">
            <a:extLst>
              <a:ext uri="{FF2B5EF4-FFF2-40B4-BE49-F238E27FC236}">
                <a16:creationId xmlns:a16="http://schemas.microsoft.com/office/drawing/2014/main" id="{1E46F7D6-1E57-4ABF-8C5A-873BCA356F81}"/>
              </a:ext>
            </a:extLst>
          </p:cNvPr>
          <p:cNvSpPr/>
          <p:nvPr/>
        </p:nvSpPr>
        <p:spPr>
          <a:xfrm>
            <a:off x="9867857" y="2555552"/>
            <a:ext cx="425116"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13</a:t>
            </a:r>
            <a:endParaRPr lang="zh-CN" altLang="en-US" sz="1600" dirty="0">
              <a:ea typeface="Alibaba PuHuiTi R"/>
            </a:endParaRPr>
          </a:p>
        </p:txBody>
      </p:sp>
      <p:sp>
        <p:nvSpPr>
          <p:cNvPr id="55" name="矩形 54">
            <a:extLst>
              <a:ext uri="{FF2B5EF4-FFF2-40B4-BE49-F238E27FC236}">
                <a16:creationId xmlns:a16="http://schemas.microsoft.com/office/drawing/2014/main" id="{4A0CCC6B-24AF-4071-8EA3-FCA2D22A403E}"/>
              </a:ext>
            </a:extLst>
          </p:cNvPr>
          <p:cNvSpPr/>
          <p:nvPr/>
        </p:nvSpPr>
        <p:spPr>
          <a:xfrm>
            <a:off x="10566357" y="2555552"/>
            <a:ext cx="425116"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14</a:t>
            </a:r>
            <a:endParaRPr lang="zh-CN" altLang="en-US" sz="1600" dirty="0">
              <a:ea typeface="Alibaba PuHuiTi R"/>
            </a:endParaRPr>
          </a:p>
        </p:txBody>
      </p:sp>
      <p:sp>
        <p:nvSpPr>
          <p:cNvPr id="56" name="矩形 55">
            <a:extLst>
              <a:ext uri="{FF2B5EF4-FFF2-40B4-BE49-F238E27FC236}">
                <a16:creationId xmlns:a16="http://schemas.microsoft.com/office/drawing/2014/main" id="{B13E9ED9-6987-493A-91E8-AE26A51E9710}"/>
              </a:ext>
            </a:extLst>
          </p:cNvPr>
          <p:cNvSpPr/>
          <p:nvPr/>
        </p:nvSpPr>
        <p:spPr>
          <a:xfrm>
            <a:off x="11230990" y="2555552"/>
            <a:ext cx="425116"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15</a:t>
            </a:r>
            <a:endParaRPr lang="zh-CN" altLang="en-US" sz="1600" dirty="0">
              <a:ea typeface="Alibaba PuHuiTi R"/>
            </a:endParaRPr>
          </a:p>
        </p:txBody>
      </p:sp>
      <p:sp>
        <p:nvSpPr>
          <p:cNvPr id="2" name="矩形 1">
            <a:extLst>
              <a:ext uri="{FF2B5EF4-FFF2-40B4-BE49-F238E27FC236}">
                <a16:creationId xmlns:a16="http://schemas.microsoft.com/office/drawing/2014/main" id="{B514DDC2-DA96-43C7-B879-4BD73A2CFB99}"/>
              </a:ext>
            </a:extLst>
          </p:cNvPr>
          <p:cNvSpPr/>
          <p:nvPr/>
        </p:nvSpPr>
        <p:spPr>
          <a:xfrm>
            <a:off x="10792840" y="1357519"/>
            <a:ext cx="1202573"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Segment[]</a:t>
            </a:r>
            <a:endParaRPr lang="zh-CN" altLang="en-US" sz="1600" dirty="0">
              <a:ea typeface="Alibaba PuHuiTi R"/>
            </a:endParaRPr>
          </a:p>
        </p:txBody>
      </p:sp>
      <p:cxnSp>
        <p:nvCxnSpPr>
          <p:cNvPr id="14" name="直接连接符 13">
            <a:extLst>
              <a:ext uri="{FF2B5EF4-FFF2-40B4-BE49-F238E27FC236}">
                <a16:creationId xmlns:a16="http://schemas.microsoft.com/office/drawing/2014/main" id="{BA298C77-E917-4B69-B036-5474A1F53E4C}"/>
              </a:ext>
            </a:extLst>
          </p:cNvPr>
          <p:cNvCxnSpPr/>
          <p:nvPr/>
        </p:nvCxnSpPr>
        <p:spPr>
          <a:xfrm>
            <a:off x="3678723"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21EF03A-D834-4391-93A8-6F93641950C7}"/>
              </a:ext>
            </a:extLst>
          </p:cNvPr>
          <p:cNvCxnSpPr/>
          <p:nvPr/>
        </p:nvCxnSpPr>
        <p:spPr>
          <a:xfrm>
            <a:off x="4351823"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2E4096A4-E834-4366-8FDA-AC74C2E92835}"/>
              </a:ext>
            </a:extLst>
          </p:cNvPr>
          <p:cNvCxnSpPr/>
          <p:nvPr/>
        </p:nvCxnSpPr>
        <p:spPr>
          <a:xfrm>
            <a:off x="986323"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F9176D09-1D4F-4B31-A3D6-E2DBE6C54C41}"/>
              </a:ext>
            </a:extLst>
          </p:cNvPr>
          <p:cNvCxnSpPr/>
          <p:nvPr/>
        </p:nvCxnSpPr>
        <p:spPr>
          <a:xfrm>
            <a:off x="166365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03B8C701-760D-4631-96E2-1A53A94A0CD9}"/>
              </a:ext>
            </a:extLst>
          </p:cNvPr>
          <p:cNvCxnSpPr/>
          <p:nvPr/>
        </p:nvCxnSpPr>
        <p:spPr>
          <a:xfrm>
            <a:off x="843275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4" name="椭圆 73">
            <a:extLst>
              <a:ext uri="{FF2B5EF4-FFF2-40B4-BE49-F238E27FC236}">
                <a16:creationId xmlns:a16="http://schemas.microsoft.com/office/drawing/2014/main" id="{2DFF7AA3-9C56-4457-9362-A0482272FE81}"/>
              </a:ext>
            </a:extLst>
          </p:cNvPr>
          <p:cNvSpPr/>
          <p:nvPr/>
        </p:nvSpPr>
        <p:spPr>
          <a:xfrm>
            <a:off x="3780324" y="4335668"/>
            <a:ext cx="478367" cy="480483"/>
          </a:xfrm>
          <a:prstGeom prst="ellipse">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rgbClr val="FF0000"/>
              </a:solidFill>
              <a:ea typeface="Alibaba PuHuiTi R"/>
            </a:endParaRPr>
          </a:p>
        </p:txBody>
      </p:sp>
      <p:cxnSp>
        <p:nvCxnSpPr>
          <p:cNvPr id="63" name="直接连接符 62">
            <a:extLst>
              <a:ext uri="{FF2B5EF4-FFF2-40B4-BE49-F238E27FC236}">
                <a16:creationId xmlns:a16="http://schemas.microsoft.com/office/drawing/2014/main" id="{9A207677-4015-4090-9B1A-631A864CF303}"/>
              </a:ext>
            </a:extLst>
          </p:cNvPr>
          <p:cNvCxnSpPr/>
          <p:nvPr/>
        </p:nvCxnSpPr>
        <p:spPr>
          <a:xfrm flipH="1">
            <a:off x="3998339" y="3205368"/>
            <a:ext cx="19051" cy="328083"/>
          </a:xfrm>
          <a:prstGeom prst="line">
            <a:avLst/>
          </a:prstGeom>
          <a:ln w="2540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69" name="椭圆 68">
            <a:extLst>
              <a:ext uri="{FF2B5EF4-FFF2-40B4-BE49-F238E27FC236}">
                <a16:creationId xmlns:a16="http://schemas.microsoft.com/office/drawing/2014/main" id="{BC94EA03-D451-47E0-A037-95379222ABB2}"/>
              </a:ext>
            </a:extLst>
          </p:cNvPr>
          <p:cNvSpPr/>
          <p:nvPr/>
        </p:nvSpPr>
        <p:spPr>
          <a:xfrm>
            <a:off x="3786673" y="2794735"/>
            <a:ext cx="480484" cy="480483"/>
          </a:xfrm>
          <a:prstGeom prst="ellipse">
            <a:avLst/>
          </a:prstGeom>
          <a:solidFill>
            <a:srgbClr val="0000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rgbClr val="FF0000"/>
              </a:solidFill>
              <a:ea typeface="Alibaba PuHuiTi R"/>
            </a:endParaRPr>
          </a:p>
        </p:txBody>
      </p:sp>
      <p:cxnSp>
        <p:nvCxnSpPr>
          <p:cNvPr id="76" name="直接箭头连接符 75">
            <a:extLst>
              <a:ext uri="{FF2B5EF4-FFF2-40B4-BE49-F238E27FC236}">
                <a16:creationId xmlns:a16="http://schemas.microsoft.com/office/drawing/2014/main" id="{431685CF-18CC-458C-8DEA-A34AA9E503F2}"/>
              </a:ext>
            </a:extLst>
          </p:cNvPr>
          <p:cNvCxnSpPr>
            <a:endCxn id="74" idx="0"/>
          </p:cNvCxnSpPr>
          <p:nvPr/>
        </p:nvCxnSpPr>
        <p:spPr>
          <a:xfrm>
            <a:off x="4017390" y="3973718"/>
            <a:ext cx="2116" cy="361951"/>
          </a:xfrm>
          <a:prstGeom prst="straightConnector1">
            <a:avLst/>
          </a:prstGeom>
          <a:ln w="254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73" name="椭圆 72">
            <a:extLst>
              <a:ext uri="{FF2B5EF4-FFF2-40B4-BE49-F238E27FC236}">
                <a16:creationId xmlns:a16="http://schemas.microsoft.com/office/drawing/2014/main" id="{E0965B5D-E045-4B5A-9311-DB0A2D425748}"/>
              </a:ext>
            </a:extLst>
          </p:cNvPr>
          <p:cNvSpPr/>
          <p:nvPr/>
        </p:nvSpPr>
        <p:spPr>
          <a:xfrm>
            <a:off x="3812073" y="1977702"/>
            <a:ext cx="480484" cy="480483"/>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rgbClr val="FF0000"/>
              </a:solidFill>
              <a:ea typeface="Alibaba PuHuiTi R"/>
            </a:endParaRPr>
          </a:p>
        </p:txBody>
      </p:sp>
      <p:cxnSp>
        <p:nvCxnSpPr>
          <p:cNvPr id="81" name="直接箭头连接符 80">
            <a:extLst>
              <a:ext uri="{FF2B5EF4-FFF2-40B4-BE49-F238E27FC236}">
                <a16:creationId xmlns:a16="http://schemas.microsoft.com/office/drawing/2014/main" id="{77D43B7B-5DC3-475B-82CE-2F8DB3563FDD}"/>
              </a:ext>
            </a:extLst>
          </p:cNvPr>
          <p:cNvCxnSpPr/>
          <p:nvPr/>
        </p:nvCxnSpPr>
        <p:spPr>
          <a:xfrm flipH="1">
            <a:off x="4017390" y="2447602"/>
            <a:ext cx="8467" cy="431800"/>
          </a:xfrm>
          <a:prstGeom prst="straightConnector1">
            <a:avLst/>
          </a:prstGeom>
          <a:ln w="254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40707" name="矩形 3">
            <a:extLst>
              <a:ext uri="{FF2B5EF4-FFF2-40B4-BE49-F238E27FC236}">
                <a16:creationId xmlns:a16="http://schemas.microsoft.com/office/drawing/2014/main" id="{5951610C-702A-4B58-A855-270856CAD0BB}"/>
              </a:ext>
            </a:extLst>
          </p:cNvPr>
          <p:cNvSpPr>
            <a:spLocks noChangeArrowheads="1"/>
          </p:cNvSpPr>
          <p:nvPr/>
        </p:nvSpPr>
        <p:spPr bwMode="auto">
          <a:xfrm>
            <a:off x="3750690" y="3539803"/>
            <a:ext cx="3513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a:latin typeface="微软雅黑" panose="020B0503020204020204" pitchFamily="34" charset="-122"/>
                <a:ea typeface="Alibaba PuHuiTi R"/>
              </a:rPr>
              <a:t>…</a:t>
            </a:r>
            <a:endParaRPr lang="zh-CN" altLang="en-US" sz="1600">
              <a:ea typeface="Alibaba PuHuiTi R"/>
            </a:endParaRPr>
          </a:p>
        </p:txBody>
      </p:sp>
      <p:sp>
        <p:nvSpPr>
          <p:cNvPr id="7" name="右大括号 6">
            <a:extLst>
              <a:ext uri="{FF2B5EF4-FFF2-40B4-BE49-F238E27FC236}">
                <a16:creationId xmlns:a16="http://schemas.microsoft.com/office/drawing/2014/main" id="{60CD1A79-D355-4B5B-88C6-EFD82A61D4C4}"/>
              </a:ext>
            </a:extLst>
          </p:cNvPr>
          <p:cNvSpPr/>
          <p:nvPr/>
        </p:nvSpPr>
        <p:spPr>
          <a:xfrm>
            <a:off x="4292557" y="2212651"/>
            <a:ext cx="569383" cy="2364317"/>
          </a:xfrm>
          <a:prstGeom prst="rightBrace">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00">
              <a:ea typeface="Alibaba PuHuiTi R"/>
            </a:endParaRPr>
          </a:p>
        </p:txBody>
      </p:sp>
      <p:grpSp>
        <p:nvGrpSpPr>
          <p:cNvPr id="4" name="组合 3">
            <a:extLst>
              <a:ext uri="{FF2B5EF4-FFF2-40B4-BE49-F238E27FC236}">
                <a16:creationId xmlns:a16="http://schemas.microsoft.com/office/drawing/2014/main" id="{3614A9B7-9438-6341-627B-FFCD6A98775A}"/>
              </a:ext>
            </a:extLst>
          </p:cNvPr>
          <p:cNvGrpSpPr/>
          <p:nvPr/>
        </p:nvGrpSpPr>
        <p:grpSpPr>
          <a:xfrm>
            <a:off x="986323" y="5052384"/>
            <a:ext cx="7620782" cy="594560"/>
            <a:chOff x="3353164" y="5731266"/>
            <a:chExt cx="7235017" cy="594560"/>
          </a:xfrm>
        </p:grpSpPr>
        <p:grpSp>
          <p:nvGrpSpPr>
            <p:cNvPr id="29" name="组合 28">
              <a:extLst>
                <a:ext uri="{FF2B5EF4-FFF2-40B4-BE49-F238E27FC236}">
                  <a16:creationId xmlns:a16="http://schemas.microsoft.com/office/drawing/2014/main" id="{86E8C459-5F20-B16B-9EF6-6E3DF2B13AEC}"/>
                </a:ext>
              </a:extLst>
            </p:cNvPr>
            <p:cNvGrpSpPr/>
            <p:nvPr/>
          </p:nvGrpSpPr>
          <p:grpSpPr>
            <a:xfrm>
              <a:off x="3353164" y="5731266"/>
              <a:ext cx="7235017" cy="594560"/>
              <a:chOff x="4304043" y="1286668"/>
              <a:chExt cx="10573363" cy="2757793"/>
            </a:xfrm>
            <a:effectLst>
              <a:outerShdw blurRad="381000" dist="254000" dir="8100000" algn="tr" rotWithShape="0">
                <a:prstClr val="black">
                  <a:alpha val="40000"/>
                </a:prstClr>
              </a:outerShdw>
            </a:effectLst>
          </p:grpSpPr>
          <p:sp>
            <p:nvSpPr>
              <p:cNvPr id="60" name="圆角矩形 70">
                <a:extLst>
                  <a:ext uri="{FF2B5EF4-FFF2-40B4-BE49-F238E27FC236}">
                    <a16:creationId xmlns:a16="http://schemas.microsoft.com/office/drawing/2014/main" id="{04252ECF-7E13-A45A-F7BE-C09CA352BCED}"/>
                  </a:ext>
                </a:extLst>
              </p:cNvPr>
              <p:cNvSpPr/>
              <p:nvPr/>
            </p:nvSpPr>
            <p:spPr>
              <a:xfrm>
                <a:off x="4304043" y="1286668"/>
                <a:ext cx="3978026"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Arial"/>
                  <a:ea typeface="微软雅黑"/>
                  <a:cs typeface="+mn-cs"/>
                </a:endParaRPr>
              </a:p>
            </p:txBody>
          </p:sp>
          <p:sp>
            <p:nvSpPr>
              <p:cNvPr id="61" name="圆角矩形 71">
                <a:extLst>
                  <a:ext uri="{FF2B5EF4-FFF2-40B4-BE49-F238E27FC236}">
                    <a16:creationId xmlns:a16="http://schemas.microsoft.com/office/drawing/2014/main" id="{510BC8BC-1FAF-58A9-4B87-AE46ABCB7313}"/>
                  </a:ext>
                </a:extLst>
              </p:cNvPr>
              <p:cNvSpPr/>
              <p:nvPr/>
            </p:nvSpPr>
            <p:spPr>
              <a:xfrm>
                <a:off x="4304043" y="1286668"/>
                <a:ext cx="10573363"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Arial"/>
                  <a:ea typeface="微软雅黑"/>
                  <a:cs typeface="+mn-cs"/>
                </a:endParaRPr>
              </a:p>
            </p:txBody>
          </p:sp>
        </p:grpSp>
        <p:sp>
          <p:nvSpPr>
            <p:cNvPr id="58" name="TextBox 69">
              <a:extLst>
                <a:ext uri="{FF2B5EF4-FFF2-40B4-BE49-F238E27FC236}">
                  <a16:creationId xmlns:a16="http://schemas.microsoft.com/office/drawing/2014/main" id="{797AE031-AE90-189A-E74A-A87E7B47164F}"/>
                </a:ext>
              </a:extLst>
            </p:cNvPr>
            <p:cNvSpPr txBox="1"/>
            <p:nvPr/>
          </p:nvSpPr>
          <p:spPr>
            <a:xfrm>
              <a:off x="3576285" y="5778222"/>
              <a:ext cx="6753257" cy="427105"/>
            </a:xfrm>
            <a:prstGeom prst="rect">
              <a:avLst/>
            </a:prstGeom>
            <a:noFill/>
          </p:spPr>
          <p:txBody>
            <a:bodyPr wrap="square" rtlCol="0">
              <a:spAutoFit/>
            </a:bodyPr>
            <a:lstStyle/>
            <a:p>
              <a:pPr>
                <a:lnSpc>
                  <a:spcPct val="150000"/>
                </a:lnSpc>
                <a:defRPr/>
              </a:pPr>
              <a:r>
                <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开始</a:t>
              </a:r>
              <a:r>
                <a:rPr lang="zh-CN" altLang="en-US" sz="1600" b="1"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当链表长度超过</a:t>
              </a:r>
              <a:r>
                <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8</a:t>
              </a:r>
              <a:r>
                <a:rPr lang="zh-CN" altLang="en-US" sz="1600" b="1"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，且</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数组长度</a:t>
              </a:r>
              <a:r>
                <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&gt;=64</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时</a:t>
              </a:r>
              <a:r>
                <a:rPr lang="zh-CN" altLang="en-US" sz="1600" b="1"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自动将链表转成红黑树</a:t>
              </a:r>
            </a:p>
          </p:txBody>
        </p:sp>
      </p:grpSp>
      <p:sp>
        <p:nvSpPr>
          <p:cNvPr id="65" name="TextBox 2">
            <a:extLst>
              <a:ext uri="{FF2B5EF4-FFF2-40B4-BE49-F238E27FC236}">
                <a16:creationId xmlns:a16="http://schemas.microsoft.com/office/drawing/2014/main" id="{7D917163-9481-99A0-BE96-2225D4F136BB}"/>
              </a:ext>
            </a:extLst>
          </p:cNvPr>
          <p:cNvSpPr txBox="1"/>
          <p:nvPr/>
        </p:nvSpPr>
        <p:spPr>
          <a:xfrm>
            <a:off x="769618" y="934083"/>
            <a:ext cx="6731845" cy="466652"/>
          </a:xfrm>
          <a:prstGeom prst="rect">
            <a:avLst/>
          </a:prstGeom>
          <a:noFill/>
        </p:spPr>
        <p:txBody>
          <a:bodyPr wrap="square">
            <a:spAutoFit/>
          </a:bodyPr>
          <a:lstStyle/>
          <a:p>
            <a:pPr>
              <a:lnSpc>
                <a:spcPct val="150000"/>
              </a:lnSpc>
              <a:defRPr/>
            </a:pPr>
            <a:r>
              <a:rPr lang="en-US" altLang="zh-CN"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之前的哈希表：</a:t>
            </a:r>
            <a:r>
              <a:rPr lang="zh-CN" altLang="en-US"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a:t>
            </a:r>
            <a:r>
              <a:rPr lang="en-US" altLang="zh-CN"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链表</a:t>
            </a:r>
            <a:endParaRPr lang="zh-CN" altLang="en-US"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7" name="椭圆 66">
            <a:extLst>
              <a:ext uri="{FF2B5EF4-FFF2-40B4-BE49-F238E27FC236}">
                <a16:creationId xmlns:a16="http://schemas.microsoft.com/office/drawing/2014/main" id="{96E84A72-3B66-9DFA-B5FC-AB3542CA8A2F}"/>
              </a:ext>
            </a:extLst>
          </p:cNvPr>
          <p:cNvSpPr/>
          <p:nvPr/>
        </p:nvSpPr>
        <p:spPr>
          <a:xfrm>
            <a:off x="7820705" y="1989757"/>
            <a:ext cx="480484" cy="480484"/>
          </a:xfrm>
          <a:prstGeom prst="ellipse">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rgbClr val="FF0000"/>
              </a:solidFill>
              <a:ea typeface="Alibaba PuHuiTi R"/>
            </a:endParaRPr>
          </a:p>
        </p:txBody>
      </p:sp>
      <p:sp>
        <p:nvSpPr>
          <p:cNvPr id="68" name="椭圆 67">
            <a:extLst>
              <a:ext uri="{FF2B5EF4-FFF2-40B4-BE49-F238E27FC236}">
                <a16:creationId xmlns:a16="http://schemas.microsoft.com/office/drawing/2014/main" id="{7661342E-65F0-3D4B-7BE2-2C7A84A9F8D8}"/>
              </a:ext>
            </a:extLst>
          </p:cNvPr>
          <p:cNvSpPr/>
          <p:nvPr/>
        </p:nvSpPr>
        <p:spPr>
          <a:xfrm>
            <a:off x="7820705" y="2976535"/>
            <a:ext cx="480484" cy="480483"/>
          </a:xfrm>
          <a:prstGeom prst="ellipse">
            <a:avLst/>
          </a:prstGeom>
          <a:solidFill>
            <a:schemeClr val="accent6">
              <a:lumMod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rgbClr val="FF0000"/>
              </a:solidFill>
              <a:ea typeface="Alibaba PuHuiTi R"/>
            </a:endParaRPr>
          </a:p>
        </p:txBody>
      </p:sp>
      <p:sp>
        <p:nvSpPr>
          <p:cNvPr id="70" name="椭圆 69">
            <a:extLst>
              <a:ext uri="{FF2B5EF4-FFF2-40B4-BE49-F238E27FC236}">
                <a16:creationId xmlns:a16="http://schemas.microsoft.com/office/drawing/2014/main" id="{755AB95D-A73A-0A8B-848A-335BBA75E65C}"/>
              </a:ext>
            </a:extLst>
          </p:cNvPr>
          <p:cNvSpPr/>
          <p:nvPr/>
        </p:nvSpPr>
        <p:spPr>
          <a:xfrm>
            <a:off x="7848698" y="3849198"/>
            <a:ext cx="480484" cy="480484"/>
          </a:xfrm>
          <a:prstGeom prst="ellipse">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rgbClr val="FF0000"/>
              </a:solidFill>
              <a:ea typeface="Alibaba PuHuiTi R"/>
            </a:endParaRPr>
          </a:p>
        </p:txBody>
      </p:sp>
      <p:cxnSp>
        <p:nvCxnSpPr>
          <p:cNvPr id="72" name="直接连接符 71">
            <a:extLst>
              <a:ext uri="{FF2B5EF4-FFF2-40B4-BE49-F238E27FC236}">
                <a16:creationId xmlns:a16="http://schemas.microsoft.com/office/drawing/2014/main" id="{C777EF43-3040-1F46-20B8-8AC2647BD840}"/>
              </a:ext>
            </a:extLst>
          </p:cNvPr>
          <p:cNvCxnSpPr>
            <a:cxnSpLocks/>
            <a:stCxn id="67" idx="4"/>
            <a:endCxn id="68" idx="0"/>
          </p:cNvCxnSpPr>
          <p:nvPr/>
        </p:nvCxnSpPr>
        <p:spPr>
          <a:xfrm>
            <a:off x="8060947" y="2470241"/>
            <a:ext cx="0" cy="506294"/>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E8162809-3D6B-E89B-558F-5D6971960CF7}"/>
              </a:ext>
            </a:extLst>
          </p:cNvPr>
          <p:cNvCxnSpPr>
            <a:cxnSpLocks/>
            <a:endCxn id="70" idx="0"/>
          </p:cNvCxnSpPr>
          <p:nvPr/>
        </p:nvCxnSpPr>
        <p:spPr>
          <a:xfrm>
            <a:off x="8088940" y="3448033"/>
            <a:ext cx="0" cy="401165"/>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D111BE5C-DC3E-B91D-3CD0-B159346B8D18}"/>
              </a:ext>
            </a:extLst>
          </p:cNvPr>
          <p:cNvSpPr txBox="1"/>
          <p:nvPr/>
        </p:nvSpPr>
        <p:spPr>
          <a:xfrm>
            <a:off x="4970735" y="3224417"/>
            <a:ext cx="1028802" cy="369332"/>
          </a:xfrm>
          <a:prstGeom prst="rect">
            <a:avLst/>
          </a:prstGeom>
          <a:noFill/>
        </p:spPr>
        <p:txBody>
          <a:bodyPr wrap="square">
            <a:spAutoFit/>
          </a:bodyPr>
          <a:lstStyle/>
          <a:p>
            <a:r>
              <a:rPr lang="zh-CN" altLang="en-US" sz="18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超过</a:t>
            </a:r>
            <a:r>
              <a:rPr lang="en-US" altLang="zh-CN" sz="18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8</a:t>
            </a:r>
            <a:endParaRPr lang="zh-CN" altLang="en-US" dirty="0"/>
          </a:p>
        </p:txBody>
      </p:sp>
      <p:sp>
        <p:nvSpPr>
          <p:cNvPr id="3" name="标题 2">
            <a:extLst>
              <a:ext uri="{FF2B5EF4-FFF2-40B4-BE49-F238E27FC236}">
                <a16:creationId xmlns:a16="http://schemas.microsoft.com/office/drawing/2014/main" id="{53BAC2ED-0D27-3F5E-2FD5-619F786A85F0}"/>
              </a:ext>
            </a:extLst>
          </p:cNvPr>
          <p:cNvSpPr>
            <a:spLocks noGrp="1"/>
          </p:cNvSpPr>
          <p:nvPr>
            <p:ph type="title"/>
          </p:nvPr>
        </p:nvSpPr>
        <p:spPr/>
        <p:txBody>
          <a:bodyPr/>
          <a:lstStyle/>
          <a:p>
            <a:r>
              <a:rPr lang="en-US" altLang="zh-CN" dirty="0"/>
              <a:t>HashSet</a:t>
            </a:r>
            <a:r>
              <a:rPr lang="zh-CN" altLang="en-US" dirty="0"/>
              <a:t>集合的底层原理</a:t>
            </a:r>
          </a:p>
        </p:txBody>
      </p:sp>
    </p:spTree>
    <p:extLst>
      <p:ext uri="{BB962C8B-B14F-4D97-AF65-F5344CB8AC3E}">
        <p14:creationId xmlns:p14="http://schemas.microsoft.com/office/powerpoint/2010/main" val="6489947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900" decel="100000" fill="hold"/>
                                        <p:tgtEl>
                                          <p:spTgt spid="4"/>
                                        </p:tgtEl>
                                        <p:attrNameLst>
                                          <p:attrName>ppt_y</p:attrName>
                                        </p:attrNameLst>
                                      </p:cBhvr>
                                      <p:tavLst>
                                        <p:tav tm="0">
                                          <p:val>
                                            <p:strVal val="#ppt_y+1"/>
                                          </p:val>
                                        </p:tav>
                                        <p:tav tm="100000">
                                          <p:val>
                                            <p:strVal val="#ppt_y-.03"/>
                                          </p:val>
                                        </p:tav>
                                      </p:tavLst>
                                    </p:anim>
                                    <p:anim calcmode="lin" valueType="num">
                                      <p:cBhvr>
                                        <p:cTn id="15"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201D7D9F-50EB-4D9D-9AE2-8A7FA9E3346E}"/>
              </a:ext>
            </a:extLst>
          </p:cNvPr>
          <p:cNvCxnSpPr/>
          <p:nvPr/>
        </p:nvCxnSpPr>
        <p:spPr>
          <a:xfrm>
            <a:off x="986324" y="1882451"/>
            <a:ext cx="10805583" cy="0"/>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8AC05EE3-4F73-4EF8-960B-7269785906D6}"/>
              </a:ext>
            </a:extLst>
          </p:cNvPr>
          <p:cNvCxnSpPr/>
          <p:nvPr/>
        </p:nvCxnSpPr>
        <p:spPr>
          <a:xfrm>
            <a:off x="986324" y="2553435"/>
            <a:ext cx="10805583" cy="6349"/>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E37972FA-0BDE-4304-BAB5-AE19CD8E3F49}"/>
              </a:ext>
            </a:extLst>
          </p:cNvPr>
          <p:cNvSpPr/>
          <p:nvPr/>
        </p:nvSpPr>
        <p:spPr>
          <a:xfrm>
            <a:off x="1070990"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11" name="直接连接符 10">
            <a:extLst>
              <a:ext uri="{FF2B5EF4-FFF2-40B4-BE49-F238E27FC236}">
                <a16:creationId xmlns:a16="http://schemas.microsoft.com/office/drawing/2014/main" id="{09B8B3F6-D031-42A1-A6B2-191E6AC3BCC0}"/>
              </a:ext>
            </a:extLst>
          </p:cNvPr>
          <p:cNvCxnSpPr/>
          <p:nvPr/>
        </p:nvCxnSpPr>
        <p:spPr>
          <a:xfrm>
            <a:off x="233675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D328CA8F-E052-449F-A13A-F2171F40E9B2}"/>
              </a:ext>
            </a:extLst>
          </p:cNvPr>
          <p:cNvSpPr/>
          <p:nvPr/>
        </p:nvSpPr>
        <p:spPr>
          <a:xfrm>
            <a:off x="1737740"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13" name="直接连接符 12">
            <a:extLst>
              <a:ext uri="{FF2B5EF4-FFF2-40B4-BE49-F238E27FC236}">
                <a16:creationId xmlns:a16="http://schemas.microsoft.com/office/drawing/2014/main" id="{3E7CDDE9-F70D-44EC-8170-06E64BE6B517}"/>
              </a:ext>
            </a:extLst>
          </p:cNvPr>
          <p:cNvCxnSpPr/>
          <p:nvPr/>
        </p:nvCxnSpPr>
        <p:spPr>
          <a:xfrm>
            <a:off x="3007739"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1C6C152-C297-4284-8C57-F73E87911577}"/>
              </a:ext>
            </a:extLst>
          </p:cNvPr>
          <p:cNvCxnSpPr/>
          <p:nvPr/>
        </p:nvCxnSpPr>
        <p:spPr>
          <a:xfrm>
            <a:off x="502280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9518740-244C-4F1B-A7E6-974C97EB3C84}"/>
              </a:ext>
            </a:extLst>
          </p:cNvPr>
          <p:cNvCxnSpPr/>
          <p:nvPr/>
        </p:nvCxnSpPr>
        <p:spPr>
          <a:xfrm>
            <a:off x="569590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3323605-7F49-42DF-A461-B1D0983AA0CD}"/>
              </a:ext>
            </a:extLst>
          </p:cNvPr>
          <p:cNvCxnSpPr/>
          <p:nvPr/>
        </p:nvCxnSpPr>
        <p:spPr>
          <a:xfrm>
            <a:off x="6415572"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8CA79713-3D1A-4B48-8E55-C4AAA50D3BA6}"/>
              </a:ext>
            </a:extLst>
          </p:cNvPr>
          <p:cNvCxnSpPr/>
          <p:nvPr/>
        </p:nvCxnSpPr>
        <p:spPr>
          <a:xfrm>
            <a:off x="7088672"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486AC149-7E95-4FDD-82B4-38B79D099671}"/>
              </a:ext>
            </a:extLst>
          </p:cNvPr>
          <p:cNvCxnSpPr/>
          <p:nvPr/>
        </p:nvCxnSpPr>
        <p:spPr>
          <a:xfrm>
            <a:off x="775965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37CB7109-3844-4E55-9630-50C4BDCD7533}"/>
              </a:ext>
            </a:extLst>
          </p:cNvPr>
          <p:cNvCxnSpPr/>
          <p:nvPr/>
        </p:nvCxnSpPr>
        <p:spPr>
          <a:xfrm>
            <a:off x="9103739"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E1531274-E2D2-4153-8EBC-62B019F19B71}"/>
              </a:ext>
            </a:extLst>
          </p:cNvPr>
          <p:cNvCxnSpPr/>
          <p:nvPr/>
        </p:nvCxnSpPr>
        <p:spPr>
          <a:xfrm>
            <a:off x="9774723"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6A703A7C-CBFC-462E-96C1-CB3713D2A5DA}"/>
              </a:ext>
            </a:extLst>
          </p:cNvPr>
          <p:cNvCxnSpPr/>
          <p:nvPr/>
        </p:nvCxnSpPr>
        <p:spPr>
          <a:xfrm>
            <a:off x="10447823"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B7CB88F8-86BF-4E05-9CDA-E659033860DB}"/>
              </a:ext>
            </a:extLst>
          </p:cNvPr>
          <p:cNvCxnSpPr/>
          <p:nvPr/>
        </p:nvCxnSpPr>
        <p:spPr>
          <a:xfrm>
            <a:off x="1111880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F113361B-AE7C-4FF8-8C72-0870A5759A21}"/>
              </a:ext>
            </a:extLst>
          </p:cNvPr>
          <p:cNvCxnSpPr/>
          <p:nvPr/>
        </p:nvCxnSpPr>
        <p:spPr>
          <a:xfrm>
            <a:off x="1179190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4F915A44-30BB-4B57-AD83-C126FC6CECF1}"/>
              </a:ext>
            </a:extLst>
          </p:cNvPr>
          <p:cNvSpPr/>
          <p:nvPr/>
        </p:nvSpPr>
        <p:spPr>
          <a:xfrm>
            <a:off x="2434124"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28" name="矩形 27">
            <a:extLst>
              <a:ext uri="{FF2B5EF4-FFF2-40B4-BE49-F238E27FC236}">
                <a16:creationId xmlns:a16="http://schemas.microsoft.com/office/drawing/2014/main" id="{0A31BB37-CE1E-4EBC-B16A-E638DBF0C4B8}"/>
              </a:ext>
            </a:extLst>
          </p:cNvPr>
          <p:cNvSpPr/>
          <p:nvPr/>
        </p:nvSpPr>
        <p:spPr>
          <a:xfrm>
            <a:off x="3100873"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0" name="矩形 29">
            <a:extLst>
              <a:ext uri="{FF2B5EF4-FFF2-40B4-BE49-F238E27FC236}">
                <a16:creationId xmlns:a16="http://schemas.microsoft.com/office/drawing/2014/main" id="{2119BA76-7662-49C5-9B17-436F7C9B09DE}"/>
              </a:ext>
            </a:extLst>
          </p:cNvPr>
          <p:cNvSpPr/>
          <p:nvPr/>
        </p:nvSpPr>
        <p:spPr>
          <a:xfrm>
            <a:off x="4423790"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1" name="矩形 30">
            <a:extLst>
              <a:ext uri="{FF2B5EF4-FFF2-40B4-BE49-F238E27FC236}">
                <a16:creationId xmlns:a16="http://schemas.microsoft.com/office/drawing/2014/main" id="{2BDF3838-B3EB-4F38-AF71-F4F3FC1D9ABE}"/>
              </a:ext>
            </a:extLst>
          </p:cNvPr>
          <p:cNvSpPr/>
          <p:nvPr/>
        </p:nvSpPr>
        <p:spPr>
          <a:xfrm>
            <a:off x="5120173"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2" name="矩形 31">
            <a:extLst>
              <a:ext uri="{FF2B5EF4-FFF2-40B4-BE49-F238E27FC236}">
                <a16:creationId xmlns:a16="http://schemas.microsoft.com/office/drawing/2014/main" id="{DC3D77DD-736D-4B54-86FF-F02DD200022F}"/>
              </a:ext>
            </a:extLst>
          </p:cNvPr>
          <p:cNvSpPr/>
          <p:nvPr/>
        </p:nvSpPr>
        <p:spPr>
          <a:xfrm>
            <a:off x="5786924"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3" name="矩形 32">
            <a:extLst>
              <a:ext uri="{FF2B5EF4-FFF2-40B4-BE49-F238E27FC236}">
                <a16:creationId xmlns:a16="http://schemas.microsoft.com/office/drawing/2014/main" id="{22C3580F-1B17-46C8-8020-9E5C01B20E90}"/>
              </a:ext>
            </a:extLst>
          </p:cNvPr>
          <p:cNvSpPr/>
          <p:nvPr/>
        </p:nvSpPr>
        <p:spPr>
          <a:xfrm>
            <a:off x="6506590"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4" name="矩形 33">
            <a:extLst>
              <a:ext uri="{FF2B5EF4-FFF2-40B4-BE49-F238E27FC236}">
                <a16:creationId xmlns:a16="http://schemas.microsoft.com/office/drawing/2014/main" id="{E5F9F97A-80D9-434D-8903-BF22387457F9}"/>
              </a:ext>
            </a:extLst>
          </p:cNvPr>
          <p:cNvSpPr/>
          <p:nvPr/>
        </p:nvSpPr>
        <p:spPr>
          <a:xfrm>
            <a:off x="7171224"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6" name="矩形 35">
            <a:extLst>
              <a:ext uri="{FF2B5EF4-FFF2-40B4-BE49-F238E27FC236}">
                <a16:creationId xmlns:a16="http://schemas.microsoft.com/office/drawing/2014/main" id="{FACAE986-6643-434D-A873-83617E2D038F}"/>
              </a:ext>
            </a:extLst>
          </p:cNvPr>
          <p:cNvSpPr/>
          <p:nvPr/>
        </p:nvSpPr>
        <p:spPr>
          <a:xfrm>
            <a:off x="8534357"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7" name="矩形 36">
            <a:extLst>
              <a:ext uri="{FF2B5EF4-FFF2-40B4-BE49-F238E27FC236}">
                <a16:creationId xmlns:a16="http://schemas.microsoft.com/office/drawing/2014/main" id="{A291CEE4-5203-4F95-A935-C4385C33E49C}"/>
              </a:ext>
            </a:extLst>
          </p:cNvPr>
          <p:cNvSpPr/>
          <p:nvPr/>
        </p:nvSpPr>
        <p:spPr>
          <a:xfrm>
            <a:off x="9192640"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8" name="矩形 37">
            <a:extLst>
              <a:ext uri="{FF2B5EF4-FFF2-40B4-BE49-F238E27FC236}">
                <a16:creationId xmlns:a16="http://schemas.microsoft.com/office/drawing/2014/main" id="{6E46F46D-53B5-465C-ACB8-28C970B23CF4}"/>
              </a:ext>
            </a:extLst>
          </p:cNvPr>
          <p:cNvSpPr/>
          <p:nvPr/>
        </p:nvSpPr>
        <p:spPr>
          <a:xfrm>
            <a:off x="9857273"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39" name="矩形 38">
            <a:extLst>
              <a:ext uri="{FF2B5EF4-FFF2-40B4-BE49-F238E27FC236}">
                <a16:creationId xmlns:a16="http://schemas.microsoft.com/office/drawing/2014/main" id="{5023BD89-AE4A-4465-AE8B-B16718FD3EA1}"/>
              </a:ext>
            </a:extLst>
          </p:cNvPr>
          <p:cNvSpPr/>
          <p:nvPr/>
        </p:nvSpPr>
        <p:spPr>
          <a:xfrm>
            <a:off x="10555773"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40" name="矩形 39">
            <a:extLst>
              <a:ext uri="{FF2B5EF4-FFF2-40B4-BE49-F238E27FC236}">
                <a16:creationId xmlns:a16="http://schemas.microsoft.com/office/drawing/2014/main" id="{86B06177-6BA2-4AD0-ACF2-CCF99BC656AE}"/>
              </a:ext>
            </a:extLst>
          </p:cNvPr>
          <p:cNvSpPr/>
          <p:nvPr/>
        </p:nvSpPr>
        <p:spPr>
          <a:xfrm>
            <a:off x="11220406" y="2053903"/>
            <a:ext cx="546945"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41" name="矩形 40">
            <a:extLst>
              <a:ext uri="{FF2B5EF4-FFF2-40B4-BE49-F238E27FC236}">
                <a16:creationId xmlns:a16="http://schemas.microsoft.com/office/drawing/2014/main" id="{D234CB4B-117F-4D29-99B8-A1854E48B856}"/>
              </a:ext>
            </a:extLst>
          </p:cNvPr>
          <p:cNvSpPr/>
          <p:nvPr/>
        </p:nvSpPr>
        <p:spPr>
          <a:xfrm>
            <a:off x="1159890"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0</a:t>
            </a:r>
            <a:endParaRPr lang="zh-CN" altLang="en-US" sz="1600" dirty="0">
              <a:ea typeface="Alibaba PuHuiTi R"/>
            </a:endParaRPr>
          </a:p>
        </p:txBody>
      </p:sp>
      <p:sp>
        <p:nvSpPr>
          <p:cNvPr id="42" name="矩形 41">
            <a:extLst>
              <a:ext uri="{FF2B5EF4-FFF2-40B4-BE49-F238E27FC236}">
                <a16:creationId xmlns:a16="http://schemas.microsoft.com/office/drawing/2014/main" id="{D01579AD-0E9E-4976-8209-7BBAB77E683F}"/>
              </a:ext>
            </a:extLst>
          </p:cNvPr>
          <p:cNvSpPr/>
          <p:nvPr/>
        </p:nvSpPr>
        <p:spPr>
          <a:xfrm>
            <a:off x="1824523"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a:t>
            </a:r>
            <a:endParaRPr lang="zh-CN" altLang="en-US" sz="1600" dirty="0">
              <a:ea typeface="Alibaba PuHuiTi R"/>
            </a:endParaRPr>
          </a:p>
        </p:txBody>
      </p:sp>
      <p:sp>
        <p:nvSpPr>
          <p:cNvPr id="43" name="矩形 42">
            <a:extLst>
              <a:ext uri="{FF2B5EF4-FFF2-40B4-BE49-F238E27FC236}">
                <a16:creationId xmlns:a16="http://schemas.microsoft.com/office/drawing/2014/main" id="{56DFCBA2-8C31-4574-8908-CF0304C915CD}"/>
              </a:ext>
            </a:extLst>
          </p:cNvPr>
          <p:cNvSpPr/>
          <p:nvPr/>
        </p:nvSpPr>
        <p:spPr>
          <a:xfrm>
            <a:off x="2523023"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2</a:t>
            </a:r>
            <a:endParaRPr lang="zh-CN" altLang="en-US" sz="1600" dirty="0">
              <a:ea typeface="Alibaba PuHuiTi R"/>
            </a:endParaRPr>
          </a:p>
        </p:txBody>
      </p:sp>
      <p:sp>
        <p:nvSpPr>
          <p:cNvPr id="44" name="矩形 43">
            <a:extLst>
              <a:ext uri="{FF2B5EF4-FFF2-40B4-BE49-F238E27FC236}">
                <a16:creationId xmlns:a16="http://schemas.microsoft.com/office/drawing/2014/main" id="{0140C8C6-3516-4137-8199-87539089699A}"/>
              </a:ext>
            </a:extLst>
          </p:cNvPr>
          <p:cNvSpPr/>
          <p:nvPr/>
        </p:nvSpPr>
        <p:spPr>
          <a:xfrm>
            <a:off x="3187657"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3</a:t>
            </a:r>
            <a:endParaRPr lang="zh-CN" altLang="en-US" sz="1600" dirty="0">
              <a:ea typeface="Alibaba PuHuiTi R"/>
            </a:endParaRPr>
          </a:p>
        </p:txBody>
      </p:sp>
      <p:sp>
        <p:nvSpPr>
          <p:cNvPr id="45" name="矩形 44">
            <a:extLst>
              <a:ext uri="{FF2B5EF4-FFF2-40B4-BE49-F238E27FC236}">
                <a16:creationId xmlns:a16="http://schemas.microsoft.com/office/drawing/2014/main" id="{E5BF7CE8-00CD-4165-A34D-1101AE6E1861}"/>
              </a:ext>
            </a:extLst>
          </p:cNvPr>
          <p:cNvSpPr/>
          <p:nvPr/>
        </p:nvSpPr>
        <p:spPr>
          <a:xfrm>
            <a:off x="3845939"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4</a:t>
            </a:r>
            <a:endParaRPr lang="zh-CN" altLang="en-US" sz="1600" dirty="0">
              <a:ea typeface="Alibaba PuHuiTi R"/>
            </a:endParaRPr>
          </a:p>
        </p:txBody>
      </p:sp>
      <p:sp>
        <p:nvSpPr>
          <p:cNvPr id="46" name="矩形 45">
            <a:extLst>
              <a:ext uri="{FF2B5EF4-FFF2-40B4-BE49-F238E27FC236}">
                <a16:creationId xmlns:a16="http://schemas.microsoft.com/office/drawing/2014/main" id="{D589DA99-9793-44C1-BDDE-E01A952B8F9C}"/>
              </a:ext>
            </a:extLst>
          </p:cNvPr>
          <p:cNvSpPr/>
          <p:nvPr/>
        </p:nvSpPr>
        <p:spPr>
          <a:xfrm>
            <a:off x="4510573"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5</a:t>
            </a:r>
            <a:endParaRPr lang="zh-CN" altLang="en-US" sz="1600" dirty="0">
              <a:ea typeface="Alibaba PuHuiTi R"/>
            </a:endParaRPr>
          </a:p>
        </p:txBody>
      </p:sp>
      <p:sp>
        <p:nvSpPr>
          <p:cNvPr id="47" name="矩形 46">
            <a:extLst>
              <a:ext uri="{FF2B5EF4-FFF2-40B4-BE49-F238E27FC236}">
                <a16:creationId xmlns:a16="http://schemas.microsoft.com/office/drawing/2014/main" id="{50A83862-EF8B-466C-961A-4BA89C506005}"/>
              </a:ext>
            </a:extLst>
          </p:cNvPr>
          <p:cNvSpPr/>
          <p:nvPr/>
        </p:nvSpPr>
        <p:spPr>
          <a:xfrm>
            <a:off x="5209073"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6</a:t>
            </a:r>
            <a:endParaRPr lang="zh-CN" altLang="en-US" sz="1600" dirty="0">
              <a:ea typeface="Alibaba PuHuiTi R"/>
            </a:endParaRPr>
          </a:p>
        </p:txBody>
      </p:sp>
      <p:sp>
        <p:nvSpPr>
          <p:cNvPr id="48" name="矩形 47">
            <a:extLst>
              <a:ext uri="{FF2B5EF4-FFF2-40B4-BE49-F238E27FC236}">
                <a16:creationId xmlns:a16="http://schemas.microsoft.com/office/drawing/2014/main" id="{27CFE5AA-F68A-44AA-BD35-9A36A66061B0}"/>
              </a:ext>
            </a:extLst>
          </p:cNvPr>
          <p:cNvSpPr/>
          <p:nvPr/>
        </p:nvSpPr>
        <p:spPr>
          <a:xfrm>
            <a:off x="5873706"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7</a:t>
            </a:r>
            <a:endParaRPr lang="zh-CN" altLang="en-US" sz="1600" dirty="0">
              <a:ea typeface="Alibaba PuHuiTi R"/>
            </a:endParaRPr>
          </a:p>
        </p:txBody>
      </p:sp>
      <p:sp>
        <p:nvSpPr>
          <p:cNvPr id="49" name="矩形 48">
            <a:extLst>
              <a:ext uri="{FF2B5EF4-FFF2-40B4-BE49-F238E27FC236}">
                <a16:creationId xmlns:a16="http://schemas.microsoft.com/office/drawing/2014/main" id="{435C2429-D942-4C83-941D-C720418A77C4}"/>
              </a:ext>
            </a:extLst>
          </p:cNvPr>
          <p:cNvSpPr/>
          <p:nvPr/>
        </p:nvSpPr>
        <p:spPr>
          <a:xfrm>
            <a:off x="6593373"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8</a:t>
            </a:r>
            <a:endParaRPr lang="zh-CN" altLang="en-US" sz="1600" dirty="0">
              <a:ea typeface="Alibaba PuHuiTi R"/>
            </a:endParaRPr>
          </a:p>
        </p:txBody>
      </p:sp>
      <p:sp>
        <p:nvSpPr>
          <p:cNvPr id="50" name="矩形 49">
            <a:extLst>
              <a:ext uri="{FF2B5EF4-FFF2-40B4-BE49-F238E27FC236}">
                <a16:creationId xmlns:a16="http://schemas.microsoft.com/office/drawing/2014/main" id="{D6790824-99A4-48BF-A2E0-B01D459EBD7A}"/>
              </a:ext>
            </a:extLst>
          </p:cNvPr>
          <p:cNvSpPr/>
          <p:nvPr/>
        </p:nvSpPr>
        <p:spPr>
          <a:xfrm>
            <a:off x="7260123" y="2555552"/>
            <a:ext cx="304892"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9</a:t>
            </a:r>
            <a:endParaRPr lang="zh-CN" altLang="en-US" sz="1600" dirty="0">
              <a:ea typeface="Alibaba PuHuiTi R"/>
            </a:endParaRPr>
          </a:p>
        </p:txBody>
      </p:sp>
      <p:sp>
        <p:nvSpPr>
          <p:cNvPr id="51" name="矩形 50">
            <a:extLst>
              <a:ext uri="{FF2B5EF4-FFF2-40B4-BE49-F238E27FC236}">
                <a16:creationId xmlns:a16="http://schemas.microsoft.com/office/drawing/2014/main" id="{9A83DFDC-85DC-467F-86CB-E4B31677FD07}"/>
              </a:ext>
            </a:extLst>
          </p:cNvPr>
          <p:cNvSpPr/>
          <p:nvPr/>
        </p:nvSpPr>
        <p:spPr>
          <a:xfrm>
            <a:off x="7878190" y="2555552"/>
            <a:ext cx="425116"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10</a:t>
            </a:r>
            <a:endParaRPr lang="zh-CN" altLang="en-US" sz="1600" dirty="0">
              <a:ea typeface="Alibaba PuHuiTi R"/>
            </a:endParaRPr>
          </a:p>
        </p:txBody>
      </p:sp>
      <p:sp>
        <p:nvSpPr>
          <p:cNvPr id="52" name="矩形 51">
            <a:extLst>
              <a:ext uri="{FF2B5EF4-FFF2-40B4-BE49-F238E27FC236}">
                <a16:creationId xmlns:a16="http://schemas.microsoft.com/office/drawing/2014/main" id="{FAA711BB-B92F-4D59-9BE4-5C67A6502AFB}"/>
              </a:ext>
            </a:extLst>
          </p:cNvPr>
          <p:cNvSpPr/>
          <p:nvPr/>
        </p:nvSpPr>
        <p:spPr>
          <a:xfrm>
            <a:off x="8544939" y="2555552"/>
            <a:ext cx="425116"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11</a:t>
            </a:r>
            <a:endParaRPr lang="zh-CN" altLang="en-US" sz="1600" dirty="0">
              <a:ea typeface="Alibaba PuHuiTi R"/>
            </a:endParaRPr>
          </a:p>
        </p:txBody>
      </p:sp>
      <p:sp>
        <p:nvSpPr>
          <p:cNvPr id="53" name="矩形 52">
            <a:extLst>
              <a:ext uri="{FF2B5EF4-FFF2-40B4-BE49-F238E27FC236}">
                <a16:creationId xmlns:a16="http://schemas.microsoft.com/office/drawing/2014/main" id="{0BD56E17-25E5-4B30-AAAE-0FA8B2A7D676}"/>
              </a:ext>
            </a:extLst>
          </p:cNvPr>
          <p:cNvSpPr/>
          <p:nvPr/>
        </p:nvSpPr>
        <p:spPr>
          <a:xfrm>
            <a:off x="9203223" y="2555552"/>
            <a:ext cx="425116"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12</a:t>
            </a:r>
            <a:endParaRPr lang="zh-CN" altLang="en-US" sz="1600" dirty="0">
              <a:ea typeface="Alibaba PuHuiTi R"/>
            </a:endParaRPr>
          </a:p>
        </p:txBody>
      </p:sp>
      <p:sp>
        <p:nvSpPr>
          <p:cNvPr id="54" name="矩形 53">
            <a:extLst>
              <a:ext uri="{FF2B5EF4-FFF2-40B4-BE49-F238E27FC236}">
                <a16:creationId xmlns:a16="http://schemas.microsoft.com/office/drawing/2014/main" id="{1E46F7D6-1E57-4ABF-8C5A-873BCA356F81}"/>
              </a:ext>
            </a:extLst>
          </p:cNvPr>
          <p:cNvSpPr/>
          <p:nvPr/>
        </p:nvSpPr>
        <p:spPr>
          <a:xfrm>
            <a:off x="9867857" y="2555552"/>
            <a:ext cx="425116"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13</a:t>
            </a:r>
            <a:endParaRPr lang="zh-CN" altLang="en-US" sz="1600" dirty="0">
              <a:ea typeface="Alibaba PuHuiTi R"/>
            </a:endParaRPr>
          </a:p>
        </p:txBody>
      </p:sp>
      <p:sp>
        <p:nvSpPr>
          <p:cNvPr id="55" name="矩形 54">
            <a:extLst>
              <a:ext uri="{FF2B5EF4-FFF2-40B4-BE49-F238E27FC236}">
                <a16:creationId xmlns:a16="http://schemas.microsoft.com/office/drawing/2014/main" id="{4A0CCC6B-24AF-4071-8EA3-FCA2D22A403E}"/>
              </a:ext>
            </a:extLst>
          </p:cNvPr>
          <p:cNvSpPr/>
          <p:nvPr/>
        </p:nvSpPr>
        <p:spPr>
          <a:xfrm>
            <a:off x="10566357" y="2555552"/>
            <a:ext cx="425116"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14</a:t>
            </a:r>
            <a:endParaRPr lang="zh-CN" altLang="en-US" sz="1600" dirty="0">
              <a:ea typeface="Alibaba PuHuiTi R"/>
            </a:endParaRPr>
          </a:p>
        </p:txBody>
      </p:sp>
      <p:sp>
        <p:nvSpPr>
          <p:cNvPr id="56" name="矩形 55">
            <a:extLst>
              <a:ext uri="{FF2B5EF4-FFF2-40B4-BE49-F238E27FC236}">
                <a16:creationId xmlns:a16="http://schemas.microsoft.com/office/drawing/2014/main" id="{B13E9ED9-6987-493A-91E8-AE26A51E9710}"/>
              </a:ext>
            </a:extLst>
          </p:cNvPr>
          <p:cNvSpPr/>
          <p:nvPr/>
        </p:nvSpPr>
        <p:spPr>
          <a:xfrm>
            <a:off x="11230990" y="2555552"/>
            <a:ext cx="425116"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15</a:t>
            </a:r>
            <a:endParaRPr lang="zh-CN" altLang="en-US" sz="1600" dirty="0">
              <a:ea typeface="Alibaba PuHuiTi R"/>
            </a:endParaRPr>
          </a:p>
        </p:txBody>
      </p:sp>
      <p:sp>
        <p:nvSpPr>
          <p:cNvPr id="2" name="矩形 1">
            <a:extLst>
              <a:ext uri="{FF2B5EF4-FFF2-40B4-BE49-F238E27FC236}">
                <a16:creationId xmlns:a16="http://schemas.microsoft.com/office/drawing/2014/main" id="{B514DDC2-DA96-43C7-B879-4BD73A2CFB99}"/>
              </a:ext>
            </a:extLst>
          </p:cNvPr>
          <p:cNvSpPr/>
          <p:nvPr/>
        </p:nvSpPr>
        <p:spPr>
          <a:xfrm>
            <a:off x="10792840" y="1357519"/>
            <a:ext cx="1202573" cy="338554"/>
          </a:xfrm>
          <a:prstGeom prst="rect">
            <a:avLst/>
          </a:prstGeom>
        </p:spPr>
        <p:txBody>
          <a:bodyPr wrap="none">
            <a:spAutoFit/>
          </a:bodyPr>
          <a:lstStyle/>
          <a:p>
            <a:pPr>
              <a:defRPr/>
            </a:pPr>
            <a:r>
              <a:rPr lang="en-US" altLang="zh-CN" sz="1600" dirty="0">
                <a:solidFill>
                  <a:srgbClr val="333333"/>
                </a:solidFill>
                <a:latin typeface="微软雅黑" pitchFamily="34" charset="-122"/>
                <a:ea typeface="Alibaba PuHuiTi R"/>
              </a:rPr>
              <a:t>Segment[]</a:t>
            </a:r>
            <a:endParaRPr lang="zh-CN" altLang="en-US" sz="1600" dirty="0">
              <a:ea typeface="Alibaba PuHuiTi R"/>
            </a:endParaRPr>
          </a:p>
        </p:txBody>
      </p:sp>
      <p:cxnSp>
        <p:nvCxnSpPr>
          <p:cNvPr id="14" name="直接连接符 13">
            <a:extLst>
              <a:ext uri="{FF2B5EF4-FFF2-40B4-BE49-F238E27FC236}">
                <a16:creationId xmlns:a16="http://schemas.microsoft.com/office/drawing/2014/main" id="{BA298C77-E917-4B69-B036-5474A1F53E4C}"/>
              </a:ext>
            </a:extLst>
          </p:cNvPr>
          <p:cNvCxnSpPr/>
          <p:nvPr/>
        </p:nvCxnSpPr>
        <p:spPr>
          <a:xfrm>
            <a:off x="3678723"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21EF03A-D834-4391-93A8-6F93641950C7}"/>
              </a:ext>
            </a:extLst>
          </p:cNvPr>
          <p:cNvCxnSpPr/>
          <p:nvPr/>
        </p:nvCxnSpPr>
        <p:spPr>
          <a:xfrm>
            <a:off x="4351823"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2E4096A4-E834-4366-8FDA-AC74C2E92835}"/>
              </a:ext>
            </a:extLst>
          </p:cNvPr>
          <p:cNvCxnSpPr/>
          <p:nvPr/>
        </p:nvCxnSpPr>
        <p:spPr>
          <a:xfrm>
            <a:off x="986323"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F9176D09-1D4F-4B31-A3D6-E2DBE6C54C41}"/>
              </a:ext>
            </a:extLst>
          </p:cNvPr>
          <p:cNvCxnSpPr/>
          <p:nvPr/>
        </p:nvCxnSpPr>
        <p:spPr>
          <a:xfrm>
            <a:off x="166365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03B8C701-760D-4631-96E2-1A53A94A0CD9}"/>
              </a:ext>
            </a:extLst>
          </p:cNvPr>
          <p:cNvCxnSpPr/>
          <p:nvPr/>
        </p:nvCxnSpPr>
        <p:spPr>
          <a:xfrm>
            <a:off x="8432756" y="1888802"/>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TextBox 2">
            <a:extLst>
              <a:ext uri="{FF2B5EF4-FFF2-40B4-BE49-F238E27FC236}">
                <a16:creationId xmlns:a16="http://schemas.microsoft.com/office/drawing/2014/main" id="{7D917163-9481-99A0-BE96-2225D4F136BB}"/>
              </a:ext>
            </a:extLst>
          </p:cNvPr>
          <p:cNvSpPr txBox="1"/>
          <p:nvPr/>
        </p:nvSpPr>
        <p:spPr>
          <a:xfrm>
            <a:off x="769618" y="934083"/>
            <a:ext cx="8200437" cy="468975"/>
          </a:xfrm>
          <a:prstGeom prst="rect">
            <a:avLst/>
          </a:prstGeom>
          <a:noFill/>
        </p:spPr>
        <p:txBody>
          <a:bodyPr wrap="square">
            <a:spAutoFit/>
          </a:bodyPr>
          <a:lstStyle/>
          <a:p>
            <a:pPr>
              <a:lnSpc>
                <a:spcPct val="150000"/>
              </a:lnSpc>
              <a:defRPr/>
            </a:pPr>
            <a:r>
              <a:rPr lang="en-US" altLang="zh-CN"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开始的哈希表：</a:t>
            </a:r>
            <a:r>
              <a:rPr lang="zh-CN" altLang="en-US"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 </a:t>
            </a:r>
            <a:r>
              <a:rPr lang="en-US" altLang="zh-CN"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800" b="1" dirty="0">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链表 </a:t>
            </a:r>
            <a:r>
              <a:rPr lang="en-US" altLang="zh-CN" sz="1800"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800"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红黑树</a:t>
            </a:r>
            <a:endParaRPr lang="zh-CN" altLang="en-US" b="1" dirty="0">
              <a:solidFill>
                <a:srgbClr val="FF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7" name="椭圆 66">
            <a:extLst>
              <a:ext uri="{FF2B5EF4-FFF2-40B4-BE49-F238E27FC236}">
                <a16:creationId xmlns:a16="http://schemas.microsoft.com/office/drawing/2014/main" id="{96E84A72-3B66-9DFA-B5FC-AB3542CA8A2F}"/>
              </a:ext>
            </a:extLst>
          </p:cNvPr>
          <p:cNvSpPr/>
          <p:nvPr/>
        </p:nvSpPr>
        <p:spPr>
          <a:xfrm>
            <a:off x="7820705" y="1989757"/>
            <a:ext cx="480484" cy="480484"/>
          </a:xfrm>
          <a:prstGeom prst="ellipse">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rgbClr val="FF0000"/>
              </a:solidFill>
              <a:ea typeface="Alibaba PuHuiTi R"/>
            </a:endParaRPr>
          </a:p>
        </p:txBody>
      </p:sp>
      <p:sp>
        <p:nvSpPr>
          <p:cNvPr id="68" name="椭圆 67">
            <a:extLst>
              <a:ext uri="{FF2B5EF4-FFF2-40B4-BE49-F238E27FC236}">
                <a16:creationId xmlns:a16="http://schemas.microsoft.com/office/drawing/2014/main" id="{7661342E-65F0-3D4B-7BE2-2C7A84A9F8D8}"/>
              </a:ext>
            </a:extLst>
          </p:cNvPr>
          <p:cNvSpPr/>
          <p:nvPr/>
        </p:nvSpPr>
        <p:spPr>
          <a:xfrm>
            <a:off x="7820705" y="2976535"/>
            <a:ext cx="480484" cy="480483"/>
          </a:xfrm>
          <a:prstGeom prst="ellipse">
            <a:avLst/>
          </a:prstGeom>
          <a:solidFill>
            <a:schemeClr val="accent6">
              <a:lumMod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rgbClr val="FF0000"/>
              </a:solidFill>
              <a:ea typeface="Alibaba PuHuiTi R"/>
            </a:endParaRPr>
          </a:p>
        </p:txBody>
      </p:sp>
      <p:sp>
        <p:nvSpPr>
          <p:cNvPr id="70" name="椭圆 69">
            <a:extLst>
              <a:ext uri="{FF2B5EF4-FFF2-40B4-BE49-F238E27FC236}">
                <a16:creationId xmlns:a16="http://schemas.microsoft.com/office/drawing/2014/main" id="{755AB95D-A73A-0A8B-848A-335BBA75E65C}"/>
              </a:ext>
            </a:extLst>
          </p:cNvPr>
          <p:cNvSpPr/>
          <p:nvPr/>
        </p:nvSpPr>
        <p:spPr>
          <a:xfrm>
            <a:off x="7848698" y="3849198"/>
            <a:ext cx="480484" cy="480484"/>
          </a:xfrm>
          <a:prstGeom prst="ellipse">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srgbClr val="FF0000"/>
              </a:solidFill>
              <a:ea typeface="Alibaba PuHuiTi R"/>
            </a:endParaRPr>
          </a:p>
        </p:txBody>
      </p:sp>
      <p:cxnSp>
        <p:nvCxnSpPr>
          <p:cNvPr id="72" name="直接连接符 71">
            <a:extLst>
              <a:ext uri="{FF2B5EF4-FFF2-40B4-BE49-F238E27FC236}">
                <a16:creationId xmlns:a16="http://schemas.microsoft.com/office/drawing/2014/main" id="{C777EF43-3040-1F46-20B8-8AC2647BD840}"/>
              </a:ext>
            </a:extLst>
          </p:cNvPr>
          <p:cNvCxnSpPr>
            <a:cxnSpLocks/>
            <a:stCxn id="67" idx="4"/>
            <a:endCxn id="68" idx="0"/>
          </p:cNvCxnSpPr>
          <p:nvPr/>
        </p:nvCxnSpPr>
        <p:spPr>
          <a:xfrm>
            <a:off x="8060947" y="2470241"/>
            <a:ext cx="0" cy="506294"/>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E8162809-3D6B-E89B-558F-5D6971960CF7}"/>
              </a:ext>
            </a:extLst>
          </p:cNvPr>
          <p:cNvCxnSpPr>
            <a:cxnSpLocks/>
            <a:endCxn id="70" idx="0"/>
          </p:cNvCxnSpPr>
          <p:nvPr/>
        </p:nvCxnSpPr>
        <p:spPr>
          <a:xfrm>
            <a:off x="8088940" y="3448033"/>
            <a:ext cx="0" cy="401165"/>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 name="椭圆 2">
            <a:extLst>
              <a:ext uri="{FF2B5EF4-FFF2-40B4-BE49-F238E27FC236}">
                <a16:creationId xmlns:a16="http://schemas.microsoft.com/office/drawing/2014/main" id="{BA8DE0B3-8D18-092C-F5B7-58B0DD2AC12B}"/>
              </a:ext>
            </a:extLst>
          </p:cNvPr>
          <p:cNvSpPr/>
          <p:nvPr/>
        </p:nvSpPr>
        <p:spPr>
          <a:xfrm>
            <a:off x="3672086" y="1888802"/>
            <a:ext cx="673100" cy="670984"/>
          </a:xfrm>
          <a:prstGeom prst="ellipse">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600" dirty="0">
                <a:solidFill>
                  <a:schemeClr val="bg1"/>
                </a:solidFill>
                <a:latin typeface="微软雅黑" panose="020B0503020204020204" pitchFamily="34" charset="-122"/>
                <a:ea typeface="Alibaba PuHuiTi R"/>
              </a:rPr>
              <a:t>20</a:t>
            </a:r>
            <a:endParaRPr lang="zh-CN" altLang="en-US" sz="1600" dirty="0">
              <a:solidFill>
                <a:schemeClr val="bg1"/>
              </a:solidFill>
              <a:latin typeface="微软雅黑" panose="020B0503020204020204" pitchFamily="34" charset="-122"/>
              <a:ea typeface="Alibaba PuHuiTi R"/>
            </a:endParaRPr>
          </a:p>
        </p:txBody>
      </p:sp>
      <p:cxnSp>
        <p:nvCxnSpPr>
          <p:cNvPr id="64" name="直接箭头连接符 63">
            <a:extLst>
              <a:ext uri="{FF2B5EF4-FFF2-40B4-BE49-F238E27FC236}">
                <a16:creationId xmlns:a16="http://schemas.microsoft.com/office/drawing/2014/main" id="{268D7751-B0D4-7645-0E8C-FDD6B03C46E6}"/>
              </a:ext>
            </a:extLst>
          </p:cNvPr>
          <p:cNvCxnSpPr>
            <a:stCxn id="3" idx="3"/>
          </p:cNvCxnSpPr>
          <p:nvPr/>
        </p:nvCxnSpPr>
        <p:spPr>
          <a:xfrm flipH="1">
            <a:off x="3384219" y="2462419"/>
            <a:ext cx="387351" cy="34501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F4A8120E-87FE-723D-F029-CB8F8E3F8D30}"/>
              </a:ext>
            </a:extLst>
          </p:cNvPr>
          <p:cNvSpPr/>
          <p:nvPr/>
        </p:nvSpPr>
        <p:spPr>
          <a:xfrm>
            <a:off x="2770385" y="2699487"/>
            <a:ext cx="670984" cy="670983"/>
          </a:xfrm>
          <a:prstGeom prst="ellipse">
            <a:avLst/>
          </a:prstGeom>
          <a:solidFill>
            <a:srgbClr val="FF00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600" dirty="0">
                <a:solidFill>
                  <a:schemeClr val="bg1"/>
                </a:solidFill>
                <a:latin typeface="微软雅黑" panose="020B0503020204020204" pitchFamily="34" charset="-122"/>
                <a:ea typeface="Alibaba PuHuiTi R"/>
              </a:rPr>
              <a:t>18</a:t>
            </a:r>
            <a:endParaRPr lang="zh-CN" altLang="en-US" sz="1600" dirty="0">
              <a:solidFill>
                <a:schemeClr val="bg1"/>
              </a:solidFill>
              <a:latin typeface="微软雅黑" panose="020B0503020204020204" pitchFamily="34" charset="-122"/>
              <a:ea typeface="Alibaba PuHuiTi R"/>
            </a:endParaRPr>
          </a:p>
        </p:txBody>
      </p:sp>
      <p:sp>
        <p:nvSpPr>
          <p:cNvPr id="77" name="椭圆 76">
            <a:extLst>
              <a:ext uri="{FF2B5EF4-FFF2-40B4-BE49-F238E27FC236}">
                <a16:creationId xmlns:a16="http://schemas.microsoft.com/office/drawing/2014/main" id="{4F7E6508-75E5-5725-556F-2F8A57FEE4BC}"/>
              </a:ext>
            </a:extLst>
          </p:cNvPr>
          <p:cNvSpPr/>
          <p:nvPr/>
        </p:nvSpPr>
        <p:spPr>
          <a:xfrm>
            <a:off x="4535686" y="2699487"/>
            <a:ext cx="673100" cy="670983"/>
          </a:xfrm>
          <a:prstGeom prst="ellipse">
            <a:avLst/>
          </a:prstGeom>
          <a:solidFill>
            <a:srgbClr val="FF00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600" dirty="0">
                <a:solidFill>
                  <a:schemeClr val="bg1"/>
                </a:solidFill>
                <a:latin typeface="微软雅黑" panose="020B0503020204020204" pitchFamily="34" charset="-122"/>
                <a:ea typeface="Alibaba PuHuiTi R"/>
              </a:rPr>
              <a:t>23</a:t>
            </a:r>
            <a:endParaRPr lang="zh-CN" altLang="en-US" sz="1600" dirty="0">
              <a:solidFill>
                <a:schemeClr val="bg1"/>
              </a:solidFill>
              <a:latin typeface="微软雅黑" panose="020B0503020204020204" pitchFamily="34" charset="-122"/>
              <a:ea typeface="Alibaba PuHuiTi R"/>
            </a:endParaRPr>
          </a:p>
        </p:txBody>
      </p:sp>
      <p:cxnSp>
        <p:nvCxnSpPr>
          <p:cNvPr id="79" name="直接箭头连接符 78">
            <a:extLst>
              <a:ext uri="{FF2B5EF4-FFF2-40B4-BE49-F238E27FC236}">
                <a16:creationId xmlns:a16="http://schemas.microsoft.com/office/drawing/2014/main" id="{CE446888-9FF4-5EEB-FB91-06D6E7DDAFC7}"/>
              </a:ext>
            </a:extLst>
          </p:cNvPr>
          <p:cNvCxnSpPr>
            <a:stCxn id="3" idx="5"/>
            <a:endCxn id="77" idx="1"/>
          </p:cNvCxnSpPr>
          <p:nvPr/>
        </p:nvCxnSpPr>
        <p:spPr>
          <a:xfrm>
            <a:off x="4245702" y="2462420"/>
            <a:ext cx="389467" cy="33443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0" name="矩形 84">
            <a:extLst>
              <a:ext uri="{FF2B5EF4-FFF2-40B4-BE49-F238E27FC236}">
                <a16:creationId xmlns:a16="http://schemas.microsoft.com/office/drawing/2014/main" id="{CDCFA236-2C45-6723-262D-F1A13E613B8D}"/>
              </a:ext>
            </a:extLst>
          </p:cNvPr>
          <p:cNvSpPr>
            <a:spLocks noChangeArrowheads="1"/>
          </p:cNvSpPr>
          <p:nvPr/>
        </p:nvSpPr>
        <p:spPr bwMode="auto">
          <a:xfrm>
            <a:off x="2357642" y="3535042"/>
            <a:ext cx="3513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dirty="0">
                <a:latin typeface="微软雅黑" panose="020B0503020204020204" pitchFamily="34" charset="-122"/>
                <a:ea typeface="Alibaba PuHuiTi R"/>
              </a:rPr>
              <a:t>…</a:t>
            </a:r>
            <a:endParaRPr lang="zh-CN" altLang="en-US" sz="1600" dirty="0">
              <a:ea typeface="Alibaba PuHuiTi R"/>
            </a:endParaRPr>
          </a:p>
        </p:txBody>
      </p:sp>
      <p:sp>
        <p:nvSpPr>
          <p:cNvPr id="82" name="矩形 85">
            <a:extLst>
              <a:ext uri="{FF2B5EF4-FFF2-40B4-BE49-F238E27FC236}">
                <a16:creationId xmlns:a16="http://schemas.microsoft.com/office/drawing/2014/main" id="{AF832655-B842-B7AA-7F60-64D3E83FABF8}"/>
              </a:ext>
            </a:extLst>
          </p:cNvPr>
          <p:cNvSpPr>
            <a:spLocks noChangeArrowheads="1"/>
          </p:cNvSpPr>
          <p:nvPr/>
        </p:nvSpPr>
        <p:spPr bwMode="auto">
          <a:xfrm>
            <a:off x="3178903" y="3528690"/>
            <a:ext cx="3513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dirty="0">
                <a:latin typeface="微软雅黑" panose="020B0503020204020204" pitchFamily="34" charset="-122"/>
                <a:ea typeface="Alibaba PuHuiTi R"/>
              </a:rPr>
              <a:t>…</a:t>
            </a:r>
            <a:endParaRPr lang="zh-CN" altLang="en-US" sz="1600" dirty="0">
              <a:ea typeface="Alibaba PuHuiTi R"/>
            </a:endParaRPr>
          </a:p>
        </p:txBody>
      </p:sp>
      <p:sp>
        <p:nvSpPr>
          <p:cNvPr id="83" name="矩形 86">
            <a:extLst>
              <a:ext uri="{FF2B5EF4-FFF2-40B4-BE49-F238E27FC236}">
                <a16:creationId xmlns:a16="http://schemas.microsoft.com/office/drawing/2014/main" id="{587EF095-54AA-19C5-B53A-DA9FB218582F}"/>
              </a:ext>
            </a:extLst>
          </p:cNvPr>
          <p:cNvSpPr>
            <a:spLocks noChangeArrowheads="1"/>
          </p:cNvSpPr>
          <p:nvPr/>
        </p:nvSpPr>
        <p:spPr bwMode="auto">
          <a:xfrm>
            <a:off x="4283791" y="3573557"/>
            <a:ext cx="3513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a:latin typeface="微软雅黑" panose="020B0503020204020204" pitchFamily="34" charset="-122"/>
                <a:ea typeface="Alibaba PuHuiTi R"/>
              </a:rPr>
              <a:t>…</a:t>
            </a:r>
            <a:endParaRPr lang="zh-CN" altLang="en-US" sz="1600">
              <a:ea typeface="Alibaba PuHuiTi R"/>
            </a:endParaRPr>
          </a:p>
        </p:txBody>
      </p:sp>
      <p:sp>
        <p:nvSpPr>
          <p:cNvPr id="84" name="矩形 87">
            <a:extLst>
              <a:ext uri="{FF2B5EF4-FFF2-40B4-BE49-F238E27FC236}">
                <a16:creationId xmlns:a16="http://schemas.microsoft.com/office/drawing/2014/main" id="{A0B43BC0-1FA9-C99F-2229-960B26AD5FB9}"/>
              </a:ext>
            </a:extLst>
          </p:cNvPr>
          <p:cNvSpPr>
            <a:spLocks noChangeArrowheads="1"/>
          </p:cNvSpPr>
          <p:nvPr/>
        </p:nvSpPr>
        <p:spPr bwMode="auto">
          <a:xfrm>
            <a:off x="5064151" y="3544770"/>
            <a:ext cx="3513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dirty="0">
                <a:latin typeface="微软雅黑" panose="020B0503020204020204" pitchFamily="34" charset="-122"/>
                <a:ea typeface="Alibaba PuHuiTi R"/>
              </a:rPr>
              <a:t>…</a:t>
            </a:r>
            <a:endParaRPr lang="zh-CN" altLang="en-US" sz="1600" dirty="0">
              <a:ea typeface="Alibaba PuHuiTi R"/>
            </a:endParaRPr>
          </a:p>
        </p:txBody>
      </p:sp>
      <p:sp>
        <p:nvSpPr>
          <p:cNvPr id="90" name="文本框 89">
            <a:extLst>
              <a:ext uri="{FF2B5EF4-FFF2-40B4-BE49-F238E27FC236}">
                <a16:creationId xmlns:a16="http://schemas.microsoft.com/office/drawing/2014/main" id="{B3D23C0F-0663-B373-D7D4-E0671DF2C608}"/>
              </a:ext>
            </a:extLst>
          </p:cNvPr>
          <p:cNvSpPr txBox="1"/>
          <p:nvPr/>
        </p:nvSpPr>
        <p:spPr>
          <a:xfrm>
            <a:off x="8883647" y="4334713"/>
            <a:ext cx="2861284" cy="1504323"/>
          </a:xfrm>
          <a:prstGeom prst="rect">
            <a:avLst/>
          </a:prstGeom>
          <a:noFill/>
        </p:spPr>
        <p:txBody>
          <a:bodyPr wrap="square">
            <a:spAutoFit/>
          </a:bodyPr>
          <a:lstStyle/>
          <a:p>
            <a:pPr fontAlgn="auto">
              <a:lnSpc>
                <a:spcPct val="200000"/>
              </a:lnSpc>
              <a:spcBef>
                <a:spcPts val="0"/>
              </a:spcBef>
              <a:spcAft>
                <a:spcPts val="0"/>
              </a:spcAft>
            </a:pPr>
            <a:r>
              <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开始后，哈希表中引入了红黑树后，进一步提高了操作数据的性能。</a:t>
            </a:r>
          </a:p>
        </p:txBody>
      </p:sp>
      <p:sp>
        <p:nvSpPr>
          <p:cNvPr id="92" name="TextBox 22">
            <a:extLst>
              <a:ext uri="{FF2B5EF4-FFF2-40B4-BE49-F238E27FC236}">
                <a16:creationId xmlns:a16="http://schemas.microsoft.com/office/drawing/2014/main" id="{856280D8-74CD-7ED5-E4C1-654B994FE511}"/>
              </a:ext>
            </a:extLst>
          </p:cNvPr>
          <p:cNvSpPr txBox="1"/>
          <p:nvPr/>
        </p:nvSpPr>
        <p:spPr>
          <a:xfrm>
            <a:off x="8923080" y="3245518"/>
            <a:ext cx="2997671" cy="666593"/>
          </a:xfrm>
          <a:prstGeom prst="rect">
            <a:avLst/>
          </a:prstGeom>
          <a:solidFill>
            <a:srgbClr val="F9FBF9"/>
          </a:solidFill>
          <a:ln w="9525" cap="flat" cmpd="sng" algn="ctr">
            <a:solidFill>
              <a:srgbClr val="F9FBF9"/>
            </a:solidFill>
            <a:prstDash val="solid"/>
            <a:round/>
            <a:headEnd type="none" w="med" len="med"/>
            <a:tailEnd type="none" w="med" len="med"/>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wrap="square">
            <a:spAutoFit/>
          </a:bodyPr>
          <a:lstStyle/>
          <a:p>
            <a:pPr>
              <a:defRPr/>
            </a:pPr>
            <a:r>
              <a:rPr lang="en-US" altLang="zh-CN" sz="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之前，哈希表 </a:t>
            </a:r>
            <a:r>
              <a:rPr lang="en-US" altLang="zh-CN" sz="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2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a:t>
            </a:r>
            <a:r>
              <a:rPr lang="en-US" altLang="zh-CN" sz="12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2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链表</a:t>
            </a:r>
            <a:endParaRPr lang="en-US" altLang="zh-CN" sz="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250000"/>
              </a:lnSpc>
              <a:defRPr/>
            </a:pPr>
            <a:r>
              <a:rPr lang="en-US" altLang="zh-CN" sz="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开始，哈希表 </a:t>
            </a:r>
            <a:r>
              <a:rPr lang="en-US" altLang="zh-CN" sz="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2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a:t>
            </a:r>
            <a:r>
              <a:rPr lang="en-US" altLang="zh-CN" sz="12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2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链表</a:t>
            </a:r>
            <a:r>
              <a:rPr lang="en-US" altLang="zh-CN" sz="12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2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红黑树</a:t>
            </a:r>
            <a:endParaRPr lang="en-US" altLang="zh-CN" sz="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标题 3">
            <a:extLst>
              <a:ext uri="{FF2B5EF4-FFF2-40B4-BE49-F238E27FC236}">
                <a16:creationId xmlns:a16="http://schemas.microsoft.com/office/drawing/2014/main" id="{44D5C939-3B7A-2EC2-22DA-C6197976B0E8}"/>
              </a:ext>
            </a:extLst>
          </p:cNvPr>
          <p:cNvSpPr>
            <a:spLocks noGrp="1"/>
          </p:cNvSpPr>
          <p:nvPr>
            <p:ph type="title"/>
          </p:nvPr>
        </p:nvSpPr>
        <p:spPr/>
        <p:txBody>
          <a:bodyPr/>
          <a:lstStyle/>
          <a:p>
            <a:r>
              <a:rPr lang="en-US" altLang="zh-CN" dirty="0"/>
              <a:t>HashSet</a:t>
            </a:r>
            <a:r>
              <a:rPr lang="zh-CN" altLang="en-US" dirty="0"/>
              <a:t>集合的底层原理</a:t>
            </a:r>
          </a:p>
        </p:txBody>
      </p:sp>
      <p:grpSp>
        <p:nvGrpSpPr>
          <p:cNvPr id="29" name="组合 28">
            <a:extLst>
              <a:ext uri="{FF2B5EF4-FFF2-40B4-BE49-F238E27FC236}">
                <a16:creationId xmlns:a16="http://schemas.microsoft.com/office/drawing/2014/main" id="{BB202D1D-C7E5-D21A-FC8C-08BE849A6710}"/>
              </a:ext>
            </a:extLst>
          </p:cNvPr>
          <p:cNvGrpSpPr/>
          <p:nvPr/>
        </p:nvGrpSpPr>
        <p:grpSpPr>
          <a:xfrm>
            <a:off x="986322" y="5052384"/>
            <a:ext cx="7637555" cy="594560"/>
            <a:chOff x="3353164" y="5731266"/>
            <a:chExt cx="7235017" cy="594560"/>
          </a:xfrm>
        </p:grpSpPr>
        <p:grpSp>
          <p:nvGrpSpPr>
            <p:cNvPr id="35" name="组合 34">
              <a:extLst>
                <a:ext uri="{FF2B5EF4-FFF2-40B4-BE49-F238E27FC236}">
                  <a16:creationId xmlns:a16="http://schemas.microsoft.com/office/drawing/2014/main" id="{620703D9-F6AB-8A84-63DD-9E601CFE5798}"/>
                </a:ext>
              </a:extLst>
            </p:cNvPr>
            <p:cNvGrpSpPr/>
            <p:nvPr/>
          </p:nvGrpSpPr>
          <p:grpSpPr>
            <a:xfrm>
              <a:off x="3353164" y="5731266"/>
              <a:ext cx="7235017" cy="594560"/>
              <a:chOff x="4304043" y="1286668"/>
              <a:chExt cx="10573363" cy="2757793"/>
            </a:xfrm>
            <a:effectLst>
              <a:outerShdw blurRad="381000" dist="254000" dir="8100000" algn="tr" rotWithShape="0">
                <a:prstClr val="black">
                  <a:alpha val="40000"/>
                </a:prstClr>
              </a:outerShdw>
            </a:effectLst>
          </p:grpSpPr>
          <p:sp>
            <p:nvSpPr>
              <p:cNvPr id="58" name="圆角矩形 70">
                <a:extLst>
                  <a:ext uri="{FF2B5EF4-FFF2-40B4-BE49-F238E27FC236}">
                    <a16:creationId xmlns:a16="http://schemas.microsoft.com/office/drawing/2014/main" id="{D6D4594C-A362-C318-5341-5466FC4566B8}"/>
                  </a:ext>
                </a:extLst>
              </p:cNvPr>
              <p:cNvSpPr/>
              <p:nvPr/>
            </p:nvSpPr>
            <p:spPr>
              <a:xfrm>
                <a:off x="4304043" y="1286668"/>
                <a:ext cx="3978026"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Arial"/>
                  <a:ea typeface="微软雅黑"/>
                  <a:cs typeface="+mn-cs"/>
                </a:endParaRPr>
              </a:p>
            </p:txBody>
          </p:sp>
          <p:sp>
            <p:nvSpPr>
              <p:cNvPr id="59" name="圆角矩形 71">
                <a:extLst>
                  <a:ext uri="{FF2B5EF4-FFF2-40B4-BE49-F238E27FC236}">
                    <a16:creationId xmlns:a16="http://schemas.microsoft.com/office/drawing/2014/main" id="{506CF60C-1626-A4B6-CD34-A5145A62D47D}"/>
                  </a:ext>
                </a:extLst>
              </p:cNvPr>
              <p:cNvSpPr/>
              <p:nvPr/>
            </p:nvSpPr>
            <p:spPr>
              <a:xfrm>
                <a:off x="4304043" y="1286668"/>
                <a:ext cx="10573363"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Arial"/>
                  <a:ea typeface="微软雅黑"/>
                  <a:cs typeface="+mn-cs"/>
                </a:endParaRPr>
              </a:p>
            </p:txBody>
          </p:sp>
        </p:grpSp>
        <p:sp>
          <p:nvSpPr>
            <p:cNvPr id="57" name="TextBox 69">
              <a:extLst>
                <a:ext uri="{FF2B5EF4-FFF2-40B4-BE49-F238E27FC236}">
                  <a16:creationId xmlns:a16="http://schemas.microsoft.com/office/drawing/2014/main" id="{074074FB-30FD-3594-0A17-C85717C10684}"/>
                </a:ext>
              </a:extLst>
            </p:cNvPr>
            <p:cNvSpPr txBox="1"/>
            <p:nvPr/>
          </p:nvSpPr>
          <p:spPr>
            <a:xfrm>
              <a:off x="3576285" y="5778222"/>
              <a:ext cx="6753257" cy="427105"/>
            </a:xfrm>
            <a:prstGeom prst="rect">
              <a:avLst/>
            </a:prstGeom>
            <a:noFill/>
          </p:spPr>
          <p:txBody>
            <a:bodyPr wrap="square" rtlCol="0">
              <a:spAutoFit/>
            </a:bodyPr>
            <a:lstStyle/>
            <a:p>
              <a:pPr>
                <a:lnSpc>
                  <a:spcPct val="150000"/>
                </a:lnSpc>
                <a:defRPr/>
              </a:pPr>
              <a:r>
                <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开始</a:t>
              </a:r>
              <a:r>
                <a:rPr lang="zh-CN" altLang="en-US" sz="1600" b="1"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当链表长度超过</a:t>
              </a:r>
              <a:r>
                <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8</a:t>
              </a:r>
              <a:r>
                <a:rPr lang="zh-CN" altLang="en-US" sz="1600" b="1"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，且</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数组长度</a:t>
              </a:r>
              <a:r>
                <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&gt;=64</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时</a:t>
              </a:r>
              <a:r>
                <a:rPr lang="zh-CN" altLang="en-US" sz="1600" b="1"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自动将链表转成红黑树</a:t>
              </a:r>
            </a:p>
          </p:txBody>
        </p:sp>
      </p:grpSp>
    </p:spTree>
    <p:extLst>
      <p:ext uri="{BB962C8B-B14F-4D97-AF65-F5344CB8AC3E}">
        <p14:creationId xmlns:p14="http://schemas.microsoft.com/office/powerpoint/2010/main" val="1480088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par>
                                <p:cTn id="10" presetID="50" presetClass="entr" presetSubtype="0" decel="100000" fill="hold" nodeType="withEffect">
                                  <p:stCondLst>
                                    <p:cond delay="0"/>
                                  </p:stCondLst>
                                  <p:childTnLst>
                                    <p:set>
                                      <p:cBhvr>
                                        <p:cTn id="11" dur="1" fill="hold">
                                          <p:stCondLst>
                                            <p:cond delay="0"/>
                                          </p:stCondLst>
                                        </p:cTn>
                                        <p:tgtEl>
                                          <p:spTgt spid="64"/>
                                        </p:tgtEl>
                                        <p:attrNameLst>
                                          <p:attrName>style.visibility</p:attrName>
                                        </p:attrNameLst>
                                      </p:cBhvr>
                                      <p:to>
                                        <p:strVal val="visible"/>
                                      </p:to>
                                    </p:set>
                                    <p:anim calcmode="lin" valueType="num">
                                      <p:cBhvr>
                                        <p:cTn id="12" dur="1000" fill="hold"/>
                                        <p:tgtEl>
                                          <p:spTgt spid="64"/>
                                        </p:tgtEl>
                                        <p:attrNameLst>
                                          <p:attrName>ppt_w</p:attrName>
                                        </p:attrNameLst>
                                      </p:cBhvr>
                                      <p:tavLst>
                                        <p:tav tm="0">
                                          <p:val>
                                            <p:strVal val="#ppt_w+.3"/>
                                          </p:val>
                                        </p:tav>
                                        <p:tav tm="100000">
                                          <p:val>
                                            <p:strVal val="#ppt_w"/>
                                          </p:val>
                                        </p:tav>
                                      </p:tavLst>
                                    </p:anim>
                                    <p:anim calcmode="lin" valueType="num">
                                      <p:cBhvr>
                                        <p:cTn id="13" dur="1000" fill="hold"/>
                                        <p:tgtEl>
                                          <p:spTgt spid="64"/>
                                        </p:tgtEl>
                                        <p:attrNameLst>
                                          <p:attrName>ppt_h</p:attrName>
                                        </p:attrNameLst>
                                      </p:cBhvr>
                                      <p:tavLst>
                                        <p:tav tm="0">
                                          <p:val>
                                            <p:strVal val="#ppt_h"/>
                                          </p:val>
                                        </p:tav>
                                        <p:tav tm="100000">
                                          <p:val>
                                            <p:strVal val="#ppt_h"/>
                                          </p:val>
                                        </p:tav>
                                      </p:tavLst>
                                    </p:anim>
                                    <p:animEffect transition="in" filter="fade">
                                      <p:cBhvr>
                                        <p:cTn id="14" dur="1000"/>
                                        <p:tgtEl>
                                          <p:spTgt spid="64"/>
                                        </p:tgtEl>
                                      </p:cBhvr>
                                    </p:animEffect>
                                  </p:childTnLst>
                                </p:cTn>
                              </p:par>
                              <p:par>
                                <p:cTn id="15" presetID="50" presetClass="entr" presetSubtype="0" decel="100000" fill="hold" grpId="0" nodeType="withEffect">
                                  <p:stCondLst>
                                    <p:cond delay="0"/>
                                  </p:stCondLst>
                                  <p:childTnLst>
                                    <p:set>
                                      <p:cBhvr>
                                        <p:cTn id="16" dur="1" fill="hold">
                                          <p:stCondLst>
                                            <p:cond delay="0"/>
                                          </p:stCondLst>
                                        </p:cTn>
                                        <p:tgtEl>
                                          <p:spTgt spid="75"/>
                                        </p:tgtEl>
                                        <p:attrNameLst>
                                          <p:attrName>style.visibility</p:attrName>
                                        </p:attrNameLst>
                                      </p:cBhvr>
                                      <p:to>
                                        <p:strVal val="visible"/>
                                      </p:to>
                                    </p:set>
                                    <p:anim calcmode="lin" valueType="num">
                                      <p:cBhvr>
                                        <p:cTn id="17" dur="1000" fill="hold"/>
                                        <p:tgtEl>
                                          <p:spTgt spid="75"/>
                                        </p:tgtEl>
                                        <p:attrNameLst>
                                          <p:attrName>ppt_w</p:attrName>
                                        </p:attrNameLst>
                                      </p:cBhvr>
                                      <p:tavLst>
                                        <p:tav tm="0">
                                          <p:val>
                                            <p:strVal val="#ppt_w+.3"/>
                                          </p:val>
                                        </p:tav>
                                        <p:tav tm="100000">
                                          <p:val>
                                            <p:strVal val="#ppt_w"/>
                                          </p:val>
                                        </p:tav>
                                      </p:tavLst>
                                    </p:anim>
                                    <p:anim calcmode="lin" valueType="num">
                                      <p:cBhvr>
                                        <p:cTn id="18" dur="1000" fill="hold"/>
                                        <p:tgtEl>
                                          <p:spTgt spid="75"/>
                                        </p:tgtEl>
                                        <p:attrNameLst>
                                          <p:attrName>ppt_h</p:attrName>
                                        </p:attrNameLst>
                                      </p:cBhvr>
                                      <p:tavLst>
                                        <p:tav tm="0">
                                          <p:val>
                                            <p:strVal val="#ppt_h"/>
                                          </p:val>
                                        </p:tav>
                                        <p:tav tm="100000">
                                          <p:val>
                                            <p:strVal val="#ppt_h"/>
                                          </p:val>
                                        </p:tav>
                                      </p:tavLst>
                                    </p:anim>
                                    <p:animEffect transition="in" filter="fade">
                                      <p:cBhvr>
                                        <p:cTn id="19" dur="1000"/>
                                        <p:tgtEl>
                                          <p:spTgt spid="75"/>
                                        </p:tgtEl>
                                      </p:cBhvr>
                                    </p:animEffect>
                                  </p:childTnLst>
                                </p:cTn>
                              </p:par>
                              <p:par>
                                <p:cTn id="20" presetID="50" presetClass="entr" presetSubtype="0" decel="100000" fill="hold" grpId="0" nodeType="withEffect">
                                  <p:stCondLst>
                                    <p:cond delay="0"/>
                                  </p:stCondLst>
                                  <p:childTnLst>
                                    <p:set>
                                      <p:cBhvr>
                                        <p:cTn id="21" dur="1" fill="hold">
                                          <p:stCondLst>
                                            <p:cond delay="0"/>
                                          </p:stCondLst>
                                        </p:cTn>
                                        <p:tgtEl>
                                          <p:spTgt spid="77"/>
                                        </p:tgtEl>
                                        <p:attrNameLst>
                                          <p:attrName>style.visibility</p:attrName>
                                        </p:attrNameLst>
                                      </p:cBhvr>
                                      <p:to>
                                        <p:strVal val="visible"/>
                                      </p:to>
                                    </p:set>
                                    <p:anim calcmode="lin" valueType="num">
                                      <p:cBhvr>
                                        <p:cTn id="22" dur="1000" fill="hold"/>
                                        <p:tgtEl>
                                          <p:spTgt spid="77"/>
                                        </p:tgtEl>
                                        <p:attrNameLst>
                                          <p:attrName>ppt_w</p:attrName>
                                        </p:attrNameLst>
                                      </p:cBhvr>
                                      <p:tavLst>
                                        <p:tav tm="0">
                                          <p:val>
                                            <p:strVal val="#ppt_w+.3"/>
                                          </p:val>
                                        </p:tav>
                                        <p:tav tm="100000">
                                          <p:val>
                                            <p:strVal val="#ppt_w"/>
                                          </p:val>
                                        </p:tav>
                                      </p:tavLst>
                                    </p:anim>
                                    <p:anim calcmode="lin" valueType="num">
                                      <p:cBhvr>
                                        <p:cTn id="23" dur="1000" fill="hold"/>
                                        <p:tgtEl>
                                          <p:spTgt spid="77"/>
                                        </p:tgtEl>
                                        <p:attrNameLst>
                                          <p:attrName>ppt_h</p:attrName>
                                        </p:attrNameLst>
                                      </p:cBhvr>
                                      <p:tavLst>
                                        <p:tav tm="0">
                                          <p:val>
                                            <p:strVal val="#ppt_h"/>
                                          </p:val>
                                        </p:tav>
                                        <p:tav tm="100000">
                                          <p:val>
                                            <p:strVal val="#ppt_h"/>
                                          </p:val>
                                        </p:tav>
                                      </p:tavLst>
                                    </p:anim>
                                    <p:animEffect transition="in" filter="fade">
                                      <p:cBhvr>
                                        <p:cTn id="24" dur="1000"/>
                                        <p:tgtEl>
                                          <p:spTgt spid="77"/>
                                        </p:tgtEl>
                                      </p:cBhvr>
                                    </p:animEffect>
                                  </p:childTnLst>
                                </p:cTn>
                              </p:par>
                              <p:par>
                                <p:cTn id="25" presetID="50" presetClass="entr" presetSubtype="0" decel="100000" fill="hold" nodeType="withEffect">
                                  <p:stCondLst>
                                    <p:cond delay="0"/>
                                  </p:stCondLst>
                                  <p:childTnLst>
                                    <p:set>
                                      <p:cBhvr>
                                        <p:cTn id="26" dur="1" fill="hold">
                                          <p:stCondLst>
                                            <p:cond delay="0"/>
                                          </p:stCondLst>
                                        </p:cTn>
                                        <p:tgtEl>
                                          <p:spTgt spid="79"/>
                                        </p:tgtEl>
                                        <p:attrNameLst>
                                          <p:attrName>style.visibility</p:attrName>
                                        </p:attrNameLst>
                                      </p:cBhvr>
                                      <p:to>
                                        <p:strVal val="visible"/>
                                      </p:to>
                                    </p:set>
                                    <p:anim calcmode="lin" valueType="num">
                                      <p:cBhvr>
                                        <p:cTn id="27" dur="1000" fill="hold"/>
                                        <p:tgtEl>
                                          <p:spTgt spid="79"/>
                                        </p:tgtEl>
                                        <p:attrNameLst>
                                          <p:attrName>ppt_w</p:attrName>
                                        </p:attrNameLst>
                                      </p:cBhvr>
                                      <p:tavLst>
                                        <p:tav tm="0">
                                          <p:val>
                                            <p:strVal val="#ppt_w+.3"/>
                                          </p:val>
                                        </p:tav>
                                        <p:tav tm="100000">
                                          <p:val>
                                            <p:strVal val="#ppt_w"/>
                                          </p:val>
                                        </p:tav>
                                      </p:tavLst>
                                    </p:anim>
                                    <p:anim calcmode="lin" valueType="num">
                                      <p:cBhvr>
                                        <p:cTn id="28" dur="1000" fill="hold"/>
                                        <p:tgtEl>
                                          <p:spTgt spid="79"/>
                                        </p:tgtEl>
                                        <p:attrNameLst>
                                          <p:attrName>ppt_h</p:attrName>
                                        </p:attrNameLst>
                                      </p:cBhvr>
                                      <p:tavLst>
                                        <p:tav tm="0">
                                          <p:val>
                                            <p:strVal val="#ppt_h"/>
                                          </p:val>
                                        </p:tav>
                                        <p:tav tm="100000">
                                          <p:val>
                                            <p:strVal val="#ppt_h"/>
                                          </p:val>
                                        </p:tav>
                                      </p:tavLst>
                                    </p:anim>
                                    <p:animEffect transition="in" filter="fade">
                                      <p:cBhvr>
                                        <p:cTn id="29" dur="1000"/>
                                        <p:tgtEl>
                                          <p:spTgt spid="79"/>
                                        </p:tgtEl>
                                      </p:cBhvr>
                                    </p:animEffect>
                                  </p:childTnLst>
                                </p:cTn>
                              </p:par>
                              <p:par>
                                <p:cTn id="30" presetID="50" presetClass="entr" presetSubtype="0" decel="100000" fill="hold" grpId="0" nodeType="withEffect">
                                  <p:stCondLst>
                                    <p:cond delay="0"/>
                                  </p:stCondLst>
                                  <p:childTnLst>
                                    <p:set>
                                      <p:cBhvr>
                                        <p:cTn id="31" dur="1" fill="hold">
                                          <p:stCondLst>
                                            <p:cond delay="0"/>
                                          </p:stCondLst>
                                        </p:cTn>
                                        <p:tgtEl>
                                          <p:spTgt spid="80"/>
                                        </p:tgtEl>
                                        <p:attrNameLst>
                                          <p:attrName>style.visibility</p:attrName>
                                        </p:attrNameLst>
                                      </p:cBhvr>
                                      <p:to>
                                        <p:strVal val="visible"/>
                                      </p:to>
                                    </p:set>
                                    <p:anim calcmode="lin" valueType="num">
                                      <p:cBhvr>
                                        <p:cTn id="32" dur="1000" fill="hold"/>
                                        <p:tgtEl>
                                          <p:spTgt spid="80"/>
                                        </p:tgtEl>
                                        <p:attrNameLst>
                                          <p:attrName>ppt_w</p:attrName>
                                        </p:attrNameLst>
                                      </p:cBhvr>
                                      <p:tavLst>
                                        <p:tav tm="0">
                                          <p:val>
                                            <p:strVal val="#ppt_w+.3"/>
                                          </p:val>
                                        </p:tav>
                                        <p:tav tm="100000">
                                          <p:val>
                                            <p:strVal val="#ppt_w"/>
                                          </p:val>
                                        </p:tav>
                                      </p:tavLst>
                                    </p:anim>
                                    <p:anim calcmode="lin" valueType="num">
                                      <p:cBhvr>
                                        <p:cTn id="33" dur="1000" fill="hold"/>
                                        <p:tgtEl>
                                          <p:spTgt spid="80"/>
                                        </p:tgtEl>
                                        <p:attrNameLst>
                                          <p:attrName>ppt_h</p:attrName>
                                        </p:attrNameLst>
                                      </p:cBhvr>
                                      <p:tavLst>
                                        <p:tav tm="0">
                                          <p:val>
                                            <p:strVal val="#ppt_h"/>
                                          </p:val>
                                        </p:tav>
                                        <p:tav tm="100000">
                                          <p:val>
                                            <p:strVal val="#ppt_h"/>
                                          </p:val>
                                        </p:tav>
                                      </p:tavLst>
                                    </p:anim>
                                    <p:animEffect transition="in" filter="fade">
                                      <p:cBhvr>
                                        <p:cTn id="34" dur="1000"/>
                                        <p:tgtEl>
                                          <p:spTgt spid="80"/>
                                        </p:tgtEl>
                                      </p:cBhvr>
                                    </p:animEffect>
                                  </p:childTnLst>
                                </p:cTn>
                              </p:par>
                              <p:par>
                                <p:cTn id="35" presetID="50" presetClass="entr" presetSubtype="0" decel="100000" fill="hold" grpId="0" nodeType="withEffect">
                                  <p:stCondLst>
                                    <p:cond delay="0"/>
                                  </p:stCondLst>
                                  <p:childTnLst>
                                    <p:set>
                                      <p:cBhvr>
                                        <p:cTn id="36" dur="1" fill="hold">
                                          <p:stCondLst>
                                            <p:cond delay="0"/>
                                          </p:stCondLst>
                                        </p:cTn>
                                        <p:tgtEl>
                                          <p:spTgt spid="82"/>
                                        </p:tgtEl>
                                        <p:attrNameLst>
                                          <p:attrName>style.visibility</p:attrName>
                                        </p:attrNameLst>
                                      </p:cBhvr>
                                      <p:to>
                                        <p:strVal val="visible"/>
                                      </p:to>
                                    </p:set>
                                    <p:anim calcmode="lin" valueType="num">
                                      <p:cBhvr>
                                        <p:cTn id="37" dur="1000" fill="hold"/>
                                        <p:tgtEl>
                                          <p:spTgt spid="82"/>
                                        </p:tgtEl>
                                        <p:attrNameLst>
                                          <p:attrName>ppt_w</p:attrName>
                                        </p:attrNameLst>
                                      </p:cBhvr>
                                      <p:tavLst>
                                        <p:tav tm="0">
                                          <p:val>
                                            <p:strVal val="#ppt_w+.3"/>
                                          </p:val>
                                        </p:tav>
                                        <p:tav tm="100000">
                                          <p:val>
                                            <p:strVal val="#ppt_w"/>
                                          </p:val>
                                        </p:tav>
                                      </p:tavLst>
                                    </p:anim>
                                    <p:anim calcmode="lin" valueType="num">
                                      <p:cBhvr>
                                        <p:cTn id="38" dur="1000" fill="hold"/>
                                        <p:tgtEl>
                                          <p:spTgt spid="82"/>
                                        </p:tgtEl>
                                        <p:attrNameLst>
                                          <p:attrName>ppt_h</p:attrName>
                                        </p:attrNameLst>
                                      </p:cBhvr>
                                      <p:tavLst>
                                        <p:tav tm="0">
                                          <p:val>
                                            <p:strVal val="#ppt_h"/>
                                          </p:val>
                                        </p:tav>
                                        <p:tav tm="100000">
                                          <p:val>
                                            <p:strVal val="#ppt_h"/>
                                          </p:val>
                                        </p:tav>
                                      </p:tavLst>
                                    </p:anim>
                                    <p:animEffect transition="in" filter="fade">
                                      <p:cBhvr>
                                        <p:cTn id="39" dur="1000"/>
                                        <p:tgtEl>
                                          <p:spTgt spid="82"/>
                                        </p:tgtEl>
                                      </p:cBhvr>
                                    </p:animEffect>
                                  </p:childTnLst>
                                </p:cTn>
                              </p:par>
                              <p:par>
                                <p:cTn id="40" presetID="50" presetClass="entr" presetSubtype="0" decel="100000" fill="hold" grpId="0" nodeType="withEffect">
                                  <p:stCondLst>
                                    <p:cond delay="0"/>
                                  </p:stCondLst>
                                  <p:childTnLst>
                                    <p:set>
                                      <p:cBhvr>
                                        <p:cTn id="41" dur="1" fill="hold">
                                          <p:stCondLst>
                                            <p:cond delay="0"/>
                                          </p:stCondLst>
                                        </p:cTn>
                                        <p:tgtEl>
                                          <p:spTgt spid="83"/>
                                        </p:tgtEl>
                                        <p:attrNameLst>
                                          <p:attrName>style.visibility</p:attrName>
                                        </p:attrNameLst>
                                      </p:cBhvr>
                                      <p:to>
                                        <p:strVal val="visible"/>
                                      </p:to>
                                    </p:set>
                                    <p:anim calcmode="lin" valueType="num">
                                      <p:cBhvr>
                                        <p:cTn id="42" dur="1000" fill="hold"/>
                                        <p:tgtEl>
                                          <p:spTgt spid="83"/>
                                        </p:tgtEl>
                                        <p:attrNameLst>
                                          <p:attrName>ppt_w</p:attrName>
                                        </p:attrNameLst>
                                      </p:cBhvr>
                                      <p:tavLst>
                                        <p:tav tm="0">
                                          <p:val>
                                            <p:strVal val="#ppt_w+.3"/>
                                          </p:val>
                                        </p:tav>
                                        <p:tav tm="100000">
                                          <p:val>
                                            <p:strVal val="#ppt_w"/>
                                          </p:val>
                                        </p:tav>
                                      </p:tavLst>
                                    </p:anim>
                                    <p:anim calcmode="lin" valueType="num">
                                      <p:cBhvr>
                                        <p:cTn id="43" dur="1000" fill="hold"/>
                                        <p:tgtEl>
                                          <p:spTgt spid="83"/>
                                        </p:tgtEl>
                                        <p:attrNameLst>
                                          <p:attrName>ppt_h</p:attrName>
                                        </p:attrNameLst>
                                      </p:cBhvr>
                                      <p:tavLst>
                                        <p:tav tm="0">
                                          <p:val>
                                            <p:strVal val="#ppt_h"/>
                                          </p:val>
                                        </p:tav>
                                        <p:tav tm="100000">
                                          <p:val>
                                            <p:strVal val="#ppt_h"/>
                                          </p:val>
                                        </p:tav>
                                      </p:tavLst>
                                    </p:anim>
                                    <p:animEffect transition="in" filter="fade">
                                      <p:cBhvr>
                                        <p:cTn id="44" dur="1000"/>
                                        <p:tgtEl>
                                          <p:spTgt spid="83"/>
                                        </p:tgtEl>
                                      </p:cBhvr>
                                    </p:animEffect>
                                  </p:childTnLst>
                                </p:cTn>
                              </p:par>
                              <p:par>
                                <p:cTn id="45" presetID="50" presetClass="entr" presetSubtype="0" decel="100000" fill="hold" grpId="0" nodeType="withEffect">
                                  <p:stCondLst>
                                    <p:cond delay="0"/>
                                  </p:stCondLst>
                                  <p:childTnLst>
                                    <p:set>
                                      <p:cBhvr>
                                        <p:cTn id="46" dur="1" fill="hold">
                                          <p:stCondLst>
                                            <p:cond delay="0"/>
                                          </p:stCondLst>
                                        </p:cTn>
                                        <p:tgtEl>
                                          <p:spTgt spid="84"/>
                                        </p:tgtEl>
                                        <p:attrNameLst>
                                          <p:attrName>style.visibility</p:attrName>
                                        </p:attrNameLst>
                                      </p:cBhvr>
                                      <p:to>
                                        <p:strVal val="visible"/>
                                      </p:to>
                                    </p:set>
                                    <p:anim calcmode="lin" valueType="num">
                                      <p:cBhvr>
                                        <p:cTn id="47" dur="1000" fill="hold"/>
                                        <p:tgtEl>
                                          <p:spTgt spid="84"/>
                                        </p:tgtEl>
                                        <p:attrNameLst>
                                          <p:attrName>ppt_w</p:attrName>
                                        </p:attrNameLst>
                                      </p:cBhvr>
                                      <p:tavLst>
                                        <p:tav tm="0">
                                          <p:val>
                                            <p:strVal val="#ppt_w+.3"/>
                                          </p:val>
                                        </p:tav>
                                        <p:tav tm="100000">
                                          <p:val>
                                            <p:strVal val="#ppt_w"/>
                                          </p:val>
                                        </p:tav>
                                      </p:tavLst>
                                    </p:anim>
                                    <p:anim calcmode="lin" valueType="num">
                                      <p:cBhvr>
                                        <p:cTn id="48" dur="1000" fill="hold"/>
                                        <p:tgtEl>
                                          <p:spTgt spid="84"/>
                                        </p:tgtEl>
                                        <p:attrNameLst>
                                          <p:attrName>ppt_h</p:attrName>
                                        </p:attrNameLst>
                                      </p:cBhvr>
                                      <p:tavLst>
                                        <p:tav tm="0">
                                          <p:val>
                                            <p:strVal val="#ppt_h"/>
                                          </p:val>
                                        </p:tav>
                                        <p:tav tm="100000">
                                          <p:val>
                                            <p:strVal val="#ppt_h"/>
                                          </p:val>
                                        </p:tav>
                                      </p:tavLst>
                                    </p:anim>
                                    <p:animEffect transition="in" filter="fade">
                                      <p:cBhvr>
                                        <p:cTn id="49" dur="1000"/>
                                        <p:tgtEl>
                                          <p:spTgt spid="84"/>
                                        </p:tgtEl>
                                      </p:cBhvr>
                                    </p:animEffect>
                                  </p:childTnLst>
                                </p:cTn>
                              </p:par>
                              <p:par>
                                <p:cTn id="50" presetID="37" presetClass="entr" presetSubtype="0" fill="hold" grpId="0" nodeType="withEffect">
                                  <p:stCondLst>
                                    <p:cond delay="0"/>
                                  </p:stCondLst>
                                  <p:childTnLst>
                                    <p:set>
                                      <p:cBhvr>
                                        <p:cTn id="51" dur="1" fill="hold">
                                          <p:stCondLst>
                                            <p:cond delay="0"/>
                                          </p:stCondLst>
                                        </p:cTn>
                                        <p:tgtEl>
                                          <p:spTgt spid="92"/>
                                        </p:tgtEl>
                                        <p:attrNameLst>
                                          <p:attrName>style.visibility</p:attrName>
                                        </p:attrNameLst>
                                      </p:cBhvr>
                                      <p:to>
                                        <p:strVal val="visible"/>
                                      </p:to>
                                    </p:set>
                                    <p:animEffect transition="in" filter="fade">
                                      <p:cBhvr>
                                        <p:cTn id="52" dur="1000"/>
                                        <p:tgtEl>
                                          <p:spTgt spid="92"/>
                                        </p:tgtEl>
                                      </p:cBhvr>
                                    </p:animEffect>
                                    <p:anim calcmode="lin" valueType="num">
                                      <p:cBhvr>
                                        <p:cTn id="53" dur="1000" fill="hold"/>
                                        <p:tgtEl>
                                          <p:spTgt spid="92"/>
                                        </p:tgtEl>
                                        <p:attrNameLst>
                                          <p:attrName>ppt_x</p:attrName>
                                        </p:attrNameLst>
                                      </p:cBhvr>
                                      <p:tavLst>
                                        <p:tav tm="0">
                                          <p:val>
                                            <p:strVal val="#ppt_x"/>
                                          </p:val>
                                        </p:tav>
                                        <p:tav tm="100000">
                                          <p:val>
                                            <p:strVal val="#ppt_x"/>
                                          </p:val>
                                        </p:tav>
                                      </p:tavLst>
                                    </p:anim>
                                    <p:anim calcmode="lin" valueType="num">
                                      <p:cBhvr>
                                        <p:cTn id="54" dur="900" decel="100000" fill="hold"/>
                                        <p:tgtEl>
                                          <p:spTgt spid="92"/>
                                        </p:tgtEl>
                                        <p:attrNameLst>
                                          <p:attrName>ppt_y</p:attrName>
                                        </p:attrNameLst>
                                      </p:cBhvr>
                                      <p:tavLst>
                                        <p:tav tm="0">
                                          <p:val>
                                            <p:strVal val="#ppt_y+1"/>
                                          </p:val>
                                        </p:tav>
                                        <p:tav tm="100000">
                                          <p:val>
                                            <p:strVal val="#ppt_y-.03"/>
                                          </p:val>
                                        </p:tav>
                                      </p:tavLst>
                                    </p:anim>
                                    <p:anim calcmode="lin" valueType="num">
                                      <p:cBhvr>
                                        <p:cTn id="55" dur="100" accel="100000" fill="hold">
                                          <p:stCondLst>
                                            <p:cond delay="900"/>
                                          </p:stCondLst>
                                        </p:cTn>
                                        <p:tgtEl>
                                          <p:spTgt spid="92"/>
                                        </p:tgtEl>
                                        <p:attrNameLst>
                                          <p:attrName>ppt_y</p:attrName>
                                        </p:attrNameLst>
                                      </p:cBhvr>
                                      <p:tavLst>
                                        <p:tav tm="0">
                                          <p:val>
                                            <p:strVal val="#ppt_y-.03"/>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90"/>
                                        </p:tgtEl>
                                        <p:attrNameLst>
                                          <p:attrName>style.visibility</p:attrName>
                                        </p:attrNameLst>
                                      </p:cBhvr>
                                      <p:to>
                                        <p:strVal val="visible"/>
                                      </p:to>
                                    </p:set>
                                    <p:animEffect transition="in" filter="wipe(left)">
                                      <p:cBhvr>
                                        <p:cTn id="60"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5" grpId="0" animBg="1"/>
      <p:bldP spid="77" grpId="0" animBg="1"/>
      <p:bldP spid="80" grpId="0"/>
      <p:bldP spid="82" grpId="0"/>
      <p:bldP spid="83" grpId="0"/>
      <p:bldP spid="84" grpId="0"/>
      <p:bldP spid="90" grpId="0"/>
      <p:bldP spid="9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C167A-B66F-4BA2-EF79-702C91BAB73B}"/>
            </a:ext>
          </a:extLst>
        </p:cNvPr>
        <p:cNvGrpSpPr/>
        <p:nvPr/>
      </p:nvGrpSpPr>
      <p:grpSpPr>
        <a:xfrm>
          <a:off x="0" y="0"/>
          <a:ext cx="0" cy="0"/>
          <a:chOff x="0" y="0"/>
          <a:chExt cx="0" cy="0"/>
        </a:xfrm>
      </p:grpSpPr>
      <p:sp>
        <p:nvSpPr>
          <p:cNvPr id="60" name="文本占位符 59">
            <a:extLst>
              <a:ext uri="{FF2B5EF4-FFF2-40B4-BE49-F238E27FC236}">
                <a16:creationId xmlns:a16="http://schemas.microsoft.com/office/drawing/2014/main" id="{594CF9EC-335F-174B-C89F-B0DAC6491424}"/>
              </a:ext>
            </a:extLst>
          </p:cNvPr>
          <p:cNvSpPr>
            <a:spLocks noGrp="1"/>
          </p:cNvSpPr>
          <p:nvPr>
            <p:ph type="body" sz="quarter" idx="10"/>
          </p:nvPr>
        </p:nvSpPr>
        <p:spPr>
          <a:xfrm>
            <a:off x="3839978" y="1780078"/>
            <a:ext cx="7402227" cy="3962399"/>
          </a:xfrm>
        </p:spPr>
        <p:txBody>
          <a:bodyPr/>
          <a:lstStyle/>
          <a:p>
            <a:r>
              <a:rPr lang="en-US" altLang="zh-CN" dirty="0">
                <a:solidFill>
                  <a:schemeClr val="tx1">
                    <a:lumMod val="75000"/>
                  </a:schemeClr>
                </a:solidFill>
              </a:rPr>
              <a:t>HashSet</a:t>
            </a:r>
            <a:r>
              <a:rPr lang="zh-CN" altLang="en-US" dirty="0">
                <a:solidFill>
                  <a:schemeClr val="tx1">
                    <a:lumMod val="75000"/>
                  </a:schemeClr>
                </a:solidFill>
              </a:rPr>
              <a:t>集合的底层原理是什么样的</a:t>
            </a:r>
            <a:r>
              <a:rPr lang="en-US" altLang="zh-CN" dirty="0">
                <a:solidFill>
                  <a:schemeClr val="tx1">
                    <a:lumMod val="75000"/>
                  </a:schemeClr>
                </a:solidFill>
              </a:rPr>
              <a:t>? </a:t>
            </a:r>
          </a:p>
          <a:p>
            <a:pPr marL="624393" lvl="1" indent="-357708">
              <a:lnSpc>
                <a:spcPct val="200000"/>
              </a:lnSpc>
              <a:buFont typeface="Wingdings" pitchFamily="2" charset="2"/>
              <a:buChar char="l"/>
              <a:defRPr/>
            </a:pPr>
            <a:r>
              <a:rPr lang="zh-CN" altLang="en-US" sz="16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基于哈希表实现的。</a:t>
            </a:r>
            <a:endParaRPr lang="en-US" altLang="zh-CN" sz="16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624393" lvl="1" indent="-357708">
              <a:lnSpc>
                <a:spcPct val="200000"/>
              </a:lnSpc>
              <a:buFont typeface="Wingdings" pitchFamily="2" charset="2"/>
              <a:buChar char="l"/>
              <a:defRPr/>
            </a:pPr>
            <a:r>
              <a:rPr lang="en-US" altLang="zh-CN" sz="16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6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之前的，哈希表：底层使用</a:t>
            </a:r>
            <a:r>
              <a:rPr lang="zh-CN" altLang="en-US" sz="1600" b="1" dirty="0">
                <a:solidFill>
                  <a:srgbClr val="AD2B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a:t>
            </a:r>
            <a:r>
              <a:rPr lang="en-US" altLang="zh-CN" sz="1600" b="1" dirty="0">
                <a:solidFill>
                  <a:srgbClr val="AD2B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b="1" dirty="0">
                <a:solidFill>
                  <a:srgbClr val="AD2B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链表</a:t>
            </a:r>
            <a:r>
              <a:rPr lang="zh-CN" altLang="en-US" sz="16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组成</a:t>
            </a:r>
            <a:endParaRPr lang="en-US" altLang="zh-CN" sz="16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624393" lvl="1" indent="-357708">
              <a:lnSpc>
                <a:spcPct val="200000"/>
              </a:lnSpc>
              <a:buFont typeface="Wingdings" pitchFamily="2" charset="2"/>
              <a:buChar char="l"/>
              <a:defRPr/>
            </a:pPr>
            <a:r>
              <a:rPr lang="en-US" altLang="zh-CN" sz="16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6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开始后，哈希表：底层采用</a:t>
            </a:r>
            <a:r>
              <a:rPr lang="zh-CN" altLang="en-US" sz="1600" b="1" dirty="0">
                <a:solidFill>
                  <a:srgbClr val="AD2B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a:t>
            </a:r>
            <a:r>
              <a:rPr lang="en-US" altLang="zh-CN" sz="1600" b="1" dirty="0">
                <a:solidFill>
                  <a:srgbClr val="AD2B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b="1" dirty="0">
                <a:solidFill>
                  <a:srgbClr val="AD2B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链表</a:t>
            </a:r>
            <a:r>
              <a:rPr lang="en-US" altLang="zh-CN" sz="1600" b="1" dirty="0">
                <a:solidFill>
                  <a:srgbClr val="AD2B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b="1" dirty="0">
                <a:solidFill>
                  <a:srgbClr val="AD2B2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红黑树</a:t>
            </a:r>
            <a:r>
              <a:rPr lang="zh-CN" altLang="en-US" sz="16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组成。</a:t>
            </a:r>
            <a:endParaRPr lang="en-US" altLang="zh-CN" sz="16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0" indent="0">
              <a:lnSpc>
                <a:spcPct val="150000"/>
              </a:lnSpc>
              <a:buNone/>
            </a:pPr>
            <a:r>
              <a:rPr lang="zh-CN" altLang="en-US" dirty="0">
                <a:solidFill>
                  <a:schemeClr val="tx1">
                    <a:lumMod val="75000"/>
                  </a:schemeClr>
                </a:solidFill>
                <a:latin typeface="Alibaba PuHuiTi R"/>
              </a:rPr>
              <a:t> 哈希表存储数据的详细流程</a:t>
            </a:r>
            <a:endParaRPr lang="en-US" altLang="zh-CN" dirty="0">
              <a:solidFill>
                <a:schemeClr val="tx1">
                  <a:lumMod val="75000"/>
                </a:schemeClr>
              </a:solidFill>
              <a:latin typeface="Alibaba PuHuiTi R"/>
            </a:endParaRPr>
          </a:p>
          <a:p>
            <a:pPr lvl="1">
              <a:lnSpc>
                <a:spcPct val="200000"/>
              </a:lnSpc>
              <a:buFont typeface="+mj-ea"/>
              <a:buAutoNum type="circleNumDbPlain"/>
              <a:defRPr/>
            </a:pPr>
            <a:r>
              <a:rPr lang="zh-CN" altLang="en-US" sz="1600" b="1" dirty="0">
                <a:solidFill>
                  <a:schemeClr val="tx1">
                    <a:lumMod val="75000"/>
                  </a:schemeClr>
                </a:solidFill>
                <a:latin typeface="Alibaba PuHuiTi R"/>
                <a:ea typeface="微软雅黑" pitchFamily="34" charset="-122"/>
              </a:rPr>
              <a:t> </a:t>
            </a:r>
            <a:r>
              <a:rPr lang="zh-CN" altLang="en-US"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创建一个默认长度</a:t>
            </a:r>
            <a:r>
              <a:rPr lang="en-US" altLang="zh-CN"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16</a:t>
            </a:r>
            <a:r>
              <a:rPr lang="zh-CN" altLang="en-US"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，默认加载因子为</a:t>
            </a:r>
            <a:r>
              <a:rPr lang="en-US" altLang="zh-CN"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0.75</a:t>
            </a:r>
            <a:r>
              <a:rPr lang="zh-CN" altLang="en-US"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的数组，数组名</a:t>
            </a:r>
            <a:r>
              <a:rPr lang="en-US" altLang="zh-CN"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table</a:t>
            </a:r>
          </a:p>
          <a:p>
            <a:pPr lvl="1">
              <a:lnSpc>
                <a:spcPct val="200000"/>
              </a:lnSpc>
              <a:buFont typeface="+mj-ea"/>
              <a:buAutoNum type="circleNumDbPlain"/>
              <a:defRPr/>
            </a:pPr>
            <a:r>
              <a:rPr lang="zh-CN" altLang="en-US"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根据元素的哈希值跟数组的长度计算出应存入的位置</a:t>
            </a:r>
            <a:endParaRPr lang="en-US" altLang="zh-CN"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lvl="1">
              <a:lnSpc>
                <a:spcPct val="200000"/>
              </a:lnSpc>
              <a:buFont typeface="+mj-ea"/>
              <a:buAutoNum type="circleNumDbPlain"/>
              <a:defRPr/>
            </a:pPr>
            <a:r>
              <a:rPr lang="zh-CN" altLang="en-US"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判断当前位置是否为</a:t>
            </a:r>
            <a:r>
              <a:rPr lang="en-US" altLang="zh-CN"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r>
              <a:rPr lang="zh-CN" altLang="en-US"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，如果是</a:t>
            </a:r>
            <a:r>
              <a:rPr lang="en-US" altLang="zh-CN"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r>
              <a:rPr lang="zh-CN" altLang="en-US"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直接存入，如果位置不为</a:t>
            </a:r>
            <a:r>
              <a:rPr lang="en-US" altLang="zh-CN"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r>
              <a:rPr lang="zh-CN" altLang="en-US"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，表示有元素，</a:t>
            </a:r>
            <a:r>
              <a:rPr lang="en-US" altLang="zh-CN"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则调用</a:t>
            </a:r>
            <a:r>
              <a:rPr lang="en-US" altLang="zh-CN"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equals</a:t>
            </a:r>
            <a:r>
              <a:rPr lang="zh-CN" altLang="en-US"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方法比较，如果一样，则不存，如果不一样，则存入数组。</a:t>
            </a:r>
            <a:endParaRPr lang="en-US" altLang="zh-CN"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lvl="1">
              <a:lnSpc>
                <a:spcPct val="200000"/>
              </a:lnSpc>
              <a:buFont typeface="+mj-ea"/>
              <a:buAutoNum type="circleNumDbPlain"/>
              <a:defRPr/>
            </a:pPr>
            <a:r>
              <a:rPr lang="zh-CN" altLang="en-US"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当数组存满到</a:t>
            </a:r>
            <a:r>
              <a:rPr lang="en-US" altLang="zh-CN"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16*0.75=12</a:t>
            </a:r>
            <a:r>
              <a:rPr lang="zh-CN" altLang="en-US" sz="1400" b="1" dirty="0">
                <a:solidFill>
                  <a:schemeClr val="tx1">
                    <a:lumMod val="7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时，就自动扩容，每次扩容成原先的两倍</a:t>
            </a:r>
            <a:endParaRPr lang="en-US" altLang="zh-CN" dirty="0">
              <a:solidFill>
                <a:schemeClr val="tx1">
                  <a:lumMod val="75000"/>
                </a:schemeClr>
              </a:solidFill>
            </a:endParaRPr>
          </a:p>
          <a:p>
            <a:pPr marL="0" indent="0">
              <a:buNone/>
            </a:pPr>
            <a:endParaRPr lang="en-US" altLang="zh-CN" dirty="0">
              <a:solidFill>
                <a:schemeClr val="tx1">
                  <a:lumMod val="75000"/>
                </a:schemeClr>
              </a:solidFill>
            </a:endParaRPr>
          </a:p>
        </p:txBody>
      </p:sp>
    </p:spTree>
    <p:extLst>
      <p:ext uri="{BB962C8B-B14F-4D97-AF65-F5344CB8AC3E}">
        <p14:creationId xmlns:p14="http://schemas.microsoft.com/office/powerpoint/2010/main" val="988858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1D62072-656F-54B0-0BF2-C5E4D43FF13A}"/>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8C251FB3-B96D-F62C-B11F-FDA665D84DCD}"/>
              </a:ext>
            </a:extLst>
          </p:cNvPr>
          <p:cNvSpPr>
            <a:spLocks noGrp="1"/>
          </p:cNvSpPr>
          <p:nvPr>
            <p:ph type="body" sz="quarter" idx="10"/>
          </p:nvPr>
        </p:nvSpPr>
        <p:spPr>
          <a:xfrm>
            <a:off x="5982521" y="2505975"/>
            <a:ext cx="4410730" cy="1956553"/>
          </a:xfrm>
        </p:spPr>
        <p:txBody>
          <a:bodyPr/>
          <a:lstStyle/>
          <a:p>
            <a:r>
              <a:rPr kumimoji="1" lang="en-US" altLang="zh-CN" dirty="0">
                <a:latin typeface="Consolas" panose="020B0609020204030204" pitchFamily="49" charset="0"/>
              </a:rPr>
              <a:t>Set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TreeSet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HashSet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LinkedHashSet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Collections </a:t>
            </a:r>
            <a:r>
              <a:rPr kumimoji="1" lang="zh-CN" altLang="en-US" dirty="0">
                <a:latin typeface="Consolas" panose="020B0609020204030204" pitchFamily="49" charset="0"/>
              </a:rPr>
              <a:t>工具类</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集合三种遍历方式</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集合的实现类</a:t>
            </a:r>
            <a:endParaRPr kumimoji="1" lang="en-US" altLang="zh-CN" dirty="0">
              <a:latin typeface="Consolas" panose="020B0609020204030204" pitchFamily="49" charset="0"/>
            </a:endParaRPr>
          </a:p>
        </p:txBody>
      </p:sp>
    </p:spTree>
    <p:extLst>
      <p:ext uri="{BB962C8B-B14F-4D97-AF65-F5344CB8AC3E}">
        <p14:creationId xmlns:p14="http://schemas.microsoft.com/office/powerpoint/2010/main" val="270185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85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stCondLst>
                                            <p:cond delay="0"/>
                                          </p:stCondLst>
                                        </p:cTn>
                                        <p:tgtEl>
                                          <p:spTgt spid="2"/>
                                        </p:tgtEl>
                                      </p:cBhvr>
                                    </p:animEffect>
                                    <p:anim to="0" calcmode="lin" valueType="num">
                                      <p:cBhvr>
                                        <p:cTn id="8" dur="500" fill="hold">
                                          <p:stCondLst>
                                            <p:cond delay="0"/>
                                          </p:stCondLst>
                                        </p:cTn>
                                        <p:tgtEl>
                                          <p:spTgt spid="2"/>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8BAEE-DFDF-2A00-2B28-885A334AB5DC}"/>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15CD8370-75B5-78F0-9326-E7887F6ED426}"/>
              </a:ext>
            </a:extLst>
          </p:cNvPr>
          <p:cNvSpPr>
            <a:spLocks noGrp="1"/>
          </p:cNvSpPr>
          <p:nvPr>
            <p:ph type="body" sz="quarter" idx="13"/>
          </p:nvPr>
        </p:nvSpPr>
        <p:spPr>
          <a:xfrm>
            <a:off x="5834080" y="2465278"/>
            <a:ext cx="5505768" cy="901700"/>
          </a:xfrm>
        </p:spPr>
        <p:txBody>
          <a:bodyPr/>
          <a:lstStyle/>
          <a:p>
            <a:r>
              <a:rPr lang="en-US" altLang="zh-CN" dirty="0" err="1"/>
              <a:t>LinkedHashSet</a:t>
            </a:r>
            <a:r>
              <a:rPr lang="en-US" altLang="zh-CN" dirty="0"/>
              <a:t> </a:t>
            </a:r>
            <a:r>
              <a:rPr lang="zh-CN" altLang="en-US" dirty="0"/>
              <a:t>集合介绍</a:t>
            </a:r>
          </a:p>
        </p:txBody>
      </p:sp>
      <p:sp>
        <p:nvSpPr>
          <p:cNvPr id="10" name="文本占位符 9">
            <a:extLst>
              <a:ext uri="{FF2B5EF4-FFF2-40B4-BE49-F238E27FC236}">
                <a16:creationId xmlns:a16="http://schemas.microsoft.com/office/drawing/2014/main" id="{056915A1-0EC6-B4FD-0265-075315CB3388}"/>
              </a:ext>
            </a:extLst>
          </p:cNvPr>
          <p:cNvSpPr>
            <a:spLocks noGrp="1"/>
          </p:cNvSpPr>
          <p:nvPr>
            <p:ph type="body" sz="quarter" idx="14"/>
          </p:nvPr>
        </p:nvSpPr>
        <p:spPr/>
        <p:txBody>
          <a:bodyPr/>
          <a:lstStyle/>
          <a:p>
            <a:r>
              <a:rPr lang="en-US" altLang="zh-CN" dirty="0"/>
              <a:t>4</a:t>
            </a:r>
            <a:endParaRPr lang="zh-CN" altLang="en-US" dirty="0"/>
          </a:p>
        </p:txBody>
      </p:sp>
    </p:spTree>
    <p:extLst>
      <p:ext uri="{BB962C8B-B14F-4D97-AF65-F5344CB8AC3E}">
        <p14:creationId xmlns:p14="http://schemas.microsoft.com/office/powerpoint/2010/main" val="148995295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nkedHashSet">
            <a:extLst>
              <a:ext uri="{FF2B5EF4-FFF2-40B4-BE49-F238E27FC236}">
                <a16:creationId xmlns:a16="http://schemas.microsoft.com/office/drawing/2014/main" id="{2E4DDC11-17C5-7133-DEB2-F1CF5EE01F38}"/>
              </a:ext>
            </a:extLst>
          </p:cNvPr>
          <p:cNvSpPr>
            <a:spLocks noGrp="1"/>
          </p:cNvSpPr>
          <p:nvPr>
            <p:ph type="title"/>
          </p:nvPr>
        </p:nvSpPr>
        <p:spPr/>
        <p:txBody>
          <a:bodyPr/>
          <a:lstStyle/>
          <a:p>
            <a:r>
              <a:rPr lang="en-US" altLang="zh-CN" dirty="0" err="1"/>
              <a:t>LinkedHashSet</a:t>
            </a:r>
            <a:r>
              <a:rPr lang="zh-CN" altLang="en-US" dirty="0"/>
              <a:t>的底层原理</a:t>
            </a:r>
            <a:endParaRPr lang="en-US" altLang="zh-CN" dirty="0"/>
          </a:p>
        </p:txBody>
      </p:sp>
      <p:cxnSp>
        <p:nvCxnSpPr>
          <p:cNvPr id="4" name="直接箭头连接符 3">
            <a:extLst>
              <a:ext uri="{FF2B5EF4-FFF2-40B4-BE49-F238E27FC236}">
                <a16:creationId xmlns:a16="http://schemas.microsoft.com/office/drawing/2014/main" id="{FE30357E-8557-D0C9-072A-285B1127D7DD}"/>
              </a:ext>
            </a:extLst>
          </p:cNvPr>
          <p:cNvCxnSpPr/>
          <p:nvPr/>
        </p:nvCxnSpPr>
        <p:spPr>
          <a:xfrm>
            <a:off x="3501537" y="5081491"/>
            <a:ext cx="0" cy="974925"/>
          </a:xfrm>
          <a:prstGeom prst="straightConnector1">
            <a:avLst/>
          </a:prstGeom>
          <a:ln w="25400">
            <a:solidFill>
              <a:srgbClr val="0070C0"/>
            </a:solidFill>
            <a:tailEnd type="triangle"/>
          </a:ln>
        </p:spPr>
        <p:style>
          <a:lnRef idx="3">
            <a:schemeClr val="accent1"/>
          </a:lnRef>
          <a:fillRef idx="0">
            <a:schemeClr val="accent1"/>
          </a:fillRef>
          <a:effectRef idx="2">
            <a:schemeClr val="accent1"/>
          </a:effectRef>
          <a:fontRef idx="minor">
            <a:schemeClr val="tx1"/>
          </a:fontRef>
        </p:style>
      </p:cxnSp>
      <p:cxnSp>
        <p:nvCxnSpPr>
          <p:cNvPr id="50" name="直接箭头连接符 49">
            <a:extLst>
              <a:ext uri="{FF2B5EF4-FFF2-40B4-BE49-F238E27FC236}">
                <a16:creationId xmlns:a16="http://schemas.microsoft.com/office/drawing/2014/main" id="{D592A5DF-FB97-8A50-7569-25A531CA4422}"/>
              </a:ext>
            </a:extLst>
          </p:cNvPr>
          <p:cNvCxnSpPr>
            <a:cxnSpLocks/>
          </p:cNvCxnSpPr>
          <p:nvPr/>
        </p:nvCxnSpPr>
        <p:spPr>
          <a:xfrm flipH="1" flipV="1">
            <a:off x="3786718" y="4613404"/>
            <a:ext cx="2898108" cy="13855"/>
          </a:xfrm>
          <a:prstGeom prst="straightConnector1">
            <a:avLst/>
          </a:prstGeom>
          <a:ln w="25400">
            <a:solidFill>
              <a:srgbClr val="AD2B26"/>
            </a:solidFill>
            <a:tailEnd type="triangle"/>
          </a:ln>
        </p:spPr>
        <p:style>
          <a:lnRef idx="3">
            <a:schemeClr val="accent2"/>
          </a:lnRef>
          <a:fillRef idx="0">
            <a:schemeClr val="accent2"/>
          </a:fillRef>
          <a:effectRef idx="2">
            <a:schemeClr val="accent2"/>
          </a:effectRef>
          <a:fontRef idx="minor">
            <a:schemeClr val="tx1"/>
          </a:fontRef>
        </p:style>
      </p:cxnSp>
      <p:cxnSp>
        <p:nvCxnSpPr>
          <p:cNvPr id="74" name="直接箭头连接符 73">
            <a:extLst>
              <a:ext uri="{FF2B5EF4-FFF2-40B4-BE49-F238E27FC236}">
                <a16:creationId xmlns:a16="http://schemas.microsoft.com/office/drawing/2014/main" id="{6FF142A0-976E-BB35-78C9-198492D2F4DB}"/>
              </a:ext>
            </a:extLst>
          </p:cNvPr>
          <p:cNvCxnSpPr>
            <a:cxnSpLocks/>
          </p:cNvCxnSpPr>
          <p:nvPr/>
        </p:nvCxnSpPr>
        <p:spPr>
          <a:xfrm>
            <a:off x="3832790" y="4882309"/>
            <a:ext cx="2824240" cy="9311"/>
          </a:xfrm>
          <a:prstGeom prst="straightConnector1">
            <a:avLst/>
          </a:prstGeom>
          <a:ln w="25400">
            <a:solidFill>
              <a:srgbClr val="AD2B26"/>
            </a:solidFill>
            <a:tailEnd type="triangle"/>
          </a:ln>
        </p:spPr>
        <p:style>
          <a:lnRef idx="3">
            <a:schemeClr val="accent2"/>
          </a:lnRef>
          <a:fillRef idx="0">
            <a:schemeClr val="accent2"/>
          </a:fillRef>
          <a:effectRef idx="2">
            <a:schemeClr val="accent2"/>
          </a:effectRef>
          <a:fontRef idx="minor">
            <a:schemeClr val="tx1"/>
          </a:fontRef>
        </p:style>
      </p:cxnSp>
      <p:sp>
        <p:nvSpPr>
          <p:cNvPr id="75" name="TextBox 10">
            <a:extLst>
              <a:ext uri="{FF2B5EF4-FFF2-40B4-BE49-F238E27FC236}">
                <a16:creationId xmlns:a16="http://schemas.microsoft.com/office/drawing/2014/main" id="{7923804C-E411-4139-E1CD-25D9278CE932}"/>
              </a:ext>
            </a:extLst>
          </p:cNvPr>
          <p:cNvSpPr txBox="1"/>
          <p:nvPr/>
        </p:nvSpPr>
        <p:spPr>
          <a:xfrm>
            <a:off x="576196" y="957735"/>
            <a:ext cx="8301740" cy="1504323"/>
          </a:xfrm>
          <a:prstGeom prst="rect">
            <a:avLst/>
          </a:prstGeom>
          <a:noFill/>
        </p:spPr>
        <p:txBody>
          <a:bodyPr wrap="square">
            <a:spAutoFit/>
          </a:bodyPr>
          <a:lstStyle/>
          <a:p>
            <a:pPr marL="285750" indent="-285750">
              <a:lnSpc>
                <a:spcPct val="200000"/>
              </a:lnSpc>
              <a:buFont typeface="Wingdings" panose="05000000000000000000" pitchFamily="2" charset="2"/>
              <a:buChar char="l"/>
              <a:defRPr/>
            </a:pPr>
            <a:r>
              <a:rPr lang="zh-CN" altLang="en-US"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依然是基于哈希表</a:t>
            </a:r>
            <a:r>
              <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数组、链表、红黑树</a:t>
            </a:r>
            <a:r>
              <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实现的。</a:t>
            </a:r>
            <a:endParaRPr lang="en-US" altLang="zh-CN"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indent="-285750">
              <a:lnSpc>
                <a:spcPct val="200000"/>
              </a:lnSpc>
              <a:buFont typeface="Wingdings" panose="05000000000000000000" pitchFamily="2" charset="2"/>
              <a:buChar char="l"/>
              <a:defRPr/>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但是，它的每个元素都额外的多了一个双链表的机制记录它前后元素的位置。</a:t>
            </a:r>
            <a:endPar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200000"/>
              </a:lnSpc>
              <a:defRPr/>
            </a:pPr>
            <a:endPar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6" name="矩形 75">
            <a:extLst>
              <a:ext uri="{FF2B5EF4-FFF2-40B4-BE49-F238E27FC236}">
                <a16:creationId xmlns:a16="http://schemas.microsoft.com/office/drawing/2014/main" id="{A09D1D76-98D6-AA04-83E5-D6C5071E22F1}"/>
              </a:ext>
            </a:extLst>
          </p:cNvPr>
          <p:cNvSpPr/>
          <p:nvPr/>
        </p:nvSpPr>
        <p:spPr>
          <a:xfrm>
            <a:off x="3354185" y="5077258"/>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3</a:t>
            </a:r>
            <a:endParaRPr lang="zh-CN" altLang="en-US" sz="1600" dirty="0">
              <a:ea typeface="Alibaba PuHuiTi R"/>
            </a:endParaRPr>
          </a:p>
        </p:txBody>
      </p:sp>
      <p:cxnSp>
        <p:nvCxnSpPr>
          <p:cNvPr id="77" name="直接箭头连接符 76">
            <a:extLst>
              <a:ext uri="{FF2B5EF4-FFF2-40B4-BE49-F238E27FC236}">
                <a16:creationId xmlns:a16="http://schemas.microsoft.com/office/drawing/2014/main" id="{56AC80B4-2670-1DB8-F3D9-54025422C5C3}"/>
              </a:ext>
            </a:extLst>
          </p:cNvPr>
          <p:cNvCxnSpPr>
            <a:cxnSpLocks/>
          </p:cNvCxnSpPr>
          <p:nvPr/>
        </p:nvCxnSpPr>
        <p:spPr>
          <a:xfrm>
            <a:off x="6912347" y="3592286"/>
            <a:ext cx="0" cy="811871"/>
          </a:xfrm>
          <a:prstGeom prst="straightConnector1">
            <a:avLst/>
          </a:prstGeom>
          <a:ln w="25400">
            <a:solidFill>
              <a:srgbClr val="AD2B26"/>
            </a:solidFill>
            <a:tailEnd type="triangle"/>
          </a:ln>
        </p:spPr>
        <p:style>
          <a:lnRef idx="3">
            <a:schemeClr val="accent2"/>
          </a:lnRef>
          <a:fillRef idx="0">
            <a:schemeClr val="accent2"/>
          </a:fillRef>
          <a:effectRef idx="2">
            <a:schemeClr val="accent2"/>
          </a:effectRef>
          <a:fontRef idx="minor">
            <a:schemeClr val="tx1"/>
          </a:fontRef>
        </p:style>
      </p:cxnSp>
      <p:cxnSp>
        <p:nvCxnSpPr>
          <p:cNvPr id="78" name="直接箭头连接符 77">
            <a:extLst>
              <a:ext uri="{FF2B5EF4-FFF2-40B4-BE49-F238E27FC236}">
                <a16:creationId xmlns:a16="http://schemas.microsoft.com/office/drawing/2014/main" id="{28B6CC65-D6AB-BC26-C040-8DE67982D341}"/>
              </a:ext>
            </a:extLst>
          </p:cNvPr>
          <p:cNvCxnSpPr>
            <a:cxnSpLocks/>
          </p:cNvCxnSpPr>
          <p:nvPr/>
        </p:nvCxnSpPr>
        <p:spPr>
          <a:xfrm>
            <a:off x="3317216" y="4758956"/>
            <a:ext cx="0" cy="1297460"/>
          </a:xfrm>
          <a:prstGeom prst="straightConnector1">
            <a:avLst/>
          </a:prstGeom>
          <a:ln w="25400">
            <a:solidFill>
              <a:srgbClr val="AD2B26"/>
            </a:solidFill>
            <a:tailEnd type="triangle"/>
          </a:ln>
        </p:spPr>
        <p:style>
          <a:lnRef idx="3">
            <a:schemeClr val="accent2"/>
          </a:lnRef>
          <a:fillRef idx="0">
            <a:schemeClr val="accent2"/>
          </a:fillRef>
          <a:effectRef idx="2">
            <a:schemeClr val="accent2"/>
          </a:effectRef>
          <a:fontRef idx="minor">
            <a:schemeClr val="tx1"/>
          </a:fontRef>
        </p:style>
      </p:cxnSp>
      <p:cxnSp>
        <p:nvCxnSpPr>
          <p:cNvPr id="79" name="直接箭头连接符 78">
            <a:extLst>
              <a:ext uri="{FF2B5EF4-FFF2-40B4-BE49-F238E27FC236}">
                <a16:creationId xmlns:a16="http://schemas.microsoft.com/office/drawing/2014/main" id="{D213104F-0267-E64C-F817-6A60C8F62299}"/>
              </a:ext>
            </a:extLst>
          </p:cNvPr>
          <p:cNvCxnSpPr>
            <a:cxnSpLocks/>
          </p:cNvCxnSpPr>
          <p:nvPr/>
        </p:nvCxnSpPr>
        <p:spPr>
          <a:xfrm flipH="1" flipV="1">
            <a:off x="1631310" y="4987724"/>
            <a:ext cx="1632354" cy="1083770"/>
          </a:xfrm>
          <a:prstGeom prst="straightConnector1">
            <a:avLst/>
          </a:prstGeom>
          <a:ln w="25400">
            <a:solidFill>
              <a:srgbClr val="AD2B26"/>
            </a:solidFill>
            <a:tailEnd type="triangle"/>
          </a:ln>
        </p:spPr>
        <p:style>
          <a:lnRef idx="3">
            <a:schemeClr val="accent2"/>
          </a:lnRef>
          <a:fillRef idx="0">
            <a:schemeClr val="accent2"/>
          </a:fillRef>
          <a:effectRef idx="2">
            <a:schemeClr val="accent2"/>
          </a:effectRef>
          <a:fontRef idx="minor">
            <a:schemeClr val="tx1"/>
          </a:fontRef>
        </p:style>
      </p:cxnSp>
      <p:cxnSp>
        <p:nvCxnSpPr>
          <p:cNvPr id="80" name="直接箭头连接符 79">
            <a:extLst>
              <a:ext uri="{FF2B5EF4-FFF2-40B4-BE49-F238E27FC236}">
                <a16:creationId xmlns:a16="http://schemas.microsoft.com/office/drawing/2014/main" id="{C8676E23-CBEE-6CFF-5788-A6D008A1E5F8}"/>
              </a:ext>
            </a:extLst>
          </p:cNvPr>
          <p:cNvCxnSpPr>
            <a:cxnSpLocks/>
          </p:cNvCxnSpPr>
          <p:nvPr/>
        </p:nvCxnSpPr>
        <p:spPr>
          <a:xfrm flipH="1" flipV="1">
            <a:off x="3702880" y="4824270"/>
            <a:ext cx="3010" cy="1166831"/>
          </a:xfrm>
          <a:prstGeom prst="straightConnector1">
            <a:avLst/>
          </a:prstGeom>
          <a:ln w="25400">
            <a:solidFill>
              <a:srgbClr val="AD2B26"/>
            </a:solidFill>
            <a:tailEnd type="triangle"/>
          </a:ln>
        </p:spPr>
        <p:style>
          <a:lnRef idx="3">
            <a:schemeClr val="accent2"/>
          </a:lnRef>
          <a:fillRef idx="0">
            <a:schemeClr val="accent2"/>
          </a:fillRef>
          <a:effectRef idx="2">
            <a:schemeClr val="accent2"/>
          </a:effectRef>
          <a:fontRef idx="minor">
            <a:schemeClr val="tx1"/>
          </a:fontRef>
        </p:style>
      </p:cxnSp>
      <p:cxnSp>
        <p:nvCxnSpPr>
          <p:cNvPr id="81" name="直接箭头连接符 80">
            <a:extLst>
              <a:ext uri="{FF2B5EF4-FFF2-40B4-BE49-F238E27FC236}">
                <a16:creationId xmlns:a16="http://schemas.microsoft.com/office/drawing/2014/main" id="{F2811C7E-04FC-92CF-B74B-C18582BB13E5}"/>
              </a:ext>
            </a:extLst>
          </p:cNvPr>
          <p:cNvCxnSpPr>
            <a:cxnSpLocks/>
          </p:cNvCxnSpPr>
          <p:nvPr/>
        </p:nvCxnSpPr>
        <p:spPr>
          <a:xfrm>
            <a:off x="1526440" y="5332394"/>
            <a:ext cx="1495411" cy="932308"/>
          </a:xfrm>
          <a:prstGeom prst="straightConnector1">
            <a:avLst/>
          </a:prstGeom>
          <a:ln w="25400">
            <a:solidFill>
              <a:srgbClr val="AD2B26"/>
            </a:solidFill>
            <a:tailEnd type="triangle"/>
          </a:ln>
        </p:spPr>
        <p:style>
          <a:lnRef idx="3">
            <a:schemeClr val="accent2"/>
          </a:lnRef>
          <a:fillRef idx="0">
            <a:schemeClr val="accent2"/>
          </a:fillRef>
          <a:effectRef idx="2">
            <a:schemeClr val="accent2"/>
          </a:effectRef>
          <a:fontRef idx="minor">
            <a:schemeClr val="tx1"/>
          </a:fontRef>
        </p:style>
      </p:cxnSp>
      <p:sp>
        <p:nvSpPr>
          <p:cNvPr id="83" name="矩形 82">
            <a:extLst>
              <a:ext uri="{FF2B5EF4-FFF2-40B4-BE49-F238E27FC236}">
                <a16:creationId xmlns:a16="http://schemas.microsoft.com/office/drawing/2014/main" id="{C7CCD07F-84F4-52E2-6497-6716A47D99EA}"/>
              </a:ext>
            </a:extLst>
          </p:cNvPr>
          <p:cNvSpPr/>
          <p:nvPr/>
        </p:nvSpPr>
        <p:spPr>
          <a:xfrm>
            <a:off x="3228065" y="4561754"/>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84" name="直接连接符 83">
            <a:extLst>
              <a:ext uri="{FF2B5EF4-FFF2-40B4-BE49-F238E27FC236}">
                <a16:creationId xmlns:a16="http://schemas.microsoft.com/office/drawing/2014/main" id="{46739E18-C1E6-23C4-25E2-A6871E4FD717}"/>
              </a:ext>
            </a:extLst>
          </p:cNvPr>
          <p:cNvCxnSpPr>
            <a:cxnSpLocks/>
          </p:cNvCxnSpPr>
          <p:nvPr/>
        </p:nvCxnSpPr>
        <p:spPr>
          <a:xfrm>
            <a:off x="1152852" y="4404157"/>
            <a:ext cx="10805583" cy="0"/>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4919D013-67EE-257F-DBE7-5E370FCF9BB0}"/>
              </a:ext>
            </a:extLst>
          </p:cNvPr>
          <p:cNvCxnSpPr>
            <a:cxnSpLocks/>
          </p:cNvCxnSpPr>
          <p:nvPr/>
        </p:nvCxnSpPr>
        <p:spPr>
          <a:xfrm>
            <a:off x="1152852" y="5075141"/>
            <a:ext cx="10805583" cy="6349"/>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id="{73918D99-0FF1-F0B4-D4E3-F5F3B22990D3}"/>
              </a:ext>
            </a:extLst>
          </p:cNvPr>
          <p:cNvSpPr/>
          <p:nvPr/>
        </p:nvSpPr>
        <p:spPr>
          <a:xfrm>
            <a:off x="1237518"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87" name="直接连接符 86">
            <a:extLst>
              <a:ext uri="{FF2B5EF4-FFF2-40B4-BE49-F238E27FC236}">
                <a16:creationId xmlns:a16="http://schemas.microsoft.com/office/drawing/2014/main" id="{F98E6AD0-8595-4FDF-E543-32C958713BBE}"/>
              </a:ext>
            </a:extLst>
          </p:cNvPr>
          <p:cNvCxnSpPr>
            <a:cxnSpLocks/>
          </p:cNvCxnSpPr>
          <p:nvPr/>
        </p:nvCxnSpPr>
        <p:spPr>
          <a:xfrm>
            <a:off x="2503284"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矩形 87">
            <a:extLst>
              <a:ext uri="{FF2B5EF4-FFF2-40B4-BE49-F238E27FC236}">
                <a16:creationId xmlns:a16="http://schemas.microsoft.com/office/drawing/2014/main" id="{74ACDD9F-92AF-C76B-9A8B-0FF4826941A0}"/>
              </a:ext>
            </a:extLst>
          </p:cNvPr>
          <p:cNvSpPr/>
          <p:nvPr/>
        </p:nvSpPr>
        <p:spPr>
          <a:xfrm>
            <a:off x="1904268"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cxnSp>
        <p:nvCxnSpPr>
          <p:cNvPr id="89" name="直接连接符 88">
            <a:extLst>
              <a:ext uri="{FF2B5EF4-FFF2-40B4-BE49-F238E27FC236}">
                <a16:creationId xmlns:a16="http://schemas.microsoft.com/office/drawing/2014/main" id="{B4BEFA10-0C8C-BF3B-6DFC-DC1931335857}"/>
              </a:ext>
            </a:extLst>
          </p:cNvPr>
          <p:cNvCxnSpPr>
            <a:cxnSpLocks/>
          </p:cNvCxnSpPr>
          <p:nvPr/>
        </p:nvCxnSpPr>
        <p:spPr>
          <a:xfrm>
            <a:off x="3174267"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166B1702-3CE4-0373-9DC8-606491948A6E}"/>
              </a:ext>
            </a:extLst>
          </p:cNvPr>
          <p:cNvCxnSpPr>
            <a:cxnSpLocks/>
          </p:cNvCxnSpPr>
          <p:nvPr/>
        </p:nvCxnSpPr>
        <p:spPr>
          <a:xfrm>
            <a:off x="5189334"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E25C3828-3858-948B-7313-CA5000CA2EBC}"/>
              </a:ext>
            </a:extLst>
          </p:cNvPr>
          <p:cNvCxnSpPr>
            <a:cxnSpLocks/>
          </p:cNvCxnSpPr>
          <p:nvPr/>
        </p:nvCxnSpPr>
        <p:spPr>
          <a:xfrm>
            <a:off x="5862434"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C6E20DFF-B0AB-1D65-762F-DF17F11BE83D}"/>
              </a:ext>
            </a:extLst>
          </p:cNvPr>
          <p:cNvCxnSpPr>
            <a:cxnSpLocks/>
          </p:cNvCxnSpPr>
          <p:nvPr/>
        </p:nvCxnSpPr>
        <p:spPr>
          <a:xfrm>
            <a:off x="6582100"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1651613D-67F6-0602-4122-5EEDD3B529E3}"/>
              </a:ext>
            </a:extLst>
          </p:cNvPr>
          <p:cNvCxnSpPr>
            <a:cxnSpLocks/>
          </p:cNvCxnSpPr>
          <p:nvPr/>
        </p:nvCxnSpPr>
        <p:spPr>
          <a:xfrm>
            <a:off x="7255200"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0FEC7BA0-285B-8FA7-C05C-6CAC6212A7EA}"/>
              </a:ext>
            </a:extLst>
          </p:cNvPr>
          <p:cNvCxnSpPr>
            <a:cxnSpLocks/>
          </p:cNvCxnSpPr>
          <p:nvPr/>
        </p:nvCxnSpPr>
        <p:spPr>
          <a:xfrm>
            <a:off x="7926184"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A1053137-4BB8-B840-2773-C16C05D791D3}"/>
              </a:ext>
            </a:extLst>
          </p:cNvPr>
          <p:cNvCxnSpPr>
            <a:cxnSpLocks/>
          </p:cNvCxnSpPr>
          <p:nvPr/>
        </p:nvCxnSpPr>
        <p:spPr>
          <a:xfrm>
            <a:off x="8599284"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8A82A267-33AC-5A5A-8A9A-EA81EA5A3C8B}"/>
              </a:ext>
            </a:extLst>
          </p:cNvPr>
          <p:cNvCxnSpPr>
            <a:cxnSpLocks/>
          </p:cNvCxnSpPr>
          <p:nvPr/>
        </p:nvCxnSpPr>
        <p:spPr>
          <a:xfrm>
            <a:off x="9270267"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7AF7CD9A-3A09-245F-42C2-85CE3465A371}"/>
              </a:ext>
            </a:extLst>
          </p:cNvPr>
          <p:cNvCxnSpPr>
            <a:cxnSpLocks/>
          </p:cNvCxnSpPr>
          <p:nvPr/>
        </p:nvCxnSpPr>
        <p:spPr>
          <a:xfrm>
            <a:off x="9941251"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B65940D-CAAB-D6FF-91E1-1189C9499494}"/>
              </a:ext>
            </a:extLst>
          </p:cNvPr>
          <p:cNvCxnSpPr>
            <a:cxnSpLocks/>
          </p:cNvCxnSpPr>
          <p:nvPr/>
        </p:nvCxnSpPr>
        <p:spPr>
          <a:xfrm>
            <a:off x="10614351"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47EDA78D-0C26-60EB-FD3F-0AB5BEC5D1F1}"/>
              </a:ext>
            </a:extLst>
          </p:cNvPr>
          <p:cNvCxnSpPr>
            <a:cxnSpLocks/>
          </p:cNvCxnSpPr>
          <p:nvPr/>
        </p:nvCxnSpPr>
        <p:spPr>
          <a:xfrm>
            <a:off x="11285334"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76368B96-0766-DCF6-CC3C-540203CE281D}"/>
              </a:ext>
            </a:extLst>
          </p:cNvPr>
          <p:cNvCxnSpPr>
            <a:cxnSpLocks/>
          </p:cNvCxnSpPr>
          <p:nvPr/>
        </p:nvCxnSpPr>
        <p:spPr>
          <a:xfrm>
            <a:off x="11958434"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1" name="矩形 100">
            <a:extLst>
              <a:ext uri="{FF2B5EF4-FFF2-40B4-BE49-F238E27FC236}">
                <a16:creationId xmlns:a16="http://schemas.microsoft.com/office/drawing/2014/main" id="{0DA065B8-AFD7-2AB6-DDDC-133C82655B8D}"/>
              </a:ext>
            </a:extLst>
          </p:cNvPr>
          <p:cNvSpPr/>
          <p:nvPr/>
        </p:nvSpPr>
        <p:spPr>
          <a:xfrm>
            <a:off x="2600652"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102" name="矩形 101">
            <a:extLst>
              <a:ext uri="{FF2B5EF4-FFF2-40B4-BE49-F238E27FC236}">
                <a16:creationId xmlns:a16="http://schemas.microsoft.com/office/drawing/2014/main" id="{624F2857-5AC0-9DAB-6678-41B0C434BE4E}"/>
              </a:ext>
            </a:extLst>
          </p:cNvPr>
          <p:cNvSpPr/>
          <p:nvPr/>
        </p:nvSpPr>
        <p:spPr>
          <a:xfrm>
            <a:off x="3906634" y="4575609"/>
            <a:ext cx="546945" cy="338554"/>
          </a:xfrm>
          <a:prstGeom prst="rect">
            <a:avLst/>
          </a:prstGeom>
        </p:spPr>
        <p:txBody>
          <a:bodyPr wrap="square">
            <a:spAutoFit/>
          </a:bodyPr>
          <a:lstStyle/>
          <a:p>
            <a:pPr>
              <a:defRPr/>
            </a:pPr>
            <a:r>
              <a:rPr lang="en-US" altLang="zh-CN" sz="1600" dirty="0">
                <a:latin typeface="微软雅黑" panose="020B0503020204020204" pitchFamily="34" charset="-122"/>
                <a:ea typeface="Alibaba PuHuiTi R"/>
              </a:rPr>
              <a:t>null</a:t>
            </a:r>
            <a:endParaRPr lang="zh-CN" altLang="en-US" sz="1600" dirty="0">
              <a:latin typeface="微软雅黑" panose="020B0503020204020204" pitchFamily="34" charset="-122"/>
              <a:ea typeface="Alibaba PuHuiTi R"/>
            </a:endParaRPr>
          </a:p>
        </p:txBody>
      </p:sp>
      <p:sp>
        <p:nvSpPr>
          <p:cNvPr id="103" name="矩形 102">
            <a:extLst>
              <a:ext uri="{FF2B5EF4-FFF2-40B4-BE49-F238E27FC236}">
                <a16:creationId xmlns:a16="http://schemas.microsoft.com/office/drawing/2014/main" id="{F493B322-0343-7DFD-9490-34CDBFDAD302}"/>
              </a:ext>
            </a:extLst>
          </p:cNvPr>
          <p:cNvSpPr/>
          <p:nvPr/>
        </p:nvSpPr>
        <p:spPr>
          <a:xfrm>
            <a:off x="4590318"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104" name="矩形 103">
            <a:extLst>
              <a:ext uri="{FF2B5EF4-FFF2-40B4-BE49-F238E27FC236}">
                <a16:creationId xmlns:a16="http://schemas.microsoft.com/office/drawing/2014/main" id="{908B17E3-727D-933A-BDEF-D475D6A3C998}"/>
              </a:ext>
            </a:extLst>
          </p:cNvPr>
          <p:cNvSpPr/>
          <p:nvPr/>
        </p:nvSpPr>
        <p:spPr>
          <a:xfrm>
            <a:off x="5286701"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105" name="矩形 104">
            <a:extLst>
              <a:ext uri="{FF2B5EF4-FFF2-40B4-BE49-F238E27FC236}">
                <a16:creationId xmlns:a16="http://schemas.microsoft.com/office/drawing/2014/main" id="{06A9E8A6-E53D-871E-CA92-EDEE1F9EDEEB}"/>
              </a:ext>
            </a:extLst>
          </p:cNvPr>
          <p:cNvSpPr/>
          <p:nvPr/>
        </p:nvSpPr>
        <p:spPr>
          <a:xfrm>
            <a:off x="5953452"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106" name="矩形 105">
            <a:extLst>
              <a:ext uri="{FF2B5EF4-FFF2-40B4-BE49-F238E27FC236}">
                <a16:creationId xmlns:a16="http://schemas.microsoft.com/office/drawing/2014/main" id="{FF6CE88E-A06F-2B96-6C8C-D24C74319D66}"/>
              </a:ext>
            </a:extLst>
          </p:cNvPr>
          <p:cNvSpPr/>
          <p:nvPr/>
        </p:nvSpPr>
        <p:spPr>
          <a:xfrm>
            <a:off x="6673118"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107" name="矩形 106">
            <a:extLst>
              <a:ext uri="{FF2B5EF4-FFF2-40B4-BE49-F238E27FC236}">
                <a16:creationId xmlns:a16="http://schemas.microsoft.com/office/drawing/2014/main" id="{6F21F593-51DF-BEF7-67F7-83A5E0FF474C}"/>
              </a:ext>
            </a:extLst>
          </p:cNvPr>
          <p:cNvSpPr/>
          <p:nvPr/>
        </p:nvSpPr>
        <p:spPr>
          <a:xfrm>
            <a:off x="7337752"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108" name="矩形 107">
            <a:extLst>
              <a:ext uri="{FF2B5EF4-FFF2-40B4-BE49-F238E27FC236}">
                <a16:creationId xmlns:a16="http://schemas.microsoft.com/office/drawing/2014/main" id="{E6374F42-A9FE-A4B7-5D2A-CA112FA4329C}"/>
              </a:ext>
            </a:extLst>
          </p:cNvPr>
          <p:cNvSpPr/>
          <p:nvPr/>
        </p:nvSpPr>
        <p:spPr>
          <a:xfrm>
            <a:off x="8036252"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109" name="矩形 108">
            <a:extLst>
              <a:ext uri="{FF2B5EF4-FFF2-40B4-BE49-F238E27FC236}">
                <a16:creationId xmlns:a16="http://schemas.microsoft.com/office/drawing/2014/main" id="{84AA143F-D2D6-BD9A-91A4-D73524E037B5}"/>
              </a:ext>
            </a:extLst>
          </p:cNvPr>
          <p:cNvSpPr/>
          <p:nvPr/>
        </p:nvSpPr>
        <p:spPr>
          <a:xfrm>
            <a:off x="8700885"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110" name="矩形 109">
            <a:extLst>
              <a:ext uri="{FF2B5EF4-FFF2-40B4-BE49-F238E27FC236}">
                <a16:creationId xmlns:a16="http://schemas.microsoft.com/office/drawing/2014/main" id="{121CE8F1-664A-4D1C-49BC-34A43F0A1D7D}"/>
              </a:ext>
            </a:extLst>
          </p:cNvPr>
          <p:cNvSpPr/>
          <p:nvPr/>
        </p:nvSpPr>
        <p:spPr>
          <a:xfrm>
            <a:off x="9359168"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111" name="矩形 110">
            <a:extLst>
              <a:ext uri="{FF2B5EF4-FFF2-40B4-BE49-F238E27FC236}">
                <a16:creationId xmlns:a16="http://schemas.microsoft.com/office/drawing/2014/main" id="{A405E0C4-C30A-7C52-2FFA-928906CBC768}"/>
              </a:ext>
            </a:extLst>
          </p:cNvPr>
          <p:cNvSpPr/>
          <p:nvPr/>
        </p:nvSpPr>
        <p:spPr>
          <a:xfrm>
            <a:off x="10023801"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112" name="矩形 111">
            <a:extLst>
              <a:ext uri="{FF2B5EF4-FFF2-40B4-BE49-F238E27FC236}">
                <a16:creationId xmlns:a16="http://schemas.microsoft.com/office/drawing/2014/main" id="{403F0C75-1D3E-9D56-ED83-2695B2FC60A6}"/>
              </a:ext>
            </a:extLst>
          </p:cNvPr>
          <p:cNvSpPr/>
          <p:nvPr/>
        </p:nvSpPr>
        <p:spPr>
          <a:xfrm>
            <a:off x="10722301"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113" name="矩形 112">
            <a:extLst>
              <a:ext uri="{FF2B5EF4-FFF2-40B4-BE49-F238E27FC236}">
                <a16:creationId xmlns:a16="http://schemas.microsoft.com/office/drawing/2014/main" id="{345547BE-9330-13C5-64F7-05DAD21B6046}"/>
              </a:ext>
            </a:extLst>
          </p:cNvPr>
          <p:cNvSpPr/>
          <p:nvPr/>
        </p:nvSpPr>
        <p:spPr>
          <a:xfrm>
            <a:off x="11386934" y="4575609"/>
            <a:ext cx="546945"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null</a:t>
            </a:r>
            <a:endParaRPr lang="zh-CN" altLang="en-US" sz="1600" dirty="0">
              <a:ea typeface="Alibaba PuHuiTi R"/>
            </a:endParaRPr>
          </a:p>
        </p:txBody>
      </p:sp>
      <p:sp>
        <p:nvSpPr>
          <p:cNvPr id="114" name="矩形 113">
            <a:extLst>
              <a:ext uri="{FF2B5EF4-FFF2-40B4-BE49-F238E27FC236}">
                <a16:creationId xmlns:a16="http://schemas.microsoft.com/office/drawing/2014/main" id="{C3D37162-A0BB-3891-42AA-4ED220FDEA9A}"/>
              </a:ext>
            </a:extLst>
          </p:cNvPr>
          <p:cNvSpPr/>
          <p:nvPr/>
        </p:nvSpPr>
        <p:spPr>
          <a:xfrm>
            <a:off x="1326418" y="5077258"/>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0</a:t>
            </a:r>
            <a:endParaRPr lang="zh-CN" altLang="en-US" sz="1600" dirty="0">
              <a:ea typeface="Alibaba PuHuiTi R"/>
            </a:endParaRPr>
          </a:p>
        </p:txBody>
      </p:sp>
      <p:sp>
        <p:nvSpPr>
          <p:cNvPr id="115" name="矩形 114">
            <a:extLst>
              <a:ext uri="{FF2B5EF4-FFF2-40B4-BE49-F238E27FC236}">
                <a16:creationId xmlns:a16="http://schemas.microsoft.com/office/drawing/2014/main" id="{968DC0B1-FB65-3527-1747-16585B9F6A84}"/>
              </a:ext>
            </a:extLst>
          </p:cNvPr>
          <p:cNvSpPr/>
          <p:nvPr/>
        </p:nvSpPr>
        <p:spPr>
          <a:xfrm>
            <a:off x="1991051" y="5077258"/>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a:t>
            </a:r>
            <a:endParaRPr lang="zh-CN" altLang="en-US" sz="1600" dirty="0">
              <a:ea typeface="Alibaba PuHuiTi R"/>
            </a:endParaRPr>
          </a:p>
        </p:txBody>
      </p:sp>
      <p:sp>
        <p:nvSpPr>
          <p:cNvPr id="116" name="矩形 115">
            <a:extLst>
              <a:ext uri="{FF2B5EF4-FFF2-40B4-BE49-F238E27FC236}">
                <a16:creationId xmlns:a16="http://schemas.microsoft.com/office/drawing/2014/main" id="{02C51953-5259-218E-A40B-82F11359D0F6}"/>
              </a:ext>
            </a:extLst>
          </p:cNvPr>
          <p:cNvSpPr/>
          <p:nvPr/>
        </p:nvSpPr>
        <p:spPr>
          <a:xfrm>
            <a:off x="2689551" y="5077258"/>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2</a:t>
            </a:r>
            <a:endParaRPr lang="zh-CN" altLang="en-US" sz="1600" dirty="0">
              <a:ea typeface="Alibaba PuHuiTi R"/>
            </a:endParaRPr>
          </a:p>
        </p:txBody>
      </p:sp>
      <p:sp>
        <p:nvSpPr>
          <p:cNvPr id="118" name="矩形 117">
            <a:extLst>
              <a:ext uri="{FF2B5EF4-FFF2-40B4-BE49-F238E27FC236}">
                <a16:creationId xmlns:a16="http://schemas.microsoft.com/office/drawing/2014/main" id="{9E4262D7-DC22-4B24-0C37-C79BD8FF01FF}"/>
              </a:ext>
            </a:extLst>
          </p:cNvPr>
          <p:cNvSpPr/>
          <p:nvPr/>
        </p:nvSpPr>
        <p:spPr>
          <a:xfrm>
            <a:off x="4012467" y="5077258"/>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4</a:t>
            </a:r>
            <a:endParaRPr lang="zh-CN" altLang="en-US" sz="1600" dirty="0">
              <a:ea typeface="Alibaba PuHuiTi R"/>
            </a:endParaRPr>
          </a:p>
        </p:txBody>
      </p:sp>
      <p:sp>
        <p:nvSpPr>
          <p:cNvPr id="119" name="矩形 118">
            <a:extLst>
              <a:ext uri="{FF2B5EF4-FFF2-40B4-BE49-F238E27FC236}">
                <a16:creationId xmlns:a16="http://schemas.microsoft.com/office/drawing/2014/main" id="{2B20EF4F-2C58-D1CB-0F51-E71193934EC2}"/>
              </a:ext>
            </a:extLst>
          </p:cNvPr>
          <p:cNvSpPr/>
          <p:nvPr/>
        </p:nvSpPr>
        <p:spPr>
          <a:xfrm>
            <a:off x="4677101" y="5077258"/>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5</a:t>
            </a:r>
            <a:endParaRPr lang="zh-CN" altLang="en-US" sz="1600" dirty="0">
              <a:ea typeface="Alibaba PuHuiTi R"/>
            </a:endParaRPr>
          </a:p>
        </p:txBody>
      </p:sp>
      <p:sp>
        <p:nvSpPr>
          <p:cNvPr id="120" name="矩形 119">
            <a:extLst>
              <a:ext uri="{FF2B5EF4-FFF2-40B4-BE49-F238E27FC236}">
                <a16:creationId xmlns:a16="http://schemas.microsoft.com/office/drawing/2014/main" id="{B0649D24-B759-1D62-8F4F-53ACE432E649}"/>
              </a:ext>
            </a:extLst>
          </p:cNvPr>
          <p:cNvSpPr/>
          <p:nvPr/>
        </p:nvSpPr>
        <p:spPr>
          <a:xfrm>
            <a:off x="5375601" y="5077258"/>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6</a:t>
            </a:r>
            <a:endParaRPr lang="zh-CN" altLang="en-US" sz="1600" dirty="0">
              <a:ea typeface="Alibaba PuHuiTi R"/>
            </a:endParaRPr>
          </a:p>
        </p:txBody>
      </p:sp>
      <p:sp>
        <p:nvSpPr>
          <p:cNvPr id="121" name="矩形 120">
            <a:extLst>
              <a:ext uri="{FF2B5EF4-FFF2-40B4-BE49-F238E27FC236}">
                <a16:creationId xmlns:a16="http://schemas.microsoft.com/office/drawing/2014/main" id="{E3D2B9CC-AB52-4852-5E02-54F461432C16}"/>
              </a:ext>
            </a:extLst>
          </p:cNvPr>
          <p:cNvSpPr/>
          <p:nvPr/>
        </p:nvSpPr>
        <p:spPr>
          <a:xfrm>
            <a:off x="6040234" y="5077258"/>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7</a:t>
            </a:r>
            <a:endParaRPr lang="zh-CN" altLang="en-US" sz="1600" dirty="0">
              <a:ea typeface="Alibaba PuHuiTi R"/>
            </a:endParaRPr>
          </a:p>
        </p:txBody>
      </p:sp>
      <p:sp>
        <p:nvSpPr>
          <p:cNvPr id="122" name="矩形 121">
            <a:extLst>
              <a:ext uri="{FF2B5EF4-FFF2-40B4-BE49-F238E27FC236}">
                <a16:creationId xmlns:a16="http://schemas.microsoft.com/office/drawing/2014/main" id="{BD51C64E-2FF5-EE32-B3C0-09C9FE5C0818}"/>
              </a:ext>
            </a:extLst>
          </p:cNvPr>
          <p:cNvSpPr/>
          <p:nvPr/>
        </p:nvSpPr>
        <p:spPr>
          <a:xfrm>
            <a:off x="6759901" y="5077258"/>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8</a:t>
            </a:r>
            <a:endParaRPr lang="zh-CN" altLang="en-US" sz="1600" dirty="0">
              <a:ea typeface="Alibaba PuHuiTi R"/>
            </a:endParaRPr>
          </a:p>
        </p:txBody>
      </p:sp>
      <p:sp>
        <p:nvSpPr>
          <p:cNvPr id="123" name="矩形 122">
            <a:extLst>
              <a:ext uri="{FF2B5EF4-FFF2-40B4-BE49-F238E27FC236}">
                <a16:creationId xmlns:a16="http://schemas.microsoft.com/office/drawing/2014/main" id="{0824A3D7-7F14-661A-D5E5-35159478C404}"/>
              </a:ext>
            </a:extLst>
          </p:cNvPr>
          <p:cNvSpPr/>
          <p:nvPr/>
        </p:nvSpPr>
        <p:spPr>
          <a:xfrm>
            <a:off x="7426651" y="5077258"/>
            <a:ext cx="304892"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9</a:t>
            </a:r>
            <a:endParaRPr lang="zh-CN" altLang="en-US" sz="1600" dirty="0">
              <a:ea typeface="Alibaba PuHuiTi R"/>
            </a:endParaRPr>
          </a:p>
        </p:txBody>
      </p:sp>
      <p:sp>
        <p:nvSpPr>
          <p:cNvPr id="124" name="矩形 123">
            <a:extLst>
              <a:ext uri="{FF2B5EF4-FFF2-40B4-BE49-F238E27FC236}">
                <a16:creationId xmlns:a16="http://schemas.microsoft.com/office/drawing/2014/main" id="{A92EB1CF-86B0-268A-97FE-3EC2193084E6}"/>
              </a:ext>
            </a:extLst>
          </p:cNvPr>
          <p:cNvSpPr/>
          <p:nvPr/>
        </p:nvSpPr>
        <p:spPr>
          <a:xfrm>
            <a:off x="8044718" y="5077258"/>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10</a:t>
            </a:r>
            <a:endParaRPr lang="zh-CN" altLang="en-US" sz="1600" dirty="0">
              <a:ea typeface="Alibaba PuHuiTi R"/>
            </a:endParaRPr>
          </a:p>
        </p:txBody>
      </p:sp>
      <p:sp>
        <p:nvSpPr>
          <p:cNvPr id="125" name="矩形 124">
            <a:extLst>
              <a:ext uri="{FF2B5EF4-FFF2-40B4-BE49-F238E27FC236}">
                <a16:creationId xmlns:a16="http://schemas.microsoft.com/office/drawing/2014/main" id="{31C9AC92-F9E7-CB9B-FFD6-FA07145CC554}"/>
              </a:ext>
            </a:extLst>
          </p:cNvPr>
          <p:cNvSpPr/>
          <p:nvPr/>
        </p:nvSpPr>
        <p:spPr>
          <a:xfrm>
            <a:off x="8711467" y="5077258"/>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11</a:t>
            </a:r>
            <a:endParaRPr lang="zh-CN" altLang="en-US" sz="1600" dirty="0">
              <a:ea typeface="Alibaba PuHuiTi R"/>
            </a:endParaRPr>
          </a:p>
        </p:txBody>
      </p:sp>
      <p:sp>
        <p:nvSpPr>
          <p:cNvPr id="126" name="矩形 125">
            <a:extLst>
              <a:ext uri="{FF2B5EF4-FFF2-40B4-BE49-F238E27FC236}">
                <a16:creationId xmlns:a16="http://schemas.microsoft.com/office/drawing/2014/main" id="{8AE08EF5-1ED1-271F-B644-C4FB471AB26E}"/>
              </a:ext>
            </a:extLst>
          </p:cNvPr>
          <p:cNvSpPr/>
          <p:nvPr/>
        </p:nvSpPr>
        <p:spPr>
          <a:xfrm>
            <a:off x="9369751" y="5077258"/>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12</a:t>
            </a:r>
            <a:endParaRPr lang="zh-CN" altLang="en-US" sz="1600" dirty="0">
              <a:ea typeface="Alibaba PuHuiTi R"/>
            </a:endParaRPr>
          </a:p>
        </p:txBody>
      </p:sp>
      <p:sp>
        <p:nvSpPr>
          <p:cNvPr id="127" name="矩形 126">
            <a:extLst>
              <a:ext uri="{FF2B5EF4-FFF2-40B4-BE49-F238E27FC236}">
                <a16:creationId xmlns:a16="http://schemas.microsoft.com/office/drawing/2014/main" id="{C64048F8-CEC1-646F-C810-554542953EC6}"/>
              </a:ext>
            </a:extLst>
          </p:cNvPr>
          <p:cNvSpPr/>
          <p:nvPr/>
        </p:nvSpPr>
        <p:spPr>
          <a:xfrm>
            <a:off x="10034385" y="5077258"/>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13</a:t>
            </a:r>
            <a:endParaRPr lang="zh-CN" altLang="en-US" sz="1600" dirty="0">
              <a:ea typeface="Alibaba PuHuiTi R"/>
            </a:endParaRPr>
          </a:p>
        </p:txBody>
      </p:sp>
      <p:sp>
        <p:nvSpPr>
          <p:cNvPr id="128" name="矩形 127">
            <a:extLst>
              <a:ext uri="{FF2B5EF4-FFF2-40B4-BE49-F238E27FC236}">
                <a16:creationId xmlns:a16="http://schemas.microsoft.com/office/drawing/2014/main" id="{BCC6B495-842A-1969-2DAF-383CA26B5FED}"/>
              </a:ext>
            </a:extLst>
          </p:cNvPr>
          <p:cNvSpPr/>
          <p:nvPr/>
        </p:nvSpPr>
        <p:spPr>
          <a:xfrm>
            <a:off x="10732885" y="5077258"/>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14</a:t>
            </a:r>
            <a:endParaRPr lang="zh-CN" altLang="en-US" sz="1600" dirty="0">
              <a:ea typeface="Alibaba PuHuiTi R"/>
            </a:endParaRPr>
          </a:p>
        </p:txBody>
      </p:sp>
      <p:sp>
        <p:nvSpPr>
          <p:cNvPr id="129" name="矩形 128">
            <a:extLst>
              <a:ext uri="{FF2B5EF4-FFF2-40B4-BE49-F238E27FC236}">
                <a16:creationId xmlns:a16="http://schemas.microsoft.com/office/drawing/2014/main" id="{B398A958-9938-FE26-6878-71C6D5916295}"/>
              </a:ext>
            </a:extLst>
          </p:cNvPr>
          <p:cNvSpPr/>
          <p:nvPr/>
        </p:nvSpPr>
        <p:spPr>
          <a:xfrm>
            <a:off x="11397518" y="5077258"/>
            <a:ext cx="425116" cy="338554"/>
          </a:xfrm>
          <a:prstGeom prst="rect">
            <a:avLst/>
          </a:prstGeom>
        </p:spPr>
        <p:txBody>
          <a:bodyPr wrap="square">
            <a:spAutoFit/>
          </a:bodyPr>
          <a:lstStyle/>
          <a:p>
            <a:pPr>
              <a:defRPr/>
            </a:pPr>
            <a:r>
              <a:rPr lang="en-US" altLang="zh-CN" sz="1600" dirty="0">
                <a:solidFill>
                  <a:srgbClr val="333333"/>
                </a:solidFill>
                <a:latin typeface="微软雅黑" pitchFamily="34" charset="-122"/>
                <a:ea typeface="Alibaba PuHuiTi R"/>
              </a:rPr>
              <a:t>15</a:t>
            </a:r>
            <a:endParaRPr lang="zh-CN" altLang="en-US" sz="1600" dirty="0">
              <a:ea typeface="Alibaba PuHuiTi R"/>
            </a:endParaRPr>
          </a:p>
        </p:txBody>
      </p:sp>
      <p:cxnSp>
        <p:nvCxnSpPr>
          <p:cNvPr id="130" name="直接连接符 129">
            <a:extLst>
              <a:ext uri="{FF2B5EF4-FFF2-40B4-BE49-F238E27FC236}">
                <a16:creationId xmlns:a16="http://schemas.microsoft.com/office/drawing/2014/main" id="{20A65EB3-E43D-2199-B2B4-7C24CCA70C11}"/>
              </a:ext>
            </a:extLst>
          </p:cNvPr>
          <p:cNvCxnSpPr>
            <a:cxnSpLocks/>
          </p:cNvCxnSpPr>
          <p:nvPr/>
        </p:nvCxnSpPr>
        <p:spPr>
          <a:xfrm>
            <a:off x="4518351"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AEDC7503-D3A9-3E1E-D537-B53B7AB9F020}"/>
              </a:ext>
            </a:extLst>
          </p:cNvPr>
          <p:cNvCxnSpPr>
            <a:cxnSpLocks/>
          </p:cNvCxnSpPr>
          <p:nvPr/>
        </p:nvCxnSpPr>
        <p:spPr>
          <a:xfrm>
            <a:off x="3845251"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CE9F6FCF-E357-4F48-C097-DD0BB64FFEC5}"/>
              </a:ext>
            </a:extLst>
          </p:cNvPr>
          <p:cNvCxnSpPr>
            <a:cxnSpLocks/>
          </p:cNvCxnSpPr>
          <p:nvPr/>
        </p:nvCxnSpPr>
        <p:spPr>
          <a:xfrm>
            <a:off x="1152851"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12974813-7327-A1C4-F2CE-C2DB341FBC22}"/>
              </a:ext>
            </a:extLst>
          </p:cNvPr>
          <p:cNvCxnSpPr>
            <a:cxnSpLocks/>
          </p:cNvCxnSpPr>
          <p:nvPr/>
        </p:nvCxnSpPr>
        <p:spPr>
          <a:xfrm>
            <a:off x="1830184" y="4410508"/>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4" name="椭圆 133">
            <a:extLst>
              <a:ext uri="{FF2B5EF4-FFF2-40B4-BE49-F238E27FC236}">
                <a16:creationId xmlns:a16="http://schemas.microsoft.com/office/drawing/2014/main" id="{78AAB510-11FD-A067-D8D8-32FA82CA571F}"/>
              </a:ext>
            </a:extLst>
          </p:cNvPr>
          <p:cNvSpPr/>
          <p:nvPr/>
        </p:nvSpPr>
        <p:spPr>
          <a:xfrm>
            <a:off x="3199226" y="3029155"/>
            <a:ext cx="478367" cy="480484"/>
          </a:xfrm>
          <a:prstGeom prst="ellipse">
            <a:avLst/>
          </a:prstGeom>
          <a:solidFill>
            <a:srgbClr val="79A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sp>
        <p:nvSpPr>
          <p:cNvPr id="135" name="椭圆 134">
            <a:extLst>
              <a:ext uri="{FF2B5EF4-FFF2-40B4-BE49-F238E27FC236}">
                <a16:creationId xmlns:a16="http://schemas.microsoft.com/office/drawing/2014/main" id="{E5C19D75-7977-465B-20EF-F4B35E5AC19A}"/>
              </a:ext>
            </a:extLst>
          </p:cNvPr>
          <p:cNvSpPr/>
          <p:nvPr/>
        </p:nvSpPr>
        <p:spPr>
          <a:xfrm>
            <a:off x="1152852" y="3029157"/>
            <a:ext cx="480483" cy="480483"/>
          </a:xfrm>
          <a:prstGeom prst="ellipse">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dirty="0">
              <a:solidFill>
                <a:srgbClr val="FF0000"/>
              </a:solidFill>
            </a:endParaRPr>
          </a:p>
        </p:txBody>
      </p:sp>
      <p:sp>
        <p:nvSpPr>
          <p:cNvPr id="136" name="椭圆 135">
            <a:extLst>
              <a:ext uri="{FF2B5EF4-FFF2-40B4-BE49-F238E27FC236}">
                <a16:creationId xmlns:a16="http://schemas.microsoft.com/office/drawing/2014/main" id="{EC1405CA-73B0-1B9A-D356-8C200C95CEAD}"/>
              </a:ext>
            </a:extLst>
          </p:cNvPr>
          <p:cNvSpPr/>
          <p:nvPr/>
        </p:nvSpPr>
        <p:spPr>
          <a:xfrm>
            <a:off x="4270544" y="3035567"/>
            <a:ext cx="480483" cy="480484"/>
          </a:xfrm>
          <a:prstGeom prst="ellipse">
            <a:avLst/>
          </a:prstGeom>
          <a:solidFill>
            <a:srgbClr val="0000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dirty="0">
              <a:solidFill>
                <a:srgbClr val="FF0000"/>
              </a:solidFill>
            </a:endParaRPr>
          </a:p>
        </p:txBody>
      </p:sp>
      <p:sp>
        <p:nvSpPr>
          <p:cNvPr id="137" name="椭圆 136">
            <a:extLst>
              <a:ext uri="{FF2B5EF4-FFF2-40B4-BE49-F238E27FC236}">
                <a16:creationId xmlns:a16="http://schemas.microsoft.com/office/drawing/2014/main" id="{8BCCE3A9-D130-688E-AE6D-78B9D7F42CE6}"/>
              </a:ext>
            </a:extLst>
          </p:cNvPr>
          <p:cNvSpPr/>
          <p:nvPr/>
        </p:nvSpPr>
        <p:spPr>
          <a:xfrm>
            <a:off x="2130548" y="3029156"/>
            <a:ext cx="480483" cy="480483"/>
          </a:xfrm>
          <a:prstGeom prst="ellipse">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dirty="0">
              <a:solidFill>
                <a:srgbClr val="FF0000"/>
              </a:solidFill>
            </a:endParaRPr>
          </a:p>
        </p:txBody>
      </p:sp>
    </p:spTree>
    <p:extLst>
      <p:ext uri="{BB962C8B-B14F-4D97-AF65-F5344CB8AC3E}">
        <p14:creationId xmlns:p14="http://schemas.microsoft.com/office/powerpoint/2010/main" val="1959276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1" nodeType="clickEffect">
                                  <p:stCondLst>
                                    <p:cond delay="0"/>
                                  </p:stCondLst>
                                  <p:childTnLst>
                                    <p:set>
                                      <p:cBhvr>
                                        <p:cTn id="14" dur="1" fill="hold">
                                          <p:stCondLst>
                                            <p:cond delay="0"/>
                                          </p:stCondLst>
                                        </p:cTn>
                                        <p:tgtEl>
                                          <p:spTgt spid="135"/>
                                        </p:tgtEl>
                                        <p:attrNameLst>
                                          <p:attrName>style.visibility</p:attrName>
                                        </p:attrNameLst>
                                      </p:cBhvr>
                                      <p:to>
                                        <p:strVal val="visible"/>
                                      </p:to>
                                    </p:set>
                                    <p:animEffect transition="in" filter="wipe(left)">
                                      <p:cBhvr>
                                        <p:cTn id="15" dur="500"/>
                                        <p:tgtEl>
                                          <p:spTgt spid="135"/>
                                        </p:tgtEl>
                                      </p:cBhvr>
                                    </p:animEffect>
                                  </p:childTnLst>
                                </p:cTn>
                              </p:par>
                            </p:childTnLst>
                          </p:cTn>
                        </p:par>
                        <p:par>
                          <p:cTn id="16" fill="hold">
                            <p:stCondLst>
                              <p:cond delay="500"/>
                            </p:stCondLst>
                            <p:childTnLst>
                              <p:par>
                                <p:cTn id="17" presetID="22" presetClass="entr" presetSubtype="8" fill="hold" grpId="1" nodeType="afterEffect">
                                  <p:stCondLst>
                                    <p:cond delay="0"/>
                                  </p:stCondLst>
                                  <p:childTnLst>
                                    <p:set>
                                      <p:cBhvr>
                                        <p:cTn id="18" dur="1" fill="hold">
                                          <p:stCondLst>
                                            <p:cond delay="0"/>
                                          </p:stCondLst>
                                        </p:cTn>
                                        <p:tgtEl>
                                          <p:spTgt spid="137"/>
                                        </p:tgtEl>
                                        <p:attrNameLst>
                                          <p:attrName>style.visibility</p:attrName>
                                        </p:attrNameLst>
                                      </p:cBhvr>
                                      <p:to>
                                        <p:strVal val="visible"/>
                                      </p:to>
                                    </p:set>
                                    <p:animEffect transition="in" filter="wipe(left)">
                                      <p:cBhvr>
                                        <p:cTn id="19" dur="500"/>
                                        <p:tgtEl>
                                          <p:spTgt spid="137"/>
                                        </p:tgtEl>
                                      </p:cBhvr>
                                    </p:animEffect>
                                  </p:childTnLst>
                                </p:cTn>
                              </p:par>
                            </p:childTnLst>
                          </p:cTn>
                        </p:par>
                        <p:par>
                          <p:cTn id="20" fill="hold">
                            <p:stCondLst>
                              <p:cond delay="1000"/>
                            </p:stCondLst>
                            <p:childTnLst>
                              <p:par>
                                <p:cTn id="21" presetID="22" presetClass="entr" presetSubtype="8" fill="hold" grpId="1" nodeType="afterEffect">
                                  <p:stCondLst>
                                    <p:cond delay="0"/>
                                  </p:stCondLst>
                                  <p:childTnLst>
                                    <p:set>
                                      <p:cBhvr>
                                        <p:cTn id="22" dur="1" fill="hold">
                                          <p:stCondLst>
                                            <p:cond delay="0"/>
                                          </p:stCondLst>
                                        </p:cTn>
                                        <p:tgtEl>
                                          <p:spTgt spid="134"/>
                                        </p:tgtEl>
                                        <p:attrNameLst>
                                          <p:attrName>style.visibility</p:attrName>
                                        </p:attrNameLst>
                                      </p:cBhvr>
                                      <p:to>
                                        <p:strVal val="visible"/>
                                      </p:to>
                                    </p:set>
                                    <p:animEffect transition="in" filter="wipe(left)">
                                      <p:cBhvr>
                                        <p:cTn id="23" dur="500"/>
                                        <p:tgtEl>
                                          <p:spTgt spid="134"/>
                                        </p:tgtEl>
                                      </p:cBhvr>
                                    </p:animEffect>
                                  </p:childTnLst>
                                </p:cTn>
                              </p:par>
                            </p:childTnLst>
                          </p:cTn>
                        </p:par>
                        <p:par>
                          <p:cTn id="24" fill="hold">
                            <p:stCondLst>
                              <p:cond delay="1500"/>
                            </p:stCondLst>
                            <p:childTnLst>
                              <p:par>
                                <p:cTn id="25" presetID="22" presetClass="entr" presetSubtype="8" fill="hold" grpId="1" nodeType="afterEffect">
                                  <p:stCondLst>
                                    <p:cond delay="0"/>
                                  </p:stCondLst>
                                  <p:childTnLst>
                                    <p:set>
                                      <p:cBhvr>
                                        <p:cTn id="26" dur="1" fill="hold">
                                          <p:stCondLst>
                                            <p:cond delay="0"/>
                                          </p:stCondLst>
                                        </p:cTn>
                                        <p:tgtEl>
                                          <p:spTgt spid="136"/>
                                        </p:tgtEl>
                                        <p:attrNameLst>
                                          <p:attrName>style.visibility</p:attrName>
                                        </p:attrNameLst>
                                      </p:cBhvr>
                                      <p:to>
                                        <p:strVal val="visible"/>
                                      </p:to>
                                    </p:set>
                                    <p:animEffect transition="in" filter="wipe(left)">
                                      <p:cBhvr>
                                        <p:cTn id="27" dur="500"/>
                                        <p:tgtEl>
                                          <p:spTgt spid="1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3"/>
                                        </p:tgtEl>
                                        <p:attrNameLst>
                                          <p:attrName>style.visibility</p:attrName>
                                        </p:attrNameLst>
                                      </p:cBhvr>
                                      <p:to>
                                        <p:strVal val="visible"/>
                                      </p:to>
                                    </p:set>
                                    <p:animEffect transition="in" filter="wipe(down)">
                                      <p:cBhvr>
                                        <p:cTn id="32" dur="500"/>
                                        <p:tgtEl>
                                          <p:spTgt spid="83"/>
                                        </p:tgtEl>
                                      </p:cBhvr>
                                    </p:animEffect>
                                  </p:childTnLst>
                                </p:cTn>
                              </p:par>
                              <p:par>
                                <p:cTn id="33" presetID="22" presetClass="entr" presetSubtype="4" fill="hold" nodeType="withEffect">
                                  <p:stCondLst>
                                    <p:cond delay="0"/>
                                  </p:stCondLst>
                                  <p:childTnLst>
                                    <p:set>
                                      <p:cBhvr>
                                        <p:cTn id="34" dur="1" fill="hold">
                                          <p:stCondLst>
                                            <p:cond delay="0"/>
                                          </p:stCondLst>
                                        </p:cTn>
                                        <p:tgtEl>
                                          <p:spTgt spid="84"/>
                                        </p:tgtEl>
                                        <p:attrNameLst>
                                          <p:attrName>style.visibility</p:attrName>
                                        </p:attrNameLst>
                                      </p:cBhvr>
                                      <p:to>
                                        <p:strVal val="visible"/>
                                      </p:to>
                                    </p:set>
                                    <p:animEffect transition="in" filter="wipe(down)">
                                      <p:cBhvr>
                                        <p:cTn id="35" dur="500"/>
                                        <p:tgtEl>
                                          <p:spTgt spid="84"/>
                                        </p:tgtEl>
                                      </p:cBhvr>
                                    </p:animEffect>
                                  </p:childTnLst>
                                </p:cTn>
                              </p:par>
                              <p:par>
                                <p:cTn id="36" presetID="22" presetClass="entr" presetSubtype="4" fill="hold" nodeType="withEffect">
                                  <p:stCondLst>
                                    <p:cond delay="0"/>
                                  </p:stCondLst>
                                  <p:childTnLst>
                                    <p:set>
                                      <p:cBhvr>
                                        <p:cTn id="37" dur="1" fill="hold">
                                          <p:stCondLst>
                                            <p:cond delay="0"/>
                                          </p:stCondLst>
                                        </p:cTn>
                                        <p:tgtEl>
                                          <p:spTgt spid="85"/>
                                        </p:tgtEl>
                                        <p:attrNameLst>
                                          <p:attrName>style.visibility</p:attrName>
                                        </p:attrNameLst>
                                      </p:cBhvr>
                                      <p:to>
                                        <p:strVal val="visible"/>
                                      </p:to>
                                    </p:set>
                                    <p:animEffect transition="in" filter="wipe(down)">
                                      <p:cBhvr>
                                        <p:cTn id="38" dur="500"/>
                                        <p:tgtEl>
                                          <p:spTgt spid="85"/>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86"/>
                                        </p:tgtEl>
                                        <p:attrNameLst>
                                          <p:attrName>style.visibility</p:attrName>
                                        </p:attrNameLst>
                                      </p:cBhvr>
                                      <p:to>
                                        <p:strVal val="visible"/>
                                      </p:to>
                                    </p:set>
                                    <p:animEffect transition="in" filter="wipe(down)">
                                      <p:cBhvr>
                                        <p:cTn id="41" dur="500"/>
                                        <p:tgtEl>
                                          <p:spTgt spid="86"/>
                                        </p:tgtEl>
                                      </p:cBhvr>
                                    </p:animEffect>
                                  </p:childTnLst>
                                </p:cTn>
                              </p:par>
                              <p:par>
                                <p:cTn id="42" presetID="22" presetClass="entr" presetSubtype="4" fill="hold" nodeType="withEffect">
                                  <p:stCondLst>
                                    <p:cond delay="0"/>
                                  </p:stCondLst>
                                  <p:childTnLst>
                                    <p:set>
                                      <p:cBhvr>
                                        <p:cTn id="43" dur="1" fill="hold">
                                          <p:stCondLst>
                                            <p:cond delay="0"/>
                                          </p:stCondLst>
                                        </p:cTn>
                                        <p:tgtEl>
                                          <p:spTgt spid="87"/>
                                        </p:tgtEl>
                                        <p:attrNameLst>
                                          <p:attrName>style.visibility</p:attrName>
                                        </p:attrNameLst>
                                      </p:cBhvr>
                                      <p:to>
                                        <p:strVal val="visible"/>
                                      </p:to>
                                    </p:set>
                                    <p:animEffect transition="in" filter="wipe(down)">
                                      <p:cBhvr>
                                        <p:cTn id="44" dur="500"/>
                                        <p:tgtEl>
                                          <p:spTgt spid="87"/>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88"/>
                                        </p:tgtEl>
                                        <p:attrNameLst>
                                          <p:attrName>style.visibility</p:attrName>
                                        </p:attrNameLst>
                                      </p:cBhvr>
                                      <p:to>
                                        <p:strVal val="visible"/>
                                      </p:to>
                                    </p:set>
                                    <p:animEffect transition="in" filter="wipe(down)">
                                      <p:cBhvr>
                                        <p:cTn id="47" dur="500"/>
                                        <p:tgtEl>
                                          <p:spTgt spid="88"/>
                                        </p:tgtEl>
                                      </p:cBhvr>
                                    </p:animEffect>
                                  </p:childTnLst>
                                </p:cTn>
                              </p:par>
                              <p:par>
                                <p:cTn id="48" presetID="22" presetClass="entr" presetSubtype="4" fill="hold" nodeType="withEffect">
                                  <p:stCondLst>
                                    <p:cond delay="0"/>
                                  </p:stCondLst>
                                  <p:childTnLst>
                                    <p:set>
                                      <p:cBhvr>
                                        <p:cTn id="49" dur="1" fill="hold">
                                          <p:stCondLst>
                                            <p:cond delay="0"/>
                                          </p:stCondLst>
                                        </p:cTn>
                                        <p:tgtEl>
                                          <p:spTgt spid="89"/>
                                        </p:tgtEl>
                                        <p:attrNameLst>
                                          <p:attrName>style.visibility</p:attrName>
                                        </p:attrNameLst>
                                      </p:cBhvr>
                                      <p:to>
                                        <p:strVal val="visible"/>
                                      </p:to>
                                    </p:set>
                                    <p:animEffect transition="in" filter="wipe(down)">
                                      <p:cBhvr>
                                        <p:cTn id="50" dur="500"/>
                                        <p:tgtEl>
                                          <p:spTgt spid="89"/>
                                        </p:tgtEl>
                                      </p:cBhvr>
                                    </p:animEffect>
                                  </p:childTnLst>
                                </p:cTn>
                              </p:par>
                              <p:par>
                                <p:cTn id="51" presetID="22" presetClass="entr" presetSubtype="4" fill="hold" nodeType="withEffect">
                                  <p:stCondLst>
                                    <p:cond delay="0"/>
                                  </p:stCondLst>
                                  <p:childTnLst>
                                    <p:set>
                                      <p:cBhvr>
                                        <p:cTn id="52" dur="1" fill="hold">
                                          <p:stCondLst>
                                            <p:cond delay="0"/>
                                          </p:stCondLst>
                                        </p:cTn>
                                        <p:tgtEl>
                                          <p:spTgt spid="90"/>
                                        </p:tgtEl>
                                        <p:attrNameLst>
                                          <p:attrName>style.visibility</p:attrName>
                                        </p:attrNameLst>
                                      </p:cBhvr>
                                      <p:to>
                                        <p:strVal val="visible"/>
                                      </p:to>
                                    </p:set>
                                    <p:animEffect transition="in" filter="wipe(down)">
                                      <p:cBhvr>
                                        <p:cTn id="53" dur="500"/>
                                        <p:tgtEl>
                                          <p:spTgt spid="90"/>
                                        </p:tgtEl>
                                      </p:cBhvr>
                                    </p:animEffect>
                                  </p:childTnLst>
                                </p:cTn>
                              </p:par>
                              <p:par>
                                <p:cTn id="54" presetID="22" presetClass="entr" presetSubtype="4" fill="hold" nodeType="withEffect">
                                  <p:stCondLst>
                                    <p:cond delay="0"/>
                                  </p:stCondLst>
                                  <p:childTnLst>
                                    <p:set>
                                      <p:cBhvr>
                                        <p:cTn id="55" dur="1" fill="hold">
                                          <p:stCondLst>
                                            <p:cond delay="0"/>
                                          </p:stCondLst>
                                        </p:cTn>
                                        <p:tgtEl>
                                          <p:spTgt spid="91"/>
                                        </p:tgtEl>
                                        <p:attrNameLst>
                                          <p:attrName>style.visibility</p:attrName>
                                        </p:attrNameLst>
                                      </p:cBhvr>
                                      <p:to>
                                        <p:strVal val="visible"/>
                                      </p:to>
                                    </p:set>
                                    <p:animEffect transition="in" filter="wipe(down)">
                                      <p:cBhvr>
                                        <p:cTn id="56" dur="500"/>
                                        <p:tgtEl>
                                          <p:spTgt spid="91"/>
                                        </p:tgtEl>
                                      </p:cBhvr>
                                    </p:animEffect>
                                  </p:childTnLst>
                                </p:cTn>
                              </p:par>
                              <p:par>
                                <p:cTn id="57" presetID="22" presetClass="entr" presetSubtype="4" fill="hold" nodeType="withEffect">
                                  <p:stCondLst>
                                    <p:cond delay="0"/>
                                  </p:stCondLst>
                                  <p:childTnLst>
                                    <p:set>
                                      <p:cBhvr>
                                        <p:cTn id="58" dur="1" fill="hold">
                                          <p:stCondLst>
                                            <p:cond delay="0"/>
                                          </p:stCondLst>
                                        </p:cTn>
                                        <p:tgtEl>
                                          <p:spTgt spid="92"/>
                                        </p:tgtEl>
                                        <p:attrNameLst>
                                          <p:attrName>style.visibility</p:attrName>
                                        </p:attrNameLst>
                                      </p:cBhvr>
                                      <p:to>
                                        <p:strVal val="visible"/>
                                      </p:to>
                                    </p:set>
                                    <p:animEffect transition="in" filter="wipe(down)">
                                      <p:cBhvr>
                                        <p:cTn id="59" dur="500"/>
                                        <p:tgtEl>
                                          <p:spTgt spid="92"/>
                                        </p:tgtEl>
                                      </p:cBhvr>
                                    </p:animEffect>
                                  </p:childTnLst>
                                </p:cTn>
                              </p:par>
                              <p:par>
                                <p:cTn id="60" presetID="22" presetClass="entr" presetSubtype="4" fill="hold" nodeType="withEffect">
                                  <p:stCondLst>
                                    <p:cond delay="0"/>
                                  </p:stCondLst>
                                  <p:childTnLst>
                                    <p:set>
                                      <p:cBhvr>
                                        <p:cTn id="61" dur="1" fill="hold">
                                          <p:stCondLst>
                                            <p:cond delay="0"/>
                                          </p:stCondLst>
                                        </p:cTn>
                                        <p:tgtEl>
                                          <p:spTgt spid="93"/>
                                        </p:tgtEl>
                                        <p:attrNameLst>
                                          <p:attrName>style.visibility</p:attrName>
                                        </p:attrNameLst>
                                      </p:cBhvr>
                                      <p:to>
                                        <p:strVal val="visible"/>
                                      </p:to>
                                    </p:set>
                                    <p:animEffect transition="in" filter="wipe(down)">
                                      <p:cBhvr>
                                        <p:cTn id="62" dur="500"/>
                                        <p:tgtEl>
                                          <p:spTgt spid="93"/>
                                        </p:tgtEl>
                                      </p:cBhvr>
                                    </p:animEffect>
                                  </p:childTnLst>
                                </p:cTn>
                              </p:par>
                              <p:par>
                                <p:cTn id="63" presetID="22" presetClass="entr" presetSubtype="4" fill="hold" nodeType="withEffect">
                                  <p:stCondLst>
                                    <p:cond delay="0"/>
                                  </p:stCondLst>
                                  <p:childTnLst>
                                    <p:set>
                                      <p:cBhvr>
                                        <p:cTn id="64" dur="1" fill="hold">
                                          <p:stCondLst>
                                            <p:cond delay="0"/>
                                          </p:stCondLst>
                                        </p:cTn>
                                        <p:tgtEl>
                                          <p:spTgt spid="94"/>
                                        </p:tgtEl>
                                        <p:attrNameLst>
                                          <p:attrName>style.visibility</p:attrName>
                                        </p:attrNameLst>
                                      </p:cBhvr>
                                      <p:to>
                                        <p:strVal val="visible"/>
                                      </p:to>
                                    </p:set>
                                    <p:animEffect transition="in" filter="wipe(down)">
                                      <p:cBhvr>
                                        <p:cTn id="65" dur="500"/>
                                        <p:tgtEl>
                                          <p:spTgt spid="94"/>
                                        </p:tgtEl>
                                      </p:cBhvr>
                                    </p:animEffect>
                                  </p:childTnLst>
                                </p:cTn>
                              </p:par>
                              <p:par>
                                <p:cTn id="66" presetID="22" presetClass="entr" presetSubtype="4" fill="hold" nodeType="withEffect">
                                  <p:stCondLst>
                                    <p:cond delay="0"/>
                                  </p:stCondLst>
                                  <p:childTnLst>
                                    <p:set>
                                      <p:cBhvr>
                                        <p:cTn id="67" dur="1" fill="hold">
                                          <p:stCondLst>
                                            <p:cond delay="0"/>
                                          </p:stCondLst>
                                        </p:cTn>
                                        <p:tgtEl>
                                          <p:spTgt spid="95"/>
                                        </p:tgtEl>
                                        <p:attrNameLst>
                                          <p:attrName>style.visibility</p:attrName>
                                        </p:attrNameLst>
                                      </p:cBhvr>
                                      <p:to>
                                        <p:strVal val="visible"/>
                                      </p:to>
                                    </p:set>
                                    <p:animEffect transition="in" filter="wipe(down)">
                                      <p:cBhvr>
                                        <p:cTn id="68" dur="500"/>
                                        <p:tgtEl>
                                          <p:spTgt spid="95"/>
                                        </p:tgtEl>
                                      </p:cBhvr>
                                    </p:animEffect>
                                  </p:childTnLst>
                                </p:cTn>
                              </p:par>
                              <p:par>
                                <p:cTn id="69" presetID="22" presetClass="entr" presetSubtype="4" fill="hold" nodeType="withEffect">
                                  <p:stCondLst>
                                    <p:cond delay="0"/>
                                  </p:stCondLst>
                                  <p:childTnLst>
                                    <p:set>
                                      <p:cBhvr>
                                        <p:cTn id="70" dur="1" fill="hold">
                                          <p:stCondLst>
                                            <p:cond delay="0"/>
                                          </p:stCondLst>
                                        </p:cTn>
                                        <p:tgtEl>
                                          <p:spTgt spid="96"/>
                                        </p:tgtEl>
                                        <p:attrNameLst>
                                          <p:attrName>style.visibility</p:attrName>
                                        </p:attrNameLst>
                                      </p:cBhvr>
                                      <p:to>
                                        <p:strVal val="visible"/>
                                      </p:to>
                                    </p:set>
                                    <p:animEffect transition="in" filter="wipe(down)">
                                      <p:cBhvr>
                                        <p:cTn id="71" dur="500"/>
                                        <p:tgtEl>
                                          <p:spTgt spid="96"/>
                                        </p:tgtEl>
                                      </p:cBhvr>
                                    </p:animEffect>
                                  </p:childTnLst>
                                </p:cTn>
                              </p:par>
                              <p:par>
                                <p:cTn id="72" presetID="22" presetClass="entr" presetSubtype="4" fill="hold" nodeType="withEffect">
                                  <p:stCondLst>
                                    <p:cond delay="0"/>
                                  </p:stCondLst>
                                  <p:childTnLst>
                                    <p:set>
                                      <p:cBhvr>
                                        <p:cTn id="73" dur="1" fill="hold">
                                          <p:stCondLst>
                                            <p:cond delay="0"/>
                                          </p:stCondLst>
                                        </p:cTn>
                                        <p:tgtEl>
                                          <p:spTgt spid="97"/>
                                        </p:tgtEl>
                                        <p:attrNameLst>
                                          <p:attrName>style.visibility</p:attrName>
                                        </p:attrNameLst>
                                      </p:cBhvr>
                                      <p:to>
                                        <p:strVal val="visible"/>
                                      </p:to>
                                    </p:set>
                                    <p:animEffect transition="in" filter="wipe(down)">
                                      <p:cBhvr>
                                        <p:cTn id="74" dur="500"/>
                                        <p:tgtEl>
                                          <p:spTgt spid="97"/>
                                        </p:tgtEl>
                                      </p:cBhvr>
                                    </p:animEffect>
                                  </p:childTnLst>
                                </p:cTn>
                              </p:par>
                              <p:par>
                                <p:cTn id="75" presetID="22" presetClass="entr" presetSubtype="4" fill="hold" nodeType="withEffect">
                                  <p:stCondLst>
                                    <p:cond delay="0"/>
                                  </p:stCondLst>
                                  <p:childTnLst>
                                    <p:set>
                                      <p:cBhvr>
                                        <p:cTn id="76" dur="1" fill="hold">
                                          <p:stCondLst>
                                            <p:cond delay="0"/>
                                          </p:stCondLst>
                                        </p:cTn>
                                        <p:tgtEl>
                                          <p:spTgt spid="98"/>
                                        </p:tgtEl>
                                        <p:attrNameLst>
                                          <p:attrName>style.visibility</p:attrName>
                                        </p:attrNameLst>
                                      </p:cBhvr>
                                      <p:to>
                                        <p:strVal val="visible"/>
                                      </p:to>
                                    </p:set>
                                    <p:animEffect transition="in" filter="wipe(down)">
                                      <p:cBhvr>
                                        <p:cTn id="77" dur="500"/>
                                        <p:tgtEl>
                                          <p:spTgt spid="98"/>
                                        </p:tgtEl>
                                      </p:cBhvr>
                                    </p:animEffect>
                                  </p:childTnLst>
                                </p:cTn>
                              </p:par>
                              <p:par>
                                <p:cTn id="78" presetID="22" presetClass="entr" presetSubtype="4" fill="hold" nodeType="withEffect">
                                  <p:stCondLst>
                                    <p:cond delay="0"/>
                                  </p:stCondLst>
                                  <p:childTnLst>
                                    <p:set>
                                      <p:cBhvr>
                                        <p:cTn id="79" dur="1" fill="hold">
                                          <p:stCondLst>
                                            <p:cond delay="0"/>
                                          </p:stCondLst>
                                        </p:cTn>
                                        <p:tgtEl>
                                          <p:spTgt spid="99"/>
                                        </p:tgtEl>
                                        <p:attrNameLst>
                                          <p:attrName>style.visibility</p:attrName>
                                        </p:attrNameLst>
                                      </p:cBhvr>
                                      <p:to>
                                        <p:strVal val="visible"/>
                                      </p:to>
                                    </p:set>
                                    <p:animEffect transition="in" filter="wipe(down)">
                                      <p:cBhvr>
                                        <p:cTn id="80" dur="500"/>
                                        <p:tgtEl>
                                          <p:spTgt spid="99"/>
                                        </p:tgtEl>
                                      </p:cBhvr>
                                    </p:animEffect>
                                  </p:childTnLst>
                                </p:cTn>
                              </p:par>
                              <p:par>
                                <p:cTn id="81" presetID="22" presetClass="entr" presetSubtype="4" fill="hold" nodeType="withEffect">
                                  <p:stCondLst>
                                    <p:cond delay="0"/>
                                  </p:stCondLst>
                                  <p:childTnLst>
                                    <p:set>
                                      <p:cBhvr>
                                        <p:cTn id="82" dur="1" fill="hold">
                                          <p:stCondLst>
                                            <p:cond delay="0"/>
                                          </p:stCondLst>
                                        </p:cTn>
                                        <p:tgtEl>
                                          <p:spTgt spid="100"/>
                                        </p:tgtEl>
                                        <p:attrNameLst>
                                          <p:attrName>style.visibility</p:attrName>
                                        </p:attrNameLst>
                                      </p:cBhvr>
                                      <p:to>
                                        <p:strVal val="visible"/>
                                      </p:to>
                                    </p:set>
                                    <p:animEffect transition="in" filter="wipe(down)">
                                      <p:cBhvr>
                                        <p:cTn id="83" dur="500"/>
                                        <p:tgtEl>
                                          <p:spTgt spid="100"/>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101"/>
                                        </p:tgtEl>
                                        <p:attrNameLst>
                                          <p:attrName>style.visibility</p:attrName>
                                        </p:attrNameLst>
                                      </p:cBhvr>
                                      <p:to>
                                        <p:strVal val="visible"/>
                                      </p:to>
                                    </p:set>
                                    <p:animEffect transition="in" filter="wipe(down)">
                                      <p:cBhvr>
                                        <p:cTn id="86" dur="500"/>
                                        <p:tgtEl>
                                          <p:spTgt spid="101"/>
                                        </p:tgtEl>
                                      </p:cBhvr>
                                    </p:animEffect>
                                  </p:childTnLst>
                                </p:cTn>
                              </p:par>
                              <p:par>
                                <p:cTn id="87" presetID="22" presetClass="entr" presetSubtype="4" fill="hold" grpId="0" nodeType="withEffect">
                                  <p:stCondLst>
                                    <p:cond delay="0"/>
                                  </p:stCondLst>
                                  <p:childTnLst>
                                    <p:set>
                                      <p:cBhvr>
                                        <p:cTn id="88" dur="1" fill="hold">
                                          <p:stCondLst>
                                            <p:cond delay="0"/>
                                          </p:stCondLst>
                                        </p:cTn>
                                        <p:tgtEl>
                                          <p:spTgt spid="102"/>
                                        </p:tgtEl>
                                        <p:attrNameLst>
                                          <p:attrName>style.visibility</p:attrName>
                                        </p:attrNameLst>
                                      </p:cBhvr>
                                      <p:to>
                                        <p:strVal val="visible"/>
                                      </p:to>
                                    </p:set>
                                    <p:animEffect transition="in" filter="wipe(down)">
                                      <p:cBhvr>
                                        <p:cTn id="89" dur="500"/>
                                        <p:tgtEl>
                                          <p:spTgt spid="102"/>
                                        </p:tgtEl>
                                      </p:cBhvr>
                                    </p:animEffect>
                                  </p:childTnLst>
                                </p:cTn>
                              </p:par>
                              <p:par>
                                <p:cTn id="90" presetID="22" presetClass="entr" presetSubtype="4" fill="hold" grpId="0" nodeType="withEffect">
                                  <p:stCondLst>
                                    <p:cond delay="0"/>
                                  </p:stCondLst>
                                  <p:childTnLst>
                                    <p:set>
                                      <p:cBhvr>
                                        <p:cTn id="91" dur="1" fill="hold">
                                          <p:stCondLst>
                                            <p:cond delay="0"/>
                                          </p:stCondLst>
                                        </p:cTn>
                                        <p:tgtEl>
                                          <p:spTgt spid="103"/>
                                        </p:tgtEl>
                                        <p:attrNameLst>
                                          <p:attrName>style.visibility</p:attrName>
                                        </p:attrNameLst>
                                      </p:cBhvr>
                                      <p:to>
                                        <p:strVal val="visible"/>
                                      </p:to>
                                    </p:set>
                                    <p:animEffect transition="in" filter="wipe(down)">
                                      <p:cBhvr>
                                        <p:cTn id="92" dur="500"/>
                                        <p:tgtEl>
                                          <p:spTgt spid="103"/>
                                        </p:tgtEl>
                                      </p:cBhvr>
                                    </p:animEffect>
                                  </p:childTnLst>
                                </p:cTn>
                              </p:par>
                              <p:par>
                                <p:cTn id="93" presetID="22" presetClass="entr" presetSubtype="4" fill="hold" grpId="0" nodeType="withEffect">
                                  <p:stCondLst>
                                    <p:cond delay="0"/>
                                  </p:stCondLst>
                                  <p:childTnLst>
                                    <p:set>
                                      <p:cBhvr>
                                        <p:cTn id="94" dur="1" fill="hold">
                                          <p:stCondLst>
                                            <p:cond delay="0"/>
                                          </p:stCondLst>
                                        </p:cTn>
                                        <p:tgtEl>
                                          <p:spTgt spid="104"/>
                                        </p:tgtEl>
                                        <p:attrNameLst>
                                          <p:attrName>style.visibility</p:attrName>
                                        </p:attrNameLst>
                                      </p:cBhvr>
                                      <p:to>
                                        <p:strVal val="visible"/>
                                      </p:to>
                                    </p:set>
                                    <p:animEffect transition="in" filter="wipe(down)">
                                      <p:cBhvr>
                                        <p:cTn id="95" dur="500"/>
                                        <p:tgtEl>
                                          <p:spTgt spid="104"/>
                                        </p:tgtEl>
                                      </p:cBhvr>
                                    </p:animEffect>
                                  </p:childTnLst>
                                </p:cTn>
                              </p:par>
                              <p:par>
                                <p:cTn id="96" presetID="22" presetClass="entr" presetSubtype="4" fill="hold" grpId="0" nodeType="withEffect">
                                  <p:stCondLst>
                                    <p:cond delay="0"/>
                                  </p:stCondLst>
                                  <p:childTnLst>
                                    <p:set>
                                      <p:cBhvr>
                                        <p:cTn id="97" dur="1" fill="hold">
                                          <p:stCondLst>
                                            <p:cond delay="0"/>
                                          </p:stCondLst>
                                        </p:cTn>
                                        <p:tgtEl>
                                          <p:spTgt spid="105"/>
                                        </p:tgtEl>
                                        <p:attrNameLst>
                                          <p:attrName>style.visibility</p:attrName>
                                        </p:attrNameLst>
                                      </p:cBhvr>
                                      <p:to>
                                        <p:strVal val="visible"/>
                                      </p:to>
                                    </p:set>
                                    <p:animEffect transition="in" filter="wipe(down)">
                                      <p:cBhvr>
                                        <p:cTn id="98" dur="500"/>
                                        <p:tgtEl>
                                          <p:spTgt spid="105"/>
                                        </p:tgtEl>
                                      </p:cBhvr>
                                    </p:animEffect>
                                  </p:childTnLst>
                                </p:cTn>
                              </p:par>
                              <p:par>
                                <p:cTn id="99" presetID="22" presetClass="entr" presetSubtype="4" fill="hold" grpId="0" nodeType="withEffect">
                                  <p:stCondLst>
                                    <p:cond delay="0"/>
                                  </p:stCondLst>
                                  <p:childTnLst>
                                    <p:set>
                                      <p:cBhvr>
                                        <p:cTn id="100" dur="1" fill="hold">
                                          <p:stCondLst>
                                            <p:cond delay="0"/>
                                          </p:stCondLst>
                                        </p:cTn>
                                        <p:tgtEl>
                                          <p:spTgt spid="106"/>
                                        </p:tgtEl>
                                        <p:attrNameLst>
                                          <p:attrName>style.visibility</p:attrName>
                                        </p:attrNameLst>
                                      </p:cBhvr>
                                      <p:to>
                                        <p:strVal val="visible"/>
                                      </p:to>
                                    </p:set>
                                    <p:animEffect transition="in" filter="wipe(down)">
                                      <p:cBhvr>
                                        <p:cTn id="101" dur="500"/>
                                        <p:tgtEl>
                                          <p:spTgt spid="106"/>
                                        </p:tgtEl>
                                      </p:cBhvr>
                                    </p:animEffect>
                                  </p:childTnLst>
                                </p:cTn>
                              </p:par>
                              <p:par>
                                <p:cTn id="102" presetID="22" presetClass="entr" presetSubtype="4" fill="hold" grpId="0" nodeType="withEffect">
                                  <p:stCondLst>
                                    <p:cond delay="0"/>
                                  </p:stCondLst>
                                  <p:childTnLst>
                                    <p:set>
                                      <p:cBhvr>
                                        <p:cTn id="103" dur="1" fill="hold">
                                          <p:stCondLst>
                                            <p:cond delay="0"/>
                                          </p:stCondLst>
                                        </p:cTn>
                                        <p:tgtEl>
                                          <p:spTgt spid="107"/>
                                        </p:tgtEl>
                                        <p:attrNameLst>
                                          <p:attrName>style.visibility</p:attrName>
                                        </p:attrNameLst>
                                      </p:cBhvr>
                                      <p:to>
                                        <p:strVal val="visible"/>
                                      </p:to>
                                    </p:set>
                                    <p:animEffect transition="in" filter="wipe(down)">
                                      <p:cBhvr>
                                        <p:cTn id="104" dur="500"/>
                                        <p:tgtEl>
                                          <p:spTgt spid="107"/>
                                        </p:tgtEl>
                                      </p:cBhvr>
                                    </p:animEffect>
                                  </p:childTnLst>
                                </p:cTn>
                              </p:par>
                              <p:par>
                                <p:cTn id="105" presetID="22" presetClass="entr" presetSubtype="4" fill="hold" grpId="0" nodeType="withEffect">
                                  <p:stCondLst>
                                    <p:cond delay="0"/>
                                  </p:stCondLst>
                                  <p:childTnLst>
                                    <p:set>
                                      <p:cBhvr>
                                        <p:cTn id="106" dur="1" fill="hold">
                                          <p:stCondLst>
                                            <p:cond delay="0"/>
                                          </p:stCondLst>
                                        </p:cTn>
                                        <p:tgtEl>
                                          <p:spTgt spid="108"/>
                                        </p:tgtEl>
                                        <p:attrNameLst>
                                          <p:attrName>style.visibility</p:attrName>
                                        </p:attrNameLst>
                                      </p:cBhvr>
                                      <p:to>
                                        <p:strVal val="visible"/>
                                      </p:to>
                                    </p:set>
                                    <p:animEffect transition="in" filter="wipe(down)">
                                      <p:cBhvr>
                                        <p:cTn id="107" dur="500"/>
                                        <p:tgtEl>
                                          <p:spTgt spid="108"/>
                                        </p:tgtEl>
                                      </p:cBhvr>
                                    </p:animEffect>
                                  </p:childTnLst>
                                </p:cTn>
                              </p:par>
                              <p:par>
                                <p:cTn id="108" presetID="22" presetClass="entr" presetSubtype="4" fill="hold" grpId="0" nodeType="withEffect">
                                  <p:stCondLst>
                                    <p:cond delay="0"/>
                                  </p:stCondLst>
                                  <p:childTnLst>
                                    <p:set>
                                      <p:cBhvr>
                                        <p:cTn id="109" dur="1" fill="hold">
                                          <p:stCondLst>
                                            <p:cond delay="0"/>
                                          </p:stCondLst>
                                        </p:cTn>
                                        <p:tgtEl>
                                          <p:spTgt spid="109"/>
                                        </p:tgtEl>
                                        <p:attrNameLst>
                                          <p:attrName>style.visibility</p:attrName>
                                        </p:attrNameLst>
                                      </p:cBhvr>
                                      <p:to>
                                        <p:strVal val="visible"/>
                                      </p:to>
                                    </p:set>
                                    <p:animEffect transition="in" filter="wipe(down)">
                                      <p:cBhvr>
                                        <p:cTn id="110" dur="500"/>
                                        <p:tgtEl>
                                          <p:spTgt spid="109"/>
                                        </p:tgtEl>
                                      </p:cBhvr>
                                    </p:animEffect>
                                  </p:childTnLst>
                                </p:cTn>
                              </p:par>
                              <p:par>
                                <p:cTn id="111" presetID="22" presetClass="entr" presetSubtype="4" fill="hold" grpId="0" nodeType="withEffect">
                                  <p:stCondLst>
                                    <p:cond delay="0"/>
                                  </p:stCondLst>
                                  <p:childTnLst>
                                    <p:set>
                                      <p:cBhvr>
                                        <p:cTn id="112" dur="1" fill="hold">
                                          <p:stCondLst>
                                            <p:cond delay="0"/>
                                          </p:stCondLst>
                                        </p:cTn>
                                        <p:tgtEl>
                                          <p:spTgt spid="110"/>
                                        </p:tgtEl>
                                        <p:attrNameLst>
                                          <p:attrName>style.visibility</p:attrName>
                                        </p:attrNameLst>
                                      </p:cBhvr>
                                      <p:to>
                                        <p:strVal val="visible"/>
                                      </p:to>
                                    </p:set>
                                    <p:animEffect transition="in" filter="wipe(down)">
                                      <p:cBhvr>
                                        <p:cTn id="113" dur="500"/>
                                        <p:tgtEl>
                                          <p:spTgt spid="110"/>
                                        </p:tgtEl>
                                      </p:cBhvr>
                                    </p:animEffect>
                                  </p:childTnLst>
                                </p:cTn>
                              </p:par>
                              <p:par>
                                <p:cTn id="114" presetID="22" presetClass="entr" presetSubtype="4" fill="hold" grpId="0" nodeType="withEffect">
                                  <p:stCondLst>
                                    <p:cond delay="0"/>
                                  </p:stCondLst>
                                  <p:childTnLst>
                                    <p:set>
                                      <p:cBhvr>
                                        <p:cTn id="115" dur="1" fill="hold">
                                          <p:stCondLst>
                                            <p:cond delay="0"/>
                                          </p:stCondLst>
                                        </p:cTn>
                                        <p:tgtEl>
                                          <p:spTgt spid="111"/>
                                        </p:tgtEl>
                                        <p:attrNameLst>
                                          <p:attrName>style.visibility</p:attrName>
                                        </p:attrNameLst>
                                      </p:cBhvr>
                                      <p:to>
                                        <p:strVal val="visible"/>
                                      </p:to>
                                    </p:set>
                                    <p:animEffect transition="in" filter="wipe(down)">
                                      <p:cBhvr>
                                        <p:cTn id="116" dur="500"/>
                                        <p:tgtEl>
                                          <p:spTgt spid="111"/>
                                        </p:tgtEl>
                                      </p:cBhvr>
                                    </p:animEffect>
                                  </p:childTnLst>
                                </p:cTn>
                              </p:par>
                              <p:par>
                                <p:cTn id="117" presetID="22" presetClass="entr" presetSubtype="4" fill="hold" grpId="0" nodeType="withEffect">
                                  <p:stCondLst>
                                    <p:cond delay="0"/>
                                  </p:stCondLst>
                                  <p:childTnLst>
                                    <p:set>
                                      <p:cBhvr>
                                        <p:cTn id="118" dur="1" fill="hold">
                                          <p:stCondLst>
                                            <p:cond delay="0"/>
                                          </p:stCondLst>
                                        </p:cTn>
                                        <p:tgtEl>
                                          <p:spTgt spid="112"/>
                                        </p:tgtEl>
                                        <p:attrNameLst>
                                          <p:attrName>style.visibility</p:attrName>
                                        </p:attrNameLst>
                                      </p:cBhvr>
                                      <p:to>
                                        <p:strVal val="visible"/>
                                      </p:to>
                                    </p:set>
                                    <p:animEffect transition="in" filter="wipe(down)">
                                      <p:cBhvr>
                                        <p:cTn id="119" dur="500"/>
                                        <p:tgtEl>
                                          <p:spTgt spid="112"/>
                                        </p:tgtEl>
                                      </p:cBhvr>
                                    </p:animEffect>
                                  </p:childTnLst>
                                </p:cTn>
                              </p:par>
                              <p:par>
                                <p:cTn id="120" presetID="22" presetClass="entr" presetSubtype="4" fill="hold" grpId="0" nodeType="withEffect">
                                  <p:stCondLst>
                                    <p:cond delay="0"/>
                                  </p:stCondLst>
                                  <p:childTnLst>
                                    <p:set>
                                      <p:cBhvr>
                                        <p:cTn id="121" dur="1" fill="hold">
                                          <p:stCondLst>
                                            <p:cond delay="0"/>
                                          </p:stCondLst>
                                        </p:cTn>
                                        <p:tgtEl>
                                          <p:spTgt spid="113"/>
                                        </p:tgtEl>
                                        <p:attrNameLst>
                                          <p:attrName>style.visibility</p:attrName>
                                        </p:attrNameLst>
                                      </p:cBhvr>
                                      <p:to>
                                        <p:strVal val="visible"/>
                                      </p:to>
                                    </p:set>
                                    <p:animEffect transition="in" filter="wipe(down)">
                                      <p:cBhvr>
                                        <p:cTn id="122" dur="500"/>
                                        <p:tgtEl>
                                          <p:spTgt spid="113"/>
                                        </p:tgtEl>
                                      </p:cBhvr>
                                    </p:animEffect>
                                  </p:childTnLst>
                                </p:cTn>
                              </p:par>
                              <p:par>
                                <p:cTn id="123" presetID="22" presetClass="entr" presetSubtype="4" fill="hold" grpId="0" nodeType="withEffect">
                                  <p:stCondLst>
                                    <p:cond delay="0"/>
                                  </p:stCondLst>
                                  <p:childTnLst>
                                    <p:set>
                                      <p:cBhvr>
                                        <p:cTn id="124" dur="1" fill="hold">
                                          <p:stCondLst>
                                            <p:cond delay="0"/>
                                          </p:stCondLst>
                                        </p:cTn>
                                        <p:tgtEl>
                                          <p:spTgt spid="114"/>
                                        </p:tgtEl>
                                        <p:attrNameLst>
                                          <p:attrName>style.visibility</p:attrName>
                                        </p:attrNameLst>
                                      </p:cBhvr>
                                      <p:to>
                                        <p:strVal val="visible"/>
                                      </p:to>
                                    </p:set>
                                    <p:animEffect transition="in" filter="wipe(down)">
                                      <p:cBhvr>
                                        <p:cTn id="125" dur="500"/>
                                        <p:tgtEl>
                                          <p:spTgt spid="114"/>
                                        </p:tgtEl>
                                      </p:cBhvr>
                                    </p:animEffect>
                                  </p:childTnLst>
                                </p:cTn>
                              </p:par>
                              <p:par>
                                <p:cTn id="126" presetID="22" presetClass="entr" presetSubtype="4" fill="hold" grpId="0" nodeType="withEffect">
                                  <p:stCondLst>
                                    <p:cond delay="0"/>
                                  </p:stCondLst>
                                  <p:childTnLst>
                                    <p:set>
                                      <p:cBhvr>
                                        <p:cTn id="127" dur="1" fill="hold">
                                          <p:stCondLst>
                                            <p:cond delay="0"/>
                                          </p:stCondLst>
                                        </p:cTn>
                                        <p:tgtEl>
                                          <p:spTgt spid="115"/>
                                        </p:tgtEl>
                                        <p:attrNameLst>
                                          <p:attrName>style.visibility</p:attrName>
                                        </p:attrNameLst>
                                      </p:cBhvr>
                                      <p:to>
                                        <p:strVal val="visible"/>
                                      </p:to>
                                    </p:set>
                                    <p:animEffect transition="in" filter="wipe(down)">
                                      <p:cBhvr>
                                        <p:cTn id="128" dur="500"/>
                                        <p:tgtEl>
                                          <p:spTgt spid="115"/>
                                        </p:tgtEl>
                                      </p:cBhvr>
                                    </p:animEffect>
                                  </p:childTnLst>
                                </p:cTn>
                              </p:par>
                              <p:par>
                                <p:cTn id="129" presetID="22" presetClass="entr" presetSubtype="4" fill="hold" grpId="0" nodeType="withEffect">
                                  <p:stCondLst>
                                    <p:cond delay="0"/>
                                  </p:stCondLst>
                                  <p:childTnLst>
                                    <p:set>
                                      <p:cBhvr>
                                        <p:cTn id="130" dur="1" fill="hold">
                                          <p:stCondLst>
                                            <p:cond delay="0"/>
                                          </p:stCondLst>
                                        </p:cTn>
                                        <p:tgtEl>
                                          <p:spTgt spid="116"/>
                                        </p:tgtEl>
                                        <p:attrNameLst>
                                          <p:attrName>style.visibility</p:attrName>
                                        </p:attrNameLst>
                                      </p:cBhvr>
                                      <p:to>
                                        <p:strVal val="visible"/>
                                      </p:to>
                                    </p:set>
                                    <p:animEffect transition="in" filter="wipe(down)">
                                      <p:cBhvr>
                                        <p:cTn id="131" dur="500"/>
                                        <p:tgtEl>
                                          <p:spTgt spid="116"/>
                                        </p:tgtEl>
                                      </p:cBhvr>
                                    </p:animEffect>
                                  </p:childTnLst>
                                </p:cTn>
                              </p:par>
                              <p:par>
                                <p:cTn id="132" presetID="22" presetClass="entr" presetSubtype="4" fill="hold" grpId="0" nodeType="withEffect">
                                  <p:stCondLst>
                                    <p:cond delay="0"/>
                                  </p:stCondLst>
                                  <p:childTnLst>
                                    <p:set>
                                      <p:cBhvr>
                                        <p:cTn id="133" dur="1" fill="hold">
                                          <p:stCondLst>
                                            <p:cond delay="0"/>
                                          </p:stCondLst>
                                        </p:cTn>
                                        <p:tgtEl>
                                          <p:spTgt spid="76"/>
                                        </p:tgtEl>
                                        <p:attrNameLst>
                                          <p:attrName>style.visibility</p:attrName>
                                        </p:attrNameLst>
                                      </p:cBhvr>
                                      <p:to>
                                        <p:strVal val="visible"/>
                                      </p:to>
                                    </p:set>
                                    <p:animEffect transition="in" filter="wipe(down)">
                                      <p:cBhvr>
                                        <p:cTn id="134" dur="500"/>
                                        <p:tgtEl>
                                          <p:spTgt spid="76"/>
                                        </p:tgtEl>
                                      </p:cBhvr>
                                    </p:animEffect>
                                  </p:childTnLst>
                                </p:cTn>
                              </p:par>
                              <p:par>
                                <p:cTn id="135" presetID="22" presetClass="entr" presetSubtype="4" fill="hold" grpId="0" nodeType="withEffect">
                                  <p:stCondLst>
                                    <p:cond delay="0"/>
                                  </p:stCondLst>
                                  <p:childTnLst>
                                    <p:set>
                                      <p:cBhvr>
                                        <p:cTn id="136" dur="1" fill="hold">
                                          <p:stCondLst>
                                            <p:cond delay="0"/>
                                          </p:stCondLst>
                                        </p:cTn>
                                        <p:tgtEl>
                                          <p:spTgt spid="118"/>
                                        </p:tgtEl>
                                        <p:attrNameLst>
                                          <p:attrName>style.visibility</p:attrName>
                                        </p:attrNameLst>
                                      </p:cBhvr>
                                      <p:to>
                                        <p:strVal val="visible"/>
                                      </p:to>
                                    </p:set>
                                    <p:animEffect transition="in" filter="wipe(down)">
                                      <p:cBhvr>
                                        <p:cTn id="137" dur="500"/>
                                        <p:tgtEl>
                                          <p:spTgt spid="118"/>
                                        </p:tgtEl>
                                      </p:cBhvr>
                                    </p:animEffect>
                                  </p:childTnLst>
                                </p:cTn>
                              </p:par>
                              <p:par>
                                <p:cTn id="138" presetID="22" presetClass="entr" presetSubtype="4" fill="hold" grpId="0" nodeType="withEffect">
                                  <p:stCondLst>
                                    <p:cond delay="0"/>
                                  </p:stCondLst>
                                  <p:childTnLst>
                                    <p:set>
                                      <p:cBhvr>
                                        <p:cTn id="139" dur="1" fill="hold">
                                          <p:stCondLst>
                                            <p:cond delay="0"/>
                                          </p:stCondLst>
                                        </p:cTn>
                                        <p:tgtEl>
                                          <p:spTgt spid="119"/>
                                        </p:tgtEl>
                                        <p:attrNameLst>
                                          <p:attrName>style.visibility</p:attrName>
                                        </p:attrNameLst>
                                      </p:cBhvr>
                                      <p:to>
                                        <p:strVal val="visible"/>
                                      </p:to>
                                    </p:set>
                                    <p:animEffect transition="in" filter="wipe(down)">
                                      <p:cBhvr>
                                        <p:cTn id="140" dur="500"/>
                                        <p:tgtEl>
                                          <p:spTgt spid="119"/>
                                        </p:tgtEl>
                                      </p:cBhvr>
                                    </p:animEffect>
                                  </p:childTnLst>
                                </p:cTn>
                              </p:par>
                              <p:par>
                                <p:cTn id="141" presetID="22" presetClass="entr" presetSubtype="4" fill="hold" grpId="0" nodeType="withEffect">
                                  <p:stCondLst>
                                    <p:cond delay="0"/>
                                  </p:stCondLst>
                                  <p:childTnLst>
                                    <p:set>
                                      <p:cBhvr>
                                        <p:cTn id="142" dur="1" fill="hold">
                                          <p:stCondLst>
                                            <p:cond delay="0"/>
                                          </p:stCondLst>
                                        </p:cTn>
                                        <p:tgtEl>
                                          <p:spTgt spid="120"/>
                                        </p:tgtEl>
                                        <p:attrNameLst>
                                          <p:attrName>style.visibility</p:attrName>
                                        </p:attrNameLst>
                                      </p:cBhvr>
                                      <p:to>
                                        <p:strVal val="visible"/>
                                      </p:to>
                                    </p:set>
                                    <p:animEffect transition="in" filter="wipe(down)">
                                      <p:cBhvr>
                                        <p:cTn id="143" dur="500"/>
                                        <p:tgtEl>
                                          <p:spTgt spid="120"/>
                                        </p:tgtEl>
                                      </p:cBhvr>
                                    </p:animEffect>
                                  </p:childTnLst>
                                </p:cTn>
                              </p:par>
                              <p:par>
                                <p:cTn id="144" presetID="22" presetClass="entr" presetSubtype="4" fill="hold" grpId="0" nodeType="withEffect">
                                  <p:stCondLst>
                                    <p:cond delay="0"/>
                                  </p:stCondLst>
                                  <p:childTnLst>
                                    <p:set>
                                      <p:cBhvr>
                                        <p:cTn id="145" dur="1" fill="hold">
                                          <p:stCondLst>
                                            <p:cond delay="0"/>
                                          </p:stCondLst>
                                        </p:cTn>
                                        <p:tgtEl>
                                          <p:spTgt spid="121"/>
                                        </p:tgtEl>
                                        <p:attrNameLst>
                                          <p:attrName>style.visibility</p:attrName>
                                        </p:attrNameLst>
                                      </p:cBhvr>
                                      <p:to>
                                        <p:strVal val="visible"/>
                                      </p:to>
                                    </p:set>
                                    <p:animEffect transition="in" filter="wipe(down)">
                                      <p:cBhvr>
                                        <p:cTn id="146" dur="500"/>
                                        <p:tgtEl>
                                          <p:spTgt spid="121"/>
                                        </p:tgtEl>
                                      </p:cBhvr>
                                    </p:animEffect>
                                  </p:childTnLst>
                                </p:cTn>
                              </p:par>
                              <p:par>
                                <p:cTn id="147" presetID="22" presetClass="entr" presetSubtype="4" fill="hold" grpId="0" nodeType="withEffect">
                                  <p:stCondLst>
                                    <p:cond delay="0"/>
                                  </p:stCondLst>
                                  <p:childTnLst>
                                    <p:set>
                                      <p:cBhvr>
                                        <p:cTn id="148" dur="1" fill="hold">
                                          <p:stCondLst>
                                            <p:cond delay="0"/>
                                          </p:stCondLst>
                                        </p:cTn>
                                        <p:tgtEl>
                                          <p:spTgt spid="122"/>
                                        </p:tgtEl>
                                        <p:attrNameLst>
                                          <p:attrName>style.visibility</p:attrName>
                                        </p:attrNameLst>
                                      </p:cBhvr>
                                      <p:to>
                                        <p:strVal val="visible"/>
                                      </p:to>
                                    </p:set>
                                    <p:animEffect transition="in" filter="wipe(down)">
                                      <p:cBhvr>
                                        <p:cTn id="149" dur="500"/>
                                        <p:tgtEl>
                                          <p:spTgt spid="122"/>
                                        </p:tgtEl>
                                      </p:cBhvr>
                                    </p:animEffect>
                                  </p:childTnLst>
                                </p:cTn>
                              </p:par>
                              <p:par>
                                <p:cTn id="150" presetID="22" presetClass="entr" presetSubtype="4" fill="hold" grpId="0" nodeType="withEffect">
                                  <p:stCondLst>
                                    <p:cond delay="0"/>
                                  </p:stCondLst>
                                  <p:childTnLst>
                                    <p:set>
                                      <p:cBhvr>
                                        <p:cTn id="151" dur="1" fill="hold">
                                          <p:stCondLst>
                                            <p:cond delay="0"/>
                                          </p:stCondLst>
                                        </p:cTn>
                                        <p:tgtEl>
                                          <p:spTgt spid="123"/>
                                        </p:tgtEl>
                                        <p:attrNameLst>
                                          <p:attrName>style.visibility</p:attrName>
                                        </p:attrNameLst>
                                      </p:cBhvr>
                                      <p:to>
                                        <p:strVal val="visible"/>
                                      </p:to>
                                    </p:set>
                                    <p:animEffect transition="in" filter="wipe(down)">
                                      <p:cBhvr>
                                        <p:cTn id="152" dur="500"/>
                                        <p:tgtEl>
                                          <p:spTgt spid="123"/>
                                        </p:tgtEl>
                                      </p:cBhvr>
                                    </p:animEffect>
                                  </p:childTnLst>
                                </p:cTn>
                              </p:par>
                              <p:par>
                                <p:cTn id="153" presetID="22" presetClass="entr" presetSubtype="4" fill="hold" grpId="0" nodeType="withEffect">
                                  <p:stCondLst>
                                    <p:cond delay="0"/>
                                  </p:stCondLst>
                                  <p:childTnLst>
                                    <p:set>
                                      <p:cBhvr>
                                        <p:cTn id="154" dur="1" fill="hold">
                                          <p:stCondLst>
                                            <p:cond delay="0"/>
                                          </p:stCondLst>
                                        </p:cTn>
                                        <p:tgtEl>
                                          <p:spTgt spid="124"/>
                                        </p:tgtEl>
                                        <p:attrNameLst>
                                          <p:attrName>style.visibility</p:attrName>
                                        </p:attrNameLst>
                                      </p:cBhvr>
                                      <p:to>
                                        <p:strVal val="visible"/>
                                      </p:to>
                                    </p:set>
                                    <p:animEffect transition="in" filter="wipe(down)">
                                      <p:cBhvr>
                                        <p:cTn id="155" dur="500"/>
                                        <p:tgtEl>
                                          <p:spTgt spid="124"/>
                                        </p:tgtEl>
                                      </p:cBhvr>
                                    </p:animEffect>
                                  </p:childTnLst>
                                </p:cTn>
                              </p:par>
                              <p:par>
                                <p:cTn id="156" presetID="22" presetClass="entr" presetSubtype="4" fill="hold" grpId="0" nodeType="withEffect">
                                  <p:stCondLst>
                                    <p:cond delay="0"/>
                                  </p:stCondLst>
                                  <p:childTnLst>
                                    <p:set>
                                      <p:cBhvr>
                                        <p:cTn id="157" dur="1" fill="hold">
                                          <p:stCondLst>
                                            <p:cond delay="0"/>
                                          </p:stCondLst>
                                        </p:cTn>
                                        <p:tgtEl>
                                          <p:spTgt spid="125"/>
                                        </p:tgtEl>
                                        <p:attrNameLst>
                                          <p:attrName>style.visibility</p:attrName>
                                        </p:attrNameLst>
                                      </p:cBhvr>
                                      <p:to>
                                        <p:strVal val="visible"/>
                                      </p:to>
                                    </p:set>
                                    <p:animEffect transition="in" filter="wipe(down)">
                                      <p:cBhvr>
                                        <p:cTn id="158" dur="500"/>
                                        <p:tgtEl>
                                          <p:spTgt spid="125"/>
                                        </p:tgtEl>
                                      </p:cBhvr>
                                    </p:animEffect>
                                  </p:childTnLst>
                                </p:cTn>
                              </p:par>
                              <p:par>
                                <p:cTn id="159" presetID="22" presetClass="entr" presetSubtype="4" fill="hold" grpId="0" nodeType="withEffect">
                                  <p:stCondLst>
                                    <p:cond delay="0"/>
                                  </p:stCondLst>
                                  <p:childTnLst>
                                    <p:set>
                                      <p:cBhvr>
                                        <p:cTn id="160" dur="1" fill="hold">
                                          <p:stCondLst>
                                            <p:cond delay="0"/>
                                          </p:stCondLst>
                                        </p:cTn>
                                        <p:tgtEl>
                                          <p:spTgt spid="126"/>
                                        </p:tgtEl>
                                        <p:attrNameLst>
                                          <p:attrName>style.visibility</p:attrName>
                                        </p:attrNameLst>
                                      </p:cBhvr>
                                      <p:to>
                                        <p:strVal val="visible"/>
                                      </p:to>
                                    </p:set>
                                    <p:animEffect transition="in" filter="wipe(down)">
                                      <p:cBhvr>
                                        <p:cTn id="161" dur="500"/>
                                        <p:tgtEl>
                                          <p:spTgt spid="126"/>
                                        </p:tgtEl>
                                      </p:cBhvr>
                                    </p:animEffect>
                                  </p:childTnLst>
                                </p:cTn>
                              </p:par>
                              <p:par>
                                <p:cTn id="162" presetID="22" presetClass="entr" presetSubtype="4" fill="hold" grpId="0" nodeType="withEffect">
                                  <p:stCondLst>
                                    <p:cond delay="0"/>
                                  </p:stCondLst>
                                  <p:childTnLst>
                                    <p:set>
                                      <p:cBhvr>
                                        <p:cTn id="163" dur="1" fill="hold">
                                          <p:stCondLst>
                                            <p:cond delay="0"/>
                                          </p:stCondLst>
                                        </p:cTn>
                                        <p:tgtEl>
                                          <p:spTgt spid="127"/>
                                        </p:tgtEl>
                                        <p:attrNameLst>
                                          <p:attrName>style.visibility</p:attrName>
                                        </p:attrNameLst>
                                      </p:cBhvr>
                                      <p:to>
                                        <p:strVal val="visible"/>
                                      </p:to>
                                    </p:set>
                                    <p:animEffect transition="in" filter="wipe(down)">
                                      <p:cBhvr>
                                        <p:cTn id="164" dur="500"/>
                                        <p:tgtEl>
                                          <p:spTgt spid="127"/>
                                        </p:tgtEl>
                                      </p:cBhvr>
                                    </p:animEffect>
                                  </p:childTnLst>
                                </p:cTn>
                              </p:par>
                              <p:par>
                                <p:cTn id="165" presetID="22" presetClass="entr" presetSubtype="4" fill="hold" grpId="0" nodeType="withEffect">
                                  <p:stCondLst>
                                    <p:cond delay="0"/>
                                  </p:stCondLst>
                                  <p:childTnLst>
                                    <p:set>
                                      <p:cBhvr>
                                        <p:cTn id="166" dur="1" fill="hold">
                                          <p:stCondLst>
                                            <p:cond delay="0"/>
                                          </p:stCondLst>
                                        </p:cTn>
                                        <p:tgtEl>
                                          <p:spTgt spid="128"/>
                                        </p:tgtEl>
                                        <p:attrNameLst>
                                          <p:attrName>style.visibility</p:attrName>
                                        </p:attrNameLst>
                                      </p:cBhvr>
                                      <p:to>
                                        <p:strVal val="visible"/>
                                      </p:to>
                                    </p:set>
                                    <p:animEffect transition="in" filter="wipe(down)">
                                      <p:cBhvr>
                                        <p:cTn id="167" dur="500"/>
                                        <p:tgtEl>
                                          <p:spTgt spid="128"/>
                                        </p:tgtEl>
                                      </p:cBhvr>
                                    </p:animEffect>
                                  </p:childTnLst>
                                </p:cTn>
                              </p:par>
                              <p:par>
                                <p:cTn id="168" presetID="22" presetClass="entr" presetSubtype="4" fill="hold" grpId="0" nodeType="withEffect">
                                  <p:stCondLst>
                                    <p:cond delay="0"/>
                                  </p:stCondLst>
                                  <p:childTnLst>
                                    <p:set>
                                      <p:cBhvr>
                                        <p:cTn id="169" dur="1" fill="hold">
                                          <p:stCondLst>
                                            <p:cond delay="0"/>
                                          </p:stCondLst>
                                        </p:cTn>
                                        <p:tgtEl>
                                          <p:spTgt spid="129"/>
                                        </p:tgtEl>
                                        <p:attrNameLst>
                                          <p:attrName>style.visibility</p:attrName>
                                        </p:attrNameLst>
                                      </p:cBhvr>
                                      <p:to>
                                        <p:strVal val="visible"/>
                                      </p:to>
                                    </p:set>
                                    <p:animEffect transition="in" filter="wipe(down)">
                                      <p:cBhvr>
                                        <p:cTn id="170" dur="500"/>
                                        <p:tgtEl>
                                          <p:spTgt spid="129"/>
                                        </p:tgtEl>
                                      </p:cBhvr>
                                    </p:animEffect>
                                  </p:childTnLst>
                                </p:cTn>
                              </p:par>
                              <p:par>
                                <p:cTn id="171" presetID="22" presetClass="entr" presetSubtype="4" fill="hold" nodeType="withEffect">
                                  <p:stCondLst>
                                    <p:cond delay="0"/>
                                  </p:stCondLst>
                                  <p:childTnLst>
                                    <p:set>
                                      <p:cBhvr>
                                        <p:cTn id="172" dur="1" fill="hold">
                                          <p:stCondLst>
                                            <p:cond delay="0"/>
                                          </p:stCondLst>
                                        </p:cTn>
                                        <p:tgtEl>
                                          <p:spTgt spid="130"/>
                                        </p:tgtEl>
                                        <p:attrNameLst>
                                          <p:attrName>style.visibility</p:attrName>
                                        </p:attrNameLst>
                                      </p:cBhvr>
                                      <p:to>
                                        <p:strVal val="visible"/>
                                      </p:to>
                                    </p:set>
                                    <p:animEffect transition="in" filter="wipe(down)">
                                      <p:cBhvr>
                                        <p:cTn id="173" dur="500"/>
                                        <p:tgtEl>
                                          <p:spTgt spid="130"/>
                                        </p:tgtEl>
                                      </p:cBhvr>
                                    </p:animEffect>
                                  </p:childTnLst>
                                </p:cTn>
                              </p:par>
                              <p:par>
                                <p:cTn id="174" presetID="22" presetClass="entr" presetSubtype="4" fill="hold" nodeType="withEffect">
                                  <p:stCondLst>
                                    <p:cond delay="0"/>
                                  </p:stCondLst>
                                  <p:childTnLst>
                                    <p:set>
                                      <p:cBhvr>
                                        <p:cTn id="175" dur="1" fill="hold">
                                          <p:stCondLst>
                                            <p:cond delay="0"/>
                                          </p:stCondLst>
                                        </p:cTn>
                                        <p:tgtEl>
                                          <p:spTgt spid="131"/>
                                        </p:tgtEl>
                                        <p:attrNameLst>
                                          <p:attrName>style.visibility</p:attrName>
                                        </p:attrNameLst>
                                      </p:cBhvr>
                                      <p:to>
                                        <p:strVal val="visible"/>
                                      </p:to>
                                    </p:set>
                                    <p:animEffect transition="in" filter="wipe(down)">
                                      <p:cBhvr>
                                        <p:cTn id="176" dur="500"/>
                                        <p:tgtEl>
                                          <p:spTgt spid="131"/>
                                        </p:tgtEl>
                                      </p:cBhvr>
                                    </p:animEffect>
                                  </p:childTnLst>
                                </p:cTn>
                              </p:par>
                              <p:par>
                                <p:cTn id="177" presetID="22" presetClass="entr" presetSubtype="4" fill="hold" nodeType="withEffect">
                                  <p:stCondLst>
                                    <p:cond delay="0"/>
                                  </p:stCondLst>
                                  <p:childTnLst>
                                    <p:set>
                                      <p:cBhvr>
                                        <p:cTn id="178" dur="1" fill="hold">
                                          <p:stCondLst>
                                            <p:cond delay="0"/>
                                          </p:stCondLst>
                                        </p:cTn>
                                        <p:tgtEl>
                                          <p:spTgt spid="132"/>
                                        </p:tgtEl>
                                        <p:attrNameLst>
                                          <p:attrName>style.visibility</p:attrName>
                                        </p:attrNameLst>
                                      </p:cBhvr>
                                      <p:to>
                                        <p:strVal val="visible"/>
                                      </p:to>
                                    </p:set>
                                    <p:animEffect transition="in" filter="wipe(down)">
                                      <p:cBhvr>
                                        <p:cTn id="179" dur="500"/>
                                        <p:tgtEl>
                                          <p:spTgt spid="132"/>
                                        </p:tgtEl>
                                      </p:cBhvr>
                                    </p:animEffect>
                                  </p:childTnLst>
                                </p:cTn>
                              </p:par>
                              <p:par>
                                <p:cTn id="180" presetID="22" presetClass="entr" presetSubtype="4" fill="hold" nodeType="withEffect">
                                  <p:stCondLst>
                                    <p:cond delay="0"/>
                                  </p:stCondLst>
                                  <p:childTnLst>
                                    <p:set>
                                      <p:cBhvr>
                                        <p:cTn id="181" dur="1" fill="hold">
                                          <p:stCondLst>
                                            <p:cond delay="0"/>
                                          </p:stCondLst>
                                        </p:cTn>
                                        <p:tgtEl>
                                          <p:spTgt spid="133"/>
                                        </p:tgtEl>
                                        <p:attrNameLst>
                                          <p:attrName>style.visibility</p:attrName>
                                        </p:attrNameLst>
                                      </p:cBhvr>
                                      <p:to>
                                        <p:strVal val="visible"/>
                                      </p:to>
                                    </p:set>
                                    <p:animEffect transition="in" filter="wipe(down)">
                                      <p:cBhvr>
                                        <p:cTn id="182" dur="500"/>
                                        <p:tgtEl>
                                          <p:spTgt spid="133"/>
                                        </p:tgtEl>
                                      </p:cBhvr>
                                    </p:animEffect>
                                  </p:childTnLst>
                                </p:cTn>
                              </p:par>
                            </p:childTnLst>
                          </p:cTn>
                        </p:par>
                      </p:childTnLst>
                    </p:cTn>
                  </p:par>
                  <p:par>
                    <p:cTn id="183" fill="hold">
                      <p:stCondLst>
                        <p:cond delay="indefinite"/>
                      </p:stCondLst>
                      <p:childTnLst>
                        <p:par>
                          <p:cTn id="184" fill="hold">
                            <p:stCondLst>
                              <p:cond delay="0"/>
                            </p:stCondLst>
                            <p:childTnLst>
                              <p:par>
                                <p:cTn id="185" presetID="42" presetClass="path" presetSubtype="0" fill="hold" grpId="0" nodeType="clickEffect">
                                  <p:stCondLst>
                                    <p:cond delay="0"/>
                                  </p:stCondLst>
                                  <p:childTnLst>
                                    <p:animMotion origin="layout" path="M -2.70833E-6 -3.7037E-7 L 0.45469 0.21366 " pathEditMode="relative" rAng="0" ptsTypes="AA">
                                      <p:cBhvr>
                                        <p:cTn id="186" dur="1000" fill="hold"/>
                                        <p:tgtEl>
                                          <p:spTgt spid="135"/>
                                        </p:tgtEl>
                                        <p:attrNameLst>
                                          <p:attrName>ppt_x</p:attrName>
                                          <p:attrName>ppt_y</p:attrName>
                                        </p:attrNameLst>
                                      </p:cBhvr>
                                      <p:rCtr x="22734" y="10671"/>
                                    </p:animMotion>
                                  </p:childTnLst>
                                </p:cTn>
                              </p:par>
                            </p:childTnLst>
                          </p:cTn>
                        </p:par>
                      </p:childTnLst>
                    </p:cTn>
                  </p:par>
                  <p:par>
                    <p:cTn id="187" fill="hold">
                      <p:stCondLst>
                        <p:cond delay="indefinite"/>
                      </p:stCondLst>
                      <p:childTnLst>
                        <p:par>
                          <p:cTn id="188" fill="hold">
                            <p:stCondLst>
                              <p:cond delay="0"/>
                            </p:stCondLst>
                            <p:childTnLst>
                              <p:par>
                                <p:cTn id="189" presetID="22" presetClass="entr" presetSubtype="1" fill="hold" nodeType="clickEffect">
                                  <p:stCondLst>
                                    <p:cond delay="0"/>
                                  </p:stCondLst>
                                  <p:childTnLst>
                                    <p:set>
                                      <p:cBhvr>
                                        <p:cTn id="190" dur="1" fill="hold">
                                          <p:stCondLst>
                                            <p:cond delay="0"/>
                                          </p:stCondLst>
                                        </p:cTn>
                                        <p:tgtEl>
                                          <p:spTgt spid="77"/>
                                        </p:tgtEl>
                                        <p:attrNameLst>
                                          <p:attrName>style.visibility</p:attrName>
                                        </p:attrNameLst>
                                      </p:cBhvr>
                                      <p:to>
                                        <p:strVal val="visible"/>
                                      </p:to>
                                    </p:set>
                                    <p:animEffect transition="in" filter="wipe(up)">
                                      <p:cBhvr>
                                        <p:cTn id="191" dur="500"/>
                                        <p:tgtEl>
                                          <p:spTgt spid="77"/>
                                        </p:tgtEl>
                                      </p:cBhvr>
                                    </p:animEffect>
                                  </p:childTnLst>
                                </p:cTn>
                              </p:par>
                            </p:childTnLst>
                          </p:cTn>
                        </p:par>
                      </p:childTnLst>
                    </p:cTn>
                  </p:par>
                  <p:par>
                    <p:cTn id="192" fill="hold">
                      <p:stCondLst>
                        <p:cond delay="indefinite"/>
                      </p:stCondLst>
                      <p:childTnLst>
                        <p:par>
                          <p:cTn id="193" fill="hold">
                            <p:stCondLst>
                              <p:cond delay="0"/>
                            </p:stCondLst>
                            <p:childTnLst>
                              <p:par>
                                <p:cTn id="194" presetID="42" presetClass="path" presetSubtype="0" fill="hold" grpId="0" nodeType="clickEffect">
                                  <p:stCondLst>
                                    <p:cond delay="0"/>
                                  </p:stCondLst>
                                  <p:childTnLst>
                                    <p:animMotion origin="layout" path="M -1.04167E-6 -3.7037E-7 L 0.0918 0.21366 " pathEditMode="relative" rAng="0" ptsTypes="AA">
                                      <p:cBhvr>
                                        <p:cTn id="195" dur="1000" fill="hold"/>
                                        <p:tgtEl>
                                          <p:spTgt spid="137"/>
                                        </p:tgtEl>
                                        <p:attrNameLst>
                                          <p:attrName>ppt_x</p:attrName>
                                          <p:attrName>ppt_y</p:attrName>
                                        </p:attrNameLst>
                                      </p:cBhvr>
                                      <p:rCtr x="4583" y="10671"/>
                                    </p:animMotion>
                                  </p:childTnLst>
                                </p:cTn>
                              </p:par>
                            </p:childTnLst>
                          </p:cTn>
                        </p:par>
                      </p:childTnLst>
                    </p:cTn>
                  </p:par>
                  <p:par>
                    <p:cTn id="196" fill="hold">
                      <p:stCondLst>
                        <p:cond delay="indefinite"/>
                      </p:stCondLst>
                      <p:childTnLst>
                        <p:par>
                          <p:cTn id="197" fill="hold">
                            <p:stCondLst>
                              <p:cond delay="0"/>
                            </p:stCondLst>
                            <p:childTnLst>
                              <p:par>
                                <p:cTn id="198" presetID="22" presetClass="entr" presetSubtype="2" fill="hold" nodeType="clickEffect">
                                  <p:stCondLst>
                                    <p:cond delay="0"/>
                                  </p:stCondLst>
                                  <p:childTnLst>
                                    <p:set>
                                      <p:cBhvr>
                                        <p:cTn id="199" dur="1" fill="hold">
                                          <p:stCondLst>
                                            <p:cond delay="0"/>
                                          </p:stCondLst>
                                        </p:cTn>
                                        <p:tgtEl>
                                          <p:spTgt spid="50"/>
                                        </p:tgtEl>
                                        <p:attrNameLst>
                                          <p:attrName>style.visibility</p:attrName>
                                        </p:attrNameLst>
                                      </p:cBhvr>
                                      <p:to>
                                        <p:strVal val="visible"/>
                                      </p:to>
                                    </p:set>
                                    <p:animEffect transition="in" filter="wipe(right)">
                                      <p:cBhvr>
                                        <p:cTn id="200" dur="500"/>
                                        <p:tgtEl>
                                          <p:spTgt spid="50"/>
                                        </p:tgtEl>
                                      </p:cBhvr>
                                    </p:animEffect>
                                  </p:childTnLst>
                                </p:cTn>
                              </p:par>
                            </p:childTnLst>
                          </p:cTn>
                        </p:par>
                      </p:childTnLst>
                    </p:cTn>
                  </p:par>
                  <p:par>
                    <p:cTn id="201" fill="hold">
                      <p:stCondLst>
                        <p:cond delay="indefinite"/>
                      </p:stCondLst>
                      <p:childTnLst>
                        <p:par>
                          <p:cTn id="202" fill="hold">
                            <p:stCondLst>
                              <p:cond delay="0"/>
                            </p:stCondLst>
                            <p:childTnLst>
                              <p:par>
                                <p:cTn id="203" presetID="22" presetClass="entr" presetSubtype="8" fill="hold" nodeType="clickEffect">
                                  <p:stCondLst>
                                    <p:cond delay="0"/>
                                  </p:stCondLst>
                                  <p:childTnLst>
                                    <p:set>
                                      <p:cBhvr>
                                        <p:cTn id="204" dur="1" fill="hold">
                                          <p:stCondLst>
                                            <p:cond delay="0"/>
                                          </p:stCondLst>
                                        </p:cTn>
                                        <p:tgtEl>
                                          <p:spTgt spid="74"/>
                                        </p:tgtEl>
                                        <p:attrNameLst>
                                          <p:attrName>style.visibility</p:attrName>
                                        </p:attrNameLst>
                                      </p:cBhvr>
                                      <p:to>
                                        <p:strVal val="visible"/>
                                      </p:to>
                                    </p:set>
                                    <p:animEffect transition="in" filter="wipe(left)">
                                      <p:cBhvr>
                                        <p:cTn id="205" dur="500"/>
                                        <p:tgtEl>
                                          <p:spTgt spid="74"/>
                                        </p:tgtEl>
                                      </p:cBhvr>
                                    </p:animEffect>
                                  </p:childTnLst>
                                </p:cTn>
                              </p:par>
                            </p:childTnLst>
                          </p:cTn>
                        </p:par>
                      </p:childTnLst>
                    </p:cTn>
                  </p:par>
                  <p:par>
                    <p:cTn id="206" fill="hold">
                      <p:stCondLst>
                        <p:cond delay="indefinite"/>
                      </p:stCondLst>
                      <p:childTnLst>
                        <p:par>
                          <p:cTn id="207" fill="hold">
                            <p:stCondLst>
                              <p:cond delay="0"/>
                            </p:stCondLst>
                            <p:childTnLst>
                              <p:par>
                                <p:cTn id="208" presetID="42" presetClass="path" presetSubtype="0" fill="hold" grpId="0" nodeType="clickEffect">
                                  <p:stCondLst>
                                    <p:cond delay="0"/>
                                  </p:stCondLst>
                                  <p:childTnLst>
                                    <p:animMotion origin="layout" path="M -1.25E-6 -3.7037E-7 L 0.00404 0.43773 " pathEditMode="relative" rAng="0" ptsTypes="AA">
                                      <p:cBhvr>
                                        <p:cTn id="209" dur="1000" fill="hold"/>
                                        <p:tgtEl>
                                          <p:spTgt spid="134"/>
                                        </p:tgtEl>
                                        <p:attrNameLst>
                                          <p:attrName>ppt_x</p:attrName>
                                          <p:attrName>ppt_y</p:attrName>
                                        </p:attrNameLst>
                                      </p:cBhvr>
                                      <p:rCtr x="195" y="21875"/>
                                    </p:animMotion>
                                  </p:childTnLst>
                                </p:cTn>
                              </p:par>
                            </p:childTnLst>
                          </p:cTn>
                        </p:par>
                      </p:childTnLst>
                    </p:cTn>
                  </p:par>
                  <p:par>
                    <p:cTn id="210" fill="hold">
                      <p:stCondLst>
                        <p:cond delay="indefinite"/>
                      </p:stCondLst>
                      <p:childTnLst>
                        <p:par>
                          <p:cTn id="211" fill="hold">
                            <p:stCondLst>
                              <p:cond delay="0"/>
                            </p:stCondLst>
                            <p:childTnLst>
                              <p:par>
                                <p:cTn id="212" presetID="22" presetClass="entr" presetSubtype="1" fill="hold" nodeType="clickEffect">
                                  <p:stCondLst>
                                    <p:cond delay="0"/>
                                  </p:stCondLst>
                                  <p:childTnLst>
                                    <p:set>
                                      <p:cBhvr>
                                        <p:cTn id="213" dur="1" fill="hold">
                                          <p:stCondLst>
                                            <p:cond delay="0"/>
                                          </p:stCondLst>
                                        </p:cTn>
                                        <p:tgtEl>
                                          <p:spTgt spid="4"/>
                                        </p:tgtEl>
                                        <p:attrNameLst>
                                          <p:attrName>style.visibility</p:attrName>
                                        </p:attrNameLst>
                                      </p:cBhvr>
                                      <p:to>
                                        <p:strVal val="visible"/>
                                      </p:to>
                                    </p:set>
                                    <p:animEffect transition="in" filter="wipe(up)">
                                      <p:cBhvr>
                                        <p:cTn id="214" dur="500"/>
                                        <p:tgtEl>
                                          <p:spTgt spid="4"/>
                                        </p:tgtEl>
                                      </p:cBhvr>
                                    </p:animEffect>
                                  </p:childTnLst>
                                </p:cTn>
                              </p:par>
                            </p:childTnLst>
                          </p:cTn>
                        </p:par>
                      </p:childTnLst>
                    </p:cTn>
                  </p:par>
                  <p:par>
                    <p:cTn id="215" fill="hold">
                      <p:stCondLst>
                        <p:cond delay="indefinite"/>
                      </p:stCondLst>
                      <p:childTnLst>
                        <p:par>
                          <p:cTn id="216" fill="hold">
                            <p:stCondLst>
                              <p:cond delay="0"/>
                            </p:stCondLst>
                            <p:childTnLst>
                              <p:par>
                                <p:cTn id="217" presetID="22" presetClass="entr" presetSubtype="1" fill="hold" nodeType="clickEffect">
                                  <p:stCondLst>
                                    <p:cond delay="0"/>
                                  </p:stCondLst>
                                  <p:childTnLst>
                                    <p:set>
                                      <p:cBhvr>
                                        <p:cTn id="218" dur="1" fill="hold">
                                          <p:stCondLst>
                                            <p:cond delay="0"/>
                                          </p:stCondLst>
                                        </p:cTn>
                                        <p:tgtEl>
                                          <p:spTgt spid="78"/>
                                        </p:tgtEl>
                                        <p:attrNameLst>
                                          <p:attrName>style.visibility</p:attrName>
                                        </p:attrNameLst>
                                      </p:cBhvr>
                                      <p:to>
                                        <p:strVal val="visible"/>
                                      </p:to>
                                    </p:set>
                                    <p:animEffect transition="in" filter="wipe(up)">
                                      <p:cBhvr>
                                        <p:cTn id="219" dur="500"/>
                                        <p:tgtEl>
                                          <p:spTgt spid="78"/>
                                        </p:tgtEl>
                                      </p:cBhvr>
                                    </p:animEffect>
                                  </p:childTnLst>
                                </p:cTn>
                              </p:par>
                            </p:childTnLst>
                          </p:cTn>
                        </p:par>
                      </p:childTnLst>
                    </p:cTn>
                  </p:par>
                  <p:par>
                    <p:cTn id="220" fill="hold">
                      <p:stCondLst>
                        <p:cond delay="indefinite"/>
                      </p:stCondLst>
                      <p:childTnLst>
                        <p:par>
                          <p:cTn id="221" fill="hold">
                            <p:stCondLst>
                              <p:cond delay="0"/>
                            </p:stCondLst>
                            <p:childTnLst>
                              <p:par>
                                <p:cTn id="222" presetID="22" presetClass="entr" presetSubtype="4" fill="hold" nodeType="clickEffect">
                                  <p:stCondLst>
                                    <p:cond delay="0"/>
                                  </p:stCondLst>
                                  <p:childTnLst>
                                    <p:set>
                                      <p:cBhvr>
                                        <p:cTn id="223" dur="1" fill="hold">
                                          <p:stCondLst>
                                            <p:cond delay="0"/>
                                          </p:stCondLst>
                                        </p:cTn>
                                        <p:tgtEl>
                                          <p:spTgt spid="80"/>
                                        </p:tgtEl>
                                        <p:attrNameLst>
                                          <p:attrName>style.visibility</p:attrName>
                                        </p:attrNameLst>
                                      </p:cBhvr>
                                      <p:to>
                                        <p:strVal val="visible"/>
                                      </p:to>
                                    </p:set>
                                    <p:animEffect transition="in" filter="wipe(down)">
                                      <p:cBhvr>
                                        <p:cTn id="224" dur="500"/>
                                        <p:tgtEl>
                                          <p:spTgt spid="80"/>
                                        </p:tgtEl>
                                      </p:cBhvr>
                                    </p:animEffect>
                                  </p:childTnLst>
                                </p:cTn>
                              </p:par>
                            </p:childTnLst>
                          </p:cTn>
                        </p:par>
                      </p:childTnLst>
                    </p:cTn>
                  </p:par>
                  <p:par>
                    <p:cTn id="225" fill="hold">
                      <p:stCondLst>
                        <p:cond delay="indefinite"/>
                      </p:stCondLst>
                      <p:childTnLst>
                        <p:par>
                          <p:cTn id="226" fill="hold">
                            <p:stCondLst>
                              <p:cond delay="0"/>
                            </p:stCondLst>
                            <p:childTnLst>
                              <p:par>
                                <p:cTn id="227" presetID="42" presetClass="path" presetSubtype="0" fill="hold" grpId="0" nodeType="clickEffect">
                                  <p:stCondLst>
                                    <p:cond delay="0"/>
                                  </p:stCondLst>
                                  <p:childTnLst>
                                    <p:animMotion origin="layout" path="M -1.875E-6 3.7037E-6 L -0.24818 0.21365 " pathEditMode="relative" rAng="0" ptsTypes="AA">
                                      <p:cBhvr>
                                        <p:cTn id="228" dur="1000" fill="hold"/>
                                        <p:tgtEl>
                                          <p:spTgt spid="136"/>
                                        </p:tgtEl>
                                        <p:attrNameLst>
                                          <p:attrName>ppt_x</p:attrName>
                                          <p:attrName>ppt_y</p:attrName>
                                        </p:attrNameLst>
                                      </p:cBhvr>
                                      <p:rCtr x="-12409" y="10671"/>
                                    </p:animMotion>
                                  </p:childTnLst>
                                </p:cTn>
                              </p:par>
                            </p:childTnLst>
                          </p:cTn>
                        </p:par>
                      </p:childTnLst>
                    </p:cTn>
                  </p:par>
                  <p:par>
                    <p:cTn id="229" fill="hold">
                      <p:stCondLst>
                        <p:cond delay="indefinite"/>
                      </p:stCondLst>
                      <p:childTnLst>
                        <p:par>
                          <p:cTn id="230" fill="hold">
                            <p:stCondLst>
                              <p:cond delay="0"/>
                            </p:stCondLst>
                            <p:childTnLst>
                              <p:par>
                                <p:cTn id="231" presetID="22" presetClass="entr" presetSubtype="4" fill="hold" nodeType="clickEffect">
                                  <p:stCondLst>
                                    <p:cond delay="0"/>
                                  </p:stCondLst>
                                  <p:childTnLst>
                                    <p:set>
                                      <p:cBhvr>
                                        <p:cTn id="232" dur="1" fill="hold">
                                          <p:stCondLst>
                                            <p:cond delay="0"/>
                                          </p:stCondLst>
                                        </p:cTn>
                                        <p:tgtEl>
                                          <p:spTgt spid="79"/>
                                        </p:tgtEl>
                                        <p:attrNameLst>
                                          <p:attrName>style.visibility</p:attrName>
                                        </p:attrNameLst>
                                      </p:cBhvr>
                                      <p:to>
                                        <p:strVal val="visible"/>
                                      </p:to>
                                    </p:set>
                                    <p:animEffect transition="in" filter="wipe(down)">
                                      <p:cBhvr>
                                        <p:cTn id="233" dur="500"/>
                                        <p:tgtEl>
                                          <p:spTgt spid="79"/>
                                        </p:tgtEl>
                                      </p:cBhvr>
                                    </p:animEffect>
                                  </p:childTnLst>
                                </p:cTn>
                              </p:par>
                            </p:childTnLst>
                          </p:cTn>
                        </p:par>
                      </p:childTnLst>
                    </p:cTn>
                  </p:par>
                  <p:par>
                    <p:cTn id="234" fill="hold">
                      <p:stCondLst>
                        <p:cond delay="indefinite"/>
                      </p:stCondLst>
                      <p:childTnLst>
                        <p:par>
                          <p:cTn id="235" fill="hold">
                            <p:stCondLst>
                              <p:cond delay="0"/>
                            </p:stCondLst>
                            <p:childTnLst>
                              <p:par>
                                <p:cTn id="236" presetID="22" presetClass="entr" presetSubtype="1" fill="hold" nodeType="clickEffect">
                                  <p:stCondLst>
                                    <p:cond delay="0"/>
                                  </p:stCondLst>
                                  <p:childTnLst>
                                    <p:set>
                                      <p:cBhvr>
                                        <p:cTn id="237" dur="1" fill="hold">
                                          <p:stCondLst>
                                            <p:cond delay="0"/>
                                          </p:stCondLst>
                                        </p:cTn>
                                        <p:tgtEl>
                                          <p:spTgt spid="81"/>
                                        </p:tgtEl>
                                        <p:attrNameLst>
                                          <p:attrName>style.visibility</p:attrName>
                                        </p:attrNameLst>
                                      </p:cBhvr>
                                      <p:to>
                                        <p:strVal val="visible"/>
                                      </p:to>
                                    </p:set>
                                    <p:animEffect transition="in" filter="wipe(up)">
                                      <p:cBhvr>
                                        <p:cTn id="238"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83" grpId="0"/>
      <p:bldP spid="86" grpId="0"/>
      <p:bldP spid="88" grpId="0"/>
      <p:bldP spid="101" grpId="0"/>
      <p:bldP spid="102" grpId="0"/>
      <p:bldP spid="103" grpId="0"/>
      <p:bldP spid="104" grpId="0"/>
      <p:bldP spid="105" grpId="0"/>
      <p:bldP spid="106" grpId="0"/>
      <p:bldP spid="107" grpId="0"/>
      <p:bldP spid="108" grpId="0"/>
      <p:bldP spid="109" grpId="0"/>
      <p:bldP spid="110" grpId="0"/>
      <p:bldP spid="111" grpId="0"/>
      <p:bldP spid="112" grpId="0"/>
      <p:bldP spid="113" grpId="0"/>
      <p:bldP spid="114" grpId="0"/>
      <p:bldP spid="115" grpId="0"/>
      <p:bldP spid="116" grpId="0"/>
      <p:bldP spid="118" grpId="0"/>
      <p:bldP spid="119" grpId="0"/>
      <p:bldP spid="120" grpId="0"/>
      <p:bldP spid="121" grpId="0"/>
      <p:bldP spid="122" grpId="0"/>
      <p:bldP spid="123" grpId="0"/>
      <p:bldP spid="124" grpId="0"/>
      <p:bldP spid="125" grpId="0"/>
      <p:bldP spid="126" grpId="0"/>
      <p:bldP spid="127" grpId="0"/>
      <p:bldP spid="128" grpId="0"/>
      <p:bldP spid="129" grpId="0"/>
      <p:bldP spid="134" grpId="0" animBg="1"/>
      <p:bldP spid="134" grpId="1" animBg="1"/>
      <p:bldP spid="135" grpId="0" animBg="1"/>
      <p:bldP spid="135" grpId="1" animBg="1"/>
      <p:bldP spid="136" grpId="0" animBg="1"/>
      <p:bldP spid="136" grpId="1" animBg="1"/>
      <p:bldP spid="137" grpId="0" animBg="1"/>
      <p:bldP spid="137"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855459A5-60E6-30E1-6D61-A0F01473D37A}"/>
              </a:ext>
            </a:extLst>
          </p:cNvPr>
          <p:cNvSpPr>
            <a:spLocks noGrp="1"/>
          </p:cNvSpPr>
          <p:nvPr>
            <p:ph type="title"/>
          </p:nvPr>
        </p:nvSpPr>
        <p:spPr/>
        <p:txBody>
          <a:bodyPr/>
          <a:lstStyle/>
          <a:p>
            <a:r>
              <a:rPr lang="en-US" altLang="zh-CN" dirty="0"/>
              <a:t> </a:t>
            </a:r>
            <a:endParaRPr lang="zh-CN" altLang="en-US" dirty="0"/>
          </a:p>
        </p:txBody>
      </p:sp>
      <p:sp>
        <p:nvSpPr>
          <p:cNvPr id="11" name="矩形: 圆角 10">
            <a:extLst>
              <a:ext uri="{FF2B5EF4-FFF2-40B4-BE49-F238E27FC236}">
                <a16:creationId xmlns:a16="http://schemas.microsoft.com/office/drawing/2014/main" id="{A8FC7911-5F5D-9678-9A98-B4D315553C43}"/>
              </a:ext>
            </a:extLst>
          </p:cNvPr>
          <p:cNvSpPr/>
          <p:nvPr/>
        </p:nvSpPr>
        <p:spPr>
          <a:xfrm>
            <a:off x="864887" y="2439933"/>
            <a:ext cx="1763486" cy="578498"/>
          </a:xfrm>
          <a:prstGeom prst="roundRect">
            <a:avLst/>
          </a:prstGeom>
          <a:solidFill>
            <a:schemeClr val="accent6">
              <a:lumMod val="60000"/>
              <a:lumOff val="4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800" dirty="0" err="1">
                <a:latin typeface="杨任东竹石体-Bold" panose="02000000000000000000" pitchFamily="2" charset="-122"/>
                <a:ea typeface="杨任东竹石体-Bold" panose="02000000000000000000" pitchFamily="2" charset="-122"/>
              </a:rPr>
              <a:t>ArrayList</a:t>
            </a:r>
            <a:endParaRPr lang="zh-CN" altLang="en-US" sz="2800" dirty="0">
              <a:latin typeface="杨任东竹石体-Bold" panose="02000000000000000000" pitchFamily="2" charset="-122"/>
              <a:ea typeface="杨任东竹石体-Bold" panose="02000000000000000000" pitchFamily="2" charset="-122"/>
            </a:endParaRPr>
          </a:p>
        </p:txBody>
      </p:sp>
      <p:sp>
        <p:nvSpPr>
          <p:cNvPr id="15" name="矩形: 圆角 14">
            <a:extLst>
              <a:ext uri="{FF2B5EF4-FFF2-40B4-BE49-F238E27FC236}">
                <a16:creationId xmlns:a16="http://schemas.microsoft.com/office/drawing/2014/main" id="{98083C8E-CB21-C99A-F464-D76CE4951516}"/>
              </a:ext>
            </a:extLst>
          </p:cNvPr>
          <p:cNvSpPr/>
          <p:nvPr/>
        </p:nvSpPr>
        <p:spPr>
          <a:xfrm>
            <a:off x="2968941" y="2439933"/>
            <a:ext cx="1763486" cy="578498"/>
          </a:xfrm>
          <a:prstGeom prst="roundRect">
            <a:avLst/>
          </a:prstGeom>
          <a:solidFill>
            <a:schemeClr val="accent5">
              <a:lumMod val="60000"/>
              <a:lumOff val="4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800" dirty="0">
                <a:latin typeface="杨任东竹石体-Bold" panose="02000000000000000000" pitchFamily="2" charset="-122"/>
                <a:ea typeface="杨任东竹石体-Bold" panose="02000000000000000000" pitchFamily="2" charset="-122"/>
              </a:rPr>
              <a:t>LinkedList</a:t>
            </a:r>
            <a:endParaRPr lang="zh-CN" altLang="en-US" sz="2800" dirty="0">
              <a:latin typeface="杨任东竹石体-Bold" panose="02000000000000000000" pitchFamily="2" charset="-122"/>
              <a:ea typeface="杨任东竹石体-Bold" panose="02000000000000000000" pitchFamily="2" charset="-122"/>
            </a:endParaRPr>
          </a:p>
        </p:txBody>
      </p:sp>
      <p:sp>
        <p:nvSpPr>
          <p:cNvPr id="16" name="矩形: 圆角 15">
            <a:extLst>
              <a:ext uri="{FF2B5EF4-FFF2-40B4-BE49-F238E27FC236}">
                <a16:creationId xmlns:a16="http://schemas.microsoft.com/office/drawing/2014/main" id="{9267DB28-0F2D-5D87-BB13-C4409F26EFE7}"/>
              </a:ext>
            </a:extLst>
          </p:cNvPr>
          <p:cNvSpPr/>
          <p:nvPr/>
        </p:nvSpPr>
        <p:spPr>
          <a:xfrm>
            <a:off x="864887" y="4535206"/>
            <a:ext cx="1763486" cy="578498"/>
          </a:xfrm>
          <a:prstGeom prst="roundRect">
            <a:avLst/>
          </a:prstGeom>
          <a:solidFill>
            <a:schemeClr val="accent1">
              <a:lumMod val="40000"/>
              <a:lumOff val="6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800" dirty="0" err="1">
                <a:latin typeface="杨任东竹石体-Bold" panose="02000000000000000000" pitchFamily="2" charset="-122"/>
                <a:ea typeface="杨任东竹石体-Bold" panose="02000000000000000000" pitchFamily="2" charset="-122"/>
              </a:rPr>
              <a:t>TreeSet</a:t>
            </a:r>
            <a:endParaRPr lang="zh-CN" altLang="en-US" sz="2800" dirty="0">
              <a:latin typeface="杨任东竹石体-Bold" panose="02000000000000000000" pitchFamily="2" charset="-122"/>
              <a:ea typeface="杨任东竹石体-Bold" panose="02000000000000000000" pitchFamily="2" charset="-122"/>
            </a:endParaRPr>
          </a:p>
        </p:txBody>
      </p:sp>
      <p:sp>
        <p:nvSpPr>
          <p:cNvPr id="17" name="矩形: 圆角 16">
            <a:extLst>
              <a:ext uri="{FF2B5EF4-FFF2-40B4-BE49-F238E27FC236}">
                <a16:creationId xmlns:a16="http://schemas.microsoft.com/office/drawing/2014/main" id="{51B6C2C7-B71F-9175-0A85-DF5344219526}"/>
              </a:ext>
            </a:extLst>
          </p:cNvPr>
          <p:cNvSpPr/>
          <p:nvPr/>
        </p:nvSpPr>
        <p:spPr>
          <a:xfrm>
            <a:off x="3057582" y="4535206"/>
            <a:ext cx="1763486" cy="578498"/>
          </a:xfrm>
          <a:prstGeom prst="roundRect">
            <a:avLst/>
          </a:prstGeom>
          <a:solidFill>
            <a:schemeClr val="tx1">
              <a:lumMod val="75000"/>
              <a:lumOff val="25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800" dirty="0">
                <a:latin typeface="杨任东竹石体-Bold" panose="02000000000000000000" pitchFamily="2" charset="-122"/>
                <a:ea typeface="杨任东竹石体-Bold" panose="02000000000000000000" pitchFamily="2" charset="-122"/>
              </a:rPr>
              <a:t>HashSet</a:t>
            </a:r>
            <a:endParaRPr lang="zh-CN" altLang="en-US" sz="2800" dirty="0">
              <a:latin typeface="杨任东竹石体-Bold" panose="02000000000000000000" pitchFamily="2" charset="-122"/>
              <a:ea typeface="杨任东竹石体-Bold" panose="02000000000000000000" pitchFamily="2" charset="-122"/>
            </a:endParaRPr>
          </a:p>
        </p:txBody>
      </p:sp>
      <p:sp>
        <p:nvSpPr>
          <p:cNvPr id="18" name="矩形: 圆角 17">
            <a:extLst>
              <a:ext uri="{FF2B5EF4-FFF2-40B4-BE49-F238E27FC236}">
                <a16:creationId xmlns:a16="http://schemas.microsoft.com/office/drawing/2014/main" id="{309D1B92-663E-6706-CE4E-5F4D40C11B74}"/>
              </a:ext>
            </a:extLst>
          </p:cNvPr>
          <p:cNvSpPr/>
          <p:nvPr/>
        </p:nvSpPr>
        <p:spPr>
          <a:xfrm>
            <a:off x="5250277" y="4535206"/>
            <a:ext cx="2155371" cy="578498"/>
          </a:xfrm>
          <a:prstGeom prst="roundRect">
            <a:avLst/>
          </a:prstGeom>
          <a:solidFill>
            <a:schemeClr val="bg1">
              <a:lumMod val="75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800" dirty="0" err="1">
                <a:latin typeface="杨任东竹石体-Bold" panose="02000000000000000000" pitchFamily="2" charset="-122"/>
                <a:ea typeface="杨任东竹石体-Bold" panose="02000000000000000000" pitchFamily="2" charset="-122"/>
              </a:rPr>
              <a:t>LinkedHashSet</a:t>
            </a:r>
            <a:endParaRPr lang="zh-CN" altLang="en-US" sz="2800" dirty="0">
              <a:latin typeface="杨任东竹石体-Bold" panose="02000000000000000000" pitchFamily="2" charset="-122"/>
              <a:ea typeface="杨任东竹石体-Bold" panose="02000000000000000000" pitchFamily="2" charset="-122"/>
            </a:endParaRPr>
          </a:p>
        </p:txBody>
      </p:sp>
      <p:sp>
        <p:nvSpPr>
          <p:cNvPr id="19" name="矩形: 圆角 18">
            <a:extLst>
              <a:ext uri="{FF2B5EF4-FFF2-40B4-BE49-F238E27FC236}">
                <a16:creationId xmlns:a16="http://schemas.microsoft.com/office/drawing/2014/main" id="{4F908FA3-F104-0B14-D766-5DC67E182324}"/>
              </a:ext>
            </a:extLst>
          </p:cNvPr>
          <p:cNvSpPr/>
          <p:nvPr/>
        </p:nvSpPr>
        <p:spPr>
          <a:xfrm>
            <a:off x="385742" y="1186766"/>
            <a:ext cx="11652129" cy="5262465"/>
          </a:xfrm>
          <a:custGeom>
            <a:avLst/>
            <a:gdLst>
              <a:gd name="connsiteX0" fmla="*/ 0 w 11652129"/>
              <a:gd name="connsiteY0" fmla="*/ 877095 h 5262465"/>
              <a:gd name="connsiteX1" fmla="*/ 877095 w 11652129"/>
              <a:gd name="connsiteY1" fmla="*/ 0 h 5262465"/>
              <a:gd name="connsiteX2" fmla="*/ 1734916 w 11652129"/>
              <a:gd name="connsiteY2" fmla="*/ 0 h 5262465"/>
              <a:gd name="connsiteX3" fmla="*/ 2295800 w 11652129"/>
              <a:gd name="connsiteY3" fmla="*/ 0 h 5262465"/>
              <a:gd name="connsiteX4" fmla="*/ 2757703 w 11652129"/>
              <a:gd name="connsiteY4" fmla="*/ 0 h 5262465"/>
              <a:gd name="connsiteX5" fmla="*/ 3516545 w 11652129"/>
              <a:gd name="connsiteY5" fmla="*/ 0 h 5262465"/>
              <a:gd name="connsiteX6" fmla="*/ 4077429 w 11652129"/>
              <a:gd name="connsiteY6" fmla="*/ 0 h 5262465"/>
              <a:gd name="connsiteX7" fmla="*/ 4935250 w 11652129"/>
              <a:gd name="connsiteY7" fmla="*/ 0 h 5262465"/>
              <a:gd name="connsiteX8" fmla="*/ 5397154 w 11652129"/>
              <a:gd name="connsiteY8" fmla="*/ 0 h 5262465"/>
              <a:gd name="connsiteX9" fmla="*/ 6254975 w 11652129"/>
              <a:gd name="connsiteY9" fmla="*/ 0 h 5262465"/>
              <a:gd name="connsiteX10" fmla="*/ 6617900 w 11652129"/>
              <a:gd name="connsiteY10" fmla="*/ 0 h 5262465"/>
              <a:gd name="connsiteX11" fmla="*/ 7277762 w 11652129"/>
              <a:gd name="connsiteY11" fmla="*/ 0 h 5262465"/>
              <a:gd name="connsiteX12" fmla="*/ 7937625 w 11652129"/>
              <a:gd name="connsiteY12" fmla="*/ 0 h 5262465"/>
              <a:gd name="connsiteX13" fmla="*/ 8498508 w 11652129"/>
              <a:gd name="connsiteY13" fmla="*/ 0 h 5262465"/>
              <a:gd name="connsiteX14" fmla="*/ 9356329 w 11652129"/>
              <a:gd name="connsiteY14" fmla="*/ 0 h 5262465"/>
              <a:gd name="connsiteX15" fmla="*/ 10214151 w 11652129"/>
              <a:gd name="connsiteY15" fmla="*/ 0 h 5262465"/>
              <a:gd name="connsiteX16" fmla="*/ 10775034 w 11652129"/>
              <a:gd name="connsiteY16" fmla="*/ 0 h 5262465"/>
              <a:gd name="connsiteX17" fmla="*/ 11652129 w 11652129"/>
              <a:gd name="connsiteY17" fmla="*/ 877095 h 5262465"/>
              <a:gd name="connsiteX18" fmla="*/ 11652129 w 11652129"/>
              <a:gd name="connsiteY18" fmla="*/ 1496890 h 5262465"/>
              <a:gd name="connsiteX19" fmla="*/ 11652129 w 11652129"/>
              <a:gd name="connsiteY19" fmla="*/ 1976355 h 5262465"/>
              <a:gd name="connsiteX20" fmla="*/ 11652129 w 11652129"/>
              <a:gd name="connsiteY20" fmla="*/ 2490902 h 5262465"/>
              <a:gd name="connsiteX21" fmla="*/ 11652129 w 11652129"/>
              <a:gd name="connsiteY21" fmla="*/ 3145780 h 5262465"/>
              <a:gd name="connsiteX22" fmla="*/ 11652129 w 11652129"/>
              <a:gd name="connsiteY22" fmla="*/ 3730492 h 5262465"/>
              <a:gd name="connsiteX23" fmla="*/ 11652129 w 11652129"/>
              <a:gd name="connsiteY23" fmla="*/ 4385370 h 5262465"/>
              <a:gd name="connsiteX24" fmla="*/ 10775034 w 11652129"/>
              <a:gd name="connsiteY24" fmla="*/ 5262465 h 5262465"/>
              <a:gd name="connsiteX25" fmla="*/ 10115171 w 11652129"/>
              <a:gd name="connsiteY25" fmla="*/ 5262465 h 5262465"/>
              <a:gd name="connsiteX26" fmla="*/ 9455309 w 11652129"/>
              <a:gd name="connsiteY26" fmla="*/ 5262465 h 5262465"/>
              <a:gd name="connsiteX27" fmla="*/ 8993405 w 11652129"/>
              <a:gd name="connsiteY27" fmla="*/ 5262465 h 5262465"/>
              <a:gd name="connsiteX28" fmla="*/ 8234563 w 11652129"/>
              <a:gd name="connsiteY28" fmla="*/ 5262465 h 5262465"/>
              <a:gd name="connsiteX29" fmla="*/ 7772659 w 11652129"/>
              <a:gd name="connsiteY29" fmla="*/ 5262465 h 5262465"/>
              <a:gd name="connsiteX30" fmla="*/ 7013817 w 11652129"/>
              <a:gd name="connsiteY30" fmla="*/ 5262465 h 5262465"/>
              <a:gd name="connsiteX31" fmla="*/ 6650893 w 11652129"/>
              <a:gd name="connsiteY31" fmla="*/ 5262465 h 5262465"/>
              <a:gd name="connsiteX32" fmla="*/ 5892051 w 11652129"/>
              <a:gd name="connsiteY32" fmla="*/ 5262465 h 5262465"/>
              <a:gd name="connsiteX33" fmla="*/ 5430147 w 11652129"/>
              <a:gd name="connsiteY33" fmla="*/ 5262465 h 5262465"/>
              <a:gd name="connsiteX34" fmla="*/ 5067223 w 11652129"/>
              <a:gd name="connsiteY34" fmla="*/ 5262465 h 5262465"/>
              <a:gd name="connsiteX35" fmla="*/ 4605319 w 11652129"/>
              <a:gd name="connsiteY35" fmla="*/ 5262465 h 5262465"/>
              <a:gd name="connsiteX36" fmla="*/ 3846477 w 11652129"/>
              <a:gd name="connsiteY36" fmla="*/ 5262465 h 5262465"/>
              <a:gd name="connsiteX37" fmla="*/ 3384573 w 11652129"/>
              <a:gd name="connsiteY37" fmla="*/ 5262465 h 5262465"/>
              <a:gd name="connsiteX38" fmla="*/ 3021648 w 11652129"/>
              <a:gd name="connsiteY38" fmla="*/ 5262465 h 5262465"/>
              <a:gd name="connsiteX39" fmla="*/ 2559745 w 11652129"/>
              <a:gd name="connsiteY39" fmla="*/ 5262465 h 5262465"/>
              <a:gd name="connsiteX40" fmla="*/ 1998861 w 11652129"/>
              <a:gd name="connsiteY40" fmla="*/ 5262465 h 5262465"/>
              <a:gd name="connsiteX41" fmla="*/ 877095 w 11652129"/>
              <a:gd name="connsiteY41" fmla="*/ 5262465 h 5262465"/>
              <a:gd name="connsiteX42" fmla="*/ 0 w 11652129"/>
              <a:gd name="connsiteY42" fmla="*/ 4385370 h 5262465"/>
              <a:gd name="connsiteX43" fmla="*/ 0 w 11652129"/>
              <a:gd name="connsiteY43" fmla="*/ 3730492 h 5262465"/>
              <a:gd name="connsiteX44" fmla="*/ 0 w 11652129"/>
              <a:gd name="connsiteY44" fmla="*/ 3075614 h 5262465"/>
              <a:gd name="connsiteX45" fmla="*/ 0 w 11652129"/>
              <a:gd name="connsiteY45" fmla="*/ 2455819 h 5262465"/>
              <a:gd name="connsiteX46" fmla="*/ 0 w 11652129"/>
              <a:gd name="connsiteY46" fmla="*/ 1906189 h 5262465"/>
              <a:gd name="connsiteX47" fmla="*/ 0 w 11652129"/>
              <a:gd name="connsiteY47" fmla="*/ 877095 h 5262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652129" h="5262465" extrusionOk="0">
                <a:moveTo>
                  <a:pt x="0" y="877095"/>
                </a:moveTo>
                <a:cubicBezTo>
                  <a:pt x="-33192" y="372215"/>
                  <a:pt x="334325" y="21905"/>
                  <a:pt x="877095" y="0"/>
                </a:cubicBezTo>
                <a:cubicBezTo>
                  <a:pt x="1088733" y="33155"/>
                  <a:pt x="1405343" y="2323"/>
                  <a:pt x="1734916" y="0"/>
                </a:cubicBezTo>
                <a:cubicBezTo>
                  <a:pt x="2064489" y="-2323"/>
                  <a:pt x="2036928" y="-22876"/>
                  <a:pt x="2295800" y="0"/>
                </a:cubicBezTo>
                <a:cubicBezTo>
                  <a:pt x="2554672" y="22876"/>
                  <a:pt x="2546528" y="18877"/>
                  <a:pt x="2757703" y="0"/>
                </a:cubicBezTo>
                <a:cubicBezTo>
                  <a:pt x="2968878" y="-18877"/>
                  <a:pt x="3238559" y="-20049"/>
                  <a:pt x="3516545" y="0"/>
                </a:cubicBezTo>
                <a:cubicBezTo>
                  <a:pt x="3794531" y="20049"/>
                  <a:pt x="3856830" y="-14930"/>
                  <a:pt x="4077429" y="0"/>
                </a:cubicBezTo>
                <a:cubicBezTo>
                  <a:pt x="4298028" y="14930"/>
                  <a:pt x="4569946" y="-41043"/>
                  <a:pt x="4935250" y="0"/>
                </a:cubicBezTo>
                <a:cubicBezTo>
                  <a:pt x="5300554" y="41043"/>
                  <a:pt x="5168511" y="-22789"/>
                  <a:pt x="5397154" y="0"/>
                </a:cubicBezTo>
                <a:cubicBezTo>
                  <a:pt x="5625797" y="22789"/>
                  <a:pt x="5890265" y="6792"/>
                  <a:pt x="6254975" y="0"/>
                </a:cubicBezTo>
                <a:cubicBezTo>
                  <a:pt x="6619685" y="-6792"/>
                  <a:pt x="6438242" y="-857"/>
                  <a:pt x="6617900" y="0"/>
                </a:cubicBezTo>
                <a:cubicBezTo>
                  <a:pt x="6797558" y="857"/>
                  <a:pt x="7124912" y="-308"/>
                  <a:pt x="7277762" y="0"/>
                </a:cubicBezTo>
                <a:cubicBezTo>
                  <a:pt x="7430612" y="308"/>
                  <a:pt x="7696812" y="10455"/>
                  <a:pt x="7937625" y="0"/>
                </a:cubicBezTo>
                <a:cubicBezTo>
                  <a:pt x="8178438" y="-10455"/>
                  <a:pt x="8245015" y="19563"/>
                  <a:pt x="8498508" y="0"/>
                </a:cubicBezTo>
                <a:cubicBezTo>
                  <a:pt x="8752001" y="-19563"/>
                  <a:pt x="9003562" y="41707"/>
                  <a:pt x="9356329" y="0"/>
                </a:cubicBezTo>
                <a:cubicBezTo>
                  <a:pt x="9709096" y="-41707"/>
                  <a:pt x="9842293" y="25122"/>
                  <a:pt x="10214151" y="0"/>
                </a:cubicBezTo>
                <a:cubicBezTo>
                  <a:pt x="10586009" y="-25122"/>
                  <a:pt x="10588768" y="-1876"/>
                  <a:pt x="10775034" y="0"/>
                </a:cubicBezTo>
                <a:cubicBezTo>
                  <a:pt x="11250408" y="-8510"/>
                  <a:pt x="11629249" y="358486"/>
                  <a:pt x="11652129" y="877095"/>
                </a:cubicBezTo>
                <a:cubicBezTo>
                  <a:pt x="11638300" y="1022742"/>
                  <a:pt x="11674462" y="1233784"/>
                  <a:pt x="11652129" y="1496890"/>
                </a:cubicBezTo>
                <a:cubicBezTo>
                  <a:pt x="11629796" y="1759997"/>
                  <a:pt x="11638798" y="1754666"/>
                  <a:pt x="11652129" y="1976355"/>
                </a:cubicBezTo>
                <a:cubicBezTo>
                  <a:pt x="11665460" y="2198045"/>
                  <a:pt x="11627014" y="2375505"/>
                  <a:pt x="11652129" y="2490902"/>
                </a:cubicBezTo>
                <a:cubicBezTo>
                  <a:pt x="11677244" y="2606299"/>
                  <a:pt x="11673964" y="2858207"/>
                  <a:pt x="11652129" y="3145780"/>
                </a:cubicBezTo>
                <a:cubicBezTo>
                  <a:pt x="11630294" y="3433353"/>
                  <a:pt x="11663906" y="3610615"/>
                  <a:pt x="11652129" y="3730492"/>
                </a:cubicBezTo>
                <a:cubicBezTo>
                  <a:pt x="11640352" y="3850369"/>
                  <a:pt x="11636075" y="4199953"/>
                  <a:pt x="11652129" y="4385370"/>
                </a:cubicBezTo>
                <a:cubicBezTo>
                  <a:pt x="11649515" y="4799282"/>
                  <a:pt x="11322025" y="5275515"/>
                  <a:pt x="10775034" y="5262465"/>
                </a:cubicBezTo>
                <a:cubicBezTo>
                  <a:pt x="10556866" y="5260183"/>
                  <a:pt x="10368918" y="5284690"/>
                  <a:pt x="10115171" y="5262465"/>
                </a:cubicBezTo>
                <a:cubicBezTo>
                  <a:pt x="9861424" y="5240240"/>
                  <a:pt x="9678435" y="5293430"/>
                  <a:pt x="9455309" y="5262465"/>
                </a:cubicBezTo>
                <a:cubicBezTo>
                  <a:pt x="9232183" y="5231500"/>
                  <a:pt x="9125282" y="5252000"/>
                  <a:pt x="8993405" y="5262465"/>
                </a:cubicBezTo>
                <a:cubicBezTo>
                  <a:pt x="8861528" y="5272930"/>
                  <a:pt x="8591237" y="5227852"/>
                  <a:pt x="8234563" y="5262465"/>
                </a:cubicBezTo>
                <a:cubicBezTo>
                  <a:pt x="7877889" y="5297078"/>
                  <a:pt x="7976129" y="5274075"/>
                  <a:pt x="7772659" y="5262465"/>
                </a:cubicBezTo>
                <a:cubicBezTo>
                  <a:pt x="7569189" y="5250855"/>
                  <a:pt x="7262433" y="5240807"/>
                  <a:pt x="7013817" y="5262465"/>
                </a:cubicBezTo>
                <a:cubicBezTo>
                  <a:pt x="6765201" y="5284123"/>
                  <a:pt x="6739492" y="5253902"/>
                  <a:pt x="6650893" y="5262465"/>
                </a:cubicBezTo>
                <a:cubicBezTo>
                  <a:pt x="6562294" y="5271028"/>
                  <a:pt x="6230938" y="5245029"/>
                  <a:pt x="5892051" y="5262465"/>
                </a:cubicBezTo>
                <a:cubicBezTo>
                  <a:pt x="5553164" y="5279901"/>
                  <a:pt x="5655782" y="5272665"/>
                  <a:pt x="5430147" y="5262465"/>
                </a:cubicBezTo>
                <a:cubicBezTo>
                  <a:pt x="5204512" y="5252265"/>
                  <a:pt x="5231929" y="5277075"/>
                  <a:pt x="5067223" y="5262465"/>
                </a:cubicBezTo>
                <a:cubicBezTo>
                  <a:pt x="4902517" y="5247855"/>
                  <a:pt x="4754980" y="5246346"/>
                  <a:pt x="4605319" y="5262465"/>
                </a:cubicBezTo>
                <a:cubicBezTo>
                  <a:pt x="4455658" y="5278584"/>
                  <a:pt x="4103307" y="5236632"/>
                  <a:pt x="3846477" y="5262465"/>
                </a:cubicBezTo>
                <a:cubicBezTo>
                  <a:pt x="3589647" y="5288298"/>
                  <a:pt x="3477579" y="5245207"/>
                  <a:pt x="3384573" y="5262465"/>
                </a:cubicBezTo>
                <a:cubicBezTo>
                  <a:pt x="3291567" y="5279723"/>
                  <a:pt x="3170533" y="5252915"/>
                  <a:pt x="3021648" y="5262465"/>
                </a:cubicBezTo>
                <a:cubicBezTo>
                  <a:pt x="2872763" y="5272015"/>
                  <a:pt x="2740161" y="5239970"/>
                  <a:pt x="2559745" y="5262465"/>
                </a:cubicBezTo>
                <a:cubicBezTo>
                  <a:pt x="2379329" y="5284960"/>
                  <a:pt x="2164596" y="5255092"/>
                  <a:pt x="1998861" y="5262465"/>
                </a:cubicBezTo>
                <a:cubicBezTo>
                  <a:pt x="1833126" y="5269838"/>
                  <a:pt x="1102809" y="5293886"/>
                  <a:pt x="877095" y="5262465"/>
                </a:cubicBezTo>
                <a:cubicBezTo>
                  <a:pt x="371488" y="5283511"/>
                  <a:pt x="114137" y="4895393"/>
                  <a:pt x="0" y="4385370"/>
                </a:cubicBezTo>
                <a:cubicBezTo>
                  <a:pt x="5084" y="4237561"/>
                  <a:pt x="17461" y="4014206"/>
                  <a:pt x="0" y="3730492"/>
                </a:cubicBezTo>
                <a:cubicBezTo>
                  <a:pt x="-17461" y="3446778"/>
                  <a:pt x="25951" y="3225509"/>
                  <a:pt x="0" y="3075614"/>
                </a:cubicBezTo>
                <a:cubicBezTo>
                  <a:pt x="-25951" y="2925719"/>
                  <a:pt x="15255" y="2605599"/>
                  <a:pt x="0" y="2455819"/>
                </a:cubicBezTo>
                <a:cubicBezTo>
                  <a:pt x="-15255" y="2306039"/>
                  <a:pt x="-23333" y="2065561"/>
                  <a:pt x="0" y="1906189"/>
                </a:cubicBezTo>
                <a:cubicBezTo>
                  <a:pt x="23333" y="1746817"/>
                  <a:pt x="-10503" y="1229145"/>
                  <a:pt x="0" y="877095"/>
                </a:cubicBezTo>
                <a:close/>
              </a:path>
            </a:pathLst>
          </a:custGeom>
          <a:noFill/>
          <a:ln w="25400">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BF3026D-39E8-8295-F676-C31E69548F98}"/>
              </a:ext>
            </a:extLst>
          </p:cNvPr>
          <p:cNvSpPr/>
          <p:nvPr/>
        </p:nvSpPr>
        <p:spPr>
          <a:xfrm>
            <a:off x="7717079" y="1344187"/>
            <a:ext cx="4102405" cy="461665"/>
          </a:xfrm>
          <a:prstGeom prst="rect">
            <a:avLst/>
          </a:prstGeom>
          <a:noFill/>
        </p:spPr>
        <p:txBody>
          <a:bodyPr wrap="none" lIns="91440" tIns="45720" rIns="91440" bIns="45720">
            <a:spAutoFit/>
          </a:bodyPr>
          <a:lstStyle/>
          <a:p>
            <a:r>
              <a:rPr lang="zh-CN" altLang="en-US"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单列集合 </a:t>
            </a:r>
            <a:r>
              <a:rPr lang="en-US" altLang="zh-CN"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一次添加一个元素</a:t>
            </a:r>
          </a:p>
        </p:txBody>
      </p:sp>
      <p:sp>
        <p:nvSpPr>
          <p:cNvPr id="22" name="矩形: 圆角 21">
            <a:extLst>
              <a:ext uri="{FF2B5EF4-FFF2-40B4-BE49-F238E27FC236}">
                <a16:creationId xmlns:a16="http://schemas.microsoft.com/office/drawing/2014/main" id="{D8D63497-32C2-6EB4-F2E9-0B9F79EEB33A}"/>
              </a:ext>
            </a:extLst>
          </p:cNvPr>
          <p:cNvSpPr/>
          <p:nvPr/>
        </p:nvSpPr>
        <p:spPr>
          <a:xfrm>
            <a:off x="671804" y="2015412"/>
            <a:ext cx="6928658" cy="1744825"/>
          </a:xfrm>
          <a:custGeom>
            <a:avLst/>
            <a:gdLst>
              <a:gd name="connsiteX0" fmla="*/ 0 w 6928658"/>
              <a:gd name="connsiteY0" fmla="*/ 290810 h 1744825"/>
              <a:gd name="connsiteX1" fmla="*/ 290810 w 6928658"/>
              <a:gd name="connsiteY1" fmla="*/ 0 h 1744825"/>
              <a:gd name="connsiteX2" fmla="*/ 1052455 w 6928658"/>
              <a:gd name="connsiteY2" fmla="*/ 0 h 1744825"/>
              <a:gd name="connsiteX3" fmla="*/ 1623688 w 6928658"/>
              <a:gd name="connsiteY3" fmla="*/ 0 h 1744825"/>
              <a:gd name="connsiteX4" fmla="*/ 2131451 w 6928658"/>
              <a:gd name="connsiteY4" fmla="*/ 0 h 1744825"/>
              <a:gd name="connsiteX5" fmla="*/ 2829625 w 6928658"/>
              <a:gd name="connsiteY5" fmla="*/ 0 h 1744825"/>
              <a:gd name="connsiteX6" fmla="*/ 3400859 w 6928658"/>
              <a:gd name="connsiteY6" fmla="*/ 0 h 1744825"/>
              <a:gd name="connsiteX7" fmla="*/ 4162503 w 6928658"/>
              <a:gd name="connsiteY7" fmla="*/ 0 h 1744825"/>
              <a:gd name="connsiteX8" fmla="*/ 4670266 w 6928658"/>
              <a:gd name="connsiteY8" fmla="*/ 0 h 1744825"/>
              <a:gd name="connsiteX9" fmla="*/ 5431911 w 6928658"/>
              <a:gd name="connsiteY9" fmla="*/ 0 h 1744825"/>
              <a:gd name="connsiteX10" fmla="*/ 5876203 w 6928658"/>
              <a:gd name="connsiteY10" fmla="*/ 0 h 1744825"/>
              <a:gd name="connsiteX11" fmla="*/ 6637848 w 6928658"/>
              <a:gd name="connsiteY11" fmla="*/ 0 h 1744825"/>
              <a:gd name="connsiteX12" fmla="*/ 6928658 w 6928658"/>
              <a:gd name="connsiteY12" fmla="*/ 290810 h 1744825"/>
              <a:gd name="connsiteX13" fmla="*/ 6928658 w 6928658"/>
              <a:gd name="connsiteY13" fmla="*/ 837516 h 1744825"/>
              <a:gd name="connsiteX14" fmla="*/ 6928658 w 6928658"/>
              <a:gd name="connsiteY14" fmla="*/ 1454015 h 1744825"/>
              <a:gd name="connsiteX15" fmla="*/ 6637848 w 6928658"/>
              <a:gd name="connsiteY15" fmla="*/ 1744825 h 1744825"/>
              <a:gd name="connsiteX16" fmla="*/ 5939674 w 6928658"/>
              <a:gd name="connsiteY16" fmla="*/ 1744825 h 1744825"/>
              <a:gd name="connsiteX17" fmla="*/ 5304970 w 6928658"/>
              <a:gd name="connsiteY17" fmla="*/ 1744825 h 1744825"/>
              <a:gd name="connsiteX18" fmla="*/ 4860677 w 6928658"/>
              <a:gd name="connsiteY18" fmla="*/ 1744825 h 1744825"/>
              <a:gd name="connsiteX19" fmla="*/ 4352914 w 6928658"/>
              <a:gd name="connsiteY19" fmla="*/ 1744825 h 1744825"/>
              <a:gd name="connsiteX20" fmla="*/ 3591270 w 6928658"/>
              <a:gd name="connsiteY20" fmla="*/ 1744825 h 1744825"/>
              <a:gd name="connsiteX21" fmla="*/ 2956566 w 6928658"/>
              <a:gd name="connsiteY21" fmla="*/ 1744825 h 1744825"/>
              <a:gd name="connsiteX22" fmla="*/ 2448803 w 6928658"/>
              <a:gd name="connsiteY22" fmla="*/ 1744825 h 1744825"/>
              <a:gd name="connsiteX23" fmla="*/ 1814099 w 6928658"/>
              <a:gd name="connsiteY23" fmla="*/ 1744825 h 1744825"/>
              <a:gd name="connsiteX24" fmla="*/ 1369806 w 6928658"/>
              <a:gd name="connsiteY24" fmla="*/ 1744825 h 1744825"/>
              <a:gd name="connsiteX25" fmla="*/ 925514 w 6928658"/>
              <a:gd name="connsiteY25" fmla="*/ 1744825 h 1744825"/>
              <a:gd name="connsiteX26" fmla="*/ 290810 w 6928658"/>
              <a:gd name="connsiteY26" fmla="*/ 1744825 h 1744825"/>
              <a:gd name="connsiteX27" fmla="*/ 0 w 6928658"/>
              <a:gd name="connsiteY27" fmla="*/ 1454015 h 1744825"/>
              <a:gd name="connsiteX28" fmla="*/ 0 w 6928658"/>
              <a:gd name="connsiteY28" fmla="*/ 907309 h 1744825"/>
              <a:gd name="connsiteX29" fmla="*/ 0 w 6928658"/>
              <a:gd name="connsiteY29" fmla="*/ 290810 h 174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28658" h="1744825" extrusionOk="0">
                <a:moveTo>
                  <a:pt x="0" y="290810"/>
                </a:moveTo>
                <a:cubicBezTo>
                  <a:pt x="-19479" y="118185"/>
                  <a:pt x="93996" y="13588"/>
                  <a:pt x="290810" y="0"/>
                </a:cubicBezTo>
                <a:cubicBezTo>
                  <a:pt x="489677" y="12348"/>
                  <a:pt x="743631" y="-16788"/>
                  <a:pt x="1052455" y="0"/>
                </a:cubicBezTo>
                <a:cubicBezTo>
                  <a:pt x="1361280" y="16788"/>
                  <a:pt x="1440964" y="26503"/>
                  <a:pt x="1623688" y="0"/>
                </a:cubicBezTo>
                <a:cubicBezTo>
                  <a:pt x="1806412" y="-26503"/>
                  <a:pt x="1904290" y="-22923"/>
                  <a:pt x="2131451" y="0"/>
                </a:cubicBezTo>
                <a:cubicBezTo>
                  <a:pt x="2358612" y="22923"/>
                  <a:pt x="2486191" y="33474"/>
                  <a:pt x="2829625" y="0"/>
                </a:cubicBezTo>
                <a:cubicBezTo>
                  <a:pt x="3173059" y="-33474"/>
                  <a:pt x="3136223" y="-15823"/>
                  <a:pt x="3400859" y="0"/>
                </a:cubicBezTo>
                <a:cubicBezTo>
                  <a:pt x="3665495" y="15823"/>
                  <a:pt x="3992197" y="-23164"/>
                  <a:pt x="4162503" y="0"/>
                </a:cubicBezTo>
                <a:cubicBezTo>
                  <a:pt x="4332809" y="23164"/>
                  <a:pt x="4526120" y="-7013"/>
                  <a:pt x="4670266" y="0"/>
                </a:cubicBezTo>
                <a:cubicBezTo>
                  <a:pt x="4814412" y="7013"/>
                  <a:pt x="5103618" y="-6484"/>
                  <a:pt x="5431911" y="0"/>
                </a:cubicBezTo>
                <a:cubicBezTo>
                  <a:pt x="5760204" y="6484"/>
                  <a:pt x="5673736" y="-8540"/>
                  <a:pt x="5876203" y="0"/>
                </a:cubicBezTo>
                <a:cubicBezTo>
                  <a:pt x="6078670" y="8540"/>
                  <a:pt x="6463778" y="12766"/>
                  <a:pt x="6637848" y="0"/>
                </a:cubicBezTo>
                <a:cubicBezTo>
                  <a:pt x="6802376" y="5832"/>
                  <a:pt x="6932267" y="167578"/>
                  <a:pt x="6928658" y="290810"/>
                </a:cubicBezTo>
                <a:cubicBezTo>
                  <a:pt x="6928473" y="424331"/>
                  <a:pt x="6951892" y="610810"/>
                  <a:pt x="6928658" y="837516"/>
                </a:cubicBezTo>
                <a:cubicBezTo>
                  <a:pt x="6905424" y="1064222"/>
                  <a:pt x="6931022" y="1283291"/>
                  <a:pt x="6928658" y="1454015"/>
                </a:cubicBezTo>
                <a:cubicBezTo>
                  <a:pt x="6895652" y="1620045"/>
                  <a:pt x="6790267" y="1739173"/>
                  <a:pt x="6637848" y="1744825"/>
                </a:cubicBezTo>
                <a:cubicBezTo>
                  <a:pt x="6435117" y="1779030"/>
                  <a:pt x="6277125" y="1774723"/>
                  <a:pt x="5939674" y="1744825"/>
                </a:cubicBezTo>
                <a:cubicBezTo>
                  <a:pt x="5602223" y="1714927"/>
                  <a:pt x="5492755" y="1751870"/>
                  <a:pt x="5304970" y="1744825"/>
                </a:cubicBezTo>
                <a:cubicBezTo>
                  <a:pt x="5117185" y="1737780"/>
                  <a:pt x="5060485" y="1725820"/>
                  <a:pt x="4860677" y="1744825"/>
                </a:cubicBezTo>
                <a:cubicBezTo>
                  <a:pt x="4660869" y="1763830"/>
                  <a:pt x="4494887" y="1720101"/>
                  <a:pt x="4352914" y="1744825"/>
                </a:cubicBezTo>
                <a:cubicBezTo>
                  <a:pt x="4210941" y="1769549"/>
                  <a:pt x="3857954" y="1731101"/>
                  <a:pt x="3591270" y="1744825"/>
                </a:cubicBezTo>
                <a:cubicBezTo>
                  <a:pt x="3324586" y="1758549"/>
                  <a:pt x="3234937" y="1723476"/>
                  <a:pt x="2956566" y="1744825"/>
                </a:cubicBezTo>
                <a:cubicBezTo>
                  <a:pt x="2678195" y="1766174"/>
                  <a:pt x="2569565" y="1745266"/>
                  <a:pt x="2448803" y="1744825"/>
                </a:cubicBezTo>
                <a:cubicBezTo>
                  <a:pt x="2328041" y="1744384"/>
                  <a:pt x="2049885" y="1729355"/>
                  <a:pt x="1814099" y="1744825"/>
                </a:cubicBezTo>
                <a:cubicBezTo>
                  <a:pt x="1578313" y="1760295"/>
                  <a:pt x="1551180" y="1738910"/>
                  <a:pt x="1369806" y="1744825"/>
                </a:cubicBezTo>
                <a:cubicBezTo>
                  <a:pt x="1188432" y="1750740"/>
                  <a:pt x="1135731" y="1733380"/>
                  <a:pt x="925514" y="1744825"/>
                </a:cubicBezTo>
                <a:cubicBezTo>
                  <a:pt x="715297" y="1756270"/>
                  <a:pt x="524436" y="1762024"/>
                  <a:pt x="290810" y="1744825"/>
                </a:cubicBezTo>
                <a:cubicBezTo>
                  <a:pt x="142022" y="1748963"/>
                  <a:pt x="1259" y="1618867"/>
                  <a:pt x="0" y="1454015"/>
                </a:cubicBezTo>
                <a:cubicBezTo>
                  <a:pt x="1378" y="1273793"/>
                  <a:pt x="-5069" y="1157218"/>
                  <a:pt x="0" y="907309"/>
                </a:cubicBezTo>
                <a:cubicBezTo>
                  <a:pt x="5069" y="657400"/>
                  <a:pt x="-22144" y="564090"/>
                  <a:pt x="0" y="290810"/>
                </a:cubicBezTo>
                <a:close/>
              </a:path>
            </a:pathLst>
          </a:custGeom>
          <a:noFill/>
          <a:ln w="25400">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FF2ADCF3-473B-5BAD-88D6-9EEC635E5680}"/>
              </a:ext>
            </a:extLst>
          </p:cNvPr>
          <p:cNvSpPr/>
          <p:nvPr/>
        </p:nvSpPr>
        <p:spPr>
          <a:xfrm>
            <a:off x="671804" y="3936465"/>
            <a:ext cx="11028583" cy="1744825"/>
          </a:xfrm>
          <a:custGeom>
            <a:avLst/>
            <a:gdLst>
              <a:gd name="connsiteX0" fmla="*/ 0 w 11028583"/>
              <a:gd name="connsiteY0" fmla="*/ 290810 h 1744825"/>
              <a:gd name="connsiteX1" fmla="*/ 290810 w 11028583"/>
              <a:gd name="connsiteY1" fmla="*/ 0 h 1744825"/>
              <a:gd name="connsiteX2" fmla="*/ 1196213 w 11028583"/>
              <a:gd name="connsiteY2" fmla="*/ 0 h 1744825"/>
              <a:gd name="connsiteX3" fmla="*/ 1788208 w 11028583"/>
              <a:gd name="connsiteY3" fmla="*/ 0 h 1744825"/>
              <a:gd name="connsiteX4" fmla="*/ 2275733 w 11028583"/>
              <a:gd name="connsiteY4" fmla="*/ 0 h 1744825"/>
              <a:gd name="connsiteX5" fmla="*/ 3076667 w 11028583"/>
              <a:gd name="connsiteY5" fmla="*/ 0 h 1744825"/>
              <a:gd name="connsiteX6" fmla="*/ 3668661 w 11028583"/>
              <a:gd name="connsiteY6" fmla="*/ 0 h 1744825"/>
              <a:gd name="connsiteX7" fmla="*/ 4574065 w 11028583"/>
              <a:gd name="connsiteY7" fmla="*/ 0 h 1744825"/>
              <a:gd name="connsiteX8" fmla="*/ 5061590 w 11028583"/>
              <a:gd name="connsiteY8" fmla="*/ 0 h 1744825"/>
              <a:gd name="connsiteX9" fmla="*/ 5966993 w 11028583"/>
              <a:gd name="connsiteY9" fmla="*/ 0 h 1744825"/>
              <a:gd name="connsiteX10" fmla="*/ 6350049 w 11028583"/>
              <a:gd name="connsiteY10" fmla="*/ 0 h 1744825"/>
              <a:gd name="connsiteX11" fmla="*/ 7046513 w 11028583"/>
              <a:gd name="connsiteY11" fmla="*/ 0 h 1744825"/>
              <a:gd name="connsiteX12" fmla="*/ 7742977 w 11028583"/>
              <a:gd name="connsiteY12" fmla="*/ 0 h 1744825"/>
              <a:gd name="connsiteX13" fmla="*/ 8334972 w 11028583"/>
              <a:gd name="connsiteY13" fmla="*/ 0 h 1744825"/>
              <a:gd name="connsiteX14" fmla="*/ 9240375 w 11028583"/>
              <a:gd name="connsiteY14" fmla="*/ 0 h 1744825"/>
              <a:gd name="connsiteX15" fmla="*/ 10145778 w 11028583"/>
              <a:gd name="connsiteY15" fmla="*/ 0 h 1744825"/>
              <a:gd name="connsiteX16" fmla="*/ 10737773 w 11028583"/>
              <a:gd name="connsiteY16" fmla="*/ 0 h 1744825"/>
              <a:gd name="connsiteX17" fmla="*/ 11028583 w 11028583"/>
              <a:gd name="connsiteY17" fmla="*/ 290810 h 1744825"/>
              <a:gd name="connsiteX18" fmla="*/ 11028583 w 11028583"/>
              <a:gd name="connsiteY18" fmla="*/ 884045 h 1744825"/>
              <a:gd name="connsiteX19" fmla="*/ 11028583 w 11028583"/>
              <a:gd name="connsiteY19" fmla="*/ 1454015 h 1744825"/>
              <a:gd name="connsiteX20" fmla="*/ 10737773 w 11028583"/>
              <a:gd name="connsiteY20" fmla="*/ 1744825 h 1744825"/>
              <a:gd name="connsiteX21" fmla="*/ 9936839 w 11028583"/>
              <a:gd name="connsiteY21" fmla="*/ 1744825 h 1744825"/>
              <a:gd name="connsiteX22" fmla="*/ 9449314 w 11028583"/>
              <a:gd name="connsiteY22" fmla="*/ 1744825 h 1744825"/>
              <a:gd name="connsiteX23" fmla="*/ 8752850 w 11028583"/>
              <a:gd name="connsiteY23" fmla="*/ 1744825 h 1744825"/>
              <a:gd name="connsiteX24" fmla="*/ 8369795 w 11028583"/>
              <a:gd name="connsiteY24" fmla="*/ 1744825 h 1744825"/>
              <a:gd name="connsiteX25" fmla="*/ 7986739 w 11028583"/>
              <a:gd name="connsiteY25" fmla="*/ 1744825 h 1744825"/>
              <a:gd name="connsiteX26" fmla="*/ 7290275 w 11028583"/>
              <a:gd name="connsiteY26" fmla="*/ 1744825 h 1744825"/>
              <a:gd name="connsiteX27" fmla="*/ 6802750 w 11028583"/>
              <a:gd name="connsiteY27" fmla="*/ 1744825 h 1744825"/>
              <a:gd name="connsiteX28" fmla="*/ 6001816 w 11028583"/>
              <a:gd name="connsiteY28" fmla="*/ 1744825 h 1744825"/>
              <a:gd name="connsiteX29" fmla="*/ 5514292 w 11028583"/>
              <a:gd name="connsiteY29" fmla="*/ 1744825 h 1744825"/>
              <a:gd name="connsiteX30" fmla="*/ 4713358 w 11028583"/>
              <a:gd name="connsiteY30" fmla="*/ 1744825 h 1744825"/>
              <a:gd name="connsiteX31" fmla="*/ 4330302 w 11028583"/>
              <a:gd name="connsiteY31" fmla="*/ 1744825 h 1744825"/>
              <a:gd name="connsiteX32" fmla="*/ 3529369 w 11028583"/>
              <a:gd name="connsiteY32" fmla="*/ 1744825 h 1744825"/>
              <a:gd name="connsiteX33" fmla="*/ 3041844 w 11028583"/>
              <a:gd name="connsiteY33" fmla="*/ 1744825 h 1744825"/>
              <a:gd name="connsiteX34" fmla="*/ 2658788 w 11028583"/>
              <a:gd name="connsiteY34" fmla="*/ 1744825 h 1744825"/>
              <a:gd name="connsiteX35" fmla="*/ 2171263 w 11028583"/>
              <a:gd name="connsiteY35" fmla="*/ 1744825 h 1744825"/>
              <a:gd name="connsiteX36" fmla="*/ 1370330 w 11028583"/>
              <a:gd name="connsiteY36" fmla="*/ 1744825 h 1744825"/>
              <a:gd name="connsiteX37" fmla="*/ 882805 w 11028583"/>
              <a:gd name="connsiteY37" fmla="*/ 1744825 h 1744825"/>
              <a:gd name="connsiteX38" fmla="*/ 290810 w 11028583"/>
              <a:gd name="connsiteY38" fmla="*/ 1744825 h 1744825"/>
              <a:gd name="connsiteX39" fmla="*/ 0 w 11028583"/>
              <a:gd name="connsiteY39" fmla="*/ 1454015 h 1744825"/>
              <a:gd name="connsiteX40" fmla="*/ 0 w 11028583"/>
              <a:gd name="connsiteY40" fmla="*/ 860780 h 1744825"/>
              <a:gd name="connsiteX41" fmla="*/ 0 w 11028583"/>
              <a:gd name="connsiteY41" fmla="*/ 290810 h 174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028583" h="1744825" extrusionOk="0">
                <a:moveTo>
                  <a:pt x="0" y="290810"/>
                </a:moveTo>
                <a:cubicBezTo>
                  <a:pt x="-19479" y="118185"/>
                  <a:pt x="93996" y="13588"/>
                  <a:pt x="290810" y="0"/>
                </a:cubicBezTo>
                <a:cubicBezTo>
                  <a:pt x="696991" y="37587"/>
                  <a:pt x="997474" y="26886"/>
                  <a:pt x="1196213" y="0"/>
                </a:cubicBezTo>
                <a:cubicBezTo>
                  <a:pt x="1394952" y="-26886"/>
                  <a:pt x="1638189" y="-1233"/>
                  <a:pt x="1788208" y="0"/>
                </a:cubicBezTo>
                <a:cubicBezTo>
                  <a:pt x="1938227" y="1233"/>
                  <a:pt x="2044913" y="13259"/>
                  <a:pt x="2275733" y="0"/>
                </a:cubicBezTo>
                <a:cubicBezTo>
                  <a:pt x="2506553" y="-13259"/>
                  <a:pt x="2831838" y="21681"/>
                  <a:pt x="3076667" y="0"/>
                </a:cubicBezTo>
                <a:cubicBezTo>
                  <a:pt x="3321496" y="-21681"/>
                  <a:pt x="3382642" y="10395"/>
                  <a:pt x="3668661" y="0"/>
                </a:cubicBezTo>
                <a:cubicBezTo>
                  <a:pt x="3954680" y="-10395"/>
                  <a:pt x="4210576" y="-12601"/>
                  <a:pt x="4574065" y="0"/>
                </a:cubicBezTo>
                <a:cubicBezTo>
                  <a:pt x="4937554" y="12601"/>
                  <a:pt x="4946400" y="-12246"/>
                  <a:pt x="5061590" y="0"/>
                </a:cubicBezTo>
                <a:cubicBezTo>
                  <a:pt x="5176781" y="12246"/>
                  <a:pt x="5546526" y="41061"/>
                  <a:pt x="5966993" y="0"/>
                </a:cubicBezTo>
                <a:cubicBezTo>
                  <a:pt x="6387460" y="-41061"/>
                  <a:pt x="6265790" y="12332"/>
                  <a:pt x="6350049" y="0"/>
                </a:cubicBezTo>
                <a:cubicBezTo>
                  <a:pt x="6434308" y="-12332"/>
                  <a:pt x="6716411" y="16418"/>
                  <a:pt x="7046513" y="0"/>
                </a:cubicBezTo>
                <a:cubicBezTo>
                  <a:pt x="7376615" y="-16418"/>
                  <a:pt x="7563980" y="-3183"/>
                  <a:pt x="7742977" y="0"/>
                </a:cubicBezTo>
                <a:cubicBezTo>
                  <a:pt x="7921974" y="3183"/>
                  <a:pt x="8118215" y="-3148"/>
                  <a:pt x="8334972" y="0"/>
                </a:cubicBezTo>
                <a:cubicBezTo>
                  <a:pt x="8551729" y="3148"/>
                  <a:pt x="8837045" y="1677"/>
                  <a:pt x="9240375" y="0"/>
                </a:cubicBezTo>
                <a:cubicBezTo>
                  <a:pt x="9643705" y="-1677"/>
                  <a:pt x="9706010" y="9310"/>
                  <a:pt x="10145778" y="0"/>
                </a:cubicBezTo>
                <a:cubicBezTo>
                  <a:pt x="10585546" y="-9310"/>
                  <a:pt x="10453266" y="19748"/>
                  <a:pt x="10737773" y="0"/>
                </a:cubicBezTo>
                <a:cubicBezTo>
                  <a:pt x="10880324" y="-17015"/>
                  <a:pt x="11007669" y="98935"/>
                  <a:pt x="11028583" y="290810"/>
                </a:cubicBezTo>
                <a:cubicBezTo>
                  <a:pt x="11041251" y="501773"/>
                  <a:pt x="11013722" y="611232"/>
                  <a:pt x="11028583" y="884045"/>
                </a:cubicBezTo>
                <a:cubicBezTo>
                  <a:pt x="11043444" y="1156859"/>
                  <a:pt x="11047343" y="1233158"/>
                  <a:pt x="11028583" y="1454015"/>
                </a:cubicBezTo>
                <a:cubicBezTo>
                  <a:pt x="10993394" y="1616074"/>
                  <a:pt x="10905636" y="1731750"/>
                  <a:pt x="10737773" y="1744825"/>
                </a:cubicBezTo>
                <a:cubicBezTo>
                  <a:pt x="10439017" y="1747749"/>
                  <a:pt x="10234010" y="1770043"/>
                  <a:pt x="9936839" y="1744825"/>
                </a:cubicBezTo>
                <a:cubicBezTo>
                  <a:pt x="9639668" y="1719607"/>
                  <a:pt x="9612210" y="1746088"/>
                  <a:pt x="9449314" y="1744825"/>
                </a:cubicBezTo>
                <a:cubicBezTo>
                  <a:pt x="9286419" y="1743562"/>
                  <a:pt x="9078307" y="1767225"/>
                  <a:pt x="8752850" y="1744825"/>
                </a:cubicBezTo>
                <a:cubicBezTo>
                  <a:pt x="8427393" y="1722425"/>
                  <a:pt x="8552663" y="1756857"/>
                  <a:pt x="8369795" y="1744825"/>
                </a:cubicBezTo>
                <a:cubicBezTo>
                  <a:pt x="8186927" y="1732793"/>
                  <a:pt x="8163618" y="1726665"/>
                  <a:pt x="7986739" y="1744825"/>
                </a:cubicBezTo>
                <a:cubicBezTo>
                  <a:pt x="7809860" y="1762985"/>
                  <a:pt x="7588603" y="1718744"/>
                  <a:pt x="7290275" y="1744825"/>
                </a:cubicBezTo>
                <a:cubicBezTo>
                  <a:pt x="6991947" y="1770906"/>
                  <a:pt x="7012452" y="1758560"/>
                  <a:pt x="6802750" y="1744825"/>
                </a:cubicBezTo>
                <a:cubicBezTo>
                  <a:pt x="6593049" y="1731090"/>
                  <a:pt x="6300978" y="1765191"/>
                  <a:pt x="6001816" y="1744825"/>
                </a:cubicBezTo>
                <a:cubicBezTo>
                  <a:pt x="5702654" y="1724459"/>
                  <a:pt x="5722609" y="1739305"/>
                  <a:pt x="5514292" y="1744825"/>
                </a:cubicBezTo>
                <a:cubicBezTo>
                  <a:pt x="5305975" y="1750345"/>
                  <a:pt x="4993429" y="1709687"/>
                  <a:pt x="4713358" y="1744825"/>
                </a:cubicBezTo>
                <a:cubicBezTo>
                  <a:pt x="4433287" y="1779963"/>
                  <a:pt x="4434711" y="1762278"/>
                  <a:pt x="4330302" y="1744825"/>
                </a:cubicBezTo>
                <a:cubicBezTo>
                  <a:pt x="4225893" y="1727372"/>
                  <a:pt x="3764953" y="1766157"/>
                  <a:pt x="3529369" y="1744825"/>
                </a:cubicBezTo>
                <a:cubicBezTo>
                  <a:pt x="3293785" y="1723493"/>
                  <a:pt x="3256965" y="1722971"/>
                  <a:pt x="3041844" y="1744825"/>
                </a:cubicBezTo>
                <a:cubicBezTo>
                  <a:pt x="2826724" y="1766679"/>
                  <a:pt x="2793548" y="1727478"/>
                  <a:pt x="2658788" y="1744825"/>
                </a:cubicBezTo>
                <a:cubicBezTo>
                  <a:pt x="2524028" y="1762172"/>
                  <a:pt x="2333201" y="1728078"/>
                  <a:pt x="2171263" y="1744825"/>
                </a:cubicBezTo>
                <a:cubicBezTo>
                  <a:pt x="2009325" y="1761572"/>
                  <a:pt x="1601943" y="1705976"/>
                  <a:pt x="1370330" y="1744825"/>
                </a:cubicBezTo>
                <a:cubicBezTo>
                  <a:pt x="1138717" y="1783674"/>
                  <a:pt x="1074260" y="1753317"/>
                  <a:pt x="882805" y="1744825"/>
                </a:cubicBezTo>
                <a:cubicBezTo>
                  <a:pt x="691351" y="1736333"/>
                  <a:pt x="452490" y="1728591"/>
                  <a:pt x="290810" y="1744825"/>
                </a:cubicBezTo>
                <a:cubicBezTo>
                  <a:pt x="137386" y="1746250"/>
                  <a:pt x="-17515" y="1625934"/>
                  <a:pt x="0" y="1454015"/>
                </a:cubicBezTo>
                <a:cubicBezTo>
                  <a:pt x="-7654" y="1243188"/>
                  <a:pt x="15817" y="1108886"/>
                  <a:pt x="0" y="860780"/>
                </a:cubicBezTo>
                <a:cubicBezTo>
                  <a:pt x="-15817" y="612674"/>
                  <a:pt x="-12206" y="493759"/>
                  <a:pt x="0" y="290810"/>
                </a:cubicBezTo>
                <a:close/>
              </a:path>
            </a:pathLst>
          </a:custGeom>
          <a:noFill/>
          <a:ln w="25400">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4D9740F7-C26B-B3D3-8A4F-904463B1490D}"/>
              </a:ext>
            </a:extLst>
          </p:cNvPr>
          <p:cNvSpPr/>
          <p:nvPr/>
        </p:nvSpPr>
        <p:spPr>
          <a:xfrm>
            <a:off x="835825" y="5939621"/>
            <a:ext cx="184731" cy="707886"/>
          </a:xfrm>
          <a:prstGeom prst="rect">
            <a:avLst/>
          </a:prstGeom>
          <a:noFill/>
        </p:spPr>
        <p:txBody>
          <a:bodyPr wrap="none" lIns="91440" tIns="45720" rIns="91440" bIns="45720">
            <a:spAutoFit/>
          </a:bodyPr>
          <a:lstStyle/>
          <a:p>
            <a:endParaRPr lang="en-US" altLang="zh-CN" sz="20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a:p>
            <a:endParaRPr lang="zh-CN" altLang="en-US" sz="20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6" name="矩形 25">
            <a:extLst>
              <a:ext uri="{FF2B5EF4-FFF2-40B4-BE49-F238E27FC236}">
                <a16:creationId xmlns:a16="http://schemas.microsoft.com/office/drawing/2014/main" id="{CD0481DF-30A2-AC69-0680-96B96BFA99B7}"/>
              </a:ext>
            </a:extLst>
          </p:cNvPr>
          <p:cNvSpPr/>
          <p:nvPr/>
        </p:nvSpPr>
        <p:spPr>
          <a:xfrm>
            <a:off x="5153741" y="2218669"/>
            <a:ext cx="1451038" cy="1015663"/>
          </a:xfrm>
          <a:prstGeom prst="rect">
            <a:avLst/>
          </a:prstGeom>
          <a:noFill/>
        </p:spPr>
        <p:txBody>
          <a:bodyPr wrap="none" lIns="91440" tIns="45720" rIns="91440" bIns="45720">
            <a:spAutoFit/>
          </a:bodyPr>
          <a:lstStyle/>
          <a:p>
            <a:r>
              <a:rPr lang="en-US" altLang="zh-CN" sz="20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rPr>
              <a:t>List </a:t>
            </a:r>
            <a:r>
              <a:rPr lang="zh-CN" altLang="en-US" sz="20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rPr>
              <a:t>接口</a:t>
            </a:r>
            <a:endParaRPr lang="en-US" altLang="zh-CN" sz="20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endParaRPr>
          </a:p>
          <a:p>
            <a:endParaRPr lang="en-US" altLang="zh-CN" sz="20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endParaRPr>
          </a:p>
          <a:p>
            <a:endParaRPr lang="zh-CN" altLang="en-US" sz="20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Consolas" panose="020B0609020204030204" pitchFamily="49" charset="0"/>
            </a:endParaRPr>
          </a:p>
        </p:txBody>
      </p:sp>
      <p:sp>
        <p:nvSpPr>
          <p:cNvPr id="31" name="文本框 30">
            <a:extLst>
              <a:ext uri="{FF2B5EF4-FFF2-40B4-BE49-F238E27FC236}">
                <a16:creationId xmlns:a16="http://schemas.microsoft.com/office/drawing/2014/main" id="{DC883F2F-80F2-59C7-2763-E792D9A05BE7}"/>
              </a:ext>
            </a:extLst>
          </p:cNvPr>
          <p:cNvSpPr txBox="1"/>
          <p:nvPr/>
        </p:nvSpPr>
        <p:spPr>
          <a:xfrm>
            <a:off x="5153741" y="2689668"/>
            <a:ext cx="2025406" cy="923330"/>
          </a:xfrm>
          <a:prstGeom prst="rect">
            <a:avLst/>
          </a:prstGeom>
          <a:noFill/>
          <a:ln>
            <a:noFill/>
          </a:ln>
        </p:spPr>
        <p:txBody>
          <a:bodyPr wrap="square" rtlCol="0">
            <a:spAutoFit/>
          </a:bodyPr>
          <a:lstStyle/>
          <a:p>
            <a:pPr algn="l"/>
            <a:r>
              <a:rPr kumimoji="0" lang="zh-CN" altLang="en-US" i="0" u="none" strike="noStrike" cap="none" normalizeH="0" baseline="0" dirty="0">
                <a:ln>
                  <a:noFill/>
                </a:ln>
                <a:solidFill>
                  <a:srgbClr val="AD2B26"/>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存取有序</a:t>
            </a:r>
          </a:p>
          <a:p>
            <a:pPr algn="l"/>
            <a:r>
              <a:rPr kumimoji="0" lang="zh-CN" altLang="en-US" i="0" u="none" strike="noStrike" cap="none" normalizeH="0" baseline="0" dirty="0">
                <a:ln>
                  <a:noFill/>
                </a:ln>
                <a:solidFill>
                  <a:srgbClr val="AD2B26"/>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有索引</a:t>
            </a:r>
          </a:p>
          <a:p>
            <a:pPr algn="l"/>
            <a:r>
              <a:rPr kumimoji="0" lang="zh-CN" altLang="en-US" i="0" u="none" strike="noStrike" cap="none" normalizeH="0" baseline="0" dirty="0">
                <a:ln>
                  <a:noFill/>
                </a:ln>
                <a:solidFill>
                  <a:srgbClr val="AD2B26"/>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可以存储重复的</a:t>
            </a:r>
          </a:p>
        </p:txBody>
      </p:sp>
      <p:sp>
        <p:nvSpPr>
          <p:cNvPr id="32" name="矩形 31">
            <a:extLst>
              <a:ext uri="{FF2B5EF4-FFF2-40B4-BE49-F238E27FC236}">
                <a16:creationId xmlns:a16="http://schemas.microsoft.com/office/drawing/2014/main" id="{909AA148-0A7A-E5C6-D781-5E5AFD5542CE}"/>
              </a:ext>
            </a:extLst>
          </p:cNvPr>
          <p:cNvSpPr/>
          <p:nvPr/>
        </p:nvSpPr>
        <p:spPr>
          <a:xfrm>
            <a:off x="8125077" y="4189096"/>
            <a:ext cx="1265090" cy="400110"/>
          </a:xfrm>
          <a:prstGeom prst="rect">
            <a:avLst/>
          </a:prstGeom>
          <a:noFill/>
        </p:spPr>
        <p:txBody>
          <a:bodyPr wrap="none" lIns="91440" tIns="45720" rIns="91440" bIns="45720">
            <a:spAutoFit/>
          </a:bodyPr>
          <a:lstStyle/>
          <a:p>
            <a:pPr algn="ctr"/>
            <a:r>
              <a:rPr lang="en-US" altLang="zh-CN" sz="20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onsolas" panose="020B0609020204030204" pitchFamily="49" charset="0"/>
              </a:rPr>
              <a:t>Set </a:t>
            </a:r>
            <a:r>
              <a:rPr lang="zh-CN" altLang="en-US" sz="20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onsolas" panose="020B0609020204030204" pitchFamily="49" charset="0"/>
              </a:rPr>
              <a:t>接口</a:t>
            </a:r>
            <a:endParaRPr lang="zh-CN" altLang="en-US" sz="20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onsolas" panose="020B0609020204030204" pitchFamily="49" charset="0"/>
            </a:endParaRPr>
          </a:p>
        </p:txBody>
      </p:sp>
      <p:sp>
        <p:nvSpPr>
          <p:cNvPr id="33" name="文本框 32">
            <a:extLst>
              <a:ext uri="{FF2B5EF4-FFF2-40B4-BE49-F238E27FC236}">
                <a16:creationId xmlns:a16="http://schemas.microsoft.com/office/drawing/2014/main" id="{A9EC8D0E-C9FB-FE8E-D07F-3B5DB8D6E2F4}"/>
              </a:ext>
            </a:extLst>
          </p:cNvPr>
          <p:cNvSpPr txBox="1"/>
          <p:nvPr/>
        </p:nvSpPr>
        <p:spPr>
          <a:xfrm>
            <a:off x="8125077" y="4652039"/>
            <a:ext cx="2025406" cy="923330"/>
          </a:xfrm>
          <a:prstGeom prst="rect">
            <a:avLst/>
          </a:prstGeom>
          <a:noFill/>
          <a:ln>
            <a:noFill/>
          </a:ln>
        </p:spPr>
        <p:txBody>
          <a:bodyPr wrap="square" rtlCol="0">
            <a:spAutoFit/>
          </a:bodyPr>
          <a:lstStyle/>
          <a:p>
            <a:pPr algn="l"/>
            <a:r>
              <a:rPr kumimoji="0" lang="zh-CN" altLang="en-US"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存取</a:t>
            </a:r>
            <a:r>
              <a:rPr lang="zh-CN" altLang="en-US" dirty="0">
                <a:solidFill>
                  <a:schemeClr val="accent3">
                    <a:lumMod val="75000"/>
                  </a:schemeClr>
                </a:solidFill>
                <a:latin typeface="杨任东竹石体-Bold" panose="02000000000000000000" pitchFamily="2" charset="-122"/>
                <a:ea typeface="杨任东竹石体-Bold" panose="02000000000000000000" pitchFamily="2" charset="-122"/>
                <a:cs typeface="阿里巴巴普惠体" panose="00020600040101010101" pitchFamily="18" charset="-122"/>
              </a:rPr>
              <a:t>无</a:t>
            </a:r>
            <a:r>
              <a:rPr kumimoji="0" lang="zh-CN" altLang="en-US"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序</a:t>
            </a:r>
          </a:p>
          <a:p>
            <a:pPr algn="l"/>
            <a:r>
              <a:rPr lang="zh-CN" altLang="en-US" dirty="0">
                <a:solidFill>
                  <a:schemeClr val="accent3">
                    <a:lumMod val="75000"/>
                  </a:schemeClr>
                </a:solidFill>
                <a:latin typeface="杨任东竹石体-Bold" panose="02000000000000000000" pitchFamily="2" charset="-122"/>
                <a:ea typeface="杨任东竹石体-Bold" panose="02000000000000000000" pitchFamily="2" charset="-122"/>
                <a:cs typeface="阿里巴巴普惠体" panose="00020600040101010101" pitchFamily="18" charset="-122"/>
              </a:rPr>
              <a:t>没有</a:t>
            </a:r>
            <a:r>
              <a:rPr kumimoji="0" lang="zh-CN" altLang="en-US"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索引</a:t>
            </a:r>
          </a:p>
          <a:p>
            <a:pPr algn="l"/>
            <a:r>
              <a:rPr kumimoji="0" lang="zh-CN" altLang="en-US" i="0" u="none" strike="noStrike" cap="none" normalizeH="0" baseline="0" dirty="0">
                <a:ln>
                  <a:noFill/>
                </a:ln>
                <a:solidFill>
                  <a:schemeClr val="accent3">
                    <a:lumMod val="75000"/>
                  </a:schemeClr>
                </a:solidFill>
                <a:effectLst/>
                <a:latin typeface="杨任东竹石体-Bold" panose="02000000000000000000" pitchFamily="2" charset="-122"/>
                <a:ea typeface="杨任东竹石体-Bold" panose="02000000000000000000" pitchFamily="2" charset="-122"/>
                <a:cs typeface="阿里巴巴普惠体" panose="00020600040101010101" pitchFamily="18" charset="-122"/>
              </a:rPr>
              <a:t>不可以存储重复的</a:t>
            </a:r>
          </a:p>
        </p:txBody>
      </p:sp>
      <p:sp>
        <p:nvSpPr>
          <p:cNvPr id="39" name="矩形 38">
            <a:extLst>
              <a:ext uri="{FF2B5EF4-FFF2-40B4-BE49-F238E27FC236}">
                <a16:creationId xmlns:a16="http://schemas.microsoft.com/office/drawing/2014/main" id="{CD8C4B0B-B991-C9B7-698A-EAF20CC5E9E1}"/>
              </a:ext>
            </a:extLst>
          </p:cNvPr>
          <p:cNvSpPr/>
          <p:nvPr/>
        </p:nvSpPr>
        <p:spPr>
          <a:xfrm>
            <a:off x="7797983" y="1766491"/>
            <a:ext cx="4046299" cy="923330"/>
          </a:xfrm>
          <a:prstGeom prst="rect">
            <a:avLst/>
          </a:prstGeom>
          <a:noFill/>
        </p:spPr>
        <p:txBody>
          <a:bodyPr wrap="none" lIns="91440" tIns="45720" rIns="91440" bIns="45720">
            <a:spAutoFit/>
          </a:bodyPr>
          <a:lstStyle/>
          <a:p>
            <a:pPr algn="ctr"/>
            <a:r>
              <a:rPr lang="en-US" altLang="zh-CN"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杨任东竹石体-Heavy" panose="02000000000000000000" pitchFamily="2" charset="-122"/>
                <a:ea typeface="杨任东竹石体-Heavy" panose="02000000000000000000" pitchFamily="2" charset="-122"/>
              </a:rPr>
              <a:t>Collection </a:t>
            </a:r>
            <a:r>
              <a:rPr lang="zh-CN" alt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杨任东竹石体-Heavy" panose="02000000000000000000" pitchFamily="2" charset="-122"/>
                <a:ea typeface="杨任东竹石体-Heavy" panose="02000000000000000000" pitchFamily="2" charset="-122"/>
              </a:rPr>
              <a:t>接口</a:t>
            </a:r>
          </a:p>
        </p:txBody>
      </p:sp>
      <p:sp>
        <p:nvSpPr>
          <p:cNvPr id="42" name="文本框 41">
            <a:extLst>
              <a:ext uri="{FF2B5EF4-FFF2-40B4-BE49-F238E27FC236}">
                <a16:creationId xmlns:a16="http://schemas.microsoft.com/office/drawing/2014/main" id="{9572C61F-CB49-70B1-5121-F2B6D8A41F04}"/>
              </a:ext>
            </a:extLst>
          </p:cNvPr>
          <p:cNvSpPr txBox="1"/>
          <p:nvPr/>
        </p:nvSpPr>
        <p:spPr>
          <a:xfrm>
            <a:off x="984938" y="4137385"/>
            <a:ext cx="1561646" cy="369332"/>
          </a:xfrm>
          <a:prstGeom prst="rect">
            <a:avLst/>
          </a:prstGeom>
          <a:noFill/>
        </p:spPr>
        <p:txBody>
          <a:bodyPr wrap="none" rtlCol="0">
            <a:spAutoFit/>
          </a:bodyPr>
          <a:lstStyle/>
          <a:p>
            <a:r>
              <a:rPr lang="zh-CN" altLang="en-US" dirty="0">
                <a:latin typeface="杨任东竹石体-Heavy" panose="02000000000000000000" pitchFamily="2" charset="-122"/>
                <a:ea typeface="杨任东竹石体-Heavy" panose="02000000000000000000" pitchFamily="2" charset="-122"/>
              </a:rPr>
              <a:t>排序，不重复</a:t>
            </a:r>
          </a:p>
        </p:txBody>
      </p:sp>
      <p:sp>
        <p:nvSpPr>
          <p:cNvPr id="43" name="文本框 42">
            <a:extLst>
              <a:ext uri="{FF2B5EF4-FFF2-40B4-BE49-F238E27FC236}">
                <a16:creationId xmlns:a16="http://schemas.microsoft.com/office/drawing/2014/main" id="{CDF0B861-BB1D-8537-5948-157B3E1990EC}"/>
              </a:ext>
            </a:extLst>
          </p:cNvPr>
          <p:cNvSpPr txBox="1"/>
          <p:nvPr/>
        </p:nvSpPr>
        <p:spPr>
          <a:xfrm>
            <a:off x="3503147" y="4134212"/>
            <a:ext cx="872355" cy="369332"/>
          </a:xfrm>
          <a:prstGeom prst="rect">
            <a:avLst/>
          </a:prstGeom>
          <a:noFill/>
        </p:spPr>
        <p:txBody>
          <a:bodyPr wrap="none" rtlCol="0">
            <a:spAutoFit/>
          </a:bodyPr>
          <a:lstStyle/>
          <a:p>
            <a:r>
              <a:rPr lang="zh-CN" altLang="en-US" dirty="0">
                <a:latin typeface="杨任东竹石体-Heavy" panose="02000000000000000000" pitchFamily="2" charset="-122"/>
                <a:ea typeface="杨任东竹石体-Heavy" panose="02000000000000000000" pitchFamily="2" charset="-122"/>
              </a:rPr>
              <a:t>不重复</a:t>
            </a:r>
          </a:p>
        </p:txBody>
      </p:sp>
      <p:sp>
        <p:nvSpPr>
          <p:cNvPr id="44" name="文本框 43">
            <a:extLst>
              <a:ext uri="{FF2B5EF4-FFF2-40B4-BE49-F238E27FC236}">
                <a16:creationId xmlns:a16="http://schemas.microsoft.com/office/drawing/2014/main" id="{5D289512-97E9-A9A6-B4D5-A94D6F9A0135}"/>
              </a:ext>
            </a:extLst>
          </p:cNvPr>
          <p:cNvSpPr txBox="1"/>
          <p:nvPr/>
        </p:nvSpPr>
        <p:spPr>
          <a:xfrm>
            <a:off x="5555284" y="4157531"/>
            <a:ext cx="1561646" cy="369332"/>
          </a:xfrm>
          <a:prstGeom prst="rect">
            <a:avLst/>
          </a:prstGeom>
          <a:noFill/>
        </p:spPr>
        <p:txBody>
          <a:bodyPr wrap="none" rtlCol="0">
            <a:spAutoFit/>
          </a:bodyPr>
          <a:lstStyle/>
          <a:p>
            <a:r>
              <a:rPr lang="zh-CN" altLang="en-US" dirty="0">
                <a:latin typeface="杨任东竹石体-Heavy" panose="02000000000000000000" pitchFamily="2" charset="-122"/>
                <a:ea typeface="杨任东竹石体-Heavy" panose="02000000000000000000" pitchFamily="2" charset="-122"/>
              </a:rPr>
              <a:t>有序，不重复</a:t>
            </a:r>
          </a:p>
        </p:txBody>
      </p:sp>
    </p:spTree>
    <p:extLst>
      <p:ext uri="{BB962C8B-B14F-4D97-AF65-F5344CB8AC3E}">
        <p14:creationId xmlns:p14="http://schemas.microsoft.com/office/powerpoint/2010/main" val="224029636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p:tgtEl>
                                          <p:spTgt spid="42"/>
                                        </p:tgtEl>
                                        <p:attrNameLst>
                                          <p:attrName>ppt_x</p:attrName>
                                        </p:attrNameLst>
                                      </p:cBhvr>
                                      <p:tavLst>
                                        <p:tav tm="0">
                                          <p:val>
                                            <p:strVal val="#ppt_x-#ppt_w*1.125000"/>
                                          </p:val>
                                        </p:tav>
                                        <p:tav tm="100000">
                                          <p:val>
                                            <p:strVal val="#ppt_x"/>
                                          </p:val>
                                        </p:tav>
                                      </p:tavLst>
                                    </p:anim>
                                    <p:animEffect transition="in" filter="wipe(right)">
                                      <p:cBhvr>
                                        <p:cTn id="8" dur="500"/>
                                        <p:tgtEl>
                                          <p:spTgt spid="4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43"/>
                                        </p:tgtEl>
                                        <p:attrNameLst>
                                          <p:attrName>style.visibility</p:attrName>
                                        </p:attrNameLst>
                                      </p:cBhvr>
                                      <p:to>
                                        <p:strVal val="visible"/>
                                      </p:to>
                                    </p:set>
                                    <p:anim calcmode="lin" valueType="num">
                                      <p:cBhvr additive="base">
                                        <p:cTn id="13" dur="500"/>
                                        <p:tgtEl>
                                          <p:spTgt spid="43"/>
                                        </p:tgtEl>
                                        <p:attrNameLst>
                                          <p:attrName>ppt_x</p:attrName>
                                        </p:attrNameLst>
                                      </p:cBhvr>
                                      <p:tavLst>
                                        <p:tav tm="0">
                                          <p:val>
                                            <p:strVal val="#ppt_x-#ppt_w*1.125000"/>
                                          </p:val>
                                        </p:tav>
                                        <p:tav tm="100000">
                                          <p:val>
                                            <p:strVal val="#ppt_x"/>
                                          </p:val>
                                        </p:tav>
                                      </p:tavLst>
                                    </p:anim>
                                    <p:animEffect transition="in" filter="wipe(right)">
                                      <p:cBhvr>
                                        <p:cTn id="14" dur="500"/>
                                        <p:tgtEl>
                                          <p:spTgt spid="43"/>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additive="base">
                                        <p:cTn id="19" dur="500"/>
                                        <p:tgtEl>
                                          <p:spTgt spid="44"/>
                                        </p:tgtEl>
                                        <p:attrNameLst>
                                          <p:attrName>ppt_x</p:attrName>
                                        </p:attrNameLst>
                                      </p:cBhvr>
                                      <p:tavLst>
                                        <p:tav tm="0">
                                          <p:val>
                                            <p:strVal val="#ppt_x-#ppt_w*1.125000"/>
                                          </p:val>
                                        </p:tav>
                                        <p:tav tm="100000">
                                          <p:val>
                                            <p:strVal val="#ppt_x"/>
                                          </p:val>
                                        </p:tav>
                                      </p:tavLst>
                                    </p:anim>
                                    <p:animEffect transition="in" filter="wipe(right)">
                                      <p:cBhvr>
                                        <p:cTn id="2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3E19D2-3CAD-71C5-212B-6D473A88910B}"/>
              </a:ext>
            </a:extLst>
          </p:cNvPr>
          <p:cNvSpPr>
            <a:spLocks noGrp="1" noChangeArrowheads="1"/>
          </p:cNvSpPr>
          <p:nvPr>
            <p:ph type="body" sz="quarter" idx="10"/>
          </p:nvPr>
        </p:nvSpPr>
        <p:spPr bwMode="auto">
          <a:xfrm>
            <a:off x="3834575" y="2632564"/>
            <a:ext cx="7057613" cy="79643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a:lnSpc>
                <a:spcPct val="150000"/>
              </a:lnSpc>
              <a:spcBef>
                <a:spcPct val="0"/>
              </a:spcBef>
            </a:pPr>
            <a:r>
              <a:rPr lang="en-US" altLang="zh-CN" sz="1600" dirty="0"/>
              <a:t>1.</a:t>
            </a:r>
            <a:r>
              <a:rPr lang="zh-CN" altLang="zh-CN" sz="1600" dirty="0"/>
              <a:t>如果</a:t>
            </a:r>
            <a:r>
              <a:rPr lang="zh-CN" altLang="en-US" sz="1600" dirty="0"/>
              <a:t>想要集合中的元素</a:t>
            </a:r>
            <a:r>
              <a:rPr lang="zh-CN" altLang="zh-CN" sz="1600" dirty="0"/>
              <a:t>可重复</a:t>
            </a:r>
            <a:endParaRPr lang="en-US" altLang="zh-CN" sz="1600" dirty="0"/>
          </a:p>
          <a:p>
            <a:pPr marL="895335" lvl="1" indent="-285750">
              <a:lnSpc>
                <a:spcPct val="150000"/>
              </a:lnSpc>
              <a:spcBef>
                <a:spcPct val="0"/>
              </a:spcBef>
              <a:buFont typeface="Wingdings" panose="05000000000000000000" pitchFamily="2" charset="2"/>
              <a:buChar char="l"/>
            </a:pPr>
            <a:r>
              <a:rPr lang="zh-CN" altLang="zh-CN" sz="16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用ArrayList集合</a:t>
            </a:r>
            <a:r>
              <a:rPr lang="zh-CN" altLang="en-US" sz="16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，基于数组的</a:t>
            </a:r>
            <a:r>
              <a:rPr lang="zh-CN" altLang="zh-CN" sz="16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（用的最多）</a:t>
            </a:r>
            <a:endPar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Rectangle 1">
            <a:extLst>
              <a:ext uri="{FF2B5EF4-FFF2-40B4-BE49-F238E27FC236}">
                <a16:creationId xmlns:a16="http://schemas.microsoft.com/office/drawing/2014/main" id="{C813171B-F89C-1231-57D6-1B099A43F0BF}"/>
              </a:ext>
            </a:extLst>
          </p:cNvPr>
          <p:cNvSpPr txBox="1">
            <a:spLocks noChangeArrowheads="1"/>
          </p:cNvSpPr>
          <p:nvPr/>
        </p:nvSpPr>
        <p:spPr bwMode="auto">
          <a:xfrm>
            <a:off x="3834575" y="3586147"/>
            <a:ext cx="7057613" cy="79643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lnSpc>
                <a:spcPct val="150000"/>
              </a:lnSpc>
              <a:spcBef>
                <a:spcPct val="0"/>
              </a:spcBef>
              <a:buNone/>
            </a:pPr>
            <a:r>
              <a:rPr lang="en-US" altLang="zh-CN" sz="1600" dirty="0"/>
              <a:t>2.  </a:t>
            </a:r>
            <a:r>
              <a:rPr lang="zh-CN" altLang="zh-CN" sz="1600" dirty="0"/>
              <a:t>如果</a:t>
            </a:r>
            <a:r>
              <a:rPr lang="zh-CN" altLang="en-US" sz="1600" dirty="0"/>
              <a:t>想对集合中的元素去重</a:t>
            </a:r>
            <a:endParaRPr lang="en-US" altLang="zh-CN" sz="1600" dirty="0"/>
          </a:p>
          <a:p>
            <a:pPr marL="895335" lvl="1" indent="-285750">
              <a:lnSpc>
                <a:spcPct val="150000"/>
              </a:lnSpc>
              <a:spcBef>
                <a:spcPct val="0"/>
              </a:spcBef>
              <a:buFont typeface="Wingdings" panose="05000000000000000000" pitchFamily="2" charset="2"/>
              <a:buChar char="l"/>
            </a:pPr>
            <a:r>
              <a:rPr lang="zh-CN"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用</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HashSet</a:t>
            </a:r>
            <a:r>
              <a:rPr lang="zh-CN"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集合</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，基于哈希表的</a:t>
            </a:r>
            <a:r>
              <a:rPr lang="zh-CN"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（用的最多）</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868495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D8317-44CE-CF78-B6E8-43B8258D5D2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F69B88A-32A9-F660-6B79-5F434AAC4DFB}"/>
              </a:ext>
            </a:extLst>
          </p:cNvPr>
          <p:cNvSpPr>
            <a:spLocks noGrp="1" noChangeArrowheads="1"/>
          </p:cNvSpPr>
          <p:nvPr>
            <p:ph type="body" sz="quarter" idx="10"/>
          </p:nvPr>
        </p:nvSpPr>
        <p:spPr bwMode="auto">
          <a:xfrm>
            <a:off x="3718665" y="1064156"/>
            <a:ext cx="7057613" cy="79643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a:lnSpc>
                <a:spcPct val="150000"/>
              </a:lnSpc>
              <a:spcBef>
                <a:spcPct val="0"/>
              </a:spcBef>
            </a:pPr>
            <a:r>
              <a:rPr lang="en-US" altLang="zh-CN" sz="1600" dirty="0"/>
              <a:t>1.</a:t>
            </a:r>
            <a:r>
              <a:rPr lang="zh-CN" altLang="zh-CN" sz="1600" dirty="0"/>
              <a:t>如果</a:t>
            </a:r>
            <a:r>
              <a:rPr lang="zh-CN" altLang="en-US" sz="1600" dirty="0"/>
              <a:t>想要集合中的元素</a:t>
            </a:r>
            <a:r>
              <a:rPr lang="zh-CN" altLang="zh-CN" sz="1600" dirty="0"/>
              <a:t>可重复</a:t>
            </a:r>
            <a:endParaRPr lang="en-US" altLang="zh-CN" sz="1600" dirty="0"/>
          </a:p>
          <a:p>
            <a:pPr marL="895335" lvl="1" indent="-285750">
              <a:lnSpc>
                <a:spcPct val="150000"/>
              </a:lnSpc>
              <a:spcBef>
                <a:spcPct val="0"/>
              </a:spcBef>
              <a:buFont typeface="Wingdings" panose="05000000000000000000" pitchFamily="2" charset="2"/>
              <a:buChar char="l"/>
            </a:pPr>
            <a:r>
              <a:rPr lang="zh-CN" altLang="zh-CN" sz="16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用ArrayList集合</a:t>
            </a:r>
            <a:r>
              <a:rPr lang="zh-CN" altLang="en-US" sz="16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，基于数组的</a:t>
            </a:r>
            <a:r>
              <a:rPr lang="zh-CN" altLang="zh-CN" sz="1600" b="1"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（用的最多）</a:t>
            </a:r>
            <a:endParaRPr lang="en-US"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 name="Rectangle 1">
            <a:extLst>
              <a:ext uri="{FF2B5EF4-FFF2-40B4-BE49-F238E27FC236}">
                <a16:creationId xmlns:a16="http://schemas.microsoft.com/office/drawing/2014/main" id="{5899E15D-12B8-9F58-7BA7-F5D5B7E4E4F2}"/>
              </a:ext>
            </a:extLst>
          </p:cNvPr>
          <p:cNvSpPr txBox="1">
            <a:spLocks noChangeArrowheads="1"/>
          </p:cNvSpPr>
          <p:nvPr/>
        </p:nvSpPr>
        <p:spPr bwMode="auto">
          <a:xfrm>
            <a:off x="3718665" y="2130156"/>
            <a:ext cx="7057613" cy="79643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lnSpc>
                <a:spcPct val="150000"/>
              </a:lnSpc>
              <a:spcBef>
                <a:spcPct val="0"/>
              </a:spcBef>
              <a:buNone/>
            </a:pPr>
            <a:r>
              <a:rPr lang="en-US" altLang="zh-CN" sz="1600" dirty="0"/>
              <a:t>2.  </a:t>
            </a:r>
            <a:r>
              <a:rPr lang="zh-CN" altLang="zh-CN" sz="1600" dirty="0"/>
              <a:t>如果</a:t>
            </a:r>
            <a:r>
              <a:rPr lang="zh-CN" altLang="en-US" sz="1600" dirty="0"/>
              <a:t>想要集合中的元素可重复，而且当前的</a:t>
            </a:r>
            <a:r>
              <a:rPr lang="zh-CN" altLang="en-US" sz="1600" dirty="0">
                <a:solidFill>
                  <a:srgbClr val="C00000"/>
                </a:solidFill>
              </a:rPr>
              <a:t>增删操作明显多于查询</a:t>
            </a:r>
            <a:endParaRPr lang="en-US" altLang="zh-CN" sz="1600" dirty="0">
              <a:solidFill>
                <a:srgbClr val="C00000"/>
              </a:solidFill>
            </a:endParaRPr>
          </a:p>
          <a:p>
            <a:pPr marL="895335" lvl="1" indent="-285750">
              <a:lnSpc>
                <a:spcPct val="150000"/>
              </a:lnSpc>
              <a:spcBef>
                <a:spcPct val="0"/>
              </a:spcBef>
              <a:buFont typeface="Wingdings" panose="05000000000000000000" pitchFamily="2" charset="2"/>
              <a:buChar char="l"/>
            </a:pPr>
            <a:r>
              <a:rPr lang="zh-CN"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用</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LinkedList</a:t>
            </a:r>
            <a:r>
              <a:rPr lang="zh-CN"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集合</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，基于链表的</a:t>
            </a:r>
            <a:r>
              <a:rPr lang="zh-CN"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 name="Rectangle 1">
            <a:extLst>
              <a:ext uri="{FF2B5EF4-FFF2-40B4-BE49-F238E27FC236}">
                <a16:creationId xmlns:a16="http://schemas.microsoft.com/office/drawing/2014/main" id="{6D201A04-D794-EA62-BB75-F09252B3B7DA}"/>
              </a:ext>
            </a:extLst>
          </p:cNvPr>
          <p:cNvSpPr txBox="1">
            <a:spLocks noChangeArrowheads="1"/>
          </p:cNvSpPr>
          <p:nvPr/>
        </p:nvSpPr>
        <p:spPr bwMode="auto">
          <a:xfrm>
            <a:off x="3718665" y="3196156"/>
            <a:ext cx="7057613" cy="79643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lnSpc>
                <a:spcPct val="150000"/>
              </a:lnSpc>
              <a:spcBef>
                <a:spcPct val="0"/>
              </a:spcBef>
              <a:buNone/>
            </a:pPr>
            <a:r>
              <a:rPr lang="en-US" altLang="zh-CN" sz="1600" dirty="0"/>
              <a:t>3.  </a:t>
            </a:r>
            <a:r>
              <a:rPr lang="zh-CN" altLang="zh-CN" sz="1600" dirty="0"/>
              <a:t>如果</a:t>
            </a:r>
            <a:r>
              <a:rPr lang="zh-CN" altLang="en-US" sz="1600" dirty="0"/>
              <a:t>想对集合中的元素去重</a:t>
            </a:r>
            <a:endParaRPr lang="en-US" altLang="zh-CN" sz="1600" dirty="0"/>
          </a:p>
          <a:p>
            <a:pPr marL="895335" lvl="1" indent="-285750">
              <a:lnSpc>
                <a:spcPct val="150000"/>
              </a:lnSpc>
              <a:spcBef>
                <a:spcPct val="0"/>
              </a:spcBef>
              <a:buFont typeface="Wingdings" panose="05000000000000000000" pitchFamily="2" charset="2"/>
              <a:buChar char="l"/>
            </a:pPr>
            <a:r>
              <a:rPr lang="zh-CN"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用</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HashSet</a:t>
            </a:r>
            <a:r>
              <a:rPr lang="zh-CN"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集合</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，基于哈希表的</a:t>
            </a:r>
            <a:r>
              <a:rPr lang="zh-CN"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（用的最多）</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Rectangle 1">
            <a:extLst>
              <a:ext uri="{FF2B5EF4-FFF2-40B4-BE49-F238E27FC236}">
                <a16:creationId xmlns:a16="http://schemas.microsoft.com/office/drawing/2014/main" id="{0FA2CC84-675E-BAD5-46CB-470B6DFDD674}"/>
              </a:ext>
            </a:extLst>
          </p:cNvPr>
          <p:cNvSpPr txBox="1">
            <a:spLocks noChangeArrowheads="1"/>
          </p:cNvSpPr>
          <p:nvPr/>
        </p:nvSpPr>
        <p:spPr bwMode="auto">
          <a:xfrm>
            <a:off x="3718665" y="4262156"/>
            <a:ext cx="7408145" cy="79643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lnSpc>
                <a:spcPct val="150000"/>
              </a:lnSpc>
              <a:spcBef>
                <a:spcPct val="0"/>
              </a:spcBef>
              <a:buNone/>
            </a:pPr>
            <a:r>
              <a:rPr lang="en-US" altLang="zh-CN" sz="1600" dirty="0"/>
              <a:t>4.  </a:t>
            </a:r>
            <a:r>
              <a:rPr lang="zh-CN" altLang="zh-CN" sz="1600" dirty="0"/>
              <a:t>如果</a:t>
            </a:r>
            <a:r>
              <a:rPr lang="zh-CN" altLang="en-US" sz="1600" dirty="0"/>
              <a:t>想对集合中的元素去重，而且</a:t>
            </a:r>
            <a:r>
              <a:rPr lang="zh-CN" altLang="en-US" sz="1600" dirty="0">
                <a:solidFill>
                  <a:srgbClr val="C00000"/>
                </a:solidFill>
              </a:rPr>
              <a:t>保证存取顺序</a:t>
            </a:r>
            <a:endParaRPr lang="en-US" altLang="zh-CN" sz="1600" dirty="0">
              <a:solidFill>
                <a:srgbClr val="C00000"/>
              </a:solidFill>
            </a:endParaRPr>
          </a:p>
          <a:p>
            <a:pPr marL="895335" lvl="1" indent="-285750">
              <a:lnSpc>
                <a:spcPct val="150000"/>
              </a:lnSpc>
              <a:spcBef>
                <a:spcPct val="0"/>
              </a:spcBef>
              <a:buFont typeface="Wingdings" panose="05000000000000000000" pitchFamily="2" charset="2"/>
              <a:buChar char="l"/>
            </a:pPr>
            <a:r>
              <a:rPr lang="zh-CN"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用</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LinkedHashSet</a:t>
            </a:r>
            <a:r>
              <a:rPr lang="zh-CN"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集合</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，基于哈希表和双链表，效率低于</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HashSet</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Rectangle 1">
            <a:extLst>
              <a:ext uri="{FF2B5EF4-FFF2-40B4-BE49-F238E27FC236}">
                <a16:creationId xmlns:a16="http://schemas.microsoft.com/office/drawing/2014/main" id="{4D37F57F-D818-CF1D-FE74-A25C2BA72C65}"/>
              </a:ext>
            </a:extLst>
          </p:cNvPr>
          <p:cNvSpPr txBox="1">
            <a:spLocks noChangeArrowheads="1"/>
          </p:cNvSpPr>
          <p:nvPr/>
        </p:nvSpPr>
        <p:spPr bwMode="auto">
          <a:xfrm>
            <a:off x="3718665" y="5328156"/>
            <a:ext cx="7057613" cy="79643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lnSpc>
                <a:spcPct val="150000"/>
              </a:lnSpc>
              <a:spcBef>
                <a:spcPct val="0"/>
              </a:spcBef>
              <a:buNone/>
            </a:pPr>
            <a:r>
              <a:rPr lang="en-US" altLang="zh-CN" sz="1600" dirty="0"/>
              <a:t>5.  </a:t>
            </a:r>
            <a:r>
              <a:rPr lang="zh-CN" altLang="zh-CN" sz="1600" dirty="0"/>
              <a:t>如果</a:t>
            </a:r>
            <a:r>
              <a:rPr lang="zh-CN" altLang="en-US" sz="1600" dirty="0"/>
              <a:t>想对集合中的元素进行</a:t>
            </a:r>
            <a:r>
              <a:rPr lang="zh-CN" altLang="en-US" sz="1600" dirty="0">
                <a:solidFill>
                  <a:srgbClr val="C00000"/>
                </a:solidFill>
              </a:rPr>
              <a:t>排序</a:t>
            </a:r>
            <a:endParaRPr lang="en-US" altLang="zh-CN" sz="1600" dirty="0">
              <a:solidFill>
                <a:srgbClr val="C00000"/>
              </a:solidFill>
            </a:endParaRPr>
          </a:p>
          <a:p>
            <a:pPr marL="895335" lvl="1" indent="-285750">
              <a:lnSpc>
                <a:spcPct val="150000"/>
              </a:lnSpc>
              <a:spcBef>
                <a:spcPct val="0"/>
              </a:spcBef>
              <a:buFont typeface="Wingdings" panose="05000000000000000000" pitchFamily="2" charset="2"/>
              <a:buChar char="l"/>
            </a:pPr>
            <a:r>
              <a:rPr lang="zh-CN"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用</a:t>
            </a:r>
            <a:r>
              <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TreeSet</a:t>
            </a:r>
            <a:r>
              <a:rPr lang="zh-CN"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集合</a:t>
            </a: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，基于红黑树</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18540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F39474D-1492-4992-383E-4AA99A60EBF2}"/>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82D3D236-6FD8-8E59-E7E8-741B9D3AC416}"/>
              </a:ext>
            </a:extLst>
          </p:cNvPr>
          <p:cNvSpPr>
            <a:spLocks noGrp="1"/>
          </p:cNvSpPr>
          <p:nvPr>
            <p:ph type="body" sz="quarter" idx="10"/>
          </p:nvPr>
        </p:nvSpPr>
        <p:spPr>
          <a:xfrm>
            <a:off x="5982521" y="2505975"/>
            <a:ext cx="4410730" cy="1956553"/>
          </a:xfrm>
        </p:spPr>
        <p:txBody>
          <a:bodyPr/>
          <a:lstStyle/>
          <a:p>
            <a:r>
              <a:rPr kumimoji="1" lang="en-US" altLang="zh-CN" dirty="0">
                <a:latin typeface="Consolas" panose="020B0609020204030204" pitchFamily="49" charset="0"/>
              </a:rPr>
              <a:t>Set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TreeSet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HashSet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LinkedHashSet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Collections </a:t>
            </a:r>
            <a:r>
              <a:rPr kumimoji="1" lang="zh-CN" altLang="en-US" dirty="0">
                <a:latin typeface="Consolas" panose="020B0609020204030204" pitchFamily="49" charset="0"/>
              </a:rPr>
              <a:t>工具类</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集合三种遍历方式</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集合的实现类</a:t>
            </a:r>
            <a:endParaRPr kumimoji="1" lang="en-US" altLang="zh-CN" dirty="0">
              <a:latin typeface="Consolas" panose="020B0609020204030204" pitchFamily="49" charset="0"/>
            </a:endParaRPr>
          </a:p>
        </p:txBody>
      </p:sp>
    </p:spTree>
    <p:extLst>
      <p:ext uri="{BB962C8B-B14F-4D97-AF65-F5344CB8AC3E}">
        <p14:creationId xmlns:p14="http://schemas.microsoft.com/office/powerpoint/2010/main" val="3464905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85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stCondLst>
                                            <p:cond delay="0"/>
                                          </p:stCondLst>
                                        </p:cTn>
                                        <p:tgtEl>
                                          <p:spTgt spid="2"/>
                                        </p:tgtEl>
                                      </p:cBhvr>
                                    </p:animEffect>
                                    <p:anim to="0" calcmode="lin" valueType="num">
                                      <p:cBhvr>
                                        <p:cTn id="8" dur="500" fill="hold">
                                          <p:stCondLst>
                                            <p:cond delay="0"/>
                                          </p:stCondLst>
                                        </p:cTn>
                                        <p:tgtEl>
                                          <p:spTgt spid="2"/>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F1827-1CD0-1038-9BEC-285679E0A276}"/>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3831BB41-4792-1CE1-65F6-197354E76DBC}"/>
              </a:ext>
            </a:extLst>
          </p:cNvPr>
          <p:cNvSpPr>
            <a:spLocks noGrp="1"/>
          </p:cNvSpPr>
          <p:nvPr>
            <p:ph type="body" sz="quarter" idx="13"/>
          </p:nvPr>
        </p:nvSpPr>
        <p:spPr>
          <a:xfrm>
            <a:off x="5834080" y="2465278"/>
            <a:ext cx="5505768" cy="901700"/>
          </a:xfrm>
        </p:spPr>
        <p:txBody>
          <a:bodyPr/>
          <a:lstStyle/>
          <a:p>
            <a:r>
              <a:rPr lang="en-US" altLang="zh-CN" dirty="0"/>
              <a:t>Collections </a:t>
            </a:r>
            <a:r>
              <a:rPr lang="zh-CN" altLang="en-US" dirty="0"/>
              <a:t>工具类</a:t>
            </a:r>
          </a:p>
        </p:txBody>
      </p:sp>
      <p:sp>
        <p:nvSpPr>
          <p:cNvPr id="10" name="文本占位符 9">
            <a:extLst>
              <a:ext uri="{FF2B5EF4-FFF2-40B4-BE49-F238E27FC236}">
                <a16:creationId xmlns:a16="http://schemas.microsoft.com/office/drawing/2014/main" id="{5464F009-2837-6866-29A2-918115D68F05}"/>
              </a:ext>
            </a:extLst>
          </p:cNvPr>
          <p:cNvSpPr>
            <a:spLocks noGrp="1"/>
          </p:cNvSpPr>
          <p:nvPr>
            <p:ph type="body" sz="quarter" idx="14"/>
          </p:nvPr>
        </p:nvSpPr>
        <p:spPr/>
        <p:txBody>
          <a:bodyPr/>
          <a:lstStyle/>
          <a:p>
            <a:r>
              <a:rPr lang="en-US" altLang="zh-CN" dirty="0"/>
              <a:t>5</a:t>
            </a:r>
            <a:endParaRPr lang="zh-CN" altLang="en-US" dirty="0"/>
          </a:p>
        </p:txBody>
      </p:sp>
    </p:spTree>
    <p:extLst>
      <p:ext uri="{BB962C8B-B14F-4D97-AF65-F5344CB8AC3E}">
        <p14:creationId xmlns:p14="http://schemas.microsoft.com/office/powerpoint/2010/main" val="357351256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DE46C-9DDF-43B4-A60B-D1AFD8536FD3}"/>
              </a:ext>
            </a:extLst>
          </p:cNvPr>
          <p:cNvSpPr>
            <a:spLocks noChangeArrowheads="1"/>
          </p:cNvSpPr>
          <p:nvPr/>
        </p:nvSpPr>
        <p:spPr bwMode="auto">
          <a:xfrm>
            <a:off x="838201" y="1693127"/>
            <a:ext cx="4485641" cy="5728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文本框 6">
            <a:extLst>
              <a:ext uri="{FF2B5EF4-FFF2-40B4-BE49-F238E27FC236}">
                <a16:creationId xmlns:a16="http://schemas.microsoft.com/office/drawing/2014/main" id="{D9EB9FAB-7C4A-4F3F-8078-8C36DFD837D3}"/>
              </a:ext>
            </a:extLst>
          </p:cNvPr>
          <p:cNvSpPr txBox="1"/>
          <p:nvPr/>
        </p:nvSpPr>
        <p:spPr>
          <a:xfrm>
            <a:off x="838201" y="1794885"/>
            <a:ext cx="7013151" cy="1504323"/>
          </a:xfrm>
          <a:prstGeom prst="rect">
            <a:avLst/>
          </a:prstGeom>
          <a:noFill/>
        </p:spPr>
        <p:txBody>
          <a:bodyPr wrap="square">
            <a:spAutoFit/>
          </a:bodyPr>
          <a:lstStyle/>
          <a:p>
            <a:pPr marL="0" marR="0" lvl="0" indent="0" algn="l" defTabSz="914400" rtl="0" eaLnBrk="0" fontAlgn="base" latinLnBrk="0" hangingPunct="0">
              <a:lnSpc>
                <a:spcPct val="200000"/>
              </a:lnSpc>
              <a:spcBef>
                <a:spcPct val="0"/>
              </a:spcBef>
              <a:spcAft>
                <a:spcPct val="0"/>
              </a:spcAft>
              <a:buClrTx/>
              <a:buSzTx/>
              <a:buFontTx/>
              <a:buNone/>
              <a:tabLst/>
            </a:pPr>
            <a:br>
              <a:rPr kumimoji="0" lang="zh-CN" altLang="zh-CN" sz="1600" b="0" u="none" strike="noStrike" cap="none" normalizeH="0" baseline="0" dirty="0">
                <a:ln>
                  <a:noFill/>
                </a:ln>
                <a:solidFill>
                  <a:srgbClr val="49504F"/>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br>
            <a:br>
              <a:rPr kumimoji="0" lang="zh-CN" altLang="zh-CN" sz="1600" b="0" u="none" strike="noStrike" cap="none" normalizeH="0" baseline="0" dirty="0">
                <a:ln>
                  <a:noFill/>
                </a:ln>
                <a:solidFill>
                  <a:srgbClr val="49504F"/>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br>
            <a:endParaRPr kumimoji="0" lang="zh-CN" altLang="zh-CN" sz="1600" b="0" u="none" strike="noStrike" cap="none" normalizeH="0" baseline="0" dirty="0">
              <a:ln>
                <a:noFill/>
              </a:ln>
              <a:solidFill>
                <a:srgbClr val="49504F"/>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2" name="文本框 11">
            <a:extLst>
              <a:ext uri="{FF2B5EF4-FFF2-40B4-BE49-F238E27FC236}">
                <a16:creationId xmlns:a16="http://schemas.microsoft.com/office/drawing/2014/main" id="{FBEACE2C-1C32-4567-B0BA-7297B67A216E}"/>
              </a:ext>
            </a:extLst>
          </p:cNvPr>
          <p:cNvSpPr txBox="1"/>
          <p:nvPr/>
        </p:nvSpPr>
        <p:spPr>
          <a:xfrm>
            <a:off x="576626" y="958535"/>
            <a:ext cx="6096000" cy="1011880"/>
          </a:xfrm>
          <a:prstGeom prst="rect">
            <a:avLst/>
          </a:prstGeom>
          <a:noFill/>
        </p:spPr>
        <p:txBody>
          <a:bodyPr wrap="square">
            <a:spAutoFit/>
          </a:bodyPr>
          <a:lstStyle/>
          <a:p>
            <a:pPr marL="285750" indent="-285750">
              <a:lnSpc>
                <a:spcPct val="200000"/>
              </a:lnSpc>
              <a:buFont typeface="Wingdings" panose="05000000000000000000" pitchFamily="2" charset="2"/>
              <a:buChar char="l"/>
            </a:pPr>
            <a:r>
              <a:rPr kumimoji="0" lang="zh-CN" altLang="zh-CN" sz="1600" b="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可变参数用在形参中可以接收多个数据。</a:t>
            </a:r>
            <a:endParaRPr kumimoji="0" lang="en-US" altLang="zh-CN" sz="1600" b="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indent="-285750">
              <a:lnSpc>
                <a:spcPct val="200000"/>
              </a:lnSpc>
              <a:buFont typeface="Wingdings" panose="05000000000000000000" pitchFamily="2" charset="2"/>
              <a:buChar char="l"/>
            </a:pPr>
            <a:r>
              <a:rPr kumimoji="0" lang="zh-CN" altLang="zh-CN" sz="1600" b="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可变参数的格式：</a:t>
            </a:r>
            <a:r>
              <a:rPr kumimoji="0" lang="zh-CN" altLang="zh-CN" sz="1600" b="0" u="none" strike="noStrike" cap="none" normalizeH="0" baseline="0" dirty="0">
                <a:ln>
                  <a:noFill/>
                </a:ln>
                <a:solidFill>
                  <a:srgbClr val="C00000"/>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数据类型...参数名称</a:t>
            </a:r>
            <a:endPar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文本框 15">
            <a:extLst>
              <a:ext uri="{FF2B5EF4-FFF2-40B4-BE49-F238E27FC236}">
                <a16:creationId xmlns:a16="http://schemas.microsoft.com/office/drawing/2014/main" id="{8B79D759-5AE4-4491-81A0-E79C6647557B}"/>
              </a:ext>
            </a:extLst>
          </p:cNvPr>
          <p:cNvSpPr txBox="1"/>
          <p:nvPr/>
        </p:nvSpPr>
        <p:spPr>
          <a:xfrm>
            <a:off x="576626" y="2424027"/>
            <a:ext cx="9085792" cy="519438"/>
          </a:xfrm>
          <a:prstGeom prst="rect">
            <a:avLst/>
          </a:prstGeom>
          <a:noFill/>
        </p:spPr>
        <p:txBody>
          <a:bodyPr wrap="square">
            <a:spAutoFit/>
          </a:bodyPr>
          <a:lstStyle/>
          <a:p>
            <a:pPr marL="285750" indent="-285750">
              <a:lnSpc>
                <a:spcPct val="200000"/>
              </a:lnSpc>
              <a:buFont typeface="Wingdings" panose="05000000000000000000" pitchFamily="2" charset="2"/>
              <a:buChar char="l"/>
            </a:pPr>
            <a:r>
              <a:rPr kumimoji="0" lang="zh-CN" altLang="zh-CN" sz="1600" b="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传输参数非常灵活，方便</a:t>
            </a:r>
            <a:r>
              <a:rPr lang="zh-CN" altLang="en-US"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kumimoji="0" lang="zh-CN" altLang="zh-CN" sz="1600" b="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可以不传输参数</a:t>
            </a:r>
            <a:r>
              <a:rPr kumimoji="0" lang="zh-CN" altLang="en-US" sz="1600" b="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，可以传输</a:t>
            </a:r>
            <a:r>
              <a:rPr kumimoji="0" lang="en-US" altLang="zh-CN" sz="1600" b="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1</a:t>
            </a:r>
            <a:r>
              <a:rPr kumimoji="0" lang="zh-CN" altLang="en-US" sz="1600" b="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个或者多个，也可以传输一个数组</a:t>
            </a:r>
            <a:endParaRPr kumimoji="0" lang="en-US" altLang="zh-CN" sz="1600" b="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8" name="文本框 17">
            <a:extLst>
              <a:ext uri="{FF2B5EF4-FFF2-40B4-BE49-F238E27FC236}">
                <a16:creationId xmlns:a16="http://schemas.microsoft.com/office/drawing/2014/main" id="{2D78BCDB-24CF-4032-8B80-A903BBF32098}"/>
              </a:ext>
            </a:extLst>
          </p:cNvPr>
          <p:cNvSpPr txBox="1"/>
          <p:nvPr/>
        </p:nvSpPr>
        <p:spPr>
          <a:xfrm>
            <a:off x="576626" y="2942253"/>
            <a:ext cx="6436360" cy="1011880"/>
          </a:xfrm>
          <a:prstGeom prst="rect">
            <a:avLst/>
          </a:prstGeom>
          <a:noFill/>
        </p:spPr>
        <p:txBody>
          <a:bodyPr wrap="square">
            <a:spAutoFit/>
          </a:bodyPr>
          <a:lstStyle/>
          <a:p>
            <a:pPr marL="285750" indent="-285750">
              <a:lnSpc>
                <a:spcPct val="200000"/>
              </a:lnSpc>
              <a:buFont typeface="Wingdings" panose="05000000000000000000" pitchFamily="2" charset="2"/>
              <a:buChar char="l"/>
            </a:pPr>
            <a:r>
              <a:rPr kumimoji="0" lang="zh-CN" altLang="zh-CN" sz="1600" b="1" u="none" strike="noStrike" cap="none" normalizeH="0" baseline="0" dirty="0">
                <a:ln>
                  <a:noFill/>
                </a:ln>
                <a:solidFill>
                  <a:srgbClr val="C00000"/>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可变参数在方法内部本质上就是一个数组</a:t>
            </a:r>
            <a:br>
              <a:rPr kumimoji="0" lang="zh-CN" altLang="zh-CN" sz="1600" b="1" u="none" strike="noStrike" cap="none" normalizeH="0" baseline="0" dirty="0">
                <a:ln>
                  <a:noFill/>
                </a:ln>
                <a:solidFill>
                  <a:srgbClr val="49504F"/>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br>
            <a:endParaRPr lang="zh-CN" altLang="en-US" sz="1600" b="1"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文本框 21">
            <a:extLst>
              <a:ext uri="{FF2B5EF4-FFF2-40B4-BE49-F238E27FC236}">
                <a16:creationId xmlns:a16="http://schemas.microsoft.com/office/drawing/2014/main" id="{15B9C895-AE40-4422-8364-F9BAFCBF1B59}"/>
              </a:ext>
            </a:extLst>
          </p:cNvPr>
          <p:cNvSpPr txBox="1"/>
          <p:nvPr/>
        </p:nvSpPr>
        <p:spPr>
          <a:xfrm>
            <a:off x="576626" y="3634751"/>
            <a:ext cx="6096000" cy="1011880"/>
          </a:xfrm>
          <a:prstGeom prst="rect">
            <a:avLst/>
          </a:prstGeom>
          <a:noFill/>
        </p:spPr>
        <p:txBody>
          <a:bodyPr wrap="square">
            <a:spAutoFit/>
          </a:bodyPr>
          <a:lstStyle/>
          <a:p>
            <a:pPr>
              <a:lnSpc>
                <a:spcPct val="200000"/>
              </a:lnSpc>
            </a:pPr>
            <a:r>
              <a:rPr kumimoji="0" lang="zh-CN" altLang="zh-CN" sz="1600" b="1"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注意事项：</a:t>
            </a:r>
            <a:br>
              <a:rPr kumimoji="0" lang="zh-CN" altLang="zh-CN" sz="1600" b="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br>
            <a:r>
              <a:rPr kumimoji="0" lang="zh-CN" altLang="zh-CN" sz="1600" b="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endParaRPr lang="zh-CN" altLang="en-US"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文本框 23">
            <a:extLst>
              <a:ext uri="{FF2B5EF4-FFF2-40B4-BE49-F238E27FC236}">
                <a16:creationId xmlns:a16="http://schemas.microsoft.com/office/drawing/2014/main" id="{5F34D26A-A1C7-4226-827C-BBDC9712E8D7}"/>
              </a:ext>
            </a:extLst>
          </p:cNvPr>
          <p:cNvSpPr txBox="1"/>
          <p:nvPr/>
        </p:nvSpPr>
        <p:spPr>
          <a:xfrm>
            <a:off x="576626" y="4152993"/>
            <a:ext cx="6096000" cy="1011880"/>
          </a:xfrm>
          <a:prstGeom prst="rect">
            <a:avLst/>
          </a:prstGeom>
          <a:noFill/>
        </p:spPr>
        <p:txBody>
          <a:bodyPr wrap="square">
            <a:spAutoFit/>
          </a:bodyPr>
          <a:lstStyle/>
          <a:p>
            <a:pPr marL="342900" indent="-342900">
              <a:lnSpc>
                <a:spcPct val="200000"/>
              </a:lnSpc>
              <a:buAutoNum type="arabicPeriod"/>
            </a:pPr>
            <a:r>
              <a:rPr kumimoji="0" lang="zh-CN" altLang="zh-CN" sz="1600" b="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一个形参列表中可变参数只能有一个</a:t>
            </a:r>
            <a:endParaRPr lang="en-US" altLang="zh-CN"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42900" indent="-342900">
              <a:lnSpc>
                <a:spcPct val="200000"/>
              </a:lnSpc>
              <a:buAutoNum type="arabicPeriod"/>
            </a:pPr>
            <a:r>
              <a:rPr kumimoji="0" lang="zh-CN" altLang="zh-CN" sz="1600" b="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可变参数必须放在形参列表的最后面</a:t>
            </a:r>
            <a:endParaRPr lang="zh-CN" altLang="en-US"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 name="标题 2">
            <a:extLst>
              <a:ext uri="{FF2B5EF4-FFF2-40B4-BE49-F238E27FC236}">
                <a16:creationId xmlns:a16="http://schemas.microsoft.com/office/drawing/2014/main" id="{9B19E565-E060-4AA3-9B26-1B42269DB20D}"/>
              </a:ext>
            </a:extLst>
          </p:cNvPr>
          <p:cNvSpPr>
            <a:spLocks noGrp="1"/>
          </p:cNvSpPr>
          <p:nvPr>
            <p:ph type="title"/>
          </p:nvPr>
        </p:nvSpPr>
        <p:spPr/>
        <p:txBody>
          <a:bodyPr/>
          <a:lstStyle/>
          <a:p>
            <a:r>
              <a:rPr lang="zh-CN" altLang="en-US" dirty="0"/>
              <a:t>可变参数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8" grpId="0"/>
      <p:bldP spid="22" grpId="0"/>
      <p:bldP spid="2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CB02315-B3D7-4D41-BB52-150B3CB2685A}"/>
              </a:ext>
            </a:extLst>
          </p:cNvPr>
          <p:cNvSpPr txBox="1"/>
          <p:nvPr/>
        </p:nvSpPr>
        <p:spPr>
          <a:xfrm>
            <a:off x="711200" y="1382881"/>
            <a:ext cx="9784080" cy="1154675"/>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br>
              <a:rPr kumimoji="0" lang="zh-CN" altLang="zh-CN" sz="1600" u="none" strike="noStrike" cap="none" normalizeH="0" baseline="0" dirty="0">
                <a:ln>
                  <a:noFill/>
                </a:ln>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br>
            <a:br>
              <a:rPr kumimoji="0" lang="zh-CN" altLang="zh-CN" sz="1600" u="none" strike="noStrike" cap="none" normalizeH="0" baseline="0" dirty="0">
                <a:ln>
                  <a:noFill/>
                </a:ln>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br>
            <a:endParaRPr kumimoji="0" lang="zh-CN" altLang="zh-CN" sz="1600" u="none" strike="noStrike" cap="none" normalizeH="0" baseline="0" dirty="0">
              <a:ln>
                <a:noFill/>
              </a:ln>
              <a:solidFill>
                <a:schemeClr val="tx1">
                  <a:lumMod val="65000"/>
                  <a:lumOff val="3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0" name="文本框 9">
            <a:extLst>
              <a:ext uri="{FF2B5EF4-FFF2-40B4-BE49-F238E27FC236}">
                <a16:creationId xmlns:a16="http://schemas.microsoft.com/office/drawing/2014/main" id="{B209C649-7C4B-4ACC-882F-84BE2D49A77C}"/>
              </a:ext>
            </a:extLst>
          </p:cNvPr>
          <p:cNvSpPr txBox="1"/>
          <p:nvPr/>
        </p:nvSpPr>
        <p:spPr>
          <a:xfrm>
            <a:off x="576626" y="991623"/>
            <a:ext cx="6096000" cy="788806"/>
          </a:xfrm>
          <a:prstGeom prst="rect">
            <a:avLst/>
          </a:prstGeom>
          <a:noFill/>
        </p:spPr>
        <p:txBody>
          <a:bodyPr wrap="square">
            <a:spAutoFit/>
          </a:bodyPr>
          <a:lstStyle/>
          <a:p>
            <a:pPr marL="285750" indent="-285750">
              <a:lnSpc>
                <a:spcPct val="150000"/>
              </a:lnSpc>
              <a:buFont typeface="Wingdings" panose="05000000000000000000" pitchFamily="2" charset="2"/>
              <a:buChar char="l"/>
            </a:pPr>
            <a:r>
              <a:rPr kumimoji="0" lang="zh-CN" altLang="zh-CN" sz="1600" u="none" strike="noStrike" cap="none" normalizeH="0" baseline="0" dirty="0">
                <a:ln>
                  <a:noFill/>
                </a:ln>
                <a:solidFill>
                  <a:schemeClr val="tx1">
                    <a:lumMod val="95000"/>
                    <a:lumOff val="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java.utils.Collections:是集合工具类</a:t>
            </a:r>
            <a:endParaRPr kumimoji="0" lang="en-US" altLang="zh-CN" sz="1600" u="none" strike="noStrike" cap="none" normalizeH="0" baseline="0" dirty="0">
              <a:ln>
                <a:noFill/>
              </a:ln>
              <a:solidFill>
                <a:schemeClr val="tx1">
                  <a:lumMod val="95000"/>
                  <a:lumOff val="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85750" indent="-285750">
              <a:lnSpc>
                <a:spcPct val="150000"/>
              </a:lnSpc>
              <a:buFont typeface="Wingdings" panose="05000000000000000000" pitchFamily="2" charset="2"/>
              <a:buChar char="l"/>
            </a:pPr>
            <a:r>
              <a:rPr kumimoji="0" lang="zh-CN" altLang="en-US" sz="1600" u="none" strike="noStrike" cap="none" normalizeH="0" baseline="0" dirty="0">
                <a:ln>
                  <a:noFill/>
                </a:ln>
                <a:solidFill>
                  <a:srgbClr val="C00000"/>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作用：</a:t>
            </a:r>
            <a:r>
              <a:rPr kumimoji="0" lang="zh-CN" altLang="zh-CN" sz="1600" u="none" strike="noStrike" cap="none" normalizeH="0" baseline="0" dirty="0">
                <a:ln>
                  <a:noFill/>
                </a:ln>
                <a:solidFill>
                  <a:srgbClr val="C00000"/>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Collections并不属于集合，是用来操作集合的工具类。</a:t>
            </a:r>
            <a:endPar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aphicFrame>
        <p:nvGraphicFramePr>
          <p:cNvPr id="15" name="表格 14">
            <a:extLst>
              <a:ext uri="{FF2B5EF4-FFF2-40B4-BE49-F238E27FC236}">
                <a16:creationId xmlns:a16="http://schemas.microsoft.com/office/drawing/2014/main" id="{DD610862-A50E-46A3-A190-18C6C8AABF3D}"/>
              </a:ext>
            </a:extLst>
          </p:cNvPr>
          <p:cNvGraphicFramePr>
            <a:graphicFrameLocks noGrp="1"/>
          </p:cNvGraphicFramePr>
          <p:nvPr>
            <p:extLst>
              <p:ext uri="{D42A27DB-BD31-4B8C-83A1-F6EECF244321}">
                <p14:modId xmlns:p14="http://schemas.microsoft.com/office/powerpoint/2010/main" val="96089277"/>
              </p:ext>
            </p:extLst>
          </p:nvPr>
        </p:nvGraphicFramePr>
        <p:xfrm>
          <a:off x="576626" y="2075618"/>
          <a:ext cx="10740414" cy="1418878"/>
        </p:xfrm>
        <a:graphic>
          <a:graphicData uri="http://schemas.openxmlformats.org/drawingml/2006/table">
            <a:tbl>
              <a:tblPr/>
              <a:tblGrid>
                <a:gridCol w="7320734">
                  <a:extLst>
                    <a:ext uri="{9D8B030D-6E8A-4147-A177-3AD203B41FA5}">
                      <a16:colId xmlns:a16="http://schemas.microsoft.com/office/drawing/2014/main" val="1138920238"/>
                    </a:ext>
                  </a:extLst>
                </a:gridCol>
                <a:gridCol w="3419680">
                  <a:extLst>
                    <a:ext uri="{9D8B030D-6E8A-4147-A177-3AD203B41FA5}">
                      <a16:colId xmlns:a16="http://schemas.microsoft.com/office/drawing/2014/main" val="432614512"/>
                    </a:ext>
                  </a:extLst>
                </a:gridCol>
              </a:tblGrid>
              <a:tr h="520512">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Consolas" panose="020B0609020204030204" pitchFamily="49" charset="0"/>
                          <a:ea typeface="Alibaba PuHuiTi R" pitchFamily="18" charset="-122"/>
                          <a:cs typeface="Alibaba PuHuiTi R" pitchFamily="18" charset="-122"/>
                        </a:rPr>
                        <a:t>方法名称</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44918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public static &lt;T&gt; boolean addAll(Collection&lt;? super T&gt; c, T... elements)</a:t>
                      </a:r>
                      <a:endPar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60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给集合对象批量添加元素</a:t>
                      </a:r>
                      <a:endParaRPr kumimoji="0" lang="zh-CN" altLang="en-US" sz="1600" b="0" i="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217203927"/>
                  </a:ext>
                </a:extLst>
              </a:tr>
              <a:tr h="4491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public static void shuffle(List&lt;?&gt; list) </a:t>
                      </a:r>
                      <a:endPar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60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打乱</a:t>
                      </a:r>
                      <a:r>
                        <a:rPr kumimoji="0" lang="en-US" altLang="zh-CN" sz="160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List</a:t>
                      </a:r>
                      <a:r>
                        <a:rPr kumimoji="0" lang="zh-CN" altLang="zh-CN" sz="160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集合</a:t>
                      </a:r>
                      <a:r>
                        <a:rPr kumimoji="0" lang="zh-CN" altLang="en-US" sz="160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元素的</a:t>
                      </a:r>
                      <a:r>
                        <a:rPr kumimoji="0" lang="zh-CN" altLang="zh-CN" sz="160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顺序</a:t>
                      </a:r>
                      <a:endParaRPr kumimoji="0" lang="zh-CN" altLang="en-US" sz="1600" b="0" i="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318479808"/>
                  </a:ext>
                </a:extLst>
              </a:tr>
            </a:tbl>
          </a:graphicData>
        </a:graphic>
      </p:graphicFrame>
      <p:graphicFrame>
        <p:nvGraphicFramePr>
          <p:cNvPr id="2" name="表格 1">
            <a:extLst>
              <a:ext uri="{FF2B5EF4-FFF2-40B4-BE49-F238E27FC236}">
                <a16:creationId xmlns:a16="http://schemas.microsoft.com/office/drawing/2014/main" id="{D37424B5-F0B0-5708-3D48-2D8007C8FA8B}"/>
              </a:ext>
            </a:extLst>
          </p:cNvPr>
          <p:cNvGraphicFramePr>
            <a:graphicFrameLocks noGrp="1"/>
          </p:cNvGraphicFramePr>
          <p:nvPr>
            <p:extLst>
              <p:ext uri="{D42A27DB-BD31-4B8C-83A1-F6EECF244321}">
                <p14:modId xmlns:p14="http://schemas.microsoft.com/office/powerpoint/2010/main" val="47725331"/>
              </p:ext>
            </p:extLst>
          </p:nvPr>
        </p:nvGraphicFramePr>
        <p:xfrm>
          <a:off x="576626" y="3494496"/>
          <a:ext cx="10740414" cy="898366"/>
        </p:xfrm>
        <a:graphic>
          <a:graphicData uri="http://schemas.openxmlformats.org/drawingml/2006/table">
            <a:tbl>
              <a:tblPr/>
              <a:tblGrid>
                <a:gridCol w="7320734">
                  <a:extLst>
                    <a:ext uri="{9D8B030D-6E8A-4147-A177-3AD203B41FA5}">
                      <a16:colId xmlns:a16="http://schemas.microsoft.com/office/drawing/2014/main" val="4082067954"/>
                    </a:ext>
                  </a:extLst>
                </a:gridCol>
                <a:gridCol w="3419680">
                  <a:extLst>
                    <a:ext uri="{9D8B030D-6E8A-4147-A177-3AD203B41FA5}">
                      <a16:colId xmlns:a16="http://schemas.microsoft.com/office/drawing/2014/main" val="3300752874"/>
                    </a:ext>
                  </a:extLst>
                </a:gridCol>
              </a:tblGrid>
              <a:tr h="44918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u="none" strike="noStrike" cap="none" normalizeH="0" baseline="0" dirty="0">
                          <a:ln>
                            <a:noFill/>
                          </a:ln>
                          <a:solidFill>
                            <a:schemeClr val="tx1">
                              <a:lumMod val="95000"/>
                              <a:lumOff val="5000"/>
                            </a:schemeClr>
                          </a:solidFill>
                          <a:effectLst/>
                          <a:latin typeface="Consolas" panose="020B0609020204030204" pitchFamily="49" charset="0"/>
                          <a:ea typeface="Alibaba PuHuiTi R"/>
                        </a:rPr>
                        <a:t>public static &lt;T&gt; void max/min(Collection&lt;T&gt; </a:t>
                      </a:r>
                      <a:r>
                        <a:rPr kumimoji="0" lang="en-US" altLang="zh-CN" sz="1400" u="none" strike="noStrike" cap="none" normalizeH="0" baseline="0" dirty="0" err="1">
                          <a:ln>
                            <a:noFill/>
                          </a:ln>
                          <a:solidFill>
                            <a:schemeClr val="tx1">
                              <a:lumMod val="95000"/>
                              <a:lumOff val="5000"/>
                            </a:schemeClr>
                          </a:solidFill>
                          <a:effectLst/>
                          <a:latin typeface="Consolas" panose="020B0609020204030204" pitchFamily="49" charset="0"/>
                          <a:ea typeface="Alibaba PuHuiTi R"/>
                        </a:rPr>
                        <a:t>coll</a:t>
                      </a:r>
                      <a:r>
                        <a:rPr kumimoji="0" lang="en-US" altLang="zh-CN" sz="1400" u="none" strike="noStrike" cap="none" normalizeH="0" baseline="0" dirty="0">
                          <a:ln>
                            <a:noFill/>
                          </a:ln>
                          <a:solidFill>
                            <a:schemeClr val="tx1">
                              <a:lumMod val="95000"/>
                              <a:lumOff val="5000"/>
                            </a:schemeClr>
                          </a:solidFill>
                          <a:effectLst/>
                          <a:latin typeface="Consolas" panose="020B0609020204030204" pitchFamily="49" charset="0"/>
                          <a:ea typeface="Alibaba PuHuiTi R"/>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u="none" strike="noStrike" cap="none" normalizeH="0" baseline="0" dirty="0">
                          <a:ln>
                            <a:noFill/>
                          </a:ln>
                          <a:solidFill>
                            <a:schemeClr val="tx1">
                              <a:lumMod val="95000"/>
                              <a:lumOff val="5000"/>
                            </a:schemeClr>
                          </a:solidFill>
                          <a:effectLst/>
                          <a:latin typeface="Consolas" panose="020B0609020204030204" pitchFamily="49" charset="0"/>
                          <a:ea typeface="Alibaba PuHuiTi R"/>
                        </a:rPr>
                        <a:t>根据默认的自然排序获取最大</a:t>
                      </a:r>
                      <a:r>
                        <a:rPr kumimoji="0" lang="en-US" altLang="zh-CN" sz="1600" u="none" strike="noStrike" cap="none" normalizeH="0" baseline="0" dirty="0">
                          <a:ln>
                            <a:noFill/>
                          </a:ln>
                          <a:solidFill>
                            <a:schemeClr val="tx1">
                              <a:lumMod val="95000"/>
                              <a:lumOff val="5000"/>
                            </a:schemeClr>
                          </a:solidFill>
                          <a:effectLst/>
                          <a:latin typeface="Consolas" panose="020B0609020204030204" pitchFamily="49" charset="0"/>
                          <a:ea typeface="Alibaba PuHuiTi R"/>
                        </a:rPr>
                        <a:t>/</a:t>
                      </a:r>
                      <a:r>
                        <a:rPr kumimoji="0" lang="zh-CN" altLang="en-US" sz="1600" u="none" strike="noStrike" cap="none" normalizeH="0" baseline="0" dirty="0">
                          <a:ln>
                            <a:noFill/>
                          </a:ln>
                          <a:solidFill>
                            <a:schemeClr val="tx1">
                              <a:lumMod val="95000"/>
                              <a:lumOff val="5000"/>
                            </a:schemeClr>
                          </a:solidFill>
                          <a:effectLst/>
                          <a:latin typeface="Consolas" panose="020B0609020204030204" pitchFamily="49" charset="0"/>
                          <a:ea typeface="Alibaba PuHuiTi R"/>
                        </a:rPr>
                        <a:t>小值</a:t>
                      </a:r>
                      <a:endParaRPr kumimoji="0" lang="zh-CN" altLang="en-US" sz="16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137157767"/>
                  </a:ext>
                </a:extLst>
              </a:tr>
              <a:tr h="449183">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1400" u="none" strike="noStrike" cap="none" normalizeH="0" baseline="0" dirty="0">
                          <a:ln>
                            <a:noFill/>
                          </a:ln>
                          <a:solidFill>
                            <a:schemeClr val="tx1">
                              <a:lumMod val="95000"/>
                              <a:lumOff val="5000"/>
                            </a:schemeClr>
                          </a:solidFill>
                          <a:effectLst/>
                          <a:latin typeface="Consolas" panose="020B0609020204030204" pitchFamily="49" charset="0"/>
                          <a:ea typeface="Alibaba PuHuiTi R"/>
                        </a:rPr>
                        <a:t>public static &lt;T&gt; void sort(List&lt;T&gt; list)</a:t>
                      </a:r>
                      <a:endPar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R"/>
                        <a:cs typeface="Times New Roman" panose="02020603050405020304" pitchFamily="18" charset="0"/>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1600" u="none" strike="noStrike" cap="none" normalizeH="0" baseline="0" dirty="0">
                          <a:ln>
                            <a:noFill/>
                          </a:ln>
                          <a:solidFill>
                            <a:schemeClr val="tx1">
                              <a:lumMod val="95000"/>
                              <a:lumOff val="5000"/>
                            </a:schemeClr>
                          </a:solidFill>
                          <a:effectLst/>
                          <a:latin typeface="宋体" panose="02010600030101010101" pitchFamily="2" charset="-122"/>
                          <a:ea typeface="Alibaba PuHuiTi R"/>
                        </a:rPr>
                        <a:t>将集合中元素按照默认规则排序</a:t>
                      </a:r>
                      <a:endParaRPr kumimoji="0" lang="zh-CN" altLang="en-US" sz="1600" b="0" i="0" u="none" strike="noStrike" cap="none" normalizeH="0" baseline="0" dirty="0">
                        <a:ln>
                          <a:noFill/>
                        </a:ln>
                        <a:solidFill>
                          <a:schemeClr val="tx1">
                            <a:lumMod val="95000"/>
                            <a:lumOff val="5000"/>
                          </a:schemeClr>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113371831"/>
                  </a:ext>
                </a:extLst>
              </a:tr>
            </a:tbl>
          </a:graphicData>
        </a:graphic>
      </p:graphicFrame>
      <p:sp>
        <p:nvSpPr>
          <p:cNvPr id="4" name="标题 3">
            <a:extLst>
              <a:ext uri="{FF2B5EF4-FFF2-40B4-BE49-F238E27FC236}">
                <a16:creationId xmlns:a16="http://schemas.microsoft.com/office/drawing/2014/main" id="{7E5A83CE-E24B-3957-EAA8-0B5EFADF7C60}"/>
              </a:ext>
            </a:extLst>
          </p:cNvPr>
          <p:cNvSpPr>
            <a:spLocks noGrp="1"/>
          </p:cNvSpPr>
          <p:nvPr>
            <p:ph type="title"/>
          </p:nvPr>
        </p:nvSpPr>
        <p:spPr/>
        <p:txBody>
          <a:bodyPr/>
          <a:lstStyle/>
          <a:p>
            <a:r>
              <a:rPr kumimoji="0" lang="zh-CN" altLang="zh-CN" sz="2400" b="1" u="none" strike="noStrike" cap="none" normalizeH="0" baseline="0" dirty="0">
                <a:ln>
                  <a:noFill/>
                </a:ln>
                <a:solidFill>
                  <a:srgbClr val="AD2B26"/>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Collections</a:t>
            </a:r>
            <a:r>
              <a:rPr kumimoji="0" lang="en-US" altLang="zh-CN" sz="2400" b="1" u="none" strike="noStrike" cap="none" normalizeH="0" baseline="0" dirty="0">
                <a:ln>
                  <a:noFill/>
                </a:ln>
                <a:solidFill>
                  <a:srgbClr val="AD2B26"/>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kumimoji="0" lang="zh-CN" altLang="en-US" sz="2400" b="1" u="none" strike="noStrike" cap="none" normalizeH="0" baseline="0" dirty="0">
                <a:ln>
                  <a:noFill/>
                </a:ln>
                <a:solidFill>
                  <a:srgbClr val="AD2B26"/>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集合工具类</a:t>
            </a:r>
            <a:endParaRPr lang="zh-CN" altLang="en-US" dirty="0">
              <a:solidFill>
                <a:srgbClr val="AD2B26"/>
              </a:solidFill>
            </a:endParaRPr>
          </a:p>
        </p:txBody>
      </p:sp>
      <p:sp>
        <p:nvSpPr>
          <p:cNvPr id="5" name="文本框 4">
            <a:extLst>
              <a:ext uri="{FF2B5EF4-FFF2-40B4-BE49-F238E27FC236}">
                <a16:creationId xmlns:a16="http://schemas.microsoft.com/office/drawing/2014/main" id="{448C93B9-040A-2D30-BC5F-8F87AE1DD564}"/>
              </a:ext>
            </a:extLst>
          </p:cNvPr>
          <p:cNvSpPr txBox="1"/>
          <p:nvPr/>
        </p:nvSpPr>
        <p:spPr>
          <a:xfrm>
            <a:off x="576626" y="4546911"/>
            <a:ext cx="10998200" cy="338554"/>
          </a:xfrm>
          <a:prstGeom prst="rect">
            <a:avLst/>
          </a:prstGeom>
          <a:noFill/>
        </p:spPr>
        <p:txBody>
          <a:bodyPr wrap="square">
            <a:spAutoFit/>
          </a:bodyPr>
          <a:lstStyle/>
          <a:p>
            <a:r>
              <a:rPr kumimoji="0" lang="zh-CN" altLang="en-US" sz="1600" b="0" u="none" strike="noStrike" cap="none" normalizeH="0" baseline="0" dirty="0">
                <a:ln>
                  <a:noFill/>
                </a:ln>
                <a:solidFill>
                  <a:srgbClr val="C00000"/>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注意：本方式不可以直接对自定义类型的</a:t>
            </a:r>
            <a:r>
              <a:rPr kumimoji="0" lang="en-US" altLang="zh-CN" sz="1600" b="0" u="none" strike="noStrike" cap="none" normalizeH="0" baseline="0" dirty="0">
                <a:ln>
                  <a:noFill/>
                </a:ln>
                <a:solidFill>
                  <a:srgbClr val="C00000"/>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List</a:t>
            </a:r>
            <a:r>
              <a:rPr kumimoji="0" lang="zh-CN" altLang="en-US" sz="1600" b="0" u="none" strike="noStrike" cap="none" normalizeH="0" baseline="0" dirty="0">
                <a:ln>
                  <a:noFill/>
                </a:ln>
                <a:solidFill>
                  <a:srgbClr val="C00000"/>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集合排序，除非自定义类型实现了比较规则</a:t>
            </a:r>
            <a:r>
              <a:rPr kumimoji="0" lang="en-US" altLang="zh-CN" sz="1600" b="0" u="none" strike="noStrike" cap="none" normalizeH="0" baseline="0" dirty="0">
                <a:ln>
                  <a:noFill/>
                </a:ln>
                <a:solidFill>
                  <a:srgbClr val="C00000"/>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Comparable</a:t>
            </a:r>
            <a:r>
              <a:rPr kumimoji="0" lang="zh-CN" altLang="en-US" sz="1600" b="0" u="none" strike="noStrike" cap="none" normalizeH="0" baseline="0" dirty="0">
                <a:ln>
                  <a:noFill/>
                </a:ln>
                <a:solidFill>
                  <a:srgbClr val="C00000"/>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接口</a:t>
            </a:r>
            <a:endParaRPr kumimoji="0" lang="en-US" altLang="zh-CN" sz="1600" b="0" u="none" strike="noStrike" cap="none" normalizeH="0" baseline="0" dirty="0">
              <a:ln>
                <a:noFill/>
              </a:ln>
              <a:solidFill>
                <a:srgbClr val="C00000"/>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aphicFrame>
        <p:nvGraphicFramePr>
          <p:cNvPr id="7" name="表格 6">
            <a:extLst>
              <a:ext uri="{FF2B5EF4-FFF2-40B4-BE49-F238E27FC236}">
                <a16:creationId xmlns:a16="http://schemas.microsoft.com/office/drawing/2014/main" id="{1003C90A-FF05-BADE-16E3-998E1920B0D2}"/>
              </a:ext>
            </a:extLst>
          </p:cNvPr>
          <p:cNvGraphicFramePr>
            <a:graphicFrameLocks noGrp="1"/>
          </p:cNvGraphicFramePr>
          <p:nvPr>
            <p:extLst>
              <p:ext uri="{D42A27DB-BD31-4B8C-83A1-F6EECF244321}">
                <p14:modId xmlns:p14="http://schemas.microsoft.com/office/powerpoint/2010/main" val="1156701594"/>
              </p:ext>
            </p:extLst>
          </p:nvPr>
        </p:nvGraphicFramePr>
        <p:xfrm>
          <a:off x="576626" y="5032874"/>
          <a:ext cx="10740414" cy="969695"/>
        </p:xfrm>
        <a:graphic>
          <a:graphicData uri="http://schemas.openxmlformats.org/drawingml/2006/table">
            <a:tbl>
              <a:tblPr/>
              <a:tblGrid>
                <a:gridCol w="7320734">
                  <a:extLst>
                    <a:ext uri="{9D8B030D-6E8A-4147-A177-3AD203B41FA5}">
                      <a16:colId xmlns:a16="http://schemas.microsoft.com/office/drawing/2014/main" val="1138920238"/>
                    </a:ext>
                  </a:extLst>
                </a:gridCol>
                <a:gridCol w="3419680">
                  <a:extLst>
                    <a:ext uri="{9D8B030D-6E8A-4147-A177-3AD203B41FA5}">
                      <a16:colId xmlns:a16="http://schemas.microsoft.com/office/drawing/2014/main" val="432614512"/>
                    </a:ext>
                  </a:extLst>
                </a:gridCol>
              </a:tblGrid>
              <a:tr h="520512">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Consolas" panose="020B0609020204030204" pitchFamily="49" charset="0"/>
                          <a:ea typeface="Alibaba PuHuiTi R" pitchFamily="18" charset="-122"/>
                          <a:cs typeface="Alibaba PuHuiTi R" pitchFamily="18" charset="-122"/>
                        </a:rPr>
                        <a:t>方法名称</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4491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u="none" strike="noStrike" cap="none" normalizeH="0" baseline="0" dirty="0">
                          <a:ln>
                            <a:noFill/>
                          </a:ln>
                          <a:solidFill>
                            <a:schemeClr val="tx1">
                              <a:lumMod val="95000"/>
                              <a:lumOff val="5000"/>
                            </a:schemeClr>
                          </a:solidFill>
                          <a:effectLst/>
                          <a:latin typeface="Consolas" panose="020B0609020204030204" pitchFamily="49" charset="0"/>
                          <a:ea typeface="Alibaba PuHuiTi R"/>
                        </a:rPr>
                        <a:t>public static &lt;T&gt; void sort(List&lt;T&gt; list，Comparator&lt;? super T&gt; c)</a:t>
                      </a:r>
                      <a:endPar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R"/>
                        <a:cs typeface="Times New Roman" panose="02020603050405020304" pitchFamily="18" charset="0"/>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600" u="none" strike="noStrike" cap="none" normalizeH="0" baseline="0" dirty="0">
                          <a:ln>
                            <a:noFill/>
                          </a:ln>
                          <a:solidFill>
                            <a:schemeClr val="tx1">
                              <a:lumMod val="95000"/>
                              <a:lumOff val="5000"/>
                            </a:schemeClr>
                          </a:solidFill>
                          <a:effectLst/>
                          <a:latin typeface="宋体" panose="02010600030101010101" pitchFamily="2" charset="-122"/>
                          <a:ea typeface="Alibaba PuHuiTi R"/>
                        </a:rPr>
                        <a:t>将集合中元素按照指定规则排序</a:t>
                      </a:r>
                      <a:endParaRPr kumimoji="0" lang="zh-CN" altLang="en-US" sz="1600" b="0" i="0" u="none" strike="noStrike" cap="none" normalizeH="0" baseline="0" dirty="0">
                        <a:ln>
                          <a:noFill/>
                        </a:ln>
                        <a:solidFill>
                          <a:schemeClr val="tx1">
                            <a:lumMod val="95000"/>
                            <a:lumOff val="5000"/>
                          </a:schemeClr>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258559763"/>
                  </a:ext>
                </a:extLst>
              </a:tr>
            </a:tbl>
          </a:graphicData>
        </a:graphic>
      </p:graphicFrame>
    </p:spTree>
    <p:extLst>
      <p:ext uri="{BB962C8B-B14F-4D97-AF65-F5344CB8AC3E}">
        <p14:creationId xmlns:p14="http://schemas.microsoft.com/office/powerpoint/2010/main" val="17775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p:tgtEl>
                                          <p:spTgt spid="7"/>
                                        </p:tgtEl>
                                        <p:attrNameLst>
                                          <p:attrName>ppt_y</p:attrName>
                                        </p:attrNameLst>
                                      </p:cBhvr>
                                      <p:tavLst>
                                        <p:tav tm="0">
                                          <p:val>
                                            <p:strVal val="#ppt_y+#ppt_h*1.125000"/>
                                          </p:val>
                                        </p:tav>
                                        <p:tav tm="100000">
                                          <p:val>
                                            <p:strVal val="#ppt_y"/>
                                          </p:val>
                                        </p:tav>
                                      </p:tavLst>
                                    </p:anim>
                                    <p:animEffect transition="in" filter="wipe(up)">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0E8A747-A414-2813-9789-99C0A9C95B15}"/>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42471C58-9229-86EB-A6D3-923CBCAF142A}"/>
              </a:ext>
            </a:extLst>
          </p:cNvPr>
          <p:cNvSpPr>
            <a:spLocks noGrp="1"/>
          </p:cNvSpPr>
          <p:nvPr>
            <p:ph type="body" sz="quarter" idx="10"/>
          </p:nvPr>
        </p:nvSpPr>
        <p:spPr>
          <a:xfrm>
            <a:off x="5982521" y="2505975"/>
            <a:ext cx="4410730" cy="1956553"/>
          </a:xfrm>
        </p:spPr>
        <p:txBody>
          <a:bodyPr/>
          <a:lstStyle/>
          <a:p>
            <a:r>
              <a:rPr kumimoji="1" lang="en-US" altLang="zh-CN" dirty="0">
                <a:latin typeface="Consolas" panose="020B0609020204030204" pitchFamily="49" charset="0"/>
              </a:rPr>
              <a:t>Set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TreeSet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HashSet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LinkedHashSet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Collections </a:t>
            </a:r>
            <a:r>
              <a:rPr kumimoji="1" lang="zh-CN" altLang="en-US" dirty="0">
                <a:latin typeface="Consolas" panose="020B0609020204030204" pitchFamily="49" charset="0"/>
              </a:rPr>
              <a:t>工具类</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集合三种遍历方式</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集合的实现类</a:t>
            </a:r>
            <a:endParaRPr kumimoji="1" lang="en-US" altLang="zh-CN" dirty="0">
              <a:latin typeface="Consolas" panose="020B0609020204030204" pitchFamily="49" charset="0"/>
            </a:endParaRPr>
          </a:p>
        </p:txBody>
      </p:sp>
    </p:spTree>
    <p:extLst>
      <p:ext uri="{BB962C8B-B14F-4D97-AF65-F5344CB8AC3E}">
        <p14:creationId xmlns:p14="http://schemas.microsoft.com/office/powerpoint/2010/main" val="1717683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85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stCondLst>
                                            <p:cond delay="0"/>
                                          </p:stCondLst>
                                        </p:cTn>
                                        <p:tgtEl>
                                          <p:spTgt spid="2"/>
                                        </p:tgtEl>
                                      </p:cBhvr>
                                    </p:animEffect>
                                    <p:anim to="0" calcmode="lin" valueType="num">
                                      <p:cBhvr>
                                        <p:cTn id="8" dur="500" fill="hold">
                                          <p:stCondLst>
                                            <p:cond delay="0"/>
                                          </p:stCondLst>
                                        </p:cTn>
                                        <p:tgtEl>
                                          <p:spTgt spid="2"/>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12948-8D4B-0CE8-1179-6388CF5A6510}"/>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D41DC771-1693-CEF7-E7DF-259B38E00218}"/>
              </a:ext>
            </a:extLst>
          </p:cNvPr>
          <p:cNvSpPr>
            <a:spLocks noGrp="1"/>
          </p:cNvSpPr>
          <p:nvPr>
            <p:ph type="body" sz="quarter" idx="13"/>
          </p:nvPr>
        </p:nvSpPr>
        <p:spPr>
          <a:xfrm>
            <a:off x="5834080" y="2465278"/>
            <a:ext cx="5505768" cy="901700"/>
          </a:xfrm>
        </p:spPr>
        <p:txBody>
          <a:bodyPr/>
          <a:lstStyle/>
          <a:p>
            <a:r>
              <a:rPr lang="en-US" altLang="zh-CN" dirty="0"/>
              <a:t>Map </a:t>
            </a:r>
            <a:r>
              <a:rPr lang="zh-CN" altLang="en-US" dirty="0"/>
              <a:t>集合</a:t>
            </a:r>
          </a:p>
        </p:txBody>
      </p:sp>
      <p:sp>
        <p:nvSpPr>
          <p:cNvPr id="10" name="文本占位符 9">
            <a:extLst>
              <a:ext uri="{FF2B5EF4-FFF2-40B4-BE49-F238E27FC236}">
                <a16:creationId xmlns:a16="http://schemas.microsoft.com/office/drawing/2014/main" id="{2820B08B-8C03-A7E2-BFD8-BE7087CE9C93}"/>
              </a:ext>
            </a:extLst>
          </p:cNvPr>
          <p:cNvSpPr>
            <a:spLocks noGrp="1"/>
          </p:cNvSpPr>
          <p:nvPr>
            <p:ph type="body" sz="quarter" idx="14"/>
          </p:nvPr>
        </p:nvSpPr>
        <p:spPr/>
        <p:txBody>
          <a:bodyPr/>
          <a:lstStyle/>
          <a:p>
            <a:r>
              <a:rPr lang="en-US" altLang="zh-CN" dirty="0"/>
              <a:t>6</a:t>
            </a:r>
            <a:endParaRPr lang="zh-CN" altLang="en-US" dirty="0"/>
          </a:p>
        </p:txBody>
      </p:sp>
    </p:spTree>
    <p:extLst>
      <p:ext uri="{BB962C8B-B14F-4D97-AF65-F5344CB8AC3E}">
        <p14:creationId xmlns:p14="http://schemas.microsoft.com/office/powerpoint/2010/main" val="107433798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99F0F3E9-20E0-9139-5324-25F6B379A2D7}"/>
              </a:ext>
            </a:extLst>
          </p:cNvPr>
          <p:cNvSpPr/>
          <p:nvPr/>
        </p:nvSpPr>
        <p:spPr>
          <a:xfrm>
            <a:off x="1360225" y="2996827"/>
            <a:ext cx="1491612" cy="530454"/>
          </a:xfrm>
          <a:prstGeom prst="roundRect">
            <a:avLst/>
          </a:prstGeom>
          <a:solidFill>
            <a:schemeClr val="accent6">
              <a:lumMod val="40000"/>
              <a:lumOff val="6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err="1">
                <a:latin typeface="杨任东竹石体-Bold" panose="02000000000000000000" pitchFamily="2" charset="-122"/>
                <a:ea typeface="杨任东竹石体-Bold" panose="02000000000000000000" pitchFamily="2" charset="-122"/>
              </a:rPr>
              <a:t>TreeMap</a:t>
            </a:r>
            <a:endParaRPr lang="zh-CN" altLang="en-US" sz="2000" dirty="0">
              <a:latin typeface="杨任东竹石体-Bold" panose="02000000000000000000" pitchFamily="2" charset="-122"/>
              <a:ea typeface="杨任东竹石体-Bold" panose="02000000000000000000" pitchFamily="2" charset="-122"/>
            </a:endParaRPr>
          </a:p>
        </p:txBody>
      </p:sp>
      <p:sp>
        <p:nvSpPr>
          <p:cNvPr id="4" name="矩形: 圆角 3">
            <a:extLst>
              <a:ext uri="{FF2B5EF4-FFF2-40B4-BE49-F238E27FC236}">
                <a16:creationId xmlns:a16="http://schemas.microsoft.com/office/drawing/2014/main" id="{B379E970-6735-48B9-69DE-62CA02B56754}"/>
              </a:ext>
            </a:extLst>
          </p:cNvPr>
          <p:cNvSpPr/>
          <p:nvPr/>
        </p:nvSpPr>
        <p:spPr>
          <a:xfrm>
            <a:off x="1360225" y="4193785"/>
            <a:ext cx="1491612" cy="530454"/>
          </a:xfrm>
          <a:prstGeom prst="roundRect">
            <a:avLst/>
          </a:prstGeom>
          <a:solidFill>
            <a:srgbClr val="C00000"/>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a:latin typeface="杨任东竹石体-Bold" panose="02000000000000000000" pitchFamily="2" charset="-122"/>
                <a:ea typeface="杨任东竹石体-Bold" panose="02000000000000000000" pitchFamily="2" charset="-122"/>
              </a:rPr>
              <a:t>HashMap</a:t>
            </a:r>
            <a:endParaRPr lang="zh-CN" altLang="en-US" sz="2000" dirty="0">
              <a:latin typeface="杨任东竹石体-Bold" panose="02000000000000000000" pitchFamily="2" charset="-122"/>
              <a:ea typeface="杨任东竹石体-Bold" panose="02000000000000000000" pitchFamily="2" charset="-122"/>
            </a:endParaRPr>
          </a:p>
        </p:txBody>
      </p:sp>
      <p:sp>
        <p:nvSpPr>
          <p:cNvPr id="5" name="矩形: 圆角 4">
            <a:extLst>
              <a:ext uri="{FF2B5EF4-FFF2-40B4-BE49-F238E27FC236}">
                <a16:creationId xmlns:a16="http://schemas.microsoft.com/office/drawing/2014/main" id="{8CF17F09-8F4D-4D22-31EA-8F0513DB5D5A}"/>
              </a:ext>
            </a:extLst>
          </p:cNvPr>
          <p:cNvSpPr/>
          <p:nvPr/>
        </p:nvSpPr>
        <p:spPr>
          <a:xfrm>
            <a:off x="1285737" y="5363264"/>
            <a:ext cx="1823080" cy="530454"/>
          </a:xfrm>
          <a:prstGeom prst="roundRect">
            <a:avLst/>
          </a:prstGeom>
          <a:solidFill>
            <a:schemeClr val="accent3">
              <a:lumMod val="60000"/>
              <a:lumOff val="4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err="1">
                <a:latin typeface="杨任东竹石体-Bold" panose="02000000000000000000" pitchFamily="2" charset="-122"/>
                <a:ea typeface="杨任东竹石体-Bold" panose="02000000000000000000" pitchFamily="2" charset="-122"/>
              </a:rPr>
              <a:t>LinkedHashMap</a:t>
            </a:r>
            <a:endParaRPr lang="zh-CN" altLang="en-US" sz="2000" dirty="0">
              <a:latin typeface="杨任东竹石体-Bold" panose="02000000000000000000" pitchFamily="2" charset="-122"/>
              <a:ea typeface="杨任东竹石体-Bold" panose="02000000000000000000" pitchFamily="2" charset="-122"/>
            </a:endParaRPr>
          </a:p>
        </p:txBody>
      </p:sp>
      <p:sp>
        <p:nvSpPr>
          <p:cNvPr id="6" name="矩形: 圆角 5">
            <a:extLst>
              <a:ext uri="{FF2B5EF4-FFF2-40B4-BE49-F238E27FC236}">
                <a16:creationId xmlns:a16="http://schemas.microsoft.com/office/drawing/2014/main" id="{761A5A1E-F942-127C-5B2D-1ECC6F3A4A49}"/>
              </a:ext>
            </a:extLst>
          </p:cNvPr>
          <p:cNvSpPr/>
          <p:nvPr/>
        </p:nvSpPr>
        <p:spPr>
          <a:xfrm>
            <a:off x="431278" y="1173514"/>
            <a:ext cx="3572698" cy="5381985"/>
          </a:xfrm>
          <a:custGeom>
            <a:avLst/>
            <a:gdLst>
              <a:gd name="connsiteX0" fmla="*/ 0 w 3572698"/>
              <a:gd name="connsiteY0" fmla="*/ 595462 h 5381985"/>
              <a:gd name="connsiteX1" fmla="*/ 595462 w 3572698"/>
              <a:gd name="connsiteY1" fmla="*/ 0 h 5381985"/>
              <a:gd name="connsiteX2" fmla="*/ 1238541 w 3572698"/>
              <a:gd name="connsiteY2" fmla="*/ 0 h 5381985"/>
              <a:gd name="connsiteX3" fmla="*/ 1810167 w 3572698"/>
              <a:gd name="connsiteY3" fmla="*/ 0 h 5381985"/>
              <a:gd name="connsiteX4" fmla="*/ 2357975 w 3572698"/>
              <a:gd name="connsiteY4" fmla="*/ 0 h 5381985"/>
              <a:gd name="connsiteX5" fmla="*/ 2977236 w 3572698"/>
              <a:gd name="connsiteY5" fmla="*/ 0 h 5381985"/>
              <a:gd name="connsiteX6" fmla="*/ 3572698 w 3572698"/>
              <a:gd name="connsiteY6" fmla="*/ 595462 h 5381985"/>
              <a:gd name="connsiteX7" fmla="*/ 3572698 w 3572698"/>
              <a:gd name="connsiteY7" fmla="*/ 1293972 h 5381985"/>
              <a:gd name="connsiteX8" fmla="*/ 3572698 w 3572698"/>
              <a:gd name="connsiteY8" fmla="*/ 2076304 h 5381985"/>
              <a:gd name="connsiteX9" fmla="*/ 3572698 w 3572698"/>
              <a:gd name="connsiteY9" fmla="*/ 2649082 h 5381985"/>
              <a:gd name="connsiteX10" fmla="*/ 3572698 w 3572698"/>
              <a:gd name="connsiteY10" fmla="*/ 3347592 h 5381985"/>
              <a:gd name="connsiteX11" fmla="*/ 3572698 w 3572698"/>
              <a:gd name="connsiteY11" fmla="*/ 4046102 h 5381985"/>
              <a:gd name="connsiteX12" fmla="*/ 3572698 w 3572698"/>
              <a:gd name="connsiteY12" fmla="*/ 4786523 h 5381985"/>
              <a:gd name="connsiteX13" fmla="*/ 2977236 w 3572698"/>
              <a:gd name="connsiteY13" fmla="*/ 5381985 h 5381985"/>
              <a:gd name="connsiteX14" fmla="*/ 2381793 w 3572698"/>
              <a:gd name="connsiteY14" fmla="*/ 5381985 h 5381985"/>
              <a:gd name="connsiteX15" fmla="*/ 1786349 w 3572698"/>
              <a:gd name="connsiteY15" fmla="*/ 5381985 h 5381985"/>
              <a:gd name="connsiteX16" fmla="*/ 1143270 w 3572698"/>
              <a:gd name="connsiteY16" fmla="*/ 5381985 h 5381985"/>
              <a:gd name="connsiteX17" fmla="*/ 595462 w 3572698"/>
              <a:gd name="connsiteY17" fmla="*/ 5381985 h 5381985"/>
              <a:gd name="connsiteX18" fmla="*/ 0 w 3572698"/>
              <a:gd name="connsiteY18" fmla="*/ 4786523 h 5381985"/>
              <a:gd name="connsiteX19" fmla="*/ 0 w 3572698"/>
              <a:gd name="connsiteY19" fmla="*/ 4171834 h 5381985"/>
              <a:gd name="connsiteX20" fmla="*/ 0 w 3572698"/>
              <a:gd name="connsiteY20" fmla="*/ 3473324 h 5381985"/>
              <a:gd name="connsiteX21" fmla="*/ 0 w 3572698"/>
              <a:gd name="connsiteY21" fmla="*/ 2858635 h 5381985"/>
              <a:gd name="connsiteX22" fmla="*/ 0 w 3572698"/>
              <a:gd name="connsiteY22" fmla="*/ 2160125 h 5381985"/>
              <a:gd name="connsiteX23" fmla="*/ 0 w 3572698"/>
              <a:gd name="connsiteY23" fmla="*/ 1587346 h 5381985"/>
              <a:gd name="connsiteX24" fmla="*/ 0 w 3572698"/>
              <a:gd name="connsiteY24" fmla="*/ 595462 h 5381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72698" h="5381985" extrusionOk="0">
                <a:moveTo>
                  <a:pt x="0" y="595462"/>
                </a:moveTo>
                <a:cubicBezTo>
                  <a:pt x="-62866" y="227820"/>
                  <a:pt x="238531" y="10534"/>
                  <a:pt x="595462" y="0"/>
                </a:cubicBezTo>
                <a:cubicBezTo>
                  <a:pt x="882775" y="-30026"/>
                  <a:pt x="957294" y="-29626"/>
                  <a:pt x="1238541" y="0"/>
                </a:cubicBezTo>
                <a:cubicBezTo>
                  <a:pt x="1519788" y="29626"/>
                  <a:pt x="1692490" y="-26544"/>
                  <a:pt x="1810167" y="0"/>
                </a:cubicBezTo>
                <a:cubicBezTo>
                  <a:pt x="1927844" y="26544"/>
                  <a:pt x="2091563" y="-7694"/>
                  <a:pt x="2357975" y="0"/>
                </a:cubicBezTo>
                <a:cubicBezTo>
                  <a:pt x="2624387" y="7694"/>
                  <a:pt x="2742884" y="2125"/>
                  <a:pt x="2977236" y="0"/>
                </a:cubicBezTo>
                <a:cubicBezTo>
                  <a:pt x="3312542" y="-13256"/>
                  <a:pt x="3561749" y="264920"/>
                  <a:pt x="3572698" y="595462"/>
                </a:cubicBezTo>
                <a:cubicBezTo>
                  <a:pt x="3576082" y="894213"/>
                  <a:pt x="3548758" y="1131890"/>
                  <a:pt x="3572698" y="1293972"/>
                </a:cubicBezTo>
                <a:cubicBezTo>
                  <a:pt x="3596639" y="1456054"/>
                  <a:pt x="3561724" y="1908347"/>
                  <a:pt x="3572698" y="2076304"/>
                </a:cubicBezTo>
                <a:cubicBezTo>
                  <a:pt x="3583672" y="2244261"/>
                  <a:pt x="3577122" y="2384621"/>
                  <a:pt x="3572698" y="2649082"/>
                </a:cubicBezTo>
                <a:cubicBezTo>
                  <a:pt x="3568274" y="2913543"/>
                  <a:pt x="3587699" y="3164550"/>
                  <a:pt x="3572698" y="3347592"/>
                </a:cubicBezTo>
                <a:cubicBezTo>
                  <a:pt x="3557698" y="3530634"/>
                  <a:pt x="3577746" y="3887095"/>
                  <a:pt x="3572698" y="4046102"/>
                </a:cubicBezTo>
                <a:cubicBezTo>
                  <a:pt x="3567651" y="4205109"/>
                  <a:pt x="3573370" y="4421555"/>
                  <a:pt x="3572698" y="4786523"/>
                </a:cubicBezTo>
                <a:cubicBezTo>
                  <a:pt x="3615001" y="5167206"/>
                  <a:pt x="3342937" y="5349733"/>
                  <a:pt x="2977236" y="5381985"/>
                </a:cubicBezTo>
                <a:cubicBezTo>
                  <a:pt x="2741032" y="5377966"/>
                  <a:pt x="2540494" y="5368616"/>
                  <a:pt x="2381793" y="5381985"/>
                </a:cubicBezTo>
                <a:cubicBezTo>
                  <a:pt x="2223092" y="5395354"/>
                  <a:pt x="1957219" y="5394336"/>
                  <a:pt x="1786349" y="5381985"/>
                </a:cubicBezTo>
                <a:cubicBezTo>
                  <a:pt x="1615479" y="5369634"/>
                  <a:pt x="1310198" y="5368162"/>
                  <a:pt x="1143270" y="5381985"/>
                </a:cubicBezTo>
                <a:cubicBezTo>
                  <a:pt x="976342" y="5395808"/>
                  <a:pt x="743715" y="5365588"/>
                  <a:pt x="595462" y="5381985"/>
                </a:cubicBezTo>
                <a:cubicBezTo>
                  <a:pt x="248430" y="5414468"/>
                  <a:pt x="22512" y="5132116"/>
                  <a:pt x="0" y="4786523"/>
                </a:cubicBezTo>
                <a:cubicBezTo>
                  <a:pt x="-19748" y="4534801"/>
                  <a:pt x="26873" y="4443154"/>
                  <a:pt x="0" y="4171834"/>
                </a:cubicBezTo>
                <a:cubicBezTo>
                  <a:pt x="-26873" y="3900514"/>
                  <a:pt x="-22344" y="3782403"/>
                  <a:pt x="0" y="3473324"/>
                </a:cubicBezTo>
                <a:cubicBezTo>
                  <a:pt x="22344" y="3164245"/>
                  <a:pt x="-16686" y="3162249"/>
                  <a:pt x="0" y="2858635"/>
                </a:cubicBezTo>
                <a:cubicBezTo>
                  <a:pt x="16686" y="2555021"/>
                  <a:pt x="-11225" y="2479578"/>
                  <a:pt x="0" y="2160125"/>
                </a:cubicBezTo>
                <a:cubicBezTo>
                  <a:pt x="11225" y="1840672"/>
                  <a:pt x="-10672" y="1865335"/>
                  <a:pt x="0" y="1587346"/>
                </a:cubicBezTo>
                <a:cubicBezTo>
                  <a:pt x="10672" y="1309357"/>
                  <a:pt x="6260" y="983270"/>
                  <a:pt x="0" y="595462"/>
                </a:cubicBezTo>
                <a:close/>
              </a:path>
            </a:pathLst>
          </a:custGeom>
          <a:noFill/>
          <a:ln w="25400">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DE4EE2C7-5CE7-1A23-EF68-53DEE7CD9250}"/>
              </a:ext>
            </a:extLst>
          </p:cNvPr>
          <p:cNvSpPr/>
          <p:nvPr/>
        </p:nvSpPr>
        <p:spPr>
          <a:xfrm>
            <a:off x="837512" y="1844305"/>
            <a:ext cx="2798797" cy="830997"/>
          </a:xfrm>
          <a:prstGeom prst="rect">
            <a:avLst/>
          </a:prstGeom>
          <a:noFill/>
        </p:spPr>
        <p:txBody>
          <a:bodyPr wrap="square" lIns="91440" tIns="45720" rIns="91440" bIns="45720">
            <a:spAutoFit/>
          </a:bodyPr>
          <a:lstStyle/>
          <a:p>
            <a:pPr algn="ctr"/>
            <a:r>
              <a:rPr lang="en-US" altLang="zh-CN" sz="4800" b="1" dirty="0">
                <a:ln w="22225">
                  <a:solidFill>
                    <a:schemeClr val="accent2"/>
                  </a:solidFill>
                  <a:prstDash val="solid"/>
                </a:ln>
                <a:solidFill>
                  <a:schemeClr val="accent2">
                    <a:lumMod val="40000"/>
                    <a:lumOff val="60000"/>
                  </a:schemeClr>
                </a:solidFill>
                <a:latin typeface="杨任东竹石体-Bold" panose="02000000000000000000" pitchFamily="2" charset="-122"/>
                <a:ea typeface="杨任东竹石体-Bold" panose="02000000000000000000" pitchFamily="2" charset="-122"/>
              </a:rPr>
              <a:t>Map</a:t>
            </a:r>
            <a:r>
              <a:rPr lang="en-US" altLang="zh-CN" sz="4800" b="1" cap="none" spc="0" dirty="0">
                <a:ln w="22225">
                  <a:solidFill>
                    <a:schemeClr val="accent2"/>
                  </a:solidFill>
                  <a:prstDash val="solid"/>
                </a:ln>
                <a:solidFill>
                  <a:schemeClr val="accent2">
                    <a:lumMod val="40000"/>
                    <a:lumOff val="60000"/>
                  </a:schemeClr>
                </a:solidFill>
                <a:effectLst/>
                <a:latin typeface="杨任东竹石体-Bold" panose="02000000000000000000" pitchFamily="2" charset="-122"/>
                <a:ea typeface="杨任东竹石体-Bold" panose="02000000000000000000" pitchFamily="2" charset="-122"/>
              </a:rPr>
              <a:t> </a:t>
            </a:r>
            <a:r>
              <a:rPr lang="zh-CN" altLang="en-US" sz="4800" b="1" cap="none" spc="0" dirty="0">
                <a:ln w="22225">
                  <a:solidFill>
                    <a:schemeClr val="accent2"/>
                  </a:solidFill>
                  <a:prstDash val="solid"/>
                </a:ln>
                <a:solidFill>
                  <a:schemeClr val="accent2">
                    <a:lumMod val="40000"/>
                    <a:lumOff val="60000"/>
                  </a:schemeClr>
                </a:solidFill>
                <a:effectLst/>
                <a:latin typeface="杨任东竹石体-Bold" panose="02000000000000000000" pitchFamily="2" charset="-122"/>
                <a:ea typeface="杨任东竹石体-Bold" panose="02000000000000000000" pitchFamily="2" charset="-122"/>
              </a:rPr>
              <a:t>接口</a:t>
            </a:r>
          </a:p>
        </p:txBody>
      </p:sp>
      <p:sp>
        <p:nvSpPr>
          <p:cNvPr id="12" name="Rectangle 2">
            <a:extLst>
              <a:ext uri="{FF2B5EF4-FFF2-40B4-BE49-F238E27FC236}">
                <a16:creationId xmlns:a16="http://schemas.microsoft.com/office/drawing/2014/main" id="{E89F9372-042C-BC0E-F60A-A3E9121027A7}"/>
              </a:ext>
            </a:extLst>
          </p:cNvPr>
          <p:cNvSpPr>
            <a:spLocks noChangeArrowheads="1"/>
          </p:cNvSpPr>
          <p:nvPr/>
        </p:nvSpPr>
        <p:spPr bwMode="auto">
          <a:xfrm>
            <a:off x="4410210" y="1281286"/>
            <a:ext cx="6792759" cy="3961534"/>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l"/>
              <a:tabLst/>
            </a:pPr>
            <a:r>
              <a:rPr kumimoji="0" lang="zh-CN"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Map</a:t>
            </a:r>
            <a:r>
              <a:rPr kumimoji="0" lang="en-US"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 </a:t>
            </a:r>
            <a:r>
              <a:rPr kumimoji="0" lang="zh-CN"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集合是一种双列集合，每个元素包含两个</a:t>
            </a: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数据</a:t>
            </a:r>
            <a:endParaRPr kumimoji="0" lang="en-US"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l"/>
              <a:tabLst/>
            </a:pPr>
            <a:r>
              <a:rPr kumimoji="0" lang="zh-CN"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Map</a:t>
            </a:r>
            <a:r>
              <a:rPr kumimoji="0" lang="en-US"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 </a:t>
            </a:r>
            <a:r>
              <a:rPr kumimoji="0" lang="zh-CN"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集合的每个元素的格式：key</a:t>
            </a:r>
            <a:r>
              <a:rPr kumimoji="0" lang="en-US"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 </a:t>
            </a:r>
            <a:r>
              <a:rPr kumimoji="0" lang="zh-CN"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a:t>
            </a:r>
            <a:r>
              <a:rPr kumimoji="0" lang="en-US"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 </a:t>
            </a:r>
            <a:r>
              <a:rPr kumimoji="0" lang="zh-CN"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value(键值对元素)</a:t>
            </a:r>
            <a:endParaRPr kumimoji="0" lang="en-US"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p>
            <a:pPr lvl="1" eaLnBrk="0" fontAlgn="base" hangingPunct="0">
              <a:lnSpc>
                <a:spcPct val="200000"/>
              </a:lnSpc>
              <a:spcBef>
                <a:spcPct val="0"/>
              </a:spcBef>
              <a:spcAft>
                <a:spcPct val="0"/>
              </a:spcAft>
            </a:pPr>
            <a:r>
              <a:rPr lang="en-US" altLang="zh-CN"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key (</a:t>
            </a: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键</a:t>
            </a:r>
            <a:r>
              <a:rPr lang="en-US" altLang="zh-CN"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 </a:t>
            </a: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不允许重复</a:t>
            </a:r>
            <a:endParaRPr lang="en-US" altLang="zh-CN"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lvl="1" eaLnBrk="0" fontAlgn="base" hangingPunct="0">
              <a:lnSpc>
                <a:spcPct val="200000"/>
              </a:lnSpc>
              <a:spcBef>
                <a:spcPct val="0"/>
              </a:spcBef>
              <a:spcAft>
                <a:spcPct val="0"/>
              </a:spcAft>
            </a:pPr>
            <a:r>
              <a:rPr kumimoji="0" lang="en-US"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value (</a:t>
            </a:r>
            <a:r>
              <a:rPr kumimoji="0" lang="zh-CN" altLang="en-US"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值</a:t>
            </a:r>
            <a:r>
              <a:rPr kumimoji="0" lang="en-US"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 : </a:t>
            </a:r>
            <a:r>
              <a:rPr kumimoji="0" lang="zh-CN" altLang="en-US"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允许重复</a:t>
            </a:r>
            <a:endParaRPr kumimoji="0" lang="en-US"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p>
            <a:pPr lvl="1" eaLnBrk="0" fontAlgn="base" hangingPunct="0">
              <a:lnSpc>
                <a:spcPct val="200000"/>
              </a:lnSpc>
              <a:spcBef>
                <a:spcPct val="0"/>
              </a:spcBef>
              <a:spcAft>
                <a:spcPct val="0"/>
              </a:spcAft>
            </a:pP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键和值是一一对应的，每个键只能找到自己对应的值</a:t>
            </a:r>
            <a:endParaRPr kumimoji="0" lang="en-US" altLang="zh-CN" sz="1600" b="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indent="-285750" eaLnBrk="0" fontAlgn="base" hangingPunct="0">
              <a:lnSpc>
                <a:spcPct val="200000"/>
              </a:lnSpc>
              <a:spcBef>
                <a:spcPct val="0"/>
              </a:spcBef>
              <a:spcAft>
                <a:spcPct val="0"/>
              </a:spcAft>
              <a:buFont typeface="Wingdings" panose="05000000000000000000" pitchFamily="2" charset="2"/>
              <a:buChar char="l"/>
            </a:pPr>
            <a:r>
              <a:rPr lang="en-US" altLang="zh-CN"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key</a:t>
            </a: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value </a:t>
            </a: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这个整体 我们称之为“键值对”或者“键值对对象” 在</a:t>
            </a:r>
            <a:r>
              <a:rPr lang="en-US" altLang="zh-CN"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Java</a:t>
            </a: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中使用</a:t>
            </a:r>
            <a:r>
              <a:rPr lang="en-US" altLang="zh-CN"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Entry</a:t>
            </a: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对象表示</a:t>
            </a:r>
          </a:p>
          <a:p>
            <a:pPr lvl="1" eaLnBrk="0" fontAlgn="base" hangingPunct="0">
              <a:lnSpc>
                <a:spcPct val="200000"/>
              </a:lnSpc>
              <a:spcBef>
                <a:spcPct val="0"/>
              </a:spcBef>
              <a:spcAft>
                <a:spcPct val="0"/>
              </a:spcAft>
            </a:pPr>
            <a:endParaRPr kumimoji="0" lang="en-US" altLang="zh-CN" sz="1600" b="1"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 name="标题 2">
            <a:extLst>
              <a:ext uri="{FF2B5EF4-FFF2-40B4-BE49-F238E27FC236}">
                <a16:creationId xmlns:a16="http://schemas.microsoft.com/office/drawing/2014/main" id="{3693E930-7DD1-9EED-CC28-B755FE9DF638}"/>
              </a:ext>
            </a:extLst>
          </p:cNvPr>
          <p:cNvSpPr>
            <a:spLocks noGrp="1"/>
          </p:cNvSpPr>
          <p:nvPr>
            <p:ph type="title"/>
          </p:nvPr>
        </p:nvSpPr>
        <p:spPr/>
        <p:txBody>
          <a:bodyPr/>
          <a:lstStyle/>
          <a:p>
            <a:r>
              <a:rPr lang="en-US" altLang="zh-CN" dirty="0"/>
              <a:t>Map</a:t>
            </a:r>
            <a:r>
              <a:rPr lang="zh-CN" altLang="en-US" dirty="0"/>
              <a:t>集合</a:t>
            </a:r>
          </a:p>
        </p:txBody>
      </p:sp>
      <p:pic>
        <p:nvPicPr>
          <p:cNvPr id="9" name="table">
            <a:extLst>
              <a:ext uri="{FF2B5EF4-FFF2-40B4-BE49-F238E27FC236}">
                <a16:creationId xmlns:a16="http://schemas.microsoft.com/office/drawing/2014/main" id="{3E9CABCC-B384-A5D2-F9C3-3B0059AC8319}"/>
              </a:ext>
            </a:extLst>
          </p:cNvPr>
          <p:cNvPicPr>
            <a:picLocks noChangeAspect="1"/>
          </p:cNvPicPr>
          <p:nvPr/>
        </p:nvPicPr>
        <p:blipFill>
          <a:blip r:embed="rId3"/>
          <a:stretch>
            <a:fillRect/>
          </a:stretch>
        </p:blipFill>
        <p:spPr>
          <a:xfrm>
            <a:off x="8188026" y="4585401"/>
            <a:ext cx="3238268" cy="1937396"/>
          </a:xfrm>
          <a:prstGeom prst="rect">
            <a:avLst/>
          </a:prstGeom>
        </p:spPr>
      </p:pic>
    </p:spTree>
    <p:extLst>
      <p:ext uri="{BB962C8B-B14F-4D97-AF65-F5344CB8AC3E}">
        <p14:creationId xmlns:p14="http://schemas.microsoft.com/office/powerpoint/2010/main" val="38546842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800" decel="100000"/>
                                        <p:tgtEl>
                                          <p:spTgt spid="9"/>
                                        </p:tgtEl>
                                      </p:cBhvr>
                                    </p:animEffect>
                                    <p:anim calcmode="lin" valueType="num">
                                      <p:cBhvr>
                                        <p:cTn id="18" dur="800" decel="100000" fill="hold"/>
                                        <p:tgtEl>
                                          <p:spTgt spid="9"/>
                                        </p:tgtEl>
                                        <p:attrNameLst>
                                          <p:attrName>style.rotation</p:attrName>
                                        </p:attrNameLst>
                                      </p:cBhvr>
                                      <p:tavLst>
                                        <p:tav tm="0">
                                          <p:val>
                                            <p:fltVal val="-90"/>
                                          </p:val>
                                        </p:tav>
                                        <p:tav tm="100000">
                                          <p:val>
                                            <p:fltVal val="0"/>
                                          </p:val>
                                        </p:tav>
                                      </p:tavLst>
                                    </p:anim>
                                    <p:anim calcmode="lin" valueType="num">
                                      <p:cBhvr>
                                        <p:cTn id="19" dur="800" decel="100000" fill="hold"/>
                                        <p:tgtEl>
                                          <p:spTgt spid="9"/>
                                        </p:tgtEl>
                                        <p:attrNameLst>
                                          <p:attrName>ppt_x</p:attrName>
                                        </p:attrNameLst>
                                      </p:cBhvr>
                                      <p:tavLst>
                                        <p:tav tm="0">
                                          <p:val>
                                            <p:strVal val="#ppt_x+0.4"/>
                                          </p:val>
                                        </p:tav>
                                        <p:tav tm="100000">
                                          <p:val>
                                            <p:strVal val="#ppt_x-0.05"/>
                                          </p:val>
                                        </p:tav>
                                      </p:tavLst>
                                    </p:anim>
                                    <p:anim calcmode="lin" valueType="num">
                                      <p:cBhvr>
                                        <p:cTn id="20" dur="800" decel="100000" fill="hold"/>
                                        <p:tgtEl>
                                          <p:spTgt spid="9"/>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9"/>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9"/>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animEffect transition="in" filter="fade">
                                      <p:cBhvr>
                                        <p:cTn id="27" dur="500"/>
                                        <p:tgtEl>
                                          <p:spTgt spid="1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
                                            <p:txEl>
                                              <p:pRg st="3" end="3"/>
                                            </p:txEl>
                                          </p:spTgt>
                                        </p:tgtEl>
                                        <p:attrNameLst>
                                          <p:attrName>style.visibility</p:attrName>
                                        </p:attrNameLst>
                                      </p:cBhvr>
                                      <p:to>
                                        <p:strVal val="visible"/>
                                      </p:to>
                                    </p:set>
                                    <p:animEffect transition="in" filter="fade">
                                      <p:cBhvr>
                                        <p:cTn id="32" dur="500"/>
                                        <p:tgtEl>
                                          <p:spTgt spid="12">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xEl>
                                              <p:pRg st="4" end="4"/>
                                            </p:txEl>
                                          </p:spTgt>
                                        </p:tgtEl>
                                        <p:attrNameLst>
                                          <p:attrName>style.visibility</p:attrName>
                                        </p:attrNameLst>
                                      </p:cBhvr>
                                      <p:to>
                                        <p:strVal val="visible"/>
                                      </p:to>
                                    </p:set>
                                    <p:animEffect transition="in" filter="fade">
                                      <p:cBhvr>
                                        <p:cTn id="37" dur="500"/>
                                        <p:tgtEl>
                                          <p:spTgt spid="1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
                                            <p:txEl>
                                              <p:pRg st="5" end="5"/>
                                            </p:txEl>
                                          </p:spTgt>
                                        </p:tgtEl>
                                        <p:attrNameLst>
                                          <p:attrName>style.visibility</p:attrName>
                                        </p:attrNameLst>
                                      </p:cBhvr>
                                      <p:to>
                                        <p:strVal val="visible"/>
                                      </p:to>
                                    </p:set>
                                    <p:animEffect transition="in" filter="fade">
                                      <p:cBhvr>
                                        <p:cTn id="42"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99F0F3E9-20E0-9139-5324-25F6B379A2D7}"/>
              </a:ext>
            </a:extLst>
          </p:cNvPr>
          <p:cNvSpPr/>
          <p:nvPr/>
        </p:nvSpPr>
        <p:spPr>
          <a:xfrm>
            <a:off x="1360225" y="2996827"/>
            <a:ext cx="1491612" cy="530454"/>
          </a:xfrm>
          <a:prstGeom prst="roundRect">
            <a:avLst/>
          </a:prstGeom>
          <a:solidFill>
            <a:schemeClr val="accent6">
              <a:lumMod val="40000"/>
              <a:lumOff val="6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err="1">
                <a:latin typeface="杨任东竹石体-Bold" panose="02000000000000000000" pitchFamily="2" charset="-122"/>
                <a:ea typeface="杨任东竹石体-Bold" panose="02000000000000000000" pitchFamily="2" charset="-122"/>
              </a:rPr>
              <a:t>TreeMap</a:t>
            </a:r>
            <a:endParaRPr lang="zh-CN" altLang="en-US" sz="2000" dirty="0">
              <a:latin typeface="杨任东竹石体-Bold" panose="02000000000000000000" pitchFamily="2" charset="-122"/>
              <a:ea typeface="杨任东竹石体-Bold" panose="02000000000000000000" pitchFamily="2" charset="-122"/>
            </a:endParaRPr>
          </a:p>
        </p:txBody>
      </p:sp>
      <p:sp>
        <p:nvSpPr>
          <p:cNvPr id="4" name="矩形: 圆角 3">
            <a:extLst>
              <a:ext uri="{FF2B5EF4-FFF2-40B4-BE49-F238E27FC236}">
                <a16:creationId xmlns:a16="http://schemas.microsoft.com/office/drawing/2014/main" id="{B379E970-6735-48B9-69DE-62CA02B56754}"/>
              </a:ext>
            </a:extLst>
          </p:cNvPr>
          <p:cNvSpPr/>
          <p:nvPr/>
        </p:nvSpPr>
        <p:spPr>
          <a:xfrm>
            <a:off x="1360225" y="4193785"/>
            <a:ext cx="1491612" cy="530454"/>
          </a:xfrm>
          <a:prstGeom prst="roundRect">
            <a:avLst/>
          </a:prstGeom>
          <a:solidFill>
            <a:srgbClr val="C00000"/>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a:latin typeface="杨任东竹石体-Bold" panose="02000000000000000000" pitchFamily="2" charset="-122"/>
                <a:ea typeface="杨任东竹石体-Bold" panose="02000000000000000000" pitchFamily="2" charset="-122"/>
              </a:rPr>
              <a:t>HashMap</a:t>
            </a:r>
            <a:endParaRPr lang="zh-CN" altLang="en-US" sz="2000" dirty="0">
              <a:latin typeface="杨任东竹石体-Bold" panose="02000000000000000000" pitchFamily="2" charset="-122"/>
              <a:ea typeface="杨任东竹石体-Bold" panose="02000000000000000000" pitchFamily="2" charset="-122"/>
            </a:endParaRPr>
          </a:p>
        </p:txBody>
      </p:sp>
      <p:sp>
        <p:nvSpPr>
          <p:cNvPr id="5" name="矩形: 圆角 4">
            <a:extLst>
              <a:ext uri="{FF2B5EF4-FFF2-40B4-BE49-F238E27FC236}">
                <a16:creationId xmlns:a16="http://schemas.microsoft.com/office/drawing/2014/main" id="{8CF17F09-8F4D-4D22-31EA-8F0513DB5D5A}"/>
              </a:ext>
            </a:extLst>
          </p:cNvPr>
          <p:cNvSpPr/>
          <p:nvPr/>
        </p:nvSpPr>
        <p:spPr>
          <a:xfrm>
            <a:off x="1285737" y="5363264"/>
            <a:ext cx="1823080" cy="530454"/>
          </a:xfrm>
          <a:prstGeom prst="roundRect">
            <a:avLst/>
          </a:prstGeom>
          <a:solidFill>
            <a:schemeClr val="accent3">
              <a:lumMod val="60000"/>
              <a:lumOff val="4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err="1">
                <a:latin typeface="杨任东竹石体-Bold" panose="02000000000000000000" pitchFamily="2" charset="-122"/>
                <a:ea typeface="杨任东竹石体-Bold" panose="02000000000000000000" pitchFamily="2" charset="-122"/>
              </a:rPr>
              <a:t>LinkedHashMap</a:t>
            </a:r>
            <a:endParaRPr lang="zh-CN" altLang="en-US" sz="2000" dirty="0">
              <a:latin typeface="杨任东竹石体-Bold" panose="02000000000000000000" pitchFamily="2" charset="-122"/>
              <a:ea typeface="杨任东竹石体-Bold" panose="02000000000000000000" pitchFamily="2" charset="-122"/>
            </a:endParaRPr>
          </a:p>
        </p:txBody>
      </p:sp>
      <p:sp>
        <p:nvSpPr>
          <p:cNvPr id="6" name="矩形: 圆角 5">
            <a:extLst>
              <a:ext uri="{FF2B5EF4-FFF2-40B4-BE49-F238E27FC236}">
                <a16:creationId xmlns:a16="http://schemas.microsoft.com/office/drawing/2014/main" id="{761A5A1E-F942-127C-5B2D-1ECC6F3A4A49}"/>
              </a:ext>
            </a:extLst>
          </p:cNvPr>
          <p:cNvSpPr/>
          <p:nvPr/>
        </p:nvSpPr>
        <p:spPr>
          <a:xfrm>
            <a:off x="431278" y="1173514"/>
            <a:ext cx="3572698" cy="5381985"/>
          </a:xfrm>
          <a:custGeom>
            <a:avLst/>
            <a:gdLst>
              <a:gd name="connsiteX0" fmla="*/ 0 w 3572698"/>
              <a:gd name="connsiteY0" fmla="*/ 595462 h 5381985"/>
              <a:gd name="connsiteX1" fmla="*/ 595462 w 3572698"/>
              <a:gd name="connsiteY1" fmla="*/ 0 h 5381985"/>
              <a:gd name="connsiteX2" fmla="*/ 1238541 w 3572698"/>
              <a:gd name="connsiteY2" fmla="*/ 0 h 5381985"/>
              <a:gd name="connsiteX3" fmla="*/ 1810167 w 3572698"/>
              <a:gd name="connsiteY3" fmla="*/ 0 h 5381985"/>
              <a:gd name="connsiteX4" fmla="*/ 2357975 w 3572698"/>
              <a:gd name="connsiteY4" fmla="*/ 0 h 5381985"/>
              <a:gd name="connsiteX5" fmla="*/ 2977236 w 3572698"/>
              <a:gd name="connsiteY5" fmla="*/ 0 h 5381985"/>
              <a:gd name="connsiteX6" fmla="*/ 3572698 w 3572698"/>
              <a:gd name="connsiteY6" fmla="*/ 595462 h 5381985"/>
              <a:gd name="connsiteX7" fmla="*/ 3572698 w 3572698"/>
              <a:gd name="connsiteY7" fmla="*/ 1293972 h 5381985"/>
              <a:gd name="connsiteX8" fmla="*/ 3572698 w 3572698"/>
              <a:gd name="connsiteY8" fmla="*/ 2076304 h 5381985"/>
              <a:gd name="connsiteX9" fmla="*/ 3572698 w 3572698"/>
              <a:gd name="connsiteY9" fmla="*/ 2649082 h 5381985"/>
              <a:gd name="connsiteX10" fmla="*/ 3572698 w 3572698"/>
              <a:gd name="connsiteY10" fmla="*/ 3347592 h 5381985"/>
              <a:gd name="connsiteX11" fmla="*/ 3572698 w 3572698"/>
              <a:gd name="connsiteY11" fmla="*/ 4046102 h 5381985"/>
              <a:gd name="connsiteX12" fmla="*/ 3572698 w 3572698"/>
              <a:gd name="connsiteY12" fmla="*/ 4786523 h 5381985"/>
              <a:gd name="connsiteX13" fmla="*/ 2977236 w 3572698"/>
              <a:gd name="connsiteY13" fmla="*/ 5381985 h 5381985"/>
              <a:gd name="connsiteX14" fmla="*/ 2381793 w 3572698"/>
              <a:gd name="connsiteY14" fmla="*/ 5381985 h 5381985"/>
              <a:gd name="connsiteX15" fmla="*/ 1786349 w 3572698"/>
              <a:gd name="connsiteY15" fmla="*/ 5381985 h 5381985"/>
              <a:gd name="connsiteX16" fmla="*/ 1143270 w 3572698"/>
              <a:gd name="connsiteY16" fmla="*/ 5381985 h 5381985"/>
              <a:gd name="connsiteX17" fmla="*/ 595462 w 3572698"/>
              <a:gd name="connsiteY17" fmla="*/ 5381985 h 5381985"/>
              <a:gd name="connsiteX18" fmla="*/ 0 w 3572698"/>
              <a:gd name="connsiteY18" fmla="*/ 4786523 h 5381985"/>
              <a:gd name="connsiteX19" fmla="*/ 0 w 3572698"/>
              <a:gd name="connsiteY19" fmla="*/ 4171834 h 5381985"/>
              <a:gd name="connsiteX20" fmla="*/ 0 w 3572698"/>
              <a:gd name="connsiteY20" fmla="*/ 3473324 h 5381985"/>
              <a:gd name="connsiteX21" fmla="*/ 0 w 3572698"/>
              <a:gd name="connsiteY21" fmla="*/ 2858635 h 5381985"/>
              <a:gd name="connsiteX22" fmla="*/ 0 w 3572698"/>
              <a:gd name="connsiteY22" fmla="*/ 2160125 h 5381985"/>
              <a:gd name="connsiteX23" fmla="*/ 0 w 3572698"/>
              <a:gd name="connsiteY23" fmla="*/ 1587346 h 5381985"/>
              <a:gd name="connsiteX24" fmla="*/ 0 w 3572698"/>
              <a:gd name="connsiteY24" fmla="*/ 595462 h 5381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72698" h="5381985" extrusionOk="0">
                <a:moveTo>
                  <a:pt x="0" y="595462"/>
                </a:moveTo>
                <a:cubicBezTo>
                  <a:pt x="-62866" y="227820"/>
                  <a:pt x="238531" y="10534"/>
                  <a:pt x="595462" y="0"/>
                </a:cubicBezTo>
                <a:cubicBezTo>
                  <a:pt x="882775" y="-30026"/>
                  <a:pt x="957294" y="-29626"/>
                  <a:pt x="1238541" y="0"/>
                </a:cubicBezTo>
                <a:cubicBezTo>
                  <a:pt x="1519788" y="29626"/>
                  <a:pt x="1692490" y="-26544"/>
                  <a:pt x="1810167" y="0"/>
                </a:cubicBezTo>
                <a:cubicBezTo>
                  <a:pt x="1927844" y="26544"/>
                  <a:pt x="2091563" y="-7694"/>
                  <a:pt x="2357975" y="0"/>
                </a:cubicBezTo>
                <a:cubicBezTo>
                  <a:pt x="2624387" y="7694"/>
                  <a:pt x="2742884" y="2125"/>
                  <a:pt x="2977236" y="0"/>
                </a:cubicBezTo>
                <a:cubicBezTo>
                  <a:pt x="3312542" y="-13256"/>
                  <a:pt x="3561749" y="264920"/>
                  <a:pt x="3572698" y="595462"/>
                </a:cubicBezTo>
                <a:cubicBezTo>
                  <a:pt x="3576082" y="894213"/>
                  <a:pt x="3548758" y="1131890"/>
                  <a:pt x="3572698" y="1293972"/>
                </a:cubicBezTo>
                <a:cubicBezTo>
                  <a:pt x="3596639" y="1456054"/>
                  <a:pt x="3561724" y="1908347"/>
                  <a:pt x="3572698" y="2076304"/>
                </a:cubicBezTo>
                <a:cubicBezTo>
                  <a:pt x="3583672" y="2244261"/>
                  <a:pt x="3577122" y="2384621"/>
                  <a:pt x="3572698" y="2649082"/>
                </a:cubicBezTo>
                <a:cubicBezTo>
                  <a:pt x="3568274" y="2913543"/>
                  <a:pt x="3587699" y="3164550"/>
                  <a:pt x="3572698" y="3347592"/>
                </a:cubicBezTo>
                <a:cubicBezTo>
                  <a:pt x="3557698" y="3530634"/>
                  <a:pt x="3577746" y="3887095"/>
                  <a:pt x="3572698" y="4046102"/>
                </a:cubicBezTo>
                <a:cubicBezTo>
                  <a:pt x="3567651" y="4205109"/>
                  <a:pt x="3573370" y="4421555"/>
                  <a:pt x="3572698" y="4786523"/>
                </a:cubicBezTo>
                <a:cubicBezTo>
                  <a:pt x="3615001" y="5167206"/>
                  <a:pt x="3342937" y="5349733"/>
                  <a:pt x="2977236" y="5381985"/>
                </a:cubicBezTo>
                <a:cubicBezTo>
                  <a:pt x="2741032" y="5377966"/>
                  <a:pt x="2540494" y="5368616"/>
                  <a:pt x="2381793" y="5381985"/>
                </a:cubicBezTo>
                <a:cubicBezTo>
                  <a:pt x="2223092" y="5395354"/>
                  <a:pt x="1957219" y="5394336"/>
                  <a:pt x="1786349" y="5381985"/>
                </a:cubicBezTo>
                <a:cubicBezTo>
                  <a:pt x="1615479" y="5369634"/>
                  <a:pt x="1310198" y="5368162"/>
                  <a:pt x="1143270" y="5381985"/>
                </a:cubicBezTo>
                <a:cubicBezTo>
                  <a:pt x="976342" y="5395808"/>
                  <a:pt x="743715" y="5365588"/>
                  <a:pt x="595462" y="5381985"/>
                </a:cubicBezTo>
                <a:cubicBezTo>
                  <a:pt x="248430" y="5414468"/>
                  <a:pt x="22512" y="5132116"/>
                  <a:pt x="0" y="4786523"/>
                </a:cubicBezTo>
                <a:cubicBezTo>
                  <a:pt x="-19748" y="4534801"/>
                  <a:pt x="26873" y="4443154"/>
                  <a:pt x="0" y="4171834"/>
                </a:cubicBezTo>
                <a:cubicBezTo>
                  <a:pt x="-26873" y="3900514"/>
                  <a:pt x="-22344" y="3782403"/>
                  <a:pt x="0" y="3473324"/>
                </a:cubicBezTo>
                <a:cubicBezTo>
                  <a:pt x="22344" y="3164245"/>
                  <a:pt x="-16686" y="3162249"/>
                  <a:pt x="0" y="2858635"/>
                </a:cubicBezTo>
                <a:cubicBezTo>
                  <a:pt x="16686" y="2555021"/>
                  <a:pt x="-11225" y="2479578"/>
                  <a:pt x="0" y="2160125"/>
                </a:cubicBezTo>
                <a:cubicBezTo>
                  <a:pt x="11225" y="1840672"/>
                  <a:pt x="-10672" y="1865335"/>
                  <a:pt x="0" y="1587346"/>
                </a:cubicBezTo>
                <a:cubicBezTo>
                  <a:pt x="10672" y="1309357"/>
                  <a:pt x="6260" y="983270"/>
                  <a:pt x="0" y="595462"/>
                </a:cubicBezTo>
                <a:close/>
              </a:path>
            </a:pathLst>
          </a:custGeom>
          <a:noFill/>
          <a:ln w="25400">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DE4EE2C7-5CE7-1A23-EF68-53DEE7CD9250}"/>
              </a:ext>
            </a:extLst>
          </p:cNvPr>
          <p:cNvSpPr/>
          <p:nvPr/>
        </p:nvSpPr>
        <p:spPr>
          <a:xfrm>
            <a:off x="837512" y="1844305"/>
            <a:ext cx="2798797" cy="830997"/>
          </a:xfrm>
          <a:prstGeom prst="rect">
            <a:avLst/>
          </a:prstGeom>
          <a:noFill/>
        </p:spPr>
        <p:txBody>
          <a:bodyPr wrap="square" lIns="91440" tIns="45720" rIns="91440" bIns="45720">
            <a:spAutoFit/>
          </a:bodyPr>
          <a:lstStyle/>
          <a:p>
            <a:pPr algn="ctr"/>
            <a:r>
              <a:rPr lang="en-US" altLang="zh-CN" sz="4800" b="1" dirty="0">
                <a:ln w="22225">
                  <a:solidFill>
                    <a:schemeClr val="accent2"/>
                  </a:solidFill>
                  <a:prstDash val="solid"/>
                </a:ln>
                <a:solidFill>
                  <a:schemeClr val="accent2">
                    <a:lumMod val="40000"/>
                    <a:lumOff val="60000"/>
                  </a:schemeClr>
                </a:solidFill>
                <a:latin typeface="杨任东竹石体-Bold" panose="02000000000000000000" pitchFamily="2" charset="-122"/>
                <a:ea typeface="杨任东竹石体-Bold" panose="02000000000000000000" pitchFamily="2" charset="-122"/>
              </a:rPr>
              <a:t>Map</a:t>
            </a:r>
            <a:r>
              <a:rPr lang="en-US" altLang="zh-CN" sz="4800" b="1" cap="none" spc="0" dirty="0">
                <a:ln w="22225">
                  <a:solidFill>
                    <a:schemeClr val="accent2"/>
                  </a:solidFill>
                  <a:prstDash val="solid"/>
                </a:ln>
                <a:solidFill>
                  <a:schemeClr val="accent2">
                    <a:lumMod val="40000"/>
                    <a:lumOff val="60000"/>
                  </a:schemeClr>
                </a:solidFill>
                <a:effectLst/>
                <a:latin typeface="杨任东竹石体-Bold" panose="02000000000000000000" pitchFamily="2" charset="-122"/>
                <a:ea typeface="杨任东竹石体-Bold" panose="02000000000000000000" pitchFamily="2" charset="-122"/>
              </a:rPr>
              <a:t> </a:t>
            </a:r>
            <a:r>
              <a:rPr lang="zh-CN" altLang="en-US" sz="4800" b="1" cap="none" spc="0" dirty="0">
                <a:ln w="22225">
                  <a:solidFill>
                    <a:schemeClr val="accent2"/>
                  </a:solidFill>
                  <a:prstDash val="solid"/>
                </a:ln>
                <a:solidFill>
                  <a:schemeClr val="accent2">
                    <a:lumMod val="40000"/>
                    <a:lumOff val="60000"/>
                  </a:schemeClr>
                </a:solidFill>
                <a:effectLst/>
                <a:latin typeface="杨任东竹石体-Bold" panose="02000000000000000000" pitchFamily="2" charset="-122"/>
                <a:ea typeface="杨任东竹石体-Bold" panose="02000000000000000000" pitchFamily="2" charset="-122"/>
              </a:rPr>
              <a:t>接口</a:t>
            </a:r>
          </a:p>
        </p:txBody>
      </p:sp>
      <p:pic>
        <p:nvPicPr>
          <p:cNvPr id="3" name="图片 2">
            <a:extLst>
              <a:ext uri="{FF2B5EF4-FFF2-40B4-BE49-F238E27FC236}">
                <a16:creationId xmlns:a16="http://schemas.microsoft.com/office/drawing/2014/main" id="{FC16712A-F3AE-F3CC-C2D7-D3F974E6FDC8}"/>
              </a:ext>
            </a:extLst>
          </p:cNvPr>
          <p:cNvPicPr>
            <a:picLocks noChangeAspect="1"/>
          </p:cNvPicPr>
          <p:nvPr/>
        </p:nvPicPr>
        <p:blipFill>
          <a:blip r:embed="rId3"/>
          <a:stretch>
            <a:fillRect/>
          </a:stretch>
        </p:blipFill>
        <p:spPr>
          <a:xfrm>
            <a:off x="4565256" y="955585"/>
            <a:ext cx="4759249" cy="5715301"/>
          </a:xfrm>
          <a:prstGeom prst="rect">
            <a:avLst/>
          </a:prstGeom>
        </p:spPr>
      </p:pic>
      <p:sp>
        <p:nvSpPr>
          <p:cNvPr id="8" name="标题 7">
            <a:extLst>
              <a:ext uri="{FF2B5EF4-FFF2-40B4-BE49-F238E27FC236}">
                <a16:creationId xmlns:a16="http://schemas.microsoft.com/office/drawing/2014/main" id="{A63E43BA-F446-48C8-6D06-09DFD1D9B2A6}"/>
              </a:ext>
            </a:extLst>
          </p:cNvPr>
          <p:cNvSpPr>
            <a:spLocks noGrp="1"/>
          </p:cNvSpPr>
          <p:nvPr>
            <p:ph type="title"/>
          </p:nvPr>
        </p:nvSpPr>
        <p:spPr/>
        <p:txBody>
          <a:bodyPr/>
          <a:lstStyle/>
          <a:p>
            <a:r>
              <a:rPr lang="en-US" altLang="zh-CN" dirty="0"/>
              <a:t>Map</a:t>
            </a:r>
            <a:r>
              <a:rPr lang="zh-CN" altLang="en-US" dirty="0"/>
              <a:t>集合</a:t>
            </a:r>
          </a:p>
        </p:txBody>
      </p:sp>
    </p:spTree>
    <p:extLst>
      <p:ext uri="{BB962C8B-B14F-4D97-AF65-F5344CB8AC3E}">
        <p14:creationId xmlns:p14="http://schemas.microsoft.com/office/powerpoint/2010/main" val="404809939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C16712A-F3AE-F3CC-C2D7-D3F974E6FDC8}"/>
              </a:ext>
            </a:extLst>
          </p:cNvPr>
          <p:cNvPicPr>
            <a:picLocks noChangeAspect="1"/>
          </p:cNvPicPr>
          <p:nvPr/>
        </p:nvPicPr>
        <p:blipFill>
          <a:blip r:embed="rId3"/>
          <a:stretch>
            <a:fillRect/>
          </a:stretch>
        </p:blipFill>
        <p:spPr>
          <a:xfrm>
            <a:off x="496839" y="922455"/>
            <a:ext cx="4759249" cy="5715301"/>
          </a:xfrm>
          <a:prstGeom prst="rect">
            <a:avLst/>
          </a:prstGeom>
        </p:spPr>
      </p:pic>
      <p:sp>
        <p:nvSpPr>
          <p:cNvPr id="8" name="文本框 7">
            <a:extLst>
              <a:ext uri="{FF2B5EF4-FFF2-40B4-BE49-F238E27FC236}">
                <a16:creationId xmlns:a16="http://schemas.microsoft.com/office/drawing/2014/main" id="{237471D2-6FD8-1830-98C4-BEF66B6C8D01}"/>
              </a:ext>
            </a:extLst>
          </p:cNvPr>
          <p:cNvSpPr txBox="1"/>
          <p:nvPr/>
        </p:nvSpPr>
        <p:spPr>
          <a:xfrm>
            <a:off x="5734305" y="3167390"/>
            <a:ext cx="6159770" cy="523220"/>
          </a:xfrm>
          <a:prstGeom prst="rect">
            <a:avLst/>
          </a:prstGeom>
          <a:noFill/>
          <a:ln>
            <a:noFill/>
          </a:ln>
        </p:spPr>
        <p:txBody>
          <a:bodyPr wrap="square" rtlCol="0">
            <a:spAutoFit/>
          </a:bodyPr>
          <a:lstStyle/>
          <a:p>
            <a:pPr algn="l"/>
            <a:r>
              <a:rPr kumimoji="0" lang="en-US" altLang="zh-CN" sz="2800" b="0" i="0" u="none" strike="noStrike" cap="none" normalizeH="0" baseline="0" dirty="0">
                <a:ln>
                  <a:noFill/>
                </a:ln>
                <a:solidFill>
                  <a:srgbClr val="C00000"/>
                </a:solidFill>
                <a:effectLst/>
                <a:latin typeface="杨任东竹石体-Bold" panose="02000000000000000000" pitchFamily="2" charset="-122"/>
                <a:ea typeface="杨任东竹石体-Bold" panose="02000000000000000000" pitchFamily="2" charset="-122"/>
              </a:rPr>
              <a:t>Map &lt;</a:t>
            </a:r>
            <a:r>
              <a:rPr lang="zh-CN" altLang="en-US" sz="2800" dirty="0">
                <a:solidFill>
                  <a:srgbClr val="C00000"/>
                </a:solidFill>
                <a:latin typeface="杨任东竹石体-Bold" panose="02000000000000000000" pitchFamily="2" charset="-122"/>
                <a:ea typeface="杨任东竹石体-Bold" panose="02000000000000000000" pitchFamily="2" charset="-122"/>
              </a:rPr>
              <a:t>店铺对象，</a:t>
            </a:r>
            <a:r>
              <a:rPr lang="en-US" altLang="zh-CN" sz="2800" dirty="0">
                <a:solidFill>
                  <a:srgbClr val="C00000"/>
                </a:solidFill>
                <a:latin typeface="杨任东竹石体-Bold" panose="02000000000000000000" pitchFamily="2" charset="-122"/>
                <a:ea typeface="杨任东竹石体-Bold" panose="02000000000000000000" pitchFamily="2" charset="-122"/>
              </a:rPr>
              <a:t>List</a:t>
            </a:r>
            <a:r>
              <a:rPr lang="zh-CN" altLang="en-US" sz="2800" dirty="0">
                <a:solidFill>
                  <a:srgbClr val="C00000"/>
                </a:solidFill>
                <a:latin typeface="杨任东竹石体-Bold" panose="02000000000000000000" pitchFamily="2" charset="-122"/>
                <a:ea typeface="杨任东竹石体-Bold" panose="02000000000000000000" pitchFamily="2" charset="-122"/>
              </a:rPr>
              <a:t>集合</a:t>
            </a:r>
            <a:r>
              <a:rPr lang="en-US" altLang="zh-CN" sz="2800" dirty="0">
                <a:solidFill>
                  <a:srgbClr val="C00000"/>
                </a:solidFill>
                <a:latin typeface="杨任东竹石体-Bold" panose="02000000000000000000" pitchFamily="2" charset="-122"/>
                <a:ea typeface="杨任东竹石体-Bold" panose="02000000000000000000" pitchFamily="2" charset="-122"/>
              </a:rPr>
              <a:t>&lt;</a:t>
            </a:r>
            <a:r>
              <a:rPr lang="zh-CN" altLang="en-US" sz="2800" dirty="0">
                <a:solidFill>
                  <a:srgbClr val="C00000"/>
                </a:solidFill>
                <a:latin typeface="杨任东竹石体-Bold" panose="02000000000000000000" pitchFamily="2" charset="-122"/>
                <a:ea typeface="杨任东竹石体-Bold" panose="02000000000000000000" pitchFamily="2" charset="-122"/>
              </a:rPr>
              <a:t>商品对象</a:t>
            </a:r>
            <a:r>
              <a:rPr lang="en-US" altLang="zh-CN" sz="2800" dirty="0">
                <a:solidFill>
                  <a:srgbClr val="C00000"/>
                </a:solidFill>
                <a:latin typeface="杨任东竹石体-Bold" panose="02000000000000000000" pitchFamily="2" charset="-122"/>
                <a:ea typeface="杨任东竹石体-Bold" panose="02000000000000000000" pitchFamily="2" charset="-122"/>
              </a:rPr>
              <a:t>&gt;</a:t>
            </a:r>
            <a:r>
              <a:rPr kumimoji="0" lang="en-US" altLang="zh-CN" sz="2800" b="0" i="0" u="none" strike="noStrike" cap="none" normalizeH="0" baseline="0" dirty="0">
                <a:ln>
                  <a:noFill/>
                </a:ln>
                <a:solidFill>
                  <a:srgbClr val="C00000"/>
                </a:solidFill>
                <a:effectLst/>
                <a:latin typeface="杨任东竹石体-Bold" panose="02000000000000000000" pitchFamily="2" charset="-122"/>
                <a:ea typeface="杨任东竹石体-Bold" panose="02000000000000000000" pitchFamily="2" charset="-122"/>
              </a:rPr>
              <a:t>&gt;</a:t>
            </a:r>
            <a:endParaRPr kumimoji="0" lang="zh-CN" altLang="en-US" sz="2800" b="0" i="0" u="none" strike="noStrike" cap="none" normalizeH="0" baseline="0" dirty="0">
              <a:ln>
                <a:noFill/>
              </a:ln>
              <a:solidFill>
                <a:srgbClr val="C00000"/>
              </a:solidFill>
              <a:effectLst/>
              <a:latin typeface="杨任东竹石体-Bold" panose="02000000000000000000" pitchFamily="2" charset="-122"/>
              <a:ea typeface="杨任东竹石体-Bold" panose="02000000000000000000" pitchFamily="2" charset="-122"/>
            </a:endParaRPr>
          </a:p>
        </p:txBody>
      </p:sp>
      <p:sp>
        <p:nvSpPr>
          <p:cNvPr id="2" name="标题 1">
            <a:extLst>
              <a:ext uri="{FF2B5EF4-FFF2-40B4-BE49-F238E27FC236}">
                <a16:creationId xmlns:a16="http://schemas.microsoft.com/office/drawing/2014/main" id="{A72E9143-98B2-39E4-5320-2BE323F76C74}"/>
              </a:ext>
            </a:extLst>
          </p:cNvPr>
          <p:cNvSpPr>
            <a:spLocks noGrp="1"/>
          </p:cNvSpPr>
          <p:nvPr>
            <p:ph type="title"/>
          </p:nvPr>
        </p:nvSpPr>
        <p:spPr/>
        <p:txBody>
          <a:bodyPr/>
          <a:lstStyle/>
          <a:p>
            <a:r>
              <a:rPr lang="en-US" altLang="zh-CN" dirty="0"/>
              <a:t>Map</a:t>
            </a:r>
            <a:r>
              <a:rPr lang="zh-CN" altLang="en-US" dirty="0"/>
              <a:t>集合</a:t>
            </a:r>
          </a:p>
        </p:txBody>
      </p:sp>
      <p:grpSp>
        <p:nvGrpSpPr>
          <p:cNvPr id="4" name="组合 3">
            <a:extLst>
              <a:ext uri="{FF2B5EF4-FFF2-40B4-BE49-F238E27FC236}">
                <a16:creationId xmlns:a16="http://schemas.microsoft.com/office/drawing/2014/main" id="{BAD93646-3B0A-5D72-E926-9DB999DA4A4F}"/>
              </a:ext>
            </a:extLst>
          </p:cNvPr>
          <p:cNvGrpSpPr/>
          <p:nvPr/>
        </p:nvGrpSpPr>
        <p:grpSpPr>
          <a:xfrm>
            <a:off x="5602011" y="4375234"/>
            <a:ext cx="6188606" cy="594560"/>
            <a:chOff x="3353164" y="5731266"/>
            <a:chExt cx="7235017" cy="594560"/>
          </a:xfrm>
        </p:grpSpPr>
        <p:grpSp>
          <p:nvGrpSpPr>
            <p:cNvPr id="5" name="组合 4">
              <a:extLst>
                <a:ext uri="{FF2B5EF4-FFF2-40B4-BE49-F238E27FC236}">
                  <a16:creationId xmlns:a16="http://schemas.microsoft.com/office/drawing/2014/main" id="{C1E18A79-BA9B-06B0-32E9-0155A13167BE}"/>
                </a:ext>
              </a:extLst>
            </p:cNvPr>
            <p:cNvGrpSpPr/>
            <p:nvPr/>
          </p:nvGrpSpPr>
          <p:grpSpPr>
            <a:xfrm>
              <a:off x="3353164" y="5731266"/>
              <a:ext cx="7235017" cy="594560"/>
              <a:chOff x="4304043" y="1286668"/>
              <a:chExt cx="10573363" cy="2757793"/>
            </a:xfrm>
            <a:effectLst>
              <a:outerShdw blurRad="381000" dist="254000" dir="8100000" algn="tr" rotWithShape="0">
                <a:prstClr val="black">
                  <a:alpha val="40000"/>
                </a:prstClr>
              </a:outerShdw>
            </a:effectLst>
          </p:grpSpPr>
          <p:sp>
            <p:nvSpPr>
              <p:cNvPr id="7" name="圆角矩形 70">
                <a:extLst>
                  <a:ext uri="{FF2B5EF4-FFF2-40B4-BE49-F238E27FC236}">
                    <a16:creationId xmlns:a16="http://schemas.microsoft.com/office/drawing/2014/main" id="{7325B0F9-549E-02C1-BF91-230F386AD4EB}"/>
                  </a:ext>
                </a:extLst>
              </p:cNvPr>
              <p:cNvSpPr/>
              <p:nvPr/>
            </p:nvSpPr>
            <p:spPr>
              <a:xfrm>
                <a:off x="4304043" y="1286668"/>
                <a:ext cx="3978026"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Arial"/>
                  <a:ea typeface="微软雅黑"/>
                  <a:cs typeface="+mn-cs"/>
                </a:endParaRPr>
              </a:p>
            </p:txBody>
          </p:sp>
          <p:sp>
            <p:nvSpPr>
              <p:cNvPr id="9" name="圆角矩形 71">
                <a:extLst>
                  <a:ext uri="{FF2B5EF4-FFF2-40B4-BE49-F238E27FC236}">
                    <a16:creationId xmlns:a16="http://schemas.microsoft.com/office/drawing/2014/main" id="{1BFD530A-0610-FD2B-E749-7B4D78F6C613}"/>
                  </a:ext>
                </a:extLst>
              </p:cNvPr>
              <p:cNvSpPr/>
              <p:nvPr/>
            </p:nvSpPr>
            <p:spPr>
              <a:xfrm>
                <a:off x="4304043" y="1286668"/>
                <a:ext cx="10573363"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Arial"/>
                  <a:ea typeface="微软雅黑"/>
                  <a:cs typeface="+mn-cs"/>
                </a:endParaRPr>
              </a:p>
            </p:txBody>
          </p:sp>
        </p:grpSp>
        <p:sp>
          <p:nvSpPr>
            <p:cNvPr id="6" name="TextBox 69">
              <a:extLst>
                <a:ext uri="{FF2B5EF4-FFF2-40B4-BE49-F238E27FC236}">
                  <a16:creationId xmlns:a16="http://schemas.microsoft.com/office/drawing/2014/main" id="{6F5E2A22-06EC-40D7-77FF-9217223533E4}"/>
                </a:ext>
              </a:extLst>
            </p:cNvPr>
            <p:cNvSpPr txBox="1"/>
            <p:nvPr/>
          </p:nvSpPr>
          <p:spPr>
            <a:xfrm>
              <a:off x="3576285" y="5778222"/>
              <a:ext cx="6753257" cy="427105"/>
            </a:xfrm>
            <a:prstGeom prst="rect">
              <a:avLst/>
            </a:prstGeom>
            <a:noFill/>
          </p:spPr>
          <p:txBody>
            <a:bodyPr wrap="square" rtlCol="0">
              <a:spAutoFit/>
            </a:bodyPr>
            <a:lstStyle/>
            <a:p>
              <a:pPr>
                <a:lnSpc>
                  <a:spcPct val="150000"/>
                </a:lnSpc>
                <a:defRPr/>
              </a:pP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需要存储一一对应的数据时</a:t>
              </a:r>
              <a:r>
                <a:rPr lang="zh-CN" altLang="en-US" sz="1600" b="1"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600" b="1"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就可以考虑使用</a:t>
              </a:r>
              <a:r>
                <a:rPr lang="en-US" altLang="zh-CN" sz="1600" b="1"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Map</a:t>
              </a:r>
              <a:r>
                <a:rPr lang="zh-CN" altLang="en-US" sz="1600" b="1"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集合来做</a:t>
              </a:r>
            </a:p>
          </p:txBody>
        </p:sp>
      </p:grpSp>
    </p:spTree>
    <p:extLst>
      <p:ext uri="{BB962C8B-B14F-4D97-AF65-F5344CB8AC3E}">
        <p14:creationId xmlns:p14="http://schemas.microsoft.com/office/powerpoint/2010/main" val="16229351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7"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900" decel="100000" fill="hold"/>
                                        <p:tgtEl>
                                          <p:spTgt spid="4"/>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C2376910-EE9C-48E0-BAB9-B2F0DE5D3884}"/>
              </a:ext>
            </a:extLst>
          </p:cNvPr>
          <p:cNvSpPr>
            <a:spLocks noGrp="1" noChangeArrowheads="1"/>
          </p:cNvSpPr>
          <p:nvPr>
            <p:ph type="body" sz="quarter" idx="10"/>
          </p:nvPr>
        </p:nvSpPr>
        <p:spPr bwMode="auto">
          <a:xfrm>
            <a:off x="3943009" y="1800299"/>
            <a:ext cx="7402227" cy="3548472"/>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wrap="square" lIns="91440" tIns="45720" rIns="91440" bIns="45720" numCol="1" anchor="ctr" anchorCtr="0" compatLnSpc="1">
            <a:prstTxWarp prst="textNoShape">
              <a:avLst/>
            </a:prstTxWarp>
            <a:spAutoFit/>
          </a:bodyPr>
          <a:lstStyle/>
          <a:p>
            <a:pPr>
              <a:spcBef>
                <a:spcPct val="0"/>
              </a:spcBef>
            </a:pPr>
            <a:r>
              <a:rPr lang="en-US" altLang="zh-CN" dirty="0">
                <a:solidFill>
                  <a:schemeClr val="tx1"/>
                </a:solidFill>
              </a:rPr>
              <a:t>Map</a:t>
            </a:r>
            <a:r>
              <a:rPr lang="zh-CN" altLang="en-US" dirty="0">
                <a:solidFill>
                  <a:schemeClr val="tx1"/>
                </a:solidFill>
              </a:rPr>
              <a:t>集合</a:t>
            </a:r>
            <a:r>
              <a:rPr lang="zh-CN" altLang="en-US" dirty="0"/>
              <a:t>是什么？什么时候可以考虑使用</a:t>
            </a:r>
            <a:r>
              <a:rPr lang="en-US" altLang="zh-CN" dirty="0"/>
              <a:t>Map</a:t>
            </a:r>
            <a:r>
              <a:rPr lang="zh-CN" altLang="en-US" dirty="0"/>
              <a:t>集合</a:t>
            </a:r>
            <a:r>
              <a:rPr lang="zh-CN" altLang="en-US" dirty="0">
                <a:solidFill>
                  <a:schemeClr val="tx1"/>
                </a:solidFill>
              </a:rPr>
              <a:t>？</a:t>
            </a:r>
          </a:p>
          <a:p>
            <a:pPr marL="419070" lvl="1" indent="0">
              <a:lnSpc>
                <a:spcPct val="200000"/>
              </a:lnSpc>
              <a:buNone/>
            </a:pPr>
            <a:r>
              <a:rPr lang="en-US" altLang="zh-CN"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Map</a:t>
            </a:r>
            <a:r>
              <a:rPr lang="zh-CN" altLang="en-US"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集合是键值对集合</a:t>
            </a:r>
            <a:endParaRPr lang="en-US" altLang="zh-CN"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419070" lvl="1" indent="0">
              <a:lnSpc>
                <a:spcPct val="200000"/>
              </a:lnSpc>
              <a:buNone/>
              <a:defRPr/>
            </a:pPr>
            <a:r>
              <a:rPr lang="zh-CN" altLang="en-US"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需要存储一一对应的数据时，就可以考虑使用</a:t>
            </a:r>
            <a:r>
              <a:rPr lang="en-US" altLang="zh-CN"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Map</a:t>
            </a:r>
            <a:r>
              <a:rPr lang="zh-CN" altLang="en-US"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集合来做</a:t>
            </a:r>
          </a:p>
          <a:p>
            <a:pPr>
              <a:spcBef>
                <a:spcPct val="0"/>
              </a:spcBef>
            </a:pPr>
            <a:r>
              <a:rPr lang="en-US" altLang="zh-CN" dirty="0"/>
              <a:t>Map</a:t>
            </a:r>
            <a:r>
              <a:rPr lang="zh-CN" altLang="en-US" dirty="0"/>
              <a:t>集合的实现类有哪些？各自的特点是？</a:t>
            </a:r>
          </a:p>
          <a:p>
            <a:pPr marL="419070" lvl="1" indent="0">
              <a:lnSpc>
                <a:spcPct val="200000"/>
              </a:lnSpc>
              <a:buNone/>
            </a:pPr>
            <a:r>
              <a:rPr lang="zh-CN" altLang="zh-CN"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HashMap:</a:t>
            </a:r>
            <a:r>
              <a:rPr lang="en-US" altLang="zh-CN"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zh-CN"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元素按照键是无序，不重复，无索引，值不做要求。</a:t>
            </a:r>
            <a:endParaRPr lang="en-US" altLang="zh-CN"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419070" lvl="1" indent="0">
              <a:lnSpc>
                <a:spcPct val="200000"/>
              </a:lnSpc>
              <a:buNone/>
            </a:pPr>
            <a:r>
              <a:rPr lang="zh-CN" altLang="zh-CN"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LinkedHashMap:</a:t>
            </a:r>
            <a:r>
              <a:rPr lang="en-US" altLang="zh-CN"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zh-CN"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元素按照键是</a:t>
            </a:r>
            <a:r>
              <a:rPr lang="zh-CN" altLang="zh-CN"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有序</a:t>
            </a:r>
            <a:r>
              <a:rPr lang="zh-CN" altLang="zh-CN"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，不重复，无索引，值不做要求。</a:t>
            </a:r>
            <a:endParaRPr lang="en-US" altLang="zh-CN"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419070" lvl="1" indent="0">
              <a:lnSpc>
                <a:spcPct val="200000"/>
              </a:lnSpc>
              <a:buNone/>
            </a:pPr>
            <a:r>
              <a:rPr lang="en-US" altLang="zh-CN" sz="1600" b="1" dirty="0" err="1">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TreeMap</a:t>
            </a:r>
            <a:r>
              <a:rPr lang="zh-CN" altLang="en-US"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：元素按照键是</a:t>
            </a: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排序</a:t>
            </a:r>
            <a:r>
              <a:rPr lang="zh-CN" altLang="en-US"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，不重复，无索引的，</a:t>
            </a:r>
            <a:r>
              <a:rPr lang="zh-CN" altLang="zh-CN" sz="1600" b="1" dirty="0">
                <a:solidFill>
                  <a:srgbClr val="49504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值不做要求。</a:t>
            </a:r>
            <a:endParaRPr lang="en-US" altLang="zh-CN" sz="1600" b="1"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48794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fade">
                                      <p:cBhvr>
                                        <p:cTn id="2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
            <a:extLst>
              <a:ext uri="{FF2B5EF4-FFF2-40B4-BE49-F238E27FC236}">
                <a16:creationId xmlns:a16="http://schemas.microsoft.com/office/drawing/2014/main" id="{0692E544-640E-3667-890D-7788E8F50EB2}"/>
              </a:ext>
            </a:extLst>
          </p:cNvPr>
          <p:cNvSpPr>
            <a:spLocks noGrp="1"/>
          </p:cNvSpPr>
          <p:nvPr>
            <p:ph type="title"/>
          </p:nvPr>
        </p:nvSpPr>
        <p:spPr/>
        <p:txBody>
          <a:bodyPr/>
          <a:lstStyle/>
          <a:p>
            <a:r>
              <a:rPr lang="en-US" altLang="zh-CN" dirty="0"/>
              <a:t>Map</a:t>
            </a:r>
            <a:r>
              <a:rPr lang="zh-CN" altLang="en-US" dirty="0"/>
              <a:t>的常见</a:t>
            </a:r>
            <a:r>
              <a:rPr lang="en-US" altLang="zh-CN" dirty="0"/>
              <a:t>API</a:t>
            </a:r>
            <a:endParaRPr lang="zh-CN" altLang="en-US" dirty="0"/>
          </a:p>
        </p:txBody>
      </p:sp>
      <p:sp>
        <p:nvSpPr>
          <p:cNvPr id="3" name="文本框 2">
            <a:extLst>
              <a:ext uri="{FF2B5EF4-FFF2-40B4-BE49-F238E27FC236}">
                <a16:creationId xmlns:a16="http://schemas.microsoft.com/office/drawing/2014/main" id="{ED5AF69D-E81B-45A3-D0CA-B61CBF9E6E6E}"/>
              </a:ext>
            </a:extLst>
          </p:cNvPr>
          <p:cNvSpPr txBox="1"/>
          <p:nvPr/>
        </p:nvSpPr>
        <p:spPr>
          <a:xfrm>
            <a:off x="710880" y="1432903"/>
            <a:ext cx="10861040" cy="572849"/>
          </a:xfrm>
          <a:prstGeom prst="rect">
            <a:avLst/>
          </a:prstGeom>
          <a:noFill/>
        </p:spPr>
        <p:txBody>
          <a:bodyPr wrap="square">
            <a:spAutoFit/>
          </a:bodyPr>
          <a:lstStyle/>
          <a:p>
            <a:pPr marL="285750" indent="-285750">
              <a:lnSpc>
                <a:spcPct val="200000"/>
              </a:lnSpc>
              <a:buFont typeface="Wingdings" panose="05000000000000000000" pitchFamily="2" charset="2"/>
              <a:buChar char="l"/>
            </a:pPr>
            <a:r>
              <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Map</a:t>
            </a:r>
            <a:r>
              <a:rPr lang="zh-CN" altLang="en-US"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是双列集合的顶层接口，它的功能是全部双列集合都可以使用的</a:t>
            </a:r>
            <a:endParaRPr lang="en-US" altLang="zh-CN"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aphicFrame>
        <p:nvGraphicFramePr>
          <p:cNvPr id="8" name="表格 7">
            <a:extLst>
              <a:ext uri="{FF2B5EF4-FFF2-40B4-BE49-F238E27FC236}">
                <a16:creationId xmlns:a16="http://schemas.microsoft.com/office/drawing/2014/main" id="{948B4D5F-CB27-9D54-38A9-D5A5ED8C2ADD}"/>
              </a:ext>
            </a:extLst>
          </p:cNvPr>
          <p:cNvGraphicFramePr>
            <a:graphicFrameLocks noGrp="1"/>
          </p:cNvGraphicFramePr>
          <p:nvPr>
            <p:extLst>
              <p:ext uri="{D42A27DB-BD31-4B8C-83A1-F6EECF244321}">
                <p14:modId xmlns:p14="http://schemas.microsoft.com/office/powerpoint/2010/main" val="3114941697"/>
              </p:ext>
            </p:extLst>
          </p:nvPr>
        </p:nvGraphicFramePr>
        <p:xfrm>
          <a:off x="972636" y="2281805"/>
          <a:ext cx="9907319" cy="3664793"/>
        </p:xfrm>
        <a:graphic>
          <a:graphicData uri="http://schemas.openxmlformats.org/drawingml/2006/table">
            <a:tbl>
              <a:tblPr/>
              <a:tblGrid>
                <a:gridCol w="5346470">
                  <a:extLst>
                    <a:ext uri="{9D8B030D-6E8A-4147-A177-3AD203B41FA5}">
                      <a16:colId xmlns:a16="http://schemas.microsoft.com/office/drawing/2014/main" val="1138920238"/>
                    </a:ext>
                  </a:extLst>
                </a:gridCol>
                <a:gridCol w="4560849">
                  <a:extLst>
                    <a:ext uri="{9D8B030D-6E8A-4147-A177-3AD203B41FA5}">
                      <a16:colId xmlns:a16="http://schemas.microsoft.com/office/drawing/2014/main" val="432614512"/>
                    </a:ext>
                  </a:extLst>
                </a:gridCol>
              </a:tblGrid>
              <a:tr h="520512">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方法名称</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4491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600" b="0" dirty="0">
                          <a:solidFill>
                            <a:schemeClr val="tx1">
                              <a:lumMod val="50000"/>
                            </a:schemeClr>
                          </a:solidFill>
                          <a:latin typeface="Consolas" panose="020B0609020204030204" pitchFamily="49" charset="0"/>
                          <a:ea typeface="Alibaba PuHuiTi R"/>
                        </a:rPr>
                        <a:t>V put(K </a:t>
                      </a:r>
                      <a:r>
                        <a:rPr lang="en-US" altLang="zh-CN" sz="1600" b="0" dirty="0" err="1">
                          <a:solidFill>
                            <a:schemeClr val="tx1">
                              <a:lumMod val="50000"/>
                            </a:schemeClr>
                          </a:solidFill>
                          <a:latin typeface="Consolas" panose="020B0609020204030204" pitchFamily="49" charset="0"/>
                          <a:ea typeface="Alibaba PuHuiTi R"/>
                        </a:rPr>
                        <a:t>key,V</a:t>
                      </a:r>
                      <a:r>
                        <a:rPr lang="en-US" altLang="zh-CN" sz="1600" b="0" dirty="0">
                          <a:solidFill>
                            <a:schemeClr val="tx1">
                              <a:lumMod val="50000"/>
                            </a:schemeClr>
                          </a:solidFill>
                          <a:latin typeface="Consolas" panose="020B0609020204030204" pitchFamily="49" charset="0"/>
                          <a:ea typeface="Alibaba PuHuiTi R"/>
                        </a:rPr>
                        <a:t> value)</a:t>
                      </a:r>
                      <a:endParaRPr kumimoji="0" lang="zh-CN" altLang="en-US" sz="1600" b="0" i="0" u="none" strike="noStrike" cap="none" normalizeH="0" baseline="0" dirty="0">
                        <a:ln>
                          <a:noFill/>
                        </a:ln>
                        <a:solidFill>
                          <a:schemeClr val="tx1">
                            <a:lumMod val="50000"/>
                          </a:schemeClr>
                        </a:solidFill>
                        <a:effectLst/>
                        <a:latin typeface="Consolas" panose="020B0609020204030204" pitchFamily="49" charset="0"/>
                        <a:ea typeface="Alibaba PuHuiTi R"/>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en-US" sz="1600" b="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添加元素</a:t>
                      </a:r>
                      <a:endParaRPr kumimoji="0" lang="zh-CN" altLang="en-US" sz="1600" b="0" i="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217203927"/>
                  </a:ext>
                </a:extLst>
              </a:tr>
              <a:tr h="4491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600" b="0" dirty="0">
                          <a:solidFill>
                            <a:schemeClr val="tx1">
                              <a:lumMod val="50000"/>
                            </a:schemeClr>
                          </a:solidFill>
                          <a:latin typeface="Consolas" panose="020B0609020204030204" pitchFamily="49" charset="0"/>
                          <a:ea typeface="Alibaba PuHuiTi R"/>
                        </a:rPr>
                        <a:t>V remove(Object key)</a:t>
                      </a:r>
                      <a:endParaRPr kumimoji="0" lang="zh-CN" altLang="en-US" sz="1600" b="0" i="0" u="none" strike="noStrike" cap="none" normalizeH="0" baseline="0" dirty="0">
                        <a:ln>
                          <a:noFill/>
                        </a:ln>
                        <a:solidFill>
                          <a:schemeClr val="tx1">
                            <a:lumMod val="50000"/>
                          </a:schemeClr>
                        </a:solidFill>
                        <a:effectLst/>
                        <a:latin typeface="Consolas" panose="020B0609020204030204" pitchFamily="49" charset="0"/>
                        <a:ea typeface="Alibaba PuHuiTi R"/>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根据键删除键值对元素</a:t>
                      </a: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2571539613"/>
                  </a:ext>
                </a:extLst>
              </a:tr>
              <a:tr h="4491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600" b="0" dirty="0">
                          <a:solidFill>
                            <a:schemeClr val="tx1">
                              <a:lumMod val="50000"/>
                            </a:schemeClr>
                          </a:solidFill>
                          <a:latin typeface="Consolas" panose="020B0609020204030204" pitchFamily="49" charset="0"/>
                          <a:ea typeface="Alibaba PuHuiTi R"/>
                        </a:rPr>
                        <a:t>void clear()</a:t>
                      </a:r>
                      <a:endParaRPr kumimoji="0" lang="zh-CN" altLang="en-US" sz="1600" b="0" i="0" u="none" strike="noStrike" cap="none" normalizeH="0" baseline="0" dirty="0">
                        <a:ln>
                          <a:noFill/>
                        </a:ln>
                        <a:solidFill>
                          <a:schemeClr val="tx1">
                            <a:lumMod val="50000"/>
                          </a:schemeClr>
                        </a:solidFill>
                        <a:effectLst/>
                        <a:latin typeface="Consolas" panose="020B0609020204030204" pitchFamily="49" charset="0"/>
                        <a:ea typeface="Alibaba PuHuiTi R"/>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kern="1200"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移除所有的键值对元素</a:t>
                      </a: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94165722"/>
                  </a:ext>
                </a:extLst>
              </a:tr>
              <a:tr h="4491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600" b="0" kern="1200" dirty="0" err="1">
                          <a:solidFill>
                            <a:schemeClr val="tx1">
                              <a:lumMod val="50000"/>
                            </a:schemeClr>
                          </a:solidFill>
                          <a:latin typeface="Consolas" panose="020B0609020204030204" pitchFamily="49" charset="0"/>
                          <a:ea typeface="Alibaba PuHuiTi R"/>
                          <a:cs typeface="+mn-cs"/>
                        </a:rPr>
                        <a:t>boolean</a:t>
                      </a:r>
                      <a:r>
                        <a:rPr lang="en-US" altLang="zh-CN" sz="1600" b="0" kern="1200" dirty="0">
                          <a:solidFill>
                            <a:schemeClr val="tx1">
                              <a:lumMod val="50000"/>
                            </a:schemeClr>
                          </a:solidFill>
                          <a:latin typeface="Consolas" panose="020B0609020204030204" pitchFamily="49" charset="0"/>
                          <a:ea typeface="Alibaba PuHuiTi R"/>
                          <a:cs typeface="+mn-cs"/>
                        </a:rPr>
                        <a:t> </a:t>
                      </a:r>
                      <a:r>
                        <a:rPr lang="en-US" altLang="zh-CN" sz="1600" b="0" kern="1200" dirty="0" err="1">
                          <a:solidFill>
                            <a:schemeClr val="tx1">
                              <a:lumMod val="50000"/>
                            </a:schemeClr>
                          </a:solidFill>
                          <a:latin typeface="Consolas" panose="020B0609020204030204" pitchFamily="49" charset="0"/>
                          <a:ea typeface="Alibaba PuHuiTi R"/>
                          <a:cs typeface="+mn-cs"/>
                        </a:rPr>
                        <a:t>containsKey</a:t>
                      </a:r>
                      <a:r>
                        <a:rPr lang="en-US" altLang="zh-CN" sz="1600" b="0" kern="1200" dirty="0">
                          <a:solidFill>
                            <a:schemeClr val="tx1">
                              <a:lumMod val="50000"/>
                            </a:schemeClr>
                          </a:solidFill>
                          <a:latin typeface="Consolas" panose="020B0609020204030204" pitchFamily="49" charset="0"/>
                          <a:ea typeface="Alibaba PuHuiTi R"/>
                          <a:cs typeface="+mn-cs"/>
                        </a:rPr>
                        <a:t>(Object key)</a:t>
                      </a:r>
                      <a:endParaRPr lang="zh-CN" altLang="en-US" sz="1600" b="0" kern="1200" dirty="0">
                        <a:solidFill>
                          <a:schemeClr val="tx1">
                            <a:lumMod val="50000"/>
                          </a:schemeClr>
                        </a:solidFill>
                        <a:latin typeface="Consolas" panose="020B0609020204030204" pitchFamily="49" charset="0"/>
                        <a:ea typeface="Alibaba PuHuiTi R"/>
                        <a:cs typeface="+mn-cs"/>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600" b="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判断集合是否包含指定的键</a:t>
                      </a:r>
                      <a:endParaRPr lang="en-US" altLang="zh-CN" sz="1600" b="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alpha val="79999"/>
                      </a:schemeClr>
                    </a:solidFill>
                  </a:tcPr>
                </a:tc>
                <a:extLst>
                  <a:ext uri="{0D108BD9-81ED-4DB2-BD59-A6C34878D82A}">
                    <a16:rowId xmlns:a16="http://schemas.microsoft.com/office/drawing/2014/main" val="3689855523"/>
                  </a:ext>
                </a:extLst>
              </a:tr>
              <a:tr h="449183">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600" b="0" dirty="0" err="1">
                          <a:solidFill>
                            <a:schemeClr val="tx1">
                              <a:lumMod val="50000"/>
                            </a:schemeClr>
                          </a:solidFill>
                          <a:latin typeface="Consolas" panose="020B0609020204030204" pitchFamily="49" charset="0"/>
                          <a:ea typeface="Alibaba PuHuiTi R"/>
                        </a:rPr>
                        <a:t>boolean</a:t>
                      </a:r>
                      <a:r>
                        <a:rPr lang="en-US" altLang="zh-CN" sz="1600" b="0" dirty="0">
                          <a:solidFill>
                            <a:schemeClr val="tx1">
                              <a:lumMod val="50000"/>
                            </a:schemeClr>
                          </a:solidFill>
                          <a:latin typeface="Consolas" panose="020B0609020204030204" pitchFamily="49" charset="0"/>
                          <a:ea typeface="Alibaba PuHuiTi R"/>
                        </a:rPr>
                        <a:t> </a:t>
                      </a:r>
                      <a:r>
                        <a:rPr lang="en-US" altLang="zh-CN" sz="1600" b="0" dirty="0" err="1">
                          <a:solidFill>
                            <a:schemeClr val="tx1">
                              <a:lumMod val="50000"/>
                            </a:schemeClr>
                          </a:solidFill>
                          <a:latin typeface="Consolas" panose="020B0609020204030204" pitchFamily="49" charset="0"/>
                          <a:ea typeface="Alibaba PuHuiTi R"/>
                        </a:rPr>
                        <a:t>containsValue</a:t>
                      </a:r>
                      <a:r>
                        <a:rPr lang="en-US" altLang="zh-CN" sz="1600" b="0" dirty="0">
                          <a:solidFill>
                            <a:schemeClr val="tx1">
                              <a:lumMod val="50000"/>
                            </a:schemeClr>
                          </a:solidFill>
                          <a:latin typeface="Consolas" panose="020B0609020204030204" pitchFamily="49" charset="0"/>
                          <a:ea typeface="Alibaba PuHuiTi R"/>
                        </a:rPr>
                        <a:t>(Object value)</a:t>
                      </a:r>
                      <a:endParaRPr kumimoji="0" lang="zh-CN" altLang="en-US" sz="1600" b="0" i="0" u="none" strike="noStrike" cap="none" normalizeH="0" baseline="0" dirty="0">
                        <a:ln>
                          <a:noFill/>
                        </a:ln>
                        <a:solidFill>
                          <a:schemeClr val="tx1">
                            <a:lumMod val="50000"/>
                          </a:schemeClr>
                        </a:solidFill>
                        <a:effectLst/>
                        <a:latin typeface="Consolas" panose="020B0609020204030204" pitchFamily="49" charset="0"/>
                        <a:ea typeface="Alibaba PuHuiTi R"/>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600" b="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判断集合是否包含指定的值</a:t>
                      </a:r>
                      <a:endParaRPr kumimoji="0" lang="zh-CN" altLang="en-US" sz="1600" b="0" i="0" u="none" strike="noStrike" cap="none" normalizeH="0" baseline="0" dirty="0">
                        <a:ln>
                          <a:noFill/>
                        </a:ln>
                        <a:solidFill>
                          <a:schemeClr val="tx1">
                            <a:lumMod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616903320"/>
                  </a:ext>
                </a:extLst>
              </a:tr>
              <a:tr h="449183">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err="1">
                          <a:ln>
                            <a:noFill/>
                          </a:ln>
                          <a:solidFill>
                            <a:schemeClr val="tx1">
                              <a:lumMod val="50000"/>
                            </a:schemeClr>
                          </a:solidFill>
                          <a:effectLst/>
                          <a:latin typeface="Consolas" panose="020B0609020204030204" pitchFamily="49" charset="0"/>
                          <a:ea typeface="Alibaba PuHuiTi R"/>
                        </a:rPr>
                        <a:t>boolean</a:t>
                      </a:r>
                      <a:r>
                        <a:rPr kumimoji="0" lang="en-US" altLang="zh-CN" sz="1600" b="0" i="0" u="none" strike="noStrike" cap="none" normalizeH="0" baseline="0" dirty="0">
                          <a:ln>
                            <a:noFill/>
                          </a:ln>
                          <a:solidFill>
                            <a:schemeClr val="tx1">
                              <a:lumMod val="50000"/>
                            </a:schemeClr>
                          </a:solidFill>
                          <a:effectLst/>
                          <a:latin typeface="Consolas" panose="020B0609020204030204" pitchFamily="49" charset="0"/>
                          <a:ea typeface="Alibaba PuHuiTi R"/>
                        </a:rPr>
                        <a:t> </a:t>
                      </a:r>
                      <a:r>
                        <a:rPr kumimoji="0" lang="en-US" altLang="zh-CN" sz="1600" b="0" i="0" u="none" strike="noStrike" cap="none" normalizeH="0" baseline="0" dirty="0" err="1">
                          <a:ln>
                            <a:noFill/>
                          </a:ln>
                          <a:solidFill>
                            <a:schemeClr val="tx1">
                              <a:lumMod val="50000"/>
                            </a:schemeClr>
                          </a:solidFill>
                          <a:effectLst/>
                          <a:latin typeface="Consolas" panose="020B0609020204030204" pitchFamily="49" charset="0"/>
                          <a:ea typeface="Alibaba PuHuiTi R"/>
                        </a:rPr>
                        <a:t>isEmpty</a:t>
                      </a:r>
                      <a:r>
                        <a:rPr kumimoji="0" lang="en-US" altLang="zh-CN" sz="1600" b="0" i="0" u="none" strike="noStrike" cap="none" normalizeH="0" baseline="0" dirty="0">
                          <a:ln>
                            <a:noFill/>
                          </a:ln>
                          <a:solidFill>
                            <a:schemeClr val="tx1">
                              <a:lumMod val="50000"/>
                            </a:schemeClr>
                          </a:solidFill>
                          <a:effectLst/>
                          <a:latin typeface="Consolas" panose="020B0609020204030204" pitchFamily="49" charset="0"/>
                          <a:ea typeface="Alibaba PuHuiTi R"/>
                        </a:rPr>
                        <a:t>()</a:t>
                      </a:r>
                      <a:endParaRPr kumimoji="0" lang="zh-CN" altLang="en-US" sz="1600" b="0" i="0" u="none" strike="noStrike" cap="none" normalizeH="0" baseline="0" dirty="0">
                        <a:ln>
                          <a:noFill/>
                        </a:ln>
                        <a:solidFill>
                          <a:schemeClr val="tx1">
                            <a:lumMod val="50000"/>
                          </a:schemeClr>
                        </a:solidFill>
                        <a:effectLst/>
                        <a:latin typeface="Consolas" panose="020B0609020204030204" pitchFamily="49" charset="0"/>
                        <a:ea typeface="Alibaba PuHuiTi R"/>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600" b="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判断集合是否为空</a:t>
                      </a:r>
                      <a:endParaRPr lang="en-US" altLang="zh-CN" sz="1600" b="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533249751"/>
                  </a:ext>
                </a:extLst>
              </a:tr>
              <a:tr h="449183">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normalizeH="0" baseline="0" dirty="0" err="1">
                          <a:ln>
                            <a:noFill/>
                          </a:ln>
                          <a:solidFill>
                            <a:schemeClr val="tx1">
                              <a:lumMod val="50000"/>
                            </a:schemeClr>
                          </a:solidFill>
                          <a:effectLst/>
                          <a:latin typeface="Consolas" panose="020B0609020204030204" pitchFamily="49" charset="0"/>
                          <a:ea typeface="Alibaba PuHuiTi R"/>
                          <a:cs typeface="+mn-cs"/>
                        </a:rPr>
                        <a:t>int</a:t>
                      </a:r>
                      <a:r>
                        <a:rPr kumimoji="0" lang="en-US" altLang="zh-CN" sz="1600" b="0" i="0" u="none" strike="noStrike" kern="1200" cap="none" normalizeH="0" baseline="0" dirty="0">
                          <a:ln>
                            <a:noFill/>
                          </a:ln>
                          <a:solidFill>
                            <a:schemeClr val="tx1">
                              <a:lumMod val="50000"/>
                            </a:schemeClr>
                          </a:solidFill>
                          <a:effectLst/>
                          <a:latin typeface="Consolas" panose="020B0609020204030204" pitchFamily="49" charset="0"/>
                          <a:ea typeface="Alibaba PuHuiTi R"/>
                          <a:cs typeface="+mn-cs"/>
                        </a:rPr>
                        <a:t> size()</a:t>
                      </a:r>
                      <a:endParaRPr kumimoji="0" lang="zh-CN" altLang="en-US" sz="1600" b="0" i="0" u="none" strike="noStrike" kern="1200" cap="none" normalizeH="0" baseline="0" dirty="0">
                        <a:ln>
                          <a:noFill/>
                        </a:ln>
                        <a:solidFill>
                          <a:schemeClr val="tx1">
                            <a:lumMod val="50000"/>
                          </a:schemeClr>
                        </a:solidFill>
                        <a:effectLst/>
                        <a:latin typeface="Consolas" panose="020B0609020204030204" pitchFamily="49" charset="0"/>
                        <a:ea typeface="Alibaba PuHuiTi R"/>
                        <a:cs typeface="+mn-cs"/>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600" b="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集合的长度，也就是集合中键值对的个数</a:t>
                      </a:r>
                      <a:endParaRPr lang="en-US" altLang="zh-CN" sz="1600" b="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477176322"/>
                  </a:ext>
                </a:extLst>
              </a:tr>
            </a:tbl>
          </a:graphicData>
        </a:graphic>
      </p:graphicFrame>
    </p:spTree>
    <p:extLst>
      <p:ext uri="{BB962C8B-B14F-4D97-AF65-F5344CB8AC3E}">
        <p14:creationId xmlns:p14="http://schemas.microsoft.com/office/powerpoint/2010/main" val="16486161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50ACE9B-DD50-041A-365F-30AC667C58E0}"/>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4AB89526-4F48-34AC-227A-E01EC611C650}"/>
              </a:ext>
            </a:extLst>
          </p:cNvPr>
          <p:cNvSpPr>
            <a:spLocks noGrp="1"/>
          </p:cNvSpPr>
          <p:nvPr>
            <p:ph type="body" sz="quarter" idx="10"/>
          </p:nvPr>
        </p:nvSpPr>
        <p:spPr>
          <a:xfrm>
            <a:off x="5982521" y="2505975"/>
            <a:ext cx="4410730" cy="1956553"/>
          </a:xfrm>
        </p:spPr>
        <p:txBody>
          <a:bodyPr/>
          <a:lstStyle/>
          <a:p>
            <a:r>
              <a:rPr kumimoji="1" lang="en-US" altLang="zh-CN" dirty="0">
                <a:latin typeface="Consolas" panose="020B0609020204030204" pitchFamily="49" charset="0"/>
              </a:rPr>
              <a:t>Set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TreeSet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HashSet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LinkedHashSet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Collections </a:t>
            </a:r>
            <a:r>
              <a:rPr kumimoji="1" lang="zh-CN" altLang="en-US" dirty="0">
                <a:latin typeface="Consolas" panose="020B0609020204030204" pitchFamily="49" charset="0"/>
              </a:rPr>
              <a:t>工具类</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集合三种遍历方式</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集合的实现类</a:t>
            </a:r>
            <a:endParaRPr kumimoji="1" lang="en-US" altLang="zh-CN" dirty="0">
              <a:latin typeface="Consolas" panose="020B0609020204030204" pitchFamily="49" charset="0"/>
            </a:endParaRPr>
          </a:p>
        </p:txBody>
      </p:sp>
    </p:spTree>
    <p:extLst>
      <p:ext uri="{BB962C8B-B14F-4D97-AF65-F5344CB8AC3E}">
        <p14:creationId xmlns:p14="http://schemas.microsoft.com/office/powerpoint/2010/main" val="1503207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85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stCondLst>
                                            <p:cond delay="0"/>
                                          </p:stCondLst>
                                        </p:cTn>
                                        <p:tgtEl>
                                          <p:spTgt spid="2"/>
                                        </p:tgtEl>
                                      </p:cBhvr>
                                    </p:animEffect>
                                    <p:anim to="0" calcmode="lin" valueType="num">
                                      <p:cBhvr>
                                        <p:cTn id="8" dur="500" fill="hold">
                                          <p:stCondLst>
                                            <p:cond delay="0"/>
                                          </p:stCondLst>
                                        </p:cTn>
                                        <p:tgtEl>
                                          <p:spTgt spid="2"/>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185C4-0F02-D2BF-22DF-5BB70DB7B88E}"/>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E16C2A17-A827-F879-11E0-CADB5F079F48}"/>
              </a:ext>
            </a:extLst>
          </p:cNvPr>
          <p:cNvSpPr>
            <a:spLocks noGrp="1"/>
          </p:cNvSpPr>
          <p:nvPr>
            <p:ph type="body" sz="quarter" idx="13"/>
          </p:nvPr>
        </p:nvSpPr>
        <p:spPr>
          <a:xfrm>
            <a:off x="5834080" y="2465278"/>
            <a:ext cx="5505768" cy="901700"/>
          </a:xfrm>
        </p:spPr>
        <p:txBody>
          <a:bodyPr/>
          <a:lstStyle/>
          <a:p>
            <a:r>
              <a:rPr lang="en-US" altLang="zh-CN" dirty="0"/>
              <a:t>Map </a:t>
            </a:r>
            <a:r>
              <a:rPr lang="zh-CN" altLang="en-US" dirty="0"/>
              <a:t>集合三种遍历方式</a:t>
            </a:r>
          </a:p>
        </p:txBody>
      </p:sp>
      <p:sp>
        <p:nvSpPr>
          <p:cNvPr id="10" name="文本占位符 9">
            <a:extLst>
              <a:ext uri="{FF2B5EF4-FFF2-40B4-BE49-F238E27FC236}">
                <a16:creationId xmlns:a16="http://schemas.microsoft.com/office/drawing/2014/main" id="{5792C246-B95B-EA06-7506-80E579AA8A5D}"/>
              </a:ext>
            </a:extLst>
          </p:cNvPr>
          <p:cNvSpPr>
            <a:spLocks noGrp="1"/>
          </p:cNvSpPr>
          <p:nvPr>
            <p:ph type="body" sz="quarter" idx="14"/>
          </p:nvPr>
        </p:nvSpPr>
        <p:spPr/>
        <p:txBody>
          <a:bodyPr/>
          <a:lstStyle/>
          <a:p>
            <a:r>
              <a:rPr lang="en-US" altLang="zh-CN" dirty="0"/>
              <a:t>7</a:t>
            </a:r>
            <a:endParaRPr lang="zh-CN" altLang="en-US" dirty="0"/>
          </a:p>
        </p:txBody>
      </p:sp>
    </p:spTree>
    <p:extLst>
      <p:ext uri="{BB962C8B-B14F-4D97-AF65-F5344CB8AC3E}">
        <p14:creationId xmlns:p14="http://schemas.microsoft.com/office/powerpoint/2010/main" val="16692936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
            <a:extLst>
              <a:ext uri="{FF2B5EF4-FFF2-40B4-BE49-F238E27FC236}">
                <a16:creationId xmlns:a16="http://schemas.microsoft.com/office/drawing/2014/main" id="{0692E544-640E-3667-890D-7788E8F50EB2}"/>
              </a:ext>
            </a:extLst>
          </p:cNvPr>
          <p:cNvSpPr>
            <a:spLocks noGrp="1"/>
          </p:cNvSpPr>
          <p:nvPr>
            <p:ph type="title"/>
          </p:nvPr>
        </p:nvSpPr>
        <p:spPr/>
        <p:txBody>
          <a:bodyPr/>
          <a:lstStyle/>
          <a:p>
            <a:r>
              <a:rPr lang="en-US" altLang="zh-CN" dirty="0"/>
              <a:t>Map </a:t>
            </a:r>
            <a:r>
              <a:rPr lang="zh-CN" altLang="en-US" dirty="0"/>
              <a:t>集合的三种遍历方式</a:t>
            </a:r>
          </a:p>
        </p:txBody>
      </p:sp>
      <p:sp>
        <p:nvSpPr>
          <p:cNvPr id="5" name="矩形: 圆角 4">
            <a:extLst>
              <a:ext uri="{FF2B5EF4-FFF2-40B4-BE49-F238E27FC236}">
                <a16:creationId xmlns:a16="http://schemas.microsoft.com/office/drawing/2014/main" id="{20705019-CB5E-9244-F45C-858143AB932B}"/>
              </a:ext>
            </a:extLst>
          </p:cNvPr>
          <p:cNvSpPr/>
          <p:nvPr/>
        </p:nvSpPr>
        <p:spPr>
          <a:xfrm>
            <a:off x="710880" y="1948070"/>
            <a:ext cx="3536442" cy="649356"/>
          </a:xfrm>
          <a:prstGeom prst="roundRect">
            <a:avLst/>
          </a:prstGeom>
          <a:solidFill>
            <a:schemeClr val="accent6">
              <a:lumMod val="60000"/>
              <a:lumOff val="40000"/>
            </a:schemeClr>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杨任东竹石体-Bold" panose="02000000000000000000" pitchFamily="2" charset="-122"/>
                <a:ea typeface="杨任东竹石体-Bold" panose="02000000000000000000" pitchFamily="2" charset="-122"/>
              </a:rPr>
              <a:t>1.</a:t>
            </a:r>
            <a:r>
              <a:rPr lang="zh-CN" altLang="en-US" dirty="0">
                <a:latin typeface="杨任东竹石体-Bold" panose="02000000000000000000" pitchFamily="2" charset="-122"/>
                <a:ea typeface="杨任东竹石体-Bold" panose="02000000000000000000" pitchFamily="2" charset="-122"/>
              </a:rPr>
              <a:t> 通过键找值</a:t>
            </a:r>
          </a:p>
        </p:txBody>
      </p:sp>
      <p:sp>
        <p:nvSpPr>
          <p:cNvPr id="6" name="矩形: 圆角 5">
            <a:extLst>
              <a:ext uri="{FF2B5EF4-FFF2-40B4-BE49-F238E27FC236}">
                <a16:creationId xmlns:a16="http://schemas.microsoft.com/office/drawing/2014/main" id="{53F66BF6-AFA0-16BB-F414-7F73B298A86C}"/>
              </a:ext>
            </a:extLst>
          </p:cNvPr>
          <p:cNvSpPr/>
          <p:nvPr/>
        </p:nvSpPr>
        <p:spPr>
          <a:xfrm>
            <a:off x="710880" y="2859157"/>
            <a:ext cx="3536442" cy="649356"/>
          </a:xfrm>
          <a:prstGeom prst="roundRect">
            <a:avLst/>
          </a:prstGeom>
          <a:solidFill>
            <a:schemeClr val="accent4">
              <a:lumMod val="60000"/>
              <a:lumOff val="40000"/>
            </a:schemeClr>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杨任东竹石体-Bold" panose="02000000000000000000" pitchFamily="2" charset="-122"/>
                <a:ea typeface="杨任东竹石体-Bold" panose="02000000000000000000" pitchFamily="2" charset="-122"/>
              </a:rPr>
              <a:t>2.</a:t>
            </a:r>
            <a:r>
              <a:rPr lang="zh-CN" altLang="en-US" dirty="0">
                <a:latin typeface="杨任东竹石体-Bold" panose="02000000000000000000" pitchFamily="2" charset="-122"/>
                <a:ea typeface="杨任东竹石体-Bold" panose="02000000000000000000" pitchFamily="2" charset="-122"/>
              </a:rPr>
              <a:t> 通过键值对对象获取键和值</a:t>
            </a:r>
          </a:p>
        </p:txBody>
      </p:sp>
      <p:sp>
        <p:nvSpPr>
          <p:cNvPr id="7" name="矩形: 圆角 6">
            <a:extLst>
              <a:ext uri="{FF2B5EF4-FFF2-40B4-BE49-F238E27FC236}">
                <a16:creationId xmlns:a16="http://schemas.microsoft.com/office/drawing/2014/main" id="{DBF42279-EC7D-E27F-D510-5486EF2B23A5}"/>
              </a:ext>
            </a:extLst>
          </p:cNvPr>
          <p:cNvSpPr/>
          <p:nvPr/>
        </p:nvSpPr>
        <p:spPr>
          <a:xfrm>
            <a:off x="710880" y="3794701"/>
            <a:ext cx="3536442" cy="649356"/>
          </a:xfrm>
          <a:prstGeom prst="roundRect">
            <a:avLst/>
          </a:prstGeom>
          <a:solidFill>
            <a:schemeClr val="accent2">
              <a:lumMod val="60000"/>
              <a:lumOff val="40000"/>
            </a:schemeClr>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杨任东竹石体-Bold" panose="02000000000000000000" pitchFamily="2" charset="-122"/>
                <a:ea typeface="杨任东竹石体-Bold" panose="02000000000000000000" pitchFamily="2" charset="-122"/>
              </a:rPr>
              <a:t>3.</a:t>
            </a:r>
            <a:r>
              <a:rPr lang="zh-CN" altLang="en-US" dirty="0">
                <a:latin typeface="杨任东竹石体-Bold" panose="02000000000000000000" pitchFamily="2" charset="-122"/>
                <a:ea typeface="杨任东竹石体-Bold" panose="02000000000000000000" pitchFamily="2" charset="-122"/>
              </a:rPr>
              <a:t> 通过</a:t>
            </a:r>
            <a:r>
              <a:rPr lang="en-US" altLang="zh-CN" dirty="0">
                <a:latin typeface="杨任东竹石体-Bold" panose="02000000000000000000" pitchFamily="2" charset="-122"/>
                <a:ea typeface="杨任东竹石体-Bold" panose="02000000000000000000" pitchFamily="2" charset="-122"/>
              </a:rPr>
              <a:t>foreach</a:t>
            </a:r>
            <a:r>
              <a:rPr lang="zh-CN" altLang="en-US" dirty="0">
                <a:latin typeface="杨任东竹石体-Bold" panose="02000000000000000000" pitchFamily="2" charset="-122"/>
                <a:ea typeface="杨任东竹石体-Bold" panose="02000000000000000000" pitchFamily="2" charset="-122"/>
              </a:rPr>
              <a:t>方法遍历</a:t>
            </a:r>
          </a:p>
        </p:txBody>
      </p:sp>
    </p:spTree>
    <p:extLst>
      <p:ext uri="{BB962C8B-B14F-4D97-AF65-F5344CB8AC3E}">
        <p14:creationId xmlns:p14="http://schemas.microsoft.com/office/powerpoint/2010/main" val="792675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7">
            <a:extLst>
              <a:ext uri="{FF2B5EF4-FFF2-40B4-BE49-F238E27FC236}">
                <a16:creationId xmlns:a16="http://schemas.microsoft.com/office/drawing/2014/main" id="{07CA8A3E-9CE7-084C-9E1F-9AAA7B9E9196}"/>
              </a:ext>
            </a:extLst>
          </p:cNvPr>
          <p:cNvGraphicFramePr>
            <a:graphicFrameLocks noGrp="1"/>
          </p:cNvGraphicFramePr>
          <p:nvPr/>
        </p:nvGraphicFramePr>
        <p:xfrm>
          <a:off x="859967" y="3429000"/>
          <a:ext cx="1619134" cy="1937396"/>
        </p:xfrm>
        <a:graphic>
          <a:graphicData uri="http://schemas.openxmlformats.org/drawingml/2006/table">
            <a:tbl>
              <a:tblPr firstRow="1" bandRow="1">
                <a:tableStyleId>{7E9639D4-E3E2-4D34-9284-5A2195B3D0D7}</a:tableStyleId>
              </a:tblPr>
              <a:tblGrid>
                <a:gridCol w="1619134">
                  <a:extLst>
                    <a:ext uri="{9D8B030D-6E8A-4147-A177-3AD203B41FA5}">
                      <a16:colId xmlns:a16="http://schemas.microsoft.com/office/drawing/2014/main" val="2226606431"/>
                    </a:ext>
                  </a:extLst>
                </a:gridCol>
              </a:tblGrid>
              <a:tr h="484349">
                <a:tc>
                  <a:txBody>
                    <a:bodyPr/>
                    <a:lstStyle/>
                    <a:p>
                      <a:r>
                        <a:rPr lang="en-US" altLang="zh-CN" dirty="0">
                          <a:latin typeface="杨任东竹石体-Bold" panose="02000000000000000000" pitchFamily="2" charset="-122"/>
                          <a:ea typeface="杨任东竹石体-Bold" panose="02000000000000000000" pitchFamily="2" charset="-122"/>
                        </a:rPr>
                        <a:t>Key</a:t>
                      </a:r>
                      <a:endParaRPr lang="zh-CN" altLang="en-US" dirty="0">
                        <a:latin typeface="杨任东竹石体-Bold" panose="02000000000000000000" pitchFamily="2" charset="-122"/>
                        <a:ea typeface="杨任东竹石体-Bold" panose="02000000000000000000" pitchFamily="2" charset="-122"/>
                      </a:endParaRPr>
                    </a:p>
                  </a:txBody>
                  <a:tcPr/>
                </a:tc>
                <a:extLst>
                  <a:ext uri="{0D108BD9-81ED-4DB2-BD59-A6C34878D82A}">
                    <a16:rowId xmlns:a16="http://schemas.microsoft.com/office/drawing/2014/main" val="2712724261"/>
                  </a:ext>
                </a:extLst>
              </a:tr>
              <a:tr h="484349">
                <a:tc>
                  <a:txBody>
                    <a:bodyPr/>
                    <a:lstStyle/>
                    <a:p>
                      <a:r>
                        <a:rPr lang="zh-CN" altLang="en-US" dirty="0">
                          <a:latin typeface="杨任东竹石体-Bold" panose="02000000000000000000" pitchFamily="2" charset="-122"/>
                          <a:ea typeface="杨任东竹石体-Bold" panose="02000000000000000000" pitchFamily="2" charset="-122"/>
                        </a:rPr>
                        <a:t>张三</a:t>
                      </a:r>
                    </a:p>
                  </a:txBody>
                  <a:tcPr/>
                </a:tc>
                <a:extLst>
                  <a:ext uri="{0D108BD9-81ED-4DB2-BD59-A6C34878D82A}">
                    <a16:rowId xmlns:a16="http://schemas.microsoft.com/office/drawing/2014/main" val="2028345770"/>
                  </a:ext>
                </a:extLst>
              </a:tr>
              <a:tr h="484349">
                <a:tc>
                  <a:txBody>
                    <a:bodyPr/>
                    <a:lstStyle/>
                    <a:p>
                      <a:r>
                        <a:rPr lang="zh-CN" altLang="en-US" dirty="0">
                          <a:latin typeface="杨任东竹石体-Bold" panose="02000000000000000000" pitchFamily="2" charset="-122"/>
                          <a:ea typeface="杨任东竹石体-Bold" panose="02000000000000000000" pitchFamily="2" charset="-122"/>
                        </a:rPr>
                        <a:t>李四</a:t>
                      </a:r>
                    </a:p>
                  </a:txBody>
                  <a:tcPr/>
                </a:tc>
                <a:extLst>
                  <a:ext uri="{0D108BD9-81ED-4DB2-BD59-A6C34878D82A}">
                    <a16:rowId xmlns:a16="http://schemas.microsoft.com/office/drawing/2014/main" val="3113646284"/>
                  </a:ext>
                </a:extLst>
              </a:tr>
              <a:tr h="484349">
                <a:tc>
                  <a:txBody>
                    <a:bodyPr/>
                    <a:lstStyle/>
                    <a:p>
                      <a:r>
                        <a:rPr lang="zh-CN" altLang="en-US" dirty="0">
                          <a:latin typeface="杨任东竹石体-Bold" panose="02000000000000000000" pitchFamily="2" charset="-122"/>
                          <a:ea typeface="杨任东竹石体-Bold" panose="02000000000000000000" pitchFamily="2" charset="-122"/>
                        </a:rPr>
                        <a:t>王五</a:t>
                      </a:r>
                    </a:p>
                  </a:txBody>
                  <a:tcPr/>
                </a:tc>
                <a:extLst>
                  <a:ext uri="{0D108BD9-81ED-4DB2-BD59-A6C34878D82A}">
                    <a16:rowId xmlns:a16="http://schemas.microsoft.com/office/drawing/2014/main" val="354102556"/>
                  </a:ext>
                </a:extLst>
              </a:tr>
            </a:tbl>
          </a:graphicData>
        </a:graphic>
      </p:graphicFrame>
      <p:sp>
        <p:nvSpPr>
          <p:cNvPr id="2" name="!!!a">
            <a:extLst>
              <a:ext uri="{FF2B5EF4-FFF2-40B4-BE49-F238E27FC236}">
                <a16:creationId xmlns:a16="http://schemas.microsoft.com/office/drawing/2014/main" id="{0692E544-640E-3667-890D-7788E8F50EB2}"/>
              </a:ext>
            </a:extLst>
          </p:cNvPr>
          <p:cNvSpPr>
            <a:spLocks noGrp="1"/>
          </p:cNvSpPr>
          <p:nvPr>
            <p:ph type="title"/>
          </p:nvPr>
        </p:nvSpPr>
        <p:spPr/>
        <p:txBody>
          <a:bodyPr/>
          <a:lstStyle/>
          <a:p>
            <a:r>
              <a:rPr lang="en-US" altLang="zh-CN" dirty="0"/>
              <a:t>Map </a:t>
            </a:r>
            <a:r>
              <a:rPr lang="zh-CN" altLang="en-US" dirty="0"/>
              <a:t>集合的三种遍历方式</a:t>
            </a:r>
          </a:p>
        </p:txBody>
      </p:sp>
      <p:sp>
        <p:nvSpPr>
          <p:cNvPr id="5" name="矩形: 圆角 4">
            <a:extLst>
              <a:ext uri="{FF2B5EF4-FFF2-40B4-BE49-F238E27FC236}">
                <a16:creationId xmlns:a16="http://schemas.microsoft.com/office/drawing/2014/main" id="{20705019-CB5E-9244-F45C-858143AB932B}"/>
              </a:ext>
            </a:extLst>
          </p:cNvPr>
          <p:cNvSpPr/>
          <p:nvPr/>
        </p:nvSpPr>
        <p:spPr>
          <a:xfrm>
            <a:off x="710880" y="1948070"/>
            <a:ext cx="3536442" cy="649356"/>
          </a:xfrm>
          <a:prstGeom prst="roundRect">
            <a:avLst/>
          </a:prstGeom>
          <a:solidFill>
            <a:schemeClr val="accent6">
              <a:lumMod val="60000"/>
              <a:lumOff val="40000"/>
            </a:schemeClr>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杨任东竹石体-Bold" panose="02000000000000000000" pitchFamily="2" charset="-122"/>
                <a:ea typeface="杨任东竹石体-Bold" panose="02000000000000000000" pitchFamily="2" charset="-122"/>
              </a:rPr>
              <a:t>1.</a:t>
            </a:r>
            <a:r>
              <a:rPr lang="zh-CN" altLang="en-US" dirty="0">
                <a:latin typeface="杨任东竹石体-Bold" panose="02000000000000000000" pitchFamily="2" charset="-122"/>
                <a:ea typeface="杨任东竹石体-Bold" panose="02000000000000000000" pitchFamily="2" charset="-122"/>
              </a:rPr>
              <a:t> 通过键找值</a:t>
            </a:r>
          </a:p>
        </p:txBody>
      </p:sp>
      <p:graphicFrame>
        <p:nvGraphicFramePr>
          <p:cNvPr id="3" name="表格 2">
            <a:extLst>
              <a:ext uri="{FF2B5EF4-FFF2-40B4-BE49-F238E27FC236}">
                <a16:creationId xmlns:a16="http://schemas.microsoft.com/office/drawing/2014/main" id="{0D72963B-870B-4E28-8C6F-2564B1304D10}"/>
              </a:ext>
            </a:extLst>
          </p:cNvPr>
          <p:cNvGraphicFramePr>
            <a:graphicFrameLocks noGrp="1"/>
          </p:cNvGraphicFramePr>
          <p:nvPr/>
        </p:nvGraphicFramePr>
        <p:xfrm>
          <a:off x="5289507" y="1948070"/>
          <a:ext cx="5848946" cy="759132"/>
        </p:xfrm>
        <a:graphic>
          <a:graphicData uri="http://schemas.openxmlformats.org/drawingml/2006/table">
            <a:tbl>
              <a:tblPr/>
              <a:tblGrid>
                <a:gridCol w="3156375">
                  <a:extLst>
                    <a:ext uri="{9D8B030D-6E8A-4147-A177-3AD203B41FA5}">
                      <a16:colId xmlns:a16="http://schemas.microsoft.com/office/drawing/2014/main" val="3977049432"/>
                    </a:ext>
                  </a:extLst>
                </a:gridCol>
                <a:gridCol w="2692571">
                  <a:extLst>
                    <a:ext uri="{9D8B030D-6E8A-4147-A177-3AD203B41FA5}">
                      <a16:colId xmlns:a16="http://schemas.microsoft.com/office/drawing/2014/main" val="2926765301"/>
                    </a:ext>
                  </a:extLst>
                </a:gridCol>
              </a:tblGrid>
              <a:tr h="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Consolas" panose="020B0609020204030204" pitchFamily="49" charset="0"/>
                          <a:ea typeface="阿里巴巴普惠体" panose="00020600040101010101" pitchFamily="18" charset="-122"/>
                          <a:cs typeface="阿里巴巴普惠体" panose="00020600040101010101" pitchFamily="18" charset="-122"/>
                        </a:rPr>
                        <a:t>方法名称</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Consolas" panose="020B0609020204030204" pitchFamily="49" charset="0"/>
                          <a:ea typeface="阿里巴巴普惠体" panose="00020600040101010101" pitchFamily="18" charset="-122"/>
                          <a:cs typeface="阿里巴巴普惠体" panose="00020600040101010101" pitchFamily="18" charset="-122"/>
                        </a:rPr>
                        <a:t>说明</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94101812"/>
                  </a:ext>
                </a:extLst>
              </a:tr>
              <a:tr h="3759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600" b="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V get(Object key) </a:t>
                      </a:r>
                      <a:endParaRPr kumimoji="0" lang="zh-CN" altLang="en-US" sz="1600" b="0" i="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根据键查找对应的值</a:t>
                      </a: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6182674"/>
                  </a:ext>
                </a:extLst>
              </a:tr>
            </a:tbl>
          </a:graphicData>
        </a:graphic>
      </p:graphicFrame>
      <p:graphicFrame>
        <p:nvGraphicFramePr>
          <p:cNvPr id="4" name="表格 7">
            <a:extLst>
              <a:ext uri="{FF2B5EF4-FFF2-40B4-BE49-F238E27FC236}">
                <a16:creationId xmlns:a16="http://schemas.microsoft.com/office/drawing/2014/main" id="{358F7FC0-56C0-DA34-1B5A-8B1729187F1D}"/>
              </a:ext>
            </a:extLst>
          </p:cNvPr>
          <p:cNvGraphicFramePr>
            <a:graphicFrameLocks noGrp="1"/>
          </p:cNvGraphicFramePr>
          <p:nvPr/>
        </p:nvGraphicFramePr>
        <p:xfrm>
          <a:off x="859967" y="3429000"/>
          <a:ext cx="3238268" cy="1937396"/>
        </p:xfrm>
        <a:graphic>
          <a:graphicData uri="http://schemas.openxmlformats.org/drawingml/2006/table">
            <a:tbl>
              <a:tblPr firstRow="1" bandRow="1">
                <a:tableStyleId>{7E9639D4-E3E2-4D34-9284-5A2195B3D0D7}</a:tableStyleId>
              </a:tblPr>
              <a:tblGrid>
                <a:gridCol w="1619134">
                  <a:extLst>
                    <a:ext uri="{9D8B030D-6E8A-4147-A177-3AD203B41FA5}">
                      <a16:colId xmlns:a16="http://schemas.microsoft.com/office/drawing/2014/main" val="2226606431"/>
                    </a:ext>
                  </a:extLst>
                </a:gridCol>
                <a:gridCol w="1619134">
                  <a:extLst>
                    <a:ext uri="{9D8B030D-6E8A-4147-A177-3AD203B41FA5}">
                      <a16:colId xmlns:a16="http://schemas.microsoft.com/office/drawing/2014/main" val="358889312"/>
                    </a:ext>
                  </a:extLst>
                </a:gridCol>
              </a:tblGrid>
              <a:tr h="484349">
                <a:tc>
                  <a:txBody>
                    <a:bodyPr/>
                    <a:lstStyle/>
                    <a:p>
                      <a:r>
                        <a:rPr lang="en-US" altLang="zh-CN" dirty="0">
                          <a:latin typeface="杨任东竹石体-Bold" panose="02000000000000000000" pitchFamily="2" charset="-122"/>
                          <a:ea typeface="杨任东竹石体-Bold" panose="02000000000000000000" pitchFamily="2" charset="-122"/>
                        </a:rPr>
                        <a:t>Key</a:t>
                      </a:r>
                      <a:endParaRPr lang="zh-CN" altLang="en-US" dirty="0">
                        <a:latin typeface="杨任东竹石体-Bold" panose="02000000000000000000" pitchFamily="2" charset="-122"/>
                        <a:ea typeface="杨任东竹石体-Bold" panose="02000000000000000000" pitchFamily="2" charset="-122"/>
                      </a:endParaRPr>
                    </a:p>
                  </a:txBody>
                  <a:tcPr/>
                </a:tc>
                <a:tc>
                  <a:txBody>
                    <a:bodyPr/>
                    <a:lstStyle/>
                    <a:p>
                      <a:r>
                        <a:rPr lang="en-US" altLang="zh-CN" dirty="0">
                          <a:latin typeface="杨任东竹石体-Bold" panose="02000000000000000000" pitchFamily="2" charset="-122"/>
                          <a:ea typeface="杨任东竹石体-Bold" panose="02000000000000000000" pitchFamily="2" charset="-122"/>
                        </a:rPr>
                        <a:t>Value</a:t>
                      </a:r>
                      <a:endParaRPr lang="zh-CN" altLang="en-US" dirty="0">
                        <a:latin typeface="杨任东竹石体-Bold" panose="02000000000000000000" pitchFamily="2" charset="-122"/>
                        <a:ea typeface="杨任东竹石体-Bold" panose="02000000000000000000" pitchFamily="2" charset="-122"/>
                      </a:endParaRPr>
                    </a:p>
                  </a:txBody>
                  <a:tcPr/>
                </a:tc>
                <a:extLst>
                  <a:ext uri="{0D108BD9-81ED-4DB2-BD59-A6C34878D82A}">
                    <a16:rowId xmlns:a16="http://schemas.microsoft.com/office/drawing/2014/main" val="2712724261"/>
                  </a:ext>
                </a:extLst>
              </a:tr>
              <a:tr h="484349">
                <a:tc>
                  <a:txBody>
                    <a:bodyPr/>
                    <a:lstStyle/>
                    <a:p>
                      <a:r>
                        <a:rPr lang="zh-CN" altLang="en-US" dirty="0">
                          <a:latin typeface="杨任东竹石体-Bold" panose="02000000000000000000" pitchFamily="2" charset="-122"/>
                          <a:ea typeface="杨任东竹石体-Bold" panose="02000000000000000000" pitchFamily="2" charset="-122"/>
                        </a:rPr>
                        <a:t>张三</a:t>
                      </a:r>
                    </a:p>
                  </a:txBody>
                  <a:tcPr/>
                </a:tc>
                <a:tc>
                  <a:txBody>
                    <a:bodyPr/>
                    <a:lstStyle/>
                    <a:p>
                      <a:r>
                        <a:rPr lang="zh-CN" altLang="en-US" dirty="0">
                          <a:latin typeface="杨任东竹石体-Bold" panose="02000000000000000000" pitchFamily="2" charset="-122"/>
                          <a:ea typeface="杨任东竹石体-Bold" panose="02000000000000000000" pitchFamily="2" charset="-122"/>
                        </a:rPr>
                        <a:t>北京</a:t>
                      </a:r>
                    </a:p>
                  </a:txBody>
                  <a:tcPr/>
                </a:tc>
                <a:extLst>
                  <a:ext uri="{0D108BD9-81ED-4DB2-BD59-A6C34878D82A}">
                    <a16:rowId xmlns:a16="http://schemas.microsoft.com/office/drawing/2014/main" val="2028345770"/>
                  </a:ext>
                </a:extLst>
              </a:tr>
              <a:tr h="484349">
                <a:tc>
                  <a:txBody>
                    <a:bodyPr/>
                    <a:lstStyle/>
                    <a:p>
                      <a:r>
                        <a:rPr lang="zh-CN" altLang="en-US" dirty="0">
                          <a:latin typeface="杨任东竹石体-Bold" panose="02000000000000000000" pitchFamily="2" charset="-122"/>
                          <a:ea typeface="杨任东竹石体-Bold" panose="02000000000000000000" pitchFamily="2" charset="-122"/>
                        </a:rPr>
                        <a:t>李四</a:t>
                      </a:r>
                    </a:p>
                  </a:txBody>
                  <a:tcPr/>
                </a:tc>
                <a:tc>
                  <a:txBody>
                    <a:bodyPr/>
                    <a:lstStyle/>
                    <a:p>
                      <a:r>
                        <a:rPr lang="zh-CN" altLang="en-US" dirty="0">
                          <a:latin typeface="杨任东竹石体-Bold" panose="02000000000000000000" pitchFamily="2" charset="-122"/>
                          <a:ea typeface="杨任东竹石体-Bold" panose="02000000000000000000" pitchFamily="2" charset="-122"/>
                        </a:rPr>
                        <a:t>上海</a:t>
                      </a:r>
                    </a:p>
                  </a:txBody>
                  <a:tcPr/>
                </a:tc>
                <a:extLst>
                  <a:ext uri="{0D108BD9-81ED-4DB2-BD59-A6C34878D82A}">
                    <a16:rowId xmlns:a16="http://schemas.microsoft.com/office/drawing/2014/main" val="3113646284"/>
                  </a:ext>
                </a:extLst>
              </a:tr>
              <a:tr h="484349">
                <a:tc>
                  <a:txBody>
                    <a:bodyPr/>
                    <a:lstStyle/>
                    <a:p>
                      <a:r>
                        <a:rPr lang="zh-CN" altLang="en-US" dirty="0">
                          <a:latin typeface="杨任东竹石体-Bold" panose="02000000000000000000" pitchFamily="2" charset="-122"/>
                          <a:ea typeface="杨任东竹石体-Bold" panose="02000000000000000000" pitchFamily="2" charset="-122"/>
                        </a:rPr>
                        <a:t>王五</a:t>
                      </a:r>
                    </a:p>
                  </a:txBody>
                  <a:tcPr/>
                </a:tc>
                <a:tc>
                  <a:txBody>
                    <a:bodyPr/>
                    <a:lstStyle/>
                    <a:p>
                      <a:r>
                        <a:rPr lang="zh-CN" altLang="en-US" dirty="0">
                          <a:latin typeface="杨任东竹石体-Bold" panose="02000000000000000000" pitchFamily="2" charset="-122"/>
                          <a:ea typeface="杨任东竹石体-Bold" panose="02000000000000000000" pitchFamily="2" charset="-122"/>
                        </a:rPr>
                        <a:t>成都</a:t>
                      </a:r>
                    </a:p>
                  </a:txBody>
                  <a:tcPr/>
                </a:tc>
                <a:extLst>
                  <a:ext uri="{0D108BD9-81ED-4DB2-BD59-A6C34878D82A}">
                    <a16:rowId xmlns:a16="http://schemas.microsoft.com/office/drawing/2014/main" val="354102556"/>
                  </a:ext>
                </a:extLst>
              </a:tr>
            </a:tbl>
          </a:graphicData>
        </a:graphic>
      </p:graphicFrame>
      <p:sp>
        <p:nvSpPr>
          <p:cNvPr id="8" name="矩形 7">
            <a:extLst>
              <a:ext uri="{FF2B5EF4-FFF2-40B4-BE49-F238E27FC236}">
                <a16:creationId xmlns:a16="http://schemas.microsoft.com/office/drawing/2014/main" id="{F4CA67F5-32C2-9E05-17CF-55CD718203E7}"/>
              </a:ext>
            </a:extLst>
          </p:cNvPr>
          <p:cNvSpPr/>
          <p:nvPr/>
        </p:nvSpPr>
        <p:spPr>
          <a:xfrm>
            <a:off x="859967" y="3429000"/>
            <a:ext cx="1628791" cy="1937396"/>
          </a:xfrm>
          <a:prstGeom prst="rect">
            <a:avLst/>
          </a:prstGeom>
          <a:solidFill>
            <a:schemeClr val="bg1">
              <a:lumMod val="6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 name="表格 13">
            <a:extLst>
              <a:ext uri="{FF2B5EF4-FFF2-40B4-BE49-F238E27FC236}">
                <a16:creationId xmlns:a16="http://schemas.microsoft.com/office/drawing/2014/main" id="{5DEE5B4C-B110-0125-3E67-1DC4A99271AC}"/>
              </a:ext>
            </a:extLst>
          </p:cNvPr>
          <p:cNvGraphicFramePr>
            <a:graphicFrameLocks noGrp="1"/>
          </p:cNvGraphicFramePr>
          <p:nvPr>
            <p:extLst>
              <p:ext uri="{D42A27DB-BD31-4B8C-83A1-F6EECF244321}">
                <p14:modId xmlns:p14="http://schemas.microsoft.com/office/powerpoint/2010/main" val="1258813709"/>
              </p:ext>
            </p:extLst>
          </p:nvPr>
        </p:nvGraphicFramePr>
        <p:xfrm>
          <a:off x="5289507" y="1948070"/>
          <a:ext cx="5848946" cy="1135063"/>
        </p:xfrm>
        <a:graphic>
          <a:graphicData uri="http://schemas.openxmlformats.org/drawingml/2006/table">
            <a:tbl>
              <a:tblPr/>
              <a:tblGrid>
                <a:gridCol w="3156375">
                  <a:extLst>
                    <a:ext uri="{9D8B030D-6E8A-4147-A177-3AD203B41FA5}">
                      <a16:colId xmlns:a16="http://schemas.microsoft.com/office/drawing/2014/main" val="3977049432"/>
                    </a:ext>
                  </a:extLst>
                </a:gridCol>
                <a:gridCol w="2692571">
                  <a:extLst>
                    <a:ext uri="{9D8B030D-6E8A-4147-A177-3AD203B41FA5}">
                      <a16:colId xmlns:a16="http://schemas.microsoft.com/office/drawing/2014/main" val="2926765301"/>
                    </a:ext>
                  </a:extLst>
                </a:gridCol>
              </a:tblGrid>
              <a:tr h="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Consolas" panose="020B0609020204030204" pitchFamily="49" charset="0"/>
                          <a:ea typeface="阿里巴巴普惠体" panose="00020600040101010101" pitchFamily="18" charset="-122"/>
                          <a:cs typeface="阿里巴巴普惠体" panose="00020600040101010101" pitchFamily="18" charset="-122"/>
                        </a:rPr>
                        <a:t>方法名称</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Consolas" panose="020B0609020204030204" pitchFamily="49" charset="0"/>
                          <a:ea typeface="阿里巴巴普惠体" panose="00020600040101010101" pitchFamily="18" charset="-122"/>
                          <a:cs typeface="阿里巴巴普惠体" panose="00020600040101010101" pitchFamily="18" charset="-122"/>
                        </a:rPr>
                        <a:t>说明</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94101812"/>
                  </a:ext>
                </a:extLst>
              </a:tr>
              <a:tr h="3759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V get(Object key) </a:t>
                      </a:r>
                      <a:endParaRPr kumimoji="0" lang="zh-CN" altLang="en-US" sz="1600" b="0" i="0" u="none" strike="noStrike" cap="none" normalizeH="0" baseline="0" dirty="0">
                        <a:ln>
                          <a:noFill/>
                        </a:ln>
                        <a:solidFill>
                          <a:schemeClr val="tx1">
                            <a:lumMod val="50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lumMod val="50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根据键查找对应的值</a:t>
                      </a: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6182674"/>
                  </a:ext>
                </a:extLst>
              </a:tr>
              <a:tr h="3759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Set&lt;K&gt; </a:t>
                      </a:r>
                      <a:r>
                        <a:rPr lang="en-US" altLang="zh-CN" sz="1600" b="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keySet</a:t>
                      </a:r>
                      <a:r>
                        <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endParaRPr kumimoji="0" lang="zh-CN" altLang="en-US" sz="1600" b="0" i="0" u="none" strike="noStrike" cap="none" normalizeH="0" baseline="0" dirty="0">
                        <a:ln>
                          <a:noFill/>
                        </a:ln>
                        <a:solidFill>
                          <a:schemeClr val="tx1">
                            <a:lumMod val="50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lumMod val="50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获取 </a:t>
                      </a:r>
                      <a:r>
                        <a:rPr kumimoji="0" lang="en-US" altLang="zh-CN" sz="1600" b="0" i="0" u="none" strike="noStrike" cap="none" normalizeH="0" baseline="0" dirty="0">
                          <a:ln>
                            <a:noFill/>
                          </a:ln>
                          <a:solidFill>
                            <a:schemeClr val="tx1">
                              <a:lumMod val="50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Map </a:t>
                      </a:r>
                      <a:r>
                        <a:rPr kumimoji="0" lang="zh-CN" altLang="en-US" sz="1600" b="0" i="0" u="none" strike="noStrike" cap="none" normalizeH="0" baseline="0" dirty="0">
                          <a:ln>
                            <a:noFill/>
                          </a:ln>
                          <a:solidFill>
                            <a:schemeClr val="tx1">
                              <a:lumMod val="50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集合中所有的键</a:t>
                      </a: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671919391"/>
                  </a:ext>
                </a:extLst>
              </a:tr>
            </a:tbl>
          </a:graphicData>
        </a:graphic>
      </p:graphicFrame>
      <p:sp>
        <p:nvSpPr>
          <p:cNvPr id="15" name="箭头: 左 14">
            <a:extLst>
              <a:ext uri="{FF2B5EF4-FFF2-40B4-BE49-F238E27FC236}">
                <a16:creationId xmlns:a16="http://schemas.microsoft.com/office/drawing/2014/main" id="{E320B4CC-45AB-AADF-E4D3-177CA8ED0685}"/>
              </a:ext>
            </a:extLst>
          </p:cNvPr>
          <p:cNvSpPr/>
          <p:nvPr/>
        </p:nvSpPr>
        <p:spPr>
          <a:xfrm>
            <a:off x="4343400" y="4021259"/>
            <a:ext cx="1645920" cy="259080"/>
          </a:xfrm>
          <a:prstGeom prst="left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6" name="箭头: 左 15">
            <a:extLst>
              <a:ext uri="{FF2B5EF4-FFF2-40B4-BE49-F238E27FC236}">
                <a16:creationId xmlns:a16="http://schemas.microsoft.com/office/drawing/2014/main" id="{C10DA0EC-FCAA-0478-2F0E-A7965F7274E3}"/>
              </a:ext>
            </a:extLst>
          </p:cNvPr>
          <p:cNvSpPr/>
          <p:nvPr/>
        </p:nvSpPr>
        <p:spPr>
          <a:xfrm>
            <a:off x="4343400" y="4539419"/>
            <a:ext cx="1645920" cy="259080"/>
          </a:xfrm>
          <a:prstGeom prst="left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7" name="箭头: 左 16">
            <a:extLst>
              <a:ext uri="{FF2B5EF4-FFF2-40B4-BE49-F238E27FC236}">
                <a16:creationId xmlns:a16="http://schemas.microsoft.com/office/drawing/2014/main" id="{8F674463-AAB8-8AB1-326D-DDA19EF59256}"/>
              </a:ext>
            </a:extLst>
          </p:cNvPr>
          <p:cNvSpPr/>
          <p:nvPr/>
        </p:nvSpPr>
        <p:spPr>
          <a:xfrm>
            <a:off x="4343400" y="5067115"/>
            <a:ext cx="1645920" cy="259080"/>
          </a:xfrm>
          <a:prstGeom prst="left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6133299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42" presetClass="path" presetSubtype="0" fill="hold" nodeType="withEffect">
                                  <p:stCondLst>
                                    <p:cond delay="0"/>
                                  </p:stCondLst>
                                  <p:childTnLst>
                                    <p:animMotion origin="layout" path="M 8.33333E-7 -3.7037E-6 L 0.43047 -0.00486 " pathEditMode="relative" rAng="0" ptsTypes="AA">
                                      <p:cBhvr>
                                        <p:cTn id="28" dur="1000" fill="hold"/>
                                        <p:tgtEl>
                                          <p:spTgt spid="11"/>
                                        </p:tgtEl>
                                        <p:attrNameLst>
                                          <p:attrName>ppt_x</p:attrName>
                                          <p:attrName>ppt_y</p:attrName>
                                        </p:attrNameLst>
                                      </p:cBhvr>
                                      <p:rCtr x="21523" y="-255"/>
                                    </p:animMotion>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500"/>
                                        <p:tgtEl>
                                          <p:spTgt spid="15"/>
                                        </p:tgtEl>
                                      </p:cBhvr>
                                    </p:animEffect>
                                  </p:childTnLst>
                                </p:cTn>
                              </p:par>
                              <p:par>
                                <p:cTn id="34" presetID="22" presetClass="entr" presetSubtype="2"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500"/>
                                        <p:tgtEl>
                                          <p:spTgt spid="16"/>
                                        </p:tgtEl>
                                      </p:cBhvr>
                                    </p:animEffect>
                                  </p:childTnLst>
                                </p:cTn>
                              </p:par>
                              <p:par>
                                <p:cTn id="37" presetID="22" presetClass="entr" presetSubtype="2"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right)">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animBg="1"/>
      <p:bldP spid="16" grpId="0" animBg="1"/>
      <p:bldP spid="1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801D3F5-324E-046B-0167-E994E790FEEA}"/>
              </a:ext>
            </a:extLst>
          </p:cNvPr>
          <p:cNvSpPr>
            <a:spLocks noGrp="1"/>
          </p:cNvSpPr>
          <p:nvPr>
            <p:ph type="body" sz="quarter" idx="10"/>
          </p:nvPr>
        </p:nvSpPr>
        <p:spPr/>
        <p:txBody>
          <a:bodyPr/>
          <a:lstStyle/>
          <a:p>
            <a:r>
              <a:rPr lang="zh-CN" altLang="en-US" dirty="0"/>
              <a:t>调用 </a:t>
            </a:r>
            <a:r>
              <a:rPr lang="en-US" altLang="zh-CN" dirty="0" err="1"/>
              <a:t>keySet</a:t>
            </a:r>
            <a:r>
              <a:rPr lang="en-US" altLang="zh-CN" dirty="0"/>
              <a:t> </a:t>
            </a:r>
            <a:r>
              <a:rPr lang="zh-CN" altLang="en-US" dirty="0"/>
              <a:t>方法获取所有的键 </a:t>
            </a:r>
            <a:r>
              <a:rPr lang="en-US" altLang="zh-CN" dirty="0"/>
              <a:t>(</a:t>
            </a:r>
            <a:r>
              <a:rPr lang="zh-CN" altLang="en-US" dirty="0"/>
              <a:t>得到的是</a:t>
            </a:r>
            <a:r>
              <a:rPr lang="en-US" altLang="zh-CN" dirty="0"/>
              <a:t>Set</a:t>
            </a:r>
            <a:r>
              <a:rPr lang="zh-CN" altLang="en-US" dirty="0"/>
              <a:t>集合</a:t>
            </a:r>
            <a:r>
              <a:rPr lang="en-US" altLang="zh-CN" dirty="0"/>
              <a:t>)</a:t>
            </a:r>
          </a:p>
          <a:p>
            <a:r>
              <a:rPr lang="zh-CN" altLang="en-US" dirty="0"/>
              <a:t>遍历 </a:t>
            </a:r>
            <a:r>
              <a:rPr lang="en-US" altLang="zh-CN" dirty="0"/>
              <a:t>Set</a:t>
            </a:r>
            <a:r>
              <a:rPr lang="zh-CN" altLang="en-US" dirty="0"/>
              <a:t> 集合</a:t>
            </a:r>
            <a:r>
              <a:rPr lang="en-US" altLang="zh-CN" dirty="0"/>
              <a:t>, </a:t>
            </a:r>
            <a:r>
              <a:rPr lang="zh-CN" altLang="en-US" dirty="0"/>
              <a:t>获取每一个键</a:t>
            </a:r>
            <a:endParaRPr lang="en-US" altLang="zh-CN" dirty="0"/>
          </a:p>
          <a:p>
            <a:r>
              <a:rPr lang="zh-CN" altLang="en-US" dirty="0"/>
              <a:t>遍历的过程中调用 </a:t>
            </a:r>
            <a:r>
              <a:rPr lang="en-US" altLang="zh-CN" dirty="0"/>
              <a:t>get </a:t>
            </a:r>
            <a:r>
              <a:rPr lang="zh-CN" altLang="en-US" dirty="0"/>
              <a:t>方法</a:t>
            </a:r>
            <a:r>
              <a:rPr lang="en-US" altLang="zh-CN" dirty="0"/>
              <a:t>, </a:t>
            </a:r>
            <a:r>
              <a:rPr lang="zh-CN" altLang="en-US" dirty="0"/>
              <a:t>根据键找值</a:t>
            </a:r>
          </a:p>
        </p:txBody>
      </p:sp>
      <p:sp>
        <p:nvSpPr>
          <p:cNvPr id="4" name="矩形: 圆角 3">
            <a:extLst>
              <a:ext uri="{FF2B5EF4-FFF2-40B4-BE49-F238E27FC236}">
                <a16:creationId xmlns:a16="http://schemas.microsoft.com/office/drawing/2014/main" id="{1E05528A-0E1D-DAC5-6F1F-D978DD62E515}"/>
              </a:ext>
            </a:extLst>
          </p:cNvPr>
          <p:cNvSpPr/>
          <p:nvPr/>
        </p:nvSpPr>
        <p:spPr>
          <a:xfrm>
            <a:off x="-6507043" y="1194744"/>
            <a:ext cx="3536442" cy="649356"/>
          </a:xfrm>
          <a:prstGeom prst="roundRect">
            <a:avLst/>
          </a:prstGeom>
          <a:solidFill>
            <a:schemeClr val="accent4">
              <a:lumMod val="60000"/>
              <a:lumOff val="40000"/>
            </a:schemeClr>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杨任东竹石体-Bold" panose="02000000000000000000" pitchFamily="2" charset="-122"/>
                <a:ea typeface="杨任东竹石体-Bold" panose="02000000000000000000" pitchFamily="2" charset="-122"/>
              </a:rPr>
              <a:t>2.</a:t>
            </a:r>
            <a:r>
              <a:rPr lang="zh-CN" altLang="en-US" dirty="0">
                <a:latin typeface="杨任东竹石体-Bold" panose="02000000000000000000" pitchFamily="2" charset="-122"/>
                <a:ea typeface="杨任东竹石体-Bold" panose="02000000000000000000" pitchFamily="2" charset="-122"/>
              </a:rPr>
              <a:t> 通过键值对对象获取键和值</a:t>
            </a:r>
          </a:p>
        </p:txBody>
      </p:sp>
    </p:spTree>
    <p:extLst>
      <p:ext uri="{BB962C8B-B14F-4D97-AF65-F5344CB8AC3E}">
        <p14:creationId xmlns:p14="http://schemas.microsoft.com/office/powerpoint/2010/main" val="3898497760"/>
      </p:ext>
    </p:extLst>
  </p:cSld>
  <p:clrMapOvr>
    <a:masterClrMapping/>
  </p:clrMapOvr>
  <p:transition spd="med">
    <p:pull/>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
            <a:extLst>
              <a:ext uri="{FF2B5EF4-FFF2-40B4-BE49-F238E27FC236}">
                <a16:creationId xmlns:a16="http://schemas.microsoft.com/office/drawing/2014/main" id="{0692E544-640E-3667-890D-7788E8F50EB2}"/>
              </a:ext>
            </a:extLst>
          </p:cNvPr>
          <p:cNvSpPr>
            <a:spLocks noGrp="1"/>
          </p:cNvSpPr>
          <p:nvPr>
            <p:ph type="title"/>
          </p:nvPr>
        </p:nvSpPr>
        <p:spPr/>
        <p:txBody>
          <a:bodyPr/>
          <a:lstStyle/>
          <a:p>
            <a:r>
              <a:rPr lang="en-US" altLang="zh-CN" dirty="0"/>
              <a:t>Map </a:t>
            </a:r>
            <a:r>
              <a:rPr lang="zh-CN" altLang="en-US" dirty="0"/>
              <a:t>集合的三种遍历方式</a:t>
            </a:r>
          </a:p>
        </p:txBody>
      </p:sp>
      <p:graphicFrame>
        <p:nvGraphicFramePr>
          <p:cNvPr id="4" name="表格 7">
            <a:extLst>
              <a:ext uri="{FF2B5EF4-FFF2-40B4-BE49-F238E27FC236}">
                <a16:creationId xmlns:a16="http://schemas.microsoft.com/office/drawing/2014/main" id="{358F7FC0-56C0-DA34-1B5A-8B1729187F1D}"/>
              </a:ext>
            </a:extLst>
          </p:cNvPr>
          <p:cNvGraphicFramePr>
            <a:graphicFrameLocks noGrp="1"/>
          </p:cNvGraphicFramePr>
          <p:nvPr/>
        </p:nvGraphicFramePr>
        <p:xfrm>
          <a:off x="859967" y="3443812"/>
          <a:ext cx="3238268" cy="1818807"/>
        </p:xfrm>
        <a:graphic>
          <a:graphicData uri="http://schemas.openxmlformats.org/drawingml/2006/table">
            <a:tbl>
              <a:tblPr firstRow="1" bandRow="1">
                <a:tableStyleId>{7E9639D4-E3E2-4D34-9284-5A2195B3D0D7}</a:tableStyleId>
              </a:tblPr>
              <a:tblGrid>
                <a:gridCol w="1619134">
                  <a:extLst>
                    <a:ext uri="{9D8B030D-6E8A-4147-A177-3AD203B41FA5}">
                      <a16:colId xmlns:a16="http://schemas.microsoft.com/office/drawing/2014/main" val="2226606431"/>
                    </a:ext>
                  </a:extLst>
                </a:gridCol>
                <a:gridCol w="1619134">
                  <a:extLst>
                    <a:ext uri="{9D8B030D-6E8A-4147-A177-3AD203B41FA5}">
                      <a16:colId xmlns:a16="http://schemas.microsoft.com/office/drawing/2014/main" val="358889312"/>
                    </a:ext>
                  </a:extLst>
                </a:gridCol>
              </a:tblGrid>
              <a:tr h="0">
                <a:tc>
                  <a:txBody>
                    <a:bodyPr/>
                    <a:lstStyle/>
                    <a:p>
                      <a:r>
                        <a:rPr lang="en-US" altLang="zh-CN" dirty="0">
                          <a:latin typeface="杨任东竹石体-Bold" panose="02000000000000000000" pitchFamily="2" charset="-122"/>
                          <a:ea typeface="杨任东竹石体-Bold" panose="02000000000000000000" pitchFamily="2" charset="-122"/>
                        </a:rPr>
                        <a:t>Key</a:t>
                      </a:r>
                      <a:endParaRPr lang="zh-CN" altLang="en-US" dirty="0">
                        <a:latin typeface="杨任东竹石体-Bold" panose="02000000000000000000" pitchFamily="2" charset="-122"/>
                        <a:ea typeface="杨任东竹石体-Bold" panose="02000000000000000000" pitchFamily="2" charset="-122"/>
                      </a:endParaRPr>
                    </a:p>
                  </a:txBody>
                  <a:tcPr/>
                </a:tc>
                <a:tc>
                  <a:txBody>
                    <a:bodyPr/>
                    <a:lstStyle/>
                    <a:p>
                      <a:r>
                        <a:rPr lang="en-US" altLang="zh-CN" dirty="0">
                          <a:latin typeface="杨任东竹石体-Bold" panose="02000000000000000000" pitchFamily="2" charset="-122"/>
                          <a:ea typeface="杨任东竹石体-Bold" panose="02000000000000000000" pitchFamily="2" charset="-122"/>
                        </a:rPr>
                        <a:t>Value</a:t>
                      </a:r>
                      <a:endParaRPr lang="zh-CN" altLang="en-US" dirty="0">
                        <a:latin typeface="杨任东竹石体-Bold" panose="02000000000000000000" pitchFamily="2" charset="-122"/>
                        <a:ea typeface="杨任东竹石体-Bold" panose="02000000000000000000" pitchFamily="2" charset="-122"/>
                      </a:endParaRPr>
                    </a:p>
                  </a:txBody>
                  <a:tcPr/>
                </a:tc>
                <a:extLst>
                  <a:ext uri="{0D108BD9-81ED-4DB2-BD59-A6C34878D82A}">
                    <a16:rowId xmlns:a16="http://schemas.microsoft.com/office/drawing/2014/main" val="2712724261"/>
                  </a:ext>
                </a:extLst>
              </a:tr>
              <a:tr h="484349">
                <a:tc>
                  <a:txBody>
                    <a:bodyPr/>
                    <a:lstStyle/>
                    <a:p>
                      <a:r>
                        <a:rPr lang="zh-CN" altLang="en-US" dirty="0">
                          <a:latin typeface="杨任东竹石体-Bold" panose="02000000000000000000" pitchFamily="2" charset="-122"/>
                          <a:ea typeface="杨任东竹石体-Bold" panose="02000000000000000000" pitchFamily="2" charset="-122"/>
                        </a:rPr>
                        <a:t>张三</a:t>
                      </a:r>
                    </a:p>
                  </a:txBody>
                  <a:tcPr/>
                </a:tc>
                <a:tc>
                  <a:txBody>
                    <a:bodyPr/>
                    <a:lstStyle/>
                    <a:p>
                      <a:r>
                        <a:rPr lang="zh-CN" altLang="en-US" dirty="0">
                          <a:latin typeface="杨任东竹石体-Bold" panose="02000000000000000000" pitchFamily="2" charset="-122"/>
                          <a:ea typeface="杨任东竹石体-Bold" panose="02000000000000000000" pitchFamily="2" charset="-122"/>
                        </a:rPr>
                        <a:t>北京</a:t>
                      </a:r>
                    </a:p>
                  </a:txBody>
                  <a:tcPr/>
                </a:tc>
                <a:extLst>
                  <a:ext uri="{0D108BD9-81ED-4DB2-BD59-A6C34878D82A}">
                    <a16:rowId xmlns:a16="http://schemas.microsoft.com/office/drawing/2014/main" val="2028345770"/>
                  </a:ext>
                </a:extLst>
              </a:tr>
              <a:tr h="484349">
                <a:tc>
                  <a:txBody>
                    <a:bodyPr/>
                    <a:lstStyle/>
                    <a:p>
                      <a:r>
                        <a:rPr lang="zh-CN" altLang="en-US" dirty="0">
                          <a:latin typeface="杨任东竹石体-Bold" panose="02000000000000000000" pitchFamily="2" charset="-122"/>
                          <a:ea typeface="杨任东竹石体-Bold" panose="02000000000000000000" pitchFamily="2" charset="-122"/>
                        </a:rPr>
                        <a:t>李四</a:t>
                      </a:r>
                    </a:p>
                  </a:txBody>
                  <a:tcPr/>
                </a:tc>
                <a:tc>
                  <a:txBody>
                    <a:bodyPr/>
                    <a:lstStyle/>
                    <a:p>
                      <a:r>
                        <a:rPr lang="zh-CN" altLang="en-US" dirty="0">
                          <a:latin typeface="杨任东竹石体-Bold" panose="02000000000000000000" pitchFamily="2" charset="-122"/>
                          <a:ea typeface="杨任东竹石体-Bold" panose="02000000000000000000" pitchFamily="2" charset="-122"/>
                        </a:rPr>
                        <a:t>上海</a:t>
                      </a:r>
                    </a:p>
                  </a:txBody>
                  <a:tcPr/>
                </a:tc>
                <a:extLst>
                  <a:ext uri="{0D108BD9-81ED-4DB2-BD59-A6C34878D82A}">
                    <a16:rowId xmlns:a16="http://schemas.microsoft.com/office/drawing/2014/main" val="3113646284"/>
                  </a:ext>
                </a:extLst>
              </a:tr>
              <a:tr h="484349">
                <a:tc>
                  <a:txBody>
                    <a:bodyPr/>
                    <a:lstStyle/>
                    <a:p>
                      <a:r>
                        <a:rPr lang="zh-CN" altLang="en-US" dirty="0">
                          <a:latin typeface="杨任东竹石体-Bold" panose="02000000000000000000" pitchFamily="2" charset="-122"/>
                          <a:ea typeface="杨任东竹石体-Bold" panose="02000000000000000000" pitchFamily="2" charset="-122"/>
                        </a:rPr>
                        <a:t>王五</a:t>
                      </a:r>
                    </a:p>
                  </a:txBody>
                  <a:tcPr/>
                </a:tc>
                <a:tc>
                  <a:txBody>
                    <a:bodyPr/>
                    <a:lstStyle/>
                    <a:p>
                      <a:r>
                        <a:rPr lang="zh-CN" altLang="en-US" dirty="0">
                          <a:latin typeface="杨任东竹石体-Bold" panose="02000000000000000000" pitchFamily="2" charset="-122"/>
                          <a:ea typeface="杨任东竹石体-Bold" panose="02000000000000000000" pitchFamily="2" charset="-122"/>
                        </a:rPr>
                        <a:t>成都</a:t>
                      </a:r>
                    </a:p>
                  </a:txBody>
                  <a:tcPr/>
                </a:tc>
                <a:extLst>
                  <a:ext uri="{0D108BD9-81ED-4DB2-BD59-A6C34878D82A}">
                    <a16:rowId xmlns:a16="http://schemas.microsoft.com/office/drawing/2014/main" val="354102556"/>
                  </a:ext>
                </a:extLst>
              </a:tr>
            </a:tbl>
          </a:graphicData>
        </a:graphic>
      </p:graphicFrame>
      <p:graphicFrame>
        <p:nvGraphicFramePr>
          <p:cNvPr id="14" name="表格 13">
            <a:extLst>
              <a:ext uri="{FF2B5EF4-FFF2-40B4-BE49-F238E27FC236}">
                <a16:creationId xmlns:a16="http://schemas.microsoft.com/office/drawing/2014/main" id="{5DEE5B4C-B110-0125-3E67-1DC4A99271AC}"/>
              </a:ext>
            </a:extLst>
          </p:cNvPr>
          <p:cNvGraphicFramePr>
            <a:graphicFrameLocks noGrp="1"/>
          </p:cNvGraphicFramePr>
          <p:nvPr>
            <p:extLst>
              <p:ext uri="{D42A27DB-BD31-4B8C-83A1-F6EECF244321}">
                <p14:modId xmlns:p14="http://schemas.microsoft.com/office/powerpoint/2010/main" val="3814042981"/>
              </p:ext>
            </p:extLst>
          </p:nvPr>
        </p:nvGraphicFramePr>
        <p:xfrm>
          <a:off x="5250636" y="1888216"/>
          <a:ext cx="6795054" cy="759132"/>
        </p:xfrm>
        <a:graphic>
          <a:graphicData uri="http://schemas.openxmlformats.org/drawingml/2006/table">
            <a:tbl>
              <a:tblPr/>
              <a:tblGrid>
                <a:gridCol w="3666941">
                  <a:extLst>
                    <a:ext uri="{9D8B030D-6E8A-4147-A177-3AD203B41FA5}">
                      <a16:colId xmlns:a16="http://schemas.microsoft.com/office/drawing/2014/main" val="3977049432"/>
                    </a:ext>
                  </a:extLst>
                </a:gridCol>
                <a:gridCol w="3128113">
                  <a:extLst>
                    <a:ext uri="{9D8B030D-6E8A-4147-A177-3AD203B41FA5}">
                      <a16:colId xmlns:a16="http://schemas.microsoft.com/office/drawing/2014/main" val="2926765301"/>
                    </a:ext>
                  </a:extLst>
                </a:gridCol>
              </a:tblGrid>
              <a:tr h="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Consolas" panose="020B0609020204030204" pitchFamily="49" charset="0"/>
                          <a:ea typeface="阿里巴巴普惠体" panose="00020600040101010101" pitchFamily="18" charset="-122"/>
                          <a:cs typeface="阿里巴巴普惠体" panose="00020600040101010101" pitchFamily="18" charset="-122"/>
                        </a:rPr>
                        <a:t>方法名称</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Consolas" panose="020B0609020204030204" pitchFamily="49" charset="0"/>
                          <a:ea typeface="阿里巴巴普惠体" panose="00020600040101010101" pitchFamily="18" charset="-122"/>
                          <a:cs typeface="阿里巴巴普惠体" panose="00020600040101010101" pitchFamily="18" charset="-122"/>
                        </a:rPr>
                        <a:t>说明</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94101812"/>
                  </a:ext>
                </a:extLst>
              </a:tr>
              <a:tr h="37593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Set&lt;</a:t>
                      </a:r>
                      <a:r>
                        <a:rPr lang="en-US" altLang="zh-CN" sz="1600" b="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Map.Entry</a:t>
                      </a:r>
                      <a:r>
                        <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&lt;K,V&gt;&gt; </a:t>
                      </a:r>
                      <a:r>
                        <a:rPr lang="en-US" altLang="zh-CN" sz="1600" b="0"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entrySet</a:t>
                      </a:r>
                      <a:r>
                        <a:rPr lang="en-US" altLang="zh-CN" sz="1600" b="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endParaRPr kumimoji="0" lang="zh-CN" altLang="en-US" sz="1600" b="0" i="0" u="none" strike="noStrike" cap="none" normalizeH="0" baseline="0" dirty="0">
                        <a:ln>
                          <a:noFill/>
                        </a:ln>
                        <a:solidFill>
                          <a:schemeClr val="tx1">
                            <a:lumMod val="50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lumMod val="50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获取集合中所有的键值对对象</a:t>
                      </a: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6182674"/>
                  </a:ext>
                </a:extLst>
              </a:tr>
            </a:tbl>
          </a:graphicData>
        </a:graphic>
      </p:graphicFrame>
      <p:sp>
        <p:nvSpPr>
          <p:cNvPr id="6" name="矩形: 圆角 5">
            <a:extLst>
              <a:ext uri="{FF2B5EF4-FFF2-40B4-BE49-F238E27FC236}">
                <a16:creationId xmlns:a16="http://schemas.microsoft.com/office/drawing/2014/main" id="{EEAA6FCD-308C-FCC2-0D6F-2E6D5958039D}"/>
              </a:ext>
            </a:extLst>
          </p:cNvPr>
          <p:cNvSpPr/>
          <p:nvPr/>
        </p:nvSpPr>
        <p:spPr>
          <a:xfrm>
            <a:off x="806958" y="1866245"/>
            <a:ext cx="3536442" cy="649356"/>
          </a:xfrm>
          <a:prstGeom prst="roundRect">
            <a:avLst/>
          </a:prstGeom>
          <a:solidFill>
            <a:schemeClr val="accent4">
              <a:lumMod val="60000"/>
              <a:lumOff val="40000"/>
            </a:schemeClr>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杨任东竹石体-Bold" panose="02000000000000000000" pitchFamily="2" charset="-122"/>
                <a:ea typeface="杨任东竹石体-Bold" panose="02000000000000000000" pitchFamily="2" charset="-122"/>
              </a:rPr>
              <a:t>2.</a:t>
            </a:r>
            <a:r>
              <a:rPr lang="zh-CN" altLang="en-US" dirty="0">
                <a:latin typeface="杨任东竹石体-Bold" panose="02000000000000000000" pitchFamily="2" charset="-122"/>
                <a:ea typeface="杨任东竹石体-Bold" panose="02000000000000000000" pitchFamily="2" charset="-122"/>
              </a:rPr>
              <a:t> 通过键值对对象获取键和值</a:t>
            </a:r>
          </a:p>
        </p:txBody>
      </p:sp>
      <p:sp>
        <p:nvSpPr>
          <p:cNvPr id="7" name="矩形 6">
            <a:extLst>
              <a:ext uri="{FF2B5EF4-FFF2-40B4-BE49-F238E27FC236}">
                <a16:creationId xmlns:a16="http://schemas.microsoft.com/office/drawing/2014/main" id="{8B76F75F-E6F8-933A-EACD-980433A722EB}"/>
              </a:ext>
            </a:extLst>
          </p:cNvPr>
          <p:cNvSpPr/>
          <p:nvPr/>
        </p:nvSpPr>
        <p:spPr>
          <a:xfrm>
            <a:off x="859967" y="3813935"/>
            <a:ext cx="3238268" cy="473685"/>
          </a:xfrm>
          <a:prstGeom prst="rect">
            <a:avLst/>
          </a:prstGeom>
          <a:solidFill>
            <a:schemeClr val="bg1">
              <a:lumMod val="6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2502C660-7208-CCED-FE2C-D46ACA81AA9E}"/>
              </a:ext>
            </a:extLst>
          </p:cNvPr>
          <p:cNvSpPr/>
          <p:nvPr/>
        </p:nvSpPr>
        <p:spPr>
          <a:xfrm>
            <a:off x="5300867" y="3704067"/>
            <a:ext cx="2953657" cy="759132"/>
          </a:xfrm>
          <a:prstGeom prst="round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zh-CN" altLang="en-US" dirty="0">
                <a:latin typeface="杨任东竹石体-Bold" panose="02000000000000000000" pitchFamily="2" charset="-122"/>
                <a:ea typeface="杨任东竹石体-Bold" panose="02000000000000000000" pitchFamily="2" charset="-122"/>
              </a:rPr>
              <a:t>张三</a:t>
            </a:r>
            <a:r>
              <a:rPr lang="en-US" altLang="zh-CN" dirty="0">
                <a:latin typeface="杨任东竹石体-Bold" panose="02000000000000000000" pitchFamily="2" charset="-122"/>
                <a:ea typeface="杨任东竹石体-Bold" panose="02000000000000000000" pitchFamily="2" charset="-122"/>
              </a:rPr>
              <a:t>,</a:t>
            </a:r>
            <a:r>
              <a:rPr lang="zh-CN" altLang="en-US" dirty="0">
                <a:latin typeface="杨任东竹石体-Bold" panose="02000000000000000000" pitchFamily="2" charset="-122"/>
                <a:ea typeface="杨任东竹石体-Bold" panose="02000000000000000000" pitchFamily="2" charset="-122"/>
              </a:rPr>
              <a:t>北京</a:t>
            </a:r>
          </a:p>
        </p:txBody>
      </p:sp>
      <p:sp>
        <p:nvSpPr>
          <p:cNvPr id="10" name="文本框 9">
            <a:extLst>
              <a:ext uri="{FF2B5EF4-FFF2-40B4-BE49-F238E27FC236}">
                <a16:creationId xmlns:a16="http://schemas.microsoft.com/office/drawing/2014/main" id="{6F119D41-C18A-FB6B-EFE7-C5BA3F626931}"/>
              </a:ext>
            </a:extLst>
          </p:cNvPr>
          <p:cNvSpPr txBox="1"/>
          <p:nvPr/>
        </p:nvSpPr>
        <p:spPr>
          <a:xfrm>
            <a:off x="5289507" y="3212979"/>
            <a:ext cx="2657064" cy="461665"/>
          </a:xfrm>
          <a:prstGeom prst="rect">
            <a:avLst/>
          </a:prstGeom>
          <a:noFill/>
          <a:ln>
            <a:noFill/>
          </a:ln>
        </p:spPr>
        <p:txBody>
          <a:bodyPr wrap="square" rtlCol="0">
            <a:spAutoFit/>
          </a:bodyPr>
          <a:lstStyle/>
          <a:p>
            <a:pPr algn="l"/>
            <a:r>
              <a:rPr kumimoji="0" lang="en-US" altLang="zh-CN" sz="2400" b="0" i="0" u="none" strike="noStrike" cap="none" normalizeH="0" baseline="0" dirty="0" err="1">
                <a:ln>
                  <a:noFill/>
                </a:ln>
                <a:solidFill>
                  <a:srgbClr val="0033B3"/>
                </a:solidFill>
                <a:effectLst/>
                <a:latin typeface="Consolas" panose="020B0609020204030204" pitchFamily="49" charset="0"/>
                <a:ea typeface="JetBrains Mono"/>
              </a:rPr>
              <a:t>Map.Entry</a:t>
            </a:r>
            <a:endParaRPr kumimoji="0" lang="zh-CN" altLang="en-US" sz="2400" b="0" i="0" u="none" strike="noStrike" cap="none" normalizeH="0" baseline="0" dirty="0">
              <a:ln>
                <a:noFill/>
              </a:ln>
              <a:solidFill>
                <a:srgbClr val="0033B3"/>
              </a:solidFill>
              <a:effectLst/>
              <a:latin typeface="Consolas" panose="020B0609020204030204" pitchFamily="49" charset="0"/>
              <a:ea typeface="JetBrains Mono"/>
            </a:endParaRPr>
          </a:p>
        </p:txBody>
      </p:sp>
      <p:graphicFrame>
        <p:nvGraphicFramePr>
          <p:cNvPr id="13" name="表格 7">
            <a:extLst>
              <a:ext uri="{FF2B5EF4-FFF2-40B4-BE49-F238E27FC236}">
                <a16:creationId xmlns:a16="http://schemas.microsoft.com/office/drawing/2014/main" id="{5160EC2D-5851-3FF9-7241-0EAE37D20D29}"/>
              </a:ext>
            </a:extLst>
          </p:cNvPr>
          <p:cNvGraphicFramePr>
            <a:graphicFrameLocks noGrp="1"/>
          </p:cNvGraphicFramePr>
          <p:nvPr/>
        </p:nvGraphicFramePr>
        <p:xfrm>
          <a:off x="5300867" y="4770080"/>
          <a:ext cx="5291408" cy="1136876"/>
        </p:xfrm>
        <a:graphic>
          <a:graphicData uri="http://schemas.openxmlformats.org/drawingml/2006/table">
            <a:tbl>
              <a:tblPr firstRow="1" bandRow="1">
                <a:tableStyleId>{7E9639D4-E3E2-4D34-9284-5A2195B3D0D7}</a:tableStyleId>
              </a:tblPr>
              <a:tblGrid>
                <a:gridCol w="2645704">
                  <a:extLst>
                    <a:ext uri="{9D8B030D-6E8A-4147-A177-3AD203B41FA5}">
                      <a16:colId xmlns:a16="http://schemas.microsoft.com/office/drawing/2014/main" val="2226606431"/>
                    </a:ext>
                  </a:extLst>
                </a:gridCol>
                <a:gridCol w="2645704">
                  <a:extLst>
                    <a:ext uri="{9D8B030D-6E8A-4147-A177-3AD203B41FA5}">
                      <a16:colId xmlns:a16="http://schemas.microsoft.com/office/drawing/2014/main" val="358889312"/>
                    </a:ext>
                  </a:extLst>
                </a:gridCol>
              </a:tblGrid>
              <a:tr h="152411">
                <a:tc>
                  <a:txBody>
                    <a:bodyPr/>
                    <a:lstStyle/>
                    <a:p>
                      <a:r>
                        <a:rPr lang="zh-CN" altLang="en-US" dirty="0">
                          <a:latin typeface="杨任东竹石体-Bold" panose="02000000000000000000" pitchFamily="2" charset="-122"/>
                          <a:ea typeface="杨任东竹石体-Bold" panose="02000000000000000000" pitchFamily="2" charset="-122"/>
                        </a:rPr>
                        <a:t>方法名</a:t>
                      </a:r>
                    </a:p>
                  </a:txBody>
                  <a:tcPr/>
                </a:tc>
                <a:tc>
                  <a:txBody>
                    <a:bodyPr/>
                    <a:lstStyle/>
                    <a:p>
                      <a:r>
                        <a:rPr lang="zh-CN" altLang="en-US" dirty="0">
                          <a:latin typeface="杨任东竹石体-Bold" panose="02000000000000000000" pitchFamily="2" charset="-122"/>
                          <a:ea typeface="杨任东竹石体-Bold" panose="02000000000000000000" pitchFamily="2" charset="-122"/>
                        </a:rPr>
                        <a:t>说明</a:t>
                      </a:r>
                    </a:p>
                  </a:txBody>
                  <a:tcPr/>
                </a:tc>
                <a:extLst>
                  <a:ext uri="{0D108BD9-81ED-4DB2-BD59-A6C34878D82A}">
                    <a16:rowId xmlns:a16="http://schemas.microsoft.com/office/drawing/2014/main" val="2712724261"/>
                  </a:ext>
                </a:extLst>
              </a:tr>
              <a:tr h="385558">
                <a:tc>
                  <a:txBody>
                    <a:bodyPr/>
                    <a:lstStyle/>
                    <a:p>
                      <a:r>
                        <a:rPr lang="en-US" altLang="zh-CN" sz="1800" dirty="0" err="1">
                          <a:latin typeface="Consolas" panose="020B0609020204030204" pitchFamily="49" charset="0"/>
                          <a:ea typeface="杨任东竹石体-Bold" panose="02000000000000000000" pitchFamily="2" charset="-122"/>
                        </a:rPr>
                        <a:t>getKey</a:t>
                      </a:r>
                      <a:r>
                        <a:rPr lang="en-US" altLang="zh-CN" sz="1800" dirty="0">
                          <a:latin typeface="Consolas" panose="020B0609020204030204" pitchFamily="49" charset="0"/>
                          <a:ea typeface="杨任东竹石体-Bold" panose="02000000000000000000" pitchFamily="2" charset="-122"/>
                        </a:rPr>
                        <a:t>()</a:t>
                      </a:r>
                      <a:endParaRPr lang="zh-CN" altLang="en-US" sz="1800" dirty="0">
                        <a:latin typeface="Consolas" panose="020B0609020204030204" pitchFamily="49" charset="0"/>
                        <a:ea typeface="杨任东竹石体-Bold" panose="02000000000000000000" pitchFamily="2" charset="-122"/>
                      </a:endParaRPr>
                    </a:p>
                  </a:txBody>
                  <a:tcPr/>
                </a:tc>
                <a:tc>
                  <a:txBody>
                    <a:bodyPr/>
                    <a:lstStyle/>
                    <a:p>
                      <a:r>
                        <a:rPr lang="zh-CN" altLang="en-US" sz="1800" dirty="0">
                          <a:latin typeface="杨任东竹石体-Bold" panose="02000000000000000000" pitchFamily="2" charset="-122"/>
                          <a:ea typeface="杨任东竹石体-Bold" panose="02000000000000000000" pitchFamily="2" charset="-122"/>
                        </a:rPr>
                        <a:t>获取键</a:t>
                      </a:r>
                    </a:p>
                  </a:txBody>
                  <a:tcPr/>
                </a:tc>
                <a:extLst>
                  <a:ext uri="{0D108BD9-81ED-4DB2-BD59-A6C34878D82A}">
                    <a16:rowId xmlns:a16="http://schemas.microsoft.com/office/drawing/2014/main" val="2028345770"/>
                  </a:ext>
                </a:extLst>
              </a:tr>
              <a:tr h="385558">
                <a:tc>
                  <a:txBody>
                    <a:bodyPr/>
                    <a:lstStyle/>
                    <a:p>
                      <a:r>
                        <a:rPr lang="en-US" altLang="zh-CN" sz="1800" dirty="0" err="1">
                          <a:latin typeface="Consolas" panose="020B0609020204030204" pitchFamily="49" charset="0"/>
                          <a:ea typeface="杨任东竹石体-Bold" panose="02000000000000000000" pitchFamily="2" charset="-122"/>
                        </a:rPr>
                        <a:t>getValue</a:t>
                      </a:r>
                      <a:r>
                        <a:rPr lang="en-US" altLang="zh-CN" sz="1800" dirty="0">
                          <a:latin typeface="Consolas" panose="020B0609020204030204" pitchFamily="49" charset="0"/>
                          <a:ea typeface="杨任东竹石体-Bold" panose="02000000000000000000" pitchFamily="2" charset="-122"/>
                        </a:rPr>
                        <a:t>()</a:t>
                      </a:r>
                      <a:endParaRPr lang="zh-CN" altLang="en-US" sz="1800" dirty="0">
                        <a:latin typeface="Consolas" panose="020B0609020204030204" pitchFamily="49" charset="0"/>
                        <a:ea typeface="杨任东竹石体-Bold" panose="02000000000000000000" pitchFamily="2" charset="-122"/>
                      </a:endParaRPr>
                    </a:p>
                  </a:txBody>
                  <a:tcPr/>
                </a:tc>
                <a:tc>
                  <a:txBody>
                    <a:bodyPr/>
                    <a:lstStyle/>
                    <a:p>
                      <a:r>
                        <a:rPr lang="zh-CN" altLang="en-US" sz="1800" dirty="0">
                          <a:latin typeface="杨任东竹石体-Bold" panose="02000000000000000000" pitchFamily="2" charset="-122"/>
                          <a:ea typeface="杨任东竹石体-Bold" panose="02000000000000000000" pitchFamily="2" charset="-122"/>
                        </a:rPr>
                        <a:t>获取值</a:t>
                      </a:r>
                    </a:p>
                  </a:txBody>
                  <a:tcPr/>
                </a:tc>
                <a:extLst>
                  <a:ext uri="{0D108BD9-81ED-4DB2-BD59-A6C34878D82A}">
                    <a16:rowId xmlns:a16="http://schemas.microsoft.com/office/drawing/2014/main" val="3113646284"/>
                  </a:ext>
                </a:extLst>
              </a:tr>
            </a:tbl>
          </a:graphicData>
        </a:graphic>
      </p:graphicFrame>
    </p:spTree>
    <p:extLst>
      <p:ext uri="{BB962C8B-B14F-4D97-AF65-F5344CB8AC3E}">
        <p14:creationId xmlns:p14="http://schemas.microsoft.com/office/powerpoint/2010/main" val="19117649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mph" presetSubtype="0" repeatCount="3000" fill="hold" grpId="0" nodeType="clickEffect">
                                  <p:stCondLst>
                                    <p:cond delay="0"/>
                                  </p:stCondLst>
                                  <p:childTnLst>
                                    <p:animEffect transition="out" filter="fade">
                                      <p:cBhvr>
                                        <p:cTn id="16" dur="500" tmFilter="0, 0; .2, .5; .8, .5; 1, 0"/>
                                        <p:tgtEl>
                                          <p:spTgt spid="7"/>
                                        </p:tgtEl>
                                      </p:cBhvr>
                                    </p:animEffect>
                                    <p:animScale>
                                      <p:cBhvr>
                                        <p:cTn id="17" dur="250" autoRev="1" fill="hold"/>
                                        <p:tgtEl>
                                          <p:spTgt spid="7"/>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ppt_x"/>
                                          </p:val>
                                        </p:tav>
                                        <p:tav tm="100000">
                                          <p:val>
                                            <p:strVal val="#ppt_x"/>
                                          </p:val>
                                        </p:tav>
                                      </p:tavLst>
                                    </p:anim>
                                    <p:anim calcmode="lin" valueType="num">
                                      <p:cBhvr additive="base">
                                        <p:cTn id="3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7"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1000"/>
                                        <p:tgtEl>
                                          <p:spTgt spid="14"/>
                                        </p:tgtEl>
                                      </p:cBhvr>
                                    </p:animEffect>
                                    <p:anim calcmode="lin" valueType="num">
                                      <p:cBhvr>
                                        <p:cTn id="37" dur="1000" fill="hold"/>
                                        <p:tgtEl>
                                          <p:spTgt spid="14"/>
                                        </p:tgtEl>
                                        <p:attrNameLst>
                                          <p:attrName>ppt_x</p:attrName>
                                        </p:attrNameLst>
                                      </p:cBhvr>
                                      <p:tavLst>
                                        <p:tav tm="0">
                                          <p:val>
                                            <p:strVal val="#ppt_x"/>
                                          </p:val>
                                        </p:tav>
                                        <p:tav tm="100000">
                                          <p:val>
                                            <p:strVal val="#ppt_x"/>
                                          </p:val>
                                        </p:tav>
                                      </p:tavLst>
                                    </p:anim>
                                    <p:anim calcmode="lin" valueType="num">
                                      <p:cBhvr>
                                        <p:cTn id="3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animBg="1"/>
      <p:bldP spid="10"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801D3F5-324E-046B-0167-E994E790FEEA}"/>
              </a:ext>
            </a:extLst>
          </p:cNvPr>
          <p:cNvSpPr>
            <a:spLocks noGrp="1"/>
          </p:cNvSpPr>
          <p:nvPr>
            <p:ph type="body" sz="quarter" idx="10"/>
          </p:nvPr>
        </p:nvSpPr>
        <p:spPr/>
        <p:txBody>
          <a:bodyPr/>
          <a:lstStyle/>
          <a:p>
            <a:r>
              <a:rPr lang="en-US" altLang="zh-CN" dirty="0"/>
              <a:t>1.</a:t>
            </a:r>
            <a:r>
              <a:rPr lang="zh-CN" altLang="en-US" dirty="0"/>
              <a:t>调用 </a:t>
            </a:r>
            <a:r>
              <a:rPr lang="en-US" altLang="zh-CN" dirty="0" err="1"/>
              <a:t>entrySet</a:t>
            </a:r>
            <a:r>
              <a:rPr lang="en-US" altLang="zh-CN" dirty="0"/>
              <a:t> </a:t>
            </a:r>
            <a:r>
              <a:rPr lang="zh-CN" altLang="en-US" dirty="0"/>
              <a:t>方法获取所有的键值对对象</a:t>
            </a:r>
            <a:endParaRPr lang="en-US" altLang="zh-CN" dirty="0"/>
          </a:p>
          <a:p>
            <a:pPr marL="0" indent="0">
              <a:buNone/>
            </a:pPr>
            <a:r>
              <a:rPr lang="en-US" altLang="zh-CN" dirty="0"/>
              <a:t>	</a:t>
            </a:r>
            <a:r>
              <a:rPr lang="zh-CN" altLang="en-US" dirty="0"/>
              <a:t> </a:t>
            </a:r>
            <a:r>
              <a:rPr lang="en-US" altLang="zh-CN" dirty="0"/>
              <a:t>(</a:t>
            </a:r>
            <a:r>
              <a:rPr lang="zh-CN" altLang="en-US" dirty="0"/>
              <a:t>得到的是</a:t>
            </a:r>
            <a:r>
              <a:rPr lang="en-US" altLang="zh-CN" dirty="0"/>
              <a:t>Set</a:t>
            </a:r>
            <a:r>
              <a:rPr lang="zh-CN" altLang="en-US" dirty="0"/>
              <a:t>集合</a:t>
            </a:r>
            <a:r>
              <a:rPr lang="en-US" altLang="zh-CN" dirty="0"/>
              <a:t>)</a:t>
            </a:r>
          </a:p>
          <a:p>
            <a:pPr>
              <a:buFont typeface="+mj-lt"/>
              <a:buAutoNum type="arabicPeriod" startAt="2"/>
            </a:pPr>
            <a:r>
              <a:rPr lang="zh-CN" altLang="en-US" dirty="0"/>
              <a:t>遍历 </a:t>
            </a:r>
            <a:r>
              <a:rPr lang="en-US" altLang="zh-CN" dirty="0"/>
              <a:t>Set</a:t>
            </a:r>
            <a:r>
              <a:rPr lang="zh-CN" altLang="en-US" dirty="0"/>
              <a:t> 集合</a:t>
            </a:r>
            <a:r>
              <a:rPr lang="en-US" altLang="zh-CN" dirty="0"/>
              <a:t>, </a:t>
            </a:r>
            <a:r>
              <a:rPr lang="zh-CN" altLang="en-US" dirty="0"/>
              <a:t>获取每一个键值对对象</a:t>
            </a:r>
            <a:endParaRPr lang="en-US" altLang="zh-CN" dirty="0"/>
          </a:p>
          <a:p>
            <a:pPr>
              <a:buAutoNum type="arabicPeriod" startAt="2"/>
            </a:pPr>
            <a:r>
              <a:rPr lang="zh-CN" altLang="en-US" dirty="0"/>
              <a:t>通过键值对对象的 </a:t>
            </a:r>
            <a:r>
              <a:rPr lang="en-US" altLang="zh-CN" dirty="0" err="1"/>
              <a:t>getKey</a:t>
            </a:r>
            <a:r>
              <a:rPr lang="en-US" altLang="zh-CN" dirty="0"/>
              <a:t>() </a:t>
            </a:r>
            <a:r>
              <a:rPr lang="en-US" altLang="zh-CN" dirty="0" err="1"/>
              <a:t>getValue</a:t>
            </a:r>
            <a:r>
              <a:rPr lang="en-US" altLang="zh-CN" dirty="0"/>
              <a:t>() </a:t>
            </a:r>
            <a:r>
              <a:rPr lang="zh-CN" altLang="en-US" dirty="0"/>
              <a:t>获取键和值</a:t>
            </a:r>
          </a:p>
        </p:txBody>
      </p:sp>
      <p:sp>
        <p:nvSpPr>
          <p:cNvPr id="2" name="矩形: 圆角 1">
            <a:extLst>
              <a:ext uri="{FF2B5EF4-FFF2-40B4-BE49-F238E27FC236}">
                <a16:creationId xmlns:a16="http://schemas.microsoft.com/office/drawing/2014/main" id="{0027C417-509A-CAB5-1CD4-B133977501A3}"/>
              </a:ext>
            </a:extLst>
          </p:cNvPr>
          <p:cNvSpPr/>
          <p:nvPr/>
        </p:nvSpPr>
        <p:spPr>
          <a:xfrm>
            <a:off x="4175975" y="-1246836"/>
            <a:ext cx="3536442" cy="649356"/>
          </a:xfrm>
          <a:prstGeom prst="roundRect">
            <a:avLst/>
          </a:prstGeom>
          <a:solidFill>
            <a:schemeClr val="accent2">
              <a:lumMod val="60000"/>
              <a:lumOff val="40000"/>
            </a:schemeClr>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杨任东竹石体-Bold" panose="02000000000000000000" pitchFamily="2" charset="-122"/>
                <a:ea typeface="杨任东竹石体-Bold" panose="02000000000000000000" pitchFamily="2" charset="-122"/>
              </a:rPr>
              <a:t>3.</a:t>
            </a:r>
            <a:r>
              <a:rPr lang="zh-CN" altLang="en-US" dirty="0">
                <a:latin typeface="杨任东竹石体-Bold" panose="02000000000000000000" pitchFamily="2" charset="-122"/>
                <a:ea typeface="杨任东竹石体-Bold" panose="02000000000000000000" pitchFamily="2" charset="-122"/>
              </a:rPr>
              <a:t> 通过</a:t>
            </a:r>
            <a:r>
              <a:rPr lang="en-US" altLang="zh-CN" dirty="0">
                <a:latin typeface="杨任东竹石体-Bold" panose="02000000000000000000" pitchFamily="2" charset="-122"/>
                <a:ea typeface="杨任东竹石体-Bold" panose="02000000000000000000" pitchFamily="2" charset="-122"/>
              </a:rPr>
              <a:t>foreach</a:t>
            </a:r>
            <a:r>
              <a:rPr lang="zh-CN" altLang="en-US" dirty="0">
                <a:latin typeface="杨任东竹石体-Bold" panose="02000000000000000000" pitchFamily="2" charset="-122"/>
                <a:ea typeface="杨任东竹石体-Bold" panose="02000000000000000000" pitchFamily="2" charset="-122"/>
              </a:rPr>
              <a:t>方法遍历</a:t>
            </a:r>
          </a:p>
        </p:txBody>
      </p:sp>
    </p:spTree>
    <p:extLst>
      <p:ext uri="{BB962C8B-B14F-4D97-AF65-F5344CB8AC3E}">
        <p14:creationId xmlns:p14="http://schemas.microsoft.com/office/powerpoint/2010/main" val="2302914111"/>
      </p:ext>
    </p:extLst>
  </p:cSld>
  <p:clrMapOvr>
    <a:masterClrMapping/>
  </p:clrMapOvr>
  <p:transition spd="med">
    <p:pull/>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
            <a:extLst>
              <a:ext uri="{FF2B5EF4-FFF2-40B4-BE49-F238E27FC236}">
                <a16:creationId xmlns:a16="http://schemas.microsoft.com/office/drawing/2014/main" id="{0692E544-640E-3667-890D-7788E8F50EB2}"/>
              </a:ext>
            </a:extLst>
          </p:cNvPr>
          <p:cNvSpPr>
            <a:spLocks noGrp="1"/>
          </p:cNvSpPr>
          <p:nvPr>
            <p:ph type="title"/>
          </p:nvPr>
        </p:nvSpPr>
        <p:spPr/>
        <p:txBody>
          <a:bodyPr/>
          <a:lstStyle/>
          <a:p>
            <a:r>
              <a:rPr lang="en-US" altLang="zh-CN" dirty="0"/>
              <a:t>Map </a:t>
            </a:r>
            <a:r>
              <a:rPr lang="zh-CN" altLang="en-US" dirty="0"/>
              <a:t>集合的三种遍历方式</a:t>
            </a:r>
          </a:p>
        </p:txBody>
      </p:sp>
      <p:sp>
        <p:nvSpPr>
          <p:cNvPr id="11" name="矩形: 圆角 10">
            <a:extLst>
              <a:ext uri="{FF2B5EF4-FFF2-40B4-BE49-F238E27FC236}">
                <a16:creationId xmlns:a16="http://schemas.microsoft.com/office/drawing/2014/main" id="{83F09FC6-2218-3358-3170-26551808EC45}"/>
              </a:ext>
            </a:extLst>
          </p:cNvPr>
          <p:cNvSpPr/>
          <p:nvPr/>
        </p:nvSpPr>
        <p:spPr>
          <a:xfrm>
            <a:off x="859967" y="1888216"/>
            <a:ext cx="3536442" cy="649356"/>
          </a:xfrm>
          <a:prstGeom prst="roundRect">
            <a:avLst/>
          </a:prstGeom>
          <a:solidFill>
            <a:schemeClr val="accent1">
              <a:lumMod val="40000"/>
              <a:lumOff val="60000"/>
            </a:schemeClr>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杨任东竹石体-Bold" panose="02000000000000000000" pitchFamily="2" charset="-122"/>
                <a:ea typeface="杨任东竹石体-Bold" panose="02000000000000000000" pitchFamily="2" charset="-122"/>
              </a:rPr>
              <a:t>3.</a:t>
            </a:r>
            <a:r>
              <a:rPr lang="zh-CN" altLang="en-US" dirty="0">
                <a:latin typeface="杨任东竹石体-Bold" panose="02000000000000000000" pitchFamily="2" charset="-122"/>
                <a:ea typeface="杨任东竹石体-Bold" panose="02000000000000000000" pitchFamily="2" charset="-122"/>
              </a:rPr>
              <a:t> 通过</a:t>
            </a:r>
            <a:r>
              <a:rPr lang="en-US" altLang="zh-CN" dirty="0">
                <a:latin typeface="杨任东竹石体-Bold" panose="02000000000000000000" pitchFamily="2" charset="-122"/>
                <a:ea typeface="杨任东竹石体-Bold" panose="02000000000000000000" pitchFamily="2" charset="-122"/>
              </a:rPr>
              <a:t>foreach</a:t>
            </a:r>
            <a:r>
              <a:rPr lang="zh-CN" altLang="en-US" dirty="0">
                <a:latin typeface="杨任东竹石体-Bold" panose="02000000000000000000" pitchFamily="2" charset="-122"/>
                <a:ea typeface="杨任东竹石体-Bold" panose="02000000000000000000" pitchFamily="2" charset="-122"/>
              </a:rPr>
              <a:t>方法遍历</a:t>
            </a:r>
          </a:p>
        </p:txBody>
      </p:sp>
      <p:graphicFrame>
        <p:nvGraphicFramePr>
          <p:cNvPr id="12" name="表格 11">
            <a:extLst>
              <a:ext uri="{FF2B5EF4-FFF2-40B4-BE49-F238E27FC236}">
                <a16:creationId xmlns:a16="http://schemas.microsoft.com/office/drawing/2014/main" id="{2F72E0C5-2AB8-08BA-3A6E-1D252DE0B381}"/>
              </a:ext>
            </a:extLst>
          </p:cNvPr>
          <p:cNvGraphicFramePr>
            <a:graphicFrameLocks noGrp="1"/>
          </p:cNvGraphicFramePr>
          <p:nvPr/>
        </p:nvGraphicFramePr>
        <p:xfrm>
          <a:off x="859966" y="2961641"/>
          <a:ext cx="10126086" cy="1057950"/>
        </p:xfrm>
        <a:graphic>
          <a:graphicData uri="http://schemas.openxmlformats.org/drawingml/2006/table">
            <a:tbl>
              <a:tblPr/>
              <a:tblGrid>
                <a:gridCol w="5464528">
                  <a:extLst>
                    <a:ext uri="{9D8B030D-6E8A-4147-A177-3AD203B41FA5}">
                      <a16:colId xmlns:a16="http://schemas.microsoft.com/office/drawing/2014/main" val="3977049432"/>
                    </a:ext>
                  </a:extLst>
                </a:gridCol>
                <a:gridCol w="4661558">
                  <a:extLst>
                    <a:ext uri="{9D8B030D-6E8A-4147-A177-3AD203B41FA5}">
                      <a16:colId xmlns:a16="http://schemas.microsoft.com/office/drawing/2014/main" val="2926765301"/>
                    </a:ext>
                  </a:extLst>
                </a:gridCol>
              </a:tblGrid>
              <a:tr h="44831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Consolas" panose="020B0609020204030204" pitchFamily="49" charset="0"/>
                          <a:ea typeface="阿里巴巴普惠体" panose="00020600040101010101" pitchFamily="18" charset="-122"/>
                          <a:cs typeface="阿里巴巴普惠体" panose="00020600040101010101" pitchFamily="18" charset="-122"/>
                        </a:rPr>
                        <a:t>方法名称</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Consolas" panose="020B0609020204030204" pitchFamily="49" charset="0"/>
                          <a:ea typeface="阿里巴巴普惠体" panose="00020600040101010101" pitchFamily="18" charset="-122"/>
                          <a:cs typeface="阿里巴巴普惠体" panose="00020600040101010101" pitchFamily="18" charset="-122"/>
                        </a:rPr>
                        <a:t>说明</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94101812"/>
                  </a:ext>
                </a:extLst>
              </a:tr>
              <a:tr h="43980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600" b="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default void </a:t>
                      </a:r>
                      <a:r>
                        <a:rPr lang="en-US" altLang="zh-CN" sz="1600" b="0" dirty="0" err="1">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forEach</a:t>
                      </a:r>
                      <a:r>
                        <a:rPr lang="en-US" altLang="zh-CN" sz="1600" b="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p>
                    <a:p>
                      <a:pPr marL="0" marR="0" lvl="0" indent="0" algn="l" defTabSz="914400" rtl="0" eaLnBrk="1" fontAlgn="base" latinLnBrk="0" hangingPunct="1">
                        <a:lnSpc>
                          <a:spcPct val="100000"/>
                        </a:lnSpc>
                        <a:spcBef>
                          <a:spcPct val="0"/>
                        </a:spcBef>
                        <a:spcAft>
                          <a:spcPct val="0"/>
                        </a:spcAft>
                        <a:buClrTx/>
                        <a:buSzTx/>
                        <a:buFontTx/>
                        <a:buNone/>
                        <a:tabLst/>
                      </a:pPr>
                      <a:r>
                        <a:rPr lang="en-US" altLang="zh-CN" sz="1600" b="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en-US" altLang="zh-CN" sz="1600" b="0" dirty="0" err="1">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BiConsumer</a:t>
                      </a:r>
                      <a:r>
                        <a:rPr lang="en-US" altLang="zh-CN" sz="1600" b="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&lt;? super K,​? super V&gt; action) </a:t>
                      </a:r>
                      <a:endParaRPr kumimoji="0" lang="zh-CN" altLang="en-US" sz="1600" b="0" i="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遍历</a:t>
                      </a:r>
                      <a:r>
                        <a:rPr kumimoji="0" lang="en-US" altLang="zh-CN" sz="1600" b="0" i="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Map</a:t>
                      </a:r>
                      <a:r>
                        <a:rPr kumimoji="0" lang="zh-CN" altLang="en-US" sz="1600" b="0" i="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集合</a:t>
                      </a:r>
                      <a:r>
                        <a:rPr kumimoji="0" lang="en-US" altLang="zh-CN" sz="1600" b="0" i="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 </a:t>
                      </a:r>
                      <a:r>
                        <a:rPr kumimoji="0" lang="zh-CN" altLang="en-US" sz="1600" b="0" i="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获取键和值</a:t>
                      </a:r>
                    </a:p>
                  </a:txBody>
                  <a:tcPr marL="121905" marR="121905" marT="60980" marB="6098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6182674"/>
                  </a:ext>
                </a:extLst>
              </a:tr>
            </a:tbl>
          </a:graphicData>
        </a:graphic>
      </p:graphicFrame>
    </p:spTree>
    <p:extLst>
      <p:ext uri="{BB962C8B-B14F-4D97-AF65-F5344CB8AC3E}">
        <p14:creationId xmlns:p14="http://schemas.microsoft.com/office/powerpoint/2010/main" val="7706414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A4DAAA2-07D3-5799-AD06-1C1DCC1FE7D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F8F98EC7-E009-3FBC-E484-76B677514E8B}"/>
              </a:ext>
            </a:extLst>
          </p:cNvPr>
          <p:cNvSpPr>
            <a:spLocks noGrp="1"/>
          </p:cNvSpPr>
          <p:nvPr>
            <p:ph type="body" sz="quarter" idx="10"/>
          </p:nvPr>
        </p:nvSpPr>
        <p:spPr>
          <a:xfrm>
            <a:off x="5982521" y="2505975"/>
            <a:ext cx="4410730" cy="1956553"/>
          </a:xfrm>
        </p:spPr>
        <p:txBody>
          <a:bodyPr/>
          <a:lstStyle/>
          <a:p>
            <a:r>
              <a:rPr kumimoji="1" lang="en-US" altLang="zh-CN" dirty="0">
                <a:latin typeface="Consolas" panose="020B0609020204030204" pitchFamily="49" charset="0"/>
              </a:rPr>
              <a:t>Set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TreeSet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HashSet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err="1">
                <a:latin typeface="Consolas" panose="020B0609020204030204" pitchFamily="49" charset="0"/>
              </a:rPr>
              <a:t>LinkedHashSet</a:t>
            </a:r>
            <a:r>
              <a:rPr kumimoji="1" lang="en-US" altLang="zh-CN" dirty="0">
                <a:latin typeface="Consolas" panose="020B0609020204030204" pitchFamily="49" charset="0"/>
              </a:rPr>
              <a:t> </a:t>
            </a:r>
            <a:r>
              <a:rPr kumimoji="1" lang="zh-CN" altLang="en-US" dirty="0">
                <a:latin typeface="Consolas" panose="020B0609020204030204" pitchFamily="49" charset="0"/>
              </a:rPr>
              <a:t>集合</a:t>
            </a:r>
            <a:endParaRPr kumimoji="1" lang="en-US" altLang="zh-CN" dirty="0">
              <a:latin typeface="Consolas" panose="020B0609020204030204" pitchFamily="49" charset="0"/>
            </a:endParaRPr>
          </a:p>
          <a:p>
            <a:r>
              <a:rPr kumimoji="1" lang="en-US" altLang="zh-CN" dirty="0">
                <a:latin typeface="Consolas" panose="020B0609020204030204" pitchFamily="49" charset="0"/>
              </a:rPr>
              <a:t>Collections </a:t>
            </a:r>
            <a:r>
              <a:rPr kumimoji="1" lang="zh-CN" altLang="en-US" dirty="0">
                <a:latin typeface="Consolas" panose="020B0609020204030204" pitchFamily="49" charset="0"/>
              </a:rPr>
              <a:t>工具类</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集合介绍</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集合三种遍历方式</a:t>
            </a:r>
            <a:endParaRPr kumimoji="1" lang="en-US" altLang="zh-CN" dirty="0">
              <a:latin typeface="Consolas" panose="020B0609020204030204" pitchFamily="49" charset="0"/>
            </a:endParaRPr>
          </a:p>
          <a:p>
            <a:r>
              <a:rPr kumimoji="1" lang="en-US" altLang="zh-CN" dirty="0">
                <a:latin typeface="Consolas" panose="020B0609020204030204" pitchFamily="49" charset="0"/>
              </a:rPr>
              <a:t>Map </a:t>
            </a:r>
            <a:r>
              <a:rPr kumimoji="1" lang="zh-CN" altLang="en-US" dirty="0">
                <a:latin typeface="Consolas" panose="020B0609020204030204" pitchFamily="49" charset="0"/>
              </a:rPr>
              <a:t>集合的实现类</a:t>
            </a:r>
            <a:endParaRPr kumimoji="1" lang="en-US" altLang="zh-CN" dirty="0">
              <a:latin typeface="Consolas" panose="020B0609020204030204" pitchFamily="49" charset="0"/>
            </a:endParaRPr>
          </a:p>
        </p:txBody>
      </p:sp>
    </p:spTree>
    <p:extLst>
      <p:ext uri="{BB962C8B-B14F-4D97-AF65-F5344CB8AC3E}">
        <p14:creationId xmlns:p14="http://schemas.microsoft.com/office/powerpoint/2010/main" val="4256682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85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stCondLst>
                                            <p:cond delay="0"/>
                                          </p:stCondLst>
                                        </p:cTn>
                                        <p:tgtEl>
                                          <p:spTgt spid="2"/>
                                        </p:tgtEl>
                                      </p:cBhvr>
                                    </p:animEffect>
                                    <p:anim to="0" calcmode="lin" valueType="num">
                                      <p:cBhvr>
                                        <p:cTn id="8" dur="500" fill="hold">
                                          <p:stCondLst>
                                            <p:cond delay="0"/>
                                          </p:stCondLst>
                                        </p:cTn>
                                        <p:tgtEl>
                                          <p:spTgt spid="2"/>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90D77-F5AB-4E74-E1D4-3611395F2ACA}"/>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76823183-428B-0AF6-7899-7120720E3BC5}"/>
              </a:ext>
            </a:extLst>
          </p:cNvPr>
          <p:cNvSpPr>
            <a:spLocks noGrp="1"/>
          </p:cNvSpPr>
          <p:nvPr>
            <p:ph type="body" sz="quarter" idx="13"/>
          </p:nvPr>
        </p:nvSpPr>
        <p:spPr>
          <a:xfrm>
            <a:off x="5834080" y="2465278"/>
            <a:ext cx="5505768" cy="901700"/>
          </a:xfrm>
        </p:spPr>
        <p:txBody>
          <a:bodyPr/>
          <a:lstStyle/>
          <a:p>
            <a:r>
              <a:rPr lang="en-US" altLang="zh-CN" dirty="0"/>
              <a:t>Map </a:t>
            </a:r>
            <a:r>
              <a:rPr lang="zh-CN" altLang="en-US" dirty="0"/>
              <a:t>集合的实现类</a:t>
            </a:r>
          </a:p>
        </p:txBody>
      </p:sp>
      <p:sp>
        <p:nvSpPr>
          <p:cNvPr id="10" name="文本占位符 9">
            <a:extLst>
              <a:ext uri="{FF2B5EF4-FFF2-40B4-BE49-F238E27FC236}">
                <a16:creationId xmlns:a16="http://schemas.microsoft.com/office/drawing/2014/main" id="{C1221240-A6EC-ECC8-7BBE-C00723329F6A}"/>
              </a:ext>
            </a:extLst>
          </p:cNvPr>
          <p:cNvSpPr>
            <a:spLocks noGrp="1"/>
          </p:cNvSpPr>
          <p:nvPr>
            <p:ph type="body" sz="quarter" idx="14"/>
          </p:nvPr>
        </p:nvSpPr>
        <p:spPr/>
        <p:txBody>
          <a:bodyPr/>
          <a:lstStyle/>
          <a:p>
            <a:r>
              <a:rPr lang="en-US" altLang="zh-CN" dirty="0"/>
              <a:t>8</a:t>
            </a:r>
            <a:endParaRPr lang="zh-CN" altLang="en-US" dirty="0"/>
          </a:p>
        </p:txBody>
      </p:sp>
    </p:spTree>
    <p:extLst>
      <p:ext uri="{BB962C8B-B14F-4D97-AF65-F5344CB8AC3E}">
        <p14:creationId xmlns:p14="http://schemas.microsoft.com/office/powerpoint/2010/main" val="207551802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99F0F3E9-20E0-9139-5324-25F6B379A2D7}"/>
              </a:ext>
            </a:extLst>
          </p:cNvPr>
          <p:cNvSpPr/>
          <p:nvPr/>
        </p:nvSpPr>
        <p:spPr>
          <a:xfrm>
            <a:off x="1360225" y="2996827"/>
            <a:ext cx="1491612" cy="530454"/>
          </a:xfrm>
          <a:prstGeom prst="roundRect">
            <a:avLst/>
          </a:prstGeom>
          <a:solidFill>
            <a:schemeClr val="accent6">
              <a:lumMod val="40000"/>
              <a:lumOff val="6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err="1">
                <a:latin typeface="杨任东竹石体-Bold" panose="02000000000000000000" pitchFamily="2" charset="-122"/>
                <a:ea typeface="杨任东竹石体-Bold" panose="02000000000000000000" pitchFamily="2" charset="-122"/>
              </a:rPr>
              <a:t>TreeMap</a:t>
            </a:r>
            <a:endParaRPr lang="zh-CN" altLang="en-US" sz="2000" dirty="0">
              <a:latin typeface="杨任东竹石体-Bold" panose="02000000000000000000" pitchFamily="2" charset="-122"/>
              <a:ea typeface="杨任东竹石体-Bold" panose="02000000000000000000" pitchFamily="2" charset="-122"/>
            </a:endParaRPr>
          </a:p>
        </p:txBody>
      </p:sp>
      <p:sp>
        <p:nvSpPr>
          <p:cNvPr id="4" name="矩形: 圆角 3">
            <a:extLst>
              <a:ext uri="{FF2B5EF4-FFF2-40B4-BE49-F238E27FC236}">
                <a16:creationId xmlns:a16="http://schemas.microsoft.com/office/drawing/2014/main" id="{B379E970-6735-48B9-69DE-62CA02B56754}"/>
              </a:ext>
            </a:extLst>
          </p:cNvPr>
          <p:cNvSpPr/>
          <p:nvPr/>
        </p:nvSpPr>
        <p:spPr>
          <a:xfrm>
            <a:off x="1360225" y="4193785"/>
            <a:ext cx="1491612" cy="530454"/>
          </a:xfrm>
          <a:prstGeom prst="roundRect">
            <a:avLst/>
          </a:prstGeom>
          <a:solidFill>
            <a:srgbClr val="C00000"/>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a:latin typeface="杨任东竹石体-Bold" panose="02000000000000000000" pitchFamily="2" charset="-122"/>
                <a:ea typeface="杨任东竹石体-Bold" panose="02000000000000000000" pitchFamily="2" charset="-122"/>
              </a:rPr>
              <a:t>HashMap</a:t>
            </a:r>
            <a:endParaRPr lang="zh-CN" altLang="en-US" sz="2000" dirty="0">
              <a:latin typeface="杨任东竹石体-Bold" panose="02000000000000000000" pitchFamily="2" charset="-122"/>
              <a:ea typeface="杨任东竹石体-Bold" panose="02000000000000000000" pitchFamily="2" charset="-122"/>
            </a:endParaRPr>
          </a:p>
        </p:txBody>
      </p:sp>
      <p:sp>
        <p:nvSpPr>
          <p:cNvPr id="5" name="矩形: 圆角 4">
            <a:extLst>
              <a:ext uri="{FF2B5EF4-FFF2-40B4-BE49-F238E27FC236}">
                <a16:creationId xmlns:a16="http://schemas.microsoft.com/office/drawing/2014/main" id="{8CF17F09-8F4D-4D22-31EA-8F0513DB5D5A}"/>
              </a:ext>
            </a:extLst>
          </p:cNvPr>
          <p:cNvSpPr/>
          <p:nvPr/>
        </p:nvSpPr>
        <p:spPr>
          <a:xfrm>
            <a:off x="1285737" y="5363264"/>
            <a:ext cx="1823080" cy="530454"/>
          </a:xfrm>
          <a:prstGeom prst="roundRect">
            <a:avLst/>
          </a:prstGeom>
          <a:solidFill>
            <a:schemeClr val="accent3">
              <a:lumMod val="60000"/>
              <a:lumOff val="4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err="1">
                <a:latin typeface="杨任东竹石体-Bold" panose="02000000000000000000" pitchFamily="2" charset="-122"/>
                <a:ea typeface="杨任东竹石体-Bold" panose="02000000000000000000" pitchFamily="2" charset="-122"/>
              </a:rPr>
              <a:t>LinkedHashMap</a:t>
            </a:r>
            <a:endParaRPr lang="zh-CN" altLang="en-US" sz="2000" dirty="0">
              <a:latin typeface="杨任东竹石体-Bold" panose="02000000000000000000" pitchFamily="2" charset="-122"/>
              <a:ea typeface="杨任东竹石体-Bold" panose="02000000000000000000" pitchFamily="2" charset="-122"/>
            </a:endParaRPr>
          </a:p>
        </p:txBody>
      </p:sp>
      <p:sp>
        <p:nvSpPr>
          <p:cNvPr id="6" name="矩形: 圆角 5">
            <a:extLst>
              <a:ext uri="{FF2B5EF4-FFF2-40B4-BE49-F238E27FC236}">
                <a16:creationId xmlns:a16="http://schemas.microsoft.com/office/drawing/2014/main" id="{761A5A1E-F942-127C-5B2D-1ECC6F3A4A49}"/>
              </a:ext>
            </a:extLst>
          </p:cNvPr>
          <p:cNvSpPr/>
          <p:nvPr/>
        </p:nvSpPr>
        <p:spPr>
          <a:xfrm>
            <a:off x="431278" y="1173514"/>
            <a:ext cx="3572698" cy="5381985"/>
          </a:xfrm>
          <a:custGeom>
            <a:avLst/>
            <a:gdLst>
              <a:gd name="connsiteX0" fmla="*/ 0 w 3572698"/>
              <a:gd name="connsiteY0" fmla="*/ 595462 h 5381985"/>
              <a:gd name="connsiteX1" fmla="*/ 595462 w 3572698"/>
              <a:gd name="connsiteY1" fmla="*/ 0 h 5381985"/>
              <a:gd name="connsiteX2" fmla="*/ 1238541 w 3572698"/>
              <a:gd name="connsiteY2" fmla="*/ 0 h 5381985"/>
              <a:gd name="connsiteX3" fmla="*/ 1810167 w 3572698"/>
              <a:gd name="connsiteY3" fmla="*/ 0 h 5381985"/>
              <a:gd name="connsiteX4" fmla="*/ 2357975 w 3572698"/>
              <a:gd name="connsiteY4" fmla="*/ 0 h 5381985"/>
              <a:gd name="connsiteX5" fmla="*/ 2977236 w 3572698"/>
              <a:gd name="connsiteY5" fmla="*/ 0 h 5381985"/>
              <a:gd name="connsiteX6" fmla="*/ 3572698 w 3572698"/>
              <a:gd name="connsiteY6" fmla="*/ 595462 h 5381985"/>
              <a:gd name="connsiteX7" fmla="*/ 3572698 w 3572698"/>
              <a:gd name="connsiteY7" fmla="*/ 1293972 h 5381985"/>
              <a:gd name="connsiteX8" fmla="*/ 3572698 w 3572698"/>
              <a:gd name="connsiteY8" fmla="*/ 2076304 h 5381985"/>
              <a:gd name="connsiteX9" fmla="*/ 3572698 w 3572698"/>
              <a:gd name="connsiteY9" fmla="*/ 2649082 h 5381985"/>
              <a:gd name="connsiteX10" fmla="*/ 3572698 w 3572698"/>
              <a:gd name="connsiteY10" fmla="*/ 3347592 h 5381985"/>
              <a:gd name="connsiteX11" fmla="*/ 3572698 w 3572698"/>
              <a:gd name="connsiteY11" fmla="*/ 4046102 h 5381985"/>
              <a:gd name="connsiteX12" fmla="*/ 3572698 w 3572698"/>
              <a:gd name="connsiteY12" fmla="*/ 4786523 h 5381985"/>
              <a:gd name="connsiteX13" fmla="*/ 2977236 w 3572698"/>
              <a:gd name="connsiteY13" fmla="*/ 5381985 h 5381985"/>
              <a:gd name="connsiteX14" fmla="*/ 2381793 w 3572698"/>
              <a:gd name="connsiteY14" fmla="*/ 5381985 h 5381985"/>
              <a:gd name="connsiteX15" fmla="*/ 1786349 w 3572698"/>
              <a:gd name="connsiteY15" fmla="*/ 5381985 h 5381985"/>
              <a:gd name="connsiteX16" fmla="*/ 1143270 w 3572698"/>
              <a:gd name="connsiteY16" fmla="*/ 5381985 h 5381985"/>
              <a:gd name="connsiteX17" fmla="*/ 595462 w 3572698"/>
              <a:gd name="connsiteY17" fmla="*/ 5381985 h 5381985"/>
              <a:gd name="connsiteX18" fmla="*/ 0 w 3572698"/>
              <a:gd name="connsiteY18" fmla="*/ 4786523 h 5381985"/>
              <a:gd name="connsiteX19" fmla="*/ 0 w 3572698"/>
              <a:gd name="connsiteY19" fmla="*/ 4171834 h 5381985"/>
              <a:gd name="connsiteX20" fmla="*/ 0 w 3572698"/>
              <a:gd name="connsiteY20" fmla="*/ 3473324 h 5381985"/>
              <a:gd name="connsiteX21" fmla="*/ 0 w 3572698"/>
              <a:gd name="connsiteY21" fmla="*/ 2858635 h 5381985"/>
              <a:gd name="connsiteX22" fmla="*/ 0 w 3572698"/>
              <a:gd name="connsiteY22" fmla="*/ 2160125 h 5381985"/>
              <a:gd name="connsiteX23" fmla="*/ 0 w 3572698"/>
              <a:gd name="connsiteY23" fmla="*/ 1587346 h 5381985"/>
              <a:gd name="connsiteX24" fmla="*/ 0 w 3572698"/>
              <a:gd name="connsiteY24" fmla="*/ 595462 h 5381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72698" h="5381985" extrusionOk="0">
                <a:moveTo>
                  <a:pt x="0" y="595462"/>
                </a:moveTo>
                <a:cubicBezTo>
                  <a:pt x="-62866" y="227820"/>
                  <a:pt x="238531" y="10534"/>
                  <a:pt x="595462" y="0"/>
                </a:cubicBezTo>
                <a:cubicBezTo>
                  <a:pt x="882775" y="-30026"/>
                  <a:pt x="957294" y="-29626"/>
                  <a:pt x="1238541" y="0"/>
                </a:cubicBezTo>
                <a:cubicBezTo>
                  <a:pt x="1519788" y="29626"/>
                  <a:pt x="1692490" y="-26544"/>
                  <a:pt x="1810167" y="0"/>
                </a:cubicBezTo>
                <a:cubicBezTo>
                  <a:pt x="1927844" y="26544"/>
                  <a:pt x="2091563" y="-7694"/>
                  <a:pt x="2357975" y="0"/>
                </a:cubicBezTo>
                <a:cubicBezTo>
                  <a:pt x="2624387" y="7694"/>
                  <a:pt x="2742884" y="2125"/>
                  <a:pt x="2977236" y="0"/>
                </a:cubicBezTo>
                <a:cubicBezTo>
                  <a:pt x="3312542" y="-13256"/>
                  <a:pt x="3561749" y="264920"/>
                  <a:pt x="3572698" y="595462"/>
                </a:cubicBezTo>
                <a:cubicBezTo>
                  <a:pt x="3576082" y="894213"/>
                  <a:pt x="3548758" y="1131890"/>
                  <a:pt x="3572698" y="1293972"/>
                </a:cubicBezTo>
                <a:cubicBezTo>
                  <a:pt x="3596639" y="1456054"/>
                  <a:pt x="3561724" y="1908347"/>
                  <a:pt x="3572698" y="2076304"/>
                </a:cubicBezTo>
                <a:cubicBezTo>
                  <a:pt x="3583672" y="2244261"/>
                  <a:pt x="3577122" y="2384621"/>
                  <a:pt x="3572698" y="2649082"/>
                </a:cubicBezTo>
                <a:cubicBezTo>
                  <a:pt x="3568274" y="2913543"/>
                  <a:pt x="3587699" y="3164550"/>
                  <a:pt x="3572698" y="3347592"/>
                </a:cubicBezTo>
                <a:cubicBezTo>
                  <a:pt x="3557698" y="3530634"/>
                  <a:pt x="3577746" y="3887095"/>
                  <a:pt x="3572698" y="4046102"/>
                </a:cubicBezTo>
                <a:cubicBezTo>
                  <a:pt x="3567651" y="4205109"/>
                  <a:pt x="3573370" y="4421555"/>
                  <a:pt x="3572698" y="4786523"/>
                </a:cubicBezTo>
                <a:cubicBezTo>
                  <a:pt x="3615001" y="5167206"/>
                  <a:pt x="3342937" y="5349733"/>
                  <a:pt x="2977236" y="5381985"/>
                </a:cubicBezTo>
                <a:cubicBezTo>
                  <a:pt x="2741032" y="5377966"/>
                  <a:pt x="2540494" y="5368616"/>
                  <a:pt x="2381793" y="5381985"/>
                </a:cubicBezTo>
                <a:cubicBezTo>
                  <a:pt x="2223092" y="5395354"/>
                  <a:pt x="1957219" y="5394336"/>
                  <a:pt x="1786349" y="5381985"/>
                </a:cubicBezTo>
                <a:cubicBezTo>
                  <a:pt x="1615479" y="5369634"/>
                  <a:pt x="1310198" y="5368162"/>
                  <a:pt x="1143270" y="5381985"/>
                </a:cubicBezTo>
                <a:cubicBezTo>
                  <a:pt x="976342" y="5395808"/>
                  <a:pt x="743715" y="5365588"/>
                  <a:pt x="595462" y="5381985"/>
                </a:cubicBezTo>
                <a:cubicBezTo>
                  <a:pt x="248430" y="5414468"/>
                  <a:pt x="22512" y="5132116"/>
                  <a:pt x="0" y="4786523"/>
                </a:cubicBezTo>
                <a:cubicBezTo>
                  <a:pt x="-19748" y="4534801"/>
                  <a:pt x="26873" y="4443154"/>
                  <a:pt x="0" y="4171834"/>
                </a:cubicBezTo>
                <a:cubicBezTo>
                  <a:pt x="-26873" y="3900514"/>
                  <a:pt x="-22344" y="3782403"/>
                  <a:pt x="0" y="3473324"/>
                </a:cubicBezTo>
                <a:cubicBezTo>
                  <a:pt x="22344" y="3164245"/>
                  <a:pt x="-16686" y="3162249"/>
                  <a:pt x="0" y="2858635"/>
                </a:cubicBezTo>
                <a:cubicBezTo>
                  <a:pt x="16686" y="2555021"/>
                  <a:pt x="-11225" y="2479578"/>
                  <a:pt x="0" y="2160125"/>
                </a:cubicBezTo>
                <a:cubicBezTo>
                  <a:pt x="11225" y="1840672"/>
                  <a:pt x="-10672" y="1865335"/>
                  <a:pt x="0" y="1587346"/>
                </a:cubicBezTo>
                <a:cubicBezTo>
                  <a:pt x="10672" y="1309357"/>
                  <a:pt x="6260" y="983270"/>
                  <a:pt x="0" y="595462"/>
                </a:cubicBezTo>
                <a:close/>
              </a:path>
            </a:pathLst>
          </a:custGeom>
          <a:noFill/>
          <a:ln>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DE4EE2C7-5CE7-1A23-EF68-53DEE7CD9250}"/>
              </a:ext>
            </a:extLst>
          </p:cNvPr>
          <p:cNvSpPr/>
          <p:nvPr/>
        </p:nvSpPr>
        <p:spPr>
          <a:xfrm>
            <a:off x="837512" y="1844305"/>
            <a:ext cx="2798797" cy="830997"/>
          </a:xfrm>
          <a:prstGeom prst="rect">
            <a:avLst/>
          </a:prstGeom>
          <a:noFill/>
        </p:spPr>
        <p:txBody>
          <a:bodyPr wrap="square" lIns="91440" tIns="45720" rIns="91440" bIns="45720">
            <a:spAutoFit/>
          </a:bodyPr>
          <a:lstStyle/>
          <a:p>
            <a:pPr algn="ctr"/>
            <a:r>
              <a:rPr lang="en-US" altLang="zh-CN" sz="4800" b="1" dirty="0">
                <a:ln w="22225">
                  <a:solidFill>
                    <a:schemeClr val="accent2"/>
                  </a:solidFill>
                  <a:prstDash val="solid"/>
                </a:ln>
                <a:solidFill>
                  <a:schemeClr val="accent2">
                    <a:lumMod val="40000"/>
                    <a:lumOff val="60000"/>
                  </a:schemeClr>
                </a:solidFill>
                <a:latin typeface="杨任东竹石体-Bold" panose="02000000000000000000" pitchFamily="2" charset="-122"/>
                <a:ea typeface="杨任东竹石体-Bold" panose="02000000000000000000" pitchFamily="2" charset="-122"/>
              </a:rPr>
              <a:t>Map</a:t>
            </a:r>
            <a:r>
              <a:rPr lang="en-US" altLang="zh-CN" sz="4800" b="1" cap="none" spc="0" dirty="0">
                <a:ln w="22225">
                  <a:solidFill>
                    <a:schemeClr val="accent2"/>
                  </a:solidFill>
                  <a:prstDash val="solid"/>
                </a:ln>
                <a:solidFill>
                  <a:schemeClr val="accent2">
                    <a:lumMod val="40000"/>
                    <a:lumOff val="60000"/>
                  </a:schemeClr>
                </a:solidFill>
                <a:effectLst/>
                <a:latin typeface="杨任东竹石体-Bold" panose="02000000000000000000" pitchFamily="2" charset="-122"/>
                <a:ea typeface="杨任东竹石体-Bold" panose="02000000000000000000" pitchFamily="2" charset="-122"/>
              </a:rPr>
              <a:t> </a:t>
            </a:r>
            <a:r>
              <a:rPr lang="zh-CN" altLang="en-US" sz="4800" b="1" cap="none" spc="0" dirty="0">
                <a:ln w="22225">
                  <a:solidFill>
                    <a:schemeClr val="accent2"/>
                  </a:solidFill>
                  <a:prstDash val="solid"/>
                </a:ln>
                <a:solidFill>
                  <a:schemeClr val="accent2">
                    <a:lumMod val="40000"/>
                    <a:lumOff val="60000"/>
                  </a:schemeClr>
                </a:solidFill>
                <a:effectLst/>
                <a:latin typeface="杨任东竹石体-Bold" panose="02000000000000000000" pitchFamily="2" charset="-122"/>
                <a:ea typeface="杨任东竹石体-Bold" panose="02000000000000000000" pitchFamily="2" charset="-122"/>
              </a:rPr>
              <a:t>接口</a:t>
            </a:r>
          </a:p>
        </p:txBody>
      </p:sp>
      <p:sp>
        <p:nvSpPr>
          <p:cNvPr id="12" name="Rectangle 2">
            <a:extLst>
              <a:ext uri="{FF2B5EF4-FFF2-40B4-BE49-F238E27FC236}">
                <a16:creationId xmlns:a16="http://schemas.microsoft.com/office/drawing/2014/main" id="{E89F9372-042C-BC0E-F60A-A3E9121027A7}"/>
              </a:ext>
            </a:extLst>
          </p:cNvPr>
          <p:cNvSpPr>
            <a:spLocks noChangeArrowheads="1"/>
          </p:cNvSpPr>
          <p:nvPr/>
        </p:nvSpPr>
        <p:spPr bwMode="auto">
          <a:xfrm>
            <a:off x="4410210" y="1681534"/>
            <a:ext cx="6792759" cy="1503168"/>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l"/>
              <a:tabLst/>
            </a:pPr>
            <a:r>
              <a:rPr lang="en-US" altLang="zh-CN" sz="1600" dirty="0" err="1">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TreeMap</a:t>
            </a:r>
            <a:r>
              <a:rPr lang="en-US" altLang="zh-CN"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 </a:t>
            </a: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键（红黑树）</a:t>
            </a:r>
            <a:endParaRPr lang="en-US" altLang="zh-CN"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l"/>
              <a:tabLst/>
            </a:pPr>
            <a:r>
              <a:rPr lang="en-US" altLang="zh-CN"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HashMap : </a:t>
            </a: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键（哈希表）</a:t>
            </a:r>
            <a:endParaRPr lang="en-US" altLang="zh-CN"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l"/>
              <a:tabLst/>
            </a:pPr>
            <a:r>
              <a:rPr lang="en-US" altLang="zh-CN" sz="1600" dirty="0" err="1">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LinkedHashMap</a:t>
            </a:r>
            <a:r>
              <a:rPr lang="en-US" altLang="zh-CN"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 </a:t>
            </a: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键（哈希表 </a:t>
            </a:r>
            <a:r>
              <a:rPr lang="en-US" altLang="zh-CN"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双向链表）</a:t>
            </a:r>
          </a:p>
        </p:txBody>
      </p:sp>
      <p:sp>
        <p:nvSpPr>
          <p:cNvPr id="3" name="标题 2">
            <a:extLst>
              <a:ext uri="{FF2B5EF4-FFF2-40B4-BE49-F238E27FC236}">
                <a16:creationId xmlns:a16="http://schemas.microsoft.com/office/drawing/2014/main" id="{1CD403BA-3DD9-4F7D-A793-78EE1480D94B}"/>
              </a:ext>
            </a:extLst>
          </p:cNvPr>
          <p:cNvSpPr>
            <a:spLocks noGrp="1"/>
          </p:cNvSpPr>
          <p:nvPr>
            <p:ph type="title"/>
          </p:nvPr>
        </p:nvSpPr>
        <p:spPr/>
        <p:txBody>
          <a:bodyPr/>
          <a:lstStyle/>
          <a:p>
            <a:r>
              <a:rPr lang="en-US" altLang="zh-CN" dirty="0"/>
              <a:t>Map</a:t>
            </a:r>
            <a:r>
              <a:rPr lang="zh-CN" altLang="en-US" dirty="0"/>
              <a:t>集合的实现类</a:t>
            </a:r>
          </a:p>
        </p:txBody>
      </p:sp>
    </p:spTree>
    <p:extLst>
      <p:ext uri="{BB962C8B-B14F-4D97-AF65-F5344CB8AC3E}">
        <p14:creationId xmlns:p14="http://schemas.microsoft.com/office/powerpoint/2010/main" val="371806764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ashmap">
            <a:extLst>
              <a:ext uri="{FF2B5EF4-FFF2-40B4-BE49-F238E27FC236}">
                <a16:creationId xmlns:a16="http://schemas.microsoft.com/office/drawing/2014/main" id="{AF08F25E-D229-A5D2-3718-BC609B768C0C}"/>
              </a:ext>
            </a:extLst>
          </p:cNvPr>
          <p:cNvSpPr>
            <a:spLocks noGrp="1"/>
          </p:cNvSpPr>
          <p:nvPr>
            <p:ph type="title"/>
          </p:nvPr>
        </p:nvSpPr>
        <p:spPr/>
        <p:txBody>
          <a:bodyPr/>
          <a:lstStyle/>
          <a:p>
            <a:r>
              <a:rPr lang="en-US" altLang="zh-CN" dirty="0"/>
              <a:t>HashMap</a:t>
            </a:r>
            <a:r>
              <a:rPr lang="zh-CN" altLang="en-US" dirty="0"/>
              <a:t>的底层原理</a:t>
            </a:r>
          </a:p>
        </p:txBody>
      </p:sp>
      <p:cxnSp>
        <p:nvCxnSpPr>
          <p:cNvPr id="3" name="直接连接符 2">
            <a:extLst>
              <a:ext uri="{FF2B5EF4-FFF2-40B4-BE49-F238E27FC236}">
                <a16:creationId xmlns:a16="http://schemas.microsoft.com/office/drawing/2014/main" id="{75888ACB-56A0-DAB4-85D7-A8A89E61DB0A}"/>
              </a:ext>
            </a:extLst>
          </p:cNvPr>
          <p:cNvCxnSpPr/>
          <p:nvPr/>
        </p:nvCxnSpPr>
        <p:spPr>
          <a:xfrm>
            <a:off x="924985" y="2171700"/>
            <a:ext cx="10805583" cy="0"/>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33677253-C795-808F-70E9-FAC3CE8AFCF2}"/>
              </a:ext>
            </a:extLst>
          </p:cNvPr>
          <p:cNvCxnSpPr/>
          <p:nvPr/>
        </p:nvCxnSpPr>
        <p:spPr>
          <a:xfrm>
            <a:off x="924985" y="2842684"/>
            <a:ext cx="10805583" cy="6349"/>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62098494-BBFE-510D-2844-76B245A601ED}"/>
              </a:ext>
            </a:extLst>
          </p:cNvPr>
          <p:cNvSpPr/>
          <p:nvPr/>
        </p:nvSpPr>
        <p:spPr>
          <a:xfrm>
            <a:off x="10096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cxnSp>
        <p:nvCxnSpPr>
          <p:cNvPr id="7" name="直接连接符 6">
            <a:extLst>
              <a:ext uri="{FF2B5EF4-FFF2-40B4-BE49-F238E27FC236}">
                <a16:creationId xmlns:a16="http://schemas.microsoft.com/office/drawing/2014/main" id="{DF02226F-6646-DA98-1117-5DE8056609CF}"/>
              </a:ext>
            </a:extLst>
          </p:cNvPr>
          <p:cNvCxnSpPr/>
          <p:nvPr/>
        </p:nvCxnSpPr>
        <p:spPr>
          <a:xfrm>
            <a:off x="22754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D9C79E82-7271-DE74-7EFB-9758536EE631}"/>
              </a:ext>
            </a:extLst>
          </p:cNvPr>
          <p:cNvSpPr/>
          <p:nvPr/>
        </p:nvSpPr>
        <p:spPr>
          <a:xfrm>
            <a:off x="167640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cxnSp>
        <p:nvCxnSpPr>
          <p:cNvPr id="9" name="直接连接符 8">
            <a:extLst>
              <a:ext uri="{FF2B5EF4-FFF2-40B4-BE49-F238E27FC236}">
                <a16:creationId xmlns:a16="http://schemas.microsoft.com/office/drawing/2014/main" id="{998BB248-FDF2-A633-352E-B25B46BF845C}"/>
              </a:ext>
            </a:extLst>
          </p:cNvPr>
          <p:cNvCxnSpPr/>
          <p:nvPr/>
        </p:nvCxnSpPr>
        <p:spPr>
          <a:xfrm>
            <a:off x="2946400"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E8A1EEDA-F290-68C9-2668-6084CC531C87}"/>
              </a:ext>
            </a:extLst>
          </p:cNvPr>
          <p:cNvCxnSpPr/>
          <p:nvPr/>
        </p:nvCxnSpPr>
        <p:spPr>
          <a:xfrm>
            <a:off x="49614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B4B385DC-E9BC-F838-D9AD-3E2E2FF65525}"/>
              </a:ext>
            </a:extLst>
          </p:cNvPr>
          <p:cNvCxnSpPr/>
          <p:nvPr/>
        </p:nvCxnSpPr>
        <p:spPr>
          <a:xfrm>
            <a:off x="56345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48A9D4C-1D37-DF10-58E5-C76984D91AB4}"/>
              </a:ext>
            </a:extLst>
          </p:cNvPr>
          <p:cNvCxnSpPr/>
          <p:nvPr/>
        </p:nvCxnSpPr>
        <p:spPr>
          <a:xfrm>
            <a:off x="6354233"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4536029-B599-923E-96C3-4241C04DD786}"/>
              </a:ext>
            </a:extLst>
          </p:cNvPr>
          <p:cNvCxnSpPr/>
          <p:nvPr/>
        </p:nvCxnSpPr>
        <p:spPr>
          <a:xfrm>
            <a:off x="7027333"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0BB2196-6526-C0EB-0A46-3B567262CA47}"/>
              </a:ext>
            </a:extLst>
          </p:cNvPr>
          <p:cNvCxnSpPr/>
          <p:nvPr/>
        </p:nvCxnSpPr>
        <p:spPr>
          <a:xfrm>
            <a:off x="76983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5A9FFD75-22E0-3620-4B84-E4158D70863C}"/>
              </a:ext>
            </a:extLst>
          </p:cNvPr>
          <p:cNvCxnSpPr/>
          <p:nvPr/>
        </p:nvCxnSpPr>
        <p:spPr>
          <a:xfrm>
            <a:off x="83714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28705400-A12C-E0C4-1B18-6D626EDA17C9}"/>
              </a:ext>
            </a:extLst>
          </p:cNvPr>
          <p:cNvCxnSpPr/>
          <p:nvPr/>
        </p:nvCxnSpPr>
        <p:spPr>
          <a:xfrm>
            <a:off x="9042400"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FA499E19-C516-DA33-AD10-EC83C79DCAF2}"/>
              </a:ext>
            </a:extLst>
          </p:cNvPr>
          <p:cNvCxnSpPr/>
          <p:nvPr/>
        </p:nvCxnSpPr>
        <p:spPr>
          <a:xfrm>
            <a:off x="97133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EDE006B3-AD23-3122-C22D-1D94EF398C03}"/>
              </a:ext>
            </a:extLst>
          </p:cNvPr>
          <p:cNvCxnSpPr/>
          <p:nvPr/>
        </p:nvCxnSpPr>
        <p:spPr>
          <a:xfrm>
            <a:off x="103864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A71293A5-41B8-7E30-130E-A786485837C7}"/>
              </a:ext>
            </a:extLst>
          </p:cNvPr>
          <p:cNvCxnSpPr/>
          <p:nvPr/>
        </p:nvCxnSpPr>
        <p:spPr>
          <a:xfrm>
            <a:off x="110574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819B7BF-1517-C9C5-2C2D-ACC53EFF0F39}"/>
              </a:ext>
            </a:extLst>
          </p:cNvPr>
          <p:cNvCxnSpPr/>
          <p:nvPr/>
        </p:nvCxnSpPr>
        <p:spPr>
          <a:xfrm>
            <a:off x="117305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0B45ACBD-EDD2-8CF6-95CC-EA019C54D52F}"/>
              </a:ext>
            </a:extLst>
          </p:cNvPr>
          <p:cNvSpPr/>
          <p:nvPr/>
        </p:nvSpPr>
        <p:spPr>
          <a:xfrm>
            <a:off x="23727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2" name="矩形 21">
            <a:extLst>
              <a:ext uri="{FF2B5EF4-FFF2-40B4-BE49-F238E27FC236}">
                <a16:creationId xmlns:a16="http://schemas.microsoft.com/office/drawing/2014/main" id="{D9544127-3E22-3EE1-5809-C372113999A1}"/>
              </a:ext>
            </a:extLst>
          </p:cNvPr>
          <p:cNvSpPr/>
          <p:nvPr/>
        </p:nvSpPr>
        <p:spPr>
          <a:xfrm>
            <a:off x="30395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3" name="矩形 22">
            <a:extLst>
              <a:ext uri="{FF2B5EF4-FFF2-40B4-BE49-F238E27FC236}">
                <a16:creationId xmlns:a16="http://schemas.microsoft.com/office/drawing/2014/main" id="{264A762C-399F-53E0-5C90-A5AE039D7961}"/>
              </a:ext>
            </a:extLst>
          </p:cNvPr>
          <p:cNvSpPr/>
          <p:nvPr/>
        </p:nvSpPr>
        <p:spPr>
          <a:xfrm>
            <a:off x="3678767" y="2343152"/>
            <a:ext cx="502061" cy="307777"/>
          </a:xfrm>
          <a:prstGeom prst="rect">
            <a:avLst/>
          </a:prstGeom>
        </p:spPr>
        <p:txBody>
          <a:bodyPr wrap="none">
            <a:spAutoFit/>
          </a:bodyPr>
          <a:lstStyle/>
          <a:p>
            <a:pPr>
              <a:defRPr/>
            </a:pPr>
            <a:r>
              <a:rPr lang="en-US" altLang="zh-CN" sz="1400" dirty="0">
                <a:latin typeface="微软雅黑" panose="020B0503020204020204" pitchFamily="34" charset="-122"/>
                <a:ea typeface="微软雅黑" panose="020B0503020204020204" pitchFamily="34" charset="-122"/>
              </a:rPr>
              <a:t>null</a:t>
            </a:r>
            <a:endParaRPr lang="zh-CN" altLang="en-US" sz="1400" dirty="0">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B79EA717-3CC6-D78C-95B8-E4637A6E9AF7}"/>
              </a:ext>
            </a:extLst>
          </p:cNvPr>
          <p:cNvSpPr/>
          <p:nvPr/>
        </p:nvSpPr>
        <p:spPr>
          <a:xfrm>
            <a:off x="43624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5" name="矩形 24">
            <a:extLst>
              <a:ext uri="{FF2B5EF4-FFF2-40B4-BE49-F238E27FC236}">
                <a16:creationId xmlns:a16="http://schemas.microsoft.com/office/drawing/2014/main" id="{2BA134CA-E86F-FAF4-F38E-B3AD38955E1F}"/>
              </a:ext>
            </a:extLst>
          </p:cNvPr>
          <p:cNvSpPr/>
          <p:nvPr/>
        </p:nvSpPr>
        <p:spPr>
          <a:xfrm>
            <a:off x="50588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6" name="矩形 25">
            <a:extLst>
              <a:ext uri="{FF2B5EF4-FFF2-40B4-BE49-F238E27FC236}">
                <a16:creationId xmlns:a16="http://schemas.microsoft.com/office/drawing/2014/main" id="{46ABED1A-0595-24D1-82BD-7331E46030E9}"/>
              </a:ext>
            </a:extLst>
          </p:cNvPr>
          <p:cNvSpPr/>
          <p:nvPr/>
        </p:nvSpPr>
        <p:spPr>
          <a:xfrm>
            <a:off x="57255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7" name="矩形 26">
            <a:extLst>
              <a:ext uri="{FF2B5EF4-FFF2-40B4-BE49-F238E27FC236}">
                <a16:creationId xmlns:a16="http://schemas.microsoft.com/office/drawing/2014/main" id="{30B664D4-0653-59EC-53EF-CCFD08A20689}"/>
              </a:ext>
            </a:extLst>
          </p:cNvPr>
          <p:cNvSpPr/>
          <p:nvPr/>
        </p:nvSpPr>
        <p:spPr>
          <a:xfrm>
            <a:off x="64452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8" name="矩形 27">
            <a:extLst>
              <a:ext uri="{FF2B5EF4-FFF2-40B4-BE49-F238E27FC236}">
                <a16:creationId xmlns:a16="http://schemas.microsoft.com/office/drawing/2014/main" id="{F401402B-E636-74AF-C09A-DF9124F713AE}"/>
              </a:ext>
            </a:extLst>
          </p:cNvPr>
          <p:cNvSpPr/>
          <p:nvPr/>
        </p:nvSpPr>
        <p:spPr>
          <a:xfrm>
            <a:off x="71098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9" name="矩形 28">
            <a:extLst>
              <a:ext uri="{FF2B5EF4-FFF2-40B4-BE49-F238E27FC236}">
                <a16:creationId xmlns:a16="http://schemas.microsoft.com/office/drawing/2014/main" id="{3D7CCAE8-99AC-AA48-FBA1-ABE066D6E405}"/>
              </a:ext>
            </a:extLst>
          </p:cNvPr>
          <p:cNvSpPr/>
          <p:nvPr/>
        </p:nvSpPr>
        <p:spPr>
          <a:xfrm>
            <a:off x="78083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0" name="矩形 29">
            <a:extLst>
              <a:ext uri="{FF2B5EF4-FFF2-40B4-BE49-F238E27FC236}">
                <a16:creationId xmlns:a16="http://schemas.microsoft.com/office/drawing/2014/main" id="{E5B4619F-5D67-8F84-1180-7E2C4B37BCD5}"/>
              </a:ext>
            </a:extLst>
          </p:cNvPr>
          <p:cNvSpPr/>
          <p:nvPr/>
        </p:nvSpPr>
        <p:spPr>
          <a:xfrm>
            <a:off x="8473018"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1" name="矩形 30">
            <a:extLst>
              <a:ext uri="{FF2B5EF4-FFF2-40B4-BE49-F238E27FC236}">
                <a16:creationId xmlns:a16="http://schemas.microsoft.com/office/drawing/2014/main" id="{0869CEB9-ADA2-FCFB-40EF-4D699E3F798B}"/>
              </a:ext>
            </a:extLst>
          </p:cNvPr>
          <p:cNvSpPr/>
          <p:nvPr/>
        </p:nvSpPr>
        <p:spPr>
          <a:xfrm>
            <a:off x="913130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2" name="矩形 31">
            <a:extLst>
              <a:ext uri="{FF2B5EF4-FFF2-40B4-BE49-F238E27FC236}">
                <a16:creationId xmlns:a16="http://schemas.microsoft.com/office/drawing/2014/main" id="{886713F2-1927-3949-6EC2-0BD3682133A0}"/>
              </a:ext>
            </a:extLst>
          </p:cNvPr>
          <p:cNvSpPr/>
          <p:nvPr/>
        </p:nvSpPr>
        <p:spPr>
          <a:xfrm>
            <a:off x="97959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3" name="矩形 32">
            <a:extLst>
              <a:ext uri="{FF2B5EF4-FFF2-40B4-BE49-F238E27FC236}">
                <a16:creationId xmlns:a16="http://schemas.microsoft.com/office/drawing/2014/main" id="{A69B307A-5E5C-C396-B3B5-089BC338AA1D}"/>
              </a:ext>
            </a:extLst>
          </p:cNvPr>
          <p:cNvSpPr/>
          <p:nvPr/>
        </p:nvSpPr>
        <p:spPr>
          <a:xfrm>
            <a:off x="104944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4" name="矩形 33">
            <a:extLst>
              <a:ext uri="{FF2B5EF4-FFF2-40B4-BE49-F238E27FC236}">
                <a16:creationId xmlns:a16="http://schemas.microsoft.com/office/drawing/2014/main" id="{F27284E5-0423-AD67-49C3-BA85DB26A106}"/>
              </a:ext>
            </a:extLst>
          </p:cNvPr>
          <p:cNvSpPr/>
          <p:nvPr/>
        </p:nvSpPr>
        <p:spPr>
          <a:xfrm>
            <a:off x="11159067"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5" name="矩形 34">
            <a:extLst>
              <a:ext uri="{FF2B5EF4-FFF2-40B4-BE49-F238E27FC236}">
                <a16:creationId xmlns:a16="http://schemas.microsoft.com/office/drawing/2014/main" id="{95CE2A3D-969D-497E-7AAC-C2A0DE21E0A2}"/>
              </a:ext>
            </a:extLst>
          </p:cNvPr>
          <p:cNvSpPr/>
          <p:nvPr/>
        </p:nvSpPr>
        <p:spPr>
          <a:xfrm>
            <a:off x="1098551"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0</a:t>
            </a:r>
            <a:endParaRPr lang="zh-CN" altLang="en-US" sz="1400" dirty="0"/>
          </a:p>
        </p:txBody>
      </p:sp>
      <p:sp>
        <p:nvSpPr>
          <p:cNvPr id="36" name="矩形 35">
            <a:extLst>
              <a:ext uri="{FF2B5EF4-FFF2-40B4-BE49-F238E27FC236}">
                <a16:creationId xmlns:a16="http://schemas.microsoft.com/office/drawing/2014/main" id="{4D4E2ACA-AD9D-2EE4-F128-38CC37174039}"/>
              </a:ext>
            </a:extLst>
          </p:cNvPr>
          <p:cNvSpPr/>
          <p:nvPr/>
        </p:nvSpPr>
        <p:spPr>
          <a:xfrm>
            <a:off x="17631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a:t>
            </a:r>
            <a:endParaRPr lang="zh-CN" altLang="en-US" sz="1400" dirty="0"/>
          </a:p>
        </p:txBody>
      </p:sp>
      <p:sp>
        <p:nvSpPr>
          <p:cNvPr id="37" name="矩形 36">
            <a:extLst>
              <a:ext uri="{FF2B5EF4-FFF2-40B4-BE49-F238E27FC236}">
                <a16:creationId xmlns:a16="http://schemas.microsoft.com/office/drawing/2014/main" id="{1B5BE97B-9A2E-8BB0-1608-2BB404D34F8C}"/>
              </a:ext>
            </a:extLst>
          </p:cNvPr>
          <p:cNvSpPr/>
          <p:nvPr/>
        </p:nvSpPr>
        <p:spPr>
          <a:xfrm>
            <a:off x="24616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2</a:t>
            </a:r>
            <a:endParaRPr lang="zh-CN" altLang="en-US" sz="1400" dirty="0"/>
          </a:p>
        </p:txBody>
      </p:sp>
      <p:sp>
        <p:nvSpPr>
          <p:cNvPr id="38" name="矩形 37">
            <a:extLst>
              <a:ext uri="{FF2B5EF4-FFF2-40B4-BE49-F238E27FC236}">
                <a16:creationId xmlns:a16="http://schemas.microsoft.com/office/drawing/2014/main" id="{2D322F5B-BB93-1569-44E6-AA92178EE9E2}"/>
              </a:ext>
            </a:extLst>
          </p:cNvPr>
          <p:cNvSpPr/>
          <p:nvPr/>
        </p:nvSpPr>
        <p:spPr>
          <a:xfrm>
            <a:off x="3126318"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3</a:t>
            </a:r>
            <a:endParaRPr lang="zh-CN" altLang="en-US" sz="1400" dirty="0"/>
          </a:p>
        </p:txBody>
      </p:sp>
      <p:sp>
        <p:nvSpPr>
          <p:cNvPr id="39" name="矩形 38">
            <a:extLst>
              <a:ext uri="{FF2B5EF4-FFF2-40B4-BE49-F238E27FC236}">
                <a16:creationId xmlns:a16="http://schemas.microsoft.com/office/drawing/2014/main" id="{CF46C082-2A99-4B76-2F8F-535C5EC3DE3E}"/>
              </a:ext>
            </a:extLst>
          </p:cNvPr>
          <p:cNvSpPr/>
          <p:nvPr/>
        </p:nvSpPr>
        <p:spPr>
          <a:xfrm>
            <a:off x="3784600"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4</a:t>
            </a:r>
            <a:endParaRPr lang="zh-CN" altLang="en-US" sz="1400" dirty="0"/>
          </a:p>
        </p:txBody>
      </p:sp>
      <p:sp>
        <p:nvSpPr>
          <p:cNvPr id="40" name="矩形 39">
            <a:extLst>
              <a:ext uri="{FF2B5EF4-FFF2-40B4-BE49-F238E27FC236}">
                <a16:creationId xmlns:a16="http://schemas.microsoft.com/office/drawing/2014/main" id="{D40D74B1-8470-8CAD-C744-52594A35244F}"/>
              </a:ext>
            </a:extLst>
          </p:cNvPr>
          <p:cNvSpPr/>
          <p:nvPr/>
        </p:nvSpPr>
        <p:spPr>
          <a:xfrm>
            <a:off x="44492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5</a:t>
            </a:r>
            <a:endParaRPr lang="zh-CN" altLang="en-US" sz="1400" dirty="0"/>
          </a:p>
        </p:txBody>
      </p:sp>
      <p:sp>
        <p:nvSpPr>
          <p:cNvPr id="41" name="矩形 40">
            <a:extLst>
              <a:ext uri="{FF2B5EF4-FFF2-40B4-BE49-F238E27FC236}">
                <a16:creationId xmlns:a16="http://schemas.microsoft.com/office/drawing/2014/main" id="{64A279CA-B408-FAA4-08F0-4A373DBB9BF9}"/>
              </a:ext>
            </a:extLst>
          </p:cNvPr>
          <p:cNvSpPr/>
          <p:nvPr/>
        </p:nvSpPr>
        <p:spPr>
          <a:xfrm>
            <a:off x="51477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6</a:t>
            </a:r>
            <a:endParaRPr lang="zh-CN" altLang="en-US" sz="1400" dirty="0"/>
          </a:p>
        </p:txBody>
      </p:sp>
      <p:sp>
        <p:nvSpPr>
          <p:cNvPr id="42" name="矩形 41">
            <a:extLst>
              <a:ext uri="{FF2B5EF4-FFF2-40B4-BE49-F238E27FC236}">
                <a16:creationId xmlns:a16="http://schemas.microsoft.com/office/drawing/2014/main" id="{B99C02E6-37F8-E40C-B5DA-1BE5A94F291D}"/>
              </a:ext>
            </a:extLst>
          </p:cNvPr>
          <p:cNvSpPr/>
          <p:nvPr/>
        </p:nvSpPr>
        <p:spPr>
          <a:xfrm>
            <a:off x="5812367"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7</a:t>
            </a:r>
            <a:endParaRPr lang="zh-CN" altLang="en-US" sz="1400" dirty="0"/>
          </a:p>
        </p:txBody>
      </p:sp>
      <p:sp>
        <p:nvSpPr>
          <p:cNvPr id="43" name="矩形 42">
            <a:extLst>
              <a:ext uri="{FF2B5EF4-FFF2-40B4-BE49-F238E27FC236}">
                <a16:creationId xmlns:a16="http://schemas.microsoft.com/office/drawing/2014/main" id="{0068833B-010B-009A-3563-D585F3ADD3EE}"/>
              </a:ext>
            </a:extLst>
          </p:cNvPr>
          <p:cNvSpPr/>
          <p:nvPr/>
        </p:nvSpPr>
        <p:spPr>
          <a:xfrm>
            <a:off x="65320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8</a:t>
            </a:r>
            <a:endParaRPr lang="zh-CN" altLang="en-US" sz="1400" dirty="0"/>
          </a:p>
        </p:txBody>
      </p:sp>
      <p:sp>
        <p:nvSpPr>
          <p:cNvPr id="44" name="矩形 43">
            <a:extLst>
              <a:ext uri="{FF2B5EF4-FFF2-40B4-BE49-F238E27FC236}">
                <a16:creationId xmlns:a16="http://schemas.microsoft.com/office/drawing/2014/main" id="{2D9BB9D3-0866-6877-F5EB-1868D5C752F8}"/>
              </a:ext>
            </a:extLst>
          </p:cNvPr>
          <p:cNvSpPr/>
          <p:nvPr/>
        </p:nvSpPr>
        <p:spPr>
          <a:xfrm>
            <a:off x="71987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9</a:t>
            </a:r>
            <a:endParaRPr lang="zh-CN" altLang="en-US" sz="1400" dirty="0"/>
          </a:p>
        </p:txBody>
      </p:sp>
      <p:sp>
        <p:nvSpPr>
          <p:cNvPr id="45" name="矩形 44">
            <a:extLst>
              <a:ext uri="{FF2B5EF4-FFF2-40B4-BE49-F238E27FC236}">
                <a16:creationId xmlns:a16="http://schemas.microsoft.com/office/drawing/2014/main" id="{6E85D468-EAF0-0784-F801-6F9ABF9AAEB7}"/>
              </a:ext>
            </a:extLst>
          </p:cNvPr>
          <p:cNvSpPr/>
          <p:nvPr/>
        </p:nvSpPr>
        <p:spPr>
          <a:xfrm>
            <a:off x="7816851"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10</a:t>
            </a:r>
            <a:endParaRPr lang="zh-CN" altLang="en-US" sz="1400" dirty="0"/>
          </a:p>
        </p:txBody>
      </p:sp>
      <p:sp>
        <p:nvSpPr>
          <p:cNvPr id="46" name="矩形 45">
            <a:extLst>
              <a:ext uri="{FF2B5EF4-FFF2-40B4-BE49-F238E27FC236}">
                <a16:creationId xmlns:a16="http://schemas.microsoft.com/office/drawing/2014/main" id="{B5C04AD0-C51F-5EF9-A9CE-70509C0B12A4}"/>
              </a:ext>
            </a:extLst>
          </p:cNvPr>
          <p:cNvSpPr/>
          <p:nvPr/>
        </p:nvSpPr>
        <p:spPr>
          <a:xfrm>
            <a:off x="8483600"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11</a:t>
            </a:r>
            <a:endParaRPr lang="zh-CN" altLang="en-US" sz="1400" dirty="0"/>
          </a:p>
        </p:txBody>
      </p:sp>
      <p:sp>
        <p:nvSpPr>
          <p:cNvPr id="47" name="矩形 46">
            <a:extLst>
              <a:ext uri="{FF2B5EF4-FFF2-40B4-BE49-F238E27FC236}">
                <a16:creationId xmlns:a16="http://schemas.microsoft.com/office/drawing/2014/main" id="{7FFD5340-F251-B4DE-10A3-4023EB5B2FDB}"/>
              </a:ext>
            </a:extLst>
          </p:cNvPr>
          <p:cNvSpPr/>
          <p:nvPr/>
        </p:nvSpPr>
        <p:spPr>
          <a:xfrm>
            <a:off x="9141884"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12</a:t>
            </a:r>
            <a:endParaRPr lang="zh-CN" altLang="en-US" sz="1400" dirty="0"/>
          </a:p>
        </p:txBody>
      </p:sp>
      <p:sp>
        <p:nvSpPr>
          <p:cNvPr id="48" name="矩形 47">
            <a:extLst>
              <a:ext uri="{FF2B5EF4-FFF2-40B4-BE49-F238E27FC236}">
                <a16:creationId xmlns:a16="http://schemas.microsoft.com/office/drawing/2014/main" id="{2FE2954D-B901-BDCD-C9E1-20874BC27226}"/>
              </a:ext>
            </a:extLst>
          </p:cNvPr>
          <p:cNvSpPr/>
          <p:nvPr/>
        </p:nvSpPr>
        <p:spPr>
          <a:xfrm>
            <a:off x="9806518"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13</a:t>
            </a:r>
            <a:endParaRPr lang="zh-CN" altLang="en-US" sz="1400" dirty="0"/>
          </a:p>
        </p:txBody>
      </p:sp>
      <p:sp>
        <p:nvSpPr>
          <p:cNvPr id="49" name="矩形 48">
            <a:extLst>
              <a:ext uri="{FF2B5EF4-FFF2-40B4-BE49-F238E27FC236}">
                <a16:creationId xmlns:a16="http://schemas.microsoft.com/office/drawing/2014/main" id="{B8B5FCF1-D851-6093-8B0B-2470A33F61D4}"/>
              </a:ext>
            </a:extLst>
          </p:cNvPr>
          <p:cNvSpPr/>
          <p:nvPr/>
        </p:nvSpPr>
        <p:spPr>
          <a:xfrm>
            <a:off x="10505018"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14</a:t>
            </a:r>
            <a:endParaRPr lang="zh-CN" altLang="en-US" sz="1400" dirty="0"/>
          </a:p>
        </p:txBody>
      </p:sp>
      <p:sp>
        <p:nvSpPr>
          <p:cNvPr id="50" name="矩形 49">
            <a:extLst>
              <a:ext uri="{FF2B5EF4-FFF2-40B4-BE49-F238E27FC236}">
                <a16:creationId xmlns:a16="http://schemas.microsoft.com/office/drawing/2014/main" id="{E5E859F5-B3A9-ABA7-2BD7-6562F98E3F1D}"/>
              </a:ext>
            </a:extLst>
          </p:cNvPr>
          <p:cNvSpPr/>
          <p:nvPr/>
        </p:nvSpPr>
        <p:spPr>
          <a:xfrm>
            <a:off x="11169651"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15</a:t>
            </a:r>
            <a:endParaRPr lang="zh-CN" altLang="en-US" sz="1400" dirty="0"/>
          </a:p>
        </p:txBody>
      </p:sp>
      <p:sp>
        <p:nvSpPr>
          <p:cNvPr id="51" name="!!!a">
            <a:extLst>
              <a:ext uri="{FF2B5EF4-FFF2-40B4-BE49-F238E27FC236}">
                <a16:creationId xmlns:a16="http://schemas.microsoft.com/office/drawing/2014/main" id="{DF0558F1-156B-0D16-6BED-5B3358415038}"/>
              </a:ext>
            </a:extLst>
          </p:cNvPr>
          <p:cNvSpPr/>
          <p:nvPr/>
        </p:nvSpPr>
        <p:spPr>
          <a:xfrm>
            <a:off x="6144684" y="4184651"/>
            <a:ext cx="480483" cy="480483"/>
          </a:xfrm>
          <a:prstGeom prst="ellipse">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cxnSp>
        <p:nvCxnSpPr>
          <p:cNvPr id="52" name="直接箭头连接符 51">
            <a:extLst>
              <a:ext uri="{FF2B5EF4-FFF2-40B4-BE49-F238E27FC236}">
                <a16:creationId xmlns:a16="http://schemas.microsoft.com/office/drawing/2014/main" id="{E9B60E41-711D-C6F8-3A54-F69BDDD8CCFF}"/>
              </a:ext>
            </a:extLst>
          </p:cNvPr>
          <p:cNvCxnSpPr>
            <a:stCxn id="51" idx="1"/>
          </p:cNvCxnSpPr>
          <p:nvPr/>
        </p:nvCxnSpPr>
        <p:spPr>
          <a:xfrm flipH="1" flipV="1">
            <a:off x="3960285" y="2912534"/>
            <a:ext cx="2254249" cy="134408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EF0651EC-6A01-6091-1F4A-53F6A85698BB}"/>
              </a:ext>
            </a:extLst>
          </p:cNvPr>
          <p:cNvCxnSpPr/>
          <p:nvPr/>
        </p:nvCxnSpPr>
        <p:spPr>
          <a:xfrm>
            <a:off x="42904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CC65746F-F954-BD50-DFA4-EE5089455139}"/>
              </a:ext>
            </a:extLst>
          </p:cNvPr>
          <p:cNvCxnSpPr/>
          <p:nvPr/>
        </p:nvCxnSpPr>
        <p:spPr>
          <a:xfrm>
            <a:off x="36173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2E7A9B7E-950F-2BB1-EFFC-E441358C6536}"/>
              </a:ext>
            </a:extLst>
          </p:cNvPr>
          <p:cNvCxnSpPr/>
          <p:nvPr/>
        </p:nvCxnSpPr>
        <p:spPr>
          <a:xfrm>
            <a:off x="9249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B20D77B1-46C0-8A5F-6E86-88B39614CE83}"/>
              </a:ext>
            </a:extLst>
          </p:cNvPr>
          <p:cNvCxnSpPr/>
          <p:nvPr/>
        </p:nvCxnSpPr>
        <p:spPr>
          <a:xfrm>
            <a:off x="16023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a16="http://schemas.microsoft.com/office/drawing/2014/main" id="{E907ADD7-B459-C1C8-1A8A-0E7EF5B781EB}"/>
              </a:ext>
            </a:extLst>
          </p:cNvPr>
          <p:cNvSpPr/>
          <p:nvPr/>
        </p:nvSpPr>
        <p:spPr>
          <a:xfrm>
            <a:off x="4808950" y="4211917"/>
            <a:ext cx="1149674" cy="425950"/>
          </a:xfrm>
          <a:prstGeom prst="rect">
            <a:avLst/>
          </a:prstGeom>
        </p:spPr>
        <p:txBody>
          <a:bodyPr wrap="none">
            <a:spAutoFit/>
          </a:bodyPr>
          <a:lstStyle/>
          <a:p>
            <a:pPr>
              <a:lnSpc>
                <a:spcPct val="150000"/>
              </a:lnSpc>
              <a:defRPr/>
            </a:pPr>
            <a:r>
              <a:rPr lang="en-US" altLang="zh-CN" sz="1600" dirty="0">
                <a:solidFill>
                  <a:srgbClr val="333333"/>
                </a:solidFill>
                <a:latin typeface="Consolas" panose="020B0609020204030204" pitchFamily="49" charset="0"/>
                <a:ea typeface="微软雅黑" pitchFamily="34" charset="-122"/>
              </a:rPr>
              <a:t>Entry</a:t>
            </a:r>
            <a:r>
              <a:rPr lang="zh-CN" altLang="en-US"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对象</a:t>
            </a:r>
            <a:endParaRPr lang="en-US" altLang="zh-CN" sz="1600" dirty="0">
              <a:solidFill>
                <a:srgbClr val="333333"/>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8" name="Rectangle 1">
            <a:extLst>
              <a:ext uri="{FF2B5EF4-FFF2-40B4-BE49-F238E27FC236}">
                <a16:creationId xmlns:a16="http://schemas.microsoft.com/office/drawing/2014/main" id="{A4397154-3DEC-8D56-7B54-F0F72A608F75}"/>
              </a:ext>
            </a:extLst>
          </p:cNvPr>
          <p:cNvSpPr>
            <a:spLocks noChangeArrowheads="1"/>
          </p:cNvSpPr>
          <p:nvPr/>
        </p:nvSpPr>
        <p:spPr bwMode="auto">
          <a:xfrm>
            <a:off x="7001934" y="5061364"/>
            <a:ext cx="2711450" cy="35900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zh-CN" sz="1733" dirty="0">
                <a:solidFill>
                  <a:srgbClr val="000000"/>
                </a:solidFill>
                <a:latin typeface="Consolas" panose="020B0609020204030204" pitchFamily="49" charset="0"/>
              </a:rPr>
              <a:t>map.put(</a:t>
            </a:r>
            <a:r>
              <a:rPr lang="zh-CN" altLang="zh-CN" sz="1733" b="1" dirty="0">
                <a:solidFill>
                  <a:srgbClr val="008000"/>
                </a:solidFill>
                <a:latin typeface="Consolas" panose="020B0609020204030204" pitchFamily="49" charset="0"/>
              </a:rPr>
              <a:t>"</a:t>
            </a:r>
            <a:r>
              <a:rPr lang="en-US" altLang="zh-CN" sz="1733" b="1" dirty="0">
                <a:solidFill>
                  <a:srgbClr val="008000"/>
                </a:solidFill>
                <a:latin typeface="Consolas" panose="020B0609020204030204" pitchFamily="49" charset="0"/>
              </a:rPr>
              <a:t>   </a:t>
            </a:r>
            <a:r>
              <a:rPr lang="zh-CN" altLang="zh-CN" sz="1733" b="1" dirty="0">
                <a:solidFill>
                  <a:srgbClr val="008000"/>
                </a:solidFill>
                <a:latin typeface="Consolas" panose="020B0609020204030204" pitchFamily="49" charset="0"/>
              </a:rPr>
              <a:t>"</a:t>
            </a:r>
            <a:r>
              <a:rPr lang="zh-CN" altLang="zh-CN" sz="1733" dirty="0">
                <a:solidFill>
                  <a:srgbClr val="000000"/>
                </a:solidFill>
                <a:latin typeface="Consolas" panose="020B0609020204030204" pitchFamily="49" charset="0"/>
              </a:rPr>
              <a:t>,</a:t>
            </a:r>
            <a:r>
              <a:rPr lang="zh-CN" altLang="zh-CN" sz="1733" b="1" dirty="0">
                <a:solidFill>
                  <a:srgbClr val="008000"/>
                </a:solidFill>
                <a:latin typeface="Consolas" panose="020B0609020204030204" pitchFamily="49" charset="0"/>
              </a:rPr>
              <a:t>"</a:t>
            </a:r>
            <a:r>
              <a:rPr lang="en-US" altLang="zh-CN" sz="1733" b="1" dirty="0">
                <a:solidFill>
                  <a:srgbClr val="008000"/>
                </a:solidFill>
                <a:latin typeface="Consolas" panose="020B0609020204030204" pitchFamily="49" charset="0"/>
              </a:rPr>
              <a:t>  </a:t>
            </a:r>
            <a:r>
              <a:rPr lang="zh-CN" altLang="zh-CN" sz="1733" b="1" dirty="0">
                <a:solidFill>
                  <a:srgbClr val="008000"/>
                </a:solidFill>
                <a:latin typeface="Consolas" panose="020B0609020204030204" pitchFamily="49" charset="0"/>
              </a:rPr>
              <a:t>"</a:t>
            </a:r>
            <a:r>
              <a:rPr lang="zh-CN" altLang="zh-CN" sz="1733" dirty="0">
                <a:solidFill>
                  <a:srgbClr val="000000"/>
                </a:solidFill>
                <a:latin typeface="Consolas" panose="020B0609020204030204" pitchFamily="49" charset="0"/>
              </a:rPr>
              <a:t>);</a:t>
            </a:r>
            <a:endParaRPr lang="zh-CN" altLang="zh-CN" sz="2400" dirty="0"/>
          </a:p>
        </p:txBody>
      </p:sp>
      <p:sp>
        <p:nvSpPr>
          <p:cNvPr id="59" name="Rectangle 1">
            <a:extLst>
              <a:ext uri="{FF2B5EF4-FFF2-40B4-BE49-F238E27FC236}">
                <a16:creationId xmlns:a16="http://schemas.microsoft.com/office/drawing/2014/main" id="{FD1133D8-0920-C77F-00A4-6612162F6534}"/>
              </a:ext>
            </a:extLst>
          </p:cNvPr>
          <p:cNvSpPr>
            <a:spLocks noChangeArrowheads="1"/>
          </p:cNvSpPr>
          <p:nvPr/>
        </p:nvSpPr>
        <p:spPr bwMode="auto">
          <a:xfrm>
            <a:off x="8864601" y="5060305"/>
            <a:ext cx="495300" cy="35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733" b="1">
                <a:solidFill>
                  <a:srgbClr val="008000"/>
                </a:solidFill>
                <a:latin typeface="Consolas" panose="020B0609020204030204" pitchFamily="49" charset="0"/>
              </a:rPr>
              <a:t>值</a:t>
            </a:r>
            <a:endParaRPr lang="zh-CN" altLang="zh-CN" sz="2400"/>
          </a:p>
        </p:txBody>
      </p:sp>
      <p:sp>
        <p:nvSpPr>
          <p:cNvPr id="60" name="Rectangle 1">
            <a:extLst>
              <a:ext uri="{FF2B5EF4-FFF2-40B4-BE49-F238E27FC236}">
                <a16:creationId xmlns:a16="http://schemas.microsoft.com/office/drawing/2014/main" id="{B82E1B04-ABFB-842B-B37E-3FC6E82484EC}"/>
              </a:ext>
            </a:extLst>
          </p:cNvPr>
          <p:cNvSpPr>
            <a:spLocks noChangeArrowheads="1"/>
          </p:cNvSpPr>
          <p:nvPr/>
        </p:nvSpPr>
        <p:spPr bwMode="auto">
          <a:xfrm>
            <a:off x="8153401" y="5060305"/>
            <a:ext cx="529167" cy="35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733" b="1">
                <a:solidFill>
                  <a:srgbClr val="008000"/>
                </a:solidFill>
                <a:latin typeface="Consolas" panose="020B0609020204030204" pitchFamily="49" charset="0"/>
              </a:rPr>
              <a:t>键</a:t>
            </a:r>
            <a:endParaRPr lang="zh-CN" altLang="zh-CN" sz="2400"/>
          </a:p>
        </p:txBody>
      </p:sp>
      <p:sp>
        <p:nvSpPr>
          <p:cNvPr id="61" name="圆角矩形 5">
            <a:extLst>
              <a:ext uri="{FF2B5EF4-FFF2-40B4-BE49-F238E27FC236}">
                <a16:creationId xmlns:a16="http://schemas.microsoft.com/office/drawing/2014/main" id="{14768BC3-704A-6585-FD9B-8C0677C48F52}"/>
              </a:ext>
            </a:extLst>
          </p:cNvPr>
          <p:cNvSpPr>
            <a:spLocks noChangeArrowheads="1"/>
          </p:cNvSpPr>
          <p:nvPr/>
        </p:nvSpPr>
        <p:spPr bwMode="auto">
          <a:xfrm>
            <a:off x="6981826" y="3782736"/>
            <a:ext cx="3199919" cy="444791"/>
          </a:xfrm>
          <a:prstGeom prst="roundRect">
            <a:avLst>
              <a:gd name="adj" fmla="val 16667"/>
            </a:avLst>
          </a:prstGeom>
          <a:solidFill>
            <a:srgbClr val="C00000"/>
          </a:solidFill>
          <a:ln w="9525">
            <a:noFill/>
            <a:round/>
            <a:headEnd/>
            <a:tailEnd/>
          </a:ln>
          <a:effectLst>
            <a:outerShdw dist="63500" dir="5400000" algn="ctr" rotWithShape="0">
              <a:srgbClr val="000000">
                <a:alpha val="10999"/>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 typeface="Arial" pitchFamily="34" charset="0"/>
              <a:buNone/>
              <a:tabLst/>
              <a:defRPr/>
            </a:pP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利用键计算哈希值，跟值无关</a:t>
            </a:r>
            <a:endParaRPr kumimoji="0" lang="zh-CN" altLang="en-US" sz="1600" i="0" u="none" strike="noStrike" kern="0" cap="none" spc="0" normalizeH="0" baseline="0" noProof="0" dirty="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6821993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par>
                                    <p:cTn id="11" presetID="22" presetClass="entr" presetSubtype="4"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wipe(down)">
                                          <p:cBhvr>
                                            <p:cTn id="13" dur="500"/>
                                            <p:tgtEl>
                                              <p:spTgt spid="55"/>
                                            </p:tgtEl>
                                          </p:cBhvr>
                                        </p:animEffect>
                                      </p:childTnLst>
                                    </p:cTn>
                                  </p:par>
                                  <p:par>
                                    <p:cTn id="14" presetID="22" presetClass="entr" presetSubtype="1" fill="hold" nodeType="withEffect">
                                      <p:stCondLst>
                                        <p:cond delay="0"/>
                                      </p:stCondLst>
                                      <p:childTnLst>
                                        <p:set>
                                          <p:cBhvr>
                                            <p:cTn id="15" dur="1" fill="hold">
                                              <p:stCondLst>
                                                <p:cond delay="0"/>
                                              </p:stCondLst>
                                            </p:cTn>
                                            <p:tgtEl>
                                              <p:spTgt spid="56"/>
                                            </p:tgtEl>
                                            <p:attrNameLst>
                                              <p:attrName>style.visibility</p:attrName>
                                            </p:attrNameLst>
                                          </p:cBhvr>
                                          <p:to>
                                            <p:strVal val="visible"/>
                                          </p:to>
                                        </p:set>
                                        <p:animEffect transition="in" filter="wipe(up)">
                                          <p:cBhvr>
                                            <p:cTn id="16" dur="500"/>
                                            <p:tgtEl>
                                              <p:spTgt spid="56"/>
                                            </p:tgtEl>
                                          </p:cBhvr>
                                        </p:animEffect>
                                      </p:childTnLst>
                                    </p:cTn>
                                  </p:par>
                                  <p:par>
                                    <p:cTn id="17" presetID="22" presetClass="entr" presetSubtype="4"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par>
                                    <p:cTn id="20" presetID="22" presetClass="entr" presetSubtype="1"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par>
                                    <p:cTn id="23" presetID="22" presetClass="entr" presetSubtype="4" fill="hold" nodeType="with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wipe(down)">
                                          <p:cBhvr>
                                            <p:cTn id="25" dur="500"/>
                                            <p:tgtEl>
                                              <p:spTgt spid="54"/>
                                            </p:tgtEl>
                                          </p:cBhvr>
                                        </p:animEffect>
                                      </p:childTnLst>
                                    </p:cTn>
                                  </p:par>
                                  <p:par>
                                    <p:cTn id="26" presetID="22" presetClass="entr" presetSubtype="1" fill="hold" nodeType="withEffect">
                                      <p:stCondLst>
                                        <p:cond delay="0"/>
                                      </p:stCondLst>
                                      <p:childTnLst>
                                        <p:set>
                                          <p:cBhvr>
                                            <p:cTn id="27" dur="1" fill="hold">
                                              <p:stCondLst>
                                                <p:cond delay="0"/>
                                              </p:stCondLst>
                                            </p:cTn>
                                            <p:tgtEl>
                                              <p:spTgt spid="53"/>
                                            </p:tgtEl>
                                            <p:attrNameLst>
                                              <p:attrName>style.visibility</p:attrName>
                                            </p:attrNameLst>
                                          </p:cBhvr>
                                          <p:to>
                                            <p:strVal val="visible"/>
                                          </p:to>
                                        </p:set>
                                        <p:animEffect transition="in" filter="wipe(up)">
                                          <p:cBhvr>
                                            <p:cTn id="28" dur="500"/>
                                            <p:tgtEl>
                                              <p:spTgt spid="53"/>
                                            </p:tgtEl>
                                          </p:cBhvr>
                                        </p:animEffect>
                                      </p:childTnLst>
                                    </p:cTn>
                                  </p:par>
                                  <p:par>
                                    <p:cTn id="29" presetID="22" presetClass="entr" presetSubtype="4"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down)">
                                          <p:cBhvr>
                                            <p:cTn id="31" dur="500"/>
                                            <p:tgtEl>
                                              <p:spTgt spid="10"/>
                                            </p:tgtEl>
                                          </p:cBhvr>
                                        </p:animEffect>
                                      </p:childTnLst>
                                    </p:cTn>
                                  </p:par>
                                  <p:par>
                                    <p:cTn id="32" presetID="22" presetClass="entr" presetSubtype="1"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up)">
                                          <p:cBhvr>
                                            <p:cTn id="34" dur="500"/>
                                            <p:tgtEl>
                                              <p:spTgt spid="11"/>
                                            </p:tgtEl>
                                          </p:cBhvr>
                                        </p:animEffect>
                                      </p:childTnLst>
                                    </p:cTn>
                                  </p:par>
                                  <p:par>
                                    <p:cTn id="35" presetID="22" presetClass="entr" presetSubtype="4"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par>
                                    <p:cTn id="38" presetID="22" presetClass="entr" presetSubtype="1" fill="hold"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up)">
                                          <p:cBhvr>
                                            <p:cTn id="40" dur="500"/>
                                            <p:tgtEl>
                                              <p:spTgt spid="13"/>
                                            </p:tgtEl>
                                          </p:cBhvr>
                                        </p:animEffect>
                                      </p:childTnLst>
                                    </p:cTn>
                                  </p:par>
                                  <p:par>
                                    <p:cTn id="41" presetID="22" presetClass="entr" presetSubtype="4"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down)">
                                          <p:cBhvr>
                                            <p:cTn id="43" dur="500"/>
                                            <p:tgtEl>
                                              <p:spTgt spid="14"/>
                                            </p:tgtEl>
                                          </p:cBhvr>
                                        </p:animEffect>
                                      </p:childTnLst>
                                    </p:cTn>
                                  </p:par>
                                  <p:par>
                                    <p:cTn id="44" presetID="22" presetClass="entr" presetSubtype="1"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up)">
                                          <p:cBhvr>
                                            <p:cTn id="46" dur="500"/>
                                            <p:tgtEl>
                                              <p:spTgt spid="15"/>
                                            </p:tgtEl>
                                          </p:cBhvr>
                                        </p:animEffect>
                                      </p:childTnLst>
                                    </p:cTn>
                                  </p:par>
                                  <p:par>
                                    <p:cTn id="47" presetID="22" presetClass="entr" presetSubtype="4"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down)">
                                          <p:cBhvr>
                                            <p:cTn id="49" dur="500"/>
                                            <p:tgtEl>
                                              <p:spTgt spid="16"/>
                                            </p:tgtEl>
                                          </p:cBhvr>
                                        </p:animEffect>
                                      </p:childTnLst>
                                    </p:cTn>
                                  </p:par>
                                  <p:par>
                                    <p:cTn id="50" presetID="22" presetClass="entr" presetSubtype="1"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up)">
                                          <p:cBhvr>
                                            <p:cTn id="52" dur="500"/>
                                            <p:tgtEl>
                                              <p:spTgt spid="17"/>
                                            </p:tgtEl>
                                          </p:cBhvr>
                                        </p:animEffect>
                                      </p:childTnLst>
                                    </p:cTn>
                                  </p:par>
                                  <p:par>
                                    <p:cTn id="53" presetID="22" presetClass="entr" presetSubtype="4" fill="hold"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down)">
                                          <p:cBhvr>
                                            <p:cTn id="55" dur="500"/>
                                            <p:tgtEl>
                                              <p:spTgt spid="18"/>
                                            </p:tgtEl>
                                          </p:cBhvr>
                                        </p:animEffect>
                                      </p:childTnLst>
                                    </p:cTn>
                                  </p:par>
                                  <p:par>
                                    <p:cTn id="56" presetID="22" presetClass="entr" presetSubtype="1" fill="hold"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up)">
                                          <p:cBhvr>
                                            <p:cTn id="58" dur="500"/>
                                            <p:tgtEl>
                                              <p:spTgt spid="19"/>
                                            </p:tgtEl>
                                          </p:cBhvr>
                                        </p:animEffect>
                                      </p:childTnLst>
                                    </p:cTn>
                                  </p:par>
                                  <p:par>
                                    <p:cTn id="59" presetID="22" presetClass="entr" presetSubtype="4"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down)">
                                          <p:cBhvr>
                                            <p:cTn id="61" dur="500"/>
                                            <p:tgtEl>
                                              <p:spTgt spid="20"/>
                                            </p:tgtEl>
                                          </p:cBhvr>
                                        </p:animEffect>
                                      </p:childTnLst>
                                    </p:cTn>
                                  </p:par>
                                </p:childTnLst>
                              </p:cTn>
                            </p:par>
                            <p:par>
                              <p:cTn id="62" fill="hold">
                                <p:stCondLst>
                                  <p:cond delay="500"/>
                                </p:stCondLst>
                                <p:childTnLst>
                                  <p:par>
                                    <p:cTn id="63" presetID="12" presetClass="entr" presetSubtype="1" fill="hold" grpId="0" nodeType="afterEffect">
                                      <p:stCondLst>
                                        <p:cond delay="0"/>
                                      </p:stCondLst>
                                      <p:childTnLst>
                                        <p:set>
                                          <p:cBhvr>
                                            <p:cTn id="64" dur="1" fill="hold">
                                              <p:stCondLst>
                                                <p:cond delay="0"/>
                                              </p:stCondLst>
                                            </p:cTn>
                                            <p:tgtEl>
                                              <p:spTgt spid="6"/>
                                            </p:tgtEl>
                                            <p:attrNameLst>
                                              <p:attrName>style.visibility</p:attrName>
                                            </p:attrNameLst>
                                          </p:cBhvr>
                                          <p:to>
                                            <p:strVal val="visible"/>
                                          </p:to>
                                        </p:set>
                                        <p:anim calcmode="lin" valueType="num">
                                          <p:cBhvr additive="base">
                                            <p:cTn id="65" dur="500"/>
                                            <p:tgtEl>
                                              <p:spTgt spid="6"/>
                                            </p:tgtEl>
                                            <p:attrNameLst>
                                              <p:attrName>ppt_y</p:attrName>
                                            </p:attrNameLst>
                                          </p:cBhvr>
                                          <p:tavLst>
                                            <p:tav tm="0">
                                              <p:val>
                                                <p:strVal val="#ppt_y-#ppt_h*1.125000"/>
                                              </p:val>
                                            </p:tav>
                                            <p:tav tm="100000">
                                              <p:val>
                                                <p:strVal val="#ppt_y"/>
                                              </p:val>
                                            </p:tav>
                                          </p:tavLst>
                                        </p:anim>
                                        <p:animEffect transition="in" filter="wipe(down)">
                                          <p:cBhvr>
                                            <p:cTn id="66" dur="500"/>
                                            <p:tgtEl>
                                              <p:spTgt spid="6"/>
                                            </p:tgtEl>
                                          </p:cBhvr>
                                        </p:animEffect>
                                      </p:childTnLst>
                                    </p:cTn>
                                  </p:par>
                                  <p:par>
                                    <p:cTn id="67" presetID="12" presetClass="entr" presetSubtype="1" fill="hold" grpId="0" nodeType="withEffect">
                                      <p:stCondLst>
                                        <p:cond delay="0"/>
                                      </p:stCondLst>
                                      <p:childTnLst>
                                        <p:set>
                                          <p:cBhvr>
                                            <p:cTn id="68" dur="1" fill="hold">
                                              <p:stCondLst>
                                                <p:cond delay="0"/>
                                              </p:stCondLst>
                                            </p:cTn>
                                            <p:tgtEl>
                                              <p:spTgt spid="8"/>
                                            </p:tgtEl>
                                            <p:attrNameLst>
                                              <p:attrName>style.visibility</p:attrName>
                                            </p:attrNameLst>
                                          </p:cBhvr>
                                          <p:to>
                                            <p:strVal val="visible"/>
                                          </p:to>
                                        </p:set>
                                        <p:anim calcmode="lin" valueType="num">
                                          <p:cBhvr additive="base">
                                            <p:cTn id="69" dur="500"/>
                                            <p:tgtEl>
                                              <p:spTgt spid="8"/>
                                            </p:tgtEl>
                                            <p:attrNameLst>
                                              <p:attrName>ppt_y</p:attrName>
                                            </p:attrNameLst>
                                          </p:cBhvr>
                                          <p:tavLst>
                                            <p:tav tm="0">
                                              <p:val>
                                                <p:strVal val="#ppt_y-#ppt_h*1.125000"/>
                                              </p:val>
                                            </p:tav>
                                            <p:tav tm="100000">
                                              <p:val>
                                                <p:strVal val="#ppt_y"/>
                                              </p:val>
                                            </p:tav>
                                          </p:tavLst>
                                        </p:anim>
                                        <p:animEffect transition="in" filter="wipe(down)">
                                          <p:cBhvr>
                                            <p:cTn id="70" dur="500"/>
                                            <p:tgtEl>
                                              <p:spTgt spid="8"/>
                                            </p:tgtEl>
                                          </p:cBhvr>
                                        </p:animEffect>
                                      </p:childTnLst>
                                    </p:cTn>
                                  </p:par>
                                  <p:par>
                                    <p:cTn id="71" presetID="12" presetClass="entr" presetSubtype="1"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p:tgtEl>
                                              <p:spTgt spid="21"/>
                                            </p:tgtEl>
                                            <p:attrNameLst>
                                              <p:attrName>ppt_y</p:attrName>
                                            </p:attrNameLst>
                                          </p:cBhvr>
                                          <p:tavLst>
                                            <p:tav tm="0">
                                              <p:val>
                                                <p:strVal val="#ppt_y-#ppt_h*1.125000"/>
                                              </p:val>
                                            </p:tav>
                                            <p:tav tm="100000">
                                              <p:val>
                                                <p:strVal val="#ppt_y"/>
                                              </p:val>
                                            </p:tav>
                                          </p:tavLst>
                                        </p:anim>
                                        <p:animEffect transition="in" filter="wipe(down)">
                                          <p:cBhvr>
                                            <p:cTn id="74" dur="500"/>
                                            <p:tgtEl>
                                              <p:spTgt spid="21"/>
                                            </p:tgtEl>
                                          </p:cBhvr>
                                        </p:animEffect>
                                      </p:childTnLst>
                                    </p:cTn>
                                  </p:par>
                                  <p:par>
                                    <p:cTn id="75" presetID="12" presetClass="entr" presetSubtype="1"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p:tgtEl>
                                              <p:spTgt spid="22"/>
                                            </p:tgtEl>
                                            <p:attrNameLst>
                                              <p:attrName>ppt_y</p:attrName>
                                            </p:attrNameLst>
                                          </p:cBhvr>
                                          <p:tavLst>
                                            <p:tav tm="0">
                                              <p:val>
                                                <p:strVal val="#ppt_y-#ppt_h*1.125000"/>
                                              </p:val>
                                            </p:tav>
                                            <p:tav tm="100000">
                                              <p:val>
                                                <p:strVal val="#ppt_y"/>
                                              </p:val>
                                            </p:tav>
                                          </p:tavLst>
                                        </p:anim>
                                        <p:animEffect transition="in" filter="wipe(down)">
                                          <p:cBhvr>
                                            <p:cTn id="78" dur="500"/>
                                            <p:tgtEl>
                                              <p:spTgt spid="22"/>
                                            </p:tgtEl>
                                          </p:cBhvr>
                                        </p:animEffect>
                                      </p:childTnLst>
                                    </p:cTn>
                                  </p:par>
                                  <p:par>
                                    <p:cTn id="79" presetID="12" presetClass="entr" presetSubtype="1"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 calcmode="lin" valueType="num">
                                          <p:cBhvr additive="base">
                                            <p:cTn id="81" dur="500"/>
                                            <p:tgtEl>
                                              <p:spTgt spid="23"/>
                                            </p:tgtEl>
                                            <p:attrNameLst>
                                              <p:attrName>ppt_y</p:attrName>
                                            </p:attrNameLst>
                                          </p:cBhvr>
                                          <p:tavLst>
                                            <p:tav tm="0">
                                              <p:val>
                                                <p:strVal val="#ppt_y-#ppt_h*1.125000"/>
                                              </p:val>
                                            </p:tav>
                                            <p:tav tm="100000">
                                              <p:val>
                                                <p:strVal val="#ppt_y"/>
                                              </p:val>
                                            </p:tav>
                                          </p:tavLst>
                                        </p:anim>
                                        <p:animEffect transition="in" filter="wipe(down)">
                                          <p:cBhvr>
                                            <p:cTn id="82" dur="500"/>
                                            <p:tgtEl>
                                              <p:spTgt spid="23"/>
                                            </p:tgtEl>
                                          </p:cBhvr>
                                        </p:animEffect>
                                      </p:childTnLst>
                                    </p:cTn>
                                  </p:par>
                                  <p:par>
                                    <p:cTn id="83" presetID="12" presetClass="entr" presetSubtype="1"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 calcmode="lin" valueType="num">
                                          <p:cBhvr additive="base">
                                            <p:cTn id="85" dur="500"/>
                                            <p:tgtEl>
                                              <p:spTgt spid="24"/>
                                            </p:tgtEl>
                                            <p:attrNameLst>
                                              <p:attrName>ppt_y</p:attrName>
                                            </p:attrNameLst>
                                          </p:cBhvr>
                                          <p:tavLst>
                                            <p:tav tm="0">
                                              <p:val>
                                                <p:strVal val="#ppt_y-#ppt_h*1.125000"/>
                                              </p:val>
                                            </p:tav>
                                            <p:tav tm="100000">
                                              <p:val>
                                                <p:strVal val="#ppt_y"/>
                                              </p:val>
                                            </p:tav>
                                          </p:tavLst>
                                        </p:anim>
                                        <p:animEffect transition="in" filter="wipe(down)">
                                          <p:cBhvr>
                                            <p:cTn id="86" dur="500"/>
                                            <p:tgtEl>
                                              <p:spTgt spid="24"/>
                                            </p:tgtEl>
                                          </p:cBhvr>
                                        </p:animEffect>
                                      </p:childTnLst>
                                    </p:cTn>
                                  </p:par>
                                  <p:par>
                                    <p:cTn id="87" presetID="12" presetClass="entr" presetSubtype="1" fill="hold" grpId="0" nodeType="withEffect">
                                      <p:stCondLst>
                                        <p:cond delay="0"/>
                                      </p:stCondLst>
                                      <p:childTnLst>
                                        <p:set>
                                          <p:cBhvr>
                                            <p:cTn id="88" dur="1" fill="hold">
                                              <p:stCondLst>
                                                <p:cond delay="0"/>
                                              </p:stCondLst>
                                            </p:cTn>
                                            <p:tgtEl>
                                              <p:spTgt spid="25"/>
                                            </p:tgtEl>
                                            <p:attrNameLst>
                                              <p:attrName>style.visibility</p:attrName>
                                            </p:attrNameLst>
                                          </p:cBhvr>
                                          <p:to>
                                            <p:strVal val="visible"/>
                                          </p:to>
                                        </p:set>
                                        <p:anim calcmode="lin" valueType="num">
                                          <p:cBhvr additive="base">
                                            <p:cTn id="89" dur="500"/>
                                            <p:tgtEl>
                                              <p:spTgt spid="25"/>
                                            </p:tgtEl>
                                            <p:attrNameLst>
                                              <p:attrName>ppt_y</p:attrName>
                                            </p:attrNameLst>
                                          </p:cBhvr>
                                          <p:tavLst>
                                            <p:tav tm="0">
                                              <p:val>
                                                <p:strVal val="#ppt_y-#ppt_h*1.125000"/>
                                              </p:val>
                                            </p:tav>
                                            <p:tav tm="100000">
                                              <p:val>
                                                <p:strVal val="#ppt_y"/>
                                              </p:val>
                                            </p:tav>
                                          </p:tavLst>
                                        </p:anim>
                                        <p:animEffect transition="in" filter="wipe(down)">
                                          <p:cBhvr>
                                            <p:cTn id="90" dur="500"/>
                                            <p:tgtEl>
                                              <p:spTgt spid="25"/>
                                            </p:tgtEl>
                                          </p:cBhvr>
                                        </p:animEffect>
                                      </p:childTnLst>
                                    </p:cTn>
                                  </p:par>
                                  <p:par>
                                    <p:cTn id="91" presetID="12" presetClass="entr" presetSubtype="1" fill="hold" grpId="0" nodeType="with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p:tgtEl>
                                              <p:spTgt spid="26"/>
                                            </p:tgtEl>
                                            <p:attrNameLst>
                                              <p:attrName>ppt_y</p:attrName>
                                            </p:attrNameLst>
                                          </p:cBhvr>
                                          <p:tavLst>
                                            <p:tav tm="0">
                                              <p:val>
                                                <p:strVal val="#ppt_y-#ppt_h*1.125000"/>
                                              </p:val>
                                            </p:tav>
                                            <p:tav tm="100000">
                                              <p:val>
                                                <p:strVal val="#ppt_y"/>
                                              </p:val>
                                            </p:tav>
                                          </p:tavLst>
                                        </p:anim>
                                        <p:animEffect transition="in" filter="wipe(down)">
                                          <p:cBhvr>
                                            <p:cTn id="94" dur="500"/>
                                            <p:tgtEl>
                                              <p:spTgt spid="26"/>
                                            </p:tgtEl>
                                          </p:cBhvr>
                                        </p:animEffect>
                                      </p:childTnLst>
                                    </p:cTn>
                                  </p:par>
                                  <p:par>
                                    <p:cTn id="95" presetID="12" presetClass="entr" presetSubtype="1" fill="hold" grpId="0" nodeType="withEffect">
                                      <p:stCondLst>
                                        <p:cond delay="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00"/>
                                            <p:tgtEl>
                                              <p:spTgt spid="27"/>
                                            </p:tgtEl>
                                            <p:attrNameLst>
                                              <p:attrName>ppt_y</p:attrName>
                                            </p:attrNameLst>
                                          </p:cBhvr>
                                          <p:tavLst>
                                            <p:tav tm="0">
                                              <p:val>
                                                <p:strVal val="#ppt_y-#ppt_h*1.125000"/>
                                              </p:val>
                                            </p:tav>
                                            <p:tav tm="100000">
                                              <p:val>
                                                <p:strVal val="#ppt_y"/>
                                              </p:val>
                                            </p:tav>
                                          </p:tavLst>
                                        </p:anim>
                                        <p:animEffect transition="in" filter="wipe(down)">
                                          <p:cBhvr>
                                            <p:cTn id="98" dur="500"/>
                                            <p:tgtEl>
                                              <p:spTgt spid="27"/>
                                            </p:tgtEl>
                                          </p:cBhvr>
                                        </p:animEffect>
                                      </p:childTnLst>
                                    </p:cTn>
                                  </p:par>
                                  <p:par>
                                    <p:cTn id="99" presetID="12" presetClass="entr" presetSubtype="1" fill="hold" grpId="0" nodeType="withEffect">
                                      <p:stCondLst>
                                        <p:cond delay="0"/>
                                      </p:stCondLst>
                                      <p:childTnLst>
                                        <p:set>
                                          <p:cBhvr>
                                            <p:cTn id="100" dur="1" fill="hold">
                                              <p:stCondLst>
                                                <p:cond delay="0"/>
                                              </p:stCondLst>
                                            </p:cTn>
                                            <p:tgtEl>
                                              <p:spTgt spid="28"/>
                                            </p:tgtEl>
                                            <p:attrNameLst>
                                              <p:attrName>style.visibility</p:attrName>
                                            </p:attrNameLst>
                                          </p:cBhvr>
                                          <p:to>
                                            <p:strVal val="visible"/>
                                          </p:to>
                                        </p:set>
                                        <p:anim calcmode="lin" valueType="num">
                                          <p:cBhvr additive="base">
                                            <p:cTn id="101" dur="500"/>
                                            <p:tgtEl>
                                              <p:spTgt spid="28"/>
                                            </p:tgtEl>
                                            <p:attrNameLst>
                                              <p:attrName>ppt_y</p:attrName>
                                            </p:attrNameLst>
                                          </p:cBhvr>
                                          <p:tavLst>
                                            <p:tav tm="0">
                                              <p:val>
                                                <p:strVal val="#ppt_y-#ppt_h*1.125000"/>
                                              </p:val>
                                            </p:tav>
                                            <p:tav tm="100000">
                                              <p:val>
                                                <p:strVal val="#ppt_y"/>
                                              </p:val>
                                            </p:tav>
                                          </p:tavLst>
                                        </p:anim>
                                        <p:animEffect transition="in" filter="wipe(down)">
                                          <p:cBhvr>
                                            <p:cTn id="102" dur="500"/>
                                            <p:tgtEl>
                                              <p:spTgt spid="28"/>
                                            </p:tgtEl>
                                          </p:cBhvr>
                                        </p:animEffect>
                                      </p:childTnLst>
                                    </p:cTn>
                                  </p:par>
                                  <p:par>
                                    <p:cTn id="103" presetID="12" presetClass="entr" presetSubtype="1" fill="hold" grpId="0" nodeType="withEffect">
                                      <p:stCondLst>
                                        <p:cond delay="0"/>
                                      </p:stCondLst>
                                      <p:childTnLst>
                                        <p:set>
                                          <p:cBhvr>
                                            <p:cTn id="104" dur="1" fill="hold">
                                              <p:stCondLst>
                                                <p:cond delay="0"/>
                                              </p:stCondLst>
                                            </p:cTn>
                                            <p:tgtEl>
                                              <p:spTgt spid="29"/>
                                            </p:tgtEl>
                                            <p:attrNameLst>
                                              <p:attrName>style.visibility</p:attrName>
                                            </p:attrNameLst>
                                          </p:cBhvr>
                                          <p:to>
                                            <p:strVal val="visible"/>
                                          </p:to>
                                        </p:set>
                                        <p:anim calcmode="lin" valueType="num">
                                          <p:cBhvr additive="base">
                                            <p:cTn id="105" dur="500"/>
                                            <p:tgtEl>
                                              <p:spTgt spid="29"/>
                                            </p:tgtEl>
                                            <p:attrNameLst>
                                              <p:attrName>ppt_y</p:attrName>
                                            </p:attrNameLst>
                                          </p:cBhvr>
                                          <p:tavLst>
                                            <p:tav tm="0">
                                              <p:val>
                                                <p:strVal val="#ppt_y-#ppt_h*1.125000"/>
                                              </p:val>
                                            </p:tav>
                                            <p:tav tm="100000">
                                              <p:val>
                                                <p:strVal val="#ppt_y"/>
                                              </p:val>
                                            </p:tav>
                                          </p:tavLst>
                                        </p:anim>
                                        <p:animEffect transition="in" filter="wipe(down)">
                                          <p:cBhvr>
                                            <p:cTn id="106" dur="500"/>
                                            <p:tgtEl>
                                              <p:spTgt spid="29"/>
                                            </p:tgtEl>
                                          </p:cBhvr>
                                        </p:animEffect>
                                      </p:childTnLst>
                                    </p:cTn>
                                  </p:par>
                                  <p:par>
                                    <p:cTn id="107" presetID="12" presetClass="entr" presetSubtype="1" fill="hold" grpId="0" nodeType="withEffect">
                                      <p:stCondLst>
                                        <p:cond delay="0"/>
                                      </p:stCondLst>
                                      <p:childTnLst>
                                        <p:set>
                                          <p:cBhvr>
                                            <p:cTn id="108" dur="1" fill="hold">
                                              <p:stCondLst>
                                                <p:cond delay="0"/>
                                              </p:stCondLst>
                                            </p:cTn>
                                            <p:tgtEl>
                                              <p:spTgt spid="30"/>
                                            </p:tgtEl>
                                            <p:attrNameLst>
                                              <p:attrName>style.visibility</p:attrName>
                                            </p:attrNameLst>
                                          </p:cBhvr>
                                          <p:to>
                                            <p:strVal val="visible"/>
                                          </p:to>
                                        </p:set>
                                        <p:anim calcmode="lin" valueType="num">
                                          <p:cBhvr additive="base">
                                            <p:cTn id="109" dur="500"/>
                                            <p:tgtEl>
                                              <p:spTgt spid="30"/>
                                            </p:tgtEl>
                                            <p:attrNameLst>
                                              <p:attrName>ppt_y</p:attrName>
                                            </p:attrNameLst>
                                          </p:cBhvr>
                                          <p:tavLst>
                                            <p:tav tm="0">
                                              <p:val>
                                                <p:strVal val="#ppt_y-#ppt_h*1.125000"/>
                                              </p:val>
                                            </p:tav>
                                            <p:tav tm="100000">
                                              <p:val>
                                                <p:strVal val="#ppt_y"/>
                                              </p:val>
                                            </p:tav>
                                          </p:tavLst>
                                        </p:anim>
                                        <p:animEffect transition="in" filter="wipe(down)">
                                          <p:cBhvr>
                                            <p:cTn id="110" dur="500"/>
                                            <p:tgtEl>
                                              <p:spTgt spid="30"/>
                                            </p:tgtEl>
                                          </p:cBhvr>
                                        </p:animEffect>
                                      </p:childTnLst>
                                    </p:cTn>
                                  </p:par>
                                  <p:par>
                                    <p:cTn id="111" presetID="12" presetClass="entr" presetSubtype="1" fill="hold" grpId="0" nodeType="withEffect">
                                      <p:stCondLst>
                                        <p:cond delay="0"/>
                                      </p:stCondLst>
                                      <p:childTnLst>
                                        <p:set>
                                          <p:cBhvr>
                                            <p:cTn id="112" dur="1" fill="hold">
                                              <p:stCondLst>
                                                <p:cond delay="0"/>
                                              </p:stCondLst>
                                            </p:cTn>
                                            <p:tgtEl>
                                              <p:spTgt spid="31"/>
                                            </p:tgtEl>
                                            <p:attrNameLst>
                                              <p:attrName>style.visibility</p:attrName>
                                            </p:attrNameLst>
                                          </p:cBhvr>
                                          <p:to>
                                            <p:strVal val="visible"/>
                                          </p:to>
                                        </p:set>
                                        <p:anim calcmode="lin" valueType="num">
                                          <p:cBhvr additive="base">
                                            <p:cTn id="113" dur="500"/>
                                            <p:tgtEl>
                                              <p:spTgt spid="31"/>
                                            </p:tgtEl>
                                            <p:attrNameLst>
                                              <p:attrName>ppt_y</p:attrName>
                                            </p:attrNameLst>
                                          </p:cBhvr>
                                          <p:tavLst>
                                            <p:tav tm="0">
                                              <p:val>
                                                <p:strVal val="#ppt_y-#ppt_h*1.125000"/>
                                              </p:val>
                                            </p:tav>
                                            <p:tav tm="100000">
                                              <p:val>
                                                <p:strVal val="#ppt_y"/>
                                              </p:val>
                                            </p:tav>
                                          </p:tavLst>
                                        </p:anim>
                                        <p:animEffect transition="in" filter="wipe(down)">
                                          <p:cBhvr>
                                            <p:cTn id="114" dur="500"/>
                                            <p:tgtEl>
                                              <p:spTgt spid="31"/>
                                            </p:tgtEl>
                                          </p:cBhvr>
                                        </p:animEffect>
                                      </p:childTnLst>
                                    </p:cTn>
                                  </p:par>
                                  <p:par>
                                    <p:cTn id="115" presetID="12" presetClass="entr" presetSubtype="1" fill="hold" grpId="0" nodeType="withEffect">
                                      <p:stCondLst>
                                        <p:cond delay="0"/>
                                      </p:stCondLst>
                                      <p:childTnLst>
                                        <p:set>
                                          <p:cBhvr>
                                            <p:cTn id="116" dur="1" fill="hold">
                                              <p:stCondLst>
                                                <p:cond delay="0"/>
                                              </p:stCondLst>
                                            </p:cTn>
                                            <p:tgtEl>
                                              <p:spTgt spid="32"/>
                                            </p:tgtEl>
                                            <p:attrNameLst>
                                              <p:attrName>style.visibility</p:attrName>
                                            </p:attrNameLst>
                                          </p:cBhvr>
                                          <p:to>
                                            <p:strVal val="visible"/>
                                          </p:to>
                                        </p:set>
                                        <p:anim calcmode="lin" valueType="num">
                                          <p:cBhvr additive="base">
                                            <p:cTn id="117" dur="500"/>
                                            <p:tgtEl>
                                              <p:spTgt spid="32"/>
                                            </p:tgtEl>
                                            <p:attrNameLst>
                                              <p:attrName>ppt_y</p:attrName>
                                            </p:attrNameLst>
                                          </p:cBhvr>
                                          <p:tavLst>
                                            <p:tav tm="0">
                                              <p:val>
                                                <p:strVal val="#ppt_y-#ppt_h*1.125000"/>
                                              </p:val>
                                            </p:tav>
                                            <p:tav tm="100000">
                                              <p:val>
                                                <p:strVal val="#ppt_y"/>
                                              </p:val>
                                            </p:tav>
                                          </p:tavLst>
                                        </p:anim>
                                        <p:animEffect transition="in" filter="wipe(down)">
                                          <p:cBhvr>
                                            <p:cTn id="118" dur="500"/>
                                            <p:tgtEl>
                                              <p:spTgt spid="32"/>
                                            </p:tgtEl>
                                          </p:cBhvr>
                                        </p:animEffect>
                                      </p:childTnLst>
                                    </p:cTn>
                                  </p:par>
                                  <p:par>
                                    <p:cTn id="119" presetID="12" presetClass="entr" presetSubtype="1" fill="hold" grpId="0" nodeType="withEffect">
                                      <p:stCondLst>
                                        <p:cond delay="0"/>
                                      </p:stCondLst>
                                      <p:childTnLst>
                                        <p:set>
                                          <p:cBhvr>
                                            <p:cTn id="120" dur="1" fill="hold">
                                              <p:stCondLst>
                                                <p:cond delay="0"/>
                                              </p:stCondLst>
                                            </p:cTn>
                                            <p:tgtEl>
                                              <p:spTgt spid="33"/>
                                            </p:tgtEl>
                                            <p:attrNameLst>
                                              <p:attrName>style.visibility</p:attrName>
                                            </p:attrNameLst>
                                          </p:cBhvr>
                                          <p:to>
                                            <p:strVal val="visible"/>
                                          </p:to>
                                        </p:set>
                                        <p:anim calcmode="lin" valueType="num">
                                          <p:cBhvr additive="base">
                                            <p:cTn id="121" dur="500"/>
                                            <p:tgtEl>
                                              <p:spTgt spid="33"/>
                                            </p:tgtEl>
                                            <p:attrNameLst>
                                              <p:attrName>ppt_y</p:attrName>
                                            </p:attrNameLst>
                                          </p:cBhvr>
                                          <p:tavLst>
                                            <p:tav tm="0">
                                              <p:val>
                                                <p:strVal val="#ppt_y-#ppt_h*1.125000"/>
                                              </p:val>
                                            </p:tav>
                                            <p:tav tm="100000">
                                              <p:val>
                                                <p:strVal val="#ppt_y"/>
                                              </p:val>
                                            </p:tav>
                                          </p:tavLst>
                                        </p:anim>
                                        <p:animEffect transition="in" filter="wipe(down)">
                                          <p:cBhvr>
                                            <p:cTn id="122" dur="500"/>
                                            <p:tgtEl>
                                              <p:spTgt spid="33"/>
                                            </p:tgtEl>
                                          </p:cBhvr>
                                        </p:animEffect>
                                      </p:childTnLst>
                                    </p:cTn>
                                  </p:par>
                                  <p:par>
                                    <p:cTn id="123" presetID="12" presetClass="entr" presetSubtype="1" fill="hold" grpId="0" nodeType="withEffect">
                                      <p:stCondLst>
                                        <p:cond delay="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p:tgtEl>
                                              <p:spTgt spid="34"/>
                                            </p:tgtEl>
                                            <p:attrNameLst>
                                              <p:attrName>ppt_y</p:attrName>
                                            </p:attrNameLst>
                                          </p:cBhvr>
                                          <p:tavLst>
                                            <p:tav tm="0">
                                              <p:val>
                                                <p:strVal val="#ppt_y-#ppt_h*1.125000"/>
                                              </p:val>
                                            </p:tav>
                                            <p:tav tm="100000">
                                              <p:val>
                                                <p:strVal val="#ppt_y"/>
                                              </p:val>
                                            </p:tav>
                                          </p:tavLst>
                                        </p:anim>
                                        <p:animEffect transition="in" filter="wipe(down)">
                                          <p:cBhvr>
                                            <p:cTn id="126" dur="500"/>
                                            <p:tgtEl>
                                              <p:spTgt spid="34"/>
                                            </p:tgtEl>
                                          </p:cBhvr>
                                        </p:animEffect>
                                      </p:childTnLst>
                                    </p:cTn>
                                  </p:par>
                                  <p:par>
                                    <p:cTn id="127" presetID="12" presetClass="entr" presetSubtype="4" fill="hold" grpId="0" nodeType="withEffect">
                                      <p:stCondLst>
                                        <p:cond delay="0"/>
                                      </p:stCondLst>
                                      <p:childTnLst>
                                        <p:set>
                                          <p:cBhvr>
                                            <p:cTn id="128" dur="1" fill="hold">
                                              <p:stCondLst>
                                                <p:cond delay="0"/>
                                              </p:stCondLst>
                                            </p:cTn>
                                            <p:tgtEl>
                                              <p:spTgt spid="50"/>
                                            </p:tgtEl>
                                            <p:attrNameLst>
                                              <p:attrName>style.visibility</p:attrName>
                                            </p:attrNameLst>
                                          </p:cBhvr>
                                          <p:to>
                                            <p:strVal val="visible"/>
                                          </p:to>
                                        </p:set>
                                        <p:anim calcmode="lin" valueType="num">
                                          <p:cBhvr additive="base">
                                            <p:cTn id="129" dur="500"/>
                                            <p:tgtEl>
                                              <p:spTgt spid="50"/>
                                            </p:tgtEl>
                                            <p:attrNameLst>
                                              <p:attrName>ppt_y</p:attrName>
                                            </p:attrNameLst>
                                          </p:cBhvr>
                                          <p:tavLst>
                                            <p:tav tm="0">
                                              <p:val>
                                                <p:strVal val="#ppt_y+#ppt_h*1.125000"/>
                                              </p:val>
                                            </p:tav>
                                            <p:tav tm="100000">
                                              <p:val>
                                                <p:strVal val="#ppt_y"/>
                                              </p:val>
                                            </p:tav>
                                          </p:tavLst>
                                        </p:anim>
                                        <p:animEffect transition="in" filter="wipe(up)">
                                          <p:cBhvr>
                                            <p:cTn id="130" dur="500"/>
                                            <p:tgtEl>
                                              <p:spTgt spid="50"/>
                                            </p:tgtEl>
                                          </p:cBhvr>
                                        </p:animEffect>
                                      </p:childTnLst>
                                    </p:cTn>
                                  </p:par>
                                  <p:par>
                                    <p:cTn id="131" presetID="12" presetClass="entr" presetSubtype="4" fill="hold" grpId="0" nodeType="withEffect">
                                      <p:stCondLst>
                                        <p:cond delay="0"/>
                                      </p:stCondLst>
                                      <p:childTnLst>
                                        <p:set>
                                          <p:cBhvr>
                                            <p:cTn id="132" dur="1" fill="hold">
                                              <p:stCondLst>
                                                <p:cond delay="0"/>
                                              </p:stCondLst>
                                            </p:cTn>
                                            <p:tgtEl>
                                              <p:spTgt spid="49"/>
                                            </p:tgtEl>
                                            <p:attrNameLst>
                                              <p:attrName>style.visibility</p:attrName>
                                            </p:attrNameLst>
                                          </p:cBhvr>
                                          <p:to>
                                            <p:strVal val="visible"/>
                                          </p:to>
                                        </p:set>
                                        <p:anim calcmode="lin" valueType="num">
                                          <p:cBhvr additive="base">
                                            <p:cTn id="133" dur="500"/>
                                            <p:tgtEl>
                                              <p:spTgt spid="49"/>
                                            </p:tgtEl>
                                            <p:attrNameLst>
                                              <p:attrName>ppt_y</p:attrName>
                                            </p:attrNameLst>
                                          </p:cBhvr>
                                          <p:tavLst>
                                            <p:tav tm="0">
                                              <p:val>
                                                <p:strVal val="#ppt_y+#ppt_h*1.125000"/>
                                              </p:val>
                                            </p:tav>
                                            <p:tav tm="100000">
                                              <p:val>
                                                <p:strVal val="#ppt_y"/>
                                              </p:val>
                                            </p:tav>
                                          </p:tavLst>
                                        </p:anim>
                                        <p:animEffect transition="in" filter="wipe(up)">
                                          <p:cBhvr>
                                            <p:cTn id="134" dur="500"/>
                                            <p:tgtEl>
                                              <p:spTgt spid="49"/>
                                            </p:tgtEl>
                                          </p:cBhvr>
                                        </p:animEffect>
                                      </p:childTnLst>
                                    </p:cTn>
                                  </p:par>
                                  <p:par>
                                    <p:cTn id="135" presetID="12" presetClass="entr" presetSubtype="4" fill="hold" grpId="0" nodeType="withEffect">
                                      <p:stCondLst>
                                        <p:cond delay="0"/>
                                      </p:stCondLst>
                                      <p:childTnLst>
                                        <p:set>
                                          <p:cBhvr>
                                            <p:cTn id="136" dur="1" fill="hold">
                                              <p:stCondLst>
                                                <p:cond delay="0"/>
                                              </p:stCondLst>
                                            </p:cTn>
                                            <p:tgtEl>
                                              <p:spTgt spid="48"/>
                                            </p:tgtEl>
                                            <p:attrNameLst>
                                              <p:attrName>style.visibility</p:attrName>
                                            </p:attrNameLst>
                                          </p:cBhvr>
                                          <p:to>
                                            <p:strVal val="visible"/>
                                          </p:to>
                                        </p:set>
                                        <p:anim calcmode="lin" valueType="num">
                                          <p:cBhvr additive="base">
                                            <p:cTn id="137" dur="500"/>
                                            <p:tgtEl>
                                              <p:spTgt spid="48"/>
                                            </p:tgtEl>
                                            <p:attrNameLst>
                                              <p:attrName>ppt_y</p:attrName>
                                            </p:attrNameLst>
                                          </p:cBhvr>
                                          <p:tavLst>
                                            <p:tav tm="0">
                                              <p:val>
                                                <p:strVal val="#ppt_y+#ppt_h*1.125000"/>
                                              </p:val>
                                            </p:tav>
                                            <p:tav tm="100000">
                                              <p:val>
                                                <p:strVal val="#ppt_y"/>
                                              </p:val>
                                            </p:tav>
                                          </p:tavLst>
                                        </p:anim>
                                        <p:animEffect transition="in" filter="wipe(up)">
                                          <p:cBhvr>
                                            <p:cTn id="138" dur="500"/>
                                            <p:tgtEl>
                                              <p:spTgt spid="48"/>
                                            </p:tgtEl>
                                          </p:cBhvr>
                                        </p:animEffect>
                                      </p:childTnLst>
                                    </p:cTn>
                                  </p:par>
                                  <p:par>
                                    <p:cTn id="139" presetID="12" presetClass="entr" presetSubtype="4" fill="hold" grpId="0" nodeType="withEffect">
                                      <p:stCondLst>
                                        <p:cond delay="0"/>
                                      </p:stCondLst>
                                      <p:childTnLst>
                                        <p:set>
                                          <p:cBhvr>
                                            <p:cTn id="140" dur="1" fill="hold">
                                              <p:stCondLst>
                                                <p:cond delay="0"/>
                                              </p:stCondLst>
                                            </p:cTn>
                                            <p:tgtEl>
                                              <p:spTgt spid="47"/>
                                            </p:tgtEl>
                                            <p:attrNameLst>
                                              <p:attrName>style.visibility</p:attrName>
                                            </p:attrNameLst>
                                          </p:cBhvr>
                                          <p:to>
                                            <p:strVal val="visible"/>
                                          </p:to>
                                        </p:set>
                                        <p:anim calcmode="lin" valueType="num">
                                          <p:cBhvr additive="base">
                                            <p:cTn id="141" dur="500"/>
                                            <p:tgtEl>
                                              <p:spTgt spid="47"/>
                                            </p:tgtEl>
                                            <p:attrNameLst>
                                              <p:attrName>ppt_y</p:attrName>
                                            </p:attrNameLst>
                                          </p:cBhvr>
                                          <p:tavLst>
                                            <p:tav tm="0">
                                              <p:val>
                                                <p:strVal val="#ppt_y+#ppt_h*1.125000"/>
                                              </p:val>
                                            </p:tav>
                                            <p:tav tm="100000">
                                              <p:val>
                                                <p:strVal val="#ppt_y"/>
                                              </p:val>
                                            </p:tav>
                                          </p:tavLst>
                                        </p:anim>
                                        <p:animEffect transition="in" filter="wipe(up)">
                                          <p:cBhvr>
                                            <p:cTn id="142" dur="500"/>
                                            <p:tgtEl>
                                              <p:spTgt spid="47"/>
                                            </p:tgtEl>
                                          </p:cBhvr>
                                        </p:animEffect>
                                      </p:childTnLst>
                                    </p:cTn>
                                  </p:par>
                                  <p:par>
                                    <p:cTn id="143" presetID="12" presetClass="entr" presetSubtype="4" fill="hold" grpId="0" nodeType="withEffect">
                                      <p:stCondLst>
                                        <p:cond delay="0"/>
                                      </p:stCondLst>
                                      <p:childTnLst>
                                        <p:set>
                                          <p:cBhvr>
                                            <p:cTn id="144" dur="1" fill="hold">
                                              <p:stCondLst>
                                                <p:cond delay="0"/>
                                              </p:stCondLst>
                                            </p:cTn>
                                            <p:tgtEl>
                                              <p:spTgt spid="46"/>
                                            </p:tgtEl>
                                            <p:attrNameLst>
                                              <p:attrName>style.visibility</p:attrName>
                                            </p:attrNameLst>
                                          </p:cBhvr>
                                          <p:to>
                                            <p:strVal val="visible"/>
                                          </p:to>
                                        </p:set>
                                        <p:anim calcmode="lin" valueType="num">
                                          <p:cBhvr additive="base">
                                            <p:cTn id="145" dur="500"/>
                                            <p:tgtEl>
                                              <p:spTgt spid="46"/>
                                            </p:tgtEl>
                                            <p:attrNameLst>
                                              <p:attrName>ppt_y</p:attrName>
                                            </p:attrNameLst>
                                          </p:cBhvr>
                                          <p:tavLst>
                                            <p:tav tm="0">
                                              <p:val>
                                                <p:strVal val="#ppt_y+#ppt_h*1.125000"/>
                                              </p:val>
                                            </p:tav>
                                            <p:tav tm="100000">
                                              <p:val>
                                                <p:strVal val="#ppt_y"/>
                                              </p:val>
                                            </p:tav>
                                          </p:tavLst>
                                        </p:anim>
                                        <p:animEffect transition="in" filter="wipe(up)">
                                          <p:cBhvr>
                                            <p:cTn id="146" dur="500"/>
                                            <p:tgtEl>
                                              <p:spTgt spid="46"/>
                                            </p:tgtEl>
                                          </p:cBhvr>
                                        </p:animEffect>
                                      </p:childTnLst>
                                    </p:cTn>
                                  </p:par>
                                  <p:par>
                                    <p:cTn id="147" presetID="12" presetClass="entr" presetSubtype="4" fill="hold" grpId="0" nodeType="withEffect">
                                      <p:stCondLst>
                                        <p:cond delay="0"/>
                                      </p:stCondLst>
                                      <p:childTnLst>
                                        <p:set>
                                          <p:cBhvr>
                                            <p:cTn id="148" dur="1" fill="hold">
                                              <p:stCondLst>
                                                <p:cond delay="0"/>
                                              </p:stCondLst>
                                            </p:cTn>
                                            <p:tgtEl>
                                              <p:spTgt spid="45"/>
                                            </p:tgtEl>
                                            <p:attrNameLst>
                                              <p:attrName>style.visibility</p:attrName>
                                            </p:attrNameLst>
                                          </p:cBhvr>
                                          <p:to>
                                            <p:strVal val="visible"/>
                                          </p:to>
                                        </p:set>
                                        <p:anim calcmode="lin" valueType="num">
                                          <p:cBhvr additive="base">
                                            <p:cTn id="149" dur="500"/>
                                            <p:tgtEl>
                                              <p:spTgt spid="45"/>
                                            </p:tgtEl>
                                            <p:attrNameLst>
                                              <p:attrName>ppt_y</p:attrName>
                                            </p:attrNameLst>
                                          </p:cBhvr>
                                          <p:tavLst>
                                            <p:tav tm="0">
                                              <p:val>
                                                <p:strVal val="#ppt_y+#ppt_h*1.125000"/>
                                              </p:val>
                                            </p:tav>
                                            <p:tav tm="100000">
                                              <p:val>
                                                <p:strVal val="#ppt_y"/>
                                              </p:val>
                                            </p:tav>
                                          </p:tavLst>
                                        </p:anim>
                                        <p:animEffect transition="in" filter="wipe(up)">
                                          <p:cBhvr>
                                            <p:cTn id="150" dur="500"/>
                                            <p:tgtEl>
                                              <p:spTgt spid="45"/>
                                            </p:tgtEl>
                                          </p:cBhvr>
                                        </p:animEffect>
                                      </p:childTnLst>
                                    </p:cTn>
                                  </p:par>
                                  <p:par>
                                    <p:cTn id="151" presetID="12" presetClass="entr" presetSubtype="4" fill="hold" grpId="0" nodeType="withEffect">
                                      <p:stCondLst>
                                        <p:cond delay="0"/>
                                      </p:stCondLst>
                                      <p:childTnLst>
                                        <p:set>
                                          <p:cBhvr>
                                            <p:cTn id="152" dur="1" fill="hold">
                                              <p:stCondLst>
                                                <p:cond delay="0"/>
                                              </p:stCondLst>
                                            </p:cTn>
                                            <p:tgtEl>
                                              <p:spTgt spid="44"/>
                                            </p:tgtEl>
                                            <p:attrNameLst>
                                              <p:attrName>style.visibility</p:attrName>
                                            </p:attrNameLst>
                                          </p:cBhvr>
                                          <p:to>
                                            <p:strVal val="visible"/>
                                          </p:to>
                                        </p:set>
                                        <p:anim calcmode="lin" valueType="num">
                                          <p:cBhvr additive="base">
                                            <p:cTn id="153" dur="500"/>
                                            <p:tgtEl>
                                              <p:spTgt spid="44"/>
                                            </p:tgtEl>
                                            <p:attrNameLst>
                                              <p:attrName>ppt_y</p:attrName>
                                            </p:attrNameLst>
                                          </p:cBhvr>
                                          <p:tavLst>
                                            <p:tav tm="0">
                                              <p:val>
                                                <p:strVal val="#ppt_y+#ppt_h*1.125000"/>
                                              </p:val>
                                            </p:tav>
                                            <p:tav tm="100000">
                                              <p:val>
                                                <p:strVal val="#ppt_y"/>
                                              </p:val>
                                            </p:tav>
                                          </p:tavLst>
                                        </p:anim>
                                        <p:animEffect transition="in" filter="wipe(up)">
                                          <p:cBhvr>
                                            <p:cTn id="154" dur="500"/>
                                            <p:tgtEl>
                                              <p:spTgt spid="44"/>
                                            </p:tgtEl>
                                          </p:cBhvr>
                                        </p:animEffect>
                                      </p:childTnLst>
                                    </p:cTn>
                                  </p:par>
                                  <p:par>
                                    <p:cTn id="155" presetID="12" presetClass="entr" presetSubtype="4" fill="hold" grpId="0" nodeType="withEffect">
                                      <p:stCondLst>
                                        <p:cond delay="0"/>
                                      </p:stCondLst>
                                      <p:childTnLst>
                                        <p:set>
                                          <p:cBhvr>
                                            <p:cTn id="156" dur="1" fill="hold">
                                              <p:stCondLst>
                                                <p:cond delay="0"/>
                                              </p:stCondLst>
                                            </p:cTn>
                                            <p:tgtEl>
                                              <p:spTgt spid="43"/>
                                            </p:tgtEl>
                                            <p:attrNameLst>
                                              <p:attrName>style.visibility</p:attrName>
                                            </p:attrNameLst>
                                          </p:cBhvr>
                                          <p:to>
                                            <p:strVal val="visible"/>
                                          </p:to>
                                        </p:set>
                                        <p:anim calcmode="lin" valueType="num">
                                          <p:cBhvr additive="base">
                                            <p:cTn id="157" dur="500"/>
                                            <p:tgtEl>
                                              <p:spTgt spid="43"/>
                                            </p:tgtEl>
                                            <p:attrNameLst>
                                              <p:attrName>ppt_y</p:attrName>
                                            </p:attrNameLst>
                                          </p:cBhvr>
                                          <p:tavLst>
                                            <p:tav tm="0">
                                              <p:val>
                                                <p:strVal val="#ppt_y+#ppt_h*1.125000"/>
                                              </p:val>
                                            </p:tav>
                                            <p:tav tm="100000">
                                              <p:val>
                                                <p:strVal val="#ppt_y"/>
                                              </p:val>
                                            </p:tav>
                                          </p:tavLst>
                                        </p:anim>
                                        <p:animEffect transition="in" filter="wipe(up)">
                                          <p:cBhvr>
                                            <p:cTn id="158" dur="500"/>
                                            <p:tgtEl>
                                              <p:spTgt spid="43"/>
                                            </p:tgtEl>
                                          </p:cBhvr>
                                        </p:animEffect>
                                      </p:childTnLst>
                                    </p:cTn>
                                  </p:par>
                                  <p:par>
                                    <p:cTn id="159" presetID="12" presetClass="entr" presetSubtype="4" fill="hold" grpId="0" nodeType="withEffect">
                                      <p:stCondLst>
                                        <p:cond delay="0"/>
                                      </p:stCondLst>
                                      <p:childTnLst>
                                        <p:set>
                                          <p:cBhvr>
                                            <p:cTn id="160" dur="1" fill="hold">
                                              <p:stCondLst>
                                                <p:cond delay="0"/>
                                              </p:stCondLst>
                                            </p:cTn>
                                            <p:tgtEl>
                                              <p:spTgt spid="42"/>
                                            </p:tgtEl>
                                            <p:attrNameLst>
                                              <p:attrName>style.visibility</p:attrName>
                                            </p:attrNameLst>
                                          </p:cBhvr>
                                          <p:to>
                                            <p:strVal val="visible"/>
                                          </p:to>
                                        </p:set>
                                        <p:anim calcmode="lin" valueType="num">
                                          <p:cBhvr additive="base">
                                            <p:cTn id="161" dur="500"/>
                                            <p:tgtEl>
                                              <p:spTgt spid="42"/>
                                            </p:tgtEl>
                                            <p:attrNameLst>
                                              <p:attrName>ppt_y</p:attrName>
                                            </p:attrNameLst>
                                          </p:cBhvr>
                                          <p:tavLst>
                                            <p:tav tm="0">
                                              <p:val>
                                                <p:strVal val="#ppt_y+#ppt_h*1.125000"/>
                                              </p:val>
                                            </p:tav>
                                            <p:tav tm="100000">
                                              <p:val>
                                                <p:strVal val="#ppt_y"/>
                                              </p:val>
                                            </p:tav>
                                          </p:tavLst>
                                        </p:anim>
                                        <p:animEffect transition="in" filter="wipe(up)">
                                          <p:cBhvr>
                                            <p:cTn id="162" dur="500"/>
                                            <p:tgtEl>
                                              <p:spTgt spid="42"/>
                                            </p:tgtEl>
                                          </p:cBhvr>
                                        </p:animEffect>
                                      </p:childTnLst>
                                    </p:cTn>
                                  </p:par>
                                  <p:par>
                                    <p:cTn id="163" presetID="12" presetClass="entr" presetSubtype="4" fill="hold" grpId="0" nodeType="withEffect">
                                      <p:stCondLst>
                                        <p:cond delay="0"/>
                                      </p:stCondLst>
                                      <p:childTnLst>
                                        <p:set>
                                          <p:cBhvr>
                                            <p:cTn id="164" dur="1" fill="hold">
                                              <p:stCondLst>
                                                <p:cond delay="0"/>
                                              </p:stCondLst>
                                            </p:cTn>
                                            <p:tgtEl>
                                              <p:spTgt spid="41"/>
                                            </p:tgtEl>
                                            <p:attrNameLst>
                                              <p:attrName>style.visibility</p:attrName>
                                            </p:attrNameLst>
                                          </p:cBhvr>
                                          <p:to>
                                            <p:strVal val="visible"/>
                                          </p:to>
                                        </p:set>
                                        <p:anim calcmode="lin" valueType="num">
                                          <p:cBhvr additive="base">
                                            <p:cTn id="165" dur="500"/>
                                            <p:tgtEl>
                                              <p:spTgt spid="41"/>
                                            </p:tgtEl>
                                            <p:attrNameLst>
                                              <p:attrName>ppt_y</p:attrName>
                                            </p:attrNameLst>
                                          </p:cBhvr>
                                          <p:tavLst>
                                            <p:tav tm="0">
                                              <p:val>
                                                <p:strVal val="#ppt_y+#ppt_h*1.125000"/>
                                              </p:val>
                                            </p:tav>
                                            <p:tav tm="100000">
                                              <p:val>
                                                <p:strVal val="#ppt_y"/>
                                              </p:val>
                                            </p:tav>
                                          </p:tavLst>
                                        </p:anim>
                                        <p:animEffect transition="in" filter="wipe(up)">
                                          <p:cBhvr>
                                            <p:cTn id="166" dur="500"/>
                                            <p:tgtEl>
                                              <p:spTgt spid="41"/>
                                            </p:tgtEl>
                                          </p:cBhvr>
                                        </p:animEffect>
                                      </p:childTnLst>
                                    </p:cTn>
                                  </p:par>
                                  <p:par>
                                    <p:cTn id="167" presetID="12" presetClass="entr" presetSubtype="4" fill="hold" grpId="0" nodeType="withEffect">
                                      <p:stCondLst>
                                        <p:cond delay="0"/>
                                      </p:stCondLst>
                                      <p:childTnLst>
                                        <p:set>
                                          <p:cBhvr>
                                            <p:cTn id="168" dur="1" fill="hold">
                                              <p:stCondLst>
                                                <p:cond delay="0"/>
                                              </p:stCondLst>
                                            </p:cTn>
                                            <p:tgtEl>
                                              <p:spTgt spid="40"/>
                                            </p:tgtEl>
                                            <p:attrNameLst>
                                              <p:attrName>style.visibility</p:attrName>
                                            </p:attrNameLst>
                                          </p:cBhvr>
                                          <p:to>
                                            <p:strVal val="visible"/>
                                          </p:to>
                                        </p:set>
                                        <p:anim calcmode="lin" valueType="num">
                                          <p:cBhvr additive="base">
                                            <p:cTn id="169" dur="500"/>
                                            <p:tgtEl>
                                              <p:spTgt spid="40"/>
                                            </p:tgtEl>
                                            <p:attrNameLst>
                                              <p:attrName>ppt_y</p:attrName>
                                            </p:attrNameLst>
                                          </p:cBhvr>
                                          <p:tavLst>
                                            <p:tav tm="0">
                                              <p:val>
                                                <p:strVal val="#ppt_y+#ppt_h*1.125000"/>
                                              </p:val>
                                            </p:tav>
                                            <p:tav tm="100000">
                                              <p:val>
                                                <p:strVal val="#ppt_y"/>
                                              </p:val>
                                            </p:tav>
                                          </p:tavLst>
                                        </p:anim>
                                        <p:animEffect transition="in" filter="wipe(up)">
                                          <p:cBhvr>
                                            <p:cTn id="170" dur="500"/>
                                            <p:tgtEl>
                                              <p:spTgt spid="40"/>
                                            </p:tgtEl>
                                          </p:cBhvr>
                                        </p:animEffect>
                                      </p:childTnLst>
                                    </p:cTn>
                                  </p:par>
                                  <p:par>
                                    <p:cTn id="171" presetID="12" presetClass="entr" presetSubtype="4" fill="hold" grpId="0" nodeType="withEffect">
                                      <p:stCondLst>
                                        <p:cond delay="0"/>
                                      </p:stCondLst>
                                      <p:childTnLst>
                                        <p:set>
                                          <p:cBhvr>
                                            <p:cTn id="172" dur="1" fill="hold">
                                              <p:stCondLst>
                                                <p:cond delay="0"/>
                                              </p:stCondLst>
                                            </p:cTn>
                                            <p:tgtEl>
                                              <p:spTgt spid="39"/>
                                            </p:tgtEl>
                                            <p:attrNameLst>
                                              <p:attrName>style.visibility</p:attrName>
                                            </p:attrNameLst>
                                          </p:cBhvr>
                                          <p:to>
                                            <p:strVal val="visible"/>
                                          </p:to>
                                        </p:set>
                                        <p:anim calcmode="lin" valueType="num">
                                          <p:cBhvr additive="base">
                                            <p:cTn id="173" dur="500"/>
                                            <p:tgtEl>
                                              <p:spTgt spid="39"/>
                                            </p:tgtEl>
                                            <p:attrNameLst>
                                              <p:attrName>ppt_y</p:attrName>
                                            </p:attrNameLst>
                                          </p:cBhvr>
                                          <p:tavLst>
                                            <p:tav tm="0">
                                              <p:val>
                                                <p:strVal val="#ppt_y+#ppt_h*1.125000"/>
                                              </p:val>
                                            </p:tav>
                                            <p:tav tm="100000">
                                              <p:val>
                                                <p:strVal val="#ppt_y"/>
                                              </p:val>
                                            </p:tav>
                                          </p:tavLst>
                                        </p:anim>
                                        <p:animEffect transition="in" filter="wipe(up)">
                                          <p:cBhvr>
                                            <p:cTn id="174" dur="500"/>
                                            <p:tgtEl>
                                              <p:spTgt spid="39"/>
                                            </p:tgtEl>
                                          </p:cBhvr>
                                        </p:animEffect>
                                      </p:childTnLst>
                                    </p:cTn>
                                  </p:par>
                                  <p:par>
                                    <p:cTn id="175" presetID="12" presetClass="entr" presetSubtype="4" fill="hold" grpId="0" nodeType="withEffect">
                                      <p:stCondLst>
                                        <p:cond delay="0"/>
                                      </p:stCondLst>
                                      <p:childTnLst>
                                        <p:set>
                                          <p:cBhvr>
                                            <p:cTn id="176" dur="1" fill="hold">
                                              <p:stCondLst>
                                                <p:cond delay="0"/>
                                              </p:stCondLst>
                                            </p:cTn>
                                            <p:tgtEl>
                                              <p:spTgt spid="38"/>
                                            </p:tgtEl>
                                            <p:attrNameLst>
                                              <p:attrName>style.visibility</p:attrName>
                                            </p:attrNameLst>
                                          </p:cBhvr>
                                          <p:to>
                                            <p:strVal val="visible"/>
                                          </p:to>
                                        </p:set>
                                        <p:anim calcmode="lin" valueType="num">
                                          <p:cBhvr additive="base">
                                            <p:cTn id="177" dur="500"/>
                                            <p:tgtEl>
                                              <p:spTgt spid="38"/>
                                            </p:tgtEl>
                                            <p:attrNameLst>
                                              <p:attrName>ppt_y</p:attrName>
                                            </p:attrNameLst>
                                          </p:cBhvr>
                                          <p:tavLst>
                                            <p:tav tm="0">
                                              <p:val>
                                                <p:strVal val="#ppt_y+#ppt_h*1.125000"/>
                                              </p:val>
                                            </p:tav>
                                            <p:tav tm="100000">
                                              <p:val>
                                                <p:strVal val="#ppt_y"/>
                                              </p:val>
                                            </p:tav>
                                          </p:tavLst>
                                        </p:anim>
                                        <p:animEffect transition="in" filter="wipe(up)">
                                          <p:cBhvr>
                                            <p:cTn id="178" dur="500"/>
                                            <p:tgtEl>
                                              <p:spTgt spid="38"/>
                                            </p:tgtEl>
                                          </p:cBhvr>
                                        </p:animEffect>
                                      </p:childTnLst>
                                    </p:cTn>
                                  </p:par>
                                  <p:par>
                                    <p:cTn id="179" presetID="12" presetClass="entr" presetSubtype="4" fill="hold" grpId="0" nodeType="withEffect">
                                      <p:stCondLst>
                                        <p:cond delay="0"/>
                                      </p:stCondLst>
                                      <p:childTnLst>
                                        <p:set>
                                          <p:cBhvr>
                                            <p:cTn id="180" dur="1" fill="hold">
                                              <p:stCondLst>
                                                <p:cond delay="0"/>
                                              </p:stCondLst>
                                            </p:cTn>
                                            <p:tgtEl>
                                              <p:spTgt spid="37"/>
                                            </p:tgtEl>
                                            <p:attrNameLst>
                                              <p:attrName>style.visibility</p:attrName>
                                            </p:attrNameLst>
                                          </p:cBhvr>
                                          <p:to>
                                            <p:strVal val="visible"/>
                                          </p:to>
                                        </p:set>
                                        <p:anim calcmode="lin" valueType="num">
                                          <p:cBhvr additive="base">
                                            <p:cTn id="181" dur="500"/>
                                            <p:tgtEl>
                                              <p:spTgt spid="37"/>
                                            </p:tgtEl>
                                            <p:attrNameLst>
                                              <p:attrName>ppt_y</p:attrName>
                                            </p:attrNameLst>
                                          </p:cBhvr>
                                          <p:tavLst>
                                            <p:tav tm="0">
                                              <p:val>
                                                <p:strVal val="#ppt_y+#ppt_h*1.125000"/>
                                              </p:val>
                                            </p:tav>
                                            <p:tav tm="100000">
                                              <p:val>
                                                <p:strVal val="#ppt_y"/>
                                              </p:val>
                                            </p:tav>
                                          </p:tavLst>
                                        </p:anim>
                                        <p:animEffect transition="in" filter="wipe(up)">
                                          <p:cBhvr>
                                            <p:cTn id="182" dur="500"/>
                                            <p:tgtEl>
                                              <p:spTgt spid="37"/>
                                            </p:tgtEl>
                                          </p:cBhvr>
                                        </p:animEffect>
                                      </p:childTnLst>
                                    </p:cTn>
                                  </p:par>
                                  <p:par>
                                    <p:cTn id="183" presetID="12" presetClass="entr" presetSubtype="4" fill="hold" grpId="0" nodeType="withEffect">
                                      <p:stCondLst>
                                        <p:cond delay="0"/>
                                      </p:stCondLst>
                                      <p:childTnLst>
                                        <p:set>
                                          <p:cBhvr>
                                            <p:cTn id="184" dur="1" fill="hold">
                                              <p:stCondLst>
                                                <p:cond delay="0"/>
                                              </p:stCondLst>
                                            </p:cTn>
                                            <p:tgtEl>
                                              <p:spTgt spid="36"/>
                                            </p:tgtEl>
                                            <p:attrNameLst>
                                              <p:attrName>style.visibility</p:attrName>
                                            </p:attrNameLst>
                                          </p:cBhvr>
                                          <p:to>
                                            <p:strVal val="visible"/>
                                          </p:to>
                                        </p:set>
                                        <p:anim calcmode="lin" valueType="num">
                                          <p:cBhvr additive="base">
                                            <p:cTn id="185" dur="500"/>
                                            <p:tgtEl>
                                              <p:spTgt spid="36"/>
                                            </p:tgtEl>
                                            <p:attrNameLst>
                                              <p:attrName>ppt_y</p:attrName>
                                            </p:attrNameLst>
                                          </p:cBhvr>
                                          <p:tavLst>
                                            <p:tav tm="0">
                                              <p:val>
                                                <p:strVal val="#ppt_y+#ppt_h*1.125000"/>
                                              </p:val>
                                            </p:tav>
                                            <p:tav tm="100000">
                                              <p:val>
                                                <p:strVal val="#ppt_y"/>
                                              </p:val>
                                            </p:tav>
                                          </p:tavLst>
                                        </p:anim>
                                        <p:animEffect transition="in" filter="wipe(up)">
                                          <p:cBhvr>
                                            <p:cTn id="186" dur="500"/>
                                            <p:tgtEl>
                                              <p:spTgt spid="36"/>
                                            </p:tgtEl>
                                          </p:cBhvr>
                                        </p:animEffect>
                                      </p:childTnLst>
                                    </p:cTn>
                                  </p:par>
                                  <p:par>
                                    <p:cTn id="187" presetID="12" presetClass="entr" presetSubtype="4" fill="hold" grpId="0" nodeType="withEffect">
                                      <p:stCondLst>
                                        <p:cond delay="0"/>
                                      </p:stCondLst>
                                      <p:childTnLst>
                                        <p:set>
                                          <p:cBhvr>
                                            <p:cTn id="188" dur="1" fill="hold">
                                              <p:stCondLst>
                                                <p:cond delay="0"/>
                                              </p:stCondLst>
                                            </p:cTn>
                                            <p:tgtEl>
                                              <p:spTgt spid="35"/>
                                            </p:tgtEl>
                                            <p:attrNameLst>
                                              <p:attrName>style.visibility</p:attrName>
                                            </p:attrNameLst>
                                          </p:cBhvr>
                                          <p:to>
                                            <p:strVal val="visible"/>
                                          </p:to>
                                        </p:set>
                                        <p:anim calcmode="lin" valueType="num">
                                          <p:cBhvr additive="base">
                                            <p:cTn id="189" dur="500"/>
                                            <p:tgtEl>
                                              <p:spTgt spid="35"/>
                                            </p:tgtEl>
                                            <p:attrNameLst>
                                              <p:attrName>ppt_y</p:attrName>
                                            </p:attrNameLst>
                                          </p:cBhvr>
                                          <p:tavLst>
                                            <p:tav tm="0">
                                              <p:val>
                                                <p:strVal val="#ppt_y+#ppt_h*1.125000"/>
                                              </p:val>
                                            </p:tav>
                                            <p:tav tm="100000">
                                              <p:val>
                                                <p:strVal val="#ppt_y"/>
                                              </p:val>
                                            </p:tav>
                                          </p:tavLst>
                                        </p:anim>
                                        <p:animEffect transition="in" filter="wipe(up)">
                                          <p:cBhvr>
                                            <p:cTn id="190" dur="500"/>
                                            <p:tgtEl>
                                              <p:spTgt spid="35"/>
                                            </p:tgtEl>
                                          </p:cBhvr>
                                        </p:animEffect>
                                      </p:childTnLst>
                                    </p:cTn>
                                  </p:par>
                                </p:childTnLst>
                              </p:cTn>
                            </p:par>
                          </p:childTnLst>
                        </p:cTn>
                      </p:par>
                      <p:par>
                        <p:cTn id="191" fill="hold">
                          <p:stCondLst>
                            <p:cond delay="indefinite"/>
                          </p:stCondLst>
                          <p:childTnLst>
                            <p:par>
                              <p:cTn id="192" fill="hold">
                                <p:stCondLst>
                                  <p:cond delay="0"/>
                                </p:stCondLst>
                                <p:childTnLst>
                                  <p:par>
                                    <p:cTn id="193" presetID="2" presetClass="entr" presetSubtype="4" fill="hold" grpId="2" nodeType="clickEffect" p14:presetBounceEnd="42857">
                                      <p:stCondLst>
                                        <p:cond delay="0"/>
                                      </p:stCondLst>
                                      <p:childTnLst>
                                        <p:set>
                                          <p:cBhvr>
                                            <p:cTn id="194" dur="1" fill="hold">
                                              <p:stCondLst>
                                                <p:cond delay="0"/>
                                              </p:stCondLst>
                                            </p:cTn>
                                            <p:tgtEl>
                                              <p:spTgt spid="60"/>
                                            </p:tgtEl>
                                            <p:attrNameLst>
                                              <p:attrName>style.visibility</p:attrName>
                                            </p:attrNameLst>
                                          </p:cBhvr>
                                          <p:to>
                                            <p:strVal val="visible"/>
                                          </p:to>
                                        </p:set>
                                        <p:anim calcmode="lin" valueType="num" p14:bounceEnd="42857">
                                          <p:cBhvr additive="base">
                                            <p:cTn id="195" dur="700" fill="hold"/>
                                            <p:tgtEl>
                                              <p:spTgt spid="60"/>
                                            </p:tgtEl>
                                            <p:attrNameLst>
                                              <p:attrName>ppt_x</p:attrName>
                                            </p:attrNameLst>
                                          </p:cBhvr>
                                          <p:tavLst>
                                            <p:tav tm="0">
                                              <p:val>
                                                <p:strVal val="#ppt_x"/>
                                              </p:val>
                                            </p:tav>
                                            <p:tav tm="100000">
                                              <p:val>
                                                <p:strVal val="#ppt_x"/>
                                              </p:val>
                                            </p:tav>
                                          </p:tavLst>
                                        </p:anim>
                                        <p:anim calcmode="lin" valueType="num" p14:bounceEnd="42857">
                                          <p:cBhvr additive="base">
                                            <p:cTn id="196" dur="700" fill="hold"/>
                                            <p:tgtEl>
                                              <p:spTgt spid="60"/>
                                            </p:tgtEl>
                                            <p:attrNameLst>
                                              <p:attrName>ppt_y</p:attrName>
                                            </p:attrNameLst>
                                          </p:cBhvr>
                                          <p:tavLst>
                                            <p:tav tm="0">
                                              <p:val>
                                                <p:strVal val="1+#ppt_h/2"/>
                                              </p:val>
                                            </p:tav>
                                            <p:tav tm="100000">
                                              <p:val>
                                                <p:strVal val="#ppt_y"/>
                                              </p:val>
                                            </p:tav>
                                          </p:tavLst>
                                        </p:anim>
                                      </p:childTnLst>
                                    </p:cTn>
                                  </p:par>
                                  <p:par>
                                    <p:cTn id="197" presetID="2" presetClass="entr" presetSubtype="4" fill="hold" grpId="2" nodeType="withEffect" p14:presetBounceEnd="42857">
                                      <p:stCondLst>
                                        <p:cond delay="0"/>
                                      </p:stCondLst>
                                      <p:childTnLst>
                                        <p:set>
                                          <p:cBhvr>
                                            <p:cTn id="198" dur="1" fill="hold">
                                              <p:stCondLst>
                                                <p:cond delay="0"/>
                                              </p:stCondLst>
                                            </p:cTn>
                                            <p:tgtEl>
                                              <p:spTgt spid="59"/>
                                            </p:tgtEl>
                                            <p:attrNameLst>
                                              <p:attrName>style.visibility</p:attrName>
                                            </p:attrNameLst>
                                          </p:cBhvr>
                                          <p:to>
                                            <p:strVal val="visible"/>
                                          </p:to>
                                        </p:set>
                                        <p:anim calcmode="lin" valueType="num" p14:bounceEnd="42857">
                                          <p:cBhvr additive="base">
                                            <p:cTn id="199" dur="700" fill="hold"/>
                                            <p:tgtEl>
                                              <p:spTgt spid="59"/>
                                            </p:tgtEl>
                                            <p:attrNameLst>
                                              <p:attrName>ppt_x</p:attrName>
                                            </p:attrNameLst>
                                          </p:cBhvr>
                                          <p:tavLst>
                                            <p:tav tm="0">
                                              <p:val>
                                                <p:strVal val="#ppt_x"/>
                                              </p:val>
                                            </p:tav>
                                            <p:tav tm="100000">
                                              <p:val>
                                                <p:strVal val="#ppt_x"/>
                                              </p:val>
                                            </p:tav>
                                          </p:tavLst>
                                        </p:anim>
                                        <p:anim calcmode="lin" valueType="num" p14:bounceEnd="42857">
                                          <p:cBhvr additive="base">
                                            <p:cTn id="200" dur="700" fill="hold"/>
                                            <p:tgtEl>
                                              <p:spTgt spid="59"/>
                                            </p:tgtEl>
                                            <p:attrNameLst>
                                              <p:attrName>ppt_y</p:attrName>
                                            </p:attrNameLst>
                                          </p:cBhvr>
                                          <p:tavLst>
                                            <p:tav tm="0">
                                              <p:val>
                                                <p:strVal val="1+#ppt_h/2"/>
                                              </p:val>
                                            </p:tav>
                                            <p:tav tm="100000">
                                              <p:val>
                                                <p:strVal val="#ppt_y"/>
                                              </p:val>
                                            </p:tav>
                                          </p:tavLst>
                                        </p:anim>
                                      </p:childTnLst>
                                    </p:cTn>
                                  </p:par>
                                  <p:par>
                                    <p:cTn id="201" presetID="2" presetClass="entr" presetSubtype="4" fill="hold" grpId="0" nodeType="withEffect" p14:presetBounceEnd="42857">
                                      <p:stCondLst>
                                        <p:cond delay="0"/>
                                      </p:stCondLst>
                                      <p:childTnLst>
                                        <p:set>
                                          <p:cBhvr>
                                            <p:cTn id="202" dur="1" fill="hold">
                                              <p:stCondLst>
                                                <p:cond delay="0"/>
                                              </p:stCondLst>
                                            </p:cTn>
                                            <p:tgtEl>
                                              <p:spTgt spid="58"/>
                                            </p:tgtEl>
                                            <p:attrNameLst>
                                              <p:attrName>style.visibility</p:attrName>
                                            </p:attrNameLst>
                                          </p:cBhvr>
                                          <p:to>
                                            <p:strVal val="visible"/>
                                          </p:to>
                                        </p:set>
                                        <p:anim calcmode="lin" valueType="num" p14:bounceEnd="42857">
                                          <p:cBhvr additive="base">
                                            <p:cTn id="203" dur="700" fill="hold"/>
                                            <p:tgtEl>
                                              <p:spTgt spid="58"/>
                                            </p:tgtEl>
                                            <p:attrNameLst>
                                              <p:attrName>ppt_x</p:attrName>
                                            </p:attrNameLst>
                                          </p:cBhvr>
                                          <p:tavLst>
                                            <p:tav tm="0">
                                              <p:val>
                                                <p:strVal val="#ppt_x"/>
                                              </p:val>
                                            </p:tav>
                                            <p:tav tm="100000">
                                              <p:val>
                                                <p:strVal val="#ppt_x"/>
                                              </p:val>
                                            </p:tav>
                                          </p:tavLst>
                                        </p:anim>
                                        <p:anim calcmode="lin" valueType="num" p14:bounceEnd="42857">
                                          <p:cBhvr additive="base">
                                            <p:cTn id="204" dur="7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205" fill="hold">
                          <p:stCondLst>
                            <p:cond delay="indefinite"/>
                          </p:stCondLst>
                          <p:childTnLst>
                            <p:par>
                              <p:cTn id="206" fill="hold">
                                <p:stCondLst>
                                  <p:cond delay="0"/>
                                </p:stCondLst>
                                <p:childTnLst>
                                  <p:par>
                                    <p:cTn id="207" presetID="2" presetClass="entr" presetSubtype="2" fill="hold" grpId="0" nodeType="clickEffect" p14:presetBounceEnd="42857">
                                      <p:stCondLst>
                                        <p:cond delay="0"/>
                                      </p:stCondLst>
                                      <p:childTnLst>
                                        <p:set>
                                          <p:cBhvr>
                                            <p:cTn id="208" dur="1" fill="hold">
                                              <p:stCondLst>
                                                <p:cond delay="0"/>
                                              </p:stCondLst>
                                            </p:cTn>
                                            <p:tgtEl>
                                              <p:spTgt spid="51"/>
                                            </p:tgtEl>
                                            <p:attrNameLst>
                                              <p:attrName>style.visibility</p:attrName>
                                            </p:attrNameLst>
                                          </p:cBhvr>
                                          <p:to>
                                            <p:strVal val="visible"/>
                                          </p:to>
                                        </p:set>
                                        <p:anim calcmode="lin" valueType="num" p14:bounceEnd="42857">
                                          <p:cBhvr additive="base">
                                            <p:cTn id="209" dur="700" fill="hold"/>
                                            <p:tgtEl>
                                              <p:spTgt spid="51"/>
                                            </p:tgtEl>
                                            <p:attrNameLst>
                                              <p:attrName>ppt_x</p:attrName>
                                            </p:attrNameLst>
                                          </p:cBhvr>
                                          <p:tavLst>
                                            <p:tav tm="0">
                                              <p:val>
                                                <p:strVal val="1+#ppt_w/2"/>
                                              </p:val>
                                            </p:tav>
                                            <p:tav tm="100000">
                                              <p:val>
                                                <p:strVal val="#ppt_x"/>
                                              </p:val>
                                            </p:tav>
                                          </p:tavLst>
                                        </p:anim>
                                        <p:anim calcmode="lin" valueType="num" p14:bounceEnd="42857">
                                          <p:cBhvr additive="base">
                                            <p:cTn id="210" dur="700" fill="hold"/>
                                            <p:tgtEl>
                                              <p:spTgt spid="51"/>
                                            </p:tgtEl>
                                            <p:attrNameLst>
                                              <p:attrName>ppt_y</p:attrName>
                                            </p:attrNameLst>
                                          </p:cBhvr>
                                          <p:tavLst>
                                            <p:tav tm="0">
                                              <p:val>
                                                <p:strVal val="#ppt_y"/>
                                              </p:val>
                                            </p:tav>
                                            <p:tav tm="100000">
                                              <p:val>
                                                <p:strVal val="#ppt_y"/>
                                              </p:val>
                                            </p:tav>
                                          </p:tavLst>
                                        </p:anim>
                                      </p:childTnLst>
                                    </p:cTn>
                                  </p:par>
                                </p:childTnLst>
                              </p:cTn>
                            </p:par>
                            <p:par>
                              <p:cTn id="211" fill="hold">
                                <p:stCondLst>
                                  <p:cond delay="700"/>
                                </p:stCondLst>
                                <p:childTnLst>
                                  <p:par>
                                    <p:cTn id="212" presetID="22" presetClass="entr" presetSubtype="2" fill="hold" grpId="0" nodeType="afterEffect">
                                      <p:stCondLst>
                                        <p:cond delay="0"/>
                                      </p:stCondLst>
                                      <p:childTnLst>
                                        <p:set>
                                          <p:cBhvr>
                                            <p:cTn id="213" dur="1" fill="hold">
                                              <p:stCondLst>
                                                <p:cond delay="0"/>
                                              </p:stCondLst>
                                            </p:cTn>
                                            <p:tgtEl>
                                              <p:spTgt spid="57"/>
                                            </p:tgtEl>
                                            <p:attrNameLst>
                                              <p:attrName>style.visibility</p:attrName>
                                            </p:attrNameLst>
                                          </p:cBhvr>
                                          <p:to>
                                            <p:strVal val="visible"/>
                                          </p:to>
                                        </p:set>
                                        <p:animEffect transition="in" filter="wipe(right)">
                                          <p:cBhvr>
                                            <p:cTn id="214" dur="500"/>
                                            <p:tgtEl>
                                              <p:spTgt spid="57"/>
                                            </p:tgtEl>
                                          </p:cBhvr>
                                        </p:animEffect>
                                      </p:childTnLst>
                                    </p:cTn>
                                  </p:par>
                                </p:childTnLst>
                              </p:cTn>
                            </p:par>
                          </p:childTnLst>
                        </p:cTn>
                      </p:par>
                      <p:par>
                        <p:cTn id="215" fill="hold">
                          <p:stCondLst>
                            <p:cond delay="indefinite"/>
                          </p:stCondLst>
                          <p:childTnLst>
                            <p:par>
                              <p:cTn id="216" fill="hold">
                                <p:stCondLst>
                                  <p:cond delay="0"/>
                                </p:stCondLst>
                                <p:childTnLst>
                                  <p:par>
                                    <p:cTn id="217" presetID="42" presetClass="path" presetSubtype="0" fill="hold" grpId="0" nodeType="clickEffect">
                                      <p:stCondLst>
                                        <p:cond delay="0"/>
                                      </p:stCondLst>
                                      <p:childTnLst>
                                        <p:animMotion origin="layout" path="M -1.38889E-6 2.35657E-6 L -0.16684 -0.12369 " pathEditMode="relative" rAng="0" ptsTypes="AA">
                                          <p:cBhvr>
                                            <p:cTn id="218" dur="1000" fill="hold"/>
                                            <p:tgtEl>
                                              <p:spTgt spid="60"/>
                                            </p:tgtEl>
                                            <p:attrNameLst>
                                              <p:attrName>ppt_x</p:attrName>
                                              <p:attrName>ppt_y</p:attrName>
                                            </p:attrNameLst>
                                          </p:cBhvr>
                                          <p:rCtr x="-8351" y="-6200"/>
                                        </p:animMotion>
                                      </p:childTnLst>
                                    </p:cTn>
                                  </p:par>
                                  <p:par>
                                    <p:cTn id="219" presetID="42" presetClass="path" presetSubtype="0" fill="hold" grpId="0" nodeType="withEffect">
                                      <p:stCondLst>
                                        <p:cond delay="0"/>
                                      </p:stCondLst>
                                      <p:childTnLst>
                                        <p:animMotion origin="layout" path="M 4.16667E-6 2.35657E-6 L -0.22379 -0.12369 " pathEditMode="relative" rAng="0" ptsTypes="AA">
                                          <p:cBhvr>
                                            <p:cTn id="220" dur="1000" fill="hold"/>
                                            <p:tgtEl>
                                              <p:spTgt spid="59"/>
                                            </p:tgtEl>
                                            <p:attrNameLst>
                                              <p:attrName>ppt_x</p:attrName>
                                              <p:attrName>ppt_y</p:attrName>
                                            </p:attrNameLst>
                                          </p:cBhvr>
                                          <p:rCtr x="-11198" y="-6200"/>
                                        </p:animMotion>
                                      </p:childTnLst>
                                    </p:cTn>
                                  </p:par>
                                </p:childTnLst>
                              </p:cTn>
                            </p:par>
                            <p:par>
                              <p:cTn id="221" fill="hold">
                                <p:stCondLst>
                                  <p:cond delay="1000"/>
                                </p:stCondLst>
                                <p:childTnLst>
                                  <p:par>
                                    <p:cTn id="222" presetID="1" presetClass="exit" presetSubtype="0" fill="hold" grpId="1" nodeType="afterEffect">
                                      <p:stCondLst>
                                        <p:cond delay="0"/>
                                      </p:stCondLst>
                                      <p:childTnLst>
                                        <p:set>
                                          <p:cBhvr>
                                            <p:cTn id="223" dur="1" fill="hold">
                                              <p:stCondLst>
                                                <p:cond delay="0"/>
                                              </p:stCondLst>
                                            </p:cTn>
                                            <p:tgtEl>
                                              <p:spTgt spid="60"/>
                                            </p:tgtEl>
                                            <p:attrNameLst>
                                              <p:attrName>style.visibility</p:attrName>
                                            </p:attrNameLst>
                                          </p:cBhvr>
                                          <p:to>
                                            <p:strVal val="hidden"/>
                                          </p:to>
                                        </p:set>
                                      </p:childTnLst>
                                    </p:cTn>
                                  </p:par>
                                </p:childTnLst>
                              </p:cTn>
                            </p:par>
                            <p:par>
                              <p:cTn id="224" fill="hold">
                                <p:stCondLst>
                                  <p:cond delay="1000"/>
                                </p:stCondLst>
                                <p:childTnLst>
                                  <p:par>
                                    <p:cTn id="225" presetID="1" presetClass="exit" presetSubtype="0" fill="hold" grpId="1" nodeType="afterEffect">
                                      <p:stCondLst>
                                        <p:cond delay="0"/>
                                      </p:stCondLst>
                                      <p:childTnLst>
                                        <p:set>
                                          <p:cBhvr>
                                            <p:cTn id="226" dur="1" fill="hold">
                                              <p:stCondLst>
                                                <p:cond delay="0"/>
                                              </p:stCondLst>
                                            </p:cTn>
                                            <p:tgtEl>
                                              <p:spTgt spid="59"/>
                                            </p:tgtEl>
                                            <p:attrNameLst>
                                              <p:attrName>style.visibility</p:attrName>
                                            </p:attrNameLst>
                                          </p:cBhvr>
                                          <p:to>
                                            <p:strVal val="hidden"/>
                                          </p:to>
                                        </p:set>
                                      </p:childTnLst>
                                    </p:cTn>
                                  </p:par>
                                </p:childTnLst>
                              </p:cTn>
                            </p:par>
                          </p:childTnLst>
                        </p:cTn>
                      </p:par>
                      <p:par>
                        <p:cTn id="227" fill="hold">
                          <p:stCondLst>
                            <p:cond delay="indefinite"/>
                          </p:stCondLst>
                          <p:childTnLst>
                            <p:par>
                              <p:cTn id="228" fill="hold">
                                <p:stCondLst>
                                  <p:cond delay="0"/>
                                </p:stCondLst>
                                <p:childTnLst>
                                  <p:par>
                                    <p:cTn id="229" presetID="12" presetClass="entr" presetSubtype="4" fill="hold" grpId="0" nodeType="clickEffect">
                                      <p:stCondLst>
                                        <p:cond delay="0"/>
                                      </p:stCondLst>
                                      <p:childTnLst>
                                        <p:set>
                                          <p:cBhvr>
                                            <p:cTn id="230" dur="1" fill="hold">
                                              <p:stCondLst>
                                                <p:cond delay="0"/>
                                              </p:stCondLst>
                                            </p:cTn>
                                            <p:tgtEl>
                                              <p:spTgt spid="61"/>
                                            </p:tgtEl>
                                            <p:attrNameLst>
                                              <p:attrName>style.visibility</p:attrName>
                                            </p:attrNameLst>
                                          </p:cBhvr>
                                          <p:to>
                                            <p:strVal val="visible"/>
                                          </p:to>
                                        </p:set>
                                        <p:anim calcmode="lin" valueType="num">
                                          <p:cBhvr additive="base">
                                            <p:cTn id="231" dur="500"/>
                                            <p:tgtEl>
                                              <p:spTgt spid="61"/>
                                            </p:tgtEl>
                                            <p:attrNameLst>
                                              <p:attrName>ppt_y</p:attrName>
                                            </p:attrNameLst>
                                          </p:cBhvr>
                                          <p:tavLst>
                                            <p:tav tm="0">
                                              <p:val>
                                                <p:strVal val="#ppt_y+#ppt_h*1.125000"/>
                                              </p:val>
                                            </p:tav>
                                            <p:tav tm="100000">
                                              <p:val>
                                                <p:strVal val="#ppt_y"/>
                                              </p:val>
                                            </p:tav>
                                          </p:tavLst>
                                        </p:anim>
                                        <p:animEffect transition="in" filter="wipe(up)">
                                          <p:cBhvr>
                                            <p:cTn id="232" dur="500"/>
                                            <p:tgtEl>
                                              <p:spTgt spid="61"/>
                                            </p:tgtEl>
                                          </p:cBhvr>
                                        </p:animEffect>
                                      </p:childTnLst>
                                    </p:cTn>
                                  </p:par>
                                </p:childTnLst>
                              </p:cTn>
                            </p:par>
                          </p:childTnLst>
                        </p:cTn>
                      </p:par>
                      <p:par>
                        <p:cTn id="233" fill="hold">
                          <p:stCondLst>
                            <p:cond delay="indefinite"/>
                          </p:stCondLst>
                          <p:childTnLst>
                            <p:par>
                              <p:cTn id="234" fill="hold">
                                <p:stCondLst>
                                  <p:cond delay="0"/>
                                </p:stCondLst>
                                <p:childTnLst>
                                  <p:par>
                                    <p:cTn id="235" presetID="22" presetClass="entr" presetSubtype="4" fill="hold" nodeType="clickEffect">
                                      <p:stCondLst>
                                        <p:cond delay="0"/>
                                      </p:stCondLst>
                                      <p:childTnLst>
                                        <p:set>
                                          <p:cBhvr>
                                            <p:cTn id="236" dur="1" fill="hold">
                                              <p:stCondLst>
                                                <p:cond delay="0"/>
                                              </p:stCondLst>
                                            </p:cTn>
                                            <p:tgtEl>
                                              <p:spTgt spid="52"/>
                                            </p:tgtEl>
                                            <p:attrNameLst>
                                              <p:attrName>style.visibility</p:attrName>
                                            </p:attrNameLst>
                                          </p:cBhvr>
                                          <p:to>
                                            <p:strVal val="visible"/>
                                          </p:to>
                                        </p:set>
                                        <p:animEffect transition="in" filter="wipe(down)">
                                          <p:cBhvr>
                                            <p:cTn id="23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animBg="1"/>
          <p:bldP spid="57" grpId="0"/>
          <p:bldP spid="58" grpId="0" animBg="1"/>
          <p:bldP spid="59" grpId="0"/>
          <p:bldP spid="59" grpId="1"/>
          <p:bldP spid="59" grpId="2"/>
          <p:bldP spid="60" grpId="0"/>
          <p:bldP spid="60" grpId="1"/>
          <p:bldP spid="60" grpId="2"/>
          <p:bldP spid="61"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par>
                                    <p:cTn id="11" presetID="22" presetClass="entr" presetSubtype="4"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wipe(down)">
                                          <p:cBhvr>
                                            <p:cTn id="13" dur="500"/>
                                            <p:tgtEl>
                                              <p:spTgt spid="55"/>
                                            </p:tgtEl>
                                          </p:cBhvr>
                                        </p:animEffect>
                                      </p:childTnLst>
                                    </p:cTn>
                                  </p:par>
                                  <p:par>
                                    <p:cTn id="14" presetID="22" presetClass="entr" presetSubtype="1" fill="hold" nodeType="withEffect">
                                      <p:stCondLst>
                                        <p:cond delay="0"/>
                                      </p:stCondLst>
                                      <p:childTnLst>
                                        <p:set>
                                          <p:cBhvr>
                                            <p:cTn id="15" dur="1" fill="hold">
                                              <p:stCondLst>
                                                <p:cond delay="0"/>
                                              </p:stCondLst>
                                            </p:cTn>
                                            <p:tgtEl>
                                              <p:spTgt spid="56"/>
                                            </p:tgtEl>
                                            <p:attrNameLst>
                                              <p:attrName>style.visibility</p:attrName>
                                            </p:attrNameLst>
                                          </p:cBhvr>
                                          <p:to>
                                            <p:strVal val="visible"/>
                                          </p:to>
                                        </p:set>
                                        <p:animEffect transition="in" filter="wipe(up)">
                                          <p:cBhvr>
                                            <p:cTn id="16" dur="500"/>
                                            <p:tgtEl>
                                              <p:spTgt spid="56"/>
                                            </p:tgtEl>
                                          </p:cBhvr>
                                        </p:animEffect>
                                      </p:childTnLst>
                                    </p:cTn>
                                  </p:par>
                                  <p:par>
                                    <p:cTn id="17" presetID="22" presetClass="entr" presetSubtype="4"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par>
                                    <p:cTn id="20" presetID="22" presetClass="entr" presetSubtype="1"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par>
                                    <p:cTn id="23" presetID="22" presetClass="entr" presetSubtype="4" fill="hold" nodeType="with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wipe(down)">
                                          <p:cBhvr>
                                            <p:cTn id="25" dur="500"/>
                                            <p:tgtEl>
                                              <p:spTgt spid="54"/>
                                            </p:tgtEl>
                                          </p:cBhvr>
                                        </p:animEffect>
                                      </p:childTnLst>
                                    </p:cTn>
                                  </p:par>
                                  <p:par>
                                    <p:cTn id="26" presetID="22" presetClass="entr" presetSubtype="1" fill="hold" nodeType="withEffect">
                                      <p:stCondLst>
                                        <p:cond delay="0"/>
                                      </p:stCondLst>
                                      <p:childTnLst>
                                        <p:set>
                                          <p:cBhvr>
                                            <p:cTn id="27" dur="1" fill="hold">
                                              <p:stCondLst>
                                                <p:cond delay="0"/>
                                              </p:stCondLst>
                                            </p:cTn>
                                            <p:tgtEl>
                                              <p:spTgt spid="53"/>
                                            </p:tgtEl>
                                            <p:attrNameLst>
                                              <p:attrName>style.visibility</p:attrName>
                                            </p:attrNameLst>
                                          </p:cBhvr>
                                          <p:to>
                                            <p:strVal val="visible"/>
                                          </p:to>
                                        </p:set>
                                        <p:animEffect transition="in" filter="wipe(up)">
                                          <p:cBhvr>
                                            <p:cTn id="28" dur="500"/>
                                            <p:tgtEl>
                                              <p:spTgt spid="53"/>
                                            </p:tgtEl>
                                          </p:cBhvr>
                                        </p:animEffect>
                                      </p:childTnLst>
                                    </p:cTn>
                                  </p:par>
                                  <p:par>
                                    <p:cTn id="29" presetID="22" presetClass="entr" presetSubtype="4"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down)">
                                          <p:cBhvr>
                                            <p:cTn id="31" dur="500"/>
                                            <p:tgtEl>
                                              <p:spTgt spid="10"/>
                                            </p:tgtEl>
                                          </p:cBhvr>
                                        </p:animEffect>
                                      </p:childTnLst>
                                    </p:cTn>
                                  </p:par>
                                  <p:par>
                                    <p:cTn id="32" presetID="22" presetClass="entr" presetSubtype="1"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up)">
                                          <p:cBhvr>
                                            <p:cTn id="34" dur="500"/>
                                            <p:tgtEl>
                                              <p:spTgt spid="11"/>
                                            </p:tgtEl>
                                          </p:cBhvr>
                                        </p:animEffect>
                                      </p:childTnLst>
                                    </p:cTn>
                                  </p:par>
                                  <p:par>
                                    <p:cTn id="35" presetID="22" presetClass="entr" presetSubtype="4"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par>
                                    <p:cTn id="38" presetID="22" presetClass="entr" presetSubtype="1" fill="hold"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up)">
                                          <p:cBhvr>
                                            <p:cTn id="40" dur="500"/>
                                            <p:tgtEl>
                                              <p:spTgt spid="13"/>
                                            </p:tgtEl>
                                          </p:cBhvr>
                                        </p:animEffect>
                                      </p:childTnLst>
                                    </p:cTn>
                                  </p:par>
                                  <p:par>
                                    <p:cTn id="41" presetID="22" presetClass="entr" presetSubtype="4"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down)">
                                          <p:cBhvr>
                                            <p:cTn id="43" dur="500"/>
                                            <p:tgtEl>
                                              <p:spTgt spid="14"/>
                                            </p:tgtEl>
                                          </p:cBhvr>
                                        </p:animEffect>
                                      </p:childTnLst>
                                    </p:cTn>
                                  </p:par>
                                  <p:par>
                                    <p:cTn id="44" presetID="22" presetClass="entr" presetSubtype="1"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up)">
                                          <p:cBhvr>
                                            <p:cTn id="46" dur="500"/>
                                            <p:tgtEl>
                                              <p:spTgt spid="15"/>
                                            </p:tgtEl>
                                          </p:cBhvr>
                                        </p:animEffect>
                                      </p:childTnLst>
                                    </p:cTn>
                                  </p:par>
                                  <p:par>
                                    <p:cTn id="47" presetID="22" presetClass="entr" presetSubtype="4"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down)">
                                          <p:cBhvr>
                                            <p:cTn id="49" dur="500"/>
                                            <p:tgtEl>
                                              <p:spTgt spid="16"/>
                                            </p:tgtEl>
                                          </p:cBhvr>
                                        </p:animEffect>
                                      </p:childTnLst>
                                    </p:cTn>
                                  </p:par>
                                  <p:par>
                                    <p:cTn id="50" presetID="22" presetClass="entr" presetSubtype="1"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up)">
                                          <p:cBhvr>
                                            <p:cTn id="52" dur="500"/>
                                            <p:tgtEl>
                                              <p:spTgt spid="17"/>
                                            </p:tgtEl>
                                          </p:cBhvr>
                                        </p:animEffect>
                                      </p:childTnLst>
                                    </p:cTn>
                                  </p:par>
                                  <p:par>
                                    <p:cTn id="53" presetID="22" presetClass="entr" presetSubtype="4" fill="hold"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down)">
                                          <p:cBhvr>
                                            <p:cTn id="55" dur="500"/>
                                            <p:tgtEl>
                                              <p:spTgt spid="18"/>
                                            </p:tgtEl>
                                          </p:cBhvr>
                                        </p:animEffect>
                                      </p:childTnLst>
                                    </p:cTn>
                                  </p:par>
                                  <p:par>
                                    <p:cTn id="56" presetID="22" presetClass="entr" presetSubtype="1" fill="hold"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up)">
                                          <p:cBhvr>
                                            <p:cTn id="58" dur="500"/>
                                            <p:tgtEl>
                                              <p:spTgt spid="19"/>
                                            </p:tgtEl>
                                          </p:cBhvr>
                                        </p:animEffect>
                                      </p:childTnLst>
                                    </p:cTn>
                                  </p:par>
                                  <p:par>
                                    <p:cTn id="59" presetID="22" presetClass="entr" presetSubtype="4"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down)">
                                          <p:cBhvr>
                                            <p:cTn id="61" dur="500"/>
                                            <p:tgtEl>
                                              <p:spTgt spid="20"/>
                                            </p:tgtEl>
                                          </p:cBhvr>
                                        </p:animEffect>
                                      </p:childTnLst>
                                    </p:cTn>
                                  </p:par>
                                </p:childTnLst>
                              </p:cTn>
                            </p:par>
                            <p:par>
                              <p:cTn id="62" fill="hold">
                                <p:stCondLst>
                                  <p:cond delay="500"/>
                                </p:stCondLst>
                                <p:childTnLst>
                                  <p:par>
                                    <p:cTn id="63" presetID="12" presetClass="entr" presetSubtype="1" fill="hold" grpId="0" nodeType="afterEffect">
                                      <p:stCondLst>
                                        <p:cond delay="0"/>
                                      </p:stCondLst>
                                      <p:childTnLst>
                                        <p:set>
                                          <p:cBhvr>
                                            <p:cTn id="64" dur="1" fill="hold">
                                              <p:stCondLst>
                                                <p:cond delay="0"/>
                                              </p:stCondLst>
                                            </p:cTn>
                                            <p:tgtEl>
                                              <p:spTgt spid="6"/>
                                            </p:tgtEl>
                                            <p:attrNameLst>
                                              <p:attrName>style.visibility</p:attrName>
                                            </p:attrNameLst>
                                          </p:cBhvr>
                                          <p:to>
                                            <p:strVal val="visible"/>
                                          </p:to>
                                        </p:set>
                                        <p:anim calcmode="lin" valueType="num">
                                          <p:cBhvr additive="base">
                                            <p:cTn id="65" dur="500"/>
                                            <p:tgtEl>
                                              <p:spTgt spid="6"/>
                                            </p:tgtEl>
                                            <p:attrNameLst>
                                              <p:attrName>ppt_y</p:attrName>
                                            </p:attrNameLst>
                                          </p:cBhvr>
                                          <p:tavLst>
                                            <p:tav tm="0">
                                              <p:val>
                                                <p:strVal val="#ppt_y-#ppt_h*1.125000"/>
                                              </p:val>
                                            </p:tav>
                                            <p:tav tm="100000">
                                              <p:val>
                                                <p:strVal val="#ppt_y"/>
                                              </p:val>
                                            </p:tav>
                                          </p:tavLst>
                                        </p:anim>
                                        <p:animEffect transition="in" filter="wipe(down)">
                                          <p:cBhvr>
                                            <p:cTn id="66" dur="500"/>
                                            <p:tgtEl>
                                              <p:spTgt spid="6"/>
                                            </p:tgtEl>
                                          </p:cBhvr>
                                        </p:animEffect>
                                      </p:childTnLst>
                                    </p:cTn>
                                  </p:par>
                                  <p:par>
                                    <p:cTn id="67" presetID="12" presetClass="entr" presetSubtype="1" fill="hold" grpId="0" nodeType="withEffect">
                                      <p:stCondLst>
                                        <p:cond delay="0"/>
                                      </p:stCondLst>
                                      <p:childTnLst>
                                        <p:set>
                                          <p:cBhvr>
                                            <p:cTn id="68" dur="1" fill="hold">
                                              <p:stCondLst>
                                                <p:cond delay="0"/>
                                              </p:stCondLst>
                                            </p:cTn>
                                            <p:tgtEl>
                                              <p:spTgt spid="8"/>
                                            </p:tgtEl>
                                            <p:attrNameLst>
                                              <p:attrName>style.visibility</p:attrName>
                                            </p:attrNameLst>
                                          </p:cBhvr>
                                          <p:to>
                                            <p:strVal val="visible"/>
                                          </p:to>
                                        </p:set>
                                        <p:anim calcmode="lin" valueType="num">
                                          <p:cBhvr additive="base">
                                            <p:cTn id="69" dur="500"/>
                                            <p:tgtEl>
                                              <p:spTgt spid="8"/>
                                            </p:tgtEl>
                                            <p:attrNameLst>
                                              <p:attrName>ppt_y</p:attrName>
                                            </p:attrNameLst>
                                          </p:cBhvr>
                                          <p:tavLst>
                                            <p:tav tm="0">
                                              <p:val>
                                                <p:strVal val="#ppt_y-#ppt_h*1.125000"/>
                                              </p:val>
                                            </p:tav>
                                            <p:tav tm="100000">
                                              <p:val>
                                                <p:strVal val="#ppt_y"/>
                                              </p:val>
                                            </p:tav>
                                          </p:tavLst>
                                        </p:anim>
                                        <p:animEffect transition="in" filter="wipe(down)">
                                          <p:cBhvr>
                                            <p:cTn id="70" dur="500"/>
                                            <p:tgtEl>
                                              <p:spTgt spid="8"/>
                                            </p:tgtEl>
                                          </p:cBhvr>
                                        </p:animEffect>
                                      </p:childTnLst>
                                    </p:cTn>
                                  </p:par>
                                  <p:par>
                                    <p:cTn id="71" presetID="12" presetClass="entr" presetSubtype="1"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p:tgtEl>
                                              <p:spTgt spid="21"/>
                                            </p:tgtEl>
                                            <p:attrNameLst>
                                              <p:attrName>ppt_y</p:attrName>
                                            </p:attrNameLst>
                                          </p:cBhvr>
                                          <p:tavLst>
                                            <p:tav tm="0">
                                              <p:val>
                                                <p:strVal val="#ppt_y-#ppt_h*1.125000"/>
                                              </p:val>
                                            </p:tav>
                                            <p:tav tm="100000">
                                              <p:val>
                                                <p:strVal val="#ppt_y"/>
                                              </p:val>
                                            </p:tav>
                                          </p:tavLst>
                                        </p:anim>
                                        <p:animEffect transition="in" filter="wipe(down)">
                                          <p:cBhvr>
                                            <p:cTn id="74" dur="500"/>
                                            <p:tgtEl>
                                              <p:spTgt spid="21"/>
                                            </p:tgtEl>
                                          </p:cBhvr>
                                        </p:animEffect>
                                      </p:childTnLst>
                                    </p:cTn>
                                  </p:par>
                                  <p:par>
                                    <p:cTn id="75" presetID="12" presetClass="entr" presetSubtype="1"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p:tgtEl>
                                              <p:spTgt spid="22"/>
                                            </p:tgtEl>
                                            <p:attrNameLst>
                                              <p:attrName>ppt_y</p:attrName>
                                            </p:attrNameLst>
                                          </p:cBhvr>
                                          <p:tavLst>
                                            <p:tav tm="0">
                                              <p:val>
                                                <p:strVal val="#ppt_y-#ppt_h*1.125000"/>
                                              </p:val>
                                            </p:tav>
                                            <p:tav tm="100000">
                                              <p:val>
                                                <p:strVal val="#ppt_y"/>
                                              </p:val>
                                            </p:tav>
                                          </p:tavLst>
                                        </p:anim>
                                        <p:animEffect transition="in" filter="wipe(down)">
                                          <p:cBhvr>
                                            <p:cTn id="78" dur="500"/>
                                            <p:tgtEl>
                                              <p:spTgt spid="22"/>
                                            </p:tgtEl>
                                          </p:cBhvr>
                                        </p:animEffect>
                                      </p:childTnLst>
                                    </p:cTn>
                                  </p:par>
                                  <p:par>
                                    <p:cTn id="79" presetID="12" presetClass="entr" presetSubtype="1"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 calcmode="lin" valueType="num">
                                          <p:cBhvr additive="base">
                                            <p:cTn id="81" dur="500"/>
                                            <p:tgtEl>
                                              <p:spTgt spid="23"/>
                                            </p:tgtEl>
                                            <p:attrNameLst>
                                              <p:attrName>ppt_y</p:attrName>
                                            </p:attrNameLst>
                                          </p:cBhvr>
                                          <p:tavLst>
                                            <p:tav tm="0">
                                              <p:val>
                                                <p:strVal val="#ppt_y-#ppt_h*1.125000"/>
                                              </p:val>
                                            </p:tav>
                                            <p:tav tm="100000">
                                              <p:val>
                                                <p:strVal val="#ppt_y"/>
                                              </p:val>
                                            </p:tav>
                                          </p:tavLst>
                                        </p:anim>
                                        <p:animEffect transition="in" filter="wipe(down)">
                                          <p:cBhvr>
                                            <p:cTn id="82" dur="500"/>
                                            <p:tgtEl>
                                              <p:spTgt spid="23"/>
                                            </p:tgtEl>
                                          </p:cBhvr>
                                        </p:animEffect>
                                      </p:childTnLst>
                                    </p:cTn>
                                  </p:par>
                                  <p:par>
                                    <p:cTn id="83" presetID="12" presetClass="entr" presetSubtype="1"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 calcmode="lin" valueType="num">
                                          <p:cBhvr additive="base">
                                            <p:cTn id="85" dur="500"/>
                                            <p:tgtEl>
                                              <p:spTgt spid="24"/>
                                            </p:tgtEl>
                                            <p:attrNameLst>
                                              <p:attrName>ppt_y</p:attrName>
                                            </p:attrNameLst>
                                          </p:cBhvr>
                                          <p:tavLst>
                                            <p:tav tm="0">
                                              <p:val>
                                                <p:strVal val="#ppt_y-#ppt_h*1.125000"/>
                                              </p:val>
                                            </p:tav>
                                            <p:tav tm="100000">
                                              <p:val>
                                                <p:strVal val="#ppt_y"/>
                                              </p:val>
                                            </p:tav>
                                          </p:tavLst>
                                        </p:anim>
                                        <p:animEffect transition="in" filter="wipe(down)">
                                          <p:cBhvr>
                                            <p:cTn id="86" dur="500"/>
                                            <p:tgtEl>
                                              <p:spTgt spid="24"/>
                                            </p:tgtEl>
                                          </p:cBhvr>
                                        </p:animEffect>
                                      </p:childTnLst>
                                    </p:cTn>
                                  </p:par>
                                  <p:par>
                                    <p:cTn id="87" presetID="12" presetClass="entr" presetSubtype="1" fill="hold" grpId="0" nodeType="withEffect">
                                      <p:stCondLst>
                                        <p:cond delay="0"/>
                                      </p:stCondLst>
                                      <p:childTnLst>
                                        <p:set>
                                          <p:cBhvr>
                                            <p:cTn id="88" dur="1" fill="hold">
                                              <p:stCondLst>
                                                <p:cond delay="0"/>
                                              </p:stCondLst>
                                            </p:cTn>
                                            <p:tgtEl>
                                              <p:spTgt spid="25"/>
                                            </p:tgtEl>
                                            <p:attrNameLst>
                                              <p:attrName>style.visibility</p:attrName>
                                            </p:attrNameLst>
                                          </p:cBhvr>
                                          <p:to>
                                            <p:strVal val="visible"/>
                                          </p:to>
                                        </p:set>
                                        <p:anim calcmode="lin" valueType="num">
                                          <p:cBhvr additive="base">
                                            <p:cTn id="89" dur="500"/>
                                            <p:tgtEl>
                                              <p:spTgt spid="25"/>
                                            </p:tgtEl>
                                            <p:attrNameLst>
                                              <p:attrName>ppt_y</p:attrName>
                                            </p:attrNameLst>
                                          </p:cBhvr>
                                          <p:tavLst>
                                            <p:tav tm="0">
                                              <p:val>
                                                <p:strVal val="#ppt_y-#ppt_h*1.125000"/>
                                              </p:val>
                                            </p:tav>
                                            <p:tav tm="100000">
                                              <p:val>
                                                <p:strVal val="#ppt_y"/>
                                              </p:val>
                                            </p:tav>
                                          </p:tavLst>
                                        </p:anim>
                                        <p:animEffect transition="in" filter="wipe(down)">
                                          <p:cBhvr>
                                            <p:cTn id="90" dur="500"/>
                                            <p:tgtEl>
                                              <p:spTgt spid="25"/>
                                            </p:tgtEl>
                                          </p:cBhvr>
                                        </p:animEffect>
                                      </p:childTnLst>
                                    </p:cTn>
                                  </p:par>
                                  <p:par>
                                    <p:cTn id="91" presetID="12" presetClass="entr" presetSubtype="1" fill="hold" grpId="0" nodeType="with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p:tgtEl>
                                              <p:spTgt spid="26"/>
                                            </p:tgtEl>
                                            <p:attrNameLst>
                                              <p:attrName>ppt_y</p:attrName>
                                            </p:attrNameLst>
                                          </p:cBhvr>
                                          <p:tavLst>
                                            <p:tav tm="0">
                                              <p:val>
                                                <p:strVal val="#ppt_y-#ppt_h*1.125000"/>
                                              </p:val>
                                            </p:tav>
                                            <p:tav tm="100000">
                                              <p:val>
                                                <p:strVal val="#ppt_y"/>
                                              </p:val>
                                            </p:tav>
                                          </p:tavLst>
                                        </p:anim>
                                        <p:animEffect transition="in" filter="wipe(down)">
                                          <p:cBhvr>
                                            <p:cTn id="94" dur="500"/>
                                            <p:tgtEl>
                                              <p:spTgt spid="26"/>
                                            </p:tgtEl>
                                          </p:cBhvr>
                                        </p:animEffect>
                                      </p:childTnLst>
                                    </p:cTn>
                                  </p:par>
                                  <p:par>
                                    <p:cTn id="95" presetID="12" presetClass="entr" presetSubtype="1" fill="hold" grpId="0" nodeType="withEffect">
                                      <p:stCondLst>
                                        <p:cond delay="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00"/>
                                            <p:tgtEl>
                                              <p:spTgt spid="27"/>
                                            </p:tgtEl>
                                            <p:attrNameLst>
                                              <p:attrName>ppt_y</p:attrName>
                                            </p:attrNameLst>
                                          </p:cBhvr>
                                          <p:tavLst>
                                            <p:tav tm="0">
                                              <p:val>
                                                <p:strVal val="#ppt_y-#ppt_h*1.125000"/>
                                              </p:val>
                                            </p:tav>
                                            <p:tav tm="100000">
                                              <p:val>
                                                <p:strVal val="#ppt_y"/>
                                              </p:val>
                                            </p:tav>
                                          </p:tavLst>
                                        </p:anim>
                                        <p:animEffect transition="in" filter="wipe(down)">
                                          <p:cBhvr>
                                            <p:cTn id="98" dur="500"/>
                                            <p:tgtEl>
                                              <p:spTgt spid="27"/>
                                            </p:tgtEl>
                                          </p:cBhvr>
                                        </p:animEffect>
                                      </p:childTnLst>
                                    </p:cTn>
                                  </p:par>
                                  <p:par>
                                    <p:cTn id="99" presetID="12" presetClass="entr" presetSubtype="1" fill="hold" grpId="0" nodeType="withEffect">
                                      <p:stCondLst>
                                        <p:cond delay="0"/>
                                      </p:stCondLst>
                                      <p:childTnLst>
                                        <p:set>
                                          <p:cBhvr>
                                            <p:cTn id="100" dur="1" fill="hold">
                                              <p:stCondLst>
                                                <p:cond delay="0"/>
                                              </p:stCondLst>
                                            </p:cTn>
                                            <p:tgtEl>
                                              <p:spTgt spid="28"/>
                                            </p:tgtEl>
                                            <p:attrNameLst>
                                              <p:attrName>style.visibility</p:attrName>
                                            </p:attrNameLst>
                                          </p:cBhvr>
                                          <p:to>
                                            <p:strVal val="visible"/>
                                          </p:to>
                                        </p:set>
                                        <p:anim calcmode="lin" valueType="num">
                                          <p:cBhvr additive="base">
                                            <p:cTn id="101" dur="500"/>
                                            <p:tgtEl>
                                              <p:spTgt spid="28"/>
                                            </p:tgtEl>
                                            <p:attrNameLst>
                                              <p:attrName>ppt_y</p:attrName>
                                            </p:attrNameLst>
                                          </p:cBhvr>
                                          <p:tavLst>
                                            <p:tav tm="0">
                                              <p:val>
                                                <p:strVal val="#ppt_y-#ppt_h*1.125000"/>
                                              </p:val>
                                            </p:tav>
                                            <p:tav tm="100000">
                                              <p:val>
                                                <p:strVal val="#ppt_y"/>
                                              </p:val>
                                            </p:tav>
                                          </p:tavLst>
                                        </p:anim>
                                        <p:animEffect transition="in" filter="wipe(down)">
                                          <p:cBhvr>
                                            <p:cTn id="102" dur="500"/>
                                            <p:tgtEl>
                                              <p:spTgt spid="28"/>
                                            </p:tgtEl>
                                          </p:cBhvr>
                                        </p:animEffect>
                                      </p:childTnLst>
                                    </p:cTn>
                                  </p:par>
                                  <p:par>
                                    <p:cTn id="103" presetID="12" presetClass="entr" presetSubtype="1" fill="hold" grpId="0" nodeType="withEffect">
                                      <p:stCondLst>
                                        <p:cond delay="0"/>
                                      </p:stCondLst>
                                      <p:childTnLst>
                                        <p:set>
                                          <p:cBhvr>
                                            <p:cTn id="104" dur="1" fill="hold">
                                              <p:stCondLst>
                                                <p:cond delay="0"/>
                                              </p:stCondLst>
                                            </p:cTn>
                                            <p:tgtEl>
                                              <p:spTgt spid="29"/>
                                            </p:tgtEl>
                                            <p:attrNameLst>
                                              <p:attrName>style.visibility</p:attrName>
                                            </p:attrNameLst>
                                          </p:cBhvr>
                                          <p:to>
                                            <p:strVal val="visible"/>
                                          </p:to>
                                        </p:set>
                                        <p:anim calcmode="lin" valueType="num">
                                          <p:cBhvr additive="base">
                                            <p:cTn id="105" dur="500"/>
                                            <p:tgtEl>
                                              <p:spTgt spid="29"/>
                                            </p:tgtEl>
                                            <p:attrNameLst>
                                              <p:attrName>ppt_y</p:attrName>
                                            </p:attrNameLst>
                                          </p:cBhvr>
                                          <p:tavLst>
                                            <p:tav tm="0">
                                              <p:val>
                                                <p:strVal val="#ppt_y-#ppt_h*1.125000"/>
                                              </p:val>
                                            </p:tav>
                                            <p:tav tm="100000">
                                              <p:val>
                                                <p:strVal val="#ppt_y"/>
                                              </p:val>
                                            </p:tav>
                                          </p:tavLst>
                                        </p:anim>
                                        <p:animEffect transition="in" filter="wipe(down)">
                                          <p:cBhvr>
                                            <p:cTn id="106" dur="500"/>
                                            <p:tgtEl>
                                              <p:spTgt spid="29"/>
                                            </p:tgtEl>
                                          </p:cBhvr>
                                        </p:animEffect>
                                      </p:childTnLst>
                                    </p:cTn>
                                  </p:par>
                                  <p:par>
                                    <p:cTn id="107" presetID="12" presetClass="entr" presetSubtype="1" fill="hold" grpId="0" nodeType="withEffect">
                                      <p:stCondLst>
                                        <p:cond delay="0"/>
                                      </p:stCondLst>
                                      <p:childTnLst>
                                        <p:set>
                                          <p:cBhvr>
                                            <p:cTn id="108" dur="1" fill="hold">
                                              <p:stCondLst>
                                                <p:cond delay="0"/>
                                              </p:stCondLst>
                                            </p:cTn>
                                            <p:tgtEl>
                                              <p:spTgt spid="30"/>
                                            </p:tgtEl>
                                            <p:attrNameLst>
                                              <p:attrName>style.visibility</p:attrName>
                                            </p:attrNameLst>
                                          </p:cBhvr>
                                          <p:to>
                                            <p:strVal val="visible"/>
                                          </p:to>
                                        </p:set>
                                        <p:anim calcmode="lin" valueType="num">
                                          <p:cBhvr additive="base">
                                            <p:cTn id="109" dur="500"/>
                                            <p:tgtEl>
                                              <p:spTgt spid="30"/>
                                            </p:tgtEl>
                                            <p:attrNameLst>
                                              <p:attrName>ppt_y</p:attrName>
                                            </p:attrNameLst>
                                          </p:cBhvr>
                                          <p:tavLst>
                                            <p:tav tm="0">
                                              <p:val>
                                                <p:strVal val="#ppt_y-#ppt_h*1.125000"/>
                                              </p:val>
                                            </p:tav>
                                            <p:tav tm="100000">
                                              <p:val>
                                                <p:strVal val="#ppt_y"/>
                                              </p:val>
                                            </p:tav>
                                          </p:tavLst>
                                        </p:anim>
                                        <p:animEffect transition="in" filter="wipe(down)">
                                          <p:cBhvr>
                                            <p:cTn id="110" dur="500"/>
                                            <p:tgtEl>
                                              <p:spTgt spid="30"/>
                                            </p:tgtEl>
                                          </p:cBhvr>
                                        </p:animEffect>
                                      </p:childTnLst>
                                    </p:cTn>
                                  </p:par>
                                  <p:par>
                                    <p:cTn id="111" presetID="12" presetClass="entr" presetSubtype="1" fill="hold" grpId="0" nodeType="withEffect">
                                      <p:stCondLst>
                                        <p:cond delay="0"/>
                                      </p:stCondLst>
                                      <p:childTnLst>
                                        <p:set>
                                          <p:cBhvr>
                                            <p:cTn id="112" dur="1" fill="hold">
                                              <p:stCondLst>
                                                <p:cond delay="0"/>
                                              </p:stCondLst>
                                            </p:cTn>
                                            <p:tgtEl>
                                              <p:spTgt spid="31"/>
                                            </p:tgtEl>
                                            <p:attrNameLst>
                                              <p:attrName>style.visibility</p:attrName>
                                            </p:attrNameLst>
                                          </p:cBhvr>
                                          <p:to>
                                            <p:strVal val="visible"/>
                                          </p:to>
                                        </p:set>
                                        <p:anim calcmode="lin" valueType="num">
                                          <p:cBhvr additive="base">
                                            <p:cTn id="113" dur="500"/>
                                            <p:tgtEl>
                                              <p:spTgt spid="31"/>
                                            </p:tgtEl>
                                            <p:attrNameLst>
                                              <p:attrName>ppt_y</p:attrName>
                                            </p:attrNameLst>
                                          </p:cBhvr>
                                          <p:tavLst>
                                            <p:tav tm="0">
                                              <p:val>
                                                <p:strVal val="#ppt_y-#ppt_h*1.125000"/>
                                              </p:val>
                                            </p:tav>
                                            <p:tav tm="100000">
                                              <p:val>
                                                <p:strVal val="#ppt_y"/>
                                              </p:val>
                                            </p:tav>
                                          </p:tavLst>
                                        </p:anim>
                                        <p:animEffect transition="in" filter="wipe(down)">
                                          <p:cBhvr>
                                            <p:cTn id="114" dur="500"/>
                                            <p:tgtEl>
                                              <p:spTgt spid="31"/>
                                            </p:tgtEl>
                                          </p:cBhvr>
                                        </p:animEffect>
                                      </p:childTnLst>
                                    </p:cTn>
                                  </p:par>
                                  <p:par>
                                    <p:cTn id="115" presetID="12" presetClass="entr" presetSubtype="1" fill="hold" grpId="0" nodeType="withEffect">
                                      <p:stCondLst>
                                        <p:cond delay="0"/>
                                      </p:stCondLst>
                                      <p:childTnLst>
                                        <p:set>
                                          <p:cBhvr>
                                            <p:cTn id="116" dur="1" fill="hold">
                                              <p:stCondLst>
                                                <p:cond delay="0"/>
                                              </p:stCondLst>
                                            </p:cTn>
                                            <p:tgtEl>
                                              <p:spTgt spid="32"/>
                                            </p:tgtEl>
                                            <p:attrNameLst>
                                              <p:attrName>style.visibility</p:attrName>
                                            </p:attrNameLst>
                                          </p:cBhvr>
                                          <p:to>
                                            <p:strVal val="visible"/>
                                          </p:to>
                                        </p:set>
                                        <p:anim calcmode="lin" valueType="num">
                                          <p:cBhvr additive="base">
                                            <p:cTn id="117" dur="500"/>
                                            <p:tgtEl>
                                              <p:spTgt spid="32"/>
                                            </p:tgtEl>
                                            <p:attrNameLst>
                                              <p:attrName>ppt_y</p:attrName>
                                            </p:attrNameLst>
                                          </p:cBhvr>
                                          <p:tavLst>
                                            <p:tav tm="0">
                                              <p:val>
                                                <p:strVal val="#ppt_y-#ppt_h*1.125000"/>
                                              </p:val>
                                            </p:tav>
                                            <p:tav tm="100000">
                                              <p:val>
                                                <p:strVal val="#ppt_y"/>
                                              </p:val>
                                            </p:tav>
                                          </p:tavLst>
                                        </p:anim>
                                        <p:animEffect transition="in" filter="wipe(down)">
                                          <p:cBhvr>
                                            <p:cTn id="118" dur="500"/>
                                            <p:tgtEl>
                                              <p:spTgt spid="32"/>
                                            </p:tgtEl>
                                          </p:cBhvr>
                                        </p:animEffect>
                                      </p:childTnLst>
                                    </p:cTn>
                                  </p:par>
                                  <p:par>
                                    <p:cTn id="119" presetID="12" presetClass="entr" presetSubtype="1" fill="hold" grpId="0" nodeType="withEffect">
                                      <p:stCondLst>
                                        <p:cond delay="0"/>
                                      </p:stCondLst>
                                      <p:childTnLst>
                                        <p:set>
                                          <p:cBhvr>
                                            <p:cTn id="120" dur="1" fill="hold">
                                              <p:stCondLst>
                                                <p:cond delay="0"/>
                                              </p:stCondLst>
                                            </p:cTn>
                                            <p:tgtEl>
                                              <p:spTgt spid="33"/>
                                            </p:tgtEl>
                                            <p:attrNameLst>
                                              <p:attrName>style.visibility</p:attrName>
                                            </p:attrNameLst>
                                          </p:cBhvr>
                                          <p:to>
                                            <p:strVal val="visible"/>
                                          </p:to>
                                        </p:set>
                                        <p:anim calcmode="lin" valueType="num">
                                          <p:cBhvr additive="base">
                                            <p:cTn id="121" dur="500"/>
                                            <p:tgtEl>
                                              <p:spTgt spid="33"/>
                                            </p:tgtEl>
                                            <p:attrNameLst>
                                              <p:attrName>ppt_y</p:attrName>
                                            </p:attrNameLst>
                                          </p:cBhvr>
                                          <p:tavLst>
                                            <p:tav tm="0">
                                              <p:val>
                                                <p:strVal val="#ppt_y-#ppt_h*1.125000"/>
                                              </p:val>
                                            </p:tav>
                                            <p:tav tm="100000">
                                              <p:val>
                                                <p:strVal val="#ppt_y"/>
                                              </p:val>
                                            </p:tav>
                                          </p:tavLst>
                                        </p:anim>
                                        <p:animEffect transition="in" filter="wipe(down)">
                                          <p:cBhvr>
                                            <p:cTn id="122" dur="500"/>
                                            <p:tgtEl>
                                              <p:spTgt spid="33"/>
                                            </p:tgtEl>
                                          </p:cBhvr>
                                        </p:animEffect>
                                      </p:childTnLst>
                                    </p:cTn>
                                  </p:par>
                                  <p:par>
                                    <p:cTn id="123" presetID="12" presetClass="entr" presetSubtype="1" fill="hold" grpId="0" nodeType="withEffect">
                                      <p:stCondLst>
                                        <p:cond delay="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p:tgtEl>
                                              <p:spTgt spid="34"/>
                                            </p:tgtEl>
                                            <p:attrNameLst>
                                              <p:attrName>ppt_y</p:attrName>
                                            </p:attrNameLst>
                                          </p:cBhvr>
                                          <p:tavLst>
                                            <p:tav tm="0">
                                              <p:val>
                                                <p:strVal val="#ppt_y-#ppt_h*1.125000"/>
                                              </p:val>
                                            </p:tav>
                                            <p:tav tm="100000">
                                              <p:val>
                                                <p:strVal val="#ppt_y"/>
                                              </p:val>
                                            </p:tav>
                                          </p:tavLst>
                                        </p:anim>
                                        <p:animEffect transition="in" filter="wipe(down)">
                                          <p:cBhvr>
                                            <p:cTn id="126" dur="500"/>
                                            <p:tgtEl>
                                              <p:spTgt spid="34"/>
                                            </p:tgtEl>
                                          </p:cBhvr>
                                        </p:animEffect>
                                      </p:childTnLst>
                                    </p:cTn>
                                  </p:par>
                                  <p:par>
                                    <p:cTn id="127" presetID="12" presetClass="entr" presetSubtype="4" fill="hold" grpId="0" nodeType="withEffect">
                                      <p:stCondLst>
                                        <p:cond delay="0"/>
                                      </p:stCondLst>
                                      <p:childTnLst>
                                        <p:set>
                                          <p:cBhvr>
                                            <p:cTn id="128" dur="1" fill="hold">
                                              <p:stCondLst>
                                                <p:cond delay="0"/>
                                              </p:stCondLst>
                                            </p:cTn>
                                            <p:tgtEl>
                                              <p:spTgt spid="50"/>
                                            </p:tgtEl>
                                            <p:attrNameLst>
                                              <p:attrName>style.visibility</p:attrName>
                                            </p:attrNameLst>
                                          </p:cBhvr>
                                          <p:to>
                                            <p:strVal val="visible"/>
                                          </p:to>
                                        </p:set>
                                        <p:anim calcmode="lin" valueType="num">
                                          <p:cBhvr additive="base">
                                            <p:cTn id="129" dur="500"/>
                                            <p:tgtEl>
                                              <p:spTgt spid="50"/>
                                            </p:tgtEl>
                                            <p:attrNameLst>
                                              <p:attrName>ppt_y</p:attrName>
                                            </p:attrNameLst>
                                          </p:cBhvr>
                                          <p:tavLst>
                                            <p:tav tm="0">
                                              <p:val>
                                                <p:strVal val="#ppt_y+#ppt_h*1.125000"/>
                                              </p:val>
                                            </p:tav>
                                            <p:tav tm="100000">
                                              <p:val>
                                                <p:strVal val="#ppt_y"/>
                                              </p:val>
                                            </p:tav>
                                          </p:tavLst>
                                        </p:anim>
                                        <p:animEffect transition="in" filter="wipe(up)">
                                          <p:cBhvr>
                                            <p:cTn id="130" dur="500"/>
                                            <p:tgtEl>
                                              <p:spTgt spid="50"/>
                                            </p:tgtEl>
                                          </p:cBhvr>
                                        </p:animEffect>
                                      </p:childTnLst>
                                    </p:cTn>
                                  </p:par>
                                  <p:par>
                                    <p:cTn id="131" presetID="12" presetClass="entr" presetSubtype="4" fill="hold" grpId="0" nodeType="withEffect">
                                      <p:stCondLst>
                                        <p:cond delay="0"/>
                                      </p:stCondLst>
                                      <p:childTnLst>
                                        <p:set>
                                          <p:cBhvr>
                                            <p:cTn id="132" dur="1" fill="hold">
                                              <p:stCondLst>
                                                <p:cond delay="0"/>
                                              </p:stCondLst>
                                            </p:cTn>
                                            <p:tgtEl>
                                              <p:spTgt spid="49"/>
                                            </p:tgtEl>
                                            <p:attrNameLst>
                                              <p:attrName>style.visibility</p:attrName>
                                            </p:attrNameLst>
                                          </p:cBhvr>
                                          <p:to>
                                            <p:strVal val="visible"/>
                                          </p:to>
                                        </p:set>
                                        <p:anim calcmode="lin" valueType="num">
                                          <p:cBhvr additive="base">
                                            <p:cTn id="133" dur="500"/>
                                            <p:tgtEl>
                                              <p:spTgt spid="49"/>
                                            </p:tgtEl>
                                            <p:attrNameLst>
                                              <p:attrName>ppt_y</p:attrName>
                                            </p:attrNameLst>
                                          </p:cBhvr>
                                          <p:tavLst>
                                            <p:tav tm="0">
                                              <p:val>
                                                <p:strVal val="#ppt_y+#ppt_h*1.125000"/>
                                              </p:val>
                                            </p:tav>
                                            <p:tav tm="100000">
                                              <p:val>
                                                <p:strVal val="#ppt_y"/>
                                              </p:val>
                                            </p:tav>
                                          </p:tavLst>
                                        </p:anim>
                                        <p:animEffect transition="in" filter="wipe(up)">
                                          <p:cBhvr>
                                            <p:cTn id="134" dur="500"/>
                                            <p:tgtEl>
                                              <p:spTgt spid="49"/>
                                            </p:tgtEl>
                                          </p:cBhvr>
                                        </p:animEffect>
                                      </p:childTnLst>
                                    </p:cTn>
                                  </p:par>
                                  <p:par>
                                    <p:cTn id="135" presetID="12" presetClass="entr" presetSubtype="4" fill="hold" grpId="0" nodeType="withEffect">
                                      <p:stCondLst>
                                        <p:cond delay="0"/>
                                      </p:stCondLst>
                                      <p:childTnLst>
                                        <p:set>
                                          <p:cBhvr>
                                            <p:cTn id="136" dur="1" fill="hold">
                                              <p:stCondLst>
                                                <p:cond delay="0"/>
                                              </p:stCondLst>
                                            </p:cTn>
                                            <p:tgtEl>
                                              <p:spTgt spid="48"/>
                                            </p:tgtEl>
                                            <p:attrNameLst>
                                              <p:attrName>style.visibility</p:attrName>
                                            </p:attrNameLst>
                                          </p:cBhvr>
                                          <p:to>
                                            <p:strVal val="visible"/>
                                          </p:to>
                                        </p:set>
                                        <p:anim calcmode="lin" valueType="num">
                                          <p:cBhvr additive="base">
                                            <p:cTn id="137" dur="500"/>
                                            <p:tgtEl>
                                              <p:spTgt spid="48"/>
                                            </p:tgtEl>
                                            <p:attrNameLst>
                                              <p:attrName>ppt_y</p:attrName>
                                            </p:attrNameLst>
                                          </p:cBhvr>
                                          <p:tavLst>
                                            <p:tav tm="0">
                                              <p:val>
                                                <p:strVal val="#ppt_y+#ppt_h*1.125000"/>
                                              </p:val>
                                            </p:tav>
                                            <p:tav tm="100000">
                                              <p:val>
                                                <p:strVal val="#ppt_y"/>
                                              </p:val>
                                            </p:tav>
                                          </p:tavLst>
                                        </p:anim>
                                        <p:animEffect transition="in" filter="wipe(up)">
                                          <p:cBhvr>
                                            <p:cTn id="138" dur="500"/>
                                            <p:tgtEl>
                                              <p:spTgt spid="48"/>
                                            </p:tgtEl>
                                          </p:cBhvr>
                                        </p:animEffect>
                                      </p:childTnLst>
                                    </p:cTn>
                                  </p:par>
                                  <p:par>
                                    <p:cTn id="139" presetID="12" presetClass="entr" presetSubtype="4" fill="hold" grpId="0" nodeType="withEffect">
                                      <p:stCondLst>
                                        <p:cond delay="0"/>
                                      </p:stCondLst>
                                      <p:childTnLst>
                                        <p:set>
                                          <p:cBhvr>
                                            <p:cTn id="140" dur="1" fill="hold">
                                              <p:stCondLst>
                                                <p:cond delay="0"/>
                                              </p:stCondLst>
                                            </p:cTn>
                                            <p:tgtEl>
                                              <p:spTgt spid="47"/>
                                            </p:tgtEl>
                                            <p:attrNameLst>
                                              <p:attrName>style.visibility</p:attrName>
                                            </p:attrNameLst>
                                          </p:cBhvr>
                                          <p:to>
                                            <p:strVal val="visible"/>
                                          </p:to>
                                        </p:set>
                                        <p:anim calcmode="lin" valueType="num">
                                          <p:cBhvr additive="base">
                                            <p:cTn id="141" dur="500"/>
                                            <p:tgtEl>
                                              <p:spTgt spid="47"/>
                                            </p:tgtEl>
                                            <p:attrNameLst>
                                              <p:attrName>ppt_y</p:attrName>
                                            </p:attrNameLst>
                                          </p:cBhvr>
                                          <p:tavLst>
                                            <p:tav tm="0">
                                              <p:val>
                                                <p:strVal val="#ppt_y+#ppt_h*1.125000"/>
                                              </p:val>
                                            </p:tav>
                                            <p:tav tm="100000">
                                              <p:val>
                                                <p:strVal val="#ppt_y"/>
                                              </p:val>
                                            </p:tav>
                                          </p:tavLst>
                                        </p:anim>
                                        <p:animEffect transition="in" filter="wipe(up)">
                                          <p:cBhvr>
                                            <p:cTn id="142" dur="500"/>
                                            <p:tgtEl>
                                              <p:spTgt spid="47"/>
                                            </p:tgtEl>
                                          </p:cBhvr>
                                        </p:animEffect>
                                      </p:childTnLst>
                                    </p:cTn>
                                  </p:par>
                                  <p:par>
                                    <p:cTn id="143" presetID="12" presetClass="entr" presetSubtype="4" fill="hold" grpId="0" nodeType="withEffect">
                                      <p:stCondLst>
                                        <p:cond delay="0"/>
                                      </p:stCondLst>
                                      <p:childTnLst>
                                        <p:set>
                                          <p:cBhvr>
                                            <p:cTn id="144" dur="1" fill="hold">
                                              <p:stCondLst>
                                                <p:cond delay="0"/>
                                              </p:stCondLst>
                                            </p:cTn>
                                            <p:tgtEl>
                                              <p:spTgt spid="46"/>
                                            </p:tgtEl>
                                            <p:attrNameLst>
                                              <p:attrName>style.visibility</p:attrName>
                                            </p:attrNameLst>
                                          </p:cBhvr>
                                          <p:to>
                                            <p:strVal val="visible"/>
                                          </p:to>
                                        </p:set>
                                        <p:anim calcmode="lin" valueType="num">
                                          <p:cBhvr additive="base">
                                            <p:cTn id="145" dur="500"/>
                                            <p:tgtEl>
                                              <p:spTgt spid="46"/>
                                            </p:tgtEl>
                                            <p:attrNameLst>
                                              <p:attrName>ppt_y</p:attrName>
                                            </p:attrNameLst>
                                          </p:cBhvr>
                                          <p:tavLst>
                                            <p:tav tm="0">
                                              <p:val>
                                                <p:strVal val="#ppt_y+#ppt_h*1.125000"/>
                                              </p:val>
                                            </p:tav>
                                            <p:tav tm="100000">
                                              <p:val>
                                                <p:strVal val="#ppt_y"/>
                                              </p:val>
                                            </p:tav>
                                          </p:tavLst>
                                        </p:anim>
                                        <p:animEffect transition="in" filter="wipe(up)">
                                          <p:cBhvr>
                                            <p:cTn id="146" dur="500"/>
                                            <p:tgtEl>
                                              <p:spTgt spid="46"/>
                                            </p:tgtEl>
                                          </p:cBhvr>
                                        </p:animEffect>
                                      </p:childTnLst>
                                    </p:cTn>
                                  </p:par>
                                  <p:par>
                                    <p:cTn id="147" presetID="12" presetClass="entr" presetSubtype="4" fill="hold" grpId="0" nodeType="withEffect">
                                      <p:stCondLst>
                                        <p:cond delay="0"/>
                                      </p:stCondLst>
                                      <p:childTnLst>
                                        <p:set>
                                          <p:cBhvr>
                                            <p:cTn id="148" dur="1" fill="hold">
                                              <p:stCondLst>
                                                <p:cond delay="0"/>
                                              </p:stCondLst>
                                            </p:cTn>
                                            <p:tgtEl>
                                              <p:spTgt spid="45"/>
                                            </p:tgtEl>
                                            <p:attrNameLst>
                                              <p:attrName>style.visibility</p:attrName>
                                            </p:attrNameLst>
                                          </p:cBhvr>
                                          <p:to>
                                            <p:strVal val="visible"/>
                                          </p:to>
                                        </p:set>
                                        <p:anim calcmode="lin" valueType="num">
                                          <p:cBhvr additive="base">
                                            <p:cTn id="149" dur="500"/>
                                            <p:tgtEl>
                                              <p:spTgt spid="45"/>
                                            </p:tgtEl>
                                            <p:attrNameLst>
                                              <p:attrName>ppt_y</p:attrName>
                                            </p:attrNameLst>
                                          </p:cBhvr>
                                          <p:tavLst>
                                            <p:tav tm="0">
                                              <p:val>
                                                <p:strVal val="#ppt_y+#ppt_h*1.125000"/>
                                              </p:val>
                                            </p:tav>
                                            <p:tav tm="100000">
                                              <p:val>
                                                <p:strVal val="#ppt_y"/>
                                              </p:val>
                                            </p:tav>
                                          </p:tavLst>
                                        </p:anim>
                                        <p:animEffect transition="in" filter="wipe(up)">
                                          <p:cBhvr>
                                            <p:cTn id="150" dur="500"/>
                                            <p:tgtEl>
                                              <p:spTgt spid="45"/>
                                            </p:tgtEl>
                                          </p:cBhvr>
                                        </p:animEffect>
                                      </p:childTnLst>
                                    </p:cTn>
                                  </p:par>
                                  <p:par>
                                    <p:cTn id="151" presetID="12" presetClass="entr" presetSubtype="4" fill="hold" grpId="0" nodeType="withEffect">
                                      <p:stCondLst>
                                        <p:cond delay="0"/>
                                      </p:stCondLst>
                                      <p:childTnLst>
                                        <p:set>
                                          <p:cBhvr>
                                            <p:cTn id="152" dur="1" fill="hold">
                                              <p:stCondLst>
                                                <p:cond delay="0"/>
                                              </p:stCondLst>
                                            </p:cTn>
                                            <p:tgtEl>
                                              <p:spTgt spid="44"/>
                                            </p:tgtEl>
                                            <p:attrNameLst>
                                              <p:attrName>style.visibility</p:attrName>
                                            </p:attrNameLst>
                                          </p:cBhvr>
                                          <p:to>
                                            <p:strVal val="visible"/>
                                          </p:to>
                                        </p:set>
                                        <p:anim calcmode="lin" valueType="num">
                                          <p:cBhvr additive="base">
                                            <p:cTn id="153" dur="500"/>
                                            <p:tgtEl>
                                              <p:spTgt spid="44"/>
                                            </p:tgtEl>
                                            <p:attrNameLst>
                                              <p:attrName>ppt_y</p:attrName>
                                            </p:attrNameLst>
                                          </p:cBhvr>
                                          <p:tavLst>
                                            <p:tav tm="0">
                                              <p:val>
                                                <p:strVal val="#ppt_y+#ppt_h*1.125000"/>
                                              </p:val>
                                            </p:tav>
                                            <p:tav tm="100000">
                                              <p:val>
                                                <p:strVal val="#ppt_y"/>
                                              </p:val>
                                            </p:tav>
                                          </p:tavLst>
                                        </p:anim>
                                        <p:animEffect transition="in" filter="wipe(up)">
                                          <p:cBhvr>
                                            <p:cTn id="154" dur="500"/>
                                            <p:tgtEl>
                                              <p:spTgt spid="44"/>
                                            </p:tgtEl>
                                          </p:cBhvr>
                                        </p:animEffect>
                                      </p:childTnLst>
                                    </p:cTn>
                                  </p:par>
                                  <p:par>
                                    <p:cTn id="155" presetID="12" presetClass="entr" presetSubtype="4" fill="hold" grpId="0" nodeType="withEffect">
                                      <p:stCondLst>
                                        <p:cond delay="0"/>
                                      </p:stCondLst>
                                      <p:childTnLst>
                                        <p:set>
                                          <p:cBhvr>
                                            <p:cTn id="156" dur="1" fill="hold">
                                              <p:stCondLst>
                                                <p:cond delay="0"/>
                                              </p:stCondLst>
                                            </p:cTn>
                                            <p:tgtEl>
                                              <p:spTgt spid="43"/>
                                            </p:tgtEl>
                                            <p:attrNameLst>
                                              <p:attrName>style.visibility</p:attrName>
                                            </p:attrNameLst>
                                          </p:cBhvr>
                                          <p:to>
                                            <p:strVal val="visible"/>
                                          </p:to>
                                        </p:set>
                                        <p:anim calcmode="lin" valueType="num">
                                          <p:cBhvr additive="base">
                                            <p:cTn id="157" dur="500"/>
                                            <p:tgtEl>
                                              <p:spTgt spid="43"/>
                                            </p:tgtEl>
                                            <p:attrNameLst>
                                              <p:attrName>ppt_y</p:attrName>
                                            </p:attrNameLst>
                                          </p:cBhvr>
                                          <p:tavLst>
                                            <p:tav tm="0">
                                              <p:val>
                                                <p:strVal val="#ppt_y+#ppt_h*1.125000"/>
                                              </p:val>
                                            </p:tav>
                                            <p:tav tm="100000">
                                              <p:val>
                                                <p:strVal val="#ppt_y"/>
                                              </p:val>
                                            </p:tav>
                                          </p:tavLst>
                                        </p:anim>
                                        <p:animEffect transition="in" filter="wipe(up)">
                                          <p:cBhvr>
                                            <p:cTn id="158" dur="500"/>
                                            <p:tgtEl>
                                              <p:spTgt spid="43"/>
                                            </p:tgtEl>
                                          </p:cBhvr>
                                        </p:animEffect>
                                      </p:childTnLst>
                                    </p:cTn>
                                  </p:par>
                                  <p:par>
                                    <p:cTn id="159" presetID="12" presetClass="entr" presetSubtype="4" fill="hold" grpId="0" nodeType="withEffect">
                                      <p:stCondLst>
                                        <p:cond delay="0"/>
                                      </p:stCondLst>
                                      <p:childTnLst>
                                        <p:set>
                                          <p:cBhvr>
                                            <p:cTn id="160" dur="1" fill="hold">
                                              <p:stCondLst>
                                                <p:cond delay="0"/>
                                              </p:stCondLst>
                                            </p:cTn>
                                            <p:tgtEl>
                                              <p:spTgt spid="42"/>
                                            </p:tgtEl>
                                            <p:attrNameLst>
                                              <p:attrName>style.visibility</p:attrName>
                                            </p:attrNameLst>
                                          </p:cBhvr>
                                          <p:to>
                                            <p:strVal val="visible"/>
                                          </p:to>
                                        </p:set>
                                        <p:anim calcmode="lin" valueType="num">
                                          <p:cBhvr additive="base">
                                            <p:cTn id="161" dur="500"/>
                                            <p:tgtEl>
                                              <p:spTgt spid="42"/>
                                            </p:tgtEl>
                                            <p:attrNameLst>
                                              <p:attrName>ppt_y</p:attrName>
                                            </p:attrNameLst>
                                          </p:cBhvr>
                                          <p:tavLst>
                                            <p:tav tm="0">
                                              <p:val>
                                                <p:strVal val="#ppt_y+#ppt_h*1.125000"/>
                                              </p:val>
                                            </p:tav>
                                            <p:tav tm="100000">
                                              <p:val>
                                                <p:strVal val="#ppt_y"/>
                                              </p:val>
                                            </p:tav>
                                          </p:tavLst>
                                        </p:anim>
                                        <p:animEffect transition="in" filter="wipe(up)">
                                          <p:cBhvr>
                                            <p:cTn id="162" dur="500"/>
                                            <p:tgtEl>
                                              <p:spTgt spid="42"/>
                                            </p:tgtEl>
                                          </p:cBhvr>
                                        </p:animEffect>
                                      </p:childTnLst>
                                    </p:cTn>
                                  </p:par>
                                  <p:par>
                                    <p:cTn id="163" presetID="12" presetClass="entr" presetSubtype="4" fill="hold" grpId="0" nodeType="withEffect">
                                      <p:stCondLst>
                                        <p:cond delay="0"/>
                                      </p:stCondLst>
                                      <p:childTnLst>
                                        <p:set>
                                          <p:cBhvr>
                                            <p:cTn id="164" dur="1" fill="hold">
                                              <p:stCondLst>
                                                <p:cond delay="0"/>
                                              </p:stCondLst>
                                            </p:cTn>
                                            <p:tgtEl>
                                              <p:spTgt spid="41"/>
                                            </p:tgtEl>
                                            <p:attrNameLst>
                                              <p:attrName>style.visibility</p:attrName>
                                            </p:attrNameLst>
                                          </p:cBhvr>
                                          <p:to>
                                            <p:strVal val="visible"/>
                                          </p:to>
                                        </p:set>
                                        <p:anim calcmode="lin" valueType="num">
                                          <p:cBhvr additive="base">
                                            <p:cTn id="165" dur="500"/>
                                            <p:tgtEl>
                                              <p:spTgt spid="41"/>
                                            </p:tgtEl>
                                            <p:attrNameLst>
                                              <p:attrName>ppt_y</p:attrName>
                                            </p:attrNameLst>
                                          </p:cBhvr>
                                          <p:tavLst>
                                            <p:tav tm="0">
                                              <p:val>
                                                <p:strVal val="#ppt_y+#ppt_h*1.125000"/>
                                              </p:val>
                                            </p:tav>
                                            <p:tav tm="100000">
                                              <p:val>
                                                <p:strVal val="#ppt_y"/>
                                              </p:val>
                                            </p:tav>
                                          </p:tavLst>
                                        </p:anim>
                                        <p:animEffect transition="in" filter="wipe(up)">
                                          <p:cBhvr>
                                            <p:cTn id="166" dur="500"/>
                                            <p:tgtEl>
                                              <p:spTgt spid="41"/>
                                            </p:tgtEl>
                                          </p:cBhvr>
                                        </p:animEffect>
                                      </p:childTnLst>
                                    </p:cTn>
                                  </p:par>
                                  <p:par>
                                    <p:cTn id="167" presetID="12" presetClass="entr" presetSubtype="4" fill="hold" grpId="0" nodeType="withEffect">
                                      <p:stCondLst>
                                        <p:cond delay="0"/>
                                      </p:stCondLst>
                                      <p:childTnLst>
                                        <p:set>
                                          <p:cBhvr>
                                            <p:cTn id="168" dur="1" fill="hold">
                                              <p:stCondLst>
                                                <p:cond delay="0"/>
                                              </p:stCondLst>
                                            </p:cTn>
                                            <p:tgtEl>
                                              <p:spTgt spid="40"/>
                                            </p:tgtEl>
                                            <p:attrNameLst>
                                              <p:attrName>style.visibility</p:attrName>
                                            </p:attrNameLst>
                                          </p:cBhvr>
                                          <p:to>
                                            <p:strVal val="visible"/>
                                          </p:to>
                                        </p:set>
                                        <p:anim calcmode="lin" valueType="num">
                                          <p:cBhvr additive="base">
                                            <p:cTn id="169" dur="500"/>
                                            <p:tgtEl>
                                              <p:spTgt spid="40"/>
                                            </p:tgtEl>
                                            <p:attrNameLst>
                                              <p:attrName>ppt_y</p:attrName>
                                            </p:attrNameLst>
                                          </p:cBhvr>
                                          <p:tavLst>
                                            <p:tav tm="0">
                                              <p:val>
                                                <p:strVal val="#ppt_y+#ppt_h*1.125000"/>
                                              </p:val>
                                            </p:tav>
                                            <p:tav tm="100000">
                                              <p:val>
                                                <p:strVal val="#ppt_y"/>
                                              </p:val>
                                            </p:tav>
                                          </p:tavLst>
                                        </p:anim>
                                        <p:animEffect transition="in" filter="wipe(up)">
                                          <p:cBhvr>
                                            <p:cTn id="170" dur="500"/>
                                            <p:tgtEl>
                                              <p:spTgt spid="40"/>
                                            </p:tgtEl>
                                          </p:cBhvr>
                                        </p:animEffect>
                                      </p:childTnLst>
                                    </p:cTn>
                                  </p:par>
                                  <p:par>
                                    <p:cTn id="171" presetID="12" presetClass="entr" presetSubtype="4" fill="hold" grpId="0" nodeType="withEffect">
                                      <p:stCondLst>
                                        <p:cond delay="0"/>
                                      </p:stCondLst>
                                      <p:childTnLst>
                                        <p:set>
                                          <p:cBhvr>
                                            <p:cTn id="172" dur="1" fill="hold">
                                              <p:stCondLst>
                                                <p:cond delay="0"/>
                                              </p:stCondLst>
                                            </p:cTn>
                                            <p:tgtEl>
                                              <p:spTgt spid="39"/>
                                            </p:tgtEl>
                                            <p:attrNameLst>
                                              <p:attrName>style.visibility</p:attrName>
                                            </p:attrNameLst>
                                          </p:cBhvr>
                                          <p:to>
                                            <p:strVal val="visible"/>
                                          </p:to>
                                        </p:set>
                                        <p:anim calcmode="lin" valueType="num">
                                          <p:cBhvr additive="base">
                                            <p:cTn id="173" dur="500"/>
                                            <p:tgtEl>
                                              <p:spTgt spid="39"/>
                                            </p:tgtEl>
                                            <p:attrNameLst>
                                              <p:attrName>ppt_y</p:attrName>
                                            </p:attrNameLst>
                                          </p:cBhvr>
                                          <p:tavLst>
                                            <p:tav tm="0">
                                              <p:val>
                                                <p:strVal val="#ppt_y+#ppt_h*1.125000"/>
                                              </p:val>
                                            </p:tav>
                                            <p:tav tm="100000">
                                              <p:val>
                                                <p:strVal val="#ppt_y"/>
                                              </p:val>
                                            </p:tav>
                                          </p:tavLst>
                                        </p:anim>
                                        <p:animEffect transition="in" filter="wipe(up)">
                                          <p:cBhvr>
                                            <p:cTn id="174" dur="500"/>
                                            <p:tgtEl>
                                              <p:spTgt spid="39"/>
                                            </p:tgtEl>
                                          </p:cBhvr>
                                        </p:animEffect>
                                      </p:childTnLst>
                                    </p:cTn>
                                  </p:par>
                                  <p:par>
                                    <p:cTn id="175" presetID="12" presetClass="entr" presetSubtype="4" fill="hold" grpId="0" nodeType="withEffect">
                                      <p:stCondLst>
                                        <p:cond delay="0"/>
                                      </p:stCondLst>
                                      <p:childTnLst>
                                        <p:set>
                                          <p:cBhvr>
                                            <p:cTn id="176" dur="1" fill="hold">
                                              <p:stCondLst>
                                                <p:cond delay="0"/>
                                              </p:stCondLst>
                                            </p:cTn>
                                            <p:tgtEl>
                                              <p:spTgt spid="38"/>
                                            </p:tgtEl>
                                            <p:attrNameLst>
                                              <p:attrName>style.visibility</p:attrName>
                                            </p:attrNameLst>
                                          </p:cBhvr>
                                          <p:to>
                                            <p:strVal val="visible"/>
                                          </p:to>
                                        </p:set>
                                        <p:anim calcmode="lin" valueType="num">
                                          <p:cBhvr additive="base">
                                            <p:cTn id="177" dur="500"/>
                                            <p:tgtEl>
                                              <p:spTgt spid="38"/>
                                            </p:tgtEl>
                                            <p:attrNameLst>
                                              <p:attrName>ppt_y</p:attrName>
                                            </p:attrNameLst>
                                          </p:cBhvr>
                                          <p:tavLst>
                                            <p:tav tm="0">
                                              <p:val>
                                                <p:strVal val="#ppt_y+#ppt_h*1.125000"/>
                                              </p:val>
                                            </p:tav>
                                            <p:tav tm="100000">
                                              <p:val>
                                                <p:strVal val="#ppt_y"/>
                                              </p:val>
                                            </p:tav>
                                          </p:tavLst>
                                        </p:anim>
                                        <p:animEffect transition="in" filter="wipe(up)">
                                          <p:cBhvr>
                                            <p:cTn id="178" dur="500"/>
                                            <p:tgtEl>
                                              <p:spTgt spid="38"/>
                                            </p:tgtEl>
                                          </p:cBhvr>
                                        </p:animEffect>
                                      </p:childTnLst>
                                    </p:cTn>
                                  </p:par>
                                  <p:par>
                                    <p:cTn id="179" presetID="12" presetClass="entr" presetSubtype="4" fill="hold" grpId="0" nodeType="withEffect">
                                      <p:stCondLst>
                                        <p:cond delay="0"/>
                                      </p:stCondLst>
                                      <p:childTnLst>
                                        <p:set>
                                          <p:cBhvr>
                                            <p:cTn id="180" dur="1" fill="hold">
                                              <p:stCondLst>
                                                <p:cond delay="0"/>
                                              </p:stCondLst>
                                            </p:cTn>
                                            <p:tgtEl>
                                              <p:spTgt spid="37"/>
                                            </p:tgtEl>
                                            <p:attrNameLst>
                                              <p:attrName>style.visibility</p:attrName>
                                            </p:attrNameLst>
                                          </p:cBhvr>
                                          <p:to>
                                            <p:strVal val="visible"/>
                                          </p:to>
                                        </p:set>
                                        <p:anim calcmode="lin" valueType="num">
                                          <p:cBhvr additive="base">
                                            <p:cTn id="181" dur="500"/>
                                            <p:tgtEl>
                                              <p:spTgt spid="37"/>
                                            </p:tgtEl>
                                            <p:attrNameLst>
                                              <p:attrName>ppt_y</p:attrName>
                                            </p:attrNameLst>
                                          </p:cBhvr>
                                          <p:tavLst>
                                            <p:tav tm="0">
                                              <p:val>
                                                <p:strVal val="#ppt_y+#ppt_h*1.125000"/>
                                              </p:val>
                                            </p:tav>
                                            <p:tav tm="100000">
                                              <p:val>
                                                <p:strVal val="#ppt_y"/>
                                              </p:val>
                                            </p:tav>
                                          </p:tavLst>
                                        </p:anim>
                                        <p:animEffect transition="in" filter="wipe(up)">
                                          <p:cBhvr>
                                            <p:cTn id="182" dur="500"/>
                                            <p:tgtEl>
                                              <p:spTgt spid="37"/>
                                            </p:tgtEl>
                                          </p:cBhvr>
                                        </p:animEffect>
                                      </p:childTnLst>
                                    </p:cTn>
                                  </p:par>
                                  <p:par>
                                    <p:cTn id="183" presetID="12" presetClass="entr" presetSubtype="4" fill="hold" grpId="0" nodeType="withEffect">
                                      <p:stCondLst>
                                        <p:cond delay="0"/>
                                      </p:stCondLst>
                                      <p:childTnLst>
                                        <p:set>
                                          <p:cBhvr>
                                            <p:cTn id="184" dur="1" fill="hold">
                                              <p:stCondLst>
                                                <p:cond delay="0"/>
                                              </p:stCondLst>
                                            </p:cTn>
                                            <p:tgtEl>
                                              <p:spTgt spid="36"/>
                                            </p:tgtEl>
                                            <p:attrNameLst>
                                              <p:attrName>style.visibility</p:attrName>
                                            </p:attrNameLst>
                                          </p:cBhvr>
                                          <p:to>
                                            <p:strVal val="visible"/>
                                          </p:to>
                                        </p:set>
                                        <p:anim calcmode="lin" valueType="num">
                                          <p:cBhvr additive="base">
                                            <p:cTn id="185" dur="500"/>
                                            <p:tgtEl>
                                              <p:spTgt spid="36"/>
                                            </p:tgtEl>
                                            <p:attrNameLst>
                                              <p:attrName>ppt_y</p:attrName>
                                            </p:attrNameLst>
                                          </p:cBhvr>
                                          <p:tavLst>
                                            <p:tav tm="0">
                                              <p:val>
                                                <p:strVal val="#ppt_y+#ppt_h*1.125000"/>
                                              </p:val>
                                            </p:tav>
                                            <p:tav tm="100000">
                                              <p:val>
                                                <p:strVal val="#ppt_y"/>
                                              </p:val>
                                            </p:tav>
                                          </p:tavLst>
                                        </p:anim>
                                        <p:animEffect transition="in" filter="wipe(up)">
                                          <p:cBhvr>
                                            <p:cTn id="186" dur="500"/>
                                            <p:tgtEl>
                                              <p:spTgt spid="36"/>
                                            </p:tgtEl>
                                          </p:cBhvr>
                                        </p:animEffect>
                                      </p:childTnLst>
                                    </p:cTn>
                                  </p:par>
                                  <p:par>
                                    <p:cTn id="187" presetID="12" presetClass="entr" presetSubtype="4" fill="hold" grpId="0" nodeType="withEffect">
                                      <p:stCondLst>
                                        <p:cond delay="0"/>
                                      </p:stCondLst>
                                      <p:childTnLst>
                                        <p:set>
                                          <p:cBhvr>
                                            <p:cTn id="188" dur="1" fill="hold">
                                              <p:stCondLst>
                                                <p:cond delay="0"/>
                                              </p:stCondLst>
                                            </p:cTn>
                                            <p:tgtEl>
                                              <p:spTgt spid="35"/>
                                            </p:tgtEl>
                                            <p:attrNameLst>
                                              <p:attrName>style.visibility</p:attrName>
                                            </p:attrNameLst>
                                          </p:cBhvr>
                                          <p:to>
                                            <p:strVal val="visible"/>
                                          </p:to>
                                        </p:set>
                                        <p:anim calcmode="lin" valueType="num">
                                          <p:cBhvr additive="base">
                                            <p:cTn id="189" dur="500"/>
                                            <p:tgtEl>
                                              <p:spTgt spid="35"/>
                                            </p:tgtEl>
                                            <p:attrNameLst>
                                              <p:attrName>ppt_y</p:attrName>
                                            </p:attrNameLst>
                                          </p:cBhvr>
                                          <p:tavLst>
                                            <p:tav tm="0">
                                              <p:val>
                                                <p:strVal val="#ppt_y+#ppt_h*1.125000"/>
                                              </p:val>
                                            </p:tav>
                                            <p:tav tm="100000">
                                              <p:val>
                                                <p:strVal val="#ppt_y"/>
                                              </p:val>
                                            </p:tav>
                                          </p:tavLst>
                                        </p:anim>
                                        <p:animEffect transition="in" filter="wipe(up)">
                                          <p:cBhvr>
                                            <p:cTn id="190" dur="500"/>
                                            <p:tgtEl>
                                              <p:spTgt spid="35"/>
                                            </p:tgtEl>
                                          </p:cBhvr>
                                        </p:animEffect>
                                      </p:childTnLst>
                                    </p:cTn>
                                  </p:par>
                                </p:childTnLst>
                              </p:cTn>
                            </p:par>
                          </p:childTnLst>
                        </p:cTn>
                      </p:par>
                      <p:par>
                        <p:cTn id="191" fill="hold">
                          <p:stCondLst>
                            <p:cond delay="indefinite"/>
                          </p:stCondLst>
                          <p:childTnLst>
                            <p:par>
                              <p:cTn id="192" fill="hold">
                                <p:stCondLst>
                                  <p:cond delay="0"/>
                                </p:stCondLst>
                                <p:childTnLst>
                                  <p:par>
                                    <p:cTn id="193" presetID="2" presetClass="entr" presetSubtype="4" fill="hold" grpId="2" nodeType="clickEffect">
                                      <p:stCondLst>
                                        <p:cond delay="0"/>
                                      </p:stCondLst>
                                      <p:childTnLst>
                                        <p:set>
                                          <p:cBhvr>
                                            <p:cTn id="194" dur="1" fill="hold">
                                              <p:stCondLst>
                                                <p:cond delay="0"/>
                                              </p:stCondLst>
                                            </p:cTn>
                                            <p:tgtEl>
                                              <p:spTgt spid="60"/>
                                            </p:tgtEl>
                                            <p:attrNameLst>
                                              <p:attrName>style.visibility</p:attrName>
                                            </p:attrNameLst>
                                          </p:cBhvr>
                                          <p:to>
                                            <p:strVal val="visible"/>
                                          </p:to>
                                        </p:set>
                                        <p:anim calcmode="lin" valueType="num">
                                          <p:cBhvr additive="base">
                                            <p:cTn id="195" dur="700" fill="hold"/>
                                            <p:tgtEl>
                                              <p:spTgt spid="60"/>
                                            </p:tgtEl>
                                            <p:attrNameLst>
                                              <p:attrName>ppt_x</p:attrName>
                                            </p:attrNameLst>
                                          </p:cBhvr>
                                          <p:tavLst>
                                            <p:tav tm="0">
                                              <p:val>
                                                <p:strVal val="#ppt_x"/>
                                              </p:val>
                                            </p:tav>
                                            <p:tav tm="100000">
                                              <p:val>
                                                <p:strVal val="#ppt_x"/>
                                              </p:val>
                                            </p:tav>
                                          </p:tavLst>
                                        </p:anim>
                                        <p:anim calcmode="lin" valueType="num">
                                          <p:cBhvr additive="base">
                                            <p:cTn id="196" dur="700" fill="hold"/>
                                            <p:tgtEl>
                                              <p:spTgt spid="60"/>
                                            </p:tgtEl>
                                            <p:attrNameLst>
                                              <p:attrName>ppt_y</p:attrName>
                                            </p:attrNameLst>
                                          </p:cBhvr>
                                          <p:tavLst>
                                            <p:tav tm="0">
                                              <p:val>
                                                <p:strVal val="1+#ppt_h/2"/>
                                              </p:val>
                                            </p:tav>
                                            <p:tav tm="100000">
                                              <p:val>
                                                <p:strVal val="#ppt_y"/>
                                              </p:val>
                                            </p:tav>
                                          </p:tavLst>
                                        </p:anim>
                                      </p:childTnLst>
                                    </p:cTn>
                                  </p:par>
                                  <p:par>
                                    <p:cTn id="197" presetID="2" presetClass="entr" presetSubtype="4" fill="hold" grpId="2" nodeType="withEffect">
                                      <p:stCondLst>
                                        <p:cond delay="0"/>
                                      </p:stCondLst>
                                      <p:childTnLst>
                                        <p:set>
                                          <p:cBhvr>
                                            <p:cTn id="198" dur="1" fill="hold">
                                              <p:stCondLst>
                                                <p:cond delay="0"/>
                                              </p:stCondLst>
                                            </p:cTn>
                                            <p:tgtEl>
                                              <p:spTgt spid="59"/>
                                            </p:tgtEl>
                                            <p:attrNameLst>
                                              <p:attrName>style.visibility</p:attrName>
                                            </p:attrNameLst>
                                          </p:cBhvr>
                                          <p:to>
                                            <p:strVal val="visible"/>
                                          </p:to>
                                        </p:set>
                                        <p:anim calcmode="lin" valueType="num">
                                          <p:cBhvr additive="base">
                                            <p:cTn id="199" dur="700" fill="hold"/>
                                            <p:tgtEl>
                                              <p:spTgt spid="59"/>
                                            </p:tgtEl>
                                            <p:attrNameLst>
                                              <p:attrName>ppt_x</p:attrName>
                                            </p:attrNameLst>
                                          </p:cBhvr>
                                          <p:tavLst>
                                            <p:tav tm="0">
                                              <p:val>
                                                <p:strVal val="#ppt_x"/>
                                              </p:val>
                                            </p:tav>
                                            <p:tav tm="100000">
                                              <p:val>
                                                <p:strVal val="#ppt_x"/>
                                              </p:val>
                                            </p:tav>
                                          </p:tavLst>
                                        </p:anim>
                                        <p:anim calcmode="lin" valueType="num">
                                          <p:cBhvr additive="base">
                                            <p:cTn id="200" dur="700" fill="hold"/>
                                            <p:tgtEl>
                                              <p:spTgt spid="59"/>
                                            </p:tgtEl>
                                            <p:attrNameLst>
                                              <p:attrName>ppt_y</p:attrName>
                                            </p:attrNameLst>
                                          </p:cBhvr>
                                          <p:tavLst>
                                            <p:tav tm="0">
                                              <p:val>
                                                <p:strVal val="1+#ppt_h/2"/>
                                              </p:val>
                                            </p:tav>
                                            <p:tav tm="100000">
                                              <p:val>
                                                <p:strVal val="#ppt_y"/>
                                              </p:val>
                                            </p:tav>
                                          </p:tavLst>
                                        </p:anim>
                                      </p:childTnLst>
                                    </p:cTn>
                                  </p:par>
                                  <p:par>
                                    <p:cTn id="201" presetID="2" presetClass="entr" presetSubtype="4" fill="hold" grpId="0" nodeType="withEffect">
                                      <p:stCondLst>
                                        <p:cond delay="0"/>
                                      </p:stCondLst>
                                      <p:childTnLst>
                                        <p:set>
                                          <p:cBhvr>
                                            <p:cTn id="202" dur="1" fill="hold">
                                              <p:stCondLst>
                                                <p:cond delay="0"/>
                                              </p:stCondLst>
                                            </p:cTn>
                                            <p:tgtEl>
                                              <p:spTgt spid="58"/>
                                            </p:tgtEl>
                                            <p:attrNameLst>
                                              <p:attrName>style.visibility</p:attrName>
                                            </p:attrNameLst>
                                          </p:cBhvr>
                                          <p:to>
                                            <p:strVal val="visible"/>
                                          </p:to>
                                        </p:set>
                                        <p:anim calcmode="lin" valueType="num">
                                          <p:cBhvr additive="base">
                                            <p:cTn id="203" dur="700" fill="hold"/>
                                            <p:tgtEl>
                                              <p:spTgt spid="58"/>
                                            </p:tgtEl>
                                            <p:attrNameLst>
                                              <p:attrName>ppt_x</p:attrName>
                                            </p:attrNameLst>
                                          </p:cBhvr>
                                          <p:tavLst>
                                            <p:tav tm="0">
                                              <p:val>
                                                <p:strVal val="#ppt_x"/>
                                              </p:val>
                                            </p:tav>
                                            <p:tav tm="100000">
                                              <p:val>
                                                <p:strVal val="#ppt_x"/>
                                              </p:val>
                                            </p:tav>
                                          </p:tavLst>
                                        </p:anim>
                                        <p:anim calcmode="lin" valueType="num">
                                          <p:cBhvr additive="base">
                                            <p:cTn id="204" dur="7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205" fill="hold">
                          <p:stCondLst>
                            <p:cond delay="indefinite"/>
                          </p:stCondLst>
                          <p:childTnLst>
                            <p:par>
                              <p:cTn id="206" fill="hold">
                                <p:stCondLst>
                                  <p:cond delay="0"/>
                                </p:stCondLst>
                                <p:childTnLst>
                                  <p:par>
                                    <p:cTn id="207" presetID="2" presetClass="entr" presetSubtype="2" fill="hold" grpId="0" nodeType="clickEffect">
                                      <p:stCondLst>
                                        <p:cond delay="0"/>
                                      </p:stCondLst>
                                      <p:childTnLst>
                                        <p:set>
                                          <p:cBhvr>
                                            <p:cTn id="208" dur="1" fill="hold">
                                              <p:stCondLst>
                                                <p:cond delay="0"/>
                                              </p:stCondLst>
                                            </p:cTn>
                                            <p:tgtEl>
                                              <p:spTgt spid="51"/>
                                            </p:tgtEl>
                                            <p:attrNameLst>
                                              <p:attrName>style.visibility</p:attrName>
                                            </p:attrNameLst>
                                          </p:cBhvr>
                                          <p:to>
                                            <p:strVal val="visible"/>
                                          </p:to>
                                        </p:set>
                                        <p:anim calcmode="lin" valueType="num">
                                          <p:cBhvr additive="base">
                                            <p:cTn id="209" dur="700" fill="hold"/>
                                            <p:tgtEl>
                                              <p:spTgt spid="51"/>
                                            </p:tgtEl>
                                            <p:attrNameLst>
                                              <p:attrName>ppt_x</p:attrName>
                                            </p:attrNameLst>
                                          </p:cBhvr>
                                          <p:tavLst>
                                            <p:tav tm="0">
                                              <p:val>
                                                <p:strVal val="1+#ppt_w/2"/>
                                              </p:val>
                                            </p:tav>
                                            <p:tav tm="100000">
                                              <p:val>
                                                <p:strVal val="#ppt_x"/>
                                              </p:val>
                                            </p:tav>
                                          </p:tavLst>
                                        </p:anim>
                                        <p:anim calcmode="lin" valueType="num">
                                          <p:cBhvr additive="base">
                                            <p:cTn id="210" dur="700" fill="hold"/>
                                            <p:tgtEl>
                                              <p:spTgt spid="51"/>
                                            </p:tgtEl>
                                            <p:attrNameLst>
                                              <p:attrName>ppt_y</p:attrName>
                                            </p:attrNameLst>
                                          </p:cBhvr>
                                          <p:tavLst>
                                            <p:tav tm="0">
                                              <p:val>
                                                <p:strVal val="#ppt_y"/>
                                              </p:val>
                                            </p:tav>
                                            <p:tav tm="100000">
                                              <p:val>
                                                <p:strVal val="#ppt_y"/>
                                              </p:val>
                                            </p:tav>
                                          </p:tavLst>
                                        </p:anim>
                                      </p:childTnLst>
                                    </p:cTn>
                                  </p:par>
                                </p:childTnLst>
                              </p:cTn>
                            </p:par>
                            <p:par>
                              <p:cTn id="211" fill="hold">
                                <p:stCondLst>
                                  <p:cond delay="700"/>
                                </p:stCondLst>
                                <p:childTnLst>
                                  <p:par>
                                    <p:cTn id="212" presetID="22" presetClass="entr" presetSubtype="2" fill="hold" grpId="0" nodeType="afterEffect">
                                      <p:stCondLst>
                                        <p:cond delay="0"/>
                                      </p:stCondLst>
                                      <p:childTnLst>
                                        <p:set>
                                          <p:cBhvr>
                                            <p:cTn id="213" dur="1" fill="hold">
                                              <p:stCondLst>
                                                <p:cond delay="0"/>
                                              </p:stCondLst>
                                            </p:cTn>
                                            <p:tgtEl>
                                              <p:spTgt spid="57"/>
                                            </p:tgtEl>
                                            <p:attrNameLst>
                                              <p:attrName>style.visibility</p:attrName>
                                            </p:attrNameLst>
                                          </p:cBhvr>
                                          <p:to>
                                            <p:strVal val="visible"/>
                                          </p:to>
                                        </p:set>
                                        <p:animEffect transition="in" filter="wipe(right)">
                                          <p:cBhvr>
                                            <p:cTn id="214" dur="500"/>
                                            <p:tgtEl>
                                              <p:spTgt spid="57"/>
                                            </p:tgtEl>
                                          </p:cBhvr>
                                        </p:animEffect>
                                      </p:childTnLst>
                                    </p:cTn>
                                  </p:par>
                                </p:childTnLst>
                              </p:cTn>
                            </p:par>
                          </p:childTnLst>
                        </p:cTn>
                      </p:par>
                      <p:par>
                        <p:cTn id="215" fill="hold">
                          <p:stCondLst>
                            <p:cond delay="indefinite"/>
                          </p:stCondLst>
                          <p:childTnLst>
                            <p:par>
                              <p:cTn id="216" fill="hold">
                                <p:stCondLst>
                                  <p:cond delay="0"/>
                                </p:stCondLst>
                                <p:childTnLst>
                                  <p:par>
                                    <p:cTn id="217" presetID="42" presetClass="path" presetSubtype="0" fill="hold" grpId="0" nodeType="clickEffect">
                                      <p:stCondLst>
                                        <p:cond delay="0"/>
                                      </p:stCondLst>
                                      <p:childTnLst>
                                        <p:animMotion origin="layout" path="M -1.38889E-6 2.35657E-6 L -0.16684 -0.12369 " pathEditMode="relative" rAng="0" ptsTypes="AA">
                                          <p:cBhvr>
                                            <p:cTn id="218" dur="1000" fill="hold"/>
                                            <p:tgtEl>
                                              <p:spTgt spid="60"/>
                                            </p:tgtEl>
                                            <p:attrNameLst>
                                              <p:attrName>ppt_x</p:attrName>
                                              <p:attrName>ppt_y</p:attrName>
                                            </p:attrNameLst>
                                          </p:cBhvr>
                                          <p:rCtr x="-8351" y="-6200"/>
                                        </p:animMotion>
                                      </p:childTnLst>
                                    </p:cTn>
                                  </p:par>
                                  <p:par>
                                    <p:cTn id="219" presetID="42" presetClass="path" presetSubtype="0" fill="hold" grpId="0" nodeType="withEffect">
                                      <p:stCondLst>
                                        <p:cond delay="0"/>
                                      </p:stCondLst>
                                      <p:childTnLst>
                                        <p:animMotion origin="layout" path="M 4.16667E-6 2.35657E-6 L -0.22379 -0.12369 " pathEditMode="relative" rAng="0" ptsTypes="AA">
                                          <p:cBhvr>
                                            <p:cTn id="220" dur="1000" fill="hold"/>
                                            <p:tgtEl>
                                              <p:spTgt spid="59"/>
                                            </p:tgtEl>
                                            <p:attrNameLst>
                                              <p:attrName>ppt_x</p:attrName>
                                              <p:attrName>ppt_y</p:attrName>
                                            </p:attrNameLst>
                                          </p:cBhvr>
                                          <p:rCtr x="-11198" y="-6200"/>
                                        </p:animMotion>
                                      </p:childTnLst>
                                    </p:cTn>
                                  </p:par>
                                </p:childTnLst>
                              </p:cTn>
                            </p:par>
                            <p:par>
                              <p:cTn id="221" fill="hold">
                                <p:stCondLst>
                                  <p:cond delay="1000"/>
                                </p:stCondLst>
                                <p:childTnLst>
                                  <p:par>
                                    <p:cTn id="222" presetID="1" presetClass="exit" presetSubtype="0" fill="hold" grpId="1" nodeType="afterEffect">
                                      <p:stCondLst>
                                        <p:cond delay="0"/>
                                      </p:stCondLst>
                                      <p:childTnLst>
                                        <p:set>
                                          <p:cBhvr>
                                            <p:cTn id="223" dur="1" fill="hold">
                                              <p:stCondLst>
                                                <p:cond delay="0"/>
                                              </p:stCondLst>
                                            </p:cTn>
                                            <p:tgtEl>
                                              <p:spTgt spid="60"/>
                                            </p:tgtEl>
                                            <p:attrNameLst>
                                              <p:attrName>style.visibility</p:attrName>
                                            </p:attrNameLst>
                                          </p:cBhvr>
                                          <p:to>
                                            <p:strVal val="hidden"/>
                                          </p:to>
                                        </p:set>
                                      </p:childTnLst>
                                    </p:cTn>
                                  </p:par>
                                </p:childTnLst>
                              </p:cTn>
                            </p:par>
                            <p:par>
                              <p:cTn id="224" fill="hold">
                                <p:stCondLst>
                                  <p:cond delay="1000"/>
                                </p:stCondLst>
                                <p:childTnLst>
                                  <p:par>
                                    <p:cTn id="225" presetID="1" presetClass="exit" presetSubtype="0" fill="hold" grpId="1" nodeType="afterEffect">
                                      <p:stCondLst>
                                        <p:cond delay="0"/>
                                      </p:stCondLst>
                                      <p:childTnLst>
                                        <p:set>
                                          <p:cBhvr>
                                            <p:cTn id="226" dur="1" fill="hold">
                                              <p:stCondLst>
                                                <p:cond delay="0"/>
                                              </p:stCondLst>
                                            </p:cTn>
                                            <p:tgtEl>
                                              <p:spTgt spid="59"/>
                                            </p:tgtEl>
                                            <p:attrNameLst>
                                              <p:attrName>style.visibility</p:attrName>
                                            </p:attrNameLst>
                                          </p:cBhvr>
                                          <p:to>
                                            <p:strVal val="hidden"/>
                                          </p:to>
                                        </p:set>
                                      </p:childTnLst>
                                    </p:cTn>
                                  </p:par>
                                </p:childTnLst>
                              </p:cTn>
                            </p:par>
                          </p:childTnLst>
                        </p:cTn>
                      </p:par>
                      <p:par>
                        <p:cTn id="227" fill="hold">
                          <p:stCondLst>
                            <p:cond delay="indefinite"/>
                          </p:stCondLst>
                          <p:childTnLst>
                            <p:par>
                              <p:cTn id="228" fill="hold">
                                <p:stCondLst>
                                  <p:cond delay="0"/>
                                </p:stCondLst>
                                <p:childTnLst>
                                  <p:par>
                                    <p:cTn id="229" presetID="12" presetClass="entr" presetSubtype="4" fill="hold" grpId="0" nodeType="clickEffect">
                                      <p:stCondLst>
                                        <p:cond delay="0"/>
                                      </p:stCondLst>
                                      <p:childTnLst>
                                        <p:set>
                                          <p:cBhvr>
                                            <p:cTn id="230" dur="1" fill="hold">
                                              <p:stCondLst>
                                                <p:cond delay="0"/>
                                              </p:stCondLst>
                                            </p:cTn>
                                            <p:tgtEl>
                                              <p:spTgt spid="61"/>
                                            </p:tgtEl>
                                            <p:attrNameLst>
                                              <p:attrName>style.visibility</p:attrName>
                                            </p:attrNameLst>
                                          </p:cBhvr>
                                          <p:to>
                                            <p:strVal val="visible"/>
                                          </p:to>
                                        </p:set>
                                        <p:anim calcmode="lin" valueType="num">
                                          <p:cBhvr additive="base">
                                            <p:cTn id="231" dur="500"/>
                                            <p:tgtEl>
                                              <p:spTgt spid="61"/>
                                            </p:tgtEl>
                                            <p:attrNameLst>
                                              <p:attrName>ppt_y</p:attrName>
                                            </p:attrNameLst>
                                          </p:cBhvr>
                                          <p:tavLst>
                                            <p:tav tm="0">
                                              <p:val>
                                                <p:strVal val="#ppt_y+#ppt_h*1.125000"/>
                                              </p:val>
                                            </p:tav>
                                            <p:tav tm="100000">
                                              <p:val>
                                                <p:strVal val="#ppt_y"/>
                                              </p:val>
                                            </p:tav>
                                          </p:tavLst>
                                        </p:anim>
                                        <p:animEffect transition="in" filter="wipe(up)">
                                          <p:cBhvr>
                                            <p:cTn id="232" dur="500"/>
                                            <p:tgtEl>
                                              <p:spTgt spid="61"/>
                                            </p:tgtEl>
                                          </p:cBhvr>
                                        </p:animEffect>
                                      </p:childTnLst>
                                    </p:cTn>
                                  </p:par>
                                </p:childTnLst>
                              </p:cTn>
                            </p:par>
                          </p:childTnLst>
                        </p:cTn>
                      </p:par>
                      <p:par>
                        <p:cTn id="233" fill="hold">
                          <p:stCondLst>
                            <p:cond delay="indefinite"/>
                          </p:stCondLst>
                          <p:childTnLst>
                            <p:par>
                              <p:cTn id="234" fill="hold">
                                <p:stCondLst>
                                  <p:cond delay="0"/>
                                </p:stCondLst>
                                <p:childTnLst>
                                  <p:par>
                                    <p:cTn id="235" presetID="22" presetClass="entr" presetSubtype="4" fill="hold" nodeType="clickEffect">
                                      <p:stCondLst>
                                        <p:cond delay="0"/>
                                      </p:stCondLst>
                                      <p:childTnLst>
                                        <p:set>
                                          <p:cBhvr>
                                            <p:cTn id="236" dur="1" fill="hold">
                                              <p:stCondLst>
                                                <p:cond delay="0"/>
                                              </p:stCondLst>
                                            </p:cTn>
                                            <p:tgtEl>
                                              <p:spTgt spid="52"/>
                                            </p:tgtEl>
                                            <p:attrNameLst>
                                              <p:attrName>style.visibility</p:attrName>
                                            </p:attrNameLst>
                                          </p:cBhvr>
                                          <p:to>
                                            <p:strVal val="visible"/>
                                          </p:to>
                                        </p:set>
                                        <p:animEffect transition="in" filter="wipe(down)">
                                          <p:cBhvr>
                                            <p:cTn id="23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animBg="1"/>
          <p:bldP spid="57" grpId="0"/>
          <p:bldP spid="58" grpId="0" animBg="1"/>
          <p:bldP spid="59" grpId="0"/>
          <p:bldP spid="59" grpId="1"/>
          <p:bldP spid="59" grpId="2"/>
          <p:bldP spid="60" grpId="0"/>
          <p:bldP spid="60" grpId="1"/>
          <p:bldP spid="60" grpId="2"/>
          <p:bldP spid="61" grpId="0" animBg="1"/>
        </p:bldLst>
      </p:timing>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ashmap">
            <a:extLst>
              <a:ext uri="{FF2B5EF4-FFF2-40B4-BE49-F238E27FC236}">
                <a16:creationId xmlns:a16="http://schemas.microsoft.com/office/drawing/2014/main" id="{AF08F25E-D229-A5D2-3718-BC609B768C0C}"/>
              </a:ext>
            </a:extLst>
          </p:cNvPr>
          <p:cNvSpPr>
            <a:spLocks noGrp="1"/>
          </p:cNvSpPr>
          <p:nvPr>
            <p:ph type="title"/>
          </p:nvPr>
        </p:nvSpPr>
        <p:spPr/>
        <p:txBody>
          <a:bodyPr/>
          <a:lstStyle/>
          <a:p>
            <a:r>
              <a:rPr lang="en-US" altLang="zh-CN" dirty="0"/>
              <a:t>HashMap</a:t>
            </a:r>
            <a:r>
              <a:rPr lang="zh-CN" altLang="en-US" dirty="0"/>
              <a:t>的底层原理</a:t>
            </a:r>
          </a:p>
        </p:txBody>
      </p:sp>
      <p:cxnSp>
        <p:nvCxnSpPr>
          <p:cNvPr id="3" name="直接连接符 2">
            <a:extLst>
              <a:ext uri="{FF2B5EF4-FFF2-40B4-BE49-F238E27FC236}">
                <a16:creationId xmlns:a16="http://schemas.microsoft.com/office/drawing/2014/main" id="{56958703-A5E3-74BE-84B5-B54D05ABF990}"/>
              </a:ext>
            </a:extLst>
          </p:cNvPr>
          <p:cNvCxnSpPr/>
          <p:nvPr/>
        </p:nvCxnSpPr>
        <p:spPr>
          <a:xfrm>
            <a:off x="924985" y="2171700"/>
            <a:ext cx="10805583" cy="0"/>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AFF6837C-F1F8-611C-3313-683318E0C5E3}"/>
              </a:ext>
            </a:extLst>
          </p:cNvPr>
          <p:cNvCxnSpPr/>
          <p:nvPr/>
        </p:nvCxnSpPr>
        <p:spPr>
          <a:xfrm>
            <a:off x="924985" y="2842684"/>
            <a:ext cx="10805583" cy="6349"/>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41D59102-413A-B1A7-B6E5-524B4584ED14}"/>
              </a:ext>
            </a:extLst>
          </p:cNvPr>
          <p:cNvSpPr/>
          <p:nvPr/>
        </p:nvSpPr>
        <p:spPr>
          <a:xfrm>
            <a:off x="10096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cxnSp>
        <p:nvCxnSpPr>
          <p:cNvPr id="6" name="直接连接符 5">
            <a:extLst>
              <a:ext uri="{FF2B5EF4-FFF2-40B4-BE49-F238E27FC236}">
                <a16:creationId xmlns:a16="http://schemas.microsoft.com/office/drawing/2014/main" id="{2DCA05F8-7F10-7B01-2DB3-26755AD38D7C}"/>
              </a:ext>
            </a:extLst>
          </p:cNvPr>
          <p:cNvCxnSpPr/>
          <p:nvPr/>
        </p:nvCxnSpPr>
        <p:spPr>
          <a:xfrm>
            <a:off x="22754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220D9C1D-A2CD-4A00-A10A-E81F48156D83}"/>
              </a:ext>
            </a:extLst>
          </p:cNvPr>
          <p:cNvSpPr/>
          <p:nvPr/>
        </p:nvSpPr>
        <p:spPr>
          <a:xfrm>
            <a:off x="167640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cxnSp>
        <p:nvCxnSpPr>
          <p:cNvPr id="8" name="直接连接符 7">
            <a:extLst>
              <a:ext uri="{FF2B5EF4-FFF2-40B4-BE49-F238E27FC236}">
                <a16:creationId xmlns:a16="http://schemas.microsoft.com/office/drawing/2014/main" id="{04AE0B85-757F-4F40-3C9E-6642028E3CF9}"/>
              </a:ext>
            </a:extLst>
          </p:cNvPr>
          <p:cNvCxnSpPr/>
          <p:nvPr/>
        </p:nvCxnSpPr>
        <p:spPr>
          <a:xfrm>
            <a:off x="2946400"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B528879-8163-70E9-9F6C-D03141283900}"/>
              </a:ext>
            </a:extLst>
          </p:cNvPr>
          <p:cNvCxnSpPr/>
          <p:nvPr/>
        </p:nvCxnSpPr>
        <p:spPr>
          <a:xfrm>
            <a:off x="49614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752261B-1A86-E392-B0DB-2A800079A31E}"/>
              </a:ext>
            </a:extLst>
          </p:cNvPr>
          <p:cNvCxnSpPr/>
          <p:nvPr/>
        </p:nvCxnSpPr>
        <p:spPr>
          <a:xfrm>
            <a:off x="56345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E5C01B27-39B9-563E-7B9B-FE2EE4053896}"/>
              </a:ext>
            </a:extLst>
          </p:cNvPr>
          <p:cNvCxnSpPr/>
          <p:nvPr/>
        </p:nvCxnSpPr>
        <p:spPr>
          <a:xfrm>
            <a:off x="6354233"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8B91A90-99B8-6654-17B7-443092D447C4}"/>
              </a:ext>
            </a:extLst>
          </p:cNvPr>
          <p:cNvCxnSpPr/>
          <p:nvPr/>
        </p:nvCxnSpPr>
        <p:spPr>
          <a:xfrm>
            <a:off x="7027333"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99C5051-5002-A5DB-6BF7-3ABCD3D463FF}"/>
              </a:ext>
            </a:extLst>
          </p:cNvPr>
          <p:cNvCxnSpPr/>
          <p:nvPr/>
        </p:nvCxnSpPr>
        <p:spPr>
          <a:xfrm>
            <a:off x="76983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DFAE8D2D-9824-4109-654A-74B737A705BC}"/>
              </a:ext>
            </a:extLst>
          </p:cNvPr>
          <p:cNvCxnSpPr/>
          <p:nvPr/>
        </p:nvCxnSpPr>
        <p:spPr>
          <a:xfrm>
            <a:off x="83714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0551429-D8CB-3A63-0D2E-91837CD85544}"/>
              </a:ext>
            </a:extLst>
          </p:cNvPr>
          <p:cNvCxnSpPr/>
          <p:nvPr/>
        </p:nvCxnSpPr>
        <p:spPr>
          <a:xfrm>
            <a:off x="9042400"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30B72C7-1EA1-1ED2-4AB6-B494B157D05B}"/>
              </a:ext>
            </a:extLst>
          </p:cNvPr>
          <p:cNvCxnSpPr/>
          <p:nvPr/>
        </p:nvCxnSpPr>
        <p:spPr>
          <a:xfrm>
            <a:off x="97133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8AC2E5C-BB95-455A-C58C-F118036D42A3}"/>
              </a:ext>
            </a:extLst>
          </p:cNvPr>
          <p:cNvCxnSpPr/>
          <p:nvPr/>
        </p:nvCxnSpPr>
        <p:spPr>
          <a:xfrm>
            <a:off x="103864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CC608EB-1A19-4D1B-FC17-535CE1FB5E28}"/>
              </a:ext>
            </a:extLst>
          </p:cNvPr>
          <p:cNvCxnSpPr/>
          <p:nvPr/>
        </p:nvCxnSpPr>
        <p:spPr>
          <a:xfrm>
            <a:off x="110574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9F1A3CA-245F-7A77-4769-CC6CAFEF07F1}"/>
              </a:ext>
            </a:extLst>
          </p:cNvPr>
          <p:cNvCxnSpPr/>
          <p:nvPr/>
        </p:nvCxnSpPr>
        <p:spPr>
          <a:xfrm>
            <a:off x="117305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0C89FEAD-A353-7631-2C16-60D39252C365}"/>
              </a:ext>
            </a:extLst>
          </p:cNvPr>
          <p:cNvSpPr/>
          <p:nvPr/>
        </p:nvSpPr>
        <p:spPr>
          <a:xfrm>
            <a:off x="23727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1" name="矩形 20">
            <a:extLst>
              <a:ext uri="{FF2B5EF4-FFF2-40B4-BE49-F238E27FC236}">
                <a16:creationId xmlns:a16="http://schemas.microsoft.com/office/drawing/2014/main" id="{C7DDBD6A-928F-FF71-26E5-02B06BA7D237}"/>
              </a:ext>
            </a:extLst>
          </p:cNvPr>
          <p:cNvSpPr/>
          <p:nvPr/>
        </p:nvSpPr>
        <p:spPr>
          <a:xfrm>
            <a:off x="30395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2" name="矩形 21">
            <a:extLst>
              <a:ext uri="{FF2B5EF4-FFF2-40B4-BE49-F238E27FC236}">
                <a16:creationId xmlns:a16="http://schemas.microsoft.com/office/drawing/2014/main" id="{3879B3AC-C1C6-BBAF-F3D0-7F916E4DA338}"/>
              </a:ext>
            </a:extLst>
          </p:cNvPr>
          <p:cNvSpPr/>
          <p:nvPr/>
        </p:nvSpPr>
        <p:spPr>
          <a:xfrm>
            <a:off x="3678767" y="2343152"/>
            <a:ext cx="502061" cy="307777"/>
          </a:xfrm>
          <a:prstGeom prst="rect">
            <a:avLst/>
          </a:prstGeom>
        </p:spPr>
        <p:txBody>
          <a:bodyPr wrap="none">
            <a:spAutoFit/>
          </a:bodyPr>
          <a:lstStyle/>
          <a:p>
            <a:pPr>
              <a:defRPr/>
            </a:pPr>
            <a:r>
              <a:rPr lang="en-US" altLang="zh-CN" sz="1400" dirty="0">
                <a:latin typeface="微软雅黑" panose="020B0503020204020204" pitchFamily="34" charset="-122"/>
                <a:ea typeface="微软雅黑" panose="020B0503020204020204" pitchFamily="34" charset="-122"/>
              </a:rPr>
              <a:t>null</a:t>
            </a:r>
            <a:endParaRPr lang="zh-CN" altLang="en-US" sz="1400" dirty="0">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DB7576E4-00E8-A2BB-A811-7E0C83EDA2F9}"/>
              </a:ext>
            </a:extLst>
          </p:cNvPr>
          <p:cNvSpPr/>
          <p:nvPr/>
        </p:nvSpPr>
        <p:spPr>
          <a:xfrm>
            <a:off x="43624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4" name="矩形 23">
            <a:extLst>
              <a:ext uri="{FF2B5EF4-FFF2-40B4-BE49-F238E27FC236}">
                <a16:creationId xmlns:a16="http://schemas.microsoft.com/office/drawing/2014/main" id="{A727D583-CB97-36F6-1F21-0E27030D09C0}"/>
              </a:ext>
            </a:extLst>
          </p:cNvPr>
          <p:cNvSpPr/>
          <p:nvPr/>
        </p:nvSpPr>
        <p:spPr>
          <a:xfrm>
            <a:off x="50588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5" name="矩形 24">
            <a:extLst>
              <a:ext uri="{FF2B5EF4-FFF2-40B4-BE49-F238E27FC236}">
                <a16:creationId xmlns:a16="http://schemas.microsoft.com/office/drawing/2014/main" id="{54605EA6-E5C4-9F53-0F67-5276276EB9F3}"/>
              </a:ext>
            </a:extLst>
          </p:cNvPr>
          <p:cNvSpPr/>
          <p:nvPr/>
        </p:nvSpPr>
        <p:spPr>
          <a:xfrm>
            <a:off x="57255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6" name="矩形 25">
            <a:extLst>
              <a:ext uri="{FF2B5EF4-FFF2-40B4-BE49-F238E27FC236}">
                <a16:creationId xmlns:a16="http://schemas.microsoft.com/office/drawing/2014/main" id="{350BD8F3-1EBA-6E5F-16E2-A8A34035A9BB}"/>
              </a:ext>
            </a:extLst>
          </p:cNvPr>
          <p:cNvSpPr/>
          <p:nvPr/>
        </p:nvSpPr>
        <p:spPr>
          <a:xfrm>
            <a:off x="64452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7" name="矩形 26">
            <a:extLst>
              <a:ext uri="{FF2B5EF4-FFF2-40B4-BE49-F238E27FC236}">
                <a16:creationId xmlns:a16="http://schemas.microsoft.com/office/drawing/2014/main" id="{01FEC3DB-7094-EAE0-6F8C-C32865D74D83}"/>
              </a:ext>
            </a:extLst>
          </p:cNvPr>
          <p:cNvSpPr/>
          <p:nvPr/>
        </p:nvSpPr>
        <p:spPr>
          <a:xfrm>
            <a:off x="71098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8" name="矩形 27">
            <a:extLst>
              <a:ext uri="{FF2B5EF4-FFF2-40B4-BE49-F238E27FC236}">
                <a16:creationId xmlns:a16="http://schemas.microsoft.com/office/drawing/2014/main" id="{FBC9AE71-1B1A-A5C8-4EB5-6947AB4922A8}"/>
              </a:ext>
            </a:extLst>
          </p:cNvPr>
          <p:cNvSpPr/>
          <p:nvPr/>
        </p:nvSpPr>
        <p:spPr>
          <a:xfrm>
            <a:off x="78083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9" name="矩形 28">
            <a:extLst>
              <a:ext uri="{FF2B5EF4-FFF2-40B4-BE49-F238E27FC236}">
                <a16:creationId xmlns:a16="http://schemas.microsoft.com/office/drawing/2014/main" id="{FEA2C813-CD81-110C-B1AD-943D058895BE}"/>
              </a:ext>
            </a:extLst>
          </p:cNvPr>
          <p:cNvSpPr/>
          <p:nvPr/>
        </p:nvSpPr>
        <p:spPr>
          <a:xfrm>
            <a:off x="8473018"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0" name="矩形 29">
            <a:extLst>
              <a:ext uri="{FF2B5EF4-FFF2-40B4-BE49-F238E27FC236}">
                <a16:creationId xmlns:a16="http://schemas.microsoft.com/office/drawing/2014/main" id="{E32AB7AD-5030-0AC5-A5CF-A4A6CD73776B}"/>
              </a:ext>
            </a:extLst>
          </p:cNvPr>
          <p:cNvSpPr/>
          <p:nvPr/>
        </p:nvSpPr>
        <p:spPr>
          <a:xfrm>
            <a:off x="913130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1" name="矩形 30">
            <a:extLst>
              <a:ext uri="{FF2B5EF4-FFF2-40B4-BE49-F238E27FC236}">
                <a16:creationId xmlns:a16="http://schemas.microsoft.com/office/drawing/2014/main" id="{38FAB158-6C12-E806-AA58-751371C4C955}"/>
              </a:ext>
            </a:extLst>
          </p:cNvPr>
          <p:cNvSpPr/>
          <p:nvPr/>
        </p:nvSpPr>
        <p:spPr>
          <a:xfrm>
            <a:off x="97959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2" name="矩形 31">
            <a:extLst>
              <a:ext uri="{FF2B5EF4-FFF2-40B4-BE49-F238E27FC236}">
                <a16:creationId xmlns:a16="http://schemas.microsoft.com/office/drawing/2014/main" id="{40EBFA96-BFF3-2474-87E8-3A454FB13944}"/>
              </a:ext>
            </a:extLst>
          </p:cNvPr>
          <p:cNvSpPr/>
          <p:nvPr/>
        </p:nvSpPr>
        <p:spPr>
          <a:xfrm>
            <a:off x="104944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3" name="矩形 32">
            <a:extLst>
              <a:ext uri="{FF2B5EF4-FFF2-40B4-BE49-F238E27FC236}">
                <a16:creationId xmlns:a16="http://schemas.microsoft.com/office/drawing/2014/main" id="{A7CEBD03-BAEE-EECB-3C41-F1ACC7EA8F19}"/>
              </a:ext>
            </a:extLst>
          </p:cNvPr>
          <p:cNvSpPr/>
          <p:nvPr/>
        </p:nvSpPr>
        <p:spPr>
          <a:xfrm>
            <a:off x="11159067"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4" name="矩形 33">
            <a:extLst>
              <a:ext uri="{FF2B5EF4-FFF2-40B4-BE49-F238E27FC236}">
                <a16:creationId xmlns:a16="http://schemas.microsoft.com/office/drawing/2014/main" id="{3BB80D08-4DD8-1DC7-682B-F223B9AD65A1}"/>
              </a:ext>
            </a:extLst>
          </p:cNvPr>
          <p:cNvSpPr/>
          <p:nvPr/>
        </p:nvSpPr>
        <p:spPr>
          <a:xfrm>
            <a:off x="1098551"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0</a:t>
            </a:r>
            <a:endParaRPr lang="zh-CN" altLang="en-US" sz="1400" dirty="0"/>
          </a:p>
        </p:txBody>
      </p:sp>
      <p:sp>
        <p:nvSpPr>
          <p:cNvPr id="35" name="矩形 34">
            <a:extLst>
              <a:ext uri="{FF2B5EF4-FFF2-40B4-BE49-F238E27FC236}">
                <a16:creationId xmlns:a16="http://schemas.microsoft.com/office/drawing/2014/main" id="{96BE1E69-C141-0396-E7E0-6BEAE3590CF9}"/>
              </a:ext>
            </a:extLst>
          </p:cNvPr>
          <p:cNvSpPr/>
          <p:nvPr/>
        </p:nvSpPr>
        <p:spPr>
          <a:xfrm>
            <a:off x="17631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a:t>
            </a:r>
            <a:endParaRPr lang="zh-CN" altLang="en-US" sz="1400" dirty="0"/>
          </a:p>
        </p:txBody>
      </p:sp>
      <p:sp>
        <p:nvSpPr>
          <p:cNvPr id="36" name="矩形 35">
            <a:extLst>
              <a:ext uri="{FF2B5EF4-FFF2-40B4-BE49-F238E27FC236}">
                <a16:creationId xmlns:a16="http://schemas.microsoft.com/office/drawing/2014/main" id="{BBFC6D64-C77F-C01D-C2A4-761DAEE98DBB}"/>
              </a:ext>
            </a:extLst>
          </p:cNvPr>
          <p:cNvSpPr/>
          <p:nvPr/>
        </p:nvSpPr>
        <p:spPr>
          <a:xfrm>
            <a:off x="24616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2</a:t>
            </a:r>
            <a:endParaRPr lang="zh-CN" altLang="en-US" sz="1400" dirty="0"/>
          </a:p>
        </p:txBody>
      </p:sp>
      <p:sp>
        <p:nvSpPr>
          <p:cNvPr id="37" name="矩形 36">
            <a:extLst>
              <a:ext uri="{FF2B5EF4-FFF2-40B4-BE49-F238E27FC236}">
                <a16:creationId xmlns:a16="http://schemas.microsoft.com/office/drawing/2014/main" id="{AFB69F05-2142-8FA1-C0C1-F95664245406}"/>
              </a:ext>
            </a:extLst>
          </p:cNvPr>
          <p:cNvSpPr/>
          <p:nvPr/>
        </p:nvSpPr>
        <p:spPr>
          <a:xfrm>
            <a:off x="3126318"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3</a:t>
            </a:r>
            <a:endParaRPr lang="zh-CN" altLang="en-US" sz="1400" dirty="0"/>
          </a:p>
        </p:txBody>
      </p:sp>
      <p:sp>
        <p:nvSpPr>
          <p:cNvPr id="38" name="矩形 37">
            <a:extLst>
              <a:ext uri="{FF2B5EF4-FFF2-40B4-BE49-F238E27FC236}">
                <a16:creationId xmlns:a16="http://schemas.microsoft.com/office/drawing/2014/main" id="{BD1172E2-706F-994E-2945-DF7E4C8CDF03}"/>
              </a:ext>
            </a:extLst>
          </p:cNvPr>
          <p:cNvSpPr/>
          <p:nvPr/>
        </p:nvSpPr>
        <p:spPr>
          <a:xfrm>
            <a:off x="3784600"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4</a:t>
            </a:r>
            <a:endParaRPr lang="zh-CN" altLang="en-US" sz="1400" dirty="0"/>
          </a:p>
        </p:txBody>
      </p:sp>
      <p:sp>
        <p:nvSpPr>
          <p:cNvPr id="39" name="矩形 38">
            <a:extLst>
              <a:ext uri="{FF2B5EF4-FFF2-40B4-BE49-F238E27FC236}">
                <a16:creationId xmlns:a16="http://schemas.microsoft.com/office/drawing/2014/main" id="{4B0D6518-23E0-3EFF-5A35-3C0A0D0570EA}"/>
              </a:ext>
            </a:extLst>
          </p:cNvPr>
          <p:cNvSpPr/>
          <p:nvPr/>
        </p:nvSpPr>
        <p:spPr>
          <a:xfrm>
            <a:off x="44492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5</a:t>
            </a:r>
            <a:endParaRPr lang="zh-CN" altLang="en-US" sz="1400" dirty="0"/>
          </a:p>
        </p:txBody>
      </p:sp>
      <p:sp>
        <p:nvSpPr>
          <p:cNvPr id="40" name="矩形 39">
            <a:extLst>
              <a:ext uri="{FF2B5EF4-FFF2-40B4-BE49-F238E27FC236}">
                <a16:creationId xmlns:a16="http://schemas.microsoft.com/office/drawing/2014/main" id="{F893903B-29C9-D849-AC67-5A7258C4CF87}"/>
              </a:ext>
            </a:extLst>
          </p:cNvPr>
          <p:cNvSpPr/>
          <p:nvPr/>
        </p:nvSpPr>
        <p:spPr>
          <a:xfrm>
            <a:off x="51477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6</a:t>
            </a:r>
            <a:endParaRPr lang="zh-CN" altLang="en-US" sz="1400" dirty="0"/>
          </a:p>
        </p:txBody>
      </p:sp>
      <p:sp>
        <p:nvSpPr>
          <p:cNvPr id="41" name="矩形 40">
            <a:extLst>
              <a:ext uri="{FF2B5EF4-FFF2-40B4-BE49-F238E27FC236}">
                <a16:creationId xmlns:a16="http://schemas.microsoft.com/office/drawing/2014/main" id="{FFDB0474-9891-5500-8BDC-17E27283A361}"/>
              </a:ext>
            </a:extLst>
          </p:cNvPr>
          <p:cNvSpPr/>
          <p:nvPr/>
        </p:nvSpPr>
        <p:spPr>
          <a:xfrm>
            <a:off x="5812367"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7</a:t>
            </a:r>
            <a:endParaRPr lang="zh-CN" altLang="en-US" sz="1400" dirty="0"/>
          </a:p>
        </p:txBody>
      </p:sp>
      <p:sp>
        <p:nvSpPr>
          <p:cNvPr id="42" name="矩形 41">
            <a:extLst>
              <a:ext uri="{FF2B5EF4-FFF2-40B4-BE49-F238E27FC236}">
                <a16:creationId xmlns:a16="http://schemas.microsoft.com/office/drawing/2014/main" id="{C9BF2DED-E27E-D0EE-28FA-35CA35F19CD9}"/>
              </a:ext>
            </a:extLst>
          </p:cNvPr>
          <p:cNvSpPr/>
          <p:nvPr/>
        </p:nvSpPr>
        <p:spPr>
          <a:xfrm>
            <a:off x="65320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8</a:t>
            </a:r>
            <a:endParaRPr lang="zh-CN" altLang="en-US" sz="1400" dirty="0"/>
          </a:p>
        </p:txBody>
      </p:sp>
      <p:sp>
        <p:nvSpPr>
          <p:cNvPr id="43" name="矩形 42">
            <a:extLst>
              <a:ext uri="{FF2B5EF4-FFF2-40B4-BE49-F238E27FC236}">
                <a16:creationId xmlns:a16="http://schemas.microsoft.com/office/drawing/2014/main" id="{13BE33A2-1FF8-04F3-8FC0-5E15CF38CBDB}"/>
              </a:ext>
            </a:extLst>
          </p:cNvPr>
          <p:cNvSpPr/>
          <p:nvPr/>
        </p:nvSpPr>
        <p:spPr>
          <a:xfrm>
            <a:off x="71987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9</a:t>
            </a:r>
            <a:endParaRPr lang="zh-CN" altLang="en-US" sz="1400" dirty="0"/>
          </a:p>
        </p:txBody>
      </p:sp>
      <p:sp>
        <p:nvSpPr>
          <p:cNvPr id="44" name="矩形 43">
            <a:extLst>
              <a:ext uri="{FF2B5EF4-FFF2-40B4-BE49-F238E27FC236}">
                <a16:creationId xmlns:a16="http://schemas.microsoft.com/office/drawing/2014/main" id="{DD2BD102-83C6-266F-1C4A-770E1D7A13A9}"/>
              </a:ext>
            </a:extLst>
          </p:cNvPr>
          <p:cNvSpPr/>
          <p:nvPr/>
        </p:nvSpPr>
        <p:spPr>
          <a:xfrm>
            <a:off x="7816851"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10</a:t>
            </a:r>
            <a:endParaRPr lang="zh-CN" altLang="en-US" sz="1400" dirty="0"/>
          </a:p>
        </p:txBody>
      </p:sp>
      <p:sp>
        <p:nvSpPr>
          <p:cNvPr id="45" name="矩形 44">
            <a:extLst>
              <a:ext uri="{FF2B5EF4-FFF2-40B4-BE49-F238E27FC236}">
                <a16:creationId xmlns:a16="http://schemas.microsoft.com/office/drawing/2014/main" id="{4FE47032-E633-F36D-1E66-56C0BE973E00}"/>
              </a:ext>
            </a:extLst>
          </p:cNvPr>
          <p:cNvSpPr/>
          <p:nvPr/>
        </p:nvSpPr>
        <p:spPr>
          <a:xfrm>
            <a:off x="8483600"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11</a:t>
            </a:r>
            <a:endParaRPr lang="zh-CN" altLang="en-US" sz="1400" dirty="0"/>
          </a:p>
        </p:txBody>
      </p:sp>
      <p:sp>
        <p:nvSpPr>
          <p:cNvPr id="46" name="矩形 45">
            <a:extLst>
              <a:ext uri="{FF2B5EF4-FFF2-40B4-BE49-F238E27FC236}">
                <a16:creationId xmlns:a16="http://schemas.microsoft.com/office/drawing/2014/main" id="{C2C6482B-07E5-C86F-228E-EFF79B382F5A}"/>
              </a:ext>
            </a:extLst>
          </p:cNvPr>
          <p:cNvSpPr/>
          <p:nvPr/>
        </p:nvSpPr>
        <p:spPr>
          <a:xfrm>
            <a:off x="9141884"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12</a:t>
            </a:r>
            <a:endParaRPr lang="zh-CN" altLang="en-US" sz="1400" dirty="0"/>
          </a:p>
        </p:txBody>
      </p:sp>
      <p:sp>
        <p:nvSpPr>
          <p:cNvPr id="47" name="矩形 46">
            <a:extLst>
              <a:ext uri="{FF2B5EF4-FFF2-40B4-BE49-F238E27FC236}">
                <a16:creationId xmlns:a16="http://schemas.microsoft.com/office/drawing/2014/main" id="{CAA2AF7D-3470-34FA-84F5-53BA7AA46084}"/>
              </a:ext>
            </a:extLst>
          </p:cNvPr>
          <p:cNvSpPr/>
          <p:nvPr/>
        </p:nvSpPr>
        <p:spPr>
          <a:xfrm>
            <a:off x="9806518"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13</a:t>
            </a:r>
            <a:endParaRPr lang="zh-CN" altLang="en-US" sz="1400" dirty="0"/>
          </a:p>
        </p:txBody>
      </p:sp>
      <p:sp>
        <p:nvSpPr>
          <p:cNvPr id="48" name="矩形 47">
            <a:extLst>
              <a:ext uri="{FF2B5EF4-FFF2-40B4-BE49-F238E27FC236}">
                <a16:creationId xmlns:a16="http://schemas.microsoft.com/office/drawing/2014/main" id="{F8149370-C8EA-DC81-79A3-1A480A008487}"/>
              </a:ext>
            </a:extLst>
          </p:cNvPr>
          <p:cNvSpPr/>
          <p:nvPr/>
        </p:nvSpPr>
        <p:spPr>
          <a:xfrm>
            <a:off x="10505018"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14</a:t>
            </a:r>
            <a:endParaRPr lang="zh-CN" altLang="en-US" sz="1400" dirty="0"/>
          </a:p>
        </p:txBody>
      </p:sp>
      <p:sp>
        <p:nvSpPr>
          <p:cNvPr id="49" name="矩形 48">
            <a:extLst>
              <a:ext uri="{FF2B5EF4-FFF2-40B4-BE49-F238E27FC236}">
                <a16:creationId xmlns:a16="http://schemas.microsoft.com/office/drawing/2014/main" id="{B7166258-E991-D031-E0C8-43353272242A}"/>
              </a:ext>
            </a:extLst>
          </p:cNvPr>
          <p:cNvSpPr/>
          <p:nvPr/>
        </p:nvSpPr>
        <p:spPr>
          <a:xfrm>
            <a:off x="11169651"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15</a:t>
            </a:r>
            <a:endParaRPr lang="zh-CN" altLang="en-US" sz="1400" dirty="0"/>
          </a:p>
        </p:txBody>
      </p:sp>
      <p:cxnSp>
        <p:nvCxnSpPr>
          <p:cNvPr id="52" name="直接连接符 51">
            <a:extLst>
              <a:ext uri="{FF2B5EF4-FFF2-40B4-BE49-F238E27FC236}">
                <a16:creationId xmlns:a16="http://schemas.microsoft.com/office/drawing/2014/main" id="{AA573A64-FC74-516F-5257-7B1D6CA888EB}"/>
              </a:ext>
            </a:extLst>
          </p:cNvPr>
          <p:cNvCxnSpPr/>
          <p:nvPr/>
        </p:nvCxnSpPr>
        <p:spPr>
          <a:xfrm>
            <a:off x="42904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5BF0F3A1-CB18-2874-BB8B-B9C4D4217E2D}"/>
              </a:ext>
            </a:extLst>
          </p:cNvPr>
          <p:cNvCxnSpPr/>
          <p:nvPr/>
        </p:nvCxnSpPr>
        <p:spPr>
          <a:xfrm>
            <a:off x="36173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6891966D-13E5-9A6D-8FD1-C0DA37255C3E}"/>
              </a:ext>
            </a:extLst>
          </p:cNvPr>
          <p:cNvCxnSpPr/>
          <p:nvPr/>
        </p:nvCxnSpPr>
        <p:spPr>
          <a:xfrm>
            <a:off x="9249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0FDA628-5016-5648-488A-5F8EC84D846D}"/>
              </a:ext>
            </a:extLst>
          </p:cNvPr>
          <p:cNvCxnSpPr/>
          <p:nvPr/>
        </p:nvCxnSpPr>
        <p:spPr>
          <a:xfrm>
            <a:off x="16023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圆角矩形 5">
            <a:extLst>
              <a:ext uri="{FF2B5EF4-FFF2-40B4-BE49-F238E27FC236}">
                <a16:creationId xmlns:a16="http://schemas.microsoft.com/office/drawing/2014/main" id="{292C5970-3E4B-594D-FDF0-D4AF4706271B}"/>
              </a:ext>
            </a:extLst>
          </p:cNvPr>
          <p:cNvSpPr>
            <a:spLocks noChangeArrowheads="1"/>
          </p:cNvSpPr>
          <p:nvPr/>
        </p:nvSpPr>
        <p:spPr bwMode="auto">
          <a:xfrm>
            <a:off x="12496801" y="3782736"/>
            <a:ext cx="3199919" cy="444791"/>
          </a:xfrm>
          <a:prstGeom prst="roundRect">
            <a:avLst>
              <a:gd name="adj" fmla="val 16667"/>
            </a:avLst>
          </a:prstGeom>
          <a:solidFill>
            <a:srgbClr val="C00000"/>
          </a:solidFill>
          <a:ln w="9525">
            <a:noFill/>
            <a:round/>
            <a:headEnd/>
            <a:tailEnd/>
          </a:ln>
          <a:effectLst>
            <a:outerShdw dist="63500" dir="5400000" algn="ctr" rotWithShape="0">
              <a:srgbClr val="000000">
                <a:alpha val="10999"/>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 typeface="Arial" pitchFamily="34" charset="0"/>
              <a:buNone/>
              <a:tabLst/>
              <a:defRPr/>
            </a:pP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利用键计算哈希值，跟值无关</a:t>
            </a:r>
            <a:endParaRPr kumimoji="0" lang="zh-CN" altLang="en-US" sz="1600" i="0" u="none" strike="noStrike" kern="0" cap="none" spc="0" normalizeH="0" baseline="0" noProof="0" dirty="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2" name="!!!a">
            <a:extLst>
              <a:ext uri="{FF2B5EF4-FFF2-40B4-BE49-F238E27FC236}">
                <a16:creationId xmlns:a16="http://schemas.microsoft.com/office/drawing/2014/main" id="{CE2613D5-F360-9E43-921A-1E641E69CAC5}"/>
              </a:ext>
            </a:extLst>
          </p:cNvPr>
          <p:cNvSpPr/>
          <p:nvPr/>
        </p:nvSpPr>
        <p:spPr>
          <a:xfrm>
            <a:off x="3706285" y="2281767"/>
            <a:ext cx="478367" cy="480484"/>
          </a:xfrm>
          <a:prstGeom prst="ellipse">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sp>
        <p:nvSpPr>
          <p:cNvPr id="63" name="!!!b">
            <a:extLst>
              <a:ext uri="{FF2B5EF4-FFF2-40B4-BE49-F238E27FC236}">
                <a16:creationId xmlns:a16="http://schemas.microsoft.com/office/drawing/2014/main" id="{BC564E54-D496-B506-47EA-4D7077300A29}"/>
              </a:ext>
            </a:extLst>
          </p:cNvPr>
          <p:cNvSpPr/>
          <p:nvPr/>
        </p:nvSpPr>
        <p:spPr>
          <a:xfrm>
            <a:off x="2222501" y="4097867"/>
            <a:ext cx="478367" cy="480484"/>
          </a:xfrm>
          <a:prstGeom prst="ellipse">
            <a:avLst/>
          </a:prstGeom>
          <a:solidFill>
            <a:srgbClr val="79A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cxnSp>
        <p:nvCxnSpPr>
          <p:cNvPr id="64" name="直接箭头连接符 63">
            <a:extLst>
              <a:ext uri="{FF2B5EF4-FFF2-40B4-BE49-F238E27FC236}">
                <a16:creationId xmlns:a16="http://schemas.microsoft.com/office/drawing/2014/main" id="{5B959C8F-ACF5-098F-F4B5-21DD5E52DED2}"/>
              </a:ext>
            </a:extLst>
          </p:cNvPr>
          <p:cNvCxnSpPr>
            <a:stCxn id="63" idx="7"/>
          </p:cNvCxnSpPr>
          <p:nvPr/>
        </p:nvCxnSpPr>
        <p:spPr>
          <a:xfrm flipV="1">
            <a:off x="2630813" y="2844801"/>
            <a:ext cx="1299019" cy="13234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5" name="!!!Map">
            <a:extLst>
              <a:ext uri="{FF2B5EF4-FFF2-40B4-BE49-F238E27FC236}">
                <a16:creationId xmlns:a16="http://schemas.microsoft.com/office/drawing/2014/main" id="{A8E4708D-AEFD-4178-3F3B-7F9333BE5B49}"/>
              </a:ext>
            </a:extLst>
          </p:cNvPr>
          <p:cNvSpPr>
            <a:spLocks noChangeArrowheads="1"/>
          </p:cNvSpPr>
          <p:nvPr/>
        </p:nvSpPr>
        <p:spPr bwMode="auto">
          <a:xfrm>
            <a:off x="1575333" y="5226128"/>
            <a:ext cx="1299513" cy="433115"/>
          </a:xfrm>
          <a:prstGeom prst="roundRect">
            <a:avLst>
              <a:gd name="adj" fmla="val 24210"/>
            </a:avLst>
          </a:prstGeom>
          <a:solidFill>
            <a:srgbClr val="0070C0"/>
          </a:solidFill>
          <a:ln w="9525">
            <a:noFill/>
            <a:round/>
            <a:headEnd/>
            <a:tailEnd/>
          </a:ln>
          <a:effectLst>
            <a:outerShdw dist="63500" dir="5400000" algn="ctr" rotWithShape="0">
              <a:srgbClr val="000000">
                <a:alpha val="10999"/>
              </a:srgbClr>
            </a:outerShdw>
          </a:effectLst>
        </p:spPr>
        <p:txBody>
          <a:bodyPr anchor="ctr"/>
          <a:lstStyle/>
          <a:p>
            <a:pPr lvl="0" algn="ctr">
              <a:defRPr/>
            </a:pPr>
            <a:r>
              <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以前</a:t>
            </a:r>
            <a:endPar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48931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wipe(down)">
                                          <p:cBhvr>
                                            <p:cTn id="11" dur="500"/>
                                            <p:tgtEl>
                                              <p:spTgt spid="64"/>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14:presetBounceEnd="42857">
                                      <p:stCondLst>
                                        <p:cond delay="0"/>
                                      </p:stCondLst>
                                      <p:childTnLst>
                                        <p:set>
                                          <p:cBhvr>
                                            <p:cTn id="15" dur="1" fill="hold">
                                              <p:stCondLst>
                                                <p:cond delay="0"/>
                                              </p:stCondLst>
                                            </p:cTn>
                                            <p:tgtEl>
                                              <p:spTgt spid="65"/>
                                            </p:tgtEl>
                                            <p:attrNameLst>
                                              <p:attrName>style.visibility</p:attrName>
                                            </p:attrNameLst>
                                          </p:cBhvr>
                                          <p:to>
                                            <p:strVal val="visible"/>
                                          </p:to>
                                        </p:set>
                                        <p:anim calcmode="lin" valueType="num" p14:bounceEnd="42857">
                                          <p:cBhvr additive="base">
                                            <p:cTn id="16" dur="700" fill="hold"/>
                                            <p:tgtEl>
                                              <p:spTgt spid="65"/>
                                            </p:tgtEl>
                                            <p:attrNameLst>
                                              <p:attrName>ppt_x</p:attrName>
                                            </p:attrNameLst>
                                          </p:cBhvr>
                                          <p:tavLst>
                                            <p:tav tm="0">
                                              <p:val>
                                                <p:strVal val="#ppt_x"/>
                                              </p:val>
                                            </p:tav>
                                            <p:tav tm="100000">
                                              <p:val>
                                                <p:strVal val="#ppt_x"/>
                                              </p:val>
                                            </p:tav>
                                          </p:tavLst>
                                        </p:anim>
                                        <p:anim calcmode="lin" valueType="num" p14:bounceEnd="42857">
                                          <p:cBhvr additive="base">
                                            <p:cTn id="17" dur="700" fill="hold"/>
                                            <p:tgtEl>
                                              <p:spTgt spid="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6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wipe(down)">
                                          <p:cBhvr>
                                            <p:cTn id="11" dur="500"/>
                                            <p:tgtEl>
                                              <p:spTgt spid="64"/>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65"/>
                                            </p:tgtEl>
                                            <p:attrNameLst>
                                              <p:attrName>style.visibility</p:attrName>
                                            </p:attrNameLst>
                                          </p:cBhvr>
                                          <p:to>
                                            <p:strVal val="visible"/>
                                          </p:to>
                                        </p:set>
                                        <p:anim calcmode="lin" valueType="num">
                                          <p:cBhvr additive="base">
                                            <p:cTn id="16" dur="700" fill="hold"/>
                                            <p:tgtEl>
                                              <p:spTgt spid="65"/>
                                            </p:tgtEl>
                                            <p:attrNameLst>
                                              <p:attrName>ppt_x</p:attrName>
                                            </p:attrNameLst>
                                          </p:cBhvr>
                                          <p:tavLst>
                                            <p:tav tm="0">
                                              <p:val>
                                                <p:strVal val="#ppt_x"/>
                                              </p:val>
                                            </p:tav>
                                            <p:tav tm="100000">
                                              <p:val>
                                                <p:strVal val="#ppt_x"/>
                                              </p:val>
                                            </p:tav>
                                          </p:tavLst>
                                        </p:anim>
                                        <p:anim calcmode="lin" valueType="num">
                                          <p:cBhvr additive="base">
                                            <p:cTn id="17" dur="700" fill="hold"/>
                                            <p:tgtEl>
                                              <p:spTgt spid="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65" grpId="0" animBg="1"/>
        </p:bldLst>
      </p:timing>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ashmap">
            <a:extLst>
              <a:ext uri="{FF2B5EF4-FFF2-40B4-BE49-F238E27FC236}">
                <a16:creationId xmlns:a16="http://schemas.microsoft.com/office/drawing/2014/main" id="{AF08F25E-D229-A5D2-3718-BC609B768C0C}"/>
              </a:ext>
            </a:extLst>
          </p:cNvPr>
          <p:cNvSpPr>
            <a:spLocks noGrp="1"/>
          </p:cNvSpPr>
          <p:nvPr>
            <p:ph type="title"/>
          </p:nvPr>
        </p:nvSpPr>
        <p:spPr/>
        <p:txBody>
          <a:bodyPr/>
          <a:lstStyle/>
          <a:p>
            <a:r>
              <a:rPr lang="en-US" altLang="zh-CN" dirty="0"/>
              <a:t>HashMap</a:t>
            </a:r>
            <a:r>
              <a:rPr lang="zh-CN" altLang="en-US" dirty="0"/>
              <a:t>的底层原理</a:t>
            </a:r>
          </a:p>
        </p:txBody>
      </p:sp>
      <p:cxnSp>
        <p:nvCxnSpPr>
          <p:cNvPr id="3" name="直接连接符 2">
            <a:extLst>
              <a:ext uri="{FF2B5EF4-FFF2-40B4-BE49-F238E27FC236}">
                <a16:creationId xmlns:a16="http://schemas.microsoft.com/office/drawing/2014/main" id="{EF6103A4-6478-A40A-1A38-4E5C68D2A2F9}"/>
              </a:ext>
            </a:extLst>
          </p:cNvPr>
          <p:cNvCxnSpPr/>
          <p:nvPr/>
        </p:nvCxnSpPr>
        <p:spPr>
          <a:xfrm>
            <a:off x="924985" y="2171700"/>
            <a:ext cx="10805583" cy="0"/>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D90F829D-F9BD-D33F-47CB-6D70332DDF65}"/>
              </a:ext>
            </a:extLst>
          </p:cNvPr>
          <p:cNvCxnSpPr/>
          <p:nvPr/>
        </p:nvCxnSpPr>
        <p:spPr>
          <a:xfrm>
            <a:off x="924985" y="2842684"/>
            <a:ext cx="10805583" cy="6349"/>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0E49C131-1A93-9888-D2BC-35DA275492C6}"/>
              </a:ext>
            </a:extLst>
          </p:cNvPr>
          <p:cNvSpPr/>
          <p:nvPr/>
        </p:nvSpPr>
        <p:spPr>
          <a:xfrm>
            <a:off x="10096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cxnSp>
        <p:nvCxnSpPr>
          <p:cNvPr id="6" name="直接连接符 5">
            <a:extLst>
              <a:ext uri="{FF2B5EF4-FFF2-40B4-BE49-F238E27FC236}">
                <a16:creationId xmlns:a16="http://schemas.microsoft.com/office/drawing/2014/main" id="{515F9D87-5BEB-1231-B23E-588053D02EC7}"/>
              </a:ext>
            </a:extLst>
          </p:cNvPr>
          <p:cNvCxnSpPr/>
          <p:nvPr/>
        </p:nvCxnSpPr>
        <p:spPr>
          <a:xfrm>
            <a:off x="22754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E485AD9A-0FDB-6B3D-89C5-FDF5F435BFE5}"/>
              </a:ext>
            </a:extLst>
          </p:cNvPr>
          <p:cNvSpPr/>
          <p:nvPr/>
        </p:nvSpPr>
        <p:spPr>
          <a:xfrm>
            <a:off x="167640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cxnSp>
        <p:nvCxnSpPr>
          <p:cNvPr id="8" name="直接连接符 7">
            <a:extLst>
              <a:ext uri="{FF2B5EF4-FFF2-40B4-BE49-F238E27FC236}">
                <a16:creationId xmlns:a16="http://schemas.microsoft.com/office/drawing/2014/main" id="{C04E5549-C0DD-C894-7B21-2539BAE40338}"/>
              </a:ext>
            </a:extLst>
          </p:cNvPr>
          <p:cNvCxnSpPr/>
          <p:nvPr/>
        </p:nvCxnSpPr>
        <p:spPr>
          <a:xfrm>
            <a:off x="2946400"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B522E97D-DDEA-B99B-8A67-DF9C45BAEA5B}"/>
              </a:ext>
            </a:extLst>
          </p:cNvPr>
          <p:cNvCxnSpPr/>
          <p:nvPr/>
        </p:nvCxnSpPr>
        <p:spPr>
          <a:xfrm>
            <a:off x="49614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DF10D64C-B591-DEB8-F8C0-FDD1A0D84A27}"/>
              </a:ext>
            </a:extLst>
          </p:cNvPr>
          <p:cNvCxnSpPr/>
          <p:nvPr/>
        </p:nvCxnSpPr>
        <p:spPr>
          <a:xfrm>
            <a:off x="56345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A311A89F-6039-DE19-46C9-29D9B6AE12E7}"/>
              </a:ext>
            </a:extLst>
          </p:cNvPr>
          <p:cNvCxnSpPr/>
          <p:nvPr/>
        </p:nvCxnSpPr>
        <p:spPr>
          <a:xfrm>
            <a:off x="6354233"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8699B86-C94D-018E-FFFC-6221F3BA0C9D}"/>
              </a:ext>
            </a:extLst>
          </p:cNvPr>
          <p:cNvCxnSpPr/>
          <p:nvPr/>
        </p:nvCxnSpPr>
        <p:spPr>
          <a:xfrm>
            <a:off x="7027333"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68A7B9F9-E08E-93CF-5F63-D6E9D5E2F380}"/>
              </a:ext>
            </a:extLst>
          </p:cNvPr>
          <p:cNvCxnSpPr/>
          <p:nvPr/>
        </p:nvCxnSpPr>
        <p:spPr>
          <a:xfrm>
            <a:off x="76983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B5170FF7-FB14-249E-AB5E-222D230EC50F}"/>
              </a:ext>
            </a:extLst>
          </p:cNvPr>
          <p:cNvCxnSpPr/>
          <p:nvPr/>
        </p:nvCxnSpPr>
        <p:spPr>
          <a:xfrm>
            <a:off x="9042400"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2B596BCA-27DB-DF2F-5C3A-684EE683E20A}"/>
              </a:ext>
            </a:extLst>
          </p:cNvPr>
          <p:cNvCxnSpPr/>
          <p:nvPr/>
        </p:nvCxnSpPr>
        <p:spPr>
          <a:xfrm>
            <a:off x="97133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6F301FAE-836D-9143-7DC4-F2F39E8FB040}"/>
              </a:ext>
            </a:extLst>
          </p:cNvPr>
          <p:cNvCxnSpPr/>
          <p:nvPr/>
        </p:nvCxnSpPr>
        <p:spPr>
          <a:xfrm>
            <a:off x="103864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A64BBCD5-488E-AECB-8263-1D15C5F51D07}"/>
              </a:ext>
            </a:extLst>
          </p:cNvPr>
          <p:cNvCxnSpPr/>
          <p:nvPr/>
        </p:nvCxnSpPr>
        <p:spPr>
          <a:xfrm>
            <a:off x="110574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6F293FDF-889F-4DCF-53C2-9754ADDC3C2F}"/>
              </a:ext>
            </a:extLst>
          </p:cNvPr>
          <p:cNvCxnSpPr/>
          <p:nvPr/>
        </p:nvCxnSpPr>
        <p:spPr>
          <a:xfrm>
            <a:off x="117305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90E2E9A8-82D1-053A-B58C-02B96C449EFE}"/>
              </a:ext>
            </a:extLst>
          </p:cNvPr>
          <p:cNvSpPr/>
          <p:nvPr/>
        </p:nvSpPr>
        <p:spPr>
          <a:xfrm>
            <a:off x="23727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0" name="矩形 19">
            <a:extLst>
              <a:ext uri="{FF2B5EF4-FFF2-40B4-BE49-F238E27FC236}">
                <a16:creationId xmlns:a16="http://schemas.microsoft.com/office/drawing/2014/main" id="{A944C061-0CF0-8A16-9B47-6C3BA875A440}"/>
              </a:ext>
            </a:extLst>
          </p:cNvPr>
          <p:cNvSpPr/>
          <p:nvPr/>
        </p:nvSpPr>
        <p:spPr>
          <a:xfrm>
            <a:off x="30395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1" name="矩形 20">
            <a:extLst>
              <a:ext uri="{FF2B5EF4-FFF2-40B4-BE49-F238E27FC236}">
                <a16:creationId xmlns:a16="http://schemas.microsoft.com/office/drawing/2014/main" id="{1B06B58A-13D9-99F0-6C5F-82EE84C20E7E}"/>
              </a:ext>
            </a:extLst>
          </p:cNvPr>
          <p:cNvSpPr/>
          <p:nvPr/>
        </p:nvSpPr>
        <p:spPr>
          <a:xfrm>
            <a:off x="43624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2" name="矩形 21">
            <a:extLst>
              <a:ext uri="{FF2B5EF4-FFF2-40B4-BE49-F238E27FC236}">
                <a16:creationId xmlns:a16="http://schemas.microsoft.com/office/drawing/2014/main" id="{9F2B4F6C-4DE9-2488-F012-5FB81D479708}"/>
              </a:ext>
            </a:extLst>
          </p:cNvPr>
          <p:cNvSpPr/>
          <p:nvPr/>
        </p:nvSpPr>
        <p:spPr>
          <a:xfrm>
            <a:off x="50588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3" name="矩形 22">
            <a:extLst>
              <a:ext uri="{FF2B5EF4-FFF2-40B4-BE49-F238E27FC236}">
                <a16:creationId xmlns:a16="http://schemas.microsoft.com/office/drawing/2014/main" id="{06E2FF99-D8B6-94F8-5695-1414E70F8158}"/>
              </a:ext>
            </a:extLst>
          </p:cNvPr>
          <p:cNvSpPr/>
          <p:nvPr/>
        </p:nvSpPr>
        <p:spPr>
          <a:xfrm>
            <a:off x="57255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4" name="矩形 23">
            <a:extLst>
              <a:ext uri="{FF2B5EF4-FFF2-40B4-BE49-F238E27FC236}">
                <a16:creationId xmlns:a16="http://schemas.microsoft.com/office/drawing/2014/main" id="{6A50B5FB-0E09-9016-02BC-667F56A33863}"/>
              </a:ext>
            </a:extLst>
          </p:cNvPr>
          <p:cNvSpPr/>
          <p:nvPr/>
        </p:nvSpPr>
        <p:spPr>
          <a:xfrm>
            <a:off x="64452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5" name="矩形 24">
            <a:extLst>
              <a:ext uri="{FF2B5EF4-FFF2-40B4-BE49-F238E27FC236}">
                <a16:creationId xmlns:a16="http://schemas.microsoft.com/office/drawing/2014/main" id="{BB874CB8-BF3D-EF04-B390-CE3C4093B6F5}"/>
              </a:ext>
            </a:extLst>
          </p:cNvPr>
          <p:cNvSpPr/>
          <p:nvPr/>
        </p:nvSpPr>
        <p:spPr>
          <a:xfrm>
            <a:off x="71098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6" name="矩形 25">
            <a:extLst>
              <a:ext uri="{FF2B5EF4-FFF2-40B4-BE49-F238E27FC236}">
                <a16:creationId xmlns:a16="http://schemas.microsoft.com/office/drawing/2014/main" id="{11EA1CDD-8D31-2C60-085C-E5E607133360}"/>
              </a:ext>
            </a:extLst>
          </p:cNvPr>
          <p:cNvSpPr/>
          <p:nvPr/>
        </p:nvSpPr>
        <p:spPr>
          <a:xfrm>
            <a:off x="8473018"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7" name="矩形 26">
            <a:extLst>
              <a:ext uri="{FF2B5EF4-FFF2-40B4-BE49-F238E27FC236}">
                <a16:creationId xmlns:a16="http://schemas.microsoft.com/office/drawing/2014/main" id="{87CC8E69-5F91-ACCA-E145-6ED2E2025DD6}"/>
              </a:ext>
            </a:extLst>
          </p:cNvPr>
          <p:cNvSpPr/>
          <p:nvPr/>
        </p:nvSpPr>
        <p:spPr>
          <a:xfrm>
            <a:off x="913130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8" name="矩形 27">
            <a:extLst>
              <a:ext uri="{FF2B5EF4-FFF2-40B4-BE49-F238E27FC236}">
                <a16:creationId xmlns:a16="http://schemas.microsoft.com/office/drawing/2014/main" id="{3B9637DE-1F50-6648-0D23-9542D52F3EBA}"/>
              </a:ext>
            </a:extLst>
          </p:cNvPr>
          <p:cNvSpPr/>
          <p:nvPr/>
        </p:nvSpPr>
        <p:spPr>
          <a:xfrm>
            <a:off x="97959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9" name="矩形 28">
            <a:extLst>
              <a:ext uri="{FF2B5EF4-FFF2-40B4-BE49-F238E27FC236}">
                <a16:creationId xmlns:a16="http://schemas.microsoft.com/office/drawing/2014/main" id="{9D6795F6-179B-CD28-7977-C1ED36CA57A6}"/>
              </a:ext>
            </a:extLst>
          </p:cNvPr>
          <p:cNvSpPr/>
          <p:nvPr/>
        </p:nvSpPr>
        <p:spPr>
          <a:xfrm>
            <a:off x="104944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0" name="矩形 29">
            <a:extLst>
              <a:ext uri="{FF2B5EF4-FFF2-40B4-BE49-F238E27FC236}">
                <a16:creationId xmlns:a16="http://schemas.microsoft.com/office/drawing/2014/main" id="{9C926E4B-D07B-33A5-A77B-2890D4175E29}"/>
              </a:ext>
            </a:extLst>
          </p:cNvPr>
          <p:cNvSpPr/>
          <p:nvPr/>
        </p:nvSpPr>
        <p:spPr>
          <a:xfrm>
            <a:off x="11159067"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1" name="矩形 30">
            <a:extLst>
              <a:ext uri="{FF2B5EF4-FFF2-40B4-BE49-F238E27FC236}">
                <a16:creationId xmlns:a16="http://schemas.microsoft.com/office/drawing/2014/main" id="{20F07B8D-324B-7F30-8432-72AECA5AC89B}"/>
              </a:ext>
            </a:extLst>
          </p:cNvPr>
          <p:cNvSpPr/>
          <p:nvPr/>
        </p:nvSpPr>
        <p:spPr>
          <a:xfrm>
            <a:off x="1098551"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0</a:t>
            </a:r>
            <a:endParaRPr lang="zh-CN" altLang="en-US" sz="1400" dirty="0"/>
          </a:p>
        </p:txBody>
      </p:sp>
      <p:sp>
        <p:nvSpPr>
          <p:cNvPr id="32" name="矩形 31">
            <a:extLst>
              <a:ext uri="{FF2B5EF4-FFF2-40B4-BE49-F238E27FC236}">
                <a16:creationId xmlns:a16="http://schemas.microsoft.com/office/drawing/2014/main" id="{C167DDA9-10A2-15DE-0DCE-481CEB5DD0CE}"/>
              </a:ext>
            </a:extLst>
          </p:cNvPr>
          <p:cNvSpPr/>
          <p:nvPr/>
        </p:nvSpPr>
        <p:spPr>
          <a:xfrm>
            <a:off x="17631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a:t>
            </a:r>
            <a:endParaRPr lang="zh-CN" altLang="en-US" sz="1400" dirty="0"/>
          </a:p>
        </p:txBody>
      </p:sp>
      <p:sp>
        <p:nvSpPr>
          <p:cNvPr id="33" name="矩形 32">
            <a:extLst>
              <a:ext uri="{FF2B5EF4-FFF2-40B4-BE49-F238E27FC236}">
                <a16:creationId xmlns:a16="http://schemas.microsoft.com/office/drawing/2014/main" id="{B83C4242-A207-D94F-78A0-4B6A518CD421}"/>
              </a:ext>
            </a:extLst>
          </p:cNvPr>
          <p:cNvSpPr/>
          <p:nvPr/>
        </p:nvSpPr>
        <p:spPr>
          <a:xfrm>
            <a:off x="24616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2</a:t>
            </a:r>
            <a:endParaRPr lang="zh-CN" altLang="en-US" sz="1400" dirty="0"/>
          </a:p>
        </p:txBody>
      </p:sp>
      <p:sp>
        <p:nvSpPr>
          <p:cNvPr id="34" name="矩形 33">
            <a:extLst>
              <a:ext uri="{FF2B5EF4-FFF2-40B4-BE49-F238E27FC236}">
                <a16:creationId xmlns:a16="http://schemas.microsoft.com/office/drawing/2014/main" id="{1A8F9B58-8239-C913-5E33-800AFC04AE97}"/>
              </a:ext>
            </a:extLst>
          </p:cNvPr>
          <p:cNvSpPr/>
          <p:nvPr/>
        </p:nvSpPr>
        <p:spPr>
          <a:xfrm>
            <a:off x="3126318"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3</a:t>
            </a:r>
            <a:endParaRPr lang="zh-CN" altLang="en-US" sz="1400" dirty="0"/>
          </a:p>
        </p:txBody>
      </p:sp>
      <p:sp>
        <p:nvSpPr>
          <p:cNvPr id="35" name="矩形 34">
            <a:extLst>
              <a:ext uri="{FF2B5EF4-FFF2-40B4-BE49-F238E27FC236}">
                <a16:creationId xmlns:a16="http://schemas.microsoft.com/office/drawing/2014/main" id="{08EDA12A-D570-D797-1D9B-925FF6CA4F89}"/>
              </a:ext>
            </a:extLst>
          </p:cNvPr>
          <p:cNvSpPr/>
          <p:nvPr/>
        </p:nvSpPr>
        <p:spPr>
          <a:xfrm>
            <a:off x="3784600"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4</a:t>
            </a:r>
            <a:endParaRPr lang="zh-CN" altLang="en-US" sz="1400" dirty="0"/>
          </a:p>
        </p:txBody>
      </p:sp>
      <p:sp>
        <p:nvSpPr>
          <p:cNvPr id="36" name="矩形 35">
            <a:extLst>
              <a:ext uri="{FF2B5EF4-FFF2-40B4-BE49-F238E27FC236}">
                <a16:creationId xmlns:a16="http://schemas.microsoft.com/office/drawing/2014/main" id="{5E3362C9-2401-DBE8-196E-14C075DCAE4B}"/>
              </a:ext>
            </a:extLst>
          </p:cNvPr>
          <p:cNvSpPr/>
          <p:nvPr/>
        </p:nvSpPr>
        <p:spPr>
          <a:xfrm>
            <a:off x="44492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5</a:t>
            </a:r>
            <a:endParaRPr lang="zh-CN" altLang="en-US" sz="1400" dirty="0"/>
          </a:p>
        </p:txBody>
      </p:sp>
      <p:sp>
        <p:nvSpPr>
          <p:cNvPr id="37" name="矩形 36">
            <a:extLst>
              <a:ext uri="{FF2B5EF4-FFF2-40B4-BE49-F238E27FC236}">
                <a16:creationId xmlns:a16="http://schemas.microsoft.com/office/drawing/2014/main" id="{CB9725BB-8A30-1876-3A27-1F4AEDDBB7AB}"/>
              </a:ext>
            </a:extLst>
          </p:cNvPr>
          <p:cNvSpPr/>
          <p:nvPr/>
        </p:nvSpPr>
        <p:spPr>
          <a:xfrm>
            <a:off x="51477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6</a:t>
            </a:r>
            <a:endParaRPr lang="zh-CN" altLang="en-US" sz="1400" dirty="0"/>
          </a:p>
        </p:txBody>
      </p:sp>
      <p:sp>
        <p:nvSpPr>
          <p:cNvPr id="38" name="矩形 37">
            <a:extLst>
              <a:ext uri="{FF2B5EF4-FFF2-40B4-BE49-F238E27FC236}">
                <a16:creationId xmlns:a16="http://schemas.microsoft.com/office/drawing/2014/main" id="{27664578-BD61-FE27-9D91-0B66995E4D88}"/>
              </a:ext>
            </a:extLst>
          </p:cNvPr>
          <p:cNvSpPr/>
          <p:nvPr/>
        </p:nvSpPr>
        <p:spPr>
          <a:xfrm>
            <a:off x="5812367"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7</a:t>
            </a:r>
            <a:endParaRPr lang="zh-CN" altLang="en-US" sz="1400" dirty="0"/>
          </a:p>
        </p:txBody>
      </p:sp>
      <p:sp>
        <p:nvSpPr>
          <p:cNvPr id="39" name="矩形 38">
            <a:extLst>
              <a:ext uri="{FF2B5EF4-FFF2-40B4-BE49-F238E27FC236}">
                <a16:creationId xmlns:a16="http://schemas.microsoft.com/office/drawing/2014/main" id="{2E8673DC-736B-D532-706C-FC049E704840}"/>
              </a:ext>
            </a:extLst>
          </p:cNvPr>
          <p:cNvSpPr/>
          <p:nvPr/>
        </p:nvSpPr>
        <p:spPr>
          <a:xfrm>
            <a:off x="65320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8</a:t>
            </a:r>
            <a:endParaRPr lang="zh-CN" altLang="en-US" sz="1400" dirty="0"/>
          </a:p>
        </p:txBody>
      </p:sp>
      <p:sp>
        <p:nvSpPr>
          <p:cNvPr id="40" name="矩形 39">
            <a:extLst>
              <a:ext uri="{FF2B5EF4-FFF2-40B4-BE49-F238E27FC236}">
                <a16:creationId xmlns:a16="http://schemas.microsoft.com/office/drawing/2014/main" id="{E690EB7F-7173-9D3E-35B0-2BCF6D376BF6}"/>
              </a:ext>
            </a:extLst>
          </p:cNvPr>
          <p:cNvSpPr/>
          <p:nvPr/>
        </p:nvSpPr>
        <p:spPr>
          <a:xfrm>
            <a:off x="71987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9</a:t>
            </a:r>
            <a:endParaRPr lang="zh-CN" altLang="en-US" sz="1400" dirty="0"/>
          </a:p>
        </p:txBody>
      </p:sp>
      <p:sp>
        <p:nvSpPr>
          <p:cNvPr id="41" name="矩形 40">
            <a:extLst>
              <a:ext uri="{FF2B5EF4-FFF2-40B4-BE49-F238E27FC236}">
                <a16:creationId xmlns:a16="http://schemas.microsoft.com/office/drawing/2014/main" id="{546744B4-DE20-F825-5895-F09CFCECC34D}"/>
              </a:ext>
            </a:extLst>
          </p:cNvPr>
          <p:cNvSpPr/>
          <p:nvPr/>
        </p:nvSpPr>
        <p:spPr>
          <a:xfrm>
            <a:off x="7816851"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10</a:t>
            </a:r>
            <a:endParaRPr lang="zh-CN" altLang="en-US" sz="1400" dirty="0"/>
          </a:p>
        </p:txBody>
      </p:sp>
      <p:sp>
        <p:nvSpPr>
          <p:cNvPr id="42" name="矩形 41">
            <a:extLst>
              <a:ext uri="{FF2B5EF4-FFF2-40B4-BE49-F238E27FC236}">
                <a16:creationId xmlns:a16="http://schemas.microsoft.com/office/drawing/2014/main" id="{205D65AA-1928-8A20-C555-C5D456695EEC}"/>
              </a:ext>
            </a:extLst>
          </p:cNvPr>
          <p:cNvSpPr/>
          <p:nvPr/>
        </p:nvSpPr>
        <p:spPr>
          <a:xfrm>
            <a:off x="8483600"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11</a:t>
            </a:r>
            <a:endParaRPr lang="zh-CN" altLang="en-US" sz="1400" dirty="0"/>
          </a:p>
        </p:txBody>
      </p:sp>
      <p:sp>
        <p:nvSpPr>
          <p:cNvPr id="43" name="矩形 42">
            <a:extLst>
              <a:ext uri="{FF2B5EF4-FFF2-40B4-BE49-F238E27FC236}">
                <a16:creationId xmlns:a16="http://schemas.microsoft.com/office/drawing/2014/main" id="{2F3A65CC-7762-4460-D9A5-89A7CD27D199}"/>
              </a:ext>
            </a:extLst>
          </p:cNvPr>
          <p:cNvSpPr/>
          <p:nvPr/>
        </p:nvSpPr>
        <p:spPr>
          <a:xfrm>
            <a:off x="9141884"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12</a:t>
            </a:r>
            <a:endParaRPr lang="zh-CN" altLang="en-US" sz="1400" dirty="0"/>
          </a:p>
        </p:txBody>
      </p:sp>
      <p:sp>
        <p:nvSpPr>
          <p:cNvPr id="44" name="矩形 43">
            <a:extLst>
              <a:ext uri="{FF2B5EF4-FFF2-40B4-BE49-F238E27FC236}">
                <a16:creationId xmlns:a16="http://schemas.microsoft.com/office/drawing/2014/main" id="{7C6D9369-97F8-AC45-35E9-C0530C42D8EB}"/>
              </a:ext>
            </a:extLst>
          </p:cNvPr>
          <p:cNvSpPr/>
          <p:nvPr/>
        </p:nvSpPr>
        <p:spPr>
          <a:xfrm>
            <a:off x="9806518"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13</a:t>
            </a:r>
            <a:endParaRPr lang="zh-CN" altLang="en-US" sz="1400" dirty="0"/>
          </a:p>
        </p:txBody>
      </p:sp>
      <p:sp>
        <p:nvSpPr>
          <p:cNvPr id="45" name="矩形 44">
            <a:extLst>
              <a:ext uri="{FF2B5EF4-FFF2-40B4-BE49-F238E27FC236}">
                <a16:creationId xmlns:a16="http://schemas.microsoft.com/office/drawing/2014/main" id="{2C1EC931-A805-2614-B69D-5A0056BD5899}"/>
              </a:ext>
            </a:extLst>
          </p:cNvPr>
          <p:cNvSpPr/>
          <p:nvPr/>
        </p:nvSpPr>
        <p:spPr>
          <a:xfrm>
            <a:off x="10505018"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14</a:t>
            </a:r>
            <a:endParaRPr lang="zh-CN" altLang="en-US" sz="1400" dirty="0"/>
          </a:p>
        </p:txBody>
      </p:sp>
      <p:sp>
        <p:nvSpPr>
          <p:cNvPr id="46" name="矩形 45">
            <a:extLst>
              <a:ext uri="{FF2B5EF4-FFF2-40B4-BE49-F238E27FC236}">
                <a16:creationId xmlns:a16="http://schemas.microsoft.com/office/drawing/2014/main" id="{57713850-5B09-D821-FC24-54D943145DB9}"/>
              </a:ext>
            </a:extLst>
          </p:cNvPr>
          <p:cNvSpPr/>
          <p:nvPr/>
        </p:nvSpPr>
        <p:spPr>
          <a:xfrm>
            <a:off x="11169651"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15</a:t>
            </a:r>
            <a:endParaRPr lang="zh-CN" altLang="en-US" sz="1400" dirty="0"/>
          </a:p>
        </p:txBody>
      </p:sp>
      <p:sp>
        <p:nvSpPr>
          <p:cNvPr id="47" name="!!!a">
            <a:extLst>
              <a:ext uri="{FF2B5EF4-FFF2-40B4-BE49-F238E27FC236}">
                <a16:creationId xmlns:a16="http://schemas.microsoft.com/office/drawing/2014/main" id="{A2C02638-2154-9ECF-07C5-2E0C0AEED6CF}"/>
              </a:ext>
            </a:extLst>
          </p:cNvPr>
          <p:cNvSpPr/>
          <p:nvPr/>
        </p:nvSpPr>
        <p:spPr>
          <a:xfrm>
            <a:off x="3726000" y="3429000"/>
            <a:ext cx="478367" cy="480484"/>
          </a:xfrm>
          <a:prstGeom prst="ellipse">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cxnSp>
        <p:nvCxnSpPr>
          <p:cNvPr id="48" name="直接连接符 47">
            <a:extLst>
              <a:ext uri="{FF2B5EF4-FFF2-40B4-BE49-F238E27FC236}">
                <a16:creationId xmlns:a16="http://schemas.microsoft.com/office/drawing/2014/main" id="{93EA9319-403F-E714-5414-B57267DBDDE6}"/>
              </a:ext>
            </a:extLst>
          </p:cNvPr>
          <p:cNvCxnSpPr/>
          <p:nvPr/>
        </p:nvCxnSpPr>
        <p:spPr>
          <a:xfrm>
            <a:off x="36173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1DF669EC-9174-8218-117F-9E4361F2F7FE}"/>
              </a:ext>
            </a:extLst>
          </p:cNvPr>
          <p:cNvCxnSpPr/>
          <p:nvPr/>
        </p:nvCxnSpPr>
        <p:spPr>
          <a:xfrm>
            <a:off x="42904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6DA5CD1D-EFC4-D3FE-977A-186C7CDBF25A}"/>
              </a:ext>
            </a:extLst>
          </p:cNvPr>
          <p:cNvCxnSpPr/>
          <p:nvPr/>
        </p:nvCxnSpPr>
        <p:spPr>
          <a:xfrm>
            <a:off x="9249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54974A71-A471-CD60-62D7-2DB89C6E29C8}"/>
              </a:ext>
            </a:extLst>
          </p:cNvPr>
          <p:cNvCxnSpPr/>
          <p:nvPr/>
        </p:nvCxnSpPr>
        <p:spPr>
          <a:xfrm>
            <a:off x="16023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047D5232-BA91-D8DF-CCF6-66DF3675703A}"/>
              </a:ext>
            </a:extLst>
          </p:cNvPr>
          <p:cNvCxnSpPr/>
          <p:nvPr/>
        </p:nvCxnSpPr>
        <p:spPr>
          <a:xfrm>
            <a:off x="83714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417447B3-7485-B067-385E-5ACAA5FCE10F}"/>
              </a:ext>
            </a:extLst>
          </p:cNvPr>
          <p:cNvSpPr/>
          <p:nvPr/>
        </p:nvSpPr>
        <p:spPr>
          <a:xfrm>
            <a:off x="78083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56" name="!!!b">
            <a:extLst>
              <a:ext uri="{FF2B5EF4-FFF2-40B4-BE49-F238E27FC236}">
                <a16:creationId xmlns:a16="http://schemas.microsoft.com/office/drawing/2014/main" id="{7B17CF68-64F6-1861-20B6-483141FFAD26}"/>
              </a:ext>
            </a:extLst>
          </p:cNvPr>
          <p:cNvSpPr/>
          <p:nvPr/>
        </p:nvSpPr>
        <p:spPr>
          <a:xfrm>
            <a:off x="3727417" y="2280080"/>
            <a:ext cx="478367" cy="480484"/>
          </a:xfrm>
          <a:prstGeom prst="ellipse">
            <a:avLst/>
          </a:prstGeom>
          <a:solidFill>
            <a:srgbClr val="79A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cxnSp>
        <p:nvCxnSpPr>
          <p:cNvPr id="57" name="直接连接符 56">
            <a:extLst>
              <a:ext uri="{FF2B5EF4-FFF2-40B4-BE49-F238E27FC236}">
                <a16:creationId xmlns:a16="http://schemas.microsoft.com/office/drawing/2014/main" id="{553118E3-42FF-148A-3FB9-8ED87D5599A6}"/>
              </a:ext>
            </a:extLst>
          </p:cNvPr>
          <p:cNvCxnSpPr>
            <a:cxnSpLocks/>
            <a:stCxn id="56" idx="4"/>
            <a:endCxn id="47" idx="0"/>
          </p:cNvCxnSpPr>
          <p:nvPr/>
        </p:nvCxnSpPr>
        <p:spPr>
          <a:xfrm flipH="1">
            <a:off x="3965184" y="2760564"/>
            <a:ext cx="1417" cy="668436"/>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0" name="!!!Map">
            <a:extLst>
              <a:ext uri="{FF2B5EF4-FFF2-40B4-BE49-F238E27FC236}">
                <a16:creationId xmlns:a16="http://schemas.microsoft.com/office/drawing/2014/main" id="{05CF734E-D8B3-C7EE-1586-2E43AE93A245}"/>
              </a:ext>
            </a:extLst>
          </p:cNvPr>
          <p:cNvSpPr>
            <a:spLocks noChangeArrowheads="1"/>
          </p:cNvSpPr>
          <p:nvPr/>
        </p:nvSpPr>
        <p:spPr bwMode="auto">
          <a:xfrm>
            <a:off x="1575333" y="5226128"/>
            <a:ext cx="1299513" cy="433115"/>
          </a:xfrm>
          <a:prstGeom prst="roundRect">
            <a:avLst>
              <a:gd name="adj" fmla="val 24210"/>
            </a:avLst>
          </a:prstGeom>
          <a:solidFill>
            <a:srgbClr val="0070C0"/>
          </a:solidFill>
          <a:ln w="9525">
            <a:noFill/>
            <a:round/>
            <a:headEnd/>
            <a:tailEnd/>
          </a:ln>
          <a:effectLst>
            <a:outerShdw dist="63500" dir="5400000" algn="ctr" rotWithShape="0">
              <a:srgbClr val="000000">
                <a:alpha val="10999"/>
              </a:srgbClr>
            </a:outerShdw>
          </a:effectLst>
        </p:spPr>
        <p:txBody>
          <a:bodyPr anchor="ctr"/>
          <a:lstStyle/>
          <a:p>
            <a:pPr lvl="0" algn="ctr">
              <a:defRPr/>
            </a:pPr>
            <a:r>
              <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以前</a:t>
            </a:r>
            <a:endPar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7970768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up)">
                                      <p:cBhvr>
                                        <p:cTn id="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ashmap">
            <a:extLst>
              <a:ext uri="{FF2B5EF4-FFF2-40B4-BE49-F238E27FC236}">
                <a16:creationId xmlns:a16="http://schemas.microsoft.com/office/drawing/2014/main" id="{AF08F25E-D229-A5D2-3718-BC609B768C0C}"/>
              </a:ext>
            </a:extLst>
          </p:cNvPr>
          <p:cNvSpPr>
            <a:spLocks noGrp="1"/>
          </p:cNvSpPr>
          <p:nvPr>
            <p:ph type="title"/>
          </p:nvPr>
        </p:nvSpPr>
        <p:spPr/>
        <p:txBody>
          <a:bodyPr/>
          <a:lstStyle/>
          <a:p>
            <a:r>
              <a:rPr lang="en-US" altLang="zh-CN" dirty="0"/>
              <a:t>HashMap</a:t>
            </a:r>
            <a:r>
              <a:rPr lang="zh-CN" altLang="en-US" dirty="0"/>
              <a:t>的底层原理</a:t>
            </a:r>
          </a:p>
        </p:txBody>
      </p:sp>
      <p:cxnSp>
        <p:nvCxnSpPr>
          <p:cNvPr id="3" name="直接连接符 2">
            <a:extLst>
              <a:ext uri="{FF2B5EF4-FFF2-40B4-BE49-F238E27FC236}">
                <a16:creationId xmlns:a16="http://schemas.microsoft.com/office/drawing/2014/main" id="{56958703-A5E3-74BE-84B5-B54D05ABF990}"/>
              </a:ext>
            </a:extLst>
          </p:cNvPr>
          <p:cNvCxnSpPr/>
          <p:nvPr/>
        </p:nvCxnSpPr>
        <p:spPr>
          <a:xfrm>
            <a:off x="924985" y="2171700"/>
            <a:ext cx="10805583" cy="0"/>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AFF6837C-F1F8-611C-3313-683318E0C5E3}"/>
              </a:ext>
            </a:extLst>
          </p:cNvPr>
          <p:cNvCxnSpPr/>
          <p:nvPr/>
        </p:nvCxnSpPr>
        <p:spPr>
          <a:xfrm>
            <a:off x="924985" y="2842684"/>
            <a:ext cx="10805583" cy="6349"/>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41D59102-413A-B1A7-B6E5-524B4584ED14}"/>
              </a:ext>
            </a:extLst>
          </p:cNvPr>
          <p:cNvSpPr/>
          <p:nvPr/>
        </p:nvSpPr>
        <p:spPr>
          <a:xfrm>
            <a:off x="10096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cxnSp>
        <p:nvCxnSpPr>
          <p:cNvPr id="6" name="直接连接符 5">
            <a:extLst>
              <a:ext uri="{FF2B5EF4-FFF2-40B4-BE49-F238E27FC236}">
                <a16:creationId xmlns:a16="http://schemas.microsoft.com/office/drawing/2014/main" id="{2DCA05F8-7F10-7B01-2DB3-26755AD38D7C}"/>
              </a:ext>
            </a:extLst>
          </p:cNvPr>
          <p:cNvCxnSpPr/>
          <p:nvPr/>
        </p:nvCxnSpPr>
        <p:spPr>
          <a:xfrm>
            <a:off x="22754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220D9C1D-A2CD-4A00-A10A-E81F48156D83}"/>
              </a:ext>
            </a:extLst>
          </p:cNvPr>
          <p:cNvSpPr/>
          <p:nvPr/>
        </p:nvSpPr>
        <p:spPr>
          <a:xfrm>
            <a:off x="167640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cxnSp>
        <p:nvCxnSpPr>
          <p:cNvPr id="8" name="直接连接符 7">
            <a:extLst>
              <a:ext uri="{FF2B5EF4-FFF2-40B4-BE49-F238E27FC236}">
                <a16:creationId xmlns:a16="http://schemas.microsoft.com/office/drawing/2014/main" id="{04AE0B85-757F-4F40-3C9E-6642028E3CF9}"/>
              </a:ext>
            </a:extLst>
          </p:cNvPr>
          <p:cNvCxnSpPr/>
          <p:nvPr/>
        </p:nvCxnSpPr>
        <p:spPr>
          <a:xfrm>
            <a:off x="2946400"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B528879-8163-70E9-9F6C-D03141283900}"/>
              </a:ext>
            </a:extLst>
          </p:cNvPr>
          <p:cNvCxnSpPr/>
          <p:nvPr/>
        </p:nvCxnSpPr>
        <p:spPr>
          <a:xfrm>
            <a:off x="49614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752261B-1A86-E392-B0DB-2A800079A31E}"/>
              </a:ext>
            </a:extLst>
          </p:cNvPr>
          <p:cNvCxnSpPr/>
          <p:nvPr/>
        </p:nvCxnSpPr>
        <p:spPr>
          <a:xfrm>
            <a:off x="56345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E5C01B27-39B9-563E-7B9B-FE2EE4053896}"/>
              </a:ext>
            </a:extLst>
          </p:cNvPr>
          <p:cNvCxnSpPr/>
          <p:nvPr/>
        </p:nvCxnSpPr>
        <p:spPr>
          <a:xfrm>
            <a:off x="6354233"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8B91A90-99B8-6654-17B7-443092D447C4}"/>
              </a:ext>
            </a:extLst>
          </p:cNvPr>
          <p:cNvCxnSpPr/>
          <p:nvPr/>
        </p:nvCxnSpPr>
        <p:spPr>
          <a:xfrm>
            <a:off x="7027333"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99C5051-5002-A5DB-6BF7-3ABCD3D463FF}"/>
              </a:ext>
            </a:extLst>
          </p:cNvPr>
          <p:cNvCxnSpPr/>
          <p:nvPr/>
        </p:nvCxnSpPr>
        <p:spPr>
          <a:xfrm>
            <a:off x="76983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DFAE8D2D-9824-4109-654A-74B737A705BC}"/>
              </a:ext>
            </a:extLst>
          </p:cNvPr>
          <p:cNvCxnSpPr/>
          <p:nvPr/>
        </p:nvCxnSpPr>
        <p:spPr>
          <a:xfrm>
            <a:off x="83714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0551429-D8CB-3A63-0D2E-91837CD85544}"/>
              </a:ext>
            </a:extLst>
          </p:cNvPr>
          <p:cNvCxnSpPr/>
          <p:nvPr/>
        </p:nvCxnSpPr>
        <p:spPr>
          <a:xfrm>
            <a:off x="9042400"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30B72C7-1EA1-1ED2-4AB6-B494B157D05B}"/>
              </a:ext>
            </a:extLst>
          </p:cNvPr>
          <p:cNvCxnSpPr/>
          <p:nvPr/>
        </p:nvCxnSpPr>
        <p:spPr>
          <a:xfrm>
            <a:off x="97133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8AC2E5C-BB95-455A-C58C-F118036D42A3}"/>
              </a:ext>
            </a:extLst>
          </p:cNvPr>
          <p:cNvCxnSpPr/>
          <p:nvPr/>
        </p:nvCxnSpPr>
        <p:spPr>
          <a:xfrm>
            <a:off x="103864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CC608EB-1A19-4D1B-FC17-535CE1FB5E28}"/>
              </a:ext>
            </a:extLst>
          </p:cNvPr>
          <p:cNvCxnSpPr/>
          <p:nvPr/>
        </p:nvCxnSpPr>
        <p:spPr>
          <a:xfrm>
            <a:off x="110574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9F1A3CA-245F-7A77-4769-CC6CAFEF07F1}"/>
              </a:ext>
            </a:extLst>
          </p:cNvPr>
          <p:cNvCxnSpPr/>
          <p:nvPr/>
        </p:nvCxnSpPr>
        <p:spPr>
          <a:xfrm>
            <a:off x="117305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0C89FEAD-A353-7631-2C16-60D39252C365}"/>
              </a:ext>
            </a:extLst>
          </p:cNvPr>
          <p:cNvSpPr/>
          <p:nvPr/>
        </p:nvSpPr>
        <p:spPr>
          <a:xfrm>
            <a:off x="23727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1" name="矩形 20">
            <a:extLst>
              <a:ext uri="{FF2B5EF4-FFF2-40B4-BE49-F238E27FC236}">
                <a16:creationId xmlns:a16="http://schemas.microsoft.com/office/drawing/2014/main" id="{C7DDBD6A-928F-FF71-26E5-02B06BA7D237}"/>
              </a:ext>
            </a:extLst>
          </p:cNvPr>
          <p:cNvSpPr/>
          <p:nvPr/>
        </p:nvSpPr>
        <p:spPr>
          <a:xfrm>
            <a:off x="30395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2" name="矩形 21">
            <a:extLst>
              <a:ext uri="{FF2B5EF4-FFF2-40B4-BE49-F238E27FC236}">
                <a16:creationId xmlns:a16="http://schemas.microsoft.com/office/drawing/2014/main" id="{3879B3AC-C1C6-BBAF-F3D0-7F916E4DA338}"/>
              </a:ext>
            </a:extLst>
          </p:cNvPr>
          <p:cNvSpPr/>
          <p:nvPr/>
        </p:nvSpPr>
        <p:spPr>
          <a:xfrm>
            <a:off x="3678767" y="2343152"/>
            <a:ext cx="502061" cy="307777"/>
          </a:xfrm>
          <a:prstGeom prst="rect">
            <a:avLst/>
          </a:prstGeom>
        </p:spPr>
        <p:txBody>
          <a:bodyPr wrap="none">
            <a:spAutoFit/>
          </a:bodyPr>
          <a:lstStyle/>
          <a:p>
            <a:pPr>
              <a:defRPr/>
            </a:pPr>
            <a:r>
              <a:rPr lang="en-US" altLang="zh-CN" sz="1400" dirty="0">
                <a:latin typeface="微软雅黑" panose="020B0503020204020204" pitchFamily="34" charset="-122"/>
                <a:ea typeface="微软雅黑" panose="020B0503020204020204" pitchFamily="34" charset="-122"/>
              </a:rPr>
              <a:t>null</a:t>
            </a:r>
            <a:endParaRPr lang="zh-CN" altLang="en-US" sz="1400" dirty="0">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DB7576E4-00E8-A2BB-A811-7E0C83EDA2F9}"/>
              </a:ext>
            </a:extLst>
          </p:cNvPr>
          <p:cNvSpPr/>
          <p:nvPr/>
        </p:nvSpPr>
        <p:spPr>
          <a:xfrm>
            <a:off x="43624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4" name="矩形 23">
            <a:extLst>
              <a:ext uri="{FF2B5EF4-FFF2-40B4-BE49-F238E27FC236}">
                <a16:creationId xmlns:a16="http://schemas.microsoft.com/office/drawing/2014/main" id="{A727D583-CB97-36F6-1F21-0E27030D09C0}"/>
              </a:ext>
            </a:extLst>
          </p:cNvPr>
          <p:cNvSpPr/>
          <p:nvPr/>
        </p:nvSpPr>
        <p:spPr>
          <a:xfrm>
            <a:off x="50588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5" name="矩形 24">
            <a:extLst>
              <a:ext uri="{FF2B5EF4-FFF2-40B4-BE49-F238E27FC236}">
                <a16:creationId xmlns:a16="http://schemas.microsoft.com/office/drawing/2014/main" id="{54605EA6-E5C4-9F53-0F67-5276276EB9F3}"/>
              </a:ext>
            </a:extLst>
          </p:cNvPr>
          <p:cNvSpPr/>
          <p:nvPr/>
        </p:nvSpPr>
        <p:spPr>
          <a:xfrm>
            <a:off x="57255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6" name="矩形 25">
            <a:extLst>
              <a:ext uri="{FF2B5EF4-FFF2-40B4-BE49-F238E27FC236}">
                <a16:creationId xmlns:a16="http://schemas.microsoft.com/office/drawing/2014/main" id="{350BD8F3-1EBA-6E5F-16E2-A8A34035A9BB}"/>
              </a:ext>
            </a:extLst>
          </p:cNvPr>
          <p:cNvSpPr/>
          <p:nvPr/>
        </p:nvSpPr>
        <p:spPr>
          <a:xfrm>
            <a:off x="64452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7" name="矩形 26">
            <a:extLst>
              <a:ext uri="{FF2B5EF4-FFF2-40B4-BE49-F238E27FC236}">
                <a16:creationId xmlns:a16="http://schemas.microsoft.com/office/drawing/2014/main" id="{01FEC3DB-7094-EAE0-6F8C-C32865D74D83}"/>
              </a:ext>
            </a:extLst>
          </p:cNvPr>
          <p:cNvSpPr/>
          <p:nvPr/>
        </p:nvSpPr>
        <p:spPr>
          <a:xfrm>
            <a:off x="71098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8" name="矩形 27">
            <a:extLst>
              <a:ext uri="{FF2B5EF4-FFF2-40B4-BE49-F238E27FC236}">
                <a16:creationId xmlns:a16="http://schemas.microsoft.com/office/drawing/2014/main" id="{FBC9AE71-1B1A-A5C8-4EB5-6947AB4922A8}"/>
              </a:ext>
            </a:extLst>
          </p:cNvPr>
          <p:cNvSpPr/>
          <p:nvPr/>
        </p:nvSpPr>
        <p:spPr>
          <a:xfrm>
            <a:off x="78083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9" name="矩形 28">
            <a:extLst>
              <a:ext uri="{FF2B5EF4-FFF2-40B4-BE49-F238E27FC236}">
                <a16:creationId xmlns:a16="http://schemas.microsoft.com/office/drawing/2014/main" id="{FEA2C813-CD81-110C-B1AD-943D058895BE}"/>
              </a:ext>
            </a:extLst>
          </p:cNvPr>
          <p:cNvSpPr/>
          <p:nvPr/>
        </p:nvSpPr>
        <p:spPr>
          <a:xfrm>
            <a:off x="8473018"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0" name="矩形 29">
            <a:extLst>
              <a:ext uri="{FF2B5EF4-FFF2-40B4-BE49-F238E27FC236}">
                <a16:creationId xmlns:a16="http://schemas.microsoft.com/office/drawing/2014/main" id="{E32AB7AD-5030-0AC5-A5CF-A4A6CD73776B}"/>
              </a:ext>
            </a:extLst>
          </p:cNvPr>
          <p:cNvSpPr/>
          <p:nvPr/>
        </p:nvSpPr>
        <p:spPr>
          <a:xfrm>
            <a:off x="913130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1" name="矩形 30">
            <a:extLst>
              <a:ext uri="{FF2B5EF4-FFF2-40B4-BE49-F238E27FC236}">
                <a16:creationId xmlns:a16="http://schemas.microsoft.com/office/drawing/2014/main" id="{38FAB158-6C12-E806-AA58-751371C4C955}"/>
              </a:ext>
            </a:extLst>
          </p:cNvPr>
          <p:cNvSpPr/>
          <p:nvPr/>
        </p:nvSpPr>
        <p:spPr>
          <a:xfrm>
            <a:off x="97959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2" name="矩形 31">
            <a:extLst>
              <a:ext uri="{FF2B5EF4-FFF2-40B4-BE49-F238E27FC236}">
                <a16:creationId xmlns:a16="http://schemas.microsoft.com/office/drawing/2014/main" id="{40EBFA96-BFF3-2474-87E8-3A454FB13944}"/>
              </a:ext>
            </a:extLst>
          </p:cNvPr>
          <p:cNvSpPr/>
          <p:nvPr/>
        </p:nvSpPr>
        <p:spPr>
          <a:xfrm>
            <a:off x="104944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3" name="矩形 32">
            <a:extLst>
              <a:ext uri="{FF2B5EF4-FFF2-40B4-BE49-F238E27FC236}">
                <a16:creationId xmlns:a16="http://schemas.microsoft.com/office/drawing/2014/main" id="{A7CEBD03-BAEE-EECB-3C41-F1ACC7EA8F19}"/>
              </a:ext>
            </a:extLst>
          </p:cNvPr>
          <p:cNvSpPr/>
          <p:nvPr/>
        </p:nvSpPr>
        <p:spPr>
          <a:xfrm>
            <a:off x="11159067"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4" name="矩形 33">
            <a:extLst>
              <a:ext uri="{FF2B5EF4-FFF2-40B4-BE49-F238E27FC236}">
                <a16:creationId xmlns:a16="http://schemas.microsoft.com/office/drawing/2014/main" id="{3BB80D08-4DD8-1DC7-682B-F223B9AD65A1}"/>
              </a:ext>
            </a:extLst>
          </p:cNvPr>
          <p:cNvSpPr/>
          <p:nvPr/>
        </p:nvSpPr>
        <p:spPr>
          <a:xfrm>
            <a:off x="1098551"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0</a:t>
            </a:r>
            <a:endParaRPr lang="zh-CN" altLang="en-US" sz="1400" dirty="0"/>
          </a:p>
        </p:txBody>
      </p:sp>
      <p:sp>
        <p:nvSpPr>
          <p:cNvPr id="35" name="矩形 34">
            <a:extLst>
              <a:ext uri="{FF2B5EF4-FFF2-40B4-BE49-F238E27FC236}">
                <a16:creationId xmlns:a16="http://schemas.microsoft.com/office/drawing/2014/main" id="{96BE1E69-C141-0396-E7E0-6BEAE3590CF9}"/>
              </a:ext>
            </a:extLst>
          </p:cNvPr>
          <p:cNvSpPr/>
          <p:nvPr/>
        </p:nvSpPr>
        <p:spPr>
          <a:xfrm>
            <a:off x="17631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a:t>
            </a:r>
            <a:endParaRPr lang="zh-CN" altLang="en-US" sz="1400" dirty="0"/>
          </a:p>
        </p:txBody>
      </p:sp>
      <p:sp>
        <p:nvSpPr>
          <p:cNvPr id="36" name="矩形 35">
            <a:extLst>
              <a:ext uri="{FF2B5EF4-FFF2-40B4-BE49-F238E27FC236}">
                <a16:creationId xmlns:a16="http://schemas.microsoft.com/office/drawing/2014/main" id="{BBFC6D64-C77F-C01D-C2A4-761DAEE98DBB}"/>
              </a:ext>
            </a:extLst>
          </p:cNvPr>
          <p:cNvSpPr/>
          <p:nvPr/>
        </p:nvSpPr>
        <p:spPr>
          <a:xfrm>
            <a:off x="24616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2</a:t>
            </a:r>
            <a:endParaRPr lang="zh-CN" altLang="en-US" sz="1400" dirty="0"/>
          </a:p>
        </p:txBody>
      </p:sp>
      <p:sp>
        <p:nvSpPr>
          <p:cNvPr id="37" name="矩形 36">
            <a:extLst>
              <a:ext uri="{FF2B5EF4-FFF2-40B4-BE49-F238E27FC236}">
                <a16:creationId xmlns:a16="http://schemas.microsoft.com/office/drawing/2014/main" id="{AFB69F05-2142-8FA1-C0C1-F95664245406}"/>
              </a:ext>
            </a:extLst>
          </p:cNvPr>
          <p:cNvSpPr/>
          <p:nvPr/>
        </p:nvSpPr>
        <p:spPr>
          <a:xfrm>
            <a:off x="3126318"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3</a:t>
            </a:r>
            <a:endParaRPr lang="zh-CN" altLang="en-US" sz="1400" dirty="0"/>
          </a:p>
        </p:txBody>
      </p:sp>
      <p:sp>
        <p:nvSpPr>
          <p:cNvPr id="38" name="矩形 37">
            <a:extLst>
              <a:ext uri="{FF2B5EF4-FFF2-40B4-BE49-F238E27FC236}">
                <a16:creationId xmlns:a16="http://schemas.microsoft.com/office/drawing/2014/main" id="{BD1172E2-706F-994E-2945-DF7E4C8CDF03}"/>
              </a:ext>
            </a:extLst>
          </p:cNvPr>
          <p:cNvSpPr/>
          <p:nvPr/>
        </p:nvSpPr>
        <p:spPr>
          <a:xfrm>
            <a:off x="3784600"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4</a:t>
            </a:r>
            <a:endParaRPr lang="zh-CN" altLang="en-US" sz="1400" dirty="0"/>
          </a:p>
        </p:txBody>
      </p:sp>
      <p:sp>
        <p:nvSpPr>
          <p:cNvPr id="39" name="矩形 38">
            <a:extLst>
              <a:ext uri="{FF2B5EF4-FFF2-40B4-BE49-F238E27FC236}">
                <a16:creationId xmlns:a16="http://schemas.microsoft.com/office/drawing/2014/main" id="{4B0D6518-23E0-3EFF-5A35-3C0A0D0570EA}"/>
              </a:ext>
            </a:extLst>
          </p:cNvPr>
          <p:cNvSpPr/>
          <p:nvPr/>
        </p:nvSpPr>
        <p:spPr>
          <a:xfrm>
            <a:off x="44492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5</a:t>
            </a:r>
            <a:endParaRPr lang="zh-CN" altLang="en-US" sz="1400" dirty="0"/>
          </a:p>
        </p:txBody>
      </p:sp>
      <p:sp>
        <p:nvSpPr>
          <p:cNvPr id="40" name="矩形 39">
            <a:extLst>
              <a:ext uri="{FF2B5EF4-FFF2-40B4-BE49-F238E27FC236}">
                <a16:creationId xmlns:a16="http://schemas.microsoft.com/office/drawing/2014/main" id="{F893903B-29C9-D849-AC67-5A7258C4CF87}"/>
              </a:ext>
            </a:extLst>
          </p:cNvPr>
          <p:cNvSpPr/>
          <p:nvPr/>
        </p:nvSpPr>
        <p:spPr>
          <a:xfrm>
            <a:off x="51477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6</a:t>
            </a:r>
            <a:endParaRPr lang="zh-CN" altLang="en-US" sz="1400" dirty="0"/>
          </a:p>
        </p:txBody>
      </p:sp>
      <p:sp>
        <p:nvSpPr>
          <p:cNvPr id="41" name="矩形 40">
            <a:extLst>
              <a:ext uri="{FF2B5EF4-FFF2-40B4-BE49-F238E27FC236}">
                <a16:creationId xmlns:a16="http://schemas.microsoft.com/office/drawing/2014/main" id="{FFDB0474-9891-5500-8BDC-17E27283A361}"/>
              </a:ext>
            </a:extLst>
          </p:cNvPr>
          <p:cNvSpPr/>
          <p:nvPr/>
        </p:nvSpPr>
        <p:spPr>
          <a:xfrm>
            <a:off x="5812367"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7</a:t>
            </a:r>
            <a:endParaRPr lang="zh-CN" altLang="en-US" sz="1400" dirty="0"/>
          </a:p>
        </p:txBody>
      </p:sp>
      <p:sp>
        <p:nvSpPr>
          <p:cNvPr id="42" name="矩形 41">
            <a:extLst>
              <a:ext uri="{FF2B5EF4-FFF2-40B4-BE49-F238E27FC236}">
                <a16:creationId xmlns:a16="http://schemas.microsoft.com/office/drawing/2014/main" id="{C9BF2DED-E27E-D0EE-28FA-35CA35F19CD9}"/>
              </a:ext>
            </a:extLst>
          </p:cNvPr>
          <p:cNvSpPr/>
          <p:nvPr/>
        </p:nvSpPr>
        <p:spPr>
          <a:xfrm>
            <a:off x="65320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8</a:t>
            </a:r>
            <a:endParaRPr lang="zh-CN" altLang="en-US" sz="1400" dirty="0"/>
          </a:p>
        </p:txBody>
      </p:sp>
      <p:sp>
        <p:nvSpPr>
          <p:cNvPr id="43" name="矩形 42">
            <a:extLst>
              <a:ext uri="{FF2B5EF4-FFF2-40B4-BE49-F238E27FC236}">
                <a16:creationId xmlns:a16="http://schemas.microsoft.com/office/drawing/2014/main" id="{13BE33A2-1FF8-04F3-8FC0-5E15CF38CBDB}"/>
              </a:ext>
            </a:extLst>
          </p:cNvPr>
          <p:cNvSpPr/>
          <p:nvPr/>
        </p:nvSpPr>
        <p:spPr>
          <a:xfrm>
            <a:off x="71987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9</a:t>
            </a:r>
            <a:endParaRPr lang="zh-CN" altLang="en-US" sz="1400" dirty="0"/>
          </a:p>
        </p:txBody>
      </p:sp>
      <p:sp>
        <p:nvSpPr>
          <p:cNvPr id="44" name="矩形 43">
            <a:extLst>
              <a:ext uri="{FF2B5EF4-FFF2-40B4-BE49-F238E27FC236}">
                <a16:creationId xmlns:a16="http://schemas.microsoft.com/office/drawing/2014/main" id="{DD2BD102-83C6-266F-1C4A-770E1D7A13A9}"/>
              </a:ext>
            </a:extLst>
          </p:cNvPr>
          <p:cNvSpPr/>
          <p:nvPr/>
        </p:nvSpPr>
        <p:spPr>
          <a:xfrm>
            <a:off x="7816851"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10</a:t>
            </a:r>
            <a:endParaRPr lang="zh-CN" altLang="en-US" sz="1400" dirty="0"/>
          </a:p>
        </p:txBody>
      </p:sp>
      <p:sp>
        <p:nvSpPr>
          <p:cNvPr id="45" name="矩形 44">
            <a:extLst>
              <a:ext uri="{FF2B5EF4-FFF2-40B4-BE49-F238E27FC236}">
                <a16:creationId xmlns:a16="http://schemas.microsoft.com/office/drawing/2014/main" id="{4FE47032-E633-F36D-1E66-56C0BE973E00}"/>
              </a:ext>
            </a:extLst>
          </p:cNvPr>
          <p:cNvSpPr/>
          <p:nvPr/>
        </p:nvSpPr>
        <p:spPr>
          <a:xfrm>
            <a:off x="8483600"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11</a:t>
            </a:r>
            <a:endParaRPr lang="zh-CN" altLang="en-US" sz="1400" dirty="0"/>
          </a:p>
        </p:txBody>
      </p:sp>
      <p:sp>
        <p:nvSpPr>
          <p:cNvPr id="46" name="矩形 45">
            <a:extLst>
              <a:ext uri="{FF2B5EF4-FFF2-40B4-BE49-F238E27FC236}">
                <a16:creationId xmlns:a16="http://schemas.microsoft.com/office/drawing/2014/main" id="{C2C6482B-07E5-C86F-228E-EFF79B382F5A}"/>
              </a:ext>
            </a:extLst>
          </p:cNvPr>
          <p:cNvSpPr/>
          <p:nvPr/>
        </p:nvSpPr>
        <p:spPr>
          <a:xfrm>
            <a:off x="9141884"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12</a:t>
            </a:r>
            <a:endParaRPr lang="zh-CN" altLang="en-US" sz="1400" dirty="0"/>
          </a:p>
        </p:txBody>
      </p:sp>
      <p:sp>
        <p:nvSpPr>
          <p:cNvPr id="47" name="矩形 46">
            <a:extLst>
              <a:ext uri="{FF2B5EF4-FFF2-40B4-BE49-F238E27FC236}">
                <a16:creationId xmlns:a16="http://schemas.microsoft.com/office/drawing/2014/main" id="{CAA2AF7D-3470-34FA-84F5-53BA7AA46084}"/>
              </a:ext>
            </a:extLst>
          </p:cNvPr>
          <p:cNvSpPr/>
          <p:nvPr/>
        </p:nvSpPr>
        <p:spPr>
          <a:xfrm>
            <a:off x="9806518"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13</a:t>
            </a:r>
            <a:endParaRPr lang="zh-CN" altLang="en-US" sz="1400" dirty="0"/>
          </a:p>
        </p:txBody>
      </p:sp>
      <p:sp>
        <p:nvSpPr>
          <p:cNvPr id="48" name="矩形 47">
            <a:extLst>
              <a:ext uri="{FF2B5EF4-FFF2-40B4-BE49-F238E27FC236}">
                <a16:creationId xmlns:a16="http://schemas.microsoft.com/office/drawing/2014/main" id="{F8149370-C8EA-DC81-79A3-1A480A008487}"/>
              </a:ext>
            </a:extLst>
          </p:cNvPr>
          <p:cNvSpPr/>
          <p:nvPr/>
        </p:nvSpPr>
        <p:spPr>
          <a:xfrm>
            <a:off x="10505018"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14</a:t>
            </a:r>
            <a:endParaRPr lang="zh-CN" altLang="en-US" sz="1400" dirty="0"/>
          </a:p>
        </p:txBody>
      </p:sp>
      <p:sp>
        <p:nvSpPr>
          <p:cNvPr id="49" name="矩形 48">
            <a:extLst>
              <a:ext uri="{FF2B5EF4-FFF2-40B4-BE49-F238E27FC236}">
                <a16:creationId xmlns:a16="http://schemas.microsoft.com/office/drawing/2014/main" id="{B7166258-E991-D031-E0C8-43353272242A}"/>
              </a:ext>
            </a:extLst>
          </p:cNvPr>
          <p:cNvSpPr/>
          <p:nvPr/>
        </p:nvSpPr>
        <p:spPr>
          <a:xfrm>
            <a:off x="11169651"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15</a:t>
            </a:r>
            <a:endParaRPr lang="zh-CN" altLang="en-US" sz="1400" dirty="0"/>
          </a:p>
        </p:txBody>
      </p:sp>
      <p:cxnSp>
        <p:nvCxnSpPr>
          <p:cNvPr id="52" name="直接连接符 51">
            <a:extLst>
              <a:ext uri="{FF2B5EF4-FFF2-40B4-BE49-F238E27FC236}">
                <a16:creationId xmlns:a16="http://schemas.microsoft.com/office/drawing/2014/main" id="{AA573A64-FC74-516F-5257-7B1D6CA888EB}"/>
              </a:ext>
            </a:extLst>
          </p:cNvPr>
          <p:cNvCxnSpPr/>
          <p:nvPr/>
        </p:nvCxnSpPr>
        <p:spPr>
          <a:xfrm>
            <a:off x="42904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5BF0F3A1-CB18-2874-BB8B-B9C4D4217E2D}"/>
              </a:ext>
            </a:extLst>
          </p:cNvPr>
          <p:cNvCxnSpPr/>
          <p:nvPr/>
        </p:nvCxnSpPr>
        <p:spPr>
          <a:xfrm>
            <a:off x="36173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6891966D-13E5-9A6D-8FD1-C0DA37255C3E}"/>
              </a:ext>
            </a:extLst>
          </p:cNvPr>
          <p:cNvCxnSpPr/>
          <p:nvPr/>
        </p:nvCxnSpPr>
        <p:spPr>
          <a:xfrm>
            <a:off x="9249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0FDA628-5016-5648-488A-5F8EC84D846D}"/>
              </a:ext>
            </a:extLst>
          </p:cNvPr>
          <p:cNvCxnSpPr/>
          <p:nvPr/>
        </p:nvCxnSpPr>
        <p:spPr>
          <a:xfrm>
            <a:off x="16023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圆角矩形 5">
            <a:extLst>
              <a:ext uri="{FF2B5EF4-FFF2-40B4-BE49-F238E27FC236}">
                <a16:creationId xmlns:a16="http://schemas.microsoft.com/office/drawing/2014/main" id="{292C5970-3E4B-594D-FDF0-D4AF4706271B}"/>
              </a:ext>
            </a:extLst>
          </p:cNvPr>
          <p:cNvSpPr>
            <a:spLocks noChangeArrowheads="1"/>
          </p:cNvSpPr>
          <p:nvPr/>
        </p:nvSpPr>
        <p:spPr bwMode="auto">
          <a:xfrm>
            <a:off x="12496801" y="3782736"/>
            <a:ext cx="3199919" cy="444791"/>
          </a:xfrm>
          <a:prstGeom prst="roundRect">
            <a:avLst>
              <a:gd name="adj" fmla="val 16667"/>
            </a:avLst>
          </a:prstGeom>
          <a:solidFill>
            <a:srgbClr val="C00000"/>
          </a:solidFill>
          <a:ln w="9525">
            <a:noFill/>
            <a:round/>
            <a:headEnd/>
            <a:tailEnd/>
          </a:ln>
          <a:effectLst>
            <a:outerShdw dist="63500" dir="5400000" algn="ctr" rotWithShape="0">
              <a:srgbClr val="000000">
                <a:alpha val="10999"/>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 typeface="Arial" pitchFamily="34" charset="0"/>
              <a:buNone/>
              <a:tabLst/>
              <a:defRPr/>
            </a:pP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利用键计算哈希值，跟值无关</a:t>
            </a:r>
            <a:endParaRPr kumimoji="0" lang="zh-CN" altLang="en-US" sz="1600" i="0" u="none" strike="noStrike" kern="0" cap="none" spc="0" normalizeH="0" baseline="0" noProof="0" dirty="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2" name="!!!a">
            <a:extLst>
              <a:ext uri="{FF2B5EF4-FFF2-40B4-BE49-F238E27FC236}">
                <a16:creationId xmlns:a16="http://schemas.microsoft.com/office/drawing/2014/main" id="{CE2613D5-F360-9E43-921A-1E641E69CAC5}"/>
              </a:ext>
            </a:extLst>
          </p:cNvPr>
          <p:cNvSpPr/>
          <p:nvPr/>
        </p:nvSpPr>
        <p:spPr>
          <a:xfrm>
            <a:off x="3706285" y="2281767"/>
            <a:ext cx="478367" cy="480484"/>
          </a:xfrm>
          <a:prstGeom prst="ellipse">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sp>
        <p:nvSpPr>
          <p:cNvPr id="63" name="!!!b">
            <a:extLst>
              <a:ext uri="{FF2B5EF4-FFF2-40B4-BE49-F238E27FC236}">
                <a16:creationId xmlns:a16="http://schemas.microsoft.com/office/drawing/2014/main" id="{BC564E54-D496-B506-47EA-4D7077300A29}"/>
              </a:ext>
            </a:extLst>
          </p:cNvPr>
          <p:cNvSpPr/>
          <p:nvPr/>
        </p:nvSpPr>
        <p:spPr>
          <a:xfrm>
            <a:off x="2222501" y="4097867"/>
            <a:ext cx="478367" cy="480484"/>
          </a:xfrm>
          <a:prstGeom prst="ellipse">
            <a:avLst/>
          </a:prstGeom>
          <a:solidFill>
            <a:srgbClr val="79A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cxnSp>
        <p:nvCxnSpPr>
          <p:cNvPr id="64" name="直接箭头连接符 63">
            <a:extLst>
              <a:ext uri="{FF2B5EF4-FFF2-40B4-BE49-F238E27FC236}">
                <a16:creationId xmlns:a16="http://schemas.microsoft.com/office/drawing/2014/main" id="{5B959C8F-ACF5-098F-F4B5-21DD5E52DED2}"/>
              </a:ext>
            </a:extLst>
          </p:cNvPr>
          <p:cNvCxnSpPr>
            <a:stCxn id="63" idx="7"/>
          </p:cNvCxnSpPr>
          <p:nvPr/>
        </p:nvCxnSpPr>
        <p:spPr>
          <a:xfrm flipV="1">
            <a:off x="2630813" y="2844801"/>
            <a:ext cx="1299019" cy="13234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Map">
            <a:extLst>
              <a:ext uri="{FF2B5EF4-FFF2-40B4-BE49-F238E27FC236}">
                <a16:creationId xmlns:a16="http://schemas.microsoft.com/office/drawing/2014/main" id="{8297FAB7-427F-578A-D49E-CA7935667177}"/>
              </a:ext>
            </a:extLst>
          </p:cNvPr>
          <p:cNvSpPr>
            <a:spLocks noChangeArrowheads="1"/>
          </p:cNvSpPr>
          <p:nvPr/>
        </p:nvSpPr>
        <p:spPr bwMode="auto">
          <a:xfrm flipH="1">
            <a:off x="1575333" y="5226128"/>
            <a:ext cx="1299513" cy="433115"/>
          </a:xfrm>
          <a:prstGeom prst="roundRect">
            <a:avLst>
              <a:gd name="adj" fmla="val 24210"/>
            </a:avLst>
          </a:prstGeom>
          <a:solidFill>
            <a:srgbClr val="C00000"/>
          </a:solidFill>
          <a:ln w="9525">
            <a:noFill/>
            <a:round/>
            <a:headEnd/>
            <a:tailEnd/>
          </a:ln>
          <a:effectLst>
            <a:outerShdw dist="63500" dir="5400000" algn="ctr" rotWithShape="0">
              <a:srgbClr val="000000">
                <a:alpha val="10999"/>
              </a:srgbClr>
            </a:outerShdw>
          </a:effectLst>
        </p:spPr>
        <p:txBody>
          <a:bodyPr anchor="ctr"/>
          <a:lstStyle/>
          <a:p>
            <a:pPr lvl="0" algn="ctr">
              <a:defRPr/>
            </a:pPr>
            <a:r>
              <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开始</a:t>
            </a:r>
            <a:endPar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1457959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down)">
                                      <p:cBhvr>
                                        <p:cTn id="7"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ashmap">
            <a:extLst>
              <a:ext uri="{FF2B5EF4-FFF2-40B4-BE49-F238E27FC236}">
                <a16:creationId xmlns:a16="http://schemas.microsoft.com/office/drawing/2014/main" id="{AF08F25E-D229-A5D2-3718-BC609B768C0C}"/>
              </a:ext>
            </a:extLst>
          </p:cNvPr>
          <p:cNvSpPr>
            <a:spLocks noGrp="1"/>
          </p:cNvSpPr>
          <p:nvPr>
            <p:ph type="title"/>
          </p:nvPr>
        </p:nvSpPr>
        <p:spPr/>
        <p:txBody>
          <a:bodyPr/>
          <a:lstStyle/>
          <a:p>
            <a:r>
              <a:rPr lang="en-US" altLang="zh-CN" dirty="0"/>
              <a:t>HashMap</a:t>
            </a:r>
            <a:r>
              <a:rPr lang="zh-CN" altLang="en-US" dirty="0"/>
              <a:t>的底层原理</a:t>
            </a:r>
          </a:p>
        </p:txBody>
      </p:sp>
      <p:cxnSp>
        <p:nvCxnSpPr>
          <p:cNvPr id="3" name="直接连接符 2">
            <a:extLst>
              <a:ext uri="{FF2B5EF4-FFF2-40B4-BE49-F238E27FC236}">
                <a16:creationId xmlns:a16="http://schemas.microsoft.com/office/drawing/2014/main" id="{56958703-A5E3-74BE-84B5-B54D05ABF990}"/>
              </a:ext>
            </a:extLst>
          </p:cNvPr>
          <p:cNvCxnSpPr/>
          <p:nvPr/>
        </p:nvCxnSpPr>
        <p:spPr>
          <a:xfrm>
            <a:off x="924985" y="2171700"/>
            <a:ext cx="10805583" cy="0"/>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AFF6837C-F1F8-611C-3313-683318E0C5E3}"/>
              </a:ext>
            </a:extLst>
          </p:cNvPr>
          <p:cNvCxnSpPr/>
          <p:nvPr/>
        </p:nvCxnSpPr>
        <p:spPr>
          <a:xfrm>
            <a:off x="924985" y="2842684"/>
            <a:ext cx="10805583" cy="6349"/>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41D59102-413A-B1A7-B6E5-524B4584ED14}"/>
              </a:ext>
            </a:extLst>
          </p:cNvPr>
          <p:cNvSpPr/>
          <p:nvPr/>
        </p:nvSpPr>
        <p:spPr>
          <a:xfrm>
            <a:off x="10096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cxnSp>
        <p:nvCxnSpPr>
          <p:cNvPr id="6" name="直接连接符 5">
            <a:extLst>
              <a:ext uri="{FF2B5EF4-FFF2-40B4-BE49-F238E27FC236}">
                <a16:creationId xmlns:a16="http://schemas.microsoft.com/office/drawing/2014/main" id="{2DCA05F8-7F10-7B01-2DB3-26755AD38D7C}"/>
              </a:ext>
            </a:extLst>
          </p:cNvPr>
          <p:cNvCxnSpPr/>
          <p:nvPr/>
        </p:nvCxnSpPr>
        <p:spPr>
          <a:xfrm>
            <a:off x="22754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220D9C1D-A2CD-4A00-A10A-E81F48156D83}"/>
              </a:ext>
            </a:extLst>
          </p:cNvPr>
          <p:cNvSpPr/>
          <p:nvPr/>
        </p:nvSpPr>
        <p:spPr>
          <a:xfrm>
            <a:off x="167640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cxnSp>
        <p:nvCxnSpPr>
          <p:cNvPr id="8" name="直接连接符 7">
            <a:extLst>
              <a:ext uri="{FF2B5EF4-FFF2-40B4-BE49-F238E27FC236}">
                <a16:creationId xmlns:a16="http://schemas.microsoft.com/office/drawing/2014/main" id="{04AE0B85-757F-4F40-3C9E-6642028E3CF9}"/>
              </a:ext>
            </a:extLst>
          </p:cNvPr>
          <p:cNvCxnSpPr/>
          <p:nvPr/>
        </p:nvCxnSpPr>
        <p:spPr>
          <a:xfrm>
            <a:off x="2946400"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B528879-8163-70E9-9F6C-D03141283900}"/>
              </a:ext>
            </a:extLst>
          </p:cNvPr>
          <p:cNvCxnSpPr/>
          <p:nvPr/>
        </p:nvCxnSpPr>
        <p:spPr>
          <a:xfrm>
            <a:off x="49614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752261B-1A86-E392-B0DB-2A800079A31E}"/>
              </a:ext>
            </a:extLst>
          </p:cNvPr>
          <p:cNvCxnSpPr/>
          <p:nvPr/>
        </p:nvCxnSpPr>
        <p:spPr>
          <a:xfrm>
            <a:off x="56345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E5C01B27-39B9-563E-7B9B-FE2EE4053896}"/>
              </a:ext>
            </a:extLst>
          </p:cNvPr>
          <p:cNvCxnSpPr/>
          <p:nvPr/>
        </p:nvCxnSpPr>
        <p:spPr>
          <a:xfrm>
            <a:off x="6354233"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8B91A90-99B8-6654-17B7-443092D447C4}"/>
              </a:ext>
            </a:extLst>
          </p:cNvPr>
          <p:cNvCxnSpPr/>
          <p:nvPr/>
        </p:nvCxnSpPr>
        <p:spPr>
          <a:xfrm>
            <a:off x="7027333"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99C5051-5002-A5DB-6BF7-3ABCD3D463FF}"/>
              </a:ext>
            </a:extLst>
          </p:cNvPr>
          <p:cNvCxnSpPr/>
          <p:nvPr/>
        </p:nvCxnSpPr>
        <p:spPr>
          <a:xfrm>
            <a:off x="76983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DFAE8D2D-9824-4109-654A-74B737A705BC}"/>
              </a:ext>
            </a:extLst>
          </p:cNvPr>
          <p:cNvCxnSpPr/>
          <p:nvPr/>
        </p:nvCxnSpPr>
        <p:spPr>
          <a:xfrm>
            <a:off x="83714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0551429-D8CB-3A63-0D2E-91837CD85544}"/>
              </a:ext>
            </a:extLst>
          </p:cNvPr>
          <p:cNvCxnSpPr/>
          <p:nvPr/>
        </p:nvCxnSpPr>
        <p:spPr>
          <a:xfrm>
            <a:off x="9042400"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30B72C7-1EA1-1ED2-4AB6-B494B157D05B}"/>
              </a:ext>
            </a:extLst>
          </p:cNvPr>
          <p:cNvCxnSpPr/>
          <p:nvPr/>
        </p:nvCxnSpPr>
        <p:spPr>
          <a:xfrm>
            <a:off x="97133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8AC2E5C-BB95-455A-C58C-F118036D42A3}"/>
              </a:ext>
            </a:extLst>
          </p:cNvPr>
          <p:cNvCxnSpPr/>
          <p:nvPr/>
        </p:nvCxnSpPr>
        <p:spPr>
          <a:xfrm>
            <a:off x="103864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CC608EB-1A19-4D1B-FC17-535CE1FB5E28}"/>
              </a:ext>
            </a:extLst>
          </p:cNvPr>
          <p:cNvCxnSpPr/>
          <p:nvPr/>
        </p:nvCxnSpPr>
        <p:spPr>
          <a:xfrm>
            <a:off x="110574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9F1A3CA-245F-7A77-4769-CC6CAFEF07F1}"/>
              </a:ext>
            </a:extLst>
          </p:cNvPr>
          <p:cNvCxnSpPr/>
          <p:nvPr/>
        </p:nvCxnSpPr>
        <p:spPr>
          <a:xfrm>
            <a:off x="117305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0C89FEAD-A353-7631-2C16-60D39252C365}"/>
              </a:ext>
            </a:extLst>
          </p:cNvPr>
          <p:cNvSpPr/>
          <p:nvPr/>
        </p:nvSpPr>
        <p:spPr>
          <a:xfrm>
            <a:off x="23727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1" name="矩形 20">
            <a:extLst>
              <a:ext uri="{FF2B5EF4-FFF2-40B4-BE49-F238E27FC236}">
                <a16:creationId xmlns:a16="http://schemas.microsoft.com/office/drawing/2014/main" id="{C7DDBD6A-928F-FF71-26E5-02B06BA7D237}"/>
              </a:ext>
            </a:extLst>
          </p:cNvPr>
          <p:cNvSpPr/>
          <p:nvPr/>
        </p:nvSpPr>
        <p:spPr>
          <a:xfrm>
            <a:off x="30395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2" name="矩形 21">
            <a:extLst>
              <a:ext uri="{FF2B5EF4-FFF2-40B4-BE49-F238E27FC236}">
                <a16:creationId xmlns:a16="http://schemas.microsoft.com/office/drawing/2014/main" id="{3879B3AC-C1C6-BBAF-F3D0-7F916E4DA338}"/>
              </a:ext>
            </a:extLst>
          </p:cNvPr>
          <p:cNvSpPr/>
          <p:nvPr/>
        </p:nvSpPr>
        <p:spPr>
          <a:xfrm>
            <a:off x="3678767" y="2343152"/>
            <a:ext cx="502061" cy="307777"/>
          </a:xfrm>
          <a:prstGeom prst="rect">
            <a:avLst/>
          </a:prstGeom>
        </p:spPr>
        <p:txBody>
          <a:bodyPr wrap="none">
            <a:spAutoFit/>
          </a:bodyPr>
          <a:lstStyle/>
          <a:p>
            <a:pPr>
              <a:defRPr/>
            </a:pPr>
            <a:r>
              <a:rPr lang="en-US" altLang="zh-CN" sz="1400" dirty="0">
                <a:latin typeface="微软雅黑" panose="020B0503020204020204" pitchFamily="34" charset="-122"/>
                <a:ea typeface="微软雅黑" panose="020B0503020204020204" pitchFamily="34" charset="-122"/>
              </a:rPr>
              <a:t>null</a:t>
            </a:r>
            <a:endParaRPr lang="zh-CN" altLang="en-US" sz="1400" dirty="0">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DB7576E4-00E8-A2BB-A811-7E0C83EDA2F9}"/>
              </a:ext>
            </a:extLst>
          </p:cNvPr>
          <p:cNvSpPr/>
          <p:nvPr/>
        </p:nvSpPr>
        <p:spPr>
          <a:xfrm>
            <a:off x="43624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4" name="矩形 23">
            <a:extLst>
              <a:ext uri="{FF2B5EF4-FFF2-40B4-BE49-F238E27FC236}">
                <a16:creationId xmlns:a16="http://schemas.microsoft.com/office/drawing/2014/main" id="{A727D583-CB97-36F6-1F21-0E27030D09C0}"/>
              </a:ext>
            </a:extLst>
          </p:cNvPr>
          <p:cNvSpPr/>
          <p:nvPr/>
        </p:nvSpPr>
        <p:spPr>
          <a:xfrm>
            <a:off x="50588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5" name="矩形 24">
            <a:extLst>
              <a:ext uri="{FF2B5EF4-FFF2-40B4-BE49-F238E27FC236}">
                <a16:creationId xmlns:a16="http://schemas.microsoft.com/office/drawing/2014/main" id="{54605EA6-E5C4-9F53-0F67-5276276EB9F3}"/>
              </a:ext>
            </a:extLst>
          </p:cNvPr>
          <p:cNvSpPr/>
          <p:nvPr/>
        </p:nvSpPr>
        <p:spPr>
          <a:xfrm>
            <a:off x="57255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6" name="矩形 25">
            <a:extLst>
              <a:ext uri="{FF2B5EF4-FFF2-40B4-BE49-F238E27FC236}">
                <a16:creationId xmlns:a16="http://schemas.microsoft.com/office/drawing/2014/main" id="{350BD8F3-1EBA-6E5F-16E2-A8A34035A9BB}"/>
              </a:ext>
            </a:extLst>
          </p:cNvPr>
          <p:cNvSpPr/>
          <p:nvPr/>
        </p:nvSpPr>
        <p:spPr>
          <a:xfrm>
            <a:off x="64452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7" name="矩形 26">
            <a:extLst>
              <a:ext uri="{FF2B5EF4-FFF2-40B4-BE49-F238E27FC236}">
                <a16:creationId xmlns:a16="http://schemas.microsoft.com/office/drawing/2014/main" id="{01FEC3DB-7094-EAE0-6F8C-C32865D74D83}"/>
              </a:ext>
            </a:extLst>
          </p:cNvPr>
          <p:cNvSpPr/>
          <p:nvPr/>
        </p:nvSpPr>
        <p:spPr>
          <a:xfrm>
            <a:off x="71098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8" name="矩形 27">
            <a:extLst>
              <a:ext uri="{FF2B5EF4-FFF2-40B4-BE49-F238E27FC236}">
                <a16:creationId xmlns:a16="http://schemas.microsoft.com/office/drawing/2014/main" id="{FBC9AE71-1B1A-A5C8-4EB5-6947AB4922A8}"/>
              </a:ext>
            </a:extLst>
          </p:cNvPr>
          <p:cNvSpPr/>
          <p:nvPr/>
        </p:nvSpPr>
        <p:spPr>
          <a:xfrm>
            <a:off x="78083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9" name="矩形 28">
            <a:extLst>
              <a:ext uri="{FF2B5EF4-FFF2-40B4-BE49-F238E27FC236}">
                <a16:creationId xmlns:a16="http://schemas.microsoft.com/office/drawing/2014/main" id="{FEA2C813-CD81-110C-B1AD-943D058895BE}"/>
              </a:ext>
            </a:extLst>
          </p:cNvPr>
          <p:cNvSpPr/>
          <p:nvPr/>
        </p:nvSpPr>
        <p:spPr>
          <a:xfrm>
            <a:off x="8473018"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0" name="矩形 29">
            <a:extLst>
              <a:ext uri="{FF2B5EF4-FFF2-40B4-BE49-F238E27FC236}">
                <a16:creationId xmlns:a16="http://schemas.microsoft.com/office/drawing/2014/main" id="{E32AB7AD-5030-0AC5-A5CF-A4A6CD73776B}"/>
              </a:ext>
            </a:extLst>
          </p:cNvPr>
          <p:cNvSpPr/>
          <p:nvPr/>
        </p:nvSpPr>
        <p:spPr>
          <a:xfrm>
            <a:off x="913130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1" name="矩形 30">
            <a:extLst>
              <a:ext uri="{FF2B5EF4-FFF2-40B4-BE49-F238E27FC236}">
                <a16:creationId xmlns:a16="http://schemas.microsoft.com/office/drawing/2014/main" id="{38FAB158-6C12-E806-AA58-751371C4C955}"/>
              </a:ext>
            </a:extLst>
          </p:cNvPr>
          <p:cNvSpPr/>
          <p:nvPr/>
        </p:nvSpPr>
        <p:spPr>
          <a:xfrm>
            <a:off x="97959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2" name="矩形 31">
            <a:extLst>
              <a:ext uri="{FF2B5EF4-FFF2-40B4-BE49-F238E27FC236}">
                <a16:creationId xmlns:a16="http://schemas.microsoft.com/office/drawing/2014/main" id="{40EBFA96-BFF3-2474-87E8-3A454FB13944}"/>
              </a:ext>
            </a:extLst>
          </p:cNvPr>
          <p:cNvSpPr/>
          <p:nvPr/>
        </p:nvSpPr>
        <p:spPr>
          <a:xfrm>
            <a:off x="104944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3" name="矩形 32">
            <a:extLst>
              <a:ext uri="{FF2B5EF4-FFF2-40B4-BE49-F238E27FC236}">
                <a16:creationId xmlns:a16="http://schemas.microsoft.com/office/drawing/2014/main" id="{A7CEBD03-BAEE-EECB-3C41-F1ACC7EA8F19}"/>
              </a:ext>
            </a:extLst>
          </p:cNvPr>
          <p:cNvSpPr/>
          <p:nvPr/>
        </p:nvSpPr>
        <p:spPr>
          <a:xfrm>
            <a:off x="11159067"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4" name="矩形 33">
            <a:extLst>
              <a:ext uri="{FF2B5EF4-FFF2-40B4-BE49-F238E27FC236}">
                <a16:creationId xmlns:a16="http://schemas.microsoft.com/office/drawing/2014/main" id="{3BB80D08-4DD8-1DC7-682B-F223B9AD65A1}"/>
              </a:ext>
            </a:extLst>
          </p:cNvPr>
          <p:cNvSpPr/>
          <p:nvPr/>
        </p:nvSpPr>
        <p:spPr>
          <a:xfrm>
            <a:off x="1098551"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0</a:t>
            </a:r>
            <a:endParaRPr lang="zh-CN" altLang="en-US" sz="1400" dirty="0"/>
          </a:p>
        </p:txBody>
      </p:sp>
      <p:sp>
        <p:nvSpPr>
          <p:cNvPr id="35" name="矩形 34">
            <a:extLst>
              <a:ext uri="{FF2B5EF4-FFF2-40B4-BE49-F238E27FC236}">
                <a16:creationId xmlns:a16="http://schemas.microsoft.com/office/drawing/2014/main" id="{96BE1E69-C141-0396-E7E0-6BEAE3590CF9}"/>
              </a:ext>
            </a:extLst>
          </p:cNvPr>
          <p:cNvSpPr/>
          <p:nvPr/>
        </p:nvSpPr>
        <p:spPr>
          <a:xfrm>
            <a:off x="17631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a:t>
            </a:r>
            <a:endParaRPr lang="zh-CN" altLang="en-US" sz="1400" dirty="0"/>
          </a:p>
        </p:txBody>
      </p:sp>
      <p:sp>
        <p:nvSpPr>
          <p:cNvPr id="36" name="矩形 35">
            <a:extLst>
              <a:ext uri="{FF2B5EF4-FFF2-40B4-BE49-F238E27FC236}">
                <a16:creationId xmlns:a16="http://schemas.microsoft.com/office/drawing/2014/main" id="{BBFC6D64-C77F-C01D-C2A4-761DAEE98DBB}"/>
              </a:ext>
            </a:extLst>
          </p:cNvPr>
          <p:cNvSpPr/>
          <p:nvPr/>
        </p:nvSpPr>
        <p:spPr>
          <a:xfrm>
            <a:off x="24616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2</a:t>
            </a:r>
            <a:endParaRPr lang="zh-CN" altLang="en-US" sz="1400" dirty="0"/>
          </a:p>
        </p:txBody>
      </p:sp>
      <p:sp>
        <p:nvSpPr>
          <p:cNvPr id="37" name="矩形 36">
            <a:extLst>
              <a:ext uri="{FF2B5EF4-FFF2-40B4-BE49-F238E27FC236}">
                <a16:creationId xmlns:a16="http://schemas.microsoft.com/office/drawing/2014/main" id="{AFB69F05-2142-8FA1-C0C1-F95664245406}"/>
              </a:ext>
            </a:extLst>
          </p:cNvPr>
          <p:cNvSpPr/>
          <p:nvPr/>
        </p:nvSpPr>
        <p:spPr>
          <a:xfrm>
            <a:off x="3126318"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3</a:t>
            </a:r>
            <a:endParaRPr lang="zh-CN" altLang="en-US" sz="1400" dirty="0"/>
          </a:p>
        </p:txBody>
      </p:sp>
      <p:sp>
        <p:nvSpPr>
          <p:cNvPr id="38" name="矩形 37">
            <a:extLst>
              <a:ext uri="{FF2B5EF4-FFF2-40B4-BE49-F238E27FC236}">
                <a16:creationId xmlns:a16="http://schemas.microsoft.com/office/drawing/2014/main" id="{BD1172E2-706F-994E-2945-DF7E4C8CDF03}"/>
              </a:ext>
            </a:extLst>
          </p:cNvPr>
          <p:cNvSpPr/>
          <p:nvPr/>
        </p:nvSpPr>
        <p:spPr>
          <a:xfrm>
            <a:off x="3784600"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4</a:t>
            </a:r>
            <a:endParaRPr lang="zh-CN" altLang="en-US" sz="1400" dirty="0"/>
          </a:p>
        </p:txBody>
      </p:sp>
      <p:sp>
        <p:nvSpPr>
          <p:cNvPr id="39" name="矩形 38">
            <a:extLst>
              <a:ext uri="{FF2B5EF4-FFF2-40B4-BE49-F238E27FC236}">
                <a16:creationId xmlns:a16="http://schemas.microsoft.com/office/drawing/2014/main" id="{4B0D6518-23E0-3EFF-5A35-3C0A0D0570EA}"/>
              </a:ext>
            </a:extLst>
          </p:cNvPr>
          <p:cNvSpPr/>
          <p:nvPr/>
        </p:nvSpPr>
        <p:spPr>
          <a:xfrm>
            <a:off x="44492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5</a:t>
            </a:r>
            <a:endParaRPr lang="zh-CN" altLang="en-US" sz="1400" dirty="0"/>
          </a:p>
        </p:txBody>
      </p:sp>
      <p:sp>
        <p:nvSpPr>
          <p:cNvPr id="40" name="矩形 39">
            <a:extLst>
              <a:ext uri="{FF2B5EF4-FFF2-40B4-BE49-F238E27FC236}">
                <a16:creationId xmlns:a16="http://schemas.microsoft.com/office/drawing/2014/main" id="{F893903B-29C9-D849-AC67-5A7258C4CF87}"/>
              </a:ext>
            </a:extLst>
          </p:cNvPr>
          <p:cNvSpPr/>
          <p:nvPr/>
        </p:nvSpPr>
        <p:spPr>
          <a:xfrm>
            <a:off x="51477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6</a:t>
            </a:r>
            <a:endParaRPr lang="zh-CN" altLang="en-US" sz="1400" dirty="0"/>
          </a:p>
        </p:txBody>
      </p:sp>
      <p:sp>
        <p:nvSpPr>
          <p:cNvPr id="41" name="矩形 40">
            <a:extLst>
              <a:ext uri="{FF2B5EF4-FFF2-40B4-BE49-F238E27FC236}">
                <a16:creationId xmlns:a16="http://schemas.microsoft.com/office/drawing/2014/main" id="{FFDB0474-9891-5500-8BDC-17E27283A361}"/>
              </a:ext>
            </a:extLst>
          </p:cNvPr>
          <p:cNvSpPr/>
          <p:nvPr/>
        </p:nvSpPr>
        <p:spPr>
          <a:xfrm>
            <a:off x="5812367"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7</a:t>
            </a:r>
            <a:endParaRPr lang="zh-CN" altLang="en-US" sz="1400" dirty="0"/>
          </a:p>
        </p:txBody>
      </p:sp>
      <p:sp>
        <p:nvSpPr>
          <p:cNvPr id="42" name="矩形 41">
            <a:extLst>
              <a:ext uri="{FF2B5EF4-FFF2-40B4-BE49-F238E27FC236}">
                <a16:creationId xmlns:a16="http://schemas.microsoft.com/office/drawing/2014/main" id="{C9BF2DED-E27E-D0EE-28FA-35CA35F19CD9}"/>
              </a:ext>
            </a:extLst>
          </p:cNvPr>
          <p:cNvSpPr/>
          <p:nvPr/>
        </p:nvSpPr>
        <p:spPr>
          <a:xfrm>
            <a:off x="65320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8</a:t>
            </a:r>
            <a:endParaRPr lang="zh-CN" altLang="en-US" sz="1400" dirty="0"/>
          </a:p>
        </p:txBody>
      </p:sp>
      <p:sp>
        <p:nvSpPr>
          <p:cNvPr id="43" name="矩形 42">
            <a:extLst>
              <a:ext uri="{FF2B5EF4-FFF2-40B4-BE49-F238E27FC236}">
                <a16:creationId xmlns:a16="http://schemas.microsoft.com/office/drawing/2014/main" id="{13BE33A2-1FF8-04F3-8FC0-5E15CF38CBDB}"/>
              </a:ext>
            </a:extLst>
          </p:cNvPr>
          <p:cNvSpPr/>
          <p:nvPr/>
        </p:nvSpPr>
        <p:spPr>
          <a:xfrm>
            <a:off x="71987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9</a:t>
            </a:r>
            <a:endParaRPr lang="zh-CN" altLang="en-US" sz="1400" dirty="0"/>
          </a:p>
        </p:txBody>
      </p:sp>
      <p:sp>
        <p:nvSpPr>
          <p:cNvPr id="44" name="矩形 43">
            <a:extLst>
              <a:ext uri="{FF2B5EF4-FFF2-40B4-BE49-F238E27FC236}">
                <a16:creationId xmlns:a16="http://schemas.microsoft.com/office/drawing/2014/main" id="{DD2BD102-83C6-266F-1C4A-770E1D7A13A9}"/>
              </a:ext>
            </a:extLst>
          </p:cNvPr>
          <p:cNvSpPr/>
          <p:nvPr/>
        </p:nvSpPr>
        <p:spPr>
          <a:xfrm>
            <a:off x="7816851"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10</a:t>
            </a:r>
            <a:endParaRPr lang="zh-CN" altLang="en-US" sz="1400" dirty="0"/>
          </a:p>
        </p:txBody>
      </p:sp>
      <p:sp>
        <p:nvSpPr>
          <p:cNvPr id="45" name="矩形 44">
            <a:extLst>
              <a:ext uri="{FF2B5EF4-FFF2-40B4-BE49-F238E27FC236}">
                <a16:creationId xmlns:a16="http://schemas.microsoft.com/office/drawing/2014/main" id="{4FE47032-E633-F36D-1E66-56C0BE973E00}"/>
              </a:ext>
            </a:extLst>
          </p:cNvPr>
          <p:cNvSpPr/>
          <p:nvPr/>
        </p:nvSpPr>
        <p:spPr>
          <a:xfrm>
            <a:off x="8483600"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11</a:t>
            </a:r>
            <a:endParaRPr lang="zh-CN" altLang="en-US" sz="1400" dirty="0"/>
          </a:p>
        </p:txBody>
      </p:sp>
      <p:sp>
        <p:nvSpPr>
          <p:cNvPr id="46" name="矩形 45">
            <a:extLst>
              <a:ext uri="{FF2B5EF4-FFF2-40B4-BE49-F238E27FC236}">
                <a16:creationId xmlns:a16="http://schemas.microsoft.com/office/drawing/2014/main" id="{C2C6482B-07E5-C86F-228E-EFF79B382F5A}"/>
              </a:ext>
            </a:extLst>
          </p:cNvPr>
          <p:cNvSpPr/>
          <p:nvPr/>
        </p:nvSpPr>
        <p:spPr>
          <a:xfrm>
            <a:off x="9141884"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12</a:t>
            </a:r>
            <a:endParaRPr lang="zh-CN" altLang="en-US" sz="1400" dirty="0"/>
          </a:p>
        </p:txBody>
      </p:sp>
      <p:sp>
        <p:nvSpPr>
          <p:cNvPr id="47" name="矩形 46">
            <a:extLst>
              <a:ext uri="{FF2B5EF4-FFF2-40B4-BE49-F238E27FC236}">
                <a16:creationId xmlns:a16="http://schemas.microsoft.com/office/drawing/2014/main" id="{CAA2AF7D-3470-34FA-84F5-53BA7AA46084}"/>
              </a:ext>
            </a:extLst>
          </p:cNvPr>
          <p:cNvSpPr/>
          <p:nvPr/>
        </p:nvSpPr>
        <p:spPr>
          <a:xfrm>
            <a:off x="9806518"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13</a:t>
            </a:r>
            <a:endParaRPr lang="zh-CN" altLang="en-US" sz="1400" dirty="0"/>
          </a:p>
        </p:txBody>
      </p:sp>
      <p:sp>
        <p:nvSpPr>
          <p:cNvPr id="48" name="矩形 47">
            <a:extLst>
              <a:ext uri="{FF2B5EF4-FFF2-40B4-BE49-F238E27FC236}">
                <a16:creationId xmlns:a16="http://schemas.microsoft.com/office/drawing/2014/main" id="{F8149370-C8EA-DC81-79A3-1A480A008487}"/>
              </a:ext>
            </a:extLst>
          </p:cNvPr>
          <p:cNvSpPr/>
          <p:nvPr/>
        </p:nvSpPr>
        <p:spPr>
          <a:xfrm>
            <a:off x="10505018"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14</a:t>
            </a:r>
            <a:endParaRPr lang="zh-CN" altLang="en-US" sz="1400" dirty="0"/>
          </a:p>
        </p:txBody>
      </p:sp>
      <p:sp>
        <p:nvSpPr>
          <p:cNvPr id="49" name="矩形 48">
            <a:extLst>
              <a:ext uri="{FF2B5EF4-FFF2-40B4-BE49-F238E27FC236}">
                <a16:creationId xmlns:a16="http://schemas.microsoft.com/office/drawing/2014/main" id="{B7166258-E991-D031-E0C8-43353272242A}"/>
              </a:ext>
            </a:extLst>
          </p:cNvPr>
          <p:cNvSpPr/>
          <p:nvPr/>
        </p:nvSpPr>
        <p:spPr>
          <a:xfrm>
            <a:off x="11169651"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15</a:t>
            </a:r>
            <a:endParaRPr lang="zh-CN" altLang="en-US" sz="1400" dirty="0"/>
          </a:p>
        </p:txBody>
      </p:sp>
      <p:cxnSp>
        <p:nvCxnSpPr>
          <p:cNvPr id="52" name="直接连接符 51">
            <a:extLst>
              <a:ext uri="{FF2B5EF4-FFF2-40B4-BE49-F238E27FC236}">
                <a16:creationId xmlns:a16="http://schemas.microsoft.com/office/drawing/2014/main" id="{AA573A64-FC74-516F-5257-7B1D6CA888EB}"/>
              </a:ext>
            </a:extLst>
          </p:cNvPr>
          <p:cNvCxnSpPr/>
          <p:nvPr/>
        </p:nvCxnSpPr>
        <p:spPr>
          <a:xfrm>
            <a:off x="42904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5BF0F3A1-CB18-2874-BB8B-B9C4D4217E2D}"/>
              </a:ext>
            </a:extLst>
          </p:cNvPr>
          <p:cNvCxnSpPr/>
          <p:nvPr/>
        </p:nvCxnSpPr>
        <p:spPr>
          <a:xfrm>
            <a:off x="36173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6891966D-13E5-9A6D-8FD1-C0DA37255C3E}"/>
              </a:ext>
            </a:extLst>
          </p:cNvPr>
          <p:cNvCxnSpPr/>
          <p:nvPr/>
        </p:nvCxnSpPr>
        <p:spPr>
          <a:xfrm>
            <a:off x="9249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0FDA628-5016-5648-488A-5F8EC84D846D}"/>
              </a:ext>
            </a:extLst>
          </p:cNvPr>
          <p:cNvCxnSpPr/>
          <p:nvPr/>
        </p:nvCxnSpPr>
        <p:spPr>
          <a:xfrm>
            <a:off x="16023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圆角矩形 5">
            <a:extLst>
              <a:ext uri="{FF2B5EF4-FFF2-40B4-BE49-F238E27FC236}">
                <a16:creationId xmlns:a16="http://schemas.microsoft.com/office/drawing/2014/main" id="{292C5970-3E4B-594D-FDF0-D4AF4706271B}"/>
              </a:ext>
            </a:extLst>
          </p:cNvPr>
          <p:cNvSpPr>
            <a:spLocks noChangeArrowheads="1"/>
          </p:cNvSpPr>
          <p:nvPr/>
        </p:nvSpPr>
        <p:spPr bwMode="auto">
          <a:xfrm>
            <a:off x="12496801" y="3782736"/>
            <a:ext cx="3199919" cy="444791"/>
          </a:xfrm>
          <a:prstGeom prst="roundRect">
            <a:avLst>
              <a:gd name="adj" fmla="val 16667"/>
            </a:avLst>
          </a:prstGeom>
          <a:solidFill>
            <a:srgbClr val="C00000"/>
          </a:solidFill>
          <a:ln w="9525">
            <a:noFill/>
            <a:round/>
            <a:headEnd/>
            <a:tailEnd/>
          </a:ln>
          <a:effectLst>
            <a:outerShdw dist="63500" dir="5400000" algn="ctr" rotWithShape="0">
              <a:srgbClr val="000000">
                <a:alpha val="10999"/>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 typeface="Arial" pitchFamily="34" charset="0"/>
              <a:buNone/>
              <a:tabLst/>
              <a:defRPr/>
            </a:pP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利用键计算哈希值，跟值无关</a:t>
            </a:r>
            <a:endParaRPr kumimoji="0" lang="zh-CN" altLang="en-US" sz="1600" i="0" u="none" strike="noStrike" kern="0" cap="none" spc="0" normalizeH="0" baseline="0" noProof="0" dirty="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2" name="!!!a">
            <a:extLst>
              <a:ext uri="{FF2B5EF4-FFF2-40B4-BE49-F238E27FC236}">
                <a16:creationId xmlns:a16="http://schemas.microsoft.com/office/drawing/2014/main" id="{CE2613D5-F360-9E43-921A-1E641E69CAC5}"/>
              </a:ext>
            </a:extLst>
          </p:cNvPr>
          <p:cNvSpPr/>
          <p:nvPr/>
        </p:nvSpPr>
        <p:spPr>
          <a:xfrm>
            <a:off x="3706285" y="2281767"/>
            <a:ext cx="478367" cy="480484"/>
          </a:xfrm>
          <a:prstGeom prst="ellipse">
            <a:avLst/>
          </a:prstGeom>
          <a:solidFill>
            <a:srgbClr val="0070C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sp>
        <p:nvSpPr>
          <p:cNvPr id="63" name="!!!b">
            <a:extLst>
              <a:ext uri="{FF2B5EF4-FFF2-40B4-BE49-F238E27FC236}">
                <a16:creationId xmlns:a16="http://schemas.microsoft.com/office/drawing/2014/main" id="{BC564E54-D496-B506-47EA-4D7077300A29}"/>
              </a:ext>
            </a:extLst>
          </p:cNvPr>
          <p:cNvSpPr/>
          <p:nvPr/>
        </p:nvSpPr>
        <p:spPr>
          <a:xfrm>
            <a:off x="3708000" y="3416142"/>
            <a:ext cx="478367" cy="480484"/>
          </a:xfrm>
          <a:prstGeom prst="ellipse">
            <a:avLst/>
          </a:prstGeom>
          <a:solidFill>
            <a:srgbClr val="79A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sp>
        <p:nvSpPr>
          <p:cNvPr id="51" name="!!!Map">
            <a:extLst>
              <a:ext uri="{FF2B5EF4-FFF2-40B4-BE49-F238E27FC236}">
                <a16:creationId xmlns:a16="http://schemas.microsoft.com/office/drawing/2014/main" id="{8297FAB7-427F-578A-D49E-CA7935667177}"/>
              </a:ext>
            </a:extLst>
          </p:cNvPr>
          <p:cNvSpPr>
            <a:spLocks noChangeArrowheads="1"/>
          </p:cNvSpPr>
          <p:nvPr/>
        </p:nvSpPr>
        <p:spPr bwMode="auto">
          <a:xfrm flipH="1">
            <a:off x="1575333" y="5226128"/>
            <a:ext cx="1299513" cy="433115"/>
          </a:xfrm>
          <a:prstGeom prst="roundRect">
            <a:avLst>
              <a:gd name="adj" fmla="val 24210"/>
            </a:avLst>
          </a:prstGeom>
          <a:solidFill>
            <a:srgbClr val="C00000"/>
          </a:solidFill>
          <a:ln w="9525">
            <a:noFill/>
            <a:round/>
            <a:headEnd/>
            <a:tailEnd/>
          </a:ln>
          <a:effectLst>
            <a:outerShdw dist="63500" dir="5400000" algn="ctr" rotWithShape="0">
              <a:srgbClr val="000000">
                <a:alpha val="10999"/>
              </a:srgbClr>
            </a:outerShdw>
          </a:effectLst>
        </p:spPr>
        <p:txBody>
          <a:bodyPr anchor="ctr"/>
          <a:lstStyle/>
          <a:p>
            <a:pPr lvl="0" algn="ctr">
              <a:defRPr/>
            </a:pPr>
            <a:r>
              <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开始</a:t>
            </a:r>
            <a:endPar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1" name="!!!c">
            <a:extLst>
              <a:ext uri="{FF2B5EF4-FFF2-40B4-BE49-F238E27FC236}">
                <a16:creationId xmlns:a16="http://schemas.microsoft.com/office/drawing/2014/main" id="{65D2B34F-44CB-907F-6525-A0D4EAAF16C4}"/>
              </a:ext>
            </a:extLst>
          </p:cNvPr>
          <p:cNvSpPr/>
          <p:nvPr/>
        </p:nvSpPr>
        <p:spPr>
          <a:xfrm>
            <a:off x="3708000" y="5204408"/>
            <a:ext cx="478367" cy="480483"/>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sp>
        <p:nvSpPr>
          <p:cNvPr id="66" name="矩形 3">
            <a:extLst>
              <a:ext uri="{FF2B5EF4-FFF2-40B4-BE49-F238E27FC236}">
                <a16:creationId xmlns:a16="http://schemas.microsoft.com/office/drawing/2014/main" id="{4330726C-00FE-90DD-7CAF-8ACA2E8E5CF3}"/>
              </a:ext>
            </a:extLst>
          </p:cNvPr>
          <p:cNvSpPr>
            <a:spLocks noChangeArrowheads="1"/>
          </p:cNvSpPr>
          <p:nvPr/>
        </p:nvSpPr>
        <p:spPr bwMode="auto">
          <a:xfrm>
            <a:off x="3727451" y="4550517"/>
            <a:ext cx="4347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dirty="0">
                <a:latin typeface="微软雅黑" panose="020B0503020204020204" pitchFamily="34" charset="-122"/>
                <a:ea typeface="微软雅黑" panose="020B0503020204020204" pitchFamily="34" charset="-122"/>
              </a:rPr>
              <a:t>…</a:t>
            </a:r>
            <a:endParaRPr lang="zh-CN" altLang="en-US" sz="2400" dirty="0"/>
          </a:p>
        </p:txBody>
      </p:sp>
      <p:sp>
        <p:nvSpPr>
          <p:cNvPr id="68" name="!!!Map">
            <a:extLst>
              <a:ext uri="{FF2B5EF4-FFF2-40B4-BE49-F238E27FC236}">
                <a16:creationId xmlns:a16="http://schemas.microsoft.com/office/drawing/2014/main" id="{A9E37CAE-3174-0FDF-87E6-3D7D9B68B2F8}"/>
              </a:ext>
            </a:extLst>
          </p:cNvPr>
          <p:cNvSpPr>
            <a:spLocks noChangeArrowheads="1"/>
          </p:cNvSpPr>
          <p:nvPr/>
        </p:nvSpPr>
        <p:spPr bwMode="auto">
          <a:xfrm flipH="1">
            <a:off x="4497976" y="4117402"/>
            <a:ext cx="4643908" cy="433115"/>
          </a:xfrm>
          <a:prstGeom prst="roundRect">
            <a:avLst>
              <a:gd name="adj" fmla="val 24210"/>
            </a:avLst>
          </a:prstGeom>
          <a:solidFill>
            <a:srgbClr val="0070C0"/>
          </a:solidFill>
          <a:ln w="9525">
            <a:noFill/>
            <a:round/>
            <a:headEnd/>
            <a:tailEnd/>
          </a:ln>
          <a:effectLst>
            <a:outerShdw dist="63500" dir="5400000" algn="ctr" rotWithShape="0">
              <a:srgbClr val="000000">
                <a:alpha val="10999"/>
              </a:srgbClr>
            </a:outerShdw>
          </a:effectLst>
        </p:spPr>
        <p:txBody>
          <a:bodyPr anchor="ctr"/>
          <a:lstStyle/>
          <a:p>
            <a:pPr lvl="0" algn="ctr">
              <a:defRPr/>
            </a:pP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长度超过</a:t>
            </a:r>
            <a:r>
              <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8&amp;</a:t>
            </a: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数组长度</a:t>
            </a:r>
            <a:r>
              <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&gt;=64</a:t>
            </a: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，自动转成红黑树</a:t>
            </a:r>
            <a:endPar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69" name="!!!箭头1">
            <a:extLst>
              <a:ext uri="{FF2B5EF4-FFF2-40B4-BE49-F238E27FC236}">
                <a16:creationId xmlns:a16="http://schemas.microsoft.com/office/drawing/2014/main" id="{567235E0-B860-EA81-1322-5BA8706814B4}"/>
              </a:ext>
            </a:extLst>
          </p:cNvPr>
          <p:cNvCxnSpPr>
            <a:cxnSpLocks/>
          </p:cNvCxnSpPr>
          <p:nvPr/>
        </p:nvCxnSpPr>
        <p:spPr>
          <a:xfrm>
            <a:off x="3945469" y="2762251"/>
            <a:ext cx="1715" cy="653891"/>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0" name="!!!箭头2">
            <a:extLst>
              <a:ext uri="{FF2B5EF4-FFF2-40B4-BE49-F238E27FC236}">
                <a16:creationId xmlns:a16="http://schemas.microsoft.com/office/drawing/2014/main" id="{58E22132-258B-CBB9-5193-CF465B317635}"/>
              </a:ext>
            </a:extLst>
          </p:cNvPr>
          <p:cNvCxnSpPr>
            <a:cxnSpLocks/>
          </p:cNvCxnSpPr>
          <p:nvPr/>
        </p:nvCxnSpPr>
        <p:spPr>
          <a:xfrm>
            <a:off x="3945468" y="3896626"/>
            <a:ext cx="1715" cy="653891"/>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43009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up)">
                                      <p:cBhvr>
                                        <p:cTn id="7" dur="5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wipe(up)">
                                      <p:cBhvr>
                                        <p:cTn id="12" dur="500"/>
                                        <p:tgtEl>
                                          <p:spTgt spid="70"/>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wipe(up)">
                                      <p:cBhvr>
                                        <p:cTn id="16" dur="500"/>
                                        <p:tgtEl>
                                          <p:spTgt spid="66"/>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61"/>
                                        </p:tgtEl>
                                        <p:attrNameLst>
                                          <p:attrName>style.visibility</p:attrName>
                                        </p:attrNameLst>
                                      </p:cBhvr>
                                      <p:to>
                                        <p:strVal val="visible"/>
                                      </p:to>
                                    </p:set>
                                    <p:animEffect transition="in" filter="wipe(up)">
                                      <p:cBhvr>
                                        <p:cTn id="20" dur="500"/>
                                        <p:tgtEl>
                                          <p:spTgt spid="61"/>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68"/>
                                        </p:tgtEl>
                                        <p:attrNameLst>
                                          <p:attrName>style.visibility</p:attrName>
                                        </p:attrNameLst>
                                      </p:cBhvr>
                                      <p:to>
                                        <p:strVal val="visible"/>
                                      </p:to>
                                    </p:set>
                                    <p:animEffect transition="in" filter="barn(inVertical)">
                                      <p:cBhvr>
                                        <p:cTn id="25"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6" grpId="0"/>
      <p:bldP spid="68"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ashmap">
            <a:extLst>
              <a:ext uri="{FF2B5EF4-FFF2-40B4-BE49-F238E27FC236}">
                <a16:creationId xmlns:a16="http://schemas.microsoft.com/office/drawing/2014/main" id="{AF08F25E-D229-A5D2-3718-BC609B768C0C}"/>
              </a:ext>
            </a:extLst>
          </p:cNvPr>
          <p:cNvSpPr>
            <a:spLocks noGrp="1"/>
          </p:cNvSpPr>
          <p:nvPr>
            <p:ph type="title"/>
          </p:nvPr>
        </p:nvSpPr>
        <p:spPr/>
        <p:txBody>
          <a:bodyPr/>
          <a:lstStyle/>
          <a:p>
            <a:r>
              <a:rPr lang="en-US" altLang="zh-CN" dirty="0"/>
              <a:t>HashMap</a:t>
            </a:r>
            <a:r>
              <a:rPr lang="zh-CN" altLang="en-US" dirty="0"/>
              <a:t>的底层原理</a:t>
            </a:r>
          </a:p>
        </p:txBody>
      </p:sp>
      <p:cxnSp>
        <p:nvCxnSpPr>
          <p:cNvPr id="3" name="直接连接符 2">
            <a:extLst>
              <a:ext uri="{FF2B5EF4-FFF2-40B4-BE49-F238E27FC236}">
                <a16:creationId xmlns:a16="http://schemas.microsoft.com/office/drawing/2014/main" id="{56958703-A5E3-74BE-84B5-B54D05ABF990}"/>
              </a:ext>
            </a:extLst>
          </p:cNvPr>
          <p:cNvCxnSpPr/>
          <p:nvPr/>
        </p:nvCxnSpPr>
        <p:spPr>
          <a:xfrm>
            <a:off x="924985" y="2171700"/>
            <a:ext cx="10805583" cy="0"/>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AFF6837C-F1F8-611C-3313-683318E0C5E3}"/>
              </a:ext>
            </a:extLst>
          </p:cNvPr>
          <p:cNvCxnSpPr/>
          <p:nvPr/>
        </p:nvCxnSpPr>
        <p:spPr>
          <a:xfrm>
            <a:off x="924985" y="2842684"/>
            <a:ext cx="10805583" cy="6349"/>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41D59102-413A-B1A7-B6E5-524B4584ED14}"/>
              </a:ext>
            </a:extLst>
          </p:cNvPr>
          <p:cNvSpPr/>
          <p:nvPr/>
        </p:nvSpPr>
        <p:spPr>
          <a:xfrm>
            <a:off x="10096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cxnSp>
        <p:nvCxnSpPr>
          <p:cNvPr id="6" name="直接连接符 5">
            <a:extLst>
              <a:ext uri="{FF2B5EF4-FFF2-40B4-BE49-F238E27FC236}">
                <a16:creationId xmlns:a16="http://schemas.microsoft.com/office/drawing/2014/main" id="{2DCA05F8-7F10-7B01-2DB3-26755AD38D7C}"/>
              </a:ext>
            </a:extLst>
          </p:cNvPr>
          <p:cNvCxnSpPr/>
          <p:nvPr/>
        </p:nvCxnSpPr>
        <p:spPr>
          <a:xfrm>
            <a:off x="22754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220D9C1D-A2CD-4A00-A10A-E81F48156D83}"/>
              </a:ext>
            </a:extLst>
          </p:cNvPr>
          <p:cNvSpPr/>
          <p:nvPr/>
        </p:nvSpPr>
        <p:spPr>
          <a:xfrm>
            <a:off x="167640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cxnSp>
        <p:nvCxnSpPr>
          <p:cNvPr id="8" name="直接连接符 7">
            <a:extLst>
              <a:ext uri="{FF2B5EF4-FFF2-40B4-BE49-F238E27FC236}">
                <a16:creationId xmlns:a16="http://schemas.microsoft.com/office/drawing/2014/main" id="{04AE0B85-757F-4F40-3C9E-6642028E3CF9}"/>
              </a:ext>
            </a:extLst>
          </p:cNvPr>
          <p:cNvCxnSpPr/>
          <p:nvPr/>
        </p:nvCxnSpPr>
        <p:spPr>
          <a:xfrm>
            <a:off x="2946400"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B528879-8163-70E9-9F6C-D03141283900}"/>
              </a:ext>
            </a:extLst>
          </p:cNvPr>
          <p:cNvCxnSpPr/>
          <p:nvPr/>
        </p:nvCxnSpPr>
        <p:spPr>
          <a:xfrm>
            <a:off x="49614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752261B-1A86-E392-B0DB-2A800079A31E}"/>
              </a:ext>
            </a:extLst>
          </p:cNvPr>
          <p:cNvCxnSpPr/>
          <p:nvPr/>
        </p:nvCxnSpPr>
        <p:spPr>
          <a:xfrm>
            <a:off x="56345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E5C01B27-39B9-563E-7B9B-FE2EE4053896}"/>
              </a:ext>
            </a:extLst>
          </p:cNvPr>
          <p:cNvCxnSpPr/>
          <p:nvPr/>
        </p:nvCxnSpPr>
        <p:spPr>
          <a:xfrm>
            <a:off x="6354233"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8B91A90-99B8-6654-17B7-443092D447C4}"/>
              </a:ext>
            </a:extLst>
          </p:cNvPr>
          <p:cNvCxnSpPr/>
          <p:nvPr/>
        </p:nvCxnSpPr>
        <p:spPr>
          <a:xfrm>
            <a:off x="7027333"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99C5051-5002-A5DB-6BF7-3ABCD3D463FF}"/>
              </a:ext>
            </a:extLst>
          </p:cNvPr>
          <p:cNvCxnSpPr/>
          <p:nvPr/>
        </p:nvCxnSpPr>
        <p:spPr>
          <a:xfrm>
            <a:off x="76983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DFAE8D2D-9824-4109-654A-74B737A705BC}"/>
              </a:ext>
            </a:extLst>
          </p:cNvPr>
          <p:cNvCxnSpPr/>
          <p:nvPr/>
        </p:nvCxnSpPr>
        <p:spPr>
          <a:xfrm>
            <a:off x="83714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0551429-D8CB-3A63-0D2E-91837CD85544}"/>
              </a:ext>
            </a:extLst>
          </p:cNvPr>
          <p:cNvCxnSpPr/>
          <p:nvPr/>
        </p:nvCxnSpPr>
        <p:spPr>
          <a:xfrm>
            <a:off x="9042400"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30B72C7-1EA1-1ED2-4AB6-B494B157D05B}"/>
              </a:ext>
            </a:extLst>
          </p:cNvPr>
          <p:cNvCxnSpPr/>
          <p:nvPr/>
        </p:nvCxnSpPr>
        <p:spPr>
          <a:xfrm>
            <a:off x="97133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8AC2E5C-BB95-455A-C58C-F118036D42A3}"/>
              </a:ext>
            </a:extLst>
          </p:cNvPr>
          <p:cNvCxnSpPr/>
          <p:nvPr/>
        </p:nvCxnSpPr>
        <p:spPr>
          <a:xfrm>
            <a:off x="103864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CC608EB-1A19-4D1B-FC17-535CE1FB5E28}"/>
              </a:ext>
            </a:extLst>
          </p:cNvPr>
          <p:cNvCxnSpPr/>
          <p:nvPr/>
        </p:nvCxnSpPr>
        <p:spPr>
          <a:xfrm>
            <a:off x="110574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9F1A3CA-245F-7A77-4769-CC6CAFEF07F1}"/>
              </a:ext>
            </a:extLst>
          </p:cNvPr>
          <p:cNvCxnSpPr/>
          <p:nvPr/>
        </p:nvCxnSpPr>
        <p:spPr>
          <a:xfrm>
            <a:off x="1173056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0C89FEAD-A353-7631-2C16-60D39252C365}"/>
              </a:ext>
            </a:extLst>
          </p:cNvPr>
          <p:cNvSpPr/>
          <p:nvPr/>
        </p:nvSpPr>
        <p:spPr>
          <a:xfrm>
            <a:off x="23727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1" name="矩形 20">
            <a:extLst>
              <a:ext uri="{FF2B5EF4-FFF2-40B4-BE49-F238E27FC236}">
                <a16:creationId xmlns:a16="http://schemas.microsoft.com/office/drawing/2014/main" id="{C7DDBD6A-928F-FF71-26E5-02B06BA7D237}"/>
              </a:ext>
            </a:extLst>
          </p:cNvPr>
          <p:cNvSpPr/>
          <p:nvPr/>
        </p:nvSpPr>
        <p:spPr>
          <a:xfrm>
            <a:off x="30395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2" name="矩形 21">
            <a:extLst>
              <a:ext uri="{FF2B5EF4-FFF2-40B4-BE49-F238E27FC236}">
                <a16:creationId xmlns:a16="http://schemas.microsoft.com/office/drawing/2014/main" id="{3879B3AC-C1C6-BBAF-F3D0-7F916E4DA338}"/>
              </a:ext>
            </a:extLst>
          </p:cNvPr>
          <p:cNvSpPr/>
          <p:nvPr/>
        </p:nvSpPr>
        <p:spPr>
          <a:xfrm>
            <a:off x="3678767" y="2343152"/>
            <a:ext cx="502061" cy="307777"/>
          </a:xfrm>
          <a:prstGeom prst="rect">
            <a:avLst/>
          </a:prstGeom>
        </p:spPr>
        <p:txBody>
          <a:bodyPr wrap="none">
            <a:spAutoFit/>
          </a:bodyPr>
          <a:lstStyle/>
          <a:p>
            <a:pPr>
              <a:defRPr/>
            </a:pPr>
            <a:r>
              <a:rPr lang="en-US" altLang="zh-CN" sz="1400" dirty="0">
                <a:latin typeface="微软雅黑" panose="020B0503020204020204" pitchFamily="34" charset="-122"/>
                <a:ea typeface="微软雅黑" panose="020B0503020204020204" pitchFamily="34" charset="-122"/>
              </a:rPr>
              <a:t>null</a:t>
            </a:r>
            <a:endParaRPr lang="zh-CN" altLang="en-US" sz="1400" dirty="0">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DB7576E4-00E8-A2BB-A811-7E0C83EDA2F9}"/>
              </a:ext>
            </a:extLst>
          </p:cNvPr>
          <p:cNvSpPr/>
          <p:nvPr/>
        </p:nvSpPr>
        <p:spPr>
          <a:xfrm>
            <a:off x="43624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4" name="矩形 23">
            <a:extLst>
              <a:ext uri="{FF2B5EF4-FFF2-40B4-BE49-F238E27FC236}">
                <a16:creationId xmlns:a16="http://schemas.microsoft.com/office/drawing/2014/main" id="{A727D583-CB97-36F6-1F21-0E27030D09C0}"/>
              </a:ext>
            </a:extLst>
          </p:cNvPr>
          <p:cNvSpPr/>
          <p:nvPr/>
        </p:nvSpPr>
        <p:spPr>
          <a:xfrm>
            <a:off x="50588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5" name="矩形 24">
            <a:extLst>
              <a:ext uri="{FF2B5EF4-FFF2-40B4-BE49-F238E27FC236}">
                <a16:creationId xmlns:a16="http://schemas.microsoft.com/office/drawing/2014/main" id="{54605EA6-E5C4-9F53-0F67-5276276EB9F3}"/>
              </a:ext>
            </a:extLst>
          </p:cNvPr>
          <p:cNvSpPr/>
          <p:nvPr/>
        </p:nvSpPr>
        <p:spPr>
          <a:xfrm>
            <a:off x="57255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6" name="矩形 25">
            <a:extLst>
              <a:ext uri="{FF2B5EF4-FFF2-40B4-BE49-F238E27FC236}">
                <a16:creationId xmlns:a16="http://schemas.microsoft.com/office/drawing/2014/main" id="{350BD8F3-1EBA-6E5F-16E2-A8A34035A9BB}"/>
              </a:ext>
            </a:extLst>
          </p:cNvPr>
          <p:cNvSpPr/>
          <p:nvPr/>
        </p:nvSpPr>
        <p:spPr>
          <a:xfrm>
            <a:off x="644525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7" name="矩形 26">
            <a:extLst>
              <a:ext uri="{FF2B5EF4-FFF2-40B4-BE49-F238E27FC236}">
                <a16:creationId xmlns:a16="http://schemas.microsoft.com/office/drawing/2014/main" id="{01FEC3DB-7094-EAE0-6F8C-C32865D74D83}"/>
              </a:ext>
            </a:extLst>
          </p:cNvPr>
          <p:cNvSpPr/>
          <p:nvPr/>
        </p:nvSpPr>
        <p:spPr>
          <a:xfrm>
            <a:off x="71098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8" name="矩形 27">
            <a:extLst>
              <a:ext uri="{FF2B5EF4-FFF2-40B4-BE49-F238E27FC236}">
                <a16:creationId xmlns:a16="http://schemas.microsoft.com/office/drawing/2014/main" id="{FBC9AE71-1B1A-A5C8-4EB5-6947AB4922A8}"/>
              </a:ext>
            </a:extLst>
          </p:cNvPr>
          <p:cNvSpPr/>
          <p:nvPr/>
        </p:nvSpPr>
        <p:spPr>
          <a:xfrm>
            <a:off x="7808385"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29" name="矩形 28">
            <a:extLst>
              <a:ext uri="{FF2B5EF4-FFF2-40B4-BE49-F238E27FC236}">
                <a16:creationId xmlns:a16="http://schemas.microsoft.com/office/drawing/2014/main" id="{FEA2C813-CD81-110C-B1AD-943D058895BE}"/>
              </a:ext>
            </a:extLst>
          </p:cNvPr>
          <p:cNvSpPr/>
          <p:nvPr/>
        </p:nvSpPr>
        <p:spPr>
          <a:xfrm>
            <a:off x="8473018"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0" name="矩形 29">
            <a:extLst>
              <a:ext uri="{FF2B5EF4-FFF2-40B4-BE49-F238E27FC236}">
                <a16:creationId xmlns:a16="http://schemas.microsoft.com/office/drawing/2014/main" id="{E32AB7AD-5030-0AC5-A5CF-A4A6CD73776B}"/>
              </a:ext>
            </a:extLst>
          </p:cNvPr>
          <p:cNvSpPr/>
          <p:nvPr/>
        </p:nvSpPr>
        <p:spPr>
          <a:xfrm>
            <a:off x="9131301"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1" name="矩形 30">
            <a:extLst>
              <a:ext uri="{FF2B5EF4-FFF2-40B4-BE49-F238E27FC236}">
                <a16:creationId xmlns:a16="http://schemas.microsoft.com/office/drawing/2014/main" id="{38FAB158-6C12-E806-AA58-751371C4C955}"/>
              </a:ext>
            </a:extLst>
          </p:cNvPr>
          <p:cNvSpPr/>
          <p:nvPr/>
        </p:nvSpPr>
        <p:spPr>
          <a:xfrm>
            <a:off x="97959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2" name="矩形 31">
            <a:extLst>
              <a:ext uri="{FF2B5EF4-FFF2-40B4-BE49-F238E27FC236}">
                <a16:creationId xmlns:a16="http://schemas.microsoft.com/office/drawing/2014/main" id="{40EBFA96-BFF3-2474-87E8-3A454FB13944}"/>
              </a:ext>
            </a:extLst>
          </p:cNvPr>
          <p:cNvSpPr/>
          <p:nvPr/>
        </p:nvSpPr>
        <p:spPr>
          <a:xfrm>
            <a:off x="10494434"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3" name="矩形 32">
            <a:extLst>
              <a:ext uri="{FF2B5EF4-FFF2-40B4-BE49-F238E27FC236}">
                <a16:creationId xmlns:a16="http://schemas.microsoft.com/office/drawing/2014/main" id="{A7CEBD03-BAEE-EECB-3C41-F1ACC7EA8F19}"/>
              </a:ext>
            </a:extLst>
          </p:cNvPr>
          <p:cNvSpPr/>
          <p:nvPr/>
        </p:nvSpPr>
        <p:spPr>
          <a:xfrm>
            <a:off x="11159067" y="2343152"/>
            <a:ext cx="502061"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null</a:t>
            </a:r>
            <a:endParaRPr lang="zh-CN" altLang="en-US" sz="1400" dirty="0"/>
          </a:p>
        </p:txBody>
      </p:sp>
      <p:sp>
        <p:nvSpPr>
          <p:cNvPr id="34" name="矩形 33">
            <a:extLst>
              <a:ext uri="{FF2B5EF4-FFF2-40B4-BE49-F238E27FC236}">
                <a16:creationId xmlns:a16="http://schemas.microsoft.com/office/drawing/2014/main" id="{3BB80D08-4DD8-1DC7-682B-F223B9AD65A1}"/>
              </a:ext>
            </a:extLst>
          </p:cNvPr>
          <p:cNvSpPr/>
          <p:nvPr/>
        </p:nvSpPr>
        <p:spPr>
          <a:xfrm>
            <a:off x="1098551"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0</a:t>
            </a:r>
            <a:endParaRPr lang="zh-CN" altLang="en-US" sz="1400" dirty="0"/>
          </a:p>
        </p:txBody>
      </p:sp>
      <p:sp>
        <p:nvSpPr>
          <p:cNvPr id="35" name="矩形 34">
            <a:extLst>
              <a:ext uri="{FF2B5EF4-FFF2-40B4-BE49-F238E27FC236}">
                <a16:creationId xmlns:a16="http://schemas.microsoft.com/office/drawing/2014/main" id="{96BE1E69-C141-0396-E7E0-6BEAE3590CF9}"/>
              </a:ext>
            </a:extLst>
          </p:cNvPr>
          <p:cNvSpPr/>
          <p:nvPr/>
        </p:nvSpPr>
        <p:spPr>
          <a:xfrm>
            <a:off x="17631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a:t>
            </a:r>
            <a:endParaRPr lang="zh-CN" altLang="en-US" sz="1400" dirty="0"/>
          </a:p>
        </p:txBody>
      </p:sp>
      <p:sp>
        <p:nvSpPr>
          <p:cNvPr id="36" name="矩形 35">
            <a:extLst>
              <a:ext uri="{FF2B5EF4-FFF2-40B4-BE49-F238E27FC236}">
                <a16:creationId xmlns:a16="http://schemas.microsoft.com/office/drawing/2014/main" id="{BBFC6D64-C77F-C01D-C2A4-761DAEE98DBB}"/>
              </a:ext>
            </a:extLst>
          </p:cNvPr>
          <p:cNvSpPr/>
          <p:nvPr/>
        </p:nvSpPr>
        <p:spPr>
          <a:xfrm>
            <a:off x="24616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2</a:t>
            </a:r>
            <a:endParaRPr lang="zh-CN" altLang="en-US" sz="1400" dirty="0"/>
          </a:p>
        </p:txBody>
      </p:sp>
      <p:sp>
        <p:nvSpPr>
          <p:cNvPr id="37" name="矩形 36">
            <a:extLst>
              <a:ext uri="{FF2B5EF4-FFF2-40B4-BE49-F238E27FC236}">
                <a16:creationId xmlns:a16="http://schemas.microsoft.com/office/drawing/2014/main" id="{AFB69F05-2142-8FA1-C0C1-F95664245406}"/>
              </a:ext>
            </a:extLst>
          </p:cNvPr>
          <p:cNvSpPr/>
          <p:nvPr/>
        </p:nvSpPr>
        <p:spPr>
          <a:xfrm>
            <a:off x="3126318"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3</a:t>
            </a:r>
            <a:endParaRPr lang="zh-CN" altLang="en-US" sz="1400" dirty="0"/>
          </a:p>
        </p:txBody>
      </p:sp>
      <p:sp>
        <p:nvSpPr>
          <p:cNvPr id="38" name="矩形 37">
            <a:extLst>
              <a:ext uri="{FF2B5EF4-FFF2-40B4-BE49-F238E27FC236}">
                <a16:creationId xmlns:a16="http://schemas.microsoft.com/office/drawing/2014/main" id="{BD1172E2-706F-994E-2945-DF7E4C8CDF03}"/>
              </a:ext>
            </a:extLst>
          </p:cNvPr>
          <p:cNvSpPr/>
          <p:nvPr/>
        </p:nvSpPr>
        <p:spPr>
          <a:xfrm>
            <a:off x="3784600"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4</a:t>
            </a:r>
            <a:endParaRPr lang="zh-CN" altLang="en-US" sz="1400" dirty="0"/>
          </a:p>
        </p:txBody>
      </p:sp>
      <p:sp>
        <p:nvSpPr>
          <p:cNvPr id="39" name="矩形 38">
            <a:extLst>
              <a:ext uri="{FF2B5EF4-FFF2-40B4-BE49-F238E27FC236}">
                <a16:creationId xmlns:a16="http://schemas.microsoft.com/office/drawing/2014/main" id="{4B0D6518-23E0-3EFF-5A35-3C0A0D0570EA}"/>
              </a:ext>
            </a:extLst>
          </p:cNvPr>
          <p:cNvSpPr/>
          <p:nvPr/>
        </p:nvSpPr>
        <p:spPr>
          <a:xfrm>
            <a:off x="44492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5</a:t>
            </a:r>
            <a:endParaRPr lang="zh-CN" altLang="en-US" sz="1400" dirty="0"/>
          </a:p>
        </p:txBody>
      </p:sp>
      <p:sp>
        <p:nvSpPr>
          <p:cNvPr id="40" name="矩形 39">
            <a:extLst>
              <a:ext uri="{FF2B5EF4-FFF2-40B4-BE49-F238E27FC236}">
                <a16:creationId xmlns:a16="http://schemas.microsoft.com/office/drawing/2014/main" id="{F893903B-29C9-D849-AC67-5A7258C4CF87}"/>
              </a:ext>
            </a:extLst>
          </p:cNvPr>
          <p:cNvSpPr/>
          <p:nvPr/>
        </p:nvSpPr>
        <p:spPr>
          <a:xfrm>
            <a:off x="51477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6</a:t>
            </a:r>
            <a:endParaRPr lang="zh-CN" altLang="en-US" sz="1400" dirty="0"/>
          </a:p>
        </p:txBody>
      </p:sp>
      <p:sp>
        <p:nvSpPr>
          <p:cNvPr id="41" name="矩形 40">
            <a:extLst>
              <a:ext uri="{FF2B5EF4-FFF2-40B4-BE49-F238E27FC236}">
                <a16:creationId xmlns:a16="http://schemas.microsoft.com/office/drawing/2014/main" id="{FFDB0474-9891-5500-8BDC-17E27283A361}"/>
              </a:ext>
            </a:extLst>
          </p:cNvPr>
          <p:cNvSpPr/>
          <p:nvPr/>
        </p:nvSpPr>
        <p:spPr>
          <a:xfrm>
            <a:off x="5812367"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7</a:t>
            </a:r>
            <a:endParaRPr lang="zh-CN" altLang="en-US" sz="1400" dirty="0"/>
          </a:p>
        </p:txBody>
      </p:sp>
      <p:sp>
        <p:nvSpPr>
          <p:cNvPr id="42" name="矩形 41">
            <a:extLst>
              <a:ext uri="{FF2B5EF4-FFF2-40B4-BE49-F238E27FC236}">
                <a16:creationId xmlns:a16="http://schemas.microsoft.com/office/drawing/2014/main" id="{C9BF2DED-E27E-D0EE-28FA-35CA35F19CD9}"/>
              </a:ext>
            </a:extLst>
          </p:cNvPr>
          <p:cNvSpPr/>
          <p:nvPr/>
        </p:nvSpPr>
        <p:spPr>
          <a:xfrm>
            <a:off x="653203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8</a:t>
            </a:r>
            <a:endParaRPr lang="zh-CN" altLang="en-US" sz="1400" dirty="0"/>
          </a:p>
        </p:txBody>
      </p:sp>
      <p:sp>
        <p:nvSpPr>
          <p:cNvPr id="43" name="矩形 42">
            <a:extLst>
              <a:ext uri="{FF2B5EF4-FFF2-40B4-BE49-F238E27FC236}">
                <a16:creationId xmlns:a16="http://schemas.microsoft.com/office/drawing/2014/main" id="{13BE33A2-1FF8-04F3-8FC0-5E15CF38CBDB}"/>
              </a:ext>
            </a:extLst>
          </p:cNvPr>
          <p:cNvSpPr/>
          <p:nvPr/>
        </p:nvSpPr>
        <p:spPr>
          <a:xfrm>
            <a:off x="7198784" y="2844801"/>
            <a:ext cx="290464"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9</a:t>
            </a:r>
            <a:endParaRPr lang="zh-CN" altLang="en-US" sz="1400" dirty="0"/>
          </a:p>
        </p:txBody>
      </p:sp>
      <p:sp>
        <p:nvSpPr>
          <p:cNvPr id="44" name="矩形 43">
            <a:extLst>
              <a:ext uri="{FF2B5EF4-FFF2-40B4-BE49-F238E27FC236}">
                <a16:creationId xmlns:a16="http://schemas.microsoft.com/office/drawing/2014/main" id="{DD2BD102-83C6-266F-1C4A-770E1D7A13A9}"/>
              </a:ext>
            </a:extLst>
          </p:cNvPr>
          <p:cNvSpPr/>
          <p:nvPr/>
        </p:nvSpPr>
        <p:spPr>
          <a:xfrm>
            <a:off x="7816851"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10</a:t>
            </a:r>
            <a:endParaRPr lang="zh-CN" altLang="en-US" sz="1400" dirty="0"/>
          </a:p>
        </p:txBody>
      </p:sp>
      <p:sp>
        <p:nvSpPr>
          <p:cNvPr id="45" name="矩形 44">
            <a:extLst>
              <a:ext uri="{FF2B5EF4-FFF2-40B4-BE49-F238E27FC236}">
                <a16:creationId xmlns:a16="http://schemas.microsoft.com/office/drawing/2014/main" id="{4FE47032-E633-F36D-1E66-56C0BE973E00}"/>
              </a:ext>
            </a:extLst>
          </p:cNvPr>
          <p:cNvSpPr/>
          <p:nvPr/>
        </p:nvSpPr>
        <p:spPr>
          <a:xfrm>
            <a:off x="8483600"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11</a:t>
            </a:r>
            <a:endParaRPr lang="zh-CN" altLang="en-US" sz="1400" dirty="0"/>
          </a:p>
        </p:txBody>
      </p:sp>
      <p:sp>
        <p:nvSpPr>
          <p:cNvPr id="46" name="矩形 45">
            <a:extLst>
              <a:ext uri="{FF2B5EF4-FFF2-40B4-BE49-F238E27FC236}">
                <a16:creationId xmlns:a16="http://schemas.microsoft.com/office/drawing/2014/main" id="{C2C6482B-07E5-C86F-228E-EFF79B382F5A}"/>
              </a:ext>
            </a:extLst>
          </p:cNvPr>
          <p:cNvSpPr/>
          <p:nvPr/>
        </p:nvSpPr>
        <p:spPr>
          <a:xfrm>
            <a:off x="9141884"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12</a:t>
            </a:r>
            <a:endParaRPr lang="zh-CN" altLang="en-US" sz="1400" dirty="0"/>
          </a:p>
        </p:txBody>
      </p:sp>
      <p:sp>
        <p:nvSpPr>
          <p:cNvPr id="47" name="矩形 46">
            <a:extLst>
              <a:ext uri="{FF2B5EF4-FFF2-40B4-BE49-F238E27FC236}">
                <a16:creationId xmlns:a16="http://schemas.microsoft.com/office/drawing/2014/main" id="{CAA2AF7D-3470-34FA-84F5-53BA7AA46084}"/>
              </a:ext>
            </a:extLst>
          </p:cNvPr>
          <p:cNvSpPr/>
          <p:nvPr/>
        </p:nvSpPr>
        <p:spPr>
          <a:xfrm>
            <a:off x="9806518"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13</a:t>
            </a:r>
            <a:endParaRPr lang="zh-CN" altLang="en-US" sz="1400" dirty="0"/>
          </a:p>
        </p:txBody>
      </p:sp>
      <p:sp>
        <p:nvSpPr>
          <p:cNvPr id="48" name="矩形 47">
            <a:extLst>
              <a:ext uri="{FF2B5EF4-FFF2-40B4-BE49-F238E27FC236}">
                <a16:creationId xmlns:a16="http://schemas.microsoft.com/office/drawing/2014/main" id="{F8149370-C8EA-DC81-79A3-1A480A008487}"/>
              </a:ext>
            </a:extLst>
          </p:cNvPr>
          <p:cNvSpPr/>
          <p:nvPr/>
        </p:nvSpPr>
        <p:spPr>
          <a:xfrm>
            <a:off x="10505018"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14</a:t>
            </a:r>
            <a:endParaRPr lang="zh-CN" altLang="en-US" sz="1400" dirty="0"/>
          </a:p>
        </p:txBody>
      </p:sp>
      <p:sp>
        <p:nvSpPr>
          <p:cNvPr id="49" name="矩形 48">
            <a:extLst>
              <a:ext uri="{FF2B5EF4-FFF2-40B4-BE49-F238E27FC236}">
                <a16:creationId xmlns:a16="http://schemas.microsoft.com/office/drawing/2014/main" id="{B7166258-E991-D031-E0C8-43353272242A}"/>
              </a:ext>
            </a:extLst>
          </p:cNvPr>
          <p:cNvSpPr/>
          <p:nvPr/>
        </p:nvSpPr>
        <p:spPr>
          <a:xfrm>
            <a:off x="11169651" y="2844801"/>
            <a:ext cx="396262" cy="307777"/>
          </a:xfrm>
          <a:prstGeom prst="rect">
            <a:avLst/>
          </a:prstGeom>
        </p:spPr>
        <p:txBody>
          <a:bodyPr wrap="none">
            <a:spAutoFit/>
          </a:bodyPr>
          <a:lstStyle/>
          <a:p>
            <a:pPr>
              <a:defRPr/>
            </a:pPr>
            <a:r>
              <a:rPr lang="en-US" altLang="zh-CN" sz="1400" dirty="0">
                <a:solidFill>
                  <a:srgbClr val="333333"/>
                </a:solidFill>
                <a:latin typeface="微软雅黑" pitchFamily="34" charset="-122"/>
                <a:ea typeface="微软雅黑" pitchFamily="34" charset="-122"/>
              </a:rPr>
              <a:t>15</a:t>
            </a:r>
            <a:endParaRPr lang="zh-CN" altLang="en-US" sz="1400" dirty="0"/>
          </a:p>
        </p:txBody>
      </p:sp>
      <p:cxnSp>
        <p:nvCxnSpPr>
          <p:cNvPr id="52" name="直接连接符 51">
            <a:extLst>
              <a:ext uri="{FF2B5EF4-FFF2-40B4-BE49-F238E27FC236}">
                <a16:creationId xmlns:a16="http://schemas.microsoft.com/office/drawing/2014/main" id="{AA573A64-FC74-516F-5257-7B1D6CA888EB}"/>
              </a:ext>
            </a:extLst>
          </p:cNvPr>
          <p:cNvCxnSpPr/>
          <p:nvPr/>
        </p:nvCxnSpPr>
        <p:spPr>
          <a:xfrm>
            <a:off x="42904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5BF0F3A1-CB18-2874-BB8B-B9C4D4217E2D}"/>
              </a:ext>
            </a:extLst>
          </p:cNvPr>
          <p:cNvCxnSpPr/>
          <p:nvPr/>
        </p:nvCxnSpPr>
        <p:spPr>
          <a:xfrm>
            <a:off x="36173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6891966D-13E5-9A6D-8FD1-C0DA37255C3E}"/>
              </a:ext>
            </a:extLst>
          </p:cNvPr>
          <p:cNvCxnSpPr/>
          <p:nvPr/>
        </p:nvCxnSpPr>
        <p:spPr>
          <a:xfrm>
            <a:off x="924984"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0FDA628-5016-5648-488A-5F8EC84D846D}"/>
              </a:ext>
            </a:extLst>
          </p:cNvPr>
          <p:cNvCxnSpPr/>
          <p:nvPr/>
        </p:nvCxnSpPr>
        <p:spPr>
          <a:xfrm>
            <a:off x="1602317" y="2178051"/>
            <a:ext cx="0" cy="670983"/>
          </a:xfrm>
          <a:prstGeom prst="line">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圆角矩形 5">
            <a:extLst>
              <a:ext uri="{FF2B5EF4-FFF2-40B4-BE49-F238E27FC236}">
                <a16:creationId xmlns:a16="http://schemas.microsoft.com/office/drawing/2014/main" id="{292C5970-3E4B-594D-FDF0-D4AF4706271B}"/>
              </a:ext>
            </a:extLst>
          </p:cNvPr>
          <p:cNvSpPr>
            <a:spLocks noChangeArrowheads="1"/>
          </p:cNvSpPr>
          <p:nvPr/>
        </p:nvSpPr>
        <p:spPr bwMode="auto">
          <a:xfrm>
            <a:off x="12496801" y="3782736"/>
            <a:ext cx="3199919" cy="444791"/>
          </a:xfrm>
          <a:prstGeom prst="roundRect">
            <a:avLst>
              <a:gd name="adj" fmla="val 16667"/>
            </a:avLst>
          </a:prstGeom>
          <a:solidFill>
            <a:srgbClr val="C00000"/>
          </a:solidFill>
          <a:ln w="9525">
            <a:noFill/>
            <a:round/>
            <a:headEnd/>
            <a:tailEnd/>
          </a:ln>
          <a:effectLst>
            <a:outerShdw dist="63500" dir="5400000" algn="ctr" rotWithShape="0">
              <a:srgbClr val="000000">
                <a:alpha val="10999"/>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 typeface="Arial" pitchFamily="34" charset="0"/>
              <a:buNone/>
              <a:tabLst/>
              <a:defRPr/>
            </a:pP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利用键计算哈希值，跟值无关</a:t>
            </a:r>
            <a:endParaRPr kumimoji="0" lang="zh-CN" altLang="en-US" sz="1600" i="0" u="none" strike="noStrike" kern="0" cap="none" spc="0" normalizeH="0" baseline="0" noProof="0" dirty="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2" name="!!!a">
            <a:extLst>
              <a:ext uri="{FF2B5EF4-FFF2-40B4-BE49-F238E27FC236}">
                <a16:creationId xmlns:a16="http://schemas.microsoft.com/office/drawing/2014/main" id="{CE2613D5-F360-9E43-921A-1E641E69CAC5}"/>
              </a:ext>
            </a:extLst>
          </p:cNvPr>
          <p:cNvSpPr/>
          <p:nvPr/>
        </p:nvSpPr>
        <p:spPr>
          <a:xfrm>
            <a:off x="2864309" y="3416142"/>
            <a:ext cx="478367" cy="480484"/>
          </a:xfrm>
          <a:prstGeom prst="ellipse">
            <a:avLst/>
          </a:pr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sp>
        <p:nvSpPr>
          <p:cNvPr id="63" name="!!!c">
            <a:extLst>
              <a:ext uri="{FF2B5EF4-FFF2-40B4-BE49-F238E27FC236}">
                <a16:creationId xmlns:a16="http://schemas.microsoft.com/office/drawing/2014/main" id="{BC564E54-D496-B506-47EA-4D7077300A29}"/>
              </a:ext>
            </a:extLst>
          </p:cNvPr>
          <p:cNvSpPr/>
          <p:nvPr/>
        </p:nvSpPr>
        <p:spPr>
          <a:xfrm>
            <a:off x="4421280" y="3406815"/>
            <a:ext cx="478367" cy="480484"/>
          </a:xfrm>
          <a:prstGeom prst="ellipse">
            <a:avLst/>
          </a:pr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sp>
        <p:nvSpPr>
          <p:cNvPr id="51" name="!!!Map">
            <a:extLst>
              <a:ext uri="{FF2B5EF4-FFF2-40B4-BE49-F238E27FC236}">
                <a16:creationId xmlns:a16="http://schemas.microsoft.com/office/drawing/2014/main" id="{8297FAB7-427F-578A-D49E-CA7935667177}"/>
              </a:ext>
            </a:extLst>
          </p:cNvPr>
          <p:cNvSpPr>
            <a:spLocks noChangeArrowheads="1"/>
          </p:cNvSpPr>
          <p:nvPr/>
        </p:nvSpPr>
        <p:spPr bwMode="auto">
          <a:xfrm flipH="1">
            <a:off x="1575333" y="5226128"/>
            <a:ext cx="1299513" cy="433115"/>
          </a:xfrm>
          <a:prstGeom prst="roundRect">
            <a:avLst>
              <a:gd name="adj" fmla="val 24210"/>
            </a:avLst>
          </a:prstGeom>
          <a:solidFill>
            <a:srgbClr val="C00000"/>
          </a:solidFill>
          <a:ln w="9525">
            <a:noFill/>
            <a:round/>
            <a:headEnd/>
            <a:tailEnd/>
          </a:ln>
          <a:effectLst>
            <a:outerShdw dist="63500" dir="5400000" algn="ctr" rotWithShape="0">
              <a:srgbClr val="000000">
                <a:alpha val="10999"/>
              </a:srgbClr>
            </a:outerShdw>
          </a:effectLst>
        </p:spPr>
        <p:txBody>
          <a:bodyPr anchor="ctr"/>
          <a:lstStyle/>
          <a:p>
            <a:pPr lvl="0" algn="ctr">
              <a:defRPr/>
            </a:pPr>
            <a:r>
              <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JDK8</a:t>
            </a: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开始</a:t>
            </a:r>
            <a:endPar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1" name="!!!b">
            <a:extLst>
              <a:ext uri="{FF2B5EF4-FFF2-40B4-BE49-F238E27FC236}">
                <a16:creationId xmlns:a16="http://schemas.microsoft.com/office/drawing/2014/main" id="{65D2B34F-44CB-907F-6525-A0D4EAAF16C4}"/>
              </a:ext>
            </a:extLst>
          </p:cNvPr>
          <p:cNvSpPr/>
          <p:nvPr/>
        </p:nvSpPr>
        <p:spPr>
          <a:xfrm>
            <a:off x="3708000" y="2280081"/>
            <a:ext cx="478367" cy="480483"/>
          </a:xfrm>
          <a:prstGeom prst="ellipse">
            <a:avLst/>
          </a:prstGeom>
          <a:solidFill>
            <a:srgbClr val="0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0000"/>
              </a:solidFill>
            </a:endParaRPr>
          </a:p>
        </p:txBody>
      </p:sp>
      <p:sp>
        <p:nvSpPr>
          <p:cNvPr id="66" name="矩形 3">
            <a:extLst>
              <a:ext uri="{FF2B5EF4-FFF2-40B4-BE49-F238E27FC236}">
                <a16:creationId xmlns:a16="http://schemas.microsoft.com/office/drawing/2014/main" id="{4330726C-00FE-90DD-7CAF-8ACA2E8E5CF3}"/>
              </a:ext>
            </a:extLst>
          </p:cNvPr>
          <p:cNvSpPr>
            <a:spLocks noChangeArrowheads="1"/>
          </p:cNvSpPr>
          <p:nvPr/>
        </p:nvSpPr>
        <p:spPr bwMode="auto">
          <a:xfrm>
            <a:off x="2279795" y="3980431"/>
            <a:ext cx="4347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dirty="0">
                <a:latin typeface="微软雅黑" panose="020B0503020204020204" pitchFamily="34" charset="-122"/>
                <a:ea typeface="微软雅黑" panose="020B0503020204020204" pitchFamily="34" charset="-122"/>
              </a:rPr>
              <a:t>…</a:t>
            </a:r>
            <a:endParaRPr lang="zh-CN" altLang="en-US" sz="2400" dirty="0"/>
          </a:p>
        </p:txBody>
      </p:sp>
      <p:sp>
        <p:nvSpPr>
          <p:cNvPr id="68" name="!!!Map">
            <a:extLst>
              <a:ext uri="{FF2B5EF4-FFF2-40B4-BE49-F238E27FC236}">
                <a16:creationId xmlns:a16="http://schemas.microsoft.com/office/drawing/2014/main" id="{A9E37CAE-3174-0FDF-87E6-3D7D9B68B2F8}"/>
              </a:ext>
            </a:extLst>
          </p:cNvPr>
          <p:cNvSpPr>
            <a:spLocks noChangeArrowheads="1"/>
          </p:cNvSpPr>
          <p:nvPr/>
        </p:nvSpPr>
        <p:spPr bwMode="auto">
          <a:xfrm flipH="1">
            <a:off x="5825748" y="4117402"/>
            <a:ext cx="4643908" cy="433115"/>
          </a:xfrm>
          <a:prstGeom prst="roundRect">
            <a:avLst>
              <a:gd name="adj" fmla="val 24210"/>
            </a:avLst>
          </a:prstGeom>
          <a:solidFill>
            <a:srgbClr val="0070C0"/>
          </a:solidFill>
          <a:ln w="9525">
            <a:noFill/>
            <a:round/>
            <a:headEnd/>
            <a:tailEnd/>
          </a:ln>
          <a:effectLst>
            <a:outerShdw dist="63500" dir="5400000" algn="ctr" rotWithShape="0">
              <a:srgbClr val="000000">
                <a:alpha val="10999"/>
              </a:srgbClr>
            </a:outerShdw>
          </a:effectLst>
        </p:spPr>
        <p:txBody>
          <a:bodyPr anchor="ctr"/>
          <a:lstStyle/>
          <a:p>
            <a:pPr lvl="0" algn="ctr">
              <a:defRPr/>
            </a:pP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长度超过</a:t>
            </a:r>
            <a:r>
              <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8&amp;</a:t>
            </a: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数组长度</a:t>
            </a:r>
            <a:r>
              <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&gt;=64</a:t>
            </a:r>
            <a:r>
              <a:rPr lang="zh-CN" altLang="en-US"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，自动转成红黑树</a:t>
            </a:r>
            <a:endParaRPr lang="en-US" altLang="zh-CN" sz="16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4" name="矩形 3">
            <a:extLst>
              <a:ext uri="{FF2B5EF4-FFF2-40B4-BE49-F238E27FC236}">
                <a16:creationId xmlns:a16="http://schemas.microsoft.com/office/drawing/2014/main" id="{5EF9804A-2123-EC9A-81A2-E498C9989471}"/>
              </a:ext>
            </a:extLst>
          </p:cNvPr>
          <p:cNvSpPr>
            <a:spLocks noChangeArrowheads="1"/>
          </p:cNvSpPr>
          <p:nvPr/>
        </p:nvSpPr>
        <p:spPr bwMode="auto">
          <a:xfrm>
            <a:off x="3133837" y="3980431"/>
            <a:ext cx="4347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dirty="0">
                <a:latin typeface="微软雅黑" panose="020B0503020204020204" pitchFamily="34" charset="-122"/>
                <a:ea typeface="微软雅黑" panose="020B0503020204020204" pitchFamily="34" charset="-122"/>
              </a:rPr>
              <a:t>…</a:t>
            </a:r>
            <a:endParaRPr lang="zh-CN" altLang="en-US" sz="2400" dirty="0"/>
          </a:p>
        </p:txBody>
      </p:sp>
      <p:sp>
        <p:nvSpPr>
          <p:cNvPr id="67" name="矩形 3">
            <a:extLst>
              <a:ext uri="{FF2B5EF4-FFF2-40B4-BE49-F238E27FC236}">
                <a16:creationId xmlns:a16="http://schemas.microsoft.com/office/drawing/2014/main" id="{2CFBAD79-6A51-8BCC-2D93-550D6A526FFE}"/>
              </a:ext>
            </a:extLst>
          </p:cNvPr>
          <p:cNvSpPr>
            <a:spLocks noChangeArrowheads="1"/>
          </p:cNvSpPr>
          <p:nvPr/>
        </p:nvSpPr>
        <p:spPr bwMode="auto">
          <a:xfrm>
            <a:off x="4115241" y="3980431"/>
            <a:ext cx="4347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dirty="0">
                <a:latin typeface="微软雅黑" panose="020B0503020204020204" pitchFamily="34" charset="-122"/>
                <a:ea typeface="微软雅黑" panose="020B0503020204020204" pitchFamily="34" charset="-122"/>
              </a:rPr>
              <a:t>…</a:t>
            </a:r>
            <a:endParaRPr lang="zh-CN" altLang="en-US" sz="2400" dirty="0"/>
          </a:p>
        </p:txBody>
      </p:sp>
      <p:sp>
        <p:nvSpPr>
          <p:cNvPr id="70" name="矩形 3">
            <a:extLst>
              <a:ext uri="{FF2B5EF4-FFF2-40B4-BE49-F238E27FC236}">
                <a16:creationId xmlns:a16="http://schemas.microsoft.com/office/drawing/2014/main" id="{A5912DDA-5A25-C08D-DD9E-C786E18752E5}"/>
              </a:ext>
            </a:extLst>
          </p:cNvPr>
          <p:cNvSpPr>
            <a:spLocks noChangeArrowheads="1"/>
          </p:cNvSpPr>
          <p:nvPr/>
        </p:nvSpPr>
        <p:spPr bwMode="auto">
          <a:xfrm>
            <a:off x="4969283" y="3980431"/>
            <a:ext cx="4347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dirty="0">
                <a:latin typeface="微软雅黑" panose="020B0503020204020204" pitchFamily="34" charset="-122"/>
                <a:ea typeface="微软雅黑" panose="020B0503020204020204" pitchFamily="34" charset="-122"/>
              </a:rPr>
              <a:t>…</a:t>
            </a:r>
            <a:endParaRPr lang="zh-CN" altLang="en-US" sz="2400" dirty="0"/>
          </a:p>
        </p:txBody>
      </p:sp>
      <p:cxnSp>
        <p:nvCxnSpPr>
          <p:cNvPr id="76" name="!!!箭头1">
            <a:extLst>
              <a:ext uri="{FF2B5EF4-FFF2-40B4-BE49-F238E27FC236}">
                <a16:creationId xmlns:a16="http://schemas.microsoft.com/office/drawing/2014/main" id="{C182FD63-E387-609B-3FDA-8BC281D9075A}"/>
              </a:ext>
            </a:extLst>
          </p:cNvPr>
          <p:cNvCxnSpPr>
            <a:cxnSpLocks/>
          </p:cNvCxnSpPr>
          <p:nvPr/>
        </p:nvCxnSpPr>
        <p:spPr>
          <a:xfrm flipH="1">
            <a:off x="3272621" y="2690199"/>
            <a:ext cx="505434" cy="796308"/>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7" name="!!!箭头2">
            <a:extLst>
              <a:ext uri="{FF2B5EF4-FFF2-40B4-BE49-F238E27FC236}">
                <a16:creationId xmlns:a16="http://schemas.microsoft.com/office/drawing/2014/main" id="{728D0BFD-8670-2260-D86C-E07A20D46C9A}"/>
              </a:ext>
            </a:extLst>
          </p:cNvPr>
          <p:cNvCxnSpPr>
            <a:cxnSpLocks/>
          </p:cNvCxnSpPr>
          <p:nvPr/>
        </p:nvCxnSpPr>
        <p:spPr>
          <a:xfrm>
            <a:off x="4116312" y="2690199"/>
            <a:ext cx="375023" cy="786981"/>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6706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99F0F3E9-20E0-9139-5324-25F6B379A2D7}"/>
              </a:ext>
            </a:extLst>
          </p:cNvPr>
          <p:cNvSpPr/>
          <p:nvPr/>
        </p:nvSpPr>
        <p:spPr>
          <a:xfrm>
            <a:off x="1177278" y="4383145"/>
            <a:ext cx="1491612" cy="530454"/>
          </a:xfrm>
          <a:prstGeom prst="roundRect">
            <a:avLst/>
          </a:prstGeom>
          <a:solidFill>
            <a:schemeClr val="accent6">
              <a:lumMod val="40000"/>
              <a:lumOff val="60000"/>
            </a:schemeClr>
          </a:solidFill>
          <a:ln>
            <a:noFill/>
          </a:ln>
          <a:effectLst>
            <a:outerShdw blurRad="76200" dir="13500000" sy="23000" kx="1200000" algn="br" rotWithShape="0">
              <a:prstClr val="black">
                <a:alpha val="2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err="1">
                <a:latin typeface="杨任东竹石体-Bold" panose="02000000000000000000" pitchFamily="2" charset="-122"/>
                <a:ea typeface="杨任东竹石体-Bold" panose="02000000000000000000" pitchFamily="2" charset="-122"/>
              </a:rPr>
              <a:t>TreeMap</a:t>
            </a:r>
            <a:endParaRPr lang="zh-CN" altLang="en-US" sz="2000" dirty="0">
              <a:latin typeface="杨任东竹石体-Bold" panose="02000000000000000000" pitchFamily="2" charset="-122"/>
              <a:ea typeface="杨任东竹石体-Bold" panose="02000000000000000000" pitchFamily="2" charset="-122"/>
            </a:endParaRPr>
          </a:p>
        </p:txBody>
      </p:sp>
      <p:sp>
        <p:nvSpPr>
          <p:cNvPr id="4" name="矩形: 圆角 3">
            <a:extLst>
              <a:ext uri="{FF2B5EF4-FFF2-40B4-BE49-F238E27FC236}">
                <a16:creationId xmlns:a16="http://schemas.microsoft.com/office/drawing/2014/main" id="{B379E970-6735-48B9-69DE-62CA02B56754}"/>
              </a:ext>
            </a:extLst>
          </p:cNvPr>
          <p:cNvSpPr/>
          <p:nvPr/>
        </p:nvSpPr>
        <p:spPr>
          <a:xfrm>
            <a:off x="3218113" y="4383145"/>
            <a:ext cx="1491612" cy="530454"/>
          </a:xfrm>
          <a:prstGeom prst="roundRect">
            <a:avLst/>
          </a:prstGeom>
          <a:solidFill>
            <a:srgbClr val="C00000"/>
          </a:solidFill>
          <a:ln>
            <a:noFill/>
          </a:ln>
          <a:effectLst>
            <a:outerShdw blurRad="76200" dir="13500000" sy="23000" kx="1200000" algn="br" rotWithShape="0">
              <a:prstClr val="black">
                <a:alpha val="2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a:latin typeface="杨任东竹石体-Bold" panose="02000000000000000000" pitchFamily="2" charset="-122"/>
                <a:ea typeface="杨任东竹石体-Bold" panose="02000000000000000000" pitchFamily="2" charset="-122"/>
              </a:rPr>
              <a:t>HashMap</a:t>
            </a:r>
            <a:endParaRPr lang="zh-CN" altLang="en-US" sz="2000" dirty="0">
              <a:latin typeface="杨任东竹石体-Bold" panose="02000000000000000000" pitchFamily="2" charset="-122"/>
              <a:ea typeface="杨任东竹石体-Bold" panose="02000000000000000000" pitchFamily="2" charset="-122"/>
            </a:endParaRPr>
          </a:p>
        </p:txBody>
      </p:sp>
      <p:sp>
        <p:nvSpPr>
          <p:cNvPr id="5" name="矩形: 圆角 4">
            <a:extLst>
              <a:ext uri="{FF2B5EF4-FFF2-40B4-BE49-F238E27FC236}">
                <a16:creationId xmlns:a16="http://schemas.microsoft.com/office/drawing/2014/main" id="{8CF17F09-8F4D-4D22-31EA-8F0513DB5D5A}"/>
              </a:ext>
            </a:extLst>
          </p:cNvPr>
          <p:cNvSpPr/>
          <p:nvPr/>
        </p:nvSpPr>
        <p:spPr>
          <a:xfrm>
            <a:off x="5184460" y="4383145"/>
            <a:ext cx="1823080" cy="530454"/>
          </a:xfrm>
          <a:prstGeom prst="roundRect">
            <a:avLst/>
          </a:prstGeom>
          <a:solidFill>
            <a:schemeClr val="accent3">
              <a:lumMod val="60000"/>
              <a:lumOff val="40000"/>
            </a:schemeClr>
          </a:solidFill>
          <a:ln>
            <a:noFill/>
          </a:ln>
          <a:effectLst>
            <a:outerShdw blurRad="76200" dir="13500000" sy="23000" kx="1200000" algn="br" rotWithShape="0">
              <a:prstClr val="black">
                <a:alpha val="2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000" dirty="0" err="1">
                <a:latin typeface="杨任东竹石体-Bold" panose="02000000000000000000" pitchFamily="2" charset="-122"/>
                <a:ea typeface="杨任东竹石体-Bold" panose="02000000000000000000" pitchFamily="2" charset="-122"/>
              </a:rPr>
              <a:t>LinkedHashMap</a:t>
            </a:r>
            <a:endParaRPr lang="zh-CN" altLang="en-US" sz="2000" dirty="0">
              <a:latin typeface="杨任东竹石体-Bold" panose="02000000000000000000" pitchFamily="2" charset="-122"/>
              <a:ea typeface="杨任东竹石体-Bold" panose="02000000000000000000" pitchFamily="2" charset="-122"/>
            </a:endParaRPr>
          </a:p>
        </p:txBody>
      </p:sp>
      <p:sp>
        <p:nvSpPr>
          <p:cNvPr id="6" name="矩形: 圆角 5">
            <a:extLst>
              <a:ext uri="{FF2B5EF4-FFF2-40B4-BE49-F238E27FC236}">
                <a16:creationId xmlns:a16="http://schemas.microsoft.com/office/drawing/2014/main" id="{761A5A1E-F942-127C-5B2D-1ECC6F3A4A49}"/>
              </a:ext>
            </a:extLst>
          </p:cNvPr>
          <p:cNvSpPr/>
          <p:nvPr/>
        </p:nvSpPr>
        <p:spPr>
          <a:xfrm>
            <a:off x="431277" y="1173515"/>
            <a:ext cx="10521645" cy="4763460"/>
          </a:xfrm>
          <a:custGeom>
            <a:avLst/>
            <a:gdLst>
              <a:gd name="connsiteX0" fmla="*/ 0 w 10521645"/>
              <a:gd name="connsiteY0" fmla="*/ 793926 h 4763460"/>
              <a:gd name="connsiteX1" fmla="*/ 793926 w 10521645"/>
              <a:gd name="connsiteY1" fmla="*/ 0 h 4763460"/>
              <a:gd name="connsiteX2" fmla="*/ 1659817 w 10521645"/>
              <a:gd name="connsiteY2" fmla="*/ 0 h 4763460"/>
              <a:gd name="connsiteX3" fmla="*/ 2257694 w 10521645"/>
              <a:gd name="connsiteY3" fmla="*/ 0 h 4763460"/>
              <a:gd name="connsiteX4" fmla="*/ 2766233 w 10521645"/>
              <a:gd name="connsiteY4" fmla="*/ 0 h 4763460"/>
              <a:gd name="connsiteX5" fmla="*/ 3542785 w 10521645"/>
              <a:gd name="connsiteY5" fmla="*/ 0 h 4763460"/>
              <a:gd name="connsiteX6" fmla="*/ 4140662 w 10521645"/>
              <a:gd name="connsiteY6" fmla="*/ 0 h 4763460"/>
              <a:gd name="connsiteX7" fmla="*/ 5006553 w 10521645"/>
              <a:gd name="connsiteY7" fmla="*/ 0 h 4763460"/>
              <a:gd name="connsiteX8" fmla="*/ 5515092 w 10521645"/>
              <a:gd name="connsiteY8" fmla="*/ 0 h 4763460"/>
              <a:gd name="connsiteX9" fmla="*/ 6380983 w 10521645"/>
              <a:gd name="connsiteY9" fmla="*/ 0 h 4763460"/>
              <a:gd name="connsiteX10" fmla="*/ 6800184 w 10521645"/>
              <a:gd name="connsiteY10" fmla="*/ 0 h 4763460"/>
              <a:gd name="connsiteX11" fmla="*/ 7487399 w 10521645"/>
              <a:gd name="connsiteY11" fmla="*/ 0 h 4763460"/>
              <a:gd name="connsiteX12" fmla="*/ 8174613 w 10521645"/>
              <a:gd name="connsiteY12" fmla="*/ 0 h 4763460"/>
              <a:gd name="connsiteX13" fmla="*/ 8772490 w 10521645"/>
              <a:gd name="connsiteY13" fmla="*/ 0 h 4763460"/>
              <a:gd name="connsiteX14" fmla="*/ 9727719 w 10521645"/>
              <a:gd name="connsiteY14" fmla="*/ 0 h 4763460"/>
              <a:gd name="connsiteX15" fmla="*/ 10521645 w 10521645"/>
              <a:gd name="connsiteY15" fmla="*/ 793926 h 4763460"/>
              <a:gd name="connsiteX16" fmla="*/ 10521645 w 10521645"/>
              <a:gd name="connsiteY16" fmla="*/ 1429048 h 4763460"/>
              <a:gd name="connsiteX17" fmla="*/ 10521645 w 10521645"/>
              <a:gd name="connsiteY17" fmla="*/ 2127681 h 4763460"/>
              <a:gd name="connsiteX18" fmla="*/ 10521645 w 10521645"/>
              <a:gd name="connsiteY18" fmla="*/ 2762803 h 4763460"/>
              <a:gd name="connsiteX19" fmla="*/ 10521645 w 10521645"/>
              <a:gd name="connsiteY19" fmla="*/ 3302656 h 4763460"/>
              <a:gd name="connsiteX20" fmla="*/ 10521645 w 10521645"/>
              <a:gd name="connsiteY20" fmla="*/ 3969534 h 4763460"/>
              <a:gd name="connsiteX21" fmla="*/ 9727719 w 10521645"/>
              <a:gd name="connsiteY21" fmla="*/ 4763460 h 4763460"/>
              <a:gd name="connsiteX22" fmla="*/ 9129842 w 10521645"/>
              <a:gd name="connsiteY22" fmla="*/ 4763460 h 4763460"/>
              <a:gd name="connsiteX23" fmla="*/ 8442627 w 10521645"/>
              <a:gd name="connsiteY23" fmla="*/ 4763460 h 4763460"/>
              <a:gd name="connsiteX24" fmla="*/ 8023426 w 10521645"/>
              <a:gd name="connsiteY24" fmla="*/ 4763460 h 4763460"/>
              <a:gd name="connsiteX25" fmla="*/ 7604225 w 10521645"/>
              <a:gd name="connsiteY25" fmla="*/ 4763460 h 4763460"/>
              <a:gd name="connsiteX26" fmla="*/ 6917010 w 10521645"/>
              <a:gd name="connsiteY26" fmla="*/ 4763460 h 4763460"/>
              <a:gd name="connsiteX27" fmla="*/ 6408471 w 10521645"/>
              <a:gd name="connsiteY27" fmla="*/ 4763460 h 4763460"/>
              <a:gd name="connsiteX28" fmla="*/ 5631919 w 10521645"/>
              <a:gd name="connsiteY28" fmla="*/ 4763460 h 4763460"/>
              <a:gd name="connsiteX29" fmla="*/ 5123380 w 10521645"/>
              <a:gd name="connsiteY29" fmla="*/ 4763460 h 4763460"/>
              <a:gd name="connsiteX30" fmla="*/ 4346827 w 10521645"/>
              <a:gd name="connsiteY30" fmla="*/ 4763460 h 4763460"/>
              <a:gd name="connsiteX31" fmla="*/ 3927626 w 10521645"/>
              <a:gd name="connsiteY31" fmla="*/ 4763460 h 4763460"/>
              <a:gd name="connsiteX32" fmla="*/ 3151073 w 10521645"/>
              <a:gd name="connsiteY32" fmla="*/ 4763460 h 4763460"/>
              <a:gd name="connsiteX33" fmla="*/ 2642534 w 10521645"/>
              <a:gd name="connsiteY33" fmla="*/ 4763460 h 4763460"/>
              <a:gd name="connsiteX34" fmla="*/ 2223333 w 10521645"/>
              <a:gd name="connsiteY34" fmla="*/ 4763460 h 4763460"/>
              <a:gd name="connsiteX35" fmla="*/ 1714794 w 10521645"/>
              <a:gd name="connsiteY35" fmla="*/ 4763460 h 4763460"/>
              <a:gd name="connsiteX36" fmla="*/ 793926 w 10521645"/>
              <a:gd name="connsiteY36" fmla="*/ 4763460 h 4763460"/>
              <a:gd name="connsiteX37" fmla="*/ 0 w 10521645"/>
              <a:gd name="connsiteY37" fmla="*/ 3969534 h 4763460"/>
              <a:gd name="connsiteX38" fmla="*/ 0 w 10521645"/>
              <a:gd name="connsiteY38" fmla="*/ 3397925 h 4763460"/>
              <a:gd name="connsiteX39" fmla="*/ 0 w 10521645"/>
              <a:gd name="connsiteY39" fmla="*/ 2794559 h 4763460"/>
              <a:gd name="connsiteX40" fmla="*/ 0 w 10521645"/>
              <a:gd name="connsiteY40" fmla="*/ 2159437 h 4763460"/>
              <a:gd name="connsiteX41" fmla="*/ 0 w 10521645"/>
              <a:gd name="connsiteY41" fmla="*/ 1587828 h 4763460"/>
              <a:gd name="connsiteX42" fmla="*/ 0 w 10521645"/>
              <a:gd name="connsiteY42" fmla="*/ 793926 h 4763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521645" h="4763460" extrusionOk="0">
                <a:moveTo>
                  <a:pt x="0" y="793926"/>
                </a:moveTo>
                <a:cubicBezTo>
                  <a:pt x="-36512" y="332931"/>
                  <a:pt x="324411" y="11650"/>
                  <a:pt x="793926" y="0"/>
                </a:cubicBezTo>
                <a:cubicBezTo>
                  <a:pt x="1133084" y="-32422"/>
                  <a:pt x="1263948" y="5494"/>
                  <a:pt x="1659817" y="0"/>
                </a:cubicBezTo>
                <a:cubicBezTo>
                  <a:pt x="2055686" y="-5494"/>
                  <a:pt x="2094856" y="16387"/>
                  <a:pt x="2257694" y="0"/>
                </a:cubicBezTo>
                <a:cubicBezTo>
                  <a:pt x="2420532" y="-16387"/>
                  <a:pt x="2522387" y="3838"/>
                  <a:pt x="2766233" y="0"/>
                </a:cubicBezTo>
                <a:cubicBezTo>
                  <a:pt x="3010079" y="-3838"/>
                  <a:pt x="3376427" y="12560"/>
                  <a:pt x="3542785" y="0"/>
                </a:cubicBezTo>
                <a:cubicBezTo>
                  <a:pt x="3709143" y="-12560"/>
                  <a:pt x="3995438" y="-706"/>
                  <a:pt x="4140662" y="0"/>
                </a:cubicBezTo>
                <a:cubicBezTo>
                  <a:pt x="4285886" y="706"/>
                  <a:pt x="4617389" y="-34584"/>
                  <a:pt x="5006553" y="0"/>
                </a:cubicBezTo>
                <a:cubicBezTo>
                  <a:pt x="5395717" y="34584"/>
                  <a:pt x="5313755" y="23705"/>
                  <a:pt x="5515092" y="0"/>
                </a:cubicBezTo>
                <a:cubicBezTo>
                  <a:pt x="5716429" y="-23705"/>
                  <a:pt x="6060508" y="-39937"/>
                  <a:pt x="6380983" y="0"/>
                </a:cubicBezTo>
                <a:cubicBezTo>
                  <a:pt x="6701458" y="39937"/>
                  <a:pt x="6597302" y="17925"/>
                  <a:pt x="6800184" y="0"/>
                </a:cubicBezTo>
                <a:cubicBezTo>
                  <a:pt x="7003066" y="-17925"/>
                  <a:pt x="7262069" y="4409"/>
                  <a:pt x="7487399" y="0"/>
                </a:cubicBezTo>
                <a:cubicBezTo>
                  <a:pt x="7712729" y="-4409"/>
                  <a:pt x="7856303" y="-30319"/>
                  <a:pt x="8174613" y="0"/>
                </a:cubicBezTo>
                <a:cubicBezTo>
                  <a:pt x="8492923" y="30319"/>
                  <a:pt x="8637590" y="-16811"/>
                  <a:pt x="8772490" y="0"/>
                </a:cubicBezTo>
                <a:cubicBezTo>
                  <a:pt x="8907390" y="16811"/>
                  <a:pt x="9328221" y="5413"/>
                  <a:pt x="9727719" y="0"/>
                </a:cubicBezTo>
                <a:cubicBezTo>
                  <a:pt x="10231756" y="-81392"/>
                  <a:pt x="10496887" y="345882"/>
                  <a:pt x="10521645" y="793926"/>
                </a:cubicBezTo>
                <a:cubicBezTo>
                  <a:pt x="10514469" y="996637"/>
                  <a:pt x="10511288" y="1298553"/>
                  <a:pt x="10521645" y="1429048"/>
                </a:cubicBezTo>
                <a:cubicBezTo>
                  <a:pt x="10532002" y="1559543"/>
                  <a:pt x="10539999" y="1854077"/>
                  <a:pt x="10521645" y="2127681"/>
                </a:cubicBezTo>
                <a:cubicBezTo>
                  <a:pt x="10503291" y="2401285"/>
                  <a:pt x="10549037" y="2555992"/>
                  <a:pt x="10521645" y="2762803"/>
                </a:cubicBezTo>
                <a:cubicBezTo>
                  <a:pt x="10494253" y="2969614"/>
                  <a:pt x="10508227" y="3077542"/>
                  <a:pt x="10521645" y="3302656"/>
                </a:cubicBezTo>
                <a:cubicBezTo>
                  <a:pt x="10535063" y="3527770"/>
                  <a:pt x="10541337" y="3816311"/>
                  <a:pt x="10521645" y="3969534"/>
                </a:cubicBezTo>
                <a:cubicBezTo>
                  <a:pt x="10561042" y="4384638"/>
                  <a:pt x="10109429" y="4853574"/>
                  <a:pt x="9727719" y="4763460"/>
                </a:cubicBezTo>
                <a:cubicBezTo>
                  <a:pt x="9540312" y="4763977"/>
                  <a:pt x="9271658" y="4775882"/>
                  <a:pt x="9129842" y="4763460"/>
                </a:cubicBezTo>
                <a:cubicBezTo>
                  <a:pt x="8988026" y="4751038"/>
                  <a:pt x="8683258" y="4783658"/>
                  <a:pt x="8442627" y="4763460"/>
                </a:cubicBezTo>
                <a:cubicBezTo>
                  <a:pt x="8201997" y="4743262"/>
                  <a:pt x="8201217" y="4760042"/>
                  <a:pt x="8023426" y="4763460"/>
                </a:cubicBezTo>
                <a:cubicBezTo>
                  <a:pt x="7845635" y="4766878"/>
                  <a:pt x="7721731" y="4778730"/>
                  <a:pt x="7604225" y="4763460"/>
                </a:cubicBezTo>
                <a:cubicBezTo>
                  <a:pt x="7486719" y="4748190"/>
                  <a:pt x="7103133" y="4751527"/>
                  <a:pt x="6917010" y="4763460"/>
                </a:cubicBezTo>
                <a:cubicBezTo>
                  <a:pt x="6730888" y="4775393"/>
                  <a:pt x="6543549" y="4771934"/>
                  <a:pt x="6408471" y="4763460"/>
                </a:cubicBezTo>
                <a:cubicBezTo>
                  <a:pt x="6273393" y="4754986"/>
                  <a:pt x="5841137" y="4739129"/>
                  <a:pt x="5631919" y="4763460"/>
                </a:cubicBezTo>
                <a:cubicBezTo>
                  <a:pt x="5422701" y="4787791"/>
                  <a:pt x="5322054" y="4787709"/>
                  <a:pt x="5123380" y="4763460"/>
                </a:cubicBezTo>
                <a:cubicBezTo>
                  <a:pt x="4924706" y="4739211"/>
                  <a:pt x="4705688" y="4792600"/>
                  <a:pt x="4346827" y="4763460"/>
                </a:cubicBezTo>
                <a:cubicBezTo>
                  <a:pt x="3987966" y="4734320"/>
                  <a:pt x="4112318" y="4777747"/>
                  <a:pt x="3927626" y="4763460"/>
                </a:cubicBezTo>
                <a:cubicBezTo>
                  <a:pt x="3742934" y="4749173"/>
                  <a:pt x="3526671" y="4788139"/>
                  <a:pt x="3151073" y="4763460"/>
                </a:cubicBezTo>
                <a:cubicBezTo>
                  <a:pt x="2775475" y="4738781"/>
                  <a:pt x="2881004" y="4760662"/>
                  <a:pt x="2642534" y="4763460"/>
                </a:cubicBezTo>
                <a:cubicBezTo>
                  <a:pt x="2404064" y="4766258"/>
                  <a:pt x="2377934" y="4745316"/>
                  <a:pt x="2223333" y="4763460"/>
                </a:cubicBezTo>
                <a:cubicBezTo>
                  <a:pt x="2068732" y="4781604"/>
                  <a:pt x="1908740" y="4760747"/>
                  <a:pt x="1714794" y="4763460"/>
                </a:cubicBezTo>
                <a:cubicBezTo>
                  <a:pt x="1520848" y="4766173"/>
                  <a:pt x="1005637" y="4804775"/>
                  <a:pt x="793926" y="4763460"/>
                </a:cubicBezTo>
                <a:cubicBezTo>
                  <a:pt x="419736" y="4746446"/>
                  <a:pt x="-2163" y="4422993"/>
                  <a:pt x="0" y="3969534"/>
                </a:cubicBezTo>
                <a:cubicBezTo>
                  <a:pt x="28209" y="3824664"/>
                  <a:pt x="-5591" y="3521647"/>
                  <a:pt x="0" y="3397925"/>
                </a:cubicBezTo>
                <a:cubicBezTo>
                  <a:pt x="5591" y="3274203"/>
                  <a:pt x="22582" y="3016849"/>
                  <a:pt x="0" y="2794559"/>
                </a:cubicBezTo>
                <a:cubicBezTo>
                  <a:pt x="-22582" y="2572269"/>
                  <a:pt x="-11551" y="2422908"/>
                  <a:pt x="0" y="2159437"/>
                </a:cubicBezTo>
                <a:cubicBezTo>
                  <a:pt x="11551" y="1895966"/>
                  <a:pt x="17839" y="1815304"/>
                  <a:pt x="0" y="1587828"/>
                </a:cubicBezTo>
                <a:cubicBezTo>
                  <a:pt x="-17839" y="1360352"/>
                  <a:pt x="28132" y="1139556"/>
                  <a:pt x="0" y="793926"/>
                </a:cubicBezTo>
                <a:close/>
              </a:path>
            </a:pathLst>
          </a:custGeom>
          <a:noFill/>
          <a:ln>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DE4EE2C7-5CE7-1A23-EF68-53DEE7CD9250}"/>
              </a:ext>
            </a:extLst>
          </p:cNvPr>
          <p:cNvSpPr/>
          <p:nvPr/>
        </p:nvSpPr>
        <p:spPr>
          <a:xfrm>
            <a:off x="745298" y="1313851"/>
            <a:ext cx="2798797" cy="830997"/>
          </a:xfrm>
          <a:prstGeom prst="rect">
            <a:avLst/>
          </a:prstGeom>
          <a:noFill/>
        </p:spPr>
        <p:txBody>
          <a:bodyPr wrap="square" lIns="91440" tIns="45720" rIns="91440" bIns="45720">
            <a:spAutoFit/>
          </a:bodyPr>
          <a:lstStyle/>
          <a:p>
            <a:pPr algn="ctr"/>
            <a:r>
              <a:rPr lang="en-US" altLang="zh-CN" sz="4800" b="1" dirty="0">
                <a:ln w="22225">
                  <a:solidFill>
                    <a:schemeClr val="accent2"/>
                  </a:solidFill>
                  <a:prstDash val="solid"/>
                </a:ln>
                <a:solidFill>
                  <a:schemeClr val="accent2">
                    <a:lumMod val="40000"/>
                    <a:lumOff val="60000"/>
                  </a:schemeClr>
                </a:solidFill>
                <a:latin typeface="杨任东竹石体-Bold" panose="02000000000000000000" pitchFamily="2" charset="-122"/>
                <a:ea typeface="杨任东竹石体-Bold" panose="02000000000000000000" pitchFamily="2" charset="-122"/>
              </a:rPr>
              <a:t>Map</a:t>
            </a:r>
            <a:r>
              <a:rPr lang="en-US" altLang="zh-CN" sz="4800" b="1" cap="none" spc="0" dirty="0">
                <a:ln w="22225">
                  <a:solidFill>
                    <a:schemeClr val="accent2"/>
                  </a:solidFill>
                  <a:prstDash val="solid"/>
                </a:ln>
                <a:solidFill>
                  <a:schemeClr val="accent2">
                    <a:lumMod val="40000"/>
                    <a:lumOff val="60000"/>
                  </a:schemeClr>
                </a:solidFill>
                <a:effectLst/>
                <a:latin typeface="杨任东竹石体-Bold" panose="02000000000000000000" pitchFamily="2" charset="-122"/>
                <a:ea typeface="杨任东竹石体-Bold" panose="02000000000000000000" pitchFamily="2" charset="-122"/>
              </a:rPr>
              <a:t> </a:t>
            </a:r>
            <a:r>
              <a:rPr lang="zh-CN" altLang="en-US" sz="4800" b="1" cap="none" spc="0" dirty="0">
                <a:ln w="22225">
                  <a:solidFill>
                    <a:schemeClr val="accent2"/>
                  </a:solidFill>
                  <a:prstDash val="solid"/>
                </a:ln>
                <a:solidFill>
                  <a:schemeClr val="accent2">
                    <a:lumMod val="40000"/>
                    <a:lumOff val="60000"/>
                  </a:schemeClr>
                </a:solidFill>
                <a:effectLst/>
                <a:latin typeface="杨任东竹石体-Bold" panose="02000000000000000000" pitchFamily="2" charset="-122"/>
                <a:ea typeface="杨任东竹石体-Bold" panose="02000000000000000000" pitchFamily="2" charset="-122"/>
              </a:rPr>
              <a:t>接口</a:t>
            </a:r>
          </a:p>
        </p:txBody>
      </p:sp>
      <p:sp>
        <p:nvSpPr>
          <p:cNvPr id="12" name="Rectangle 2">
            <a:extLst>
              <a:ext uri="{FF2B5EF4-FFF2-40B4-BE49-F238E27FC236}">
                <a16:creationId xmlns:a16="http://schemas.microsoft.com/office/drawing/2014/main" id="{E89F9372-042C-BC0E-F60A-A3E9121027A7}"/>
              </a:ext>
            </a:extLst>
          </p:cNvPr>
          <p:cNvSpPr>
            <a:spLocks noChangeArrowheads="1"/>
          </p:cNvSpPr>
          <p:nvPr/>
        </p:nvSpPr>
        <p:spPr bwMode="auto">
          <a:xfrm>
            <a:off x="905010" y="2199785"/>
            <a:ext cx="5734328" cy="175772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l"/>
              <a:tabLst/>
            </a:pPr>
            <a:r>
              <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双列集合的数据结构，都只针对于键有效，和值没有关系</a:t>
            </a:r>
            <a:endParaRPr lang="en-US" altLang="zh-CN" sz="1400" b="1"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l"/>
              <a:tabLst/>
            </a:pPr>
            <a:r>
              <a:rPr lang="en-US" altLang="zh-CN" sz="1400" dirty="0" err="1">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TreeMap</a:t>
            </a:r>
            <a:r>
              <a:rPr lang="en-US" altLang="zh-CN"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 </a:t>
            </a:r>
            <a:r>
              <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键（红黑树）</a:t>
            </a:r>
            <a:endParaRPr lang="en-US" altLang="zh-CN"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l"/>
              <a:tabLst/>
            </a:pPr>
            <a:r>
              <a:rPr lang="en-US" altLang="zh-CN"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HashMap : </a:t>
            </a:r>
            <a:r>
              <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键（哈希表）</a:t>
            </a:r>
            <a:endParaRPr lang="en-US" altLang="zh-CN"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l"/>
              <a:tabLst/>
            </a:pPr>
            <a:r>
              <a:rPr lang="en-US" altLang="zh-CN" sz="1400" dirty="0" err="1">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LinkedHashMap</a:t>
            </a:r>
            <a:r>
              <a:rPr lang="en-US" altLang="zh-CN"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 </a:t>
            </a:r>
            <a:r>
              <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键（哈希表 </a:t>
            </a:r>
            <a:r>
              <a:rPr lang="en-US" altLang="zh-CN"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双向链表）</a:t>
            </a:r>
          </a:p>
        </p:txBody>
      </p:sp>
      <p:sp>
        <p:nvSpPr>
          <p:cNvPr id="3" name="文本框 2">
            <a:extLst>
              <a:ext uri="{FF2B5EF4-FFF2-40B4-BE49-F238E27FC236}">
                <a16:creationId xmlns:a16="http://schemas.microsoft.com/office/drawing/2014/main" id="{8557B262-931C-1986-E132-2C5ACC647B4B}"/>
              </a:ext>
            </a:extLst>
          </p:cNvPr>
          <p:cNvSpPr txBox="1"/>
          <p:nvPr/>
        </p:nvSpPr>
        <p:spPr>
          <a:xfrm>
            <a:off x="1292087" y="5123646"/>
            <a:ext cx="1103187" cy="461665"/>
          </a:xfrm>
          <a:prstGeom prst="rect">
            <a:avLst/>
          </a:prstGeom>
          <a:noFill/>
          <a:ln>
            <a:noFill/>
          </a:ln>
        </p:spPr>
        <p:txBody>
          <a:bodyPr wrap="none" rtlCol="0">
            <a:spAutoFit/>
          </a:bodyPr>
          <a:lstStyle/>
          <a:p>
            <a:pPr algn="l"/>
            <a:r>
              <a:rPr lang="zh-CN" altLang="en-US" sz="2400" dirty="0">
                <a:solidFill>
                  <a:schemeClr val="tx1">
                    <a:lumMod val="95000"/>
                    <a:lumOff val="5000"/>
                  </a:schemeClr>
                </a:solidFill>
                <a:latin typeface="杨任东竹石体-Bold" panose="02000000000000000000" pitchFamily="2" charset="-122"/>
                <a:ea typeface="杨任东竹石体-Bold" panose="02000000000000000000" pitchFamily="2" charset="-122"/>
              </a:rPr>
              <a:t>键排序</a:t>
            </a:r>
            <a:endParaRPr kumimoji="0" lang="zh-CN" altLang="en-US" sz="2400"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endParaRPr>
          </a:p>
        </p:txBody>
      </p:sp>
      <p:sp>
        <p:nvSpPr>
          <p:cNvPr id="8" name="文本框 7">
            <a:extLst>
              <a:ext uri="{FF2B5EF4-FFF2-40B4-BE49-F238E27FC236}">
                <a16:creationId xmlns:a16="http://schemas.microsoft.com/office/drawing/2014/main" id="{3DEF0831-E351-3E79-E5C9-1F93081F69BC}"/>
              </a:ext>
            </a:extLst>
          </p:cNvPr>
          <p:cNvSpPr txBox="1"/>
          <p:nvPr/>
        </p:nvSpPr>
        <p:spPr>
          <a:xfrm>
            <a:off x="3418951" y="5123646"/>
            <a:ext cx="1103187" cy="461665"/>
          </a:xfrm>
          <a:prstGeom prst="rect">
            <a:avLst/>
          </a:prstGeom>
          <a:noFill/>
          <a:ln>
            <a:noFill/>
          </a:ln>
        </p:spPr>
        <p:txBody>
          <a:bodyPr wrap="none" rtlCol="0">
            <a:spAutoFit/>
          </a:bodyPr>
          <a:lstStyle/>
          <a:p>
            <a:pPr algn="l"/>
            <a:r>
              <a:rPr lang="zh-CN" altLang="en-US" sz="2400" dirty="0">
                <a:solidFill>
                  <a:schemeClr val="tx1">
                    <a:lumMod val="95000"/>
                    <a:lumOff val="5000"/>
                  </a:schemeClr>
                </a:solidFill>
                <a:latin typeface="杨任东竹石体-Bold" panose="02000000000000000000" pitchFamily="2" charset="-122"/>
                <a:ea typeface="杨任东竹石体-Bold" panose="02000000000000000000" pitchFamily="2" charset="-122"/>
              </a:rPr>
              <a:t>键唯一</a:t>
            </a:r>
            <a:endParaRPr kumimoji="0" lang="zh-CN" altLang="en-US" sz="2400"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endParaRPr>
          </a:p>
        </p:txBody>
      </p:sp>
      <p:sp>
        <p:nvSpPr>
          <p:cNvPr id="9" name="文本框 8">
            <a:extLst>
              <a:ext uri="{FF2B5EF4-FFF2-40B4-BE49-F238E27FC236}">
                <a16:creationId xmlns:a16="http://schemas.microsoft.com/office/drawing/2014/main" id="{42E6FFE9-6985-9878-DFDC-33502FC83929}"/>
              </a:ext>
            </a:extLst>
          </p:cNvPr>
          <p:cNvSpPr txBox="1"/>
          <p:nvPr/>
        </p:nvSpPr>
        <p:spPr>
          <a:xfrm>
            <a:off x="5186368" y="5063164"/>
            <a:ext cx="3554178" cy="461665"/>
          </a:xfrm>
          <a:prstGeom prst="rect">
            <a:avLst/>
          </a:prstGeom>
          <a:noFill/>
          <a:ln>
            <a:noFill/>
          </a:ln>
        </p:spPr>
        <p:txBody>
          <a:bodyPr wrap="none" rtlCol="0">
            <a:spAutoFit/>
          </a:bodyPr>
          <a:lstStyle/>
          <a:p>
            <a:pPr algn="l"/>
            <a:r>
              <a:rPr lang="zh-CN" altLang="en-US" sz="2400" dirty="0">
                <a:solidFill>
                  <a:schemeClr val="tx1">
                    <a:lumMod val="95000"/>
                    <a:lumOff val="5000"/>
                  </a:schemeClr>
                </a:solidFill>
                <a:latin typeface="杨任东竹石体-Bold" panose="02000000000000000000" pitchFamily="2" charset="-122"/>
                <a:ea typeface="杨任东竹石体-Bold" panose="02000000000000000000" pitchFamily="2" charset="-122"/>
              </a:rPr>
              <a:t>键唯一，并保证存取顺序</a:t>
            </a:r>
            <a:endParaRPr kumimoji="0" lang="zh-CN" altLang="en-US" sz="2400"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endParaRPr>
          </a:p>
        </p:txBody>
      </p:sp>
      <p:sp>
        <p:nvSpPr>
          <p:cNvPr id="10" name="标题 9">
            <a:extLst>
              <a:ext uri="{FF2B5EF4-FFF2-40B4-BE49-F238E27FC236}">
                <a16:creationId xmlns:a16="http://schemas.microsoft.com/office/drawing/2014/main" id="{CC645092-A0E9-03E9-D5C1-E3F9DE96D901}"/>
              </a:ext>
            </a:extLst>
          </p:cNvPr>
          <p:cNvSpPr>
            <a:spLocks noGrp="1"/>
          </p:cNvSpPr>
          <p:nvPr>
            <p:ph type="title"/>
          </p:nvPr>
        </p:nvSpPr>
        <p:spPr/>
        <p:txBody>
          <a:bodyPr/>
          <a:lstStyle/>
          <a:p>
            <a:r>
              <a:rPr lang="en-US" altLang="zh-CN" dirty="0"/>
              <a:t> </a:t>
            </a:r>
            <a:endParaRPr lang="zh-CN" altLang="en-US" dirty="0"/>
          </a:p>
        </p:txBody>
      </p:sp>
    </p:spTree>
    <p:extLst>
      <p:ext uri="{BB962C8B-B14F-4D97-AF65-F5344CB8AC3E}">
        <p14:creationId xmlns:p14="http://schemas.microsoft.com/office/powerpoint/2010/main" val="36688321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6ADFAE-8504-9F6E-B3EA-72407D3A6F73}"/>
              </a:ext>
            </a:extLst>
          </p:cNvPr>
          <p:cNvSpPr>
            <a:spLocks noGrp="1"/>
          </p:cNvSpPr>
          <p:nvPr>
            <p:ph type="title"/>
          </p:nvPr>
        </p:nvSpPr>
        <p:spPr>
          <a:xfrm>
            <a:off x="1753098" y="316670"/>
            <a:ext cx="6740519" cy="474415"/>
          </a:xfrm>
        </p:spPr>
        <p:txBody>
          <a:bodyPr/>
          <a:lstStyle/>
          <a:p>
            <a:r>
              <a:rPr lang="zh-CN" altLang="en-US" dirty="0"/>
              <a:t>统计字符出现的次数</a:t>
            </a:r>
          </a:p>
        </p:txBody>
      </p:sp>
      <p:sp>
        <p:nvSpPr>
          <p:cNvPr id="10" name="文本占位符 9">
            <a:extLst>
              <a:ext uri="{FF2B5EF4-FFF2-40B4-BE49-F238E27FC236}">
                <a16:creationId xmlns:a16="http://schemas.microsoft.com/office/drawing/2014/main" id="{E528C880-2939-52D5-A215-1F9B8107AA8D}"/>
              </a:ext>
            </a:extLst>
          </p:cNvPr>
          <p:cNvSpPr>
            <a:spLocks noGrp="1"/>
          </p:cNvSpPr>
          <p:nvPr>
            <p:ph type="body" sz="quarter" idx="10"/>
          </p:nvPr>
        </p:nvSpPr>
        <p:spPr/>
        <p:txBody>
          <a:bodyPr/>
          <a:lstStyle/>
          <a:p>
            <a:pPr marL="0" indent="0">
              <a:lnSpc>
                <a:spcPct val="150000"/>
              </a:lnSpc>
              <a:buNone/>
              <a:defRPr/>
            </a:pPr>
            <a:r>
              <a:rPr lang="zh-CN" altLang="en-US" sz="1600" dirty="0">
                <a:solidFill>
                  <a:schemeClr val="tx1">
                    <a:lumMod val="50000"/>
                  </a:schemeClr>
                </a:solidFill>
                <a:latin typeface="Consolas" panose="020B0609020204030204" pitchFamily="49" charset="0"/>
              </a:rPr>
              <a:t>需求：字符串 </a:t>
            </a:r>
            <a:r>
              <a:rPr lang="en-US" altLang="zh-CN" sz="1600" dirty="0" err="1">
                <a:solidFill>
                  <a:schemeClr val="tx1">
                    <a:lumMod val="50000"/>
                  </a:schemeClr>
                </a:solidFill>
                <a:latin typeface="Consolas" panose="020B0609020204030204" pitchFamily="49" charset="0"/>
              </a:rPr>
              <a:t>aababcabcdabcde</a:t>
            </a:r>
            <a:endParaRPr lang="en-US" altLang="zh-CN" sz="1600" dirty="0">
              <a:solidFill>
                <a:schemeClr val="tx1">
                  <a:lumMod val="50000"/>
                </a:schemeClr>
              </a:solidFill>
              <a:latin typeface="Consolas" panose="020B0609020204030204" pitchFamily="49" charset="0"/>
            </a:endParaRPr>
          </a:p>
          <a:p>
            <a:pPr marL="0" indent="0">
              <a:lnSpc>
                <a:spcPct val="150000"/>
              </a:lnSpc>
              <a:buNone/>
              <a:defRPr/>
            </a:pPr>
            <a:r>
              <a:rPr lang="zh-CN" altLang="en-US" sz="1600" dirty="0">
                <a:solidFill>
                  <a:schemeClr val="tx1">
                    <a:lumMod val="50000"/>
                  </a:schemeClr>
                </a:solidFill>
                <a:latin typeface="Consolas" panose="020B0609020204030204" pitchFamily="49" charset="0"/>
              </a:rPr>
              <a:t>          请统计字符串中每一个字符出现的次数，并按照以下格式输出</a:t>
            </a:r>
            <a:endParaRPr lang="en-US" altLang="zh-CN" sz="1600" dirty="0">
              <a:solidFill>
                <a:schemeClr val="tx1">
                  <a:lumMod val="50000"/>
                </a:schemeClr>
              </a:solidFill>
              <a:latin typeface="Consolas" panose="020B0609020204030204" pitchFamily="49" charset="0"/>
            </a:endParaRPr>
          </a:p>
          <a:p>
            <a:pPr marL="0" indent="0">
              <a:lnSpc>
                <a:spcPct val="150000"/>
              </a:lnSpc>
              <a:buNone/>
              <a:defRPr/>
            </a:pPr>
            <a:r>
              <a:rPr lang="en-US" altLang="zh-CN" sz="1600" dirty="0">
                <a:solidFill>
                  <a:schemeClr val="tx1">
                    <a:lumMod val="50000"/>
                  </a:schemeClr>
                </a:solidFill>
                <a:latin typeface="Consolas" panose="020B0609020204030204" pitchFamily="49" charset="0"/>
              </a:rPr>
              <a:t>	  </a:t>
            </a:r>
            <a:r>
              <a:rPr lang="zh-CN" altLang="en-US" sz="1600" dirty="0">
                <a:solidFill>
                  <a:schemeClr val="tx1">
                    <a:lumMod val="50000"/>
                  </a:schemeClr>
                </a:solidFill>
                <a:latin typeface="Consolas" panose="020B0609020204030204" pitchFamily="49" charset="0"/>
              </a:rPr>
              <a:t>输出结果：</a:t>
            </a:r>
            <a:endParaRPr lang="en-US" altLang="zh-CN" sz="1600" dirty="0">
              <a:solidFill>
                <a:schemeClr val="tx1">
                  <a:lumMod val="50000"/>
                </a:schemeClr>
              </a:solidFill>
              <a:latin typeface="Consolas" panose="020B0609020204030204" pitchFamily="49" charset="0"/>
            </a:endParaRPr>
          </a:p>
          <a:p>
            <a:pPr marL="0" indent="0">
              <a:lnSpc>
                <a:spcPct val="150000"/>
              </a:lnSpc>
              <a:buNone/>
              <a:defRPr/>
            </a:pPr>
            <a:r>
              <a:rPr lang="en-US" altLang="zh-CN" sz="1600" dirty="0">
                <a:solidFill>
                  <a:schemeClr val="tx1">
                    <a:lumMod val="50000"/>
                  </a:schemeClr>
                </a:solidFill>
                <a:latin typeface="Consolas" panose="020B0609020204030204" pitchFamily="49" charset="0"/>
              </a:rPr>
              <a:t>                    a(5)b(4)c(3)d(2)e(1)</a:t>
            </a:r>
          </a:p>
          <a:p>
            <a:pPr marL="0" indent="0">
              <a:buNone/>
            </a:pPr>
            <a:endParaRPr lang="zh-CN" altLang="en-US" dirty="0">
              <a:solidFill>
                <a:schemeClr val="tx1">
                  <a:lumMod val="50000"/>
                </a:schemeClr>
              </a:solidFill>
              <a:latin typeface="Consolas" panose="020B0609020204030204" pitchFamily="49" charset="0"/>
            </a:endParaRPr>
          </a:p>
          <a:p>
            <a:pPr marL="0" indent="0">
              <a:buNone/>
            </a:pPr>
            <a:endParaRPr lang="zh-CN" altLang="en-US" dirty="0">
              <a:solidFill>
                <a:schemeClr val="tx1">
                  <a:lumMod val="50000"/>
                </a:schemeClr>
              </a:solidFill>
            </a:endParaRPr>
          </a:p>
        </p:txBody>
      </p:sp>
    </p:spTree>
    <p:extLst>
      <p:ext uri="{BB962C8B-B14F-4D97-AF65-F5344CB8AC3E}">
        <p14:creationId xmlns:p14="http://schemas.microsoft.com/office/powerpoint/2010/main" val="37118350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1B193-90EE-1EFB-883E-337E5C55064D}"/>
              </a:ext>
            </a:extLst>
          </p:cNvPr>
          <p:cNvSpPr>
            <a:spLocks noGrp="1"/>
          </p:cNvSpPr>
          <p:nvPr>
            <p:ph type="title"/>
          </p:nvPr>
        </p:nvSpPr>
        <p:spPr/>
        <p:txBody>
          <a:bodyPr/>
          <a:lstStyle/>
          <a:p>
            <a:r>
              <a:rPr lang="zh-CN" altLang="en-US" dirty="0"/>
              <a:t>集合嵌套</a:t>
            </a:r>
          </a:p>
        </p:txBody>
      </p:sp>
      <p:sp>
        <p:nvSpPr>
          <p:cNvPr id="10" name="文本占位符 9">
            <a:extLst>
              <a:ext uri="{FF2B5EF4-FFF2-40B4-BE49-F238E27FC236}">
                <a16:creationId xmlns:a16="http://schemas.microsoft.com/office/drawing/2014/main" id="{E528C880-2939-52D5-A215-1F9B8107AA8D}"/>
              </a:ext>
            </a:extLst>
          </p:cNvPr>
          <p:cNvSpPr>
            <a:spLocks noGrp="1"/>
          </p:cNvSpPr>
          <p:nvPr>
            <p:ph type="body" sz="quarter" idx="10"/>
          </p:nvPr>
        </p:nvSpPr>
        <p:spPr/>
        <p:txBody>
          <a:bodyPr/>
          <a:lstStyle/>
          <a:p>
            <a:pPr>
              <a:lnSpc>
                <a:spcPct val="250000"/>
              </a:lnSpc>
            </a:pPr>
            <a:r>
              <a:rPr lang="zh-CN" altLang="en-US" dirty="0"/>
              <a:t>定义一个</a:t>
            </a:r>
            <a:r>
              <a:rPr lang="en-US" altLang="zh-CN" dirty="0"/>
              <a:t>Map</a:t>
            </a:r>
            <a:r>
              <a:rPr lang="zh-CN" altLang="en-US" dirty="0"/>
              <a:t>集合，键用表示省份名称，值表示市，但是市会有多个。</a:t>
            </a:r>
            <a:endParaRPr lang="en-US" altLang="zh-CN" dirty="0"/>
          </a:p>
          <a:p>
            <a:pPr>
              <a:lnSpc>
                <a:spcPct val="250000"/>
              </a:lnSpc>
            </a:pPr>
            <a:r>
              <a:rPr lang="zh-CN" altLang="en-US" dirty="0"/>
              <a:t>添加完毕后，遍历结果：</a:t>
            </a:r>
            <a:endParaRPr lang="en-US" altLang="zh-CN" dirty="0"/>
          </a:p>
          <a:p>
            <a:pPr>
              <a:lnSpc>
                <a:spcPct val="250000"/>
              </a:lnSpc>
            </a:pPr>
            <a:r>
              <a:rPr lang="zh-CN" altLang="en-US" dirty="0"/>
              <a:t>格式如下：</a:t>
            </a:r>
            <a:endParaRPr lang="en-US" altLang="zh-CN" dirty="0"/>
          </a:p>
          <a:p>
            <a:pPr>
              <a:lnSpc>
                <a:spcPct val="250000"/>
              </a:lnSpc>
            </a:pPr>
            <a:r>
              <a:rPr lang="zh-CN" altLang="en-US" dirty="0"/>
              <a:t>江苏省 </a:t>
            </a:r>
            <a:r>
              <a:rPr lang="en-US" altLang="zh-CN" dirty="0"/>
              <a:t>= </a:t>
            </a:r>
            <a:r>
              <a:rPr lang="zh-CN" altLang="en-US" dirty="0"/>
              <a:t>南京市，扬州市，苏州市，无锡市，常州市</a:t>
            </a:r>
            <a:endParaRPr lang="en-US" altLang="zh-CN" dirty="0"/>
          </a:p>
          <a:p>
            <a:pPr>
              <a:lnSpc>
                <a:spcPct val="250000"/>
              </a:lnSpc>
            </a:pPr>
            <a:r>
              <a:rPr lang="zh-CN" altLang="en-US" dirty="0"/>
              <a:t>湖北省 </a:t>
            </a:r>
            <a:r>
              <a:rPr lang="en-US" altLang="zh-CN" dirty="0"/>
              <a:t>= </a:t>
            </a:r>
            <a:r>
              <a:rPr lang="zh-CN" altLang="en-US" dirty="0"/>
              <a:t>武汉市，孝感市，十堰市，宜昌市，鄂州市</a:t>
            </a:r>
            <a:endParaRPr lang="en-US" altLang="zh-CN" dirty="0"/>
          </a:p>
          <a:p>
            <a:pPr>
              <a:lnSpc>
                <a:spcPct val="250000"/>
              </a:lnSpc>
            </a:pPr>
            <a:r>
              <a:rPr lang="zh-CN" altLang="en-US" dirty="0"/>
              <a:t>四川省 </a:t>
            </a:r>
            <a:r>
              <a:rPr lang="en-US" altLang="zh-CN" dirty="0"/>
              <a:t>= </a:t>
            </a:r>
            <a:r>
              <a:rPr lang="zh-CN" altLang="en-US" dirty="0"/>
              <a:t>成都市，绵阳市，自贡市，攀枝花市，泸州市</a:t>
            </a:r>
            <a:endParaRPr lang="en-US" altLang="zh-CN" b="1" dirty="0"/>
          </a:p>
          <a:p>
            <a:endParaRPr lang="zh-CN" altLang="en-US" dirty="0">
              <a:latin typeface="Consolas" panose="020B0609020204030204" pitchFamily="49" charset="0"/>
            </a:endParaRPr>
          </a:p>
        </p:txBody>
      </p:sp>
    </p:spTree>
    <p:extLst>
      <p:ext uri="{BB962C8B-B14F-4D97-AF65-F5344CB8AC3E}">
        <p14:creationId xmlns:p14="http://schemas.microsoft.com/office/powerpoint/2010/main" val="39149389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09870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 name="ISLIDE.THEME" val="#782110"/>
  <p:tag name="ISLIDE.TEMPLATE" val="1f6b6247-00f9-4185-bb3e-6a09396f8e3b"/>
</p:tagLst>
</file>

<file path=ppt/theme/theme1.xml><?xml version="1.0" encoding="utf-8"?>
<a:theme xmlns:a="http://schemas.openxmlformats.org/drawingml/2006/main" name="内容模板">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a:solidFill>
            <a:schemeClr val="tx1">
              <a:lumMod val="50000"/>
            </a:schemeClr>
          </a:solidFill>
        </a:ln>
      </a:spPr>
      <a:bodyPr rtlCol="0" anchor="ctr"/>
      <a:lstStyle>
        <a:defPPr algn="ctr">
          <a:defRPr/>
        </a:defPPr>
      </a:lstStyle>
      <a:style>
        <a:lnRef idx="2">
          <a:schemeClr val="dk1"/>
        </a:lnRef>
        <a:fillRef idx="1">
          <a:schemeClr val="lt1"/>
        </a:fillRef>
        <a:effectRef idx="0">
          <a:schemeClr val="dk1"/>
        </a:effectRef>
        <a:fontRef idx="minor">
          <a:schemeClr val="dk1"/>
        </a:fontRef>
      </a:style>
    </a:spDef>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2.xml><?xml version="1.0" encoding="utf-8"?>
<a:theme xmlns:a="http://schemas.openxmlformats.org/drawingml/2006/main" name="封面">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章节目录模板">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小结思考模板2">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小结思考模板2">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Seven</Template>
  <TotalTime>12274</TotalTime>
  <Words>7143</Words>
  <Application>Microsoft Office PowerPoint</Application>
  <PresentationFormat>宽屏</PresentationFormat>
  <Paragraphs>1353</Paragraphs>
  <Slides>98</Slides>
  <Notes>80</Notes>
  <HiddenSlides>0</HiddenSlides>
  <MMClips>0</MMClips>
  <ScaleCrop>false</ScaleCrop>
  <HeadingPairs>
    <vt:vector size="6" baseType="variant">
      <vt:variant>
        <vt:lpstr>已用的字体</vt:lpstr>
      </vt:variant>
      <vt:variant>
        <vt:i4>18</vt:i4>
      </vt:variant>
      <vt:variant>
        <vt:lpstr>主题</vt:lpstr>
      </vt:variant>
      <vt:variant>
        <vt:i4>5</vt:i4>
      </vt:variant>
      <vt:variant>
        <vt:lpstr>幻灯片标题</vt:lpstr>
      </vt:variant>
      <vt:variant>
        <vt:i4>98</vt:i4>
      </vt:variant>
    </vt:vector>
  </HeadingPairs>
  <TitlesOfParts>
    <vt:vector size="121" baseType="lpstr">
      <vt:lpstr>Alibaba PuHuiTi B</vt:lpstr>
      <vt:lpstr>Alibaba PuHuiTi M</vt:lpstr>
      <vt:lpstr>Alibaba PuHuiTi Medium</vt:lpstr>
      <vt:lpstr>Alibaba PuHuiTi R</vt:lpstr>
      <vt:lpstr>阿里巴巴普惠体</vt:lpstr>
      <vt:lpstr>阿里巴巴普惠体 Heavy</vt:lpstr>
      <vt:lpstr>阿里巴巴普惠体 Medium</vt:lpstr>
      <vt:lpstr>等线</vt:lpstr>
      <vt:lpstr>楷体</vt:lpstr>
      <vt:lpstr>宋体</vt:lpstr>
      <vt:lpstr>微软雅黑</vt:lpstr>
      <vt:lpstr>杨任东竹石体-Bold</vt:lpstr>
      <vt:lpstr>杨任东竹石体-Heavy</vt:lpstr>
      <vt:lpstr>Arial</vt:lpstr>
      <vt:lpstr>Calisto MT</vt:lpstr>
      <vt:lpstr>Consolas</vt:lpstr>
      <vt:lpstr>Source Code Pro</vt:lpstr>
      <vt:lpstr>Wingdings</vt:lpstr>
      <vt:lpstr>内容模板</vt:lpstr>
      <vt:lpstr>封面</vt:lpstr>
      <vt:lpstr>章节目录模板</vt:lpstr>
      <vt:lpstr>小结思考模板2</vt:lpstr>
      <vt:lpstr>1_小结思考模板2</vt:lpstr>
      <vt:lpstr>第十二章：集合高级</vt:lpstr>
      <vt:lpstr> </vt:lpstr>
      <vt:lpstr>PowerPoint 演示文稿</vt:lpstr>
      <vt:lpstr>PowerPoint 演示文稿</vt:lpstr>
      <vt:lpstr>Set 集合介绍</vt:lpstr>
      <vt:lpstr>Set 集合介绍</vt:lpstr>
      <vt:lpstr>PowerPoint 演示文稿</vt:lpstr>
      <vt:lpstr>PowerPoint 演示文稿</vt:lpstr>
      <vt:lpstr>PowerPoint 演示文稿</vt:lpstr>
      <vt:lpstr>TreeSet 集合</vt:lpstr>
      <vt:lpstr>TreeSet 集合底层数据结构</vt:lpstr>
      <vt:lpstr>TreeSet 集合底层数据结构</vt:lpstr>
      <vt:lpstr>TreeSet 集合底层数据结构</vt:lpstr>
      <vt:lpstr>TreeSet 集合底层数据结构</vt:lpstr>
      <vt:lpstr>TreeSet 集合底层数据结构</vt:lpstr>
      <vt:lpstr>TreeSet 集合底层数据结构</vt:lpstr>
      <vt:lpstr>PowerPoint 演示文稿</vt:lpstr>
      <vt:lpstr>TreeSet 的两种排序方式</vt:lpstr>
      <vt:lpstr>TreeSet 排序 (自然排序)</vt:lpstr>
      <vt:lpstr>TreeSet 排序 (自然排序)</vt:lpstr>
      <vt:lpstr>TreeSet 排序 (自然排序)</vt:lpstr>
      <vt:lpstr>TreeSet 排序 (自然排序)</vt:lpstr>
      <vt:lpstr>TreeSet 排序 (自然排序)</vt:lpstr>
      <vt:lpstr>TreeSet 排序 (自然排序)</vt:lpstr>
      <vt:lpstr>PowerPoint 演示文稿</vt:lpstr>
      <vt:lpstr>TreeSet 排序 (比较器排序)</vt:lpstr>
      <vt:lpstr>TreeSet 排序 (比较器排序)</vt:lpstr>
      <vt:lpstr>PowerPoint 演示文稿</vt:lpstr>
      <vt:lpstr>PowerPoint 演示文稿</vt:lpstr>
      <vt:lpstr>PowerPoint 演示文稿</vt:lpstr>
      <vt:lpstr>HashSet 介绍 </vt:lpstr>
      <vt:lpstr>PowerPoint 演示文稿</vt:lpstr>
      <vt:lpstr>hashCode方法和equals方法的配合流程</vt:lpstr>
      <vt:lpstr>hashCode方法和equals方法的配合流程</vt:lpstr>
      <vt:lpstr>hashCode方法和equals方法的配合流程</vt:lpstr>
      <vt:lpstr>hashCode方法和equals方法的配合流程</vt:lpstr>
      <vt:lpstr>hashCode方法和equals方法的配合流程</vt:lpstr>
      <vt:lpstr>hashCode方法和equals方法的配合流程</vt:lpstr>
      <vt:lpstr>hashCode方法和equals方法的配合流程</vt:lpstr>
      <vt:lpstr>hashCode方法和equals方法的配合流程</vt:lpstr>
      <vt:lpstr>PowerPoint 演示文稿</vt:lpstr>
      <vt:lpstr>PowerPoint 演示文稿</vt:lpstr>
      <vt:lpstr>hashCode方法改造</vt:lpstr>
      <vt:lpstr>hashCode方法介绍</vt:lpstr>
      <vt:lpstr>hashCode方法介绍</vt:lpstr>
      <vt:lpstr>hashCode方法改造</vt:lpstr>
      <vt:lpstr>hashCode方法改造</vt:lpstr>
      <vt:lpstr>hashCode方法改造</vt:lpstr>
      <vt:lpstr>hashCode方法改造</vt:lpstr>
      <vt:lpstr>hashCode方法改造</vt:lpstr>
      <vt:lpstr>hashCode方法改造</vt:lpstr>
      <vt:lpstr>PowerPoint 演示文稿</vt:lpstr>
      <vt:lpstr>HashSet集合的底层原理</vt:lpstr>
      <vt:lpstr>HashSet集合的底层原理</vt:lpstr>
      <vt:lpstr>HashSet集合的底层原理</vt:lpstr>
      <vt:lpstr>HashSet集合的底层原理</vt:lpstr>
      <vt:lpstr>HashSet集合的底层原理</vt:lpstr>
      <vt:lpstr>HashSet集合的底层原理</vt:lpstr>
      <vt:lpstr>HashSet集合的底层原理</vt:lpstr>
      <vt:lpstr>PowerPoint 演示文稿</vt:lpstr>
      <vt:lpstr>PowerPoint 演示文稿</vt:lpstr>
      <vt:lpstr>PowerPoint 演示文稿</vt:lpstr>
      <vt:lpstr>LinkedHashSet的底层原理</vt:lpstr>
      <vt:lpstr> </vt:lpstr>
      <vt:lpstr>PowerPoint 演示文稿</vt:lpstr>
      <vt:lpstr>PowerPoint 演示文稿</vt:lpstr>
      <vt:lpstr>PowerPoint 演示文稿</vt:lpstr>
      <vt:lpstr>PowerPoint 演示文稿</vt:lpstr>
      <vt:lpstr>可变参数</vt:lpstr>
      <vt:lpstr>Collections 集合工具类</vt:lpstr>
      <vt:lpstr>PowerPoint 演示文稿</vt:lpstr>
      <vt:lpstr>PowerPoint 演示文稿</vt:lpstr>
      <vt:lpstr>Map集合</vt:lpstr>
      <vt:lpstr>Map集合</vt:lpstr>
      <vt:lpstr>Map集合</vt:lpstr>
      <vt:lpstr>PowerPoint 演示文稿</vt:lpstr>
      <vt:lpstr>Map的常见API</vt:lpstr>
      <vt:lpstr>PowerPoint 演示文稿</vt:lpstr>
      <vt:lpstr>PowerPoint 演示文稿</vt:lpstr>
      <vt:lpstr>Map 集合的三种遍历方式</vt:lpstr>
      <vt:lpstr>Map 集合的三种遍历方式</vt:lpstr>
      <vt:lpstr>PowerPoint 演示文稿</vt:lpstr>
      <vt:lpstr>Map 集合的三种遍历方式</vt:lpstr>
      <vt:lpstr>PowerPoint 演示文稿</vt:lpstr>
      <vt:lpstr>Map 集合的三种遍历方式</vt:lpstr>
      <vt:lpstr>PowerPoint 演示文稿</vt:lpstr>
      <vt:lpstr>PowerPoint 演示文稿</vt:lpstr>
      <vt:lpstr>Map集合的实现类</vt:lpstr>
      <vt:lpstr>HashMap的底层原理</vt:lpstr>
      <vt:lpstr>HashMap的底层原理</vt:lpstr>
      <vt:lpstr>HashMap的底层原理</vt:lpstr>
      <vt:lpstr>HashMap的底层原理</vt:lpstr>
      <vt:lpstr>HashMap的底层原理</vt:lpstr>
      <vt:lpstr>HashMap的底层原理</vt:lpstr>
      <vt:lpstr> </vt:lpstr>
      <vt:lpstr>统计字符出现的次数</vt:lpstr>
      <vt:lpstr>集合嵌套</vt:lpstr>
      <vt:lpstr>PowerPoint 演示文稿</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Seven</dc:creator>
  <cp:lastModifiedBy>ys h</cp:lastModifiedBy>
  <cp:revision>1556</cp:revision>
  <cp:lastPrinted>2022-05-29T16:00:00Z</cp:lastPrinted>
  <dcterms:created xsi:type="dcterms:W3CDTF">2022-05-29T16:00:00Z</dcterms:created>
  <dcterms:modified xsi:type="dcterms:W3CDTF">2025-04-29T11:26:38Z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EMPLATE">
    <vt:lpwstr>1f6b6247-00f9-4185-bb3e-6a09396f8e3b</vt:lpwstr>
  </property>
</Properties>
</file>