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85"/>
  </p:notesMasterIdLst>
  <p:handoutMasterIdLst>
    <p:handoutMasterId r:id="rId86"/>
  </p:handoutMasterIdLst>
  <p:sldIdLst>
    <p:sldId id="280" r:id="rId6"/>
    <p:sldId id="3392" r:id="rId7"/>
    <p:sldId id="2145705275" r:id="rId8"/>
    <p:sldId id="3224" r:id="rId9"/>
    <p:sldId id="3256" r:id="rId10"/>
    <p:sldId id="3257" r:id="rId11"/>
    <p:sldId id="3225" r:id="rId12"/>
    <p:sldId id="3226" r:id="rId13"/>
    <p:sldId id="3258" r:id="rId14"/>
    <p:sldId id="3259" r:id="rId15"/>
    <p:sldId id="3260" r:id="rId16"/>
    <p:sldId id="3261" r:id="rId17"/>
    <p:sldId id="3262" r:id="rId18"/>
    <p:sldId id="2145705274" r:id="rId19"/>
    <p:sldId id="2145705278" r:id="rId20"/>
    <p:sldId id="3265" r:id="rId21"/>
    <p:sldId id="3266" r:id="rId22"/>
    <p:sldId id="3267" r:id="rId23"/>
    <p:sldId id="3269" r:id="rId24"/>
    <p:sldId id="3270" r:id="rId25"/>
    <p:sldId id="3271" r:id="rId26"/>
    <p:sldId id="3272" r:id="rId27"/>
    <p:sldId id="3273" r:id="rId28"/>
    <p:sldId id="3274" r:id="rId29"/>
    <p:sldId id="3275" r:id="rId30"/>
    <p:sldId id="3276" r:id="rId31"/>
    <p:sldId id="3277" r:id="rId32"/>
    <p:sldId id="3278" r:id="rId33"/>
    <p:sldId id="3279" r:id="rId34"/>
    <p:sldId id="2145705293" r:id="rId35"/>
    <p:sldId id="3280" r:id="rId36"/>
    <p:sldId id="3282" r:id="rId37"/>
    <p:sldId id="3283" r:id="rId38"/>
    <p:sldId id="2145705276" r:id="rId39"/>
    <p:sldId id="3284" r:id="rId40"/>
    <p:sldId id="3285" r:id="rId41"/>
    <p:sldId id="3286" r:id="rId42"/>
    <p:sldId id="3287" r:id="rId43"/>
    <p:sldId id="3288" r:id="rId44"/>
    <p:sldId id="2145705277" r:id="rId45"/>
    <p:sldId id="2145705280" r:id="rId46"/>
    <p:sldId id="3293" r:id="rId47"/>
    <p:sldId id="3294" r:id="rId48"/>
    <p:sldId id="3295" r:id="rId49"/>
    <p:sldId id="3296" r:id="rId50"/>
    <p:sldId id="3297" r:id="rId51"/>
    <p:sldId id="2145705294" r:id="rId52"/>
    <p:sldId id="3299" r:id="rId53"/>
    <p:sldId id="3298" r:id="rId54"/>
    <p:sldId id="3300" r:id="rId55"/>
    <p:sldId id="3301" r:id="rId56"/>
    <p:sldId id="3305" r:id="rId57"/>
    <p:sldId id="3302" r:id="rId58"/>
    <p:sldId id="3303" r:id="rId59"/>
    <p:sldId id="3304" r:id="rId60"/>
    <p:sldId id="2145705279" r:id="rId61"/>
    <p:sldId id="2145705282" r:id="rId62"/>
    <p:sldId id="3332" r:id="rId63"/>
    <p:sldId id="2145705295" r:id="rId64"/>
    <p:sldId id="3334" r:id="rId65"/>
    <p:sldId id="3335" r:id="rId66"/>
    <p:sldId id="3336" r:id="rId67"/>
    <p:sldId id="3337" r:id="rId68"/>
    <p:sldId id="3338" r:id="rId69"/>
    <p:sldId id="3339" r:id="rId70"/>
    <p:sldId id="3340" r:id="rId71"/>
    <p:sldId id="3341" r:id="rId72"/>
    <p:sldId id="2145705281" r:id="rId73"/>
    <p:sldId id="2145705258" r:id="rId74"/>
    <p:sldId id="2145705283" r:id="rId75"/>
    <p:sldId id="2145705284" r:id="rId76"/>
    <p:sldId id="2145705285" r:id="rId77"/>
    <p:sldId id="2145705287" r:id="rId78"/>
    <p:sldId id="2145705286" r:id="rId79"/>
    <p:sldId id="2145705290" r:id="rId80"/>
    <p:sldId id="2145705288" r:id="rId81"/>
    <p:sldId id="2145705289" r:id="rId82"/>
    <p:sldId id="2145705291" r:id="rId83"/>
    <p:sldId id="288" r:id="rId84"/>
  </p:sldIdLst>
  <p:sldSz cx="12192000" cy="6858000"/>
  <p:notesSz cx="6858000" cy="9144000"/>
  <p:custDataLst>
    <p:tags r:id="rId8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3392"/>
            <p14:sldId id="2145705275"/>
            <p14:sldId id="3224"/>
            <p14:sldId id="3256"/>
            <p14:sldId id="3257"/>
            <p14:sldId id="3225"/>
            <p14:sldId id="3226"/>
            <p14:sldId id="3258"/>
            <p14:sldId id="3259"/>
            <p14:sldId id="3260"/>
            <p14:sldId id="3261"/>
            <p14:sldId id="3262"/>
            <p14:sldId id="2145705274"/>
            <p14:sldId id="2145705278"/>
            <p14:sldId id="3265"/>
            <p14:sldId id="3266"/>
            <p14:sldId id="3267"/>
            <p14:sldId id="3269"/>
            <p14:sldId id="3270"/>
            <p14:sldId id="3271"/>
            <p14:sldId id="3272"/>
            <p14:sldId id="3273"/>
            <p14:sldId id="3274"/>
            <p14:sldId id="3275"/>
            <p14:sldId id="3276"/>
            <p14:sldId id="3277"/>
            <p14:sldId id="3278"/>
            <p14:sldId id="3279"/>
            <p14:sldId id="2145705293"/>
            <p14:sldId id="3280"/>
            <p14:sldId id="3282"/>
            <p14:sldId id="3283"/>
            <p14:sldId id="2145705276"/>
            <p14:sldId id="3284"/>
            <p14:sldId id="3285"/>
            <p14:sldId id="3286"/>
            <p14:sldId id="3287"/>
            <p14:sldId id="3288"/>
            <p14:sldId id="2145705277"/>
            <p14:sldId id="2145705280"/>
            <p14:sldId id="3293"/>
            <p14:sldId id="3294"/>
            <p14:sldId id="3295"/>
            <p14:sldId id="3296"/>
            <p14:sldId id="3297"/>
            <p14:sldId id="2145705294"/>
            <p14:sldId id="3299"/>
            <p14:sldId id="3298"/>
            <p14:sldId id="3300"/>
            <p14:sldId id="3301"/>
            <p14:sldId id="3305"/>
            <p14:sldId id="3302"/>
            <p14:sldId id="3303"/>
            <p14:sldId id="3304"/>
            <p14:sldId id="2145705279"/>
            <p14:sldId id="2145705282"/>
            <p14:sldId id="3332"/>
            <p14:sldId id="2145705295"/>
            <p14:sldId id="3334"/>
            <p14:sldId id="3335"/>
            <p14:sldId id="3336"/>
            <p14:sldId id="3337"/>
            <p14:sldId id="3338"/>
            <p14:sldId id="3339"/>
            <p14:sldId id="3340"/>
            <p14:sldId id="3341"/>
            <p14:sldId id="2145705281"/>
            <p14:sldId id="2145705258"/>
            <p14:sldId id="2145705283"/>
            <p14:sldId id="2145705284"/>
            <p14:sldId id="2145705285"/>
            <p14:sldId id="2145705287"/>
            <p14:sldId id="2145705286"/>
            <p14:sldId id="2145705290"/>
            <p14:sldId id="2145705288"/>
            <p14:sldId id="2145705289"/>
            <p14:sldId id="214570529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FFFFFF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7" autoAdjust="0"/>
    <p:restoredTop sz="94595" autoAdjust="0"/>
  </p:normalViewPr>
  <p:slideViewPr>
    <p:cSldViewPr snapToGrid="0" showGuides="1">
      <p:cViewPr varScale="1">
        <p:scale>
          <a:sx n="78" d="100"/>
          <a:sy n="78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theme" Target="theme/theme1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ags" Target="tags/tag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9B8-CC18-7C45-9E7C-5C2A31F9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CE5745-3AC4-D992-DB26-46AD1075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E3BF9D-3A1A-2D66-DF5F-970F434B2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71A64-9EEE-4565-514E-DDD8C7857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8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84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257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276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330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93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220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50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902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336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864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7C1F-8638-9E82-32EC-366845EB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0AC8C7-1732-7965-1FE1-5903B0C59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21780-658F-7CDD-EAD8-48484381F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E4A57D-8B25-C036-2088-7B23E7927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757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350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697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648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834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78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279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30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072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646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710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580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36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5252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FDB4-59BE-7801-56A3-CADBF677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AC350166-C9D0-ECAA-6084-22B5A54E8F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A901526-26A2-0DED-1F46-F7000F074C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62C0C967-83B5-305A-A984-D8A5EE37E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046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6562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058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5372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CF45-AA12-D233-2779-DAFA53E2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E7F960CA-3223-16B3-39CA-1D67E902C3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87C4EE0D-5A1B-3FB2-1877-72AD62C01A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99BDB1FA-408D-E77D-73B5-EB3F2BDFF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982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416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877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4576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7050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032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9C10-1358-00CC-184F-F1693A5C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9940F9-79DE-B759-523D-241D3259C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37BD0C-748F-6F8A-3C80-825DC96D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874C7-7FBB-E6E4-AFDB-0798AB187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2375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778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093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259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06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9783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4839-2DB7-0755-FAD7-2FE25F97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DFC42242-1051-3C23-60CD-FB82150E77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16169EE-08E9-D661-5D58-2A2D6BDFFA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9A0127AC-FA12-EC99-2BFD-3F2593794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290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0793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7382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9527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7033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5303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3883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525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2556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3C95-CE30-2181-83C7-B326C2FE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3A7B15-566E-3D8E-92C6-8A6C78A18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9EF91-2CA8-4E1B-F276-C053909B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056E8-E57F-E358-5C91-1C1372F3B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013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1E0D-A586-591F-545F-A50F649C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783AA5-6947-A686-6F16-C961A53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BBC3A9-018D-C4F4-F7F1-0E95793E0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3C7C06-4D91-1702-A280-105F71441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750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1340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52B2-3C36-962E-041F-4300F4A5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6AE9507D-EB9B-3DE3-9C19-91D3A6EDE7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FEFA3F2-4545-297B-56A3-962D46E428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76E42E77-6D15-5F56-1B69-0D6365C38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61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66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9851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77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4393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34237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2" r:id="rId10"/>
    <p:sldLayoutId id="2147483693" r:id="rId11"/>
    <p:sldLayoutId id="2147483694" r:id="rId12"/>
    <p:sldLayoutId id="2147483696" r:id="rId13"/>
    <p:sldLayoutId id="2147483699" r:id="rId14"/>
    <p:sldLayoutId id="2147483700" r:id="rId15"/>
    <p:sldLayoutId id="2147483702" r:id="rId16"/>
    <p:sldLayoutId id="2147483706" r:id="rId17"/>
    <p:sldLayoutId id="2147483707" r:id="rId18"/>
    <p:sldLayoutId id="2147483708" r:id="rId19"/>
    <p:sldLayoutId id="214748371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  <p:sldLayoutId id="214748371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  <p:sldLayoutId id="2147483712" r:id="rId7"/>
    <p:sldLayoutId id="2147483714" r:id="rId8"/>
    <p:sldLayoutId id="214748371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microsoft.com/office/2007/relationships/hdphoto" Target="../media/hdphoto3.wdp"/><Relationship Id="rId4" Type="http://schemas.openxmlformats.org/officeDocument/2006/relationships/image" Target="../media/image38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microsoft.com/office/2007/relationships/hdphoto" Target="../media/hdphoto3.wdp"/><Relationship Id="rId4" Type="http://schemas.openxmlformats.org/officeDocument/2006/relationships/image" Target="../media/image38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38.png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7.png"/><Relationship Id="rId4" Type="http://schemas.microsoft.com/office/2007/relationships/hdphoto" Target="../media/hdphoto3.wdp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7.png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第二十章：</a:t>
            </a:r>
            <a:r>
              <a:rPr lang="en-US" altLang="zh-CN" sz="4000" dirty="0"/>
              <a:t>Java</a:t>
            </a:r>
            <a:r>
              <a:rPr lang="zh-CN" altLang="en-US" sz="4000" dirty="0"/>
              <a:t>高级技术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7709B9C-2ED4-41E3-43A6-8BB77BF3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C9D56B0-71F8-ABFD-D98A-8BBC99D479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5472" y="2267199"/>
            <a:ext cx="5634223" cy="2755562"/>
          </a:xfrm>
        </p:spPr>
        <p:txBody>
          <a:bodyPr anchor="t"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枚举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类加载器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反射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注解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动态代理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01E3-6825-8855-BC27-41A60742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A4CA9D-8A1A-48B1-870D-616C5CEF28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枚举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07A7F6D-64AD-A63B-7E7D-0A6179AE95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80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04D4B4-6188-46AC-07F3-C7B4279AB3AA}"/>
              </a:ext>
            </a:extLst>
          </p:cNvPr>
          <p:cNvSpPr txBox="1"/>
          <p:nvPr/>
        </p:nvSpPr>
        <p:spPr>
          <a:xfrm>
            <a:off x="877752" y="18045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枚举是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中的一种特殊类型，一般用来做信息的标记和分类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454128-8B72-2717-50C6-70C76A564FA4}"/>
              </a:ext>
            </a:extLst>
          </p:cNvPr>
          <p:cNvSpPr txBox="1"/>
          <p:nvPr/>
        </p:nvSpPr>
        <p:spPr>
          <a:xfrm>
            <a:off x="877751" y="2443702"/>
            <a:ext cx="7762289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使用标记来区分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春、夏、秋、冬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四个季节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B8CC6F-4F06-BD54-519D-9957BC9E0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88" y="3493317"/>
            <a:ext cx="2619375" cy="18954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5E6EE7-E341-4DB0-AAE4-4BDB6B26B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967" y="3421624"/>
            <a:ext cx="5029200" cy="18478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AE81D97F-51F4-436C-6751-FC571524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枚举介绍</a:t>
            </a:r>
          </a:p>
        </p:txBody>
      </p:sp>
    </p:spTree>
    <p:extLst>
      <p:ext uri="{BB962C8B-B14F-4D97-AF65-F5344CB8AC3E}">
        <p14:creationId xmlns:p14="http://schemas.microsoft.com/office/powerpoint/2010/main" val="151887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04D4B4-6188-46AC-07F3-C7B4279AB3AA}"/>
              </a:ext>
            </a:extLst>
          </p:cNvPr>
          <p:cNvSpPr txBox="1"/>
          <p:nvPr/>
        </p:nvSpPr>
        <p:spPr>
          <a:xfrm>
            <a:off x="5813737" y="8901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枚举是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中的一种特殊类型，一般用来做信息的标记和分类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2454C2-CCA5-502D-64A3-B66AB14D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31" y="1100744"/>
            <a:ext cx="5029200" cy="18478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515F833-78CC-1D4B-AF6C-6EFACDEEE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31" y="3429000"/>
            <a:ext cx="6724650" cy="13906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58CB61B-2443-2EAE-5EFC-9F5AB8E1E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68284" y="4424976"/>
            <a:ext cx="2286000" cy="2286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801E061-90F8-40E2-31AE-C03CF1F2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枚举介绍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8BFBAE-827B-FDD3-4729-0980ECDFA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306" y="1316060"/>
            <a:ext cx="5370463" cy="44768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53158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04D4B4-6188-46AC-07F3-C7B4279AB3AA}"/>
              </a:ext>
            </a:extLst>
          </p:cNvPr>
          <p:cNvSpPr txBox="1"/>
          <p:nvPr/>
        </p:nvSpPr>
        <p:spPr>
          <a:xfrm>
            <a:off x="5813737" y="8901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枚举是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中的一种特殊类型，一般用来做信息的标记和分类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CF8D15-533E-681B-BF6E-85684708E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21" y="2530329"/>
            <a:ext cx="9954267" cy="21788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18C08005-8F36-A906-B63C-53F41BCD0070}"/>
              </a:ext>
            </a:extLst>
          </p:cNvPr>
          <p:cNvSpPr/>
          <p:nvPr/>
        </p:nvSpPr>
        <p:spPr>
          <a:xfrm>
            <a:off x="3291840" y="3429000"/>
            <a:ext cx="2414016" cy="46634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2621FC-F031-6758-BBEC-FA3DAD82D0CE}"/>
              </a:ext>
            </a:extLst>
          </p:cNvPr>
          <p:cNvSpPr txBox="1"/>
          <p:nvPr/>
        </p:nvSpPr>
        <p:spPr>
          <a:xfrm>
            <a:off x="3479292" y="5266454"/>
            <a:ext cx="4453128" cy="661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确保这个类的对象只有四个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B093B8E-C11E-CC9C-82FB-43E04B31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枚举介绍</a:t>
            </a:r>
          </a:p>
        </p:txBody>
      </p:sp>
    </p:spTree>
    <p:extLst>
      <p:ext uri="{BB962C8B-B14F-4D97-AF65-F5344CB8AC3E}">
        <p14:creationId xmlns:p14="http://schemas.microsoft.com/office/powerpoint/2010/main" val="247021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AA17BEF-ECCD-3FF8-F26E-EFD6F0D8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16" y="1875316"/>
            <a:ext cx="6067425" cy="2876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FBD3849-708B-C28A-0472-BBC9AB84D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07" y="1827559"/>
            <a:ext cx="4152900" cy="1038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26990F0-DF6B-86C1-F5B1-BC0C93A2D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247" y="2346671"/>
            <a:ext cx="6376516" cy="36902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09C31D7-AD4A-82A2-C241-28131B7D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枚举介绍</a:t>
            </a:r>
          </a:p>
        </p:txBody>
      </p:sp>
    </p:spTree>
    <p:extLst>
      <p:ext uri="{BB962C8B-B14F-4D97-AF65-F5344CB8AC3E}">
        <p14:creationId xmlns:p14="http://schemas.microsoft.com/office/powerpoint/2010/main" val="3767681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249059-B296-8FC3-09D2-2E3387D33F80}"/>
              </a:ext>
            </a:extLst>
          </p:cNvPr>
          <p:cNvSpPr txBox="1"/>
          <p:nvPr/>
        </p:nvSpPr>
        <p:spPr>
          <a:xfrm>
            <a:off x="941033" y="1882066"/>
            <a:ext cx="5619565" cy="116076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修饰符 </a:t>
            </a:r>
            <a:r>
              <a:rPr lang="en-US" altLang="zh-CN" sz="1600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枚举类名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枚举项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1,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枚举项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2,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枚举项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3...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}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240F52-FC36-CAA4-0B18-87C9251E4369}"/>
              </a:ext>
            </a:extLst>
          </p:cNvPr>
          <p:cNvSpPr txBox="1"/>
          <p:nvPr/>
        </p:nvSpPr>
        <p:spPr>
          <a:xfrm>
            <a:off x="941032" y="3622089"/>
            <a:ext cx="5619565" cy="129586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Season 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8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SUMMER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AUTUMN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8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WINTER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764BD18-9EFF-334C-F553-9D7D9425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枚举定义格式</a:t>
            </a:r>
          </a:p>
        </p:txBody>
      </p:sp>
    </p:spTree>
    <p:extLst>
      <p:ext uri="{BB962C8B-B14F-4D97-AF65-F5344CB8AC3E}">
        <p14:creationId xmlns:p14="http://schemas.microsoft.com/office/powerpoint/2010/main" val="1103704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1E0D3F-6AEC-BEC5-AA9B-E7ABAEFE90BA}"/>
              </a:ext>
            </a:extLst>
          </p:cNvPr>
          <p:cNvSpPr txBox="1"/>
          <p:nvPr/>
        </p:nvSpPr>
        <p:spPr>
          <a:xfrm>
            <a:off x="877752" y="1749916"/>
            <a:ext cx="10813002" cy="3960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每一个枚举项其实就是该枚举的一个对象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通过枚举类名去访问指定的枚举项 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所有枚举类都是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Enum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的子类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枚举也是类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可以定义成员变量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枚举类的第一行上必须是枚举项，最后一个枚举项后的分号是可以省略的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algn="l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但是如果枚举类有其他的东西，这个分号就不能省略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(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建议不要省略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)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枚举类可以有构造器，但必须是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的，它默认也是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private 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枚举类也可以有抽象方法，但是枚举项必须重写该方法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F811D87-4AE4-D6CE-F796-101AE9C5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枚举的特点</a:t>
            </a:r>
          </a:p>
        </p:txBody>
      </p:sp>
    </p:spTree>
    <p:extLst>
      <p:ext uri="{BB962C8B-B14F-4D97-AF65-F5344CB8AC3E}">
        <p14:creationId xmlns:p14="http://schemas.microsoft.com/office/powerpoint/2010/main" val="20268292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A7BA37-373C-B471-E8CE-4A9F41755528}"/>
              </a:ext>
            </a:extLst>
          </p:cNvPr>
          <p:cNvSpPr txBox="1"/>
          <p:nvPr/>
        </p:nvSpPr>
        <p:spPr>
          <a:xfrm>
            <a:off x="877752" y="18045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26" name="Picture 2" descr="HTML5 SVG卡通猫敲键盘特效代码下载">
            <a:extLst>
              <a:ext uri="{FF2B5EF4-FFF2-40B4-BE49-F238E27FC236}">
                <a16:creationId xmlns:a16="http://schemas.microsoft.com/office/drawing/2014/main" id="{F2481220-F8FC-9CC3-2665-328D6A1C7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98" b="89888" l="6701" r="92371">
                        <a14:foregroundMark x1="8969" y1="6966" x2="35155" y2="3596"/>
                        <a14:foregroundMark x1="35155" y1="3596" x2="35876" y2="3596"/>
                        <a14:foregroundMark x1="49897" y1="2472" x2="49897" y2="2472"/>
                        <a14:foregroundMark x1="92577" y1="62247" x2="92165" y2="86292"/>
                        <a14:foregroundMark x1="6907" y1="2022" x2="6907" y2="2022"/>
                        <a14:foregroundMark x1="6701" y1="26292" x2="6701" y2="262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052" y="4121949"/>
            <a:ext cx="4619625" cy="211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7C9689C1-EFD0-8FA0-7821-4E873AFE5B27}"/>
              </a:ext>
            </a:extLst>
          </p:cNvPr>
          <p:cNvSpPr/>
          <p:nvPr/>
        </p:nvSpPr>
        <p:spPr>
          <a:xfrm>
            <a:off x="9421276" y="2821213"/>
            <a:ext cx="2572456" cy="1331650"/>
          </a:xfrm>
          <a:prstGeom prst="cloudCallout">
            <a:avLst>
              <a:gd name="adj1" fmla="val -46716"/>
              <a:gd name="adj2" fmla="val 611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需要个变量标记商品预售</a:t>
            </a:r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7BB1E46F-E7DB-ABA0-EF0F-6AD012188B08}"/>
              </a:ext>
            </a:extLst>
          </p:cNvPr>
          <p:cNvSpPr/>
          <p:nvPr/>
        </p:nvSpPr>
        <p:spPr>
          <a:xfrm>
            <a:off x="7130838" y="1813264"/>
            <a:ext cx="2572456" cy="1331650"/>
          </a:xfrm>
          <a:prstGeom prst="cloudCallout">
            <a:avLst>
              <a:gd name="adj1" fmla="val 21960"/>
              <a:gd name="adj2" fmla="val 1191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需要个变量标记商品在售</a:t>
            </a:r>
          </a:p>
        </p:txBody>
      </p:sp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42047C7E-DE3E-B786-5DE0-29A42400449A}"/>
              </a:ext>
            </a:extLst>
          </p:cNvPr>
          <p:cNvSpPr/>
          <p:nvPr/>
        </p:nvSpPr>
        <p:spPr>
          <a:xfrm>
            <a:off x="9238299" y="5078779"/>
            <a:ext cx="2572456" cy="1331650"/>
          </a:xfrm>
          <a:prstGeom prst="cloudCallout">
            <a:avLst>
              <a:gd name="adj1" fmla="val -43474"/>
              <a:gd name="adj2" fmla="val -7637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需要个变量标记商品售罄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D1AC1A9-6023-8BA6-51EC-2F04D80C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0" y="2896349"/>
            <a:ext cx="4210050" cy="3238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89516E7-C8AC-F6D0-52AC-BECECF2D1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000" y="3672960"/>
            <a:ext cx="3705225" cy="3524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7C33D89-92FF-C896-5E19-7A3B89F17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75" y="4478146"/>
            <a:ext cx="4010025" cy="333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8047625-8F84-F40F-2DBC-313DE456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枚举的使用场景</a:t>
            </a:r>
          </a:p>
        </p:txBody>
      </p:sp>
    </p:spTree>
    <p:extLst>
      <p:ext uri="{BB962C8B-B14F-4D97-AF65-F5344CB8AC3E}">
        <p14:creationId xmlns:p14="http://schemas.microsoft.com/office/powerpoint/2010/main" val="61677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A7BA37-373C-B471-E8CE-4A9F41755528}"/>
              </a:ext>
            </a:extLst>
          </p:cNvPr>
          <p:cNvSpPr txBox="1"/>
          <p:nvPr/>
        </p:nvSpPr>
        <p:spPr>
          <a:xfrm>
            <a:off x="877752" y="18045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26" name="Picture 2" descr="HTML5 SVG卡通猫敲键盘特效代码下载">
            <a:extLst>
              <a:ext uri="{FF2B5EF4-FFF2-40B4-BE49-F238E27FC236}">
                <a16:creationId xmlns:a16="http://schemas.microsoft.com/office/drawing/2014/main" id="{F2481220-F8FC-9CC3-2665-328D6A1C7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98" b="89888" l="6701" r="92371">
                        <a14:foregroundMark x1="8969" y1="6966" x2="35155" y2="3596"/>
                        <a14:foregroundMark x1="35155" y1="3596" x2="35876" y2="3596"/>
                        <a14:foregroundMark x1="49897" y1="2472" x2="49897" y2="2472"/>
                        <a14:foregroundMark x1="92577" y1="62247" x2="92165" y2="86292"/>
                        <a14:foregroundMark x1="6907" y1="2022" x2="6907" y2="2022"/>
                        <a14:foregroundMark x1="6701" y1="26292" x2="6701" y2="262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052" y="4121949"/>
            <a:ext cx="4619625" cy="211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D1AC1A9-6023-8BA6-51EC-2F04D80C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0" y="2896349"/>
            <a:ext cx="4210050" cy="3238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89516E7-C8AC-F6D0-52AC-BECECF2D1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000" y="3672960"/>
            <a:ext cx="3705225" cy="3524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7C33D89-92FF-C896-5E19-7A3B89F17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75" y="4478146"/>
            <a:ext cx="4010025" cy="333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06EF4BBB-FDFF-6B11-E45F-384ED8E07D10}"/>
              </a:ext>
            </a:extLst>
          </p:cNvPr>
          <p:cNvSpPr/>
          <p:nvPr/>
        </p:nvSpPr>
        <p:spPr>
          <a:xfrm>
            <a:off x="8640041" y="2325950"/>
            <a:ext cx="2563578" cy="1699435"/>
          </a:xfrm>
          <a:prstGeom prst="cloudCallout">
            <a:avLst>
              <a:gd name="adj1" fmla="val -42650"/>
              <a:gd name="adj2" fmla="val 5100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5EFACF7-5F8F-7C69-F958-FE1CE0F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枚举的使用场景</a:t>
            </a:r>
          </a:p>
        </p:txBody>
      </p:sp>
    </p:spTree>
    <p:extLst>
      <p:ext uri="{BB962C8B-B14F-4D97-AF65-F5344CB8AC3E}">
        <p14:creationId xmlns:p14="http://schemas.microsoft.com/office/powerpoint/2010/main" val="10962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A7BA37-373C-B471-E8CE-4A9F41755528}"/>
              </a:ext>
            </a:extLst>
          </p:cNvPr>
          <p:cNvSpPr txBox="1"/>
          <p:nvPr/>
        </p:nvSpPr>
        <p:spPr>
          <a:xfrm>
            <a:off x="877752" y="1804510"/>
            <a:ext cx="7762289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用来做信息的标记和分类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26" name="Picture 2" descr="HTML5 SVG卡通猫敲键盘特效代码下载">
            <a:extLst>
              <a:ext uri="{FF2B5EF4-FFF2-40B4-BE49-F238E27FC236}">
                <a16:creationId xmlns:a16="http://schemas.microsoft.com/office/drawing/2014/main" id="{F2481220-F8FC-9CC3-2665-328D6A1C7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98" b="89888" l="6701" r="92371">
                        <a14:foregroundMark x1="8969" y1="6966" x2="35155" y2="3596"/>
                        <a14:foregroundMark x1="35155" y1="3596" x2="35876" y2="3596"/>
                        <a14:foregroundMark x1="49897" y1="2472" x2="49897" y2="2472"/>
                        <a14:foregroundMark x1="92577" y1="62247" x2="92165" y2="86292"/>
                        <a14:foregroundMark x1="6907" y1="2022" x2="6907" y2="2022"/>
                        <a14:foregroundMark x1="6701" y1="26292" x2="6701" y2="262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052" y="4121949"/>
            <a:ext cx="4619625" cy="211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D1AC1A9-6023-8BA6-51EC-2F04D80C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0" y="2896349"/>
            <a:ext cx="4210050" cy="3238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89516E7-C8AC-F6D0-52AC-BECECF2D1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000" y="3672960"/>
            <a:ext cx="3705225" cy="3524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7C33D89-92FF-C896-5E19-7A3B89F17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75" y="4478146"/>
            <a:ext cx="4010025" cy="333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06EF4BBB-FDFF-6B11-E45F-384ED8E07D10}"/>
              </a:ext>
            </a:extLst>
          </p:cNvPr>
          <p:cNvSpPr/>
          <p:nvPr/>
        </p:nvSpPr>
        <p:spPr>
          <a:xfrm>
            <a:off x="8640041" y="2325950"/>
            <a:ext cx="2563578" cy="1699435"/>
          </a:xfrm>
          <a:prstGeom prst="cloudCallout">
            <a:avLst>
              <a:gd name="adj1" fmla="val -42650"/>
              <a:gd name="adj2" fmla="val 5100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干脆搞个枚举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709576-E018-0825-5B9F-D49FC0B13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721" y="3236401"/>
            <a:ext cx="3686175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DA61908-5893-97A1-4BA5-4E614D17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枚举的使用场景</a:t>
            </a:r>
          </a:p>
        </p:txBody>
      </p:sp>
    </p:spTree>
    <p:extLst>
      <p:ext uri="{BB962C8B-B14F-4D97-AF65-F5344CB8AC3E}">
        <p14:creationId xmlns:p14="http://schemas.microsoft.com/office/powerpoint/2010/main" val="275688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59ECE1-E75C-03B2-971E-180567FDB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使用枚举做信息的标记和分类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代码可读性更高，入参约束严谨，代码优雅</a:t>
            </a:r>
          </a:p>
        </p:txBody>
      </p:sp>
    </p:spTree>
    <p:extLst>
      <p:ext uri="{BB962C8B-B14F-4D97-AF65-F5344CB8AC3E}">
        <p14:creationId xmlns:p14="http://schemas.microsoft.com/office/powerpoint/2010/main" val="2167674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E5C7B1E-7680-29FD-6D7F-09559E0D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07A545E-6D45-B261-0533-17E92FE7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5472" y="2267199"/>
            <a:ext cx="5634223" cy="2755562"/>
          </a:xfrm>
        </p:spPr>
        <p:txBody>
          <a:bodyPr anchor="t"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枚举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类加载器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反射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注解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动态代理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5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C078-71CD-9FA0-8188-E697F8C6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AE782B-1778-7D68-C751-9BC564ABE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类加载器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A35FB4E-192A-BC8C-93EA-D0D361E10E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11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712B33-9032-9D66-93BE-11ACDB1D7521}"/>
              </a:ext>
            </a:extLst>
          </p:cNvPr>
          <p:cNvSpPr/>
          <p:nvPr/>
        </p:nvSpPr>
        <p:spPr>
          <a:xfrm>
            <a:off x="976544" y="2823099"/>
            <a:ext cx="2379215" cy="941033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/>
              <a:t>文件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DF7433-B36C-F658-7EFF-1C012CFDB651}"/>
              </a:ext>
            </a:extLst>
          </p:cNvPr>
          <p:cNvSpPr/>
          <p:nvPr/>
        </p:nvSpPr>
        <p:spPr>
          <a:xfrm>
            <a:off x="976544" y="2823098"/>
            <a:ext cx="2379215" cy="941033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/>
              <a:t>文件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A14CA1-3D86-6789-F247-074F6EFD5791}"/>
              </a:ext>
            </a:extLst>
          </p:cNvPr>
          <p:cNvSpPr/>
          <p:nvPr/>
        </p:nvSpPr>
        <p:spPr>
          <a:xfrm>
            <a:off x="6782540" y="2823097"/>
            <a:ext cx="4918229" cy="28941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方法区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F16C40-3879-039C-4E33-72E5F29687E0}"/>
              </a:ext>
            </a:extLst>
          </p:cNvPr>
          <p:cNvSpPr/>
          <p:nvPr/>
        </p:nvSpPr>
        <p:spPr>
          <a:xfrm>
            <a:off x="3722339" y="2823097"/>
            <a:ext cx="2379215" cy="941033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class </a:t>
            </a:r>
            <a:r>
              <a:rPr lang="zh-CN" altLang="en-US" dirty="0"/>
              <a:t>文件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F651B88-6A4A-89CF-6A4D-2EEB106B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1137761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712B33-9032-9D66-93BE-11ACDB1D7521}"/>
              </a:ext>
            </a:extLst>
          </p:cNvPr>
          <p:cNvSpPr/>
          <p:nvPr/>
        </p:nvSpPr>
        <p:spPr>
          <a:xfrm>
            <a:off x="976544" y="2823099"/>
            <a:ext cx="2379215" cy="941033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/>
              <a:t>文件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DF7433-B36C-F658-7EFF-1C012CFDB651}"/>
              </a:ext>
            </a:extLst>
          </p:cNvPr>
          <p:cNvSpPr/>
          <p:nvPr/>
        </p:nvSpPr>
        <p:spPr>
          <a:xfrm>
            <a:off x="976544" y="2823098"/>
            <a:ext cx="2379215" cy="941033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/>
              <a:t>文件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A14CA1-3D86-6789-F247-074F6EFD5791}"/>
              </a:ext>
            </a:extLst>
          </p:cNvPr>
          <p:cNvSpPr/>
          <p:nvPr/>
        </p:nvSpPr>
        <p:spPr>
          <a:xfrm>
            <a:off x="6782540" y="2823097"/>
            <a:ext cx="4918229" cy="28941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endParaRPr lang="en-US" altLang="zh-CN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方法区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F16C40-3879-039C-4E33-72E5F29687E0}"/>
              </a:ext>
            </a:extLst>
          </p:cNvPr>
          <p:cNvSpPr/>
          <p:nvPr/>
        </p:nvSpPr>
        <p:spPr>
          <a:xfrm>
            <a:off x="8052046" y="3764131"/>
            <a:ext cx="2379215" cy="941033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class </a:t>
            </a:r>
            <a:r>
              <a:rPr lang="zh-CN" altLang="en-US" dirty="0"/>
              <a:t>文件</a:t>
            </a:r>
          </a:p>
        </p:txBody>
      </p:sp>
      <p:pic>
        <p:nvPicPr>
          <p:cNvPr id="2051" name="Picture 3" descr="抖音抹茶旦旦小鳄鱼表情包-抹茶旦旦小鳄鱼表情包分享 - 0311手游网">
            <a:extLst>
              <a:ext uri="{FF2B5EF4-FFF2-40B4-BE49-F238E27FC236}">
                <a16:creationId xmlns:a16="http://schemas.microsoft.com/office/drawing/2014/main" id="{3A4293BF-3C6B-C094-1FA4-6DF18994C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562" y="2778708"/>
            <a:ext cx="254317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7F79BE-DEB0-2C47-54D9-BF55CF4F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3415358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709977E-AB96-7D2C-A4F7-26563017EF78}"/>
              </a:ext>
            </a:extLst>
          </p:cNvPr>
          <p:cNvSpPr/>
          <p:nvPr/>
        </p:nvSpPr>
        <p:spPr>
          <a:xfrm>
            <a:off x="7401729" y="2112647"/>
            <a:ext cx="1999723" cy="466292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创建对象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5F53B51-FDC1-22D1-E137-BD5A59276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506" y="2990850"/>
            <a:ext cx="3305175" cy="438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4D1C8B74-1A50-88D8-875D-2884D898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400923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812011-E3F6-3B45-89A3-639F3587A68F}"/>
              </a:ext>
            </a:extLst>
          </p:cNvPr>
          <p:cNvSpPr/>
          <p:nvPr/>
        </p:nvSpPr>
        <p:spPr>
          <a:xfrm>
            <a:off x="7028867" y="914610"/>
            <a:ext cx="2523506" cy="466292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调用类的静态成员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EBB6E9-4416-E6CC-7746-8F4B4468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616" y="1034698"/>
            <a:ext cx="5284710" cy="5346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2EEF9F-E2DC-1AFE-C86F-89894712EA24}"/>
              </a:ext>
            </a:extLst>
          </p:cNvPr>
          <p:cNvSpPr/>
          <p:nvPr/>
        </p:nvSpPr>
        <p:spPr>
          <a:xfrm>
            <a:off x="938218" y="3324654"/>
            <a:ext cx="1298956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创建对象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1E125F0-3234-4BEA-D693-64F67DAE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2187815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812011-E3F6-3B45-89A3-639F3587A68F}"/>
              </a:ext>
            </a:extLst>
          </p:cNvPr>
          <p:cNvSpPr/>
          <p:nvPr/>
        </p:nvSpPr>
        <p:spPr>
          <a:xfrm>
            <a:off x="2421356" y="3324654"/>
            <a:ext cx="2212788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调用类的静态成员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2EEF9F-E2DC-1AFE-C86F-89894712EA24}"/>
              </a:ext>
            </a:extLst>
          </p:cNvPr>
          <p:cNvSpPr/>
          <p:nvPr/>
        </p:nvSpPr>
        <p:spPr>
          <a:xfrm>
            <a:off x="938218" y="3324654"/>
            <a:ext cx="1298956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创建对象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66903FC-743D-57F9-88C7-0B8732B35D68}"/>
              </a:ext>
            </a:extLst>
          </p:cNvPr>
          <p:cNvSpPr/>
          <p:nvPr/>
        </p:nvSpPr>
        <p:spPr>
          <a:xfrm>
            <a:off x="7064378" y="1201035"/>
            <a:ext cx="2523506" cy="466292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初始化继承体系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F91866C-573A-228F-3364-504D1357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82" y="1667327"/>
            <a:ext cx="5257800" cy="4191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6C8FA22D-3954-48BA-79DC-B5B219C6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301700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812011-E3F6-3B45-89A3-639F3587A68F}"/>
              </a:ext>
            </a:extLst>
          </p:cNvPr>
          <p:cNvSpPr/>
          <p:nvPr/>
        </p:nvSpPr>
        <p:spPr>
          <a:xfrm>
            <a:off x="2421356" y="3324654"/>
            <a:ext cx="2212788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调用类的静态成员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2EEF9F-E2DC-1AFE-C86F-89894712EA24}"/>
              </a:ext>
            </a:extLst>
          </p:cNvPr>
          <p:cNvSpPr/>
          <p:nvPr/>
        </p:nvSpPr>
        <p:spPr>
          <a:xfrm>
            <a:off x="938218" y="3324654"/>
            <a:ext cx="1298956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创建对象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66903FC-743D-57F9-88C7-0B8732B35D68}"/>
              </a:ext>
            </a:extLst>
          </p:cNvPr>
          <p:cNvSpPr/>
          <p:nvPr/>
        </p:nvSpPr>
        <p:spPr>
          <a:xfrm>
            <a:off x="938218" y="3882209"/>
            <a:ext cx="2049674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初始化继承体系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ADCEF4-433F-B335-DE9A-44120B17D143}"/>
              </a:ext>
            </a:extLst>
          </p:cNvPr>
          <p:cNvSpPr/>
          <p:nvPr/>
        </p:nvSpPr>
        <p:spPr>
          <a:xfrm>
            <a:off x="3261776" y="3882209"/>
            <a:ext cx="2744736" cy="3831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B"/>
                <a:ea typeface="阿里巴巴普惠体" panose="00020600040101010101"/>
              </a:rPr>
              <a:t>使用反射加载类的字节码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F51DBC9B-ABE8-1751-C779-CACC808F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4000273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5221FC-E0B1-3709-A276-B2CADBC9C4FF}"/>
              </a:ext>
            </a:extLst>
          </p:cNvPr>
          <p:cNvSpPr txBox="1"/>
          <p:nvPr/>
        </p:nvSpPr>
        <p:spPr>
          <a:xfrm>
            <a:off x="877752" y="3359984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加载过程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549A19F-0023-49B8-F03A-B26BCAF9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395235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A6DCA-9C0E-6384-1278-29D2BE65B451}"/>
              </a:ext>
            </a:extLst>
          </p:cNvPr>
          <p:cNvSpPr/>
          <p:nvPr/>
        </p:nvSpPr>
        <p:spPr>
          <a:xfrm>
            <a:off x="877752" y="4556580"/>
            <a:ext cx="2530136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9077F-19D7-FA17-55DC-EF0BE23EDF7D}"/>
              </a:ext>
            </a:extLst>
          </p:cNvPr>
          <p:cNvSpPr/>
          <p:nvPr/>
        </p:nvSpPr>
        <p:spPr>
          <a:xfrm>
            <a:off x="1135205" y="4794508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44ADA0-18BD-FDFD-FB39-76661523A2D2}"/>
              </a:ext>
            </a:extLst>
          </p:cNvPr>
          <p:cNvSpPr/>
          <p:nvPr/>
        </p:nvSpPr>
        <p:spPr>
          <a:xfrm>
            <a:off x="3722991" y="4556580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9083A-2F6E-6B4A-98C5-EB89A08B6912}"/>
              </a:ext>
            </a:extLst>
          </p:cNvPr>
          <p:cNvSpPr/>
          <p:nvPr/>
        </p:nvSpPr>
        <p:spPr>
          <a:xfrm>
            <a:off x="1838760" y="4794506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7F7DF3-91FD-B32D-A075-BEEEE488CAB0}"/>
              </a:ext>
            </a:extLst>
          </p:cNvPr>
          <p:cNvSpPr/>
          <p:nvPr/>
        </p:nvSpPr>
        <p:spPr>
          <a:xfrm>
            <a:off x="2542316" y="4794506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F8CA40-66B6-EB34-5F87-D2D487AEB80B}"/>
              </a:ext>
            </a:extLst>
          </p:cNvPr>
          <p:cNvSpPr/>
          <p:nvPr/>
        </p:nvSpPr>
        <p:spPr>
          <a:xfrm>
            <a:off x="1124106" y="5502383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AFD9BA-73E0-4087-05F0-041A4E715352}"/>
              </a:ext>
            </a:extLst>
          </p:cNvPr>
          <p:cNvSpPr/>
          <p:nvPr/>
        </p:nvSpPr>
        <p:spPr>
          <a:xfrm>
            <a:off x="1827661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46D771-08CE-3C99-B31A-6F126DD521F7}"/>
              </a:ext>
            </a:extLst>
          </p:cNvPr>
          <p:cNvSpPr/>
          <p:nvPr/>
        </p:nvSpPr>
        <p:spPr>
          <a:xfrm>
            <a:off x="2531217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51683A-281C-B4B0-92C6-1292679C9010}"/>
              </a:ext>
            </a:extLst>
          </p:cNvPr>
          <p:cNvSpPr txBox="1"/>
          <p:nvPr/>
        </p:nvSpPr>
        <p:spPr>
          <a:xfrm>
            <a:off x="877752" y="3124141"/>
            <a:ext cx="4569780" cy="10272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通过包名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+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获取这个类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准备用流进行传输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将类加载到内存中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加载完毕创建一个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对象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1D0EAC-1D7D-1284-93B8-9B9B31B10089}"/>
              </a:ext>
            </a:extLst>
          </p:cNvPr>
          <p:cNvSpPr txBox="1"/>
          <p:nvPr/>
        </p:nvSpPr>
        <p:spPr>
          <a:xfrm>
            <a:off x="1845302" y="6210256"/>
            <a:ext cx="595035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硬盘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AB1264-32E1-648C-D139-AB8866F7EB8F}"/>
              </a:ext>
            </a:extLst>
          </p:cNvPr>
          <p:cNvSpPr txBox="1"/>
          <p:nvPr/>
        </p:nvSpPr>
        <p:spPr>
          <a:xfrm>
            <a:off x="5150014" y="6210256"/>
            <a:ext cx="800219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方法区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16F9B-01E9-CF55-E90E-F8C32490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30241568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A6DCA-9C0E-6384-1278-29D2BE65B451}"/>
              </a:ext>
            </a:extLst>
          </p:cNvPr>
          <p:cNvSpPr/>
          <p:nvPr/>
        </p:nvSpPr>
        <p:spPr>
          <a:xfrm>
            <a:off x="877752" y="4556580"/>
            <a:ext cx="2530136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9077F-19D7-FA17-55DC-EF0BE23EDF7D}"/>
              </a:ext>
            </a:extLst>
          </p:cNvPr>
          <p:cNvSpPr/>
          <p:nvPr/>
        </p:nvSpPr>
        <p:spPr>
          <a:xfrm>
            <a:off x="1135205" y="4794508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44ADA0-18BD-FDFD-FB39-76661523A2D2}"/>
              </a:ext>
            </a:extLst>
          </p:cNvPr>
          <p:cNvSpPr/>
          <p:nvPr/>
        </p:nvSpPr>
        <p:spPr>
          <a:xfrm>
            <a:off x="3722991" y="4556580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9083A-2F6E-6B4A-98C5-EB89A08B6912}"/>
              </a:ext>
            </a:extLst>
          </p:cNvPr>
          <p:cNvSpPr/>
          <p:nvPr/>
        </p:nvSpPr>
        <p:spPr>
          <a:xfrm>
            <a:off x="1838760" y="4794506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7F7DF3-91FD-B32D-A075-BEEEE488CAB0}"/>
              </a:ext>
            </a:extLst>
          </p:cNvPr>
          <p:cNvSpPr/>
          <p:nvPr/>
        </p:nvSpPr>
        <p:spPr>
          <a:xfrm>
            <a:off x="2542316" y="4794506"/>
            <a:ext cx="497150" cy="412599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F8CA40-66B6-EB34-5F87-D2D487AEB80B}"/>
              </a:ext>
            </a:extLst>
          </p:cNvPr>
          <p:cNvSpPr/>
          <p:nvPr/>
        </p:nvSpPr>
        <p:spPr>
          <a:xfrm>
            <a:off x="1124106" y="5502383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AFD9BA-73E0-4087-05F0-041A4E715352}"/>
              </a:ext>
            </a:extLst>
          </p:cNvPr>
          <p:cNvSpPr/>
          <p:nvPr/>
        </p:nvSpPr>
        <p:spPr>
          <a:xfrm>
            <a:off x="1827661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46D771-08CE-3C99-B31A-6F126DD521F7}"/>
              </a:ext>
            </a:extLst>
          </p:cNvPr>
          <p:cNvSpPr/>
          <p:nvPr/>
        </p:nvSpPr>
        <p:spPr>
          <a:xfrm>
            <a:off x="2531217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51683A-281C-B4B0-92C6-1292679C9010}"/>
              </a:ext>
            </a:extLst>
          </p:cNvPr>
          <p:cNvSpPr txBox="1"/>
          <p:nvPr/>
        </p:nvSpPr>
        <p:spPr>
          <a:xfrm>
            <a:off x="877752" y="3124141"/>
            <a:ext cx="4569780" cy="10272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通过包名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+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获取这个类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准备用流进行传输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将类加载到内存中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加载完毕创建一个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对象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1D0EAC-1D7D-1284-93B8-9B9B31B10089}"/>
              </a:ext>
            </a:extLst>
          </p:cNvPr>
          <p:cNvSpPr txBox="1"/>
          <p:nvPr/>
        </p:nvSpPr>
        <p:spPr>
          <a:xfrm>
            <a:off x="1845302" y="6210256"/>
            <a:ext cx="595035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硬盘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AB1264-32E1-648C-D139-AB8866F7EB8F}"/>
              </a:ext>
            </a:extLst>
          </p:cNvPr>
          <p:cNvSpPr txBox="1"/>
          <p:nvPr/>
        </p:nvSpPr>
        <p:spPr>
          <a:xfrm>
            <a:off x="5150014" y="6210256"/>
            <a:ext cx="800219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方法区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38A9D8-B6CD-C9F3-4D14-064664A875D5}"/>
              </a:ext>
            </a:extLst>
          </p:cNvPr>
          <p:cNvSpPr/>
          <p:nvPr/>
        </p:nvSpPr>
        <p:spPr>
          <a:xfrm>
            <a:off x="2542316" y="4794506"/>
            <a:ext cx="497150" cy="412599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F566714-DC03-E082-6DEA-8C253222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4023333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A6DCA-9C0E-6384-1278-29D2BE65B451}"/>
              </a:ext>
            </a:extLst>
          </p:cNvPr>
          <p:cNvSpPr/>
          <p:nvPr/>
        </p:nvSpPr>
        <p:spPr>
          <a:xfrm>
            <a:off x="877752" y="4556580"/>
            <a:ext cx="2530136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9077F-19D7-FA17-55DC-EF0BE23EDF7D}"/>
              </a:ext>
            </a:extLst>
          </p:cNvPr>
          <p:cNvSpPr/>
          <p:nvPr/>
        </p:nvSpPr>
        <p:spPr>
          <a:xfrm>
            <a:off x="1135205" y="4794508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44ADA0-18BD-FDFD-FB39-76661523A2D2}"/>
              </a:ext>
            </a:extLst>
          </p:cNvPr>
          <p:cNvSpPr/>
          <p:nvPr/>
        </p:nvSpPr>
        <p:spPr>
          <a:xfrm>
            <a:off x="3722991" y="4556580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9083A-2F6E-6B4A-98C5-EB89A08B6912}"/>
              </a:ext>
            </a:extLst>
          </p:cNvPr>
          <p:cNvSpPr/>
          <p:nvPr/>
        </p:nvSpPr>
        <p:spPr>
          <a:xfrm>
            <a:off x="1838760" y="4794506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7F7DF3-91FD-B32D-A075-BEEEE488CAB0}"/>
              </a:ext>
            </a:extLst>
          </p:cNvPr>
          <p:cNvSpPr/>
          <p:nvPr/>
        </p:nvSpPr>
        <p:spPr>
          <a:xfrm>
            <a:off x="2542316" y="4794506"/>
            <a:ext cx="497150" cy="412599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F8CA40-66B6-EB34-5F87-D2D487AEB80B}"/>
              </a:ext>
            </a:extLst>
          </p:cNvPr>
          <p:cNvSpPr/>
          <p:nvPr/>
        </p:nvSpPr>
        <p:spPr>
          <a:xfrm>
            <a:off x="1124106" y="5502383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AFD9BA-73E0-4087-05F0-041A4E715352}"/>
              </a:ext>
            </a:extLst>
          </p:cNvPr>
          <p:cNvSpPr/>
          <p:nvPr/>
        </p:nvSpPr>
        <p:spPr>
          <a:xfrm>
            <a:off x="1827661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46D771-08CE-3C99-B31A-6F126DD521F7}"/>
              </a:ext>
            </a:extLst>
          </p:cNvPr>
          <p:cNvSpPr/>
          <p:nvPr/>
        </p:nvSpPr>
        <p:spPr>
          <a:xfrm>
            <a:off x="2531217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51683A-281C-B4B0-92C6-1292679C9010}"/>
              </a:ext>
            </a:extLst>
          </p:cNvPr>
          <p:cNvSpPr txBox="1"/>
          <p:nvPr/>
        </p:nvSpPr>
        <p:spPr>
          <a:xfrm>
            <a:off x="877752" y="3124141"/>
            <a:ext cx="4569780" cy="10272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通过包名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+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获取这个类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准备用流进行传输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将类加载到内存中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加载完毕创建一个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对象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1D0EAC-1D7D-1284-93B8-9B9B31B10089}"/>
              </a:ext>
            </a:extLst>
          </p:cNvPr>
          <p:cNvSpPr txBox="1"/>
          <p:nvPr/>
        </p:nvSpPr>
        <p:spPr>
          <a:xfrm>
            <a:off x="1845302" y="6210256"/>
            <a:ext cx="595035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硬盘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AB1264-32E1-648C-D139-AB8866F7EB8F}"/>
              </a:ext>
            </a:extLst>
          </p:cNvPr>
          <p:cNvSpPr txBox="1"/>
          <p:nvPr/>
        </p:nvSpPr>
        <p:spPr>
          <a:xfrm>
            <a:off x="5150014" y="6210256"/>
            <a:ext cx="800219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方法区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0D028-705C-9C22-66FB-AFA21AD399A2}"/>
              </a:ext>
            </a:extLst>
          </p:cNvPr>
          <p:cNvSpPr/>
          <p:nvPr/>
        </p:nvSpPr>
        <p:spPr>
          <a:xfrm>
            <a:off x="4184685" y="5108102"/>
            <a:ext cx="497150" cy="412599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59E2BB2-3443-BB45-D4D9-CEF7F123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1225652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7A6DCA-9C0E-6384-1278-29D2BE65B451}"/>
              </a:ext>
            </a:extLst>
          </p:cNvPr>
          <p:cNvSpPr/>
          <p:nvPr/>
        </p:nvSpPr>
        <p:spPr>
          <a:xfrm>
            <a:off x="877752" y="4556580"/>
            <a:ext cx="2530136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39077F-19D7-FA17-55DC-EF0BE23EDF7D}"/>
              </a:ext>
            </a:extLst>
          </p:cNvPr>
          <p:cNvSpPr/>
          <p:nvPr/>
        </p:nvSpPr>
        <p:spPr>
          <a:xfrm>
            <a:off x="1135205" y="4794508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44ADA0-18BD-FDFD-FB39-76661523A2D2}"/>
              </a:ext>
            </a:extLst>
          </p:cNvPr>
          <p:cNvSpPr/>
          <p:nvPr/>
        </p:nvSpPr>
        <p:spPr>
          <a:xfrm>
            <a:off x="3722991" y="4556580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9083A-2F6E-6B4A-98C5-EB89A08B6912}"/>
              </a:ext>
            </a:extLst>
          </p:cNvPr>
          <p:cNvSpPr/>
          <p:nvPr/>
        </p:nvSpPr>
        <p:spPr>
          <a:xfrm>
            <a:off x="1838760" y="4794506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7F7DF3-91FD-B32D-A075-BEEEE488CAB0}"/>
              </a:ext>
            </a:extLst>
          </p:cNvPr>
          <p:cNvSpPr/>
          <p:nvPr/>
        </p:nvSpPr>
        <p:spPr>
          <a:xfrm>
            <a:off x="2542316" y="4794506"/>
            <a:ext cx="497150" cy="412599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F8CA40-66B6-EB34-5F87-D2D487AEB80B}"/>
              </a:ext>
            </a:extLst>
          </p:cNvPr>
          <p:cNvSpPr/>
          <p:nvPr/>
        </p:nvSpPr>
        <p:spPr>
          <a:xfrm>
            <a:off x="1124106" y="5502383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AFD9BA-73E0-4087-05F0-041A4E715352}"/>
              </a:ext>
            </a:extLst>
          </p:cNvPr>
          <p:cNvSpPr/>
          <p:nvPr/>
        </p:nvSpPr>
        <p:spPr>
          <a:xfrm>
            <a:off x="1827661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46D771-08CE-3C99-B31A-6F126DD521F7}"/>
              </a:ext>
            </a:extLst>
          </p:cNvPr>
          <p:cNvSpPr/>
          <p:nvPr/>
        </p:nvSpPr>
        <p:spPr>
          <a:xfrm>
            <a:off x="2531217" y="5502381"/>
            <a:ext cx="497150" cy="41259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51683A-281C-B4B0-92C6-1292679C9010}"/>
              </a:ext>
            </a:extLst>
          </p:cNvPr>
          <p:cNvSpPr txBox="1"/>
          <p:nvPr/>
        </p:nvSpPr>
        <p:spPr>
          <a:xfrm>
            <a:off x="877752" y="3124141"/>
            <a:ext cx="4569780" cy="10272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通过包名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+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获取这个类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准备用流进行传输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将类加载到内存中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加载完毕创建一个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对象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1D0EAC-1D7D-1284-93B8-9B9B31B10089}"/>
              </a:ext>
            </a:extLst>
          </p:cNvPr>
          <p:cNvSpPr txBox="1"/>
          <p:nvPr/>
        </p:nvSpPr>
        <p:spPr>
          <a:xfrm>
            <a:off x="1845302" y="6210256"/>
            <a:ext cx="595035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硬盘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AB1264-32E1-648C-D139-AB8866F7EB8F}"/>
              </a:ext>
            </a:extLst>
          </p:cNvPr>
          <p:cNvSpPr txBox="1"/>
          <p:nvPr/>
        </p:nvSpPr>
        <p:spPr>
          <a:xfrm>
            <a:off x="5150014" y="6210256"/>
            <a:ext cx="800219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方法区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698433-6914-540E-C386-B69E75ADFCB4}"/>
              </a:ext>
            </a:extLst>
          </p:cNvPr>
          <p:cNvSpPr/>
          <p:nvPr/>
        </p:nvSpPr>
        <p:spPr>
          <a:xfrm>
            <a:off x="3889501" y="4719440"/>
            <a:ext cx="1487010" cy="13092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7F4F96-D967-01EA-014A-D513384F497D}"/>
              </a:ext>
            </a:extLst>
          </p:cNvPr>
          <p:cNvSpPr txBox="1"/>
          <p:nvPr/>
        </p:nvSpPr>
        <p:spPr>
          <a:xfrm>
            <a:off x="5488476" y="4583871"/>
            <a:ext cx="1643399" cy="42210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Student.class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B89B12-35E8-DC34-BC71-D6583A01EC3E}"/>
              </a:ext>
            </a:extLst>
          </p:cNvPr>
          <p:cNvSpPr txBox="1"/>
          <p:nvPr/>
        </p:nvSpPr>
        <p:spPr>
          <a:xfrm>
            <a:off x="4094800" y="4925543"/>
            <a:ext cx="1078573" cy="7914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成员变量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成员方法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8519C1-F3C7-B555-75A1-68939826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215780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DD320AA-91B7-A3A7-8FB6-B943269F6429}"/>
              </a:ext>
            </a:extLst>
          </p:cNvPr>
          <p:cNvSpPr/>
          <p:nvPr/>
        </p:nvSpPr>
        <p:spPr>
          <a:xfrm>
            <a:off x="3253995" y="3575903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准备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877752" y="3589281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06348C37-C5C4-A003-376F-2BC1F51D3C57}"/>
              </a:ext>
            </a:extLst>
          </p:cNvPr>
          <p:cNvSpPr/>
          <p:nvPr/>
        </p:nvSpPr>
        <p:spPr>
          <a:xfrm>
            <a:off x="2576945" y="1940374"/>
            <a:ext cx="540327" cy="3870664"/>
          </a:xfrm>
          <a:prstGeom prst="leftBrac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F1D582-3982-3B5C-D772-0D1DDBD3A290}"/>
              </a:ext>
            </a:extLst>
          </p:cNvPr>
          <p:cNvSpPr/>
          <p:nvPr/>
        </p:nvSpPr>
        <p:spPr>
          <a:xfrm>
            <a:off x="3253995" y="1674709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验证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FB8763B-D8F7-1D63-DFF3-5BE39441FF79}"/>
              </a:ext>
            </a:extLst>
          </p:cNvPr>
          <p:cNvSpPr/>
          <p:nvPr/>
        </p:nvSpPr>
        <p:spPr>
          <a:xfrm>
            <a:off x="3253995" y="5477097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EDA50F9-A2B7-CC1D-8D02-AB8C72DFF944}"/>
              </a:ext>
            </a:extLst>
          </p:cNvPr>
          <p:cNvSpPr txBox="1"/>
          <p:nvPr/>
        </p:nvSpPr>
        <p:spPr>
          <a:xfrm>
            <a:off x="5395376" y="1667327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验证类是否符合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JVM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规范，安全性检查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92E00D-D70C-A3BD-6E31-3B928C6D35F2}"/>
              </a:ext>
            </a:extLst>
          </p:cNvPr>
          <p:cNvSpPr txBox="1"/>
          <p:nvPr/>
        </p:nvSpPr>
        <p:spPr>
          <a:xfrm>
            <a:off x="5395376" y="3589281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为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static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变量分配空间，设置默认值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1988859-66CC-68E9-1622-BD3BA0BFA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376" y="2555742"/>
            <a:ext cx="4139241" cy="8732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50ED712-C63E-2D53-3ED1-2BDB1192CC4C}"/>
              </a:ext>
            </a:extLst>
          </p:cNvPr>
          <p:cNvSpPr/>
          <p:nvPr/>
        </p:nvSpPr>
        <p:spPr>
          <a:xfrm>
            <a:off x="5395376" y="4308005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静态区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002EBB6-EBB3-9D7B-F588-670CAC674EF1}"/>
              </a:ext>
            </a:extLst>
          </p:cNvPr>
          <p:cNvSpPr/>
          <p:nvPr/>
        </p:nvSpPr>
        <p:spPr>
          <a:xfrm>
            <a:off x="5501908" y="4431944"/>
            <a:ext cx="3284738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school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null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5DE2AC-7BF8-5294-8550-C9A1A4BA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4146565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" grpId="0" animBg="1"/>
      <p:bldP spid="8" grpId="0" animBg="1"/>
      <p:bldP spid="27" grpId="0" animBg="1"/>
      <p:bldP spid="30" grpId="0"/>
      <p:bldP spid="31" grpId="0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DD320AA-91B7-A3A7-8FB6-B943269F6429}"/>
              </a:ext>
            </a:extLst>
          </p:cNvPr>
          <p:cNvSpPr/>
          <p:nvPr/>
        </p:nvSpPr>
        <p:spPr>
          <a:xfrm>
            <a:off x="3253995" y="3575903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准备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877752" y="3589281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06348C37-C5C4-A003-376F-2BC1F51D3C57}"/>
              </a:ext>
            </a:extLst>
          </p:cNvPr>
          <p:cNvSpPr/>
          <p:nvPr/>
        </p:nvSpPr>
        <p:spPr>
          <a:xfrm>
            <a:off x="2576945" y="1940374"/>
            <a:ext cx="540327" cy="3870664"/>
          </a:xfrm>
          <a:prstGeom prst="leftBrac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F1D582-3982-3B5C-D772-0D1DDBD3A290}"/>
              </a:ext>
            </a:extLst>
          </p:cNvPr>
          <p:cNvSpPr/>
          <p:nvPr/>
        </p:nvSpPr>
        <p:spPr>
          <a:xfrm>
            <a:off x="3253995" y="1674709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验证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FB8763B-D8F7-1D63-DFF3-5BE39441FF79}"/>
              </a:ext>
            </a:extLst>
          </p:cNvPr>
          <p:cNvSpPr/>
          <p:nvPr/>
        </p:nvSpPr>
        <p:spPr>
          <a:xfrm>
            <a:off x="3253995" y="5477097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EDA50F9-A2B7-CC1D-8D02-AB8C72DFF944}"/>
              </a:ext>
            </a:extLst>
          </p:cNvPr>
          <p:cNvSpPr txBox="1"/>
          <p:nvPr/>
        </p:nvSpPr>
        <p:spPr>
          <a:xfrm>
            <a:off x="5395376" y="1667327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验证类是否符合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JVM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规范，安全性检查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92E00D-D70C-A3BD-6E31-3B928C6D35F2}"/>
              </a:ext>
            </a:extLst>
          </p:cNvPr>
          <p:cNvSpPr txBox="1"/>
          <p:nvPr/>
        </p:nvSpPr>
        <p:spPr>
          <a:xfrm>
            <a:off x="5395376" y="3589281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为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static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变量分配空间，设置默认值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FE519E-2C9A-AEC3-C097-801A79D614C2}"/>
              </a:ext>
            </a:extLst>
          </p:cNvPr>
          <p:cNvSpPr txBox="1"/>
          <p:nvPr/>
        </p:nvSpPr>
        <p:spPr>
          <a:xfrm>
            <a:off x="5395376" y="5477097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将常量池中的符号引用解析为直接引用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70302F6-5220-D6F6-407C-F9547590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3184296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603439E-08ED-B04D-A4E7-464D6358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69" y="1176198"/>
            <a:ext cx="6022396" cy="51802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0369B7-892B-C098-EC78-745530E41054}"/>
              </a:ext>
            </a:extLst>
          </p:cNvPr>
          <p:cNvSpPr txBox="1"/>
          <p:nvPr/>
        </p:nvSpPr>
        <p:spPr>
          <a:xfrm>
            <a:off x="6844683" y="1176198"/>
            <a:ext cx="5184559" cy="1529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jps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jps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jdk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提供的一个查看当前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java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进程的小工具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HSDB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Hotspot Debugger)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是一款内置于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SA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中的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GUI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调试工具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可用于调试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JVM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运行时数据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8B5591-9CB8-5AD0-B80D-107C8B1AB540}"/>
              </a:ext>
            </a:extLst>
          </p:cNvPr>
          <p:cNvSpPr txBox="1"/>
          <p:nvPr/>
        </p:nvSpPr>
        <p:spPr>
          <a:xfrm>
            <a:off x="6844682" y="3001672"/>
            <a:ext cx="5699466" cy="7914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命令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java -cp ./lib/sa-jdi.jar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sun.jvm.hotspot.HSDB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51A1DB-9760-2488-B192-9D9D5799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705150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9FAE-125B-D2D6-28A3-937B525A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4A3BC58-ECF5-1B6F-B1E4-A92833614643}"/>
              </a:ext>
            </a:extLst>
          </p:cNvPr>
          <p:cNvSpPr/>
          <p:nvPr/>
        </p:nvSpPr>
        <p:spPr>
          <a:xfrm>
            <a:off x="3253995" y="3575903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准备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6E0A6E-A356-42C9-2DB2-44AF5842A325}"/>
              </a:ext>
            </a:extLst>
          </p:cNvPr>
          <p:cNvSpPr/>
          <p:nvPr/>
        </p:nvSpPr>
        <p:spPr>
          <a:xfrm>
            <a:off x="877752" y="3589281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4A0D2B77-444A-8C56-F8C8-F9429FA936A8}"/>
              </a:ext>
            </a:extLst>
          </p:cNvPr>
          <p:cNvSpPr/>
          <p:nvPr/>
        </p:nvSpPr>
        <p:spPr>
          <a:xfrm>
            <a:off x="2576945" y="1940374"/>
            <a:ext cx="540327" cy="3870664"/>
          </a:xfrm>
          <a:prstGeom prst="leftBrac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0AF0EDF-1727-1E08-D563-0227B9838700}"/>
              </a:ext>
            </a:extLst>
          </p:cNvPr>
          <p:cNvSpPr/>
          <p:nvPr/>
        </p:nvSpPr>
        <p:spPr>
          <a:xfrm>
            <a:off x="3253995" y="1674709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验证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81F2638-B48B-03FB-EA2B-AAFC304DC7D8}"/>
              </a:ext>
            </a:extLst>
          </p:cNvPr>
          <p:cNvSpPr/>
          <p:nvPr/>
        </p:nvSpPr>
        <p:spPr>
          <a:xfrm>
            <a:off x="3253995" y="5477097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913DB9-5DF4-2B03-C4E7-36E292B07177}"/>
              </a:ext>
            </a:extLst>
          </p:cNvPr>
          <p:cNvSpPr txBox="1"/>
          <p:nvPr/>
        </p:nvSpPr>
        <p:spPr>
          <a:xfrm>
            <a:off x="5395376" y="1667327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验证类是否符合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JVM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规范，安全性检查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F6AA22-D48F-79CE-AFDF-513C3F7BA9F2}"/>
              </a:ext>
            </a:extLst>
          </p:cNvPr>
          <p:cNvSpPr txBox="1"/>
          <p:nvPr/>
        </p:nvSpPr>
        <p:spPr>
          <a:xfrm>
            <a:off x="5395376" y="3589281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为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static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变量分配空间，设置默认值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99E891-9374-664E-3B65-1B9BD5850BEF}"/>
              </a:ext>
            </a:extLst>
          </p:cNvPr>
          <p:cNvSpPr txBox="1"/>
          <p:nvPr/>
        </p:nvSpPr>
        <p:spPr>
          <a:xfrm>
            <a:off x="5395376" y="5477097"/>
            <a:ext cx="4343428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将常量池中的符号引用解析为直接引用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CC83284-B3E3-1CD0-4BCF-619DEEEE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1600824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418607-22A2-8222-D75B-A201E5153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06" y="1597980"/>
            <a:ext cx="5046357" cy="41059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06D453-C408-0AE5-BC8C-4A9129B9A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875" y="2308194"/>
            <a:ext cx="6265869" cy="27841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14B3CD-E786-C1B5-30B1-8AA8BAF0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345043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6CFB56CA-A147-B4A2-2665-F6D38DAA9A30}"/>
              </a:ext>
            </a:extLst>
          </p:cNvPr>
          <p:cNvSpPr/>
          <p:nvPr/>
        </p:nvSpPr>
        <p:spPr>
          <a:xfrm rot="5400000">
            <a:off x="5515832" y="1051520"/>
            <a:ext cx="540327" cy="3870664"/>
          </a:xfrm>
          <a:prstGeom prst="leftBrac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22DCEE-04E0-4A48-4A40-F1BA8851A598}"/>
              </a:ext>
            </a:extLst>
          </p:cNvPr>
          <p:cNvSpPr/>
          <p:nvPr/>
        </p:nvSpPr>
        <p:spPr>
          <a:xfrm>
            <a:off x="5004761" y="337209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准备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89540D7-7B48-AA07-DE4E-EADD4E8B3628}"/>
              </a:ext>
            </a:extLst>
          </p:cNvPr>
          <p:cNvSpPr/>
          <p:nvPr/>
        </p:nvSpPr>
        <p:spPr>
          <a:xfrm>
            <a:off x="3069428" y="337209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验证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53E6A8-E627-D45C-9037-B580689FCB31}"/>
              </a:ext>
            </a:extLst>
          </p:cNvPr>
          <p:cNvSpPr/>
          <p:nvPr/>
        </p:nvSpPr>
        <p:spPr>
          <a:xfrm>
            <a:off x="6940093" y="3340640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92D817-A48B-66E1-AE25-C6813938A54D}"/>
              </a:ext>
            </a:extLst>
          </p:cNvPr>
          <p:cNvSpPr txBox="1"/>
          <p:nvPr/>
        </p:nvSpPr>
        <p:spPr>
          <a:xfrm>
            <a:off x="877752" y="4595914"/>
            <a:ext cx="6641634" cy="3801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初始化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根据程序员程序编码制定的主观计划去初始化类变量和其他资源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E99014B-8734-CF0A-D0FF-48D561C63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138" y="5252387"/>
            <a:ext cx="4139241" cy="8732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3C393D5B-7635-4F4F-922E-8A232CD5C944}"/>
              </a:ext>
            </a:extLst>
          </p:cNvPr>
          <p:cNvSpPr/>
          <p:nvPr/>
        </p:nvSpPr>
        <p:spPr>
          <a:xfrm>
            <a:off x="7721328" y="4595914"/>
            <a:ext cx="3497802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静态区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43D277-3232-3B4A-AB31-0743C459463C}"/>
              </a:ext>
            </a:extLst>
          </p:cNvPr>
          <p:cNvSpPr/>
          <p:nvPr/>
        </p:nvSpPr>
        <p:spPr>
          <a:xfrm>
            <a:off x="7827860" y="4719853"/>
            <a:ext cx="3284738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school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null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/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2D7BBD10-0140-ABAD-7D28-FF801DF6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1005295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C96BCB-D5CA-8786-86A4-7B879750DDB9}"/>
              </a:ext>
            </a:extLst>
          </p:cNvPr>
          <p:cNvSpPr/>
          <p:nvPr/>
        </p:nvSpPr>
        <p:spPr>
          <a:xfrm>
            <a:off x="1988598" y="2148276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F9EC15-A6E9-C832-28E9-15BB2F63C357}"/>
              </a:ext>
            </a:extLst>
          </p:cNvPr>
          <p:cNvSpPr/>
          <p:nvPr/>
        </p:nvSpPr>
        <p:spPr>
          <a:xfrm>
            <a:off x="5004759" y="214827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链接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7B949-FCFE-330B-2D9F-C9B32B7EEE2F}"/>
              </a:ext>
            </a:extLst>
          </p:cNvPr>
          <p:cNvSpPr/>
          <p:nvPr/>
        </p:nvSpPr>
        <p:spPr>
          <a:xfrm>
            <a:off x="8020920" y="2148274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初始化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04EF45-FF30-35C8-57A2-C4454CE09C86}"/>
              </a:ext>
            </a:extLst>
          </p:cNvPr>
          <p:cNvSpPr/>
          <p:nvPr/>
        </p:nvSpPr>
        <p:spPr>
          <a:xfrm>
            <a:off x="3551068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77BAC6A-9F63-ABDF-57C9-835354987802}"/>
              </a:ext>
            </a:extLst>
          </p:cNvPr>
          <p:cNvSpPr/>
          <p:nvPr/>
        </p:nvSpPr>
        <p:spPr>
          <a:xfrm>
            <a:off x="6567229" y="2352583"/>
            <a:ext cx="1453691" cy="159798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6CFB56CA-A147-B4A2-2665-F6D38DAA9A30}"/>
              </a:ext>
            </a:extLst>
          </p:cNvPr>
          <p:cNvSpPr/>
          <p:nvPr/>
        </p:nvSpPr>
        <p:spPr>
          <a:xfrm rot="5400000">
            <a:off x="5515832" y="1051520"/>
            <a:ext cx="540327" cy="3870664"/>
          </a:xfrm>
          <a:prstGeom prst="leftBrace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22DCEE-04E0-4A48-4A40-F1BA8851A598}"/>
              </a:ext>
            </a:extLst>
          </p:cNvPr>
          <p:cNvSpPr/>
          <p:nvPr/>
        </p:nvSpPr>
        <p:spPr>
          <a:xfrm>
            <a:off x="5004761" y="337209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准备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89540D7-7B48-AA07-DE4E-EADD4E8B3628}"/>
              </a:ext>
            </a:extLst>
          </p:cNvPr>
          <p:cNvSpPr/>
          <p:nvPr/>
        </p:nvSpPr>
        <p:spPr>
          <a:xfrm>
            <a:off x="3069428" y="3372095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验证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53E6A8-E627-D45C-9037-B580689FCB31}"/>
              </a:ext>
            </a:extLst>
          </p:cNvPr>
          <p:cNvSpPr/>
          <p:nvPr/>
        </p:nvSpPr>
        <p:spPr>
          <a:xfrm>
            <a:off x="6940093" y="3340640"/>
            <a:ext cx="1562470" cy="57284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92D817-A48B-66E1-AE25-C6813938A54D}"/>
              </a:ext>
            </a:extLst>
          </p:cNvPr>
          <p:cNvSpPr txBox="1"/>
          <p:nvPr/>
        </p:nvSpPr>
        <p:spPr>
          <a:xfrm>
            <a:off x="877752" y="4595914"/>
            <a:ext cx="6641634" cy="3801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初始化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根据程序员程序编码制定的主观计划去初始化类变量和其他资源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E99014B-8734-CF0A-D0FF-48D561C63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138" y="5252387"/>
            <a:ext cx="4139241" cy="8732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3C393D5B-7635-4F4F-922E-8A232CD5C944}"/>
              </a:ext>
            </a:extLst>
          </p:cNvPr>
          <p:cNvSpPr/>
          <p:nvPr/>
        </p:nvSpPr>
        <p:spPr>
          <a:xfrm>
            <a:off x="7721327" y="4595914"/>
            <a:ext cx="3704233" cy="1640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静态区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43D277-3232-3B4A-AB31-0743C459463C}"/>
              </a:ext>
            </a:extLst>
          </p:cNvPr>
          <p:cNvSpPr/>
          <p:nvPr/>
        </p:nvSpPr>
        <p:spPr>
          <a:xfrm>
            <a:off x="7816446" y="4705057"/>
            <a:ext cx="3497802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school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lang="en-US" altLang="zh-CN" dirty="0">
                <a:solidFill>
                  <a:srgbClr val="00B050"/>
                </a:solidFill>
              </a:rPr>
              <a:t>"</a:t>
            </a:r>
            <a:r>
              <a:rPr lang="zh-CN" altLang="en-US" dirty="0">
                <a:solidFill>
                  <a:srgbClr val="00B050"/>
                </a:solidFill>
              </a:rPr>
              <a:t>传智大学</a:t>
            </a:r>
            <a:r>
              <a:rPr lang="en-US" altLang="zh-CN" dirty="0">
                <a:solidFill>
                  <a:srgbClr val="00B050"/>
                </a:solidFill>
              </a:rPr>
              <a:t>"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0FC90240-2E7D-38DE-8D75-1DEEC50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类加载器的加载过程</a:t>
            </a:r>
          </a:p>
        </p:txBody>
      </p:sp>
    </p:spTree>
    <p:extLst>
      <p:ext uri="{BB962C8B-B14F-4D97-AF65-F5344CB8AC3E}">
        <p14:creationId xmlns:p14="http://schemas.microsoft.com/office/powerpoint/2010/main" val="334742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FC7A-21A5-64B6-1A0D-F1A333C0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BA85A6A-B101-6FEE-E232-47F723673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类加载器负责将类的字节码载入到方法区中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加载时机：用到就加载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加载过程：加载 </a:t>
            </a:r>
            <a:r>
              <a:rPr lang="en-US" altLang="zh-CN" dirty="0"/>
              <a:t>– </a:t>
            </a:r>
            <a:r>
              <a:rPr lang="zh-CN" altLang="en-US" dirty="0"/>
              <a:t>链接（验证、准备、解析） </a:t>
            </a:r>
            <a:r>
              <a:rPr lang="en-US" altLang="zh-CN" dirty="0"/>
              <a:t>– </a:t>
            </a:r>
            <a:r>
              <a:rPr lang="zh-CN" altLang="en-US" dirty="0"/>
              <a:t>初始化</a:t>
            </a:r>
          </a:p>
        </p:txBody>
      </p:sp>
    </p:spTree>
    <p:extLst>
      <p:ext uri="{BB962C8B-B14F-4D97-AF65-F5344CB8AC3E}">
        <p14:creationId xmlns:p14="http://schemas.microsoft.com/office/powerpoint/2010/main" val="3074513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4A7ECE-4246-5DB8-6F7E-E60C1FCC822C}"/>
              </a:ext>
            </a:extLst>
          </p:cNvPr>
          <p:cNvSpPr txBox="1"/>
          <p:nvPr/>
        </p:nvSpPr>
        <p:spPr>
          <a:xfrm>
            <a:off x="877752" y="1779758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将类的字节码载入方法区中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DABE77-6E26-E1C8-9C7C-0309E2D116F1}"/>
              </a:ext>
            </a:extLst>
          </p:cNvPr>
          <p:cNvSpPr txBox="1"/>
          <p:nvPr/>
        </p:nvSpPr>
        <p:spPr>
          <a:xfrm>
            <a:off x="877752" y="2569871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加载时机</a:t>
            </a:r>
            <a:r>
              <a:rPr lang="en-US" altLang="zh-CN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  <a:cs typeface="Open Sans" panose="020B0606030504020204" pitchFamily="34" charset="0"/>
              </a:rPr>
              <a:t>用到就加载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5221FC-E0B1-3709-A276-B2CADBC9C4FF}"/>
              </a:ext>
            </a:extLst>
          </p:cNvPr>
          <p:cNvSpPr txBox="1"/>
          <p:nvPr/>
        </p:nvSpPr>
        <p:spPr>
          <a:xfrm>
            <a:off x="877752" y="3359984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加载过程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E151F3-E249-50DE-138E-7D64AA4C3E3A}"/>
              </a:ext>
            </a:extLst>
          </p:cNvPr>
          <p:cNvSpPr txBox="1"/>
          <p:nvPr/>
        </p:nvSpPr>
        <p:spPr>
          <a:xfrm>
            <a:off x="877752" y="4150097"/>
            <a:ext cx="4120376" cy="5803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类加载器的分类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F23D532-DEB6-69EB-FDC1-F564B0E5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类加载器介绍</a:t>
            </a:r>
          </a:p>
        </p:txBody>
      </p:sp>
    </p:spTree>
    <p:extLst>
      <p:ext uri="{BB962C8B-B14F-4D97-AF65-F5344CB8AC3E}">
        <p14:creationId xmlns:p14="http://schemas.microsoft.com/office/powerpoint/2010/main" val="3998075694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9858021-8C87-CFA6-DA22-912448234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784265"/>
              </p:ext>
            </p:extLst>
          </p:nvPr>
        </p:nvGraphicFramePr>
        <p:xfrm>
          <a:off x="1678922" y="5123649"/>
          <a:ext cx="8532428" cy="706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31395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4101033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public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Classloader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getClassLoader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获取该类的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类加载器对象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.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32F6398-CBBA-EED8-9B11-51A249B23CC1}"/>
              </a:ext>
            </a:extLst>
          </p:cNvPr>
          <p:cNvSpPr txBox="1"/>
          <p:nvPr/>
        </p:nvSpPr>
        <p:spPr>
          <a:xfrm>
            <a:off x="622916" y="1028231"/>
            <a:ext cx="10946167" cy="37452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Bootstrap class loader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：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启动类加载器，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虚拟机的内置类加载器，通常表示为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null  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   	C++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实现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获取到的只能是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null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Platform class loader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：平台类加载器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负责加载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JDK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中一些特殊的模块   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	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负责加载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lib\modules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内部的类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   	JDK9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之前是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Extension Class Loader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） 扩展类加载器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	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负责加载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jre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\lib\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ext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目录下的类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Application class loader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：应用程序类加载器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lvl="3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负责加载自己写的类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自定义类加载器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上级为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Application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   		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目前不做讲解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9A733A-445A-626D-98B3-A11F7704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类加载器的分类</a:t>
            </a:r>
          </a:p>
        </p:txBody>
      </p:sp>
    </p:spTree>
    <p:extLst>
      <p:ext uri="{BB962C8B-B14F-4D97-AF65-F5344CB8AC3E}">
        <p14:creationId xmlns:p14="http://schemas.microsoft.com/office/powerpoint/2010/main" val="2355168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B989A5-0A65-9EE9-57A2-CD10F1E1DD26}"/>
              </a:ext>
            </a:extLst>
          </p:cNvPr>
          <p:cNvSpPr txBox="1"/>
          <p:nvPr/>
        </p:nvSpPr>
        <p:spPr>
          <a:xfrm>
            <a:off x="877753" y="1800492"/>
            <a:ext cx="10245968" cy="22679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如果一个类加载器收到了类加载请求，它并不会自己先去加载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而是把这个请求委托给父类的加载器去执行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如果父类加载器还存在其父类加载器，则进一步向上委托，依次递归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请求最终将到达顶层的启动类加载器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如果父类加载器可以完成类加载任务，就成功返回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倘若父类加载器无法完成此加载任务，子加载器才会尝试自己去加载，这就是双亲委派模式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001E3FB-F8D1-372C-25BA-874E3E4C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双亲委派模式</a:t>
            </a:r>
          </a:p>
        </p:txBody>
      </p:sp>
    </p:spTree>
    <p:extLst>
      <p:ext uri="{BB962C8B-B14F-4D97-AF65-F5344CB8AC3E}">
        <p14:creationId xmlns:p14="http://schemas.microsoft.com/office/powerpoint/2010/main" val="2368377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4416D0-D163-D3BA-8579-E776E2B23DA7}"/>
              </a:ext>
            </a:extLst>
          </p:cNvPr>
          <p:cNvSpPr/>
          <p:nvPr/>
        </p:nvSpPr>
        <p:spPr>
          <a:xfrm>
            <a:off x="297399" y="1589106"/>
            <a:ext cx="346229" cy="396903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</a:t>
            </a:r>
            <a:endParaRPr lang="en-US" altLang="zh-CN" dirty="0"/>
          </a:p>
          <a:p>
            <a:pPr algn="ctr"/>
            <a:r>
              <a:rPr lang="zh-CN" altLang="en-US" dirty="0"/>
              <a:t>经</a:t>
            </a:r>
            <a:endParaRPr lang="en-US" altLang="zh-CN" dirty="0"/>
          </a:p>
          <a:p>
            <a:pPr algn="ctr"/>
            <a:r>
              <a:rPr lang="zh-CN" altLang="en-US" dirty="0"/>
              <a:t>加</a:t>
            </a:r>
            <a:endParaRPr lang="en-US" altLang="zh-CN" dirty="0"/>
          </a:p>
          <a:p>
            <a:pPr algn="ctr"/>
            <a:r>
              <a:rPr lang="zh-CN" altLang="en-US" dirty="0"/>
              <a:t>载</a:t>
            </a:r>
            <a:endParaRPr lang="en-US" altLang="zh-CN" dirty="0"/>
          </a:p>
          <a:p>
            <a:pPr algn="ctr"/>
            <a:r>
              <a:rPr lang="zh-CN" altLang="en-US" dirty="0"/>
              <a:t>过</a:t>
            </a:r>
            <a:endParaRPr lang="en-US" altLang="zh-CN" dirty="0"/>
          </a:p>
          <a:p>
            <a:pPr algn="ctr"/>
            <a:r>
              <a:rPr lang="zh-CN" altLang="en-US" dirty="0"/>
              <a:t>不</a:t>
            </a:r>
            <a:endParaRPr lang="en-US" altLang="zh-CN" dirty="0"/>
          </a:p>
          <a:p>
            <a:pPr algn="ctr"/>
            <a:r>
              <a:rPr lang="zh-CN" altLang="en-US" dirty="0"/>
              <a:t>再</a:t>
            </a:r>
            <a:endParaRPr lang="en-US" altLang="zh-CN" dirty="0"/>
          </a:p>
          <a:p>
            <a:pPr algn="ctr"/>
            <a:r>
              <a:rPr lang="zh-CN" altLang="en-US" dirty="0"/>
              <a:t>加</a:t>
            </a:r>
            <a:endParaRPr lang="en-US" altLang="zh-CN" dirty="0"/>
          </a:p>
          <a:p>
            <a:pPr algn="ctr"/>
            <a:r>
              <a:rPr lang="zh-CN" altLang="en-US" dirty="0"/>
              <a:t>载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1C1C82F-0A7C-6C52-A31A-3FC906F9954C}"/>
              </a:ext>
            </a:extLst>
          </p:cNvPr>
          <p:cNvSpPr/>
          <p:nvPr/>
        </p:nvSpPr>
        <p:spPr>
          <a:xfrm>
            <a:off x="11460729" y="1589106"/>
            <a:ext cx="346229" cy="441157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自己加载</a:t>
            </a:r>
            <a:endParaRPr lang="en-US" altLang="zh-CN" dirty="0"/>
          </a:p>
          <a:p>
            <a:pPr algn="ctr"/>
            <a:r>
              <a:rPr lang="zh-CN" altLang="en-US" dirty="0"/>
              <a:t>此类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4FDDD9-EAF2-5CA9-5267-D53D3AC87C3C}"/>
              </a:ext>
            </a:extLst>
          </p:cNvPr>
          <p:cNvSpPr/>
          <p:nvPr/>
        </p:nvSpPr>
        <p:spPr>
          <a:xfrm>
            <a:off x="1733363" y="5661679"/>
            <a:ext cx="3113835" cy="33900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AppClassLoader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E6096618-43F5-F6EB-DDFD-49FAB0ED526F}"/>
              </a:ext>
            </a:extLst>
          </p:cNvPr>
          <p:cNvSpPr/>
          <p:nvPr/>
        </p:nvSpPr>
        <p:spPr>
          <a:xfrm>
            <a:off x="2805340" y="6056484"/>
            <a:ext cx="585929" cy="610647"/>
          </a:xfrm>
          <a:prstGeom prst="up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开始</a:t>
            </a:r>
          </a:p>
        </p:txBody>
      </p:sp>
      <p:sp>
        <p:nvSpPr>
          <p:cNvPr id="8" name="流程图: 决策 7">
            <a:extLst>
              <a:ext uri="{FF2B5EF4-FFF2-40B4-BE49-F238E27FC236}">
                <a16:creationId xmlns:a16="http://schemas.microsoft.com/office/drawing/2014/main" id="{08D9D975-9318-73FD-FCA2-9652C3A4340D}"/>
              </a:ext>
            </a:extLst>
          </p:cNvPr>
          <p:cNvSpPr/>
          <p:nvPr/>
        </p:nvSpPr>
        <p:spPr>
          <a:xfrm>
            <a:off x="2055178" y="4679088"/>
            <a:ext cx="2041863" cy="643391"/>
          </a:xfrm>
          <a:prstGeom prst="flowChartDecisio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是否加载过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334067-1CAD-1F9F-D17A-7B1DD177D2D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076110" y="5322479"/>
            <a:ext cx="0" cy="339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2711D3A-0A34-9980-169A-E7E3D68C846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02444" y="5000783"/>
            <a:ext cx="13527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A76807B-C7E3-DC7C-3BD7-76139316C8A2}"/>
              </a:ext>
            </a:extLst>
          </p:cNvPr>
          <p:cNvSpPr/>
          <p:nvPr/>
        </p:nvSpPr>
        <p:spPr>
          <a:xfrm>
            <a:off x="1733363" y="4107256"/>
            <a:ext cx="3113835" cy="2911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PlatformClassLoader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80FB499-AE60-B794-2723-96F0FA8324F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076110" y="4348207"/>
            <a:ext cx="0" cy="330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61531999-2B36-530C-65EB-90B5DFA671DA}"/>
              </a:ext>
            </a:extLst>
          </p:cNvPr>
          <p:cNvSpPr/>
          <p:nvPr/>
        </p:nvSpPr>
        <p:spPr>
          <a:xfrm>
            <a:off x="2055179" y="3170478"/>
            <a:ext cx="2041863" cy="643391"/>
          </a:xfrm>
          <a:prstGeom prst="flowChartDecisio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是否加载过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DFD1012-10C6-88B1-8B38-EFC7A25DDA35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3076110" y="2885243"/>
            <a:ext cx="1" cy="285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364D467-C82A-7A01-AE8D-947E109D7696}"/>
              </a:ext>
            </a:extLst>
          </p:cNvPr>
          <p:cNvCxnSpPr>
            <a:cxnSpLocks/>
          </p:cNvCxnSpPr>
          <p:nvPr/>
        </p:nvCxnSpPr>
        <p:spPr>
          <a:xfrm flipV="1">
            <a:off x="3076110" y="3824904"/>
            <a:ext cx="0" cy="265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0E0E2FB-01B0-F4E3-5422-A310F49D4E1F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02444" y="3491186"/>
            <a:ext cx="1352735" cy="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0B0B64C-BDAC-47C3-715C-A20587F891BF}"/>
              </a:ext>
            </a:extLst>
          </p:cNvPr>
          <p:cNvSpPr/>
          <p:nvPr/>
        </p:nvSpPr>
        <p:spPr>
          <a:xfrm>
            <a:off x="1733363" y="2617799"/>
            <a:ext cx="3113841" cy="30594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BootStrapClassLoader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42" name="流程图: 决策 41">
            <a:extLst>
              <a:ext uri="{FF2B5EF4-FFF2-40B4-BE49-F238E27FC236}">
                <a16:creationId xmlns:a16="http://schemas.microsoft.com/office/drawing/2014/main" id="{272CE830-15F4-3AF8-38E5-EC236450583F}"/>
              </a:ext>
            </a:extLst>
          </p:cNvPr>
          <p:cNvSpPr/>
          <p:nvPr/>
        </p:nvSpPr>
        <p:spPr>
          <a:xfrm>
            <a:off x="2098458" y="1567698"/>
            <a:ext cx="2041863" cy="643391"/>
          </a:xfrm>
          <a:prstGeom prst="flowChartDecisio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是否加载过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98B01C2-0C6C-AAF1-0BC8-2DA35EF31AD3}"/>
              </a:ext>
            </a:extLst>
          </p:cNvPr>
          <p:cNvCxnSpPr>
            <a:cxnSpLocks/>
          </p:cNvCxnSpPr>
          <p:nvPr/>
        </p:nvCxnSpPr>
        <p:spPr>
          <a:xfrm flipV="1">
            <a:off x="3119389" y="2189947"/>
            <a:ext cx="0" cy="427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2770F22-3D8B-27F6-91B8-B9B62949E871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702444" y="1886306"/>
            <a:ext cx="1396014" cy="3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5F38285-4D31-6B1F-39BB-99DAA25C569F}"/>
              </a:ext>
            </a:extLst>
          </p:cNvPr>
          <p:cNvSpPr txBox="1"/>
          <p:nvPr/>
        </p:nvSpPr>
        <p:spPr>
          <a:xfrm>
            <a:off x="1231492" y="4679088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97A975E-BF40-86C3-6B6A-CE8E3EBFCF50}"/>
              </a:ext>
            </a:extLst>
          </p:cNvPr>
          <p:cNvSpPr txBox="1"/>
          <p:nvPr/>
        </p:nvSpPr>
        <p:spPr>
          <a:xfrm>
            <a:off x="3224261" y="4376692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BDF2DF9-29B6-5E12-683D-52397533928F}"/>
              </a:ext>
            </a:extLst>
          </p:cNvPr>
          <p:cNvSpPr txBox="1"/>
          <p:nvPr/>
        </p:nvSpPr>
        <p:spPr>
          <a:xfrm>
            <a:off x="1231492" y="3089996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72C2196-9FF6-26BC-7F49-09810E64F4D4}"/>
              </a:ext>
            </a:extLst>
          </p:cNvPr>
          <p:cNvSpPr txBox="1"/>
          <p:nvPr/>
        </p:nvSpPr>
        <p:spPr>
          <a:xfrm>
            <a:off x="3238134" y="2858358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FB6995C-E9CC-F624-C715-94B7E53ABF28}"/>
              </a:ext>
            </a:extLst>
          </p:cNvPr>
          <p:cNvSpPr txBox="1"/>
          <p:nvPr/>
        </p:nvSpPr>
        <p:spPr>
          <a:xfrm>
            <a:off x="1292254" y="1442776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40687D2B-E65F-39C7-D161-3A97B355FA5E}"/>
              </a:ext>
            </a:extLst>
          </p:cNvPr>
          <p:cNvCxnSpPr>
            <a:stCxn id="42" idx="3"/>
          </p:cNvCxnSpPr>
          <p:nvPr/>
        </p:nvCxnSpPr>
        <p:spPr>
          <a:xfrm>
            <a:off x="4140321" y="1889394"/>
            <a:ext cx="458312" cy="728405"/>
          </a:xfrm>
          <a:prstGeom prst="bentConnector2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476D5DD-CCF0-2D20-81AB-C5CD5A5DB31F}"/>
              </a:ext>
            </a:extLst>
          </p:cNvPr>
          <p:cNvSpPr txBox="1"/>
          <p:nvPr/>
        </p:nvSpPr>
        <p:spPr>
          <a:xfrm>
            <a:off x="3290280" y="1142731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7AF8C042-12C8-592A-209E-71ED8A8BBEAF}"/>
              </a:ext>
            </a:extLst>
          </p:cNvPr>
          <p:cNvCxnSpPr>
            <a:stCxn id="31" idx="3"/>
          </p:cNvCxnSpPr>
          <p:nvPr/>
        </p:nvCxnSpPr>
        <p:spPr>
          <a:xfrm>
            <a:off x="4847204" y="2770771"/>
            <a:ext cx="1615941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69332DA-1084-D5A5-E20C-971C2B19CF7E}"/>
              </a:ext>
            </a:extLst>
          </p:cNvPr>
          <p:cNvSpPr/>
          <p:nvPr/>
        </p:nvSpPr>
        <p:spPr>
          <a:xfrm>
            <a:off x="6472765" y="2584740"/>
            <a:ext cx="2951790" cy="33900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是否可以加载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1816C0C-D2FC-6330-A263-AFC28BDE3C77}"/>
              </a:ext>
            </a:extLst>
          </p:cNvPr>
          <p:cNvCxnSpPr>
            <a:cxnSpLocks/>
          </p:cNvCxnSpPr>
          <p:nvPr/>
        </p:nvCxnSpPr>
        <p:spPr>
          <a:xfrm>
            <a:off x="9424555" y="2770771"/>
            <a:ext cx="2036174" cy="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B4679DB-3BDF-703D-6BD9-AA95FF34B83B}"/>
              </a:ext>
            </a:extLst>
          </p:cNvPr>
          <p:cNvSpPr txBox="1"/>
          <p:nvPr/>
        </p:nvSpPr>
        <p:spPr>
          <a:xfrm>
            <a:off x="10407621" y="2403873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D6A2375-92C9-F452-82B9-E76FA42D9B6B}"/>
              </a:ext>
            </a:extLst>
          </p:cNvPr>
          <p:cNvSpPr txBox="1"/>
          <p:nvPr/>
        </p:nvSpPr>
        <p:spPr>
          <a:xfrm>
            <a:off x="8551900" y="3025066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1C7B68FB-20B0-DB15-6E3C-604543B491EE}"/>
              </a:ext>
            </a:extLst>
          </p:cNvPr>
          <p:cNvCxnSpPr>
            <a:cxnSpLocks/>
            <a:stCxn id="63" idx="2"/>
            <a:endCxn id="16" idx="0"/>
          </p:cNvCxnSpPr>
          <p:nvPr/>
        </p:nvCxnSpPr>
        <p:spPr>
          <a:xfrm rot="5400000">
            <a:off x="5027715" y="1186311"/>
            <a:ext cx="1183512" cy="4658379"/>
          </a:xfrm>
          <a:prstGeom prst="bentConnector3">
            <a:avLst>
              <a:gd name="adj1" fmla="val 84241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32E9E37-06DB-9F26-E1EE-DEAA6496E4CB}"/>
              </a:ext>
            </a:extLst>
          </p:cNvPr>
          <p:cNvCxnSpPr/>
          <p:nvPr/>
        </p:nvCxnSpPr>
        <p:spPr>
          <a:xfrm>
            <a:off x="4856824" y="4252806"/>
            <a:ext cx="1615941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3468B41-3A1C-A87C-B624-1F0A66DDF30E}"/>
              </a:ext>
            </a:extLst>
          </p:cNvPr>
          <p:cNvSpPr/>
          <p:nvPr/>
        </p:nvSpPr>
        <p:spPr>
          <a:xfrm>
            <a:off x="6492174" y="4059353"/>
            <a:ext cx="2951790" cy="33900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是否可以加载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D7BD6CE-C7AB-179C-E731-5D9B928CC9F7}"/>
              </a:ext>
            </a:extLst>
          </p:cNvPr>
          <p:cNvCxnSpPr>
            <a:cxnSpLocks/>
          </p:cNvCxnSpPr>
          <p:nvPr/>
        </p:nvCxnSpPr>
        <p:spPr>
          <a:xfrm>
            <a:off x="9443964" y="4240514"/>
            <a:ext cx="2036174" cy="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918EDB17-D035-6662-DF8E-7266DFB933A2}"/>
              </a:ext>
            </a:extLst>
          </p:cNvPr>
          <p:cNvSpPr txBox="1"/>
          <p:nvPr/>
        </p:nvSpPr>
        <p:spPr>
          <a:xfrm>
            <a:off x="10427030" y="3873616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D64C6BCD-CB35-E49D-BBFE-42E4CB906515}"/>
              </a:ext>
            </a:extLst>
          </p:cNvPr>
          <p:cNvCxnSpPr>
            <a:cxnSpLocks/>
            <a:stCxn id="80" idx="2"/>
            <a:endCxn id="6" idx="0"/>
          </p:cNvCxnSpPr>
          <p:nvPr/>
        </p:nvCxnSpPr>
        <p:spPr>
          <a:xfrm rot="5400000">
            <a:off x="4997514" y="2691124"/>
            <a:ext cx="1263322" cy="4677788"/>
          </a:xfrm>
          <a:prstGeom prst="bentConnector3">
            <a:avLst>
              <a:gd name="adj1" fmla="val 82078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46563A26-5CBA-9AFB-7EA5-06BF7BDFB472}"/>
              </a:ext>
            </a:extLst>
          </p:cNvPr>
          <p:cNvSpPr txBox="1"/>
          <p:nvPr/>
        </p:nvSpPr>
        <p:spPr>
          <a:xfrm>
            <a:off x="8580068" y="4521512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61411327-3877-1DB7-531D-5DD7C692427A}"/>
              </a:ext>
            </a:extLst>
          </p:cNvPr>
          <p:cNvCxnSpPr/>
          <p:nvPr/>
        </p:nvCxnSpPr>
        <p:spPr>
          <a:xfrm>
            <a:off x="4876233" y="5831181"/>
            <a:ext cx="1615941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5F2F8794-A8CA-6360-4921-D8F4AA44B6C5}"/>
              </a:ext>
            </a:extLst>
          </p:cNvPr>
          <p:cNvSpPr/>
          <p:nvPr/>
        </p:nvSpPr>
        <p:spPr>
          <a:xfrm>
            <a:off x="6492174" y="5658294"/>
            <a:ext cx="2951790" cy="33900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是否可以加载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9D4ABC4D-D1AC-62AD-956D-F1FC4B1BDA17}"/>
              </a:ext>
            </a:extLst>
          </p:cNvPr>
          <p:cNvCxnSpPr>
            <a:cxnSpLocks/>
          </p:cNvCxnSpPr>
          <p:nvPr/>
        </p:nvCxnSpPr>
        <p:spPr>
          <a:xfrm>
            <a:off x="9438071" y="5831181"/>
            <a:ext cx="2036174" cy="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7278A046-30E5-5229-E0B2-88041009BE9A}"/>
              </a:ext>
            </a:extLst>
          </p:cNvPr>
          <p:cNvSpPr txBox="1"/>
          <p:nvPr/>
        </p:nvSpPr>
        <p:spPr>
          <a:xfrm>
            <a:off x="10421137" y="5464283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是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DAC3EF4-4ACF-EBC1-C6EA-37E73180749D}"/>
              </a:ext>
            </a:extLst>
          </p:cNvPr>
          <p:cNvSpPr txBox="1"/>
          <p:nvPr/>
        </p:nvSpPr>
        <p:spPr>
          <a:xfrm>
            <a:off x="8551899" y="6137112"/>
            <a:ext cx="441109" cy="3390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否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0B85833C-EB5F-08F2-490C-9EA6660643CC}"/>
              </a:ext>
            </a:extLst>
          </p:cNvPr>
          <p:cNvSpPr/>
          <p:nvPr/>
        </p:nvSpPr>
        <p:spPr>
          <a:xfrm>
            <a:off x="4847198" y="6361807"/>
            <a:ext cx="2951790" cy="33900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/>
              </a:rPr>
              <a:t>ClassNotFoundException</a:t>
            </a:r>
            <a:endParaRPr lang="zh-CN" altLang="en-US" sz="1600" dirty="0">
              <a:latin typeface="Consolas" panose="020B0609020204030204" pitchFamily="49" charset="0"/>
              <a:ea typeface="阿里巴巴普惠体" panose="00020600040101010101"/>
            </a:endParaRP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E69E6D13-0231-B406-4346-249A98FF563A}"/>
              </a:ext>
            </a:extLst>
          </p:cNvPr>
          <p:cNvCxnSpPr>
            <a:cxnSpLocks/>
            <a:stCxn id="89" idx="2"/>
            <a:endCxn id="93" idx="0"/>
          </p:cNvCxnSpPr>
          <p:nvPr/>
        </p:nvCxnSpPr>
        <p:spPr>
          <a:xfrm rot="5400000">
            <a:off x="6963327" y="5357064"/>
            <a:ext cx="364509" cy="1644976"/>
          </a:xfrm>
          <a:prstGeom prst="bentConnector3">
            <a:avLst>
              <a:gd name="adj1" fmla="val 50000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7176F67-5EE3-E4B3-77BA-65A9B58F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双亲委派模式</a:t>
            </a:r>
          </a:p>
        </p:txBody>
      </p:sp>
    </p:spTree>
    <p:extLst>
      <p:ext uri="{BB962C8B-B14F-4D97-AF65-F5344CB8AC3E}">
        <p14:creationId xmlns:p14="http://schemas.microsoft.com/office/powerpoint/2010/main" val="13823972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24" grpId="0" animBg="1"/>
      <p:bldP spid="31" grpId="0" animBg="1"/>
      <p:bldP spid="42" grpId="0" animBg="1"/>
      <p:bldP spid="49" grpId="0"/>
      <p:bldP spid="50" grpId="0"/>
      <p:bldP spid="51" grpId="0"/>
      <p:bldP spid="52" grpId="0"/>
      <p:bldP spid="53" grpId="0"/>
      <p:bldP spid="60" grpId="0"/>
      <p:bldP spid="63" grpId="0" animBg="1"/>
      <p:bldP spid="66" grpId="0"/>
      <p:bldP spid="67" grpId="0"/>
      <p:bldP spid="80" grpId="0" animBg="1"/>
      <p:bldP spid="82" grpId="0"/>
      <p:bldP spid="86" grpId="0"/>
      <p:bldP spid="89" grpId="0" animBg="1"/>
      <p:bldP spid="91" grpId="0"/>
      <p:bldP spid="92" grpId="0"/>
      <p:bldP spid="9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DBE37C-F07B-2DC1-F7DF-27DA028001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如果一个类加载器收到了类加载请求，它并不会自己先去加载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而是把这个请求委托给父类的加载器去执行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如果父类加载器还存在其父类加载器，则进一步向上委托，依次递归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请求最终将到达顶层的启动类加载器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如果父类加载器可以完成类加载任务，就成功返回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倘若父类加载器无法完成此加载任务，子加载器才会尝试自己去加载，这就是双亲委派模式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避免类的重复加载</a:t>
            </a:r>
            <a:endParaRPr lang="zh-CN" altLang="en-US" sz="1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444671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5D13EC8-51B4-DBFD-B65D-8CDCB788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B4852B5-FDBA-BFD9-59DD-31F7E6C350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5472" y="2267199"/>
            <a:ext cx="5634223" cy="2755562"/>
          </a:xfrm>
        </p:spPr>
        <p:txBody>
          <a:bodyPr anchor="t"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枚举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类加载器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反射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注解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动态代理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B9AE-49C3-5B74-04CF-9947BE15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72E8E5-20A9-40BB-9E86-8024FC0836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反射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0A2E83E-3A50-85BB-D717-A6D6D0540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70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B989A5-0A65-9EE9-57A2-CD10F1E1DD26}"/>
              </a:ext>
            </a:extLst>
          </p:cNvPr>
          <p:cNvSpPr txBox="1"/>
          <p:nvPr/>
        </p:nvSpPr>
        <p:spPr>
          <a:xfrm>
            <a:off x="877753" y="1800492"/>
            <a:ext cx="10245968" cy="15257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框架技术的灵魂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是在运行状态中，对于任意一个类，都能够知道这个类的所有属性和方法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对于任意一个对象，都能够调用它的任意属性和方法</a:t>
            </a:r>
            <a:r>
              <a:rPr lang="zh-CN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/>
              </a:rPr>
              <a:t> 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这种动态获取信息以及动态调用对象方法的功能称为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Java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语言的反射机制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D51B253-B3A0-944B-5A0C-895E139F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反射介绍</a:t>
            </a:r>
          </a:p>
        </p:txBody>
      </p:sp>
    </p:spTree>
    <p:extLst>
      <p:ext uri="{BB962C8B-B14F-4D97-AF65-F5344CB8AC3E}">
        <p14:creationId xmlns:p14="http://schemas.microsoft.com/office/powerpoint/2010/main" val="65324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文档 3">
            <a:extLst>
              <a:ext uri="{FF2B5EF4-FFF2-40B4-BE49-F238E27FC236}">
                <a16:creationId xmlns:a16="http://schemas.microsoft.com/office/drawing/2014/main" id="{4BE9964E-64CB-BC8D-C6CE-387A8F2A7B77}"/>
              </a:ext>
            </a:extLst>
          </p:cNvPr>
          <p:cNvSpPr/>
          <p:nvPr/>
        </p:nvSpPr>
        <p:spPr>
          <a:xfrm>
            <a:off x="877752" y="4345323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1FBB64C7-FBD0-0023-31FC-B56780E8A97A}"/>
              </a:ext>
            </a:extLst>
          </p:cNvPr>
          <p:cNvSpPr/>
          <p:nvPr/>
        </p:nvSpPr>
        <p:spPr>
          <a:xfrm>
            <a:off x="877752" y="4345323"/>
            <a:ext cx="2192442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字节码对象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5B4AB2-B7C8-8B75-4814-58CC04409E4C}"/>
              </a:ext>
            </a:extLst>
          </p:cNvPr>
          <p:cNvSpPr txBox="1"/>
          <p:nvPr/>
        </p:nvSpPr>
        <p:spPr>
          <a:xfrm>
            <a:off x="877753" y="1800492"/>
            <a:ext cx="10245968" cy="15257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框架技术的灵魂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是在</a:t>
            </a:r>
            <a:r>
              <a:rPr lang="zh-CN" altLang="zh-CN" sz="1600" dirty="0">
                <a:solidFill>
                  <a:srgbClr val="C00000"/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运行状态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中，对于任意一个类，都能够知道这个类的所有属性和方法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对于任意一个对象，都能够调用它的任意属性和方法</a:t>
            </a:r>
            <a:r>
              <a:rPr lang="zh-CN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/>
              </a:rPr>
              <a:t> 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这种动态获取信息以及动态调用对象方法的功能称为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Java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语言的反射机制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10BAD280-7C77-876A-962D-9088289ECE65}"/>
              </a:ext>
            </a:extLst>
          </p:cNvPr>
          <p:cNvSpPr/>
          <p:nvPr/>
        </p:nvSpPr>
        <p:spPr>
          <a:xfrm>
            <a:off x="3656463" y="3639950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</a:t>
            </a:r>
          </a:p>
        </p:txBody>
      </p:sp>
      <p:sp>
        <p:nvSpPr>
          <p:cNvPr id="10" name="流程图: 文档 9">
            <a:extLst>
              <a:ext uri="{FF2B5EF4-FFF2-40B4-BE49-F238E27FC236}">
                <a16:creationId xmlns:a16="http://schemas.microsoft.com/office/drawing/2014/main" id="{CE3B7DDE-33AE-056F-33A2-1D16DD452909}"/>
              </a:ext>
            </a:extLst>
          </p:cNvPr>
          <p:cNvSpPr/>
          <p:nvPr/>
        </p:nvSpPr>
        <p:spPr>
          <a:xfrm>
            <a:off x="3656462" y="4453503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22E9D313-F879-26B9-448A-504C166C5A23}"/>
              </a:ext>
            </a:extLst>
          </p:cNvPr>
          <p:cNvSpPr/>
          <p:nvPr/>
        </p:nvSpPr>
        <p:spPr>
          <a:xfrm>
            <a:off x="3656462" y="5366634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66292A3-FDC2-A50F-775D-F980A843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反射介绍</a:t>
            </a:r>
          </a:p>
        </p:txBody>
      </p:sp>
    </p:spTree>
    <p:extLst>
      <p:ext uri="{BB962C8B-B14F-4D97-AF65-F5344CB8AC3E}">
        <p14:creationId xmlns:p14="http://schemas.microsoft.com/office/powerpoint/2010/main" val="143305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文档 3">
            <a:extLst>
              <a:ext uri="{FF2B5EF4-FFF2-40B4-BE49-F238E27FC236}">
                <a16:creationId xmlns:a16="http://schemas.microsoft.com/office/drawing/2014/main" id="{4BE9964E-64CB-BC8D-C6CE-387A8F2A7B77}"/>
              </a:ext>
            </a:extLst>
          </p:cNvPr>
          <p:cNvSpPr/>
          <p:nvPr/>
        </p:nvSpPr>
        <p:spPr>
          <a:xfrm>
            <a:off x="877752" y="4345323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1FBB64C7-FBD0-0023-31FC-B56780E8A97A}"/>
              </a:ext>
            </a:extLst>
          </p:cNvPr>
          <p:cNvSpPr/>
          <p:nvPr/>
        </p:nvSpPr>
        <p:spPr>
          <a:xfrm>
            <a:off x="877752" y="4345323"/>
            <a:ext cx="2192442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字节码对象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5B4AB2-B7C8-8B75-4814-58CC04409E4C}"/>
              </a:ext>
            </a:extLst>
          </p:cNvPr>
          <p:cNvSpPr txBox="1"/>
          <p:nvPr/>
        </p:nvSpPr>
        <p:spPr>
          <a:xfrm>
            <a:off x="877753" y="1800492"/>
            <a:ext cx="10245968" cy="15257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框架技术的灵魂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是在</a:t>
            </a:r>
            <a:r>
              <a:rPr lang="zh-CN" altLang="zh-CN" sz="1600" dirty="0">
                <a:solidFill>
                  <a:srgbClr val="C00000"/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运行状态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中，对于任意一个类，都能够知道这个类的所有属性和方法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anose="020B0606030504020204" pitchFamily="34" charset="0"/>
                <a:ea typeface="阿里巴巴普惠体" panose="00020600040101010101"/>
                <a:cs typeface="Open Sans" panose="020B0606030504020204" pitchFamily="34" charset="0"/>
              </a:rPr>
              <a:t>对于任意一个对象，都能够调用它的任意属性和方法</a:t>
            </a:r>
            <a:r>
              <a:rPr lang="zh-CN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/>
              </a:rPr>
              <a:t> 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这种动态获取信息以及动态调用对象方法的功能称为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Java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阿里巴巴普惠体" panose="00020600040101010101"/>
              </a:rPr>
              <a:t>语言的反射机制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10BAD280-7C77-876A-962D-9088289ECE65}"/>
              </a:ext>
            </a:extLst>
          </p:cNvPr>
          <p:cNvSpPr/>
          <p:nvPr/>
        </p:nvSpPr>
        <p:spPr>
          <a:xfrm>
            <a:off x="3656463" y="3639950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构造方法对象</a:t>
            </a:r>
          </a:p>
        </p:txBody>
      </p:sp>
      <p:sp>
        <p:nvSpPr>
          <p:cNvPr id="10" name="流程图: 文档 9">
            <a:extLst>
              <a:ext uri="{FF2B5EF4-FFF2-40B4-BE49-F238E27FC236}">
                <a16:creationId xmlns:a16="http://schemas.microsoft.com/office/drawing/2014/main" id="{CE3B7DDE-33AE-056F-33A2-1D16DD452909}"/>
              </a:ext>
            </a:extLst>
          </p:cNvPr>
          <p:cNvSpPr/>
          <p:nvPr/>
        </p:nvSpPr>
        <p:spPr>
          <a:xfrm>
            <a:off x="3656462" y="4453503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成员变量对象</a:t>
            </a: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22E9D313-F879-26B9-448A-504C166C5A23}"/>
              </a:ext>
            </a:extLst>
          </p:cNvPr>
          <p:cNvSpPr/>
          <p:nvPr/>
        </p:nvSpPr>
        <p:spPr>
          <a:xfrm>
            <a:off x="3656462" y="5366634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成员方法对象</a:t>
            </a:r>
          </a:p>
        </p:txBody>
      </p:sp>
      <p:sp>
        <p:nvSpPr>
          <p:cNvPr id="2" name="流程图: 文档 1">
            <a:extLst>
              <a:ext uri="{FF2B5EF4-FFF2-40B4-BE49-F238E27FC236}">
                <a16:creationId xmlns:a16="http://schemas.microsoft.com/office/drawing/2014/main" id="{E22F93B1-30E8-D5FB-24E8-C108BD43FCC2}"/>
              </a:ext>
            </a:extLst>
          </p:cNvPr>
          <p:cNvSpPr/>
          <p:nvPr/>
        </p:nvSpPr>
        <p:spPr>
          <a:xfrm>
            <a:off x="6150320" y="3639950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</a:p>
        </p:txBody>
      </p:sp>
      <p:sp>
        <p:nvSpPr>
          <p:cNvPr id="8" name="流程图: 文档 7">
            <a:extLst>
              <a:ext uri="{FF2B5EF4-FFF2-40B4-BE49-F238E27FC236}">
                <a16:creationId xmlns:a16="http://schemas.microsoft.com/office/drawing/2014/main" id="{ABE8161D-B28A-2276-E41D-C2EA0C3B6603}"/>
              </a:ext>
            </a:extLst>
          </p:cNvPr>
          <p:cNvSpPr/>
          <p:nvPr/>
        </p:nvSpPr>
        <p:spPr>
          <a:xfrm>
            <a:off x="6150319" y="4453503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</a:t>
            </a:r>
            <a:r>
              <a:rPr lang="en-US" altLang="zh-CN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</a:p>
        </p:txBody>
      </p:sp>
      <p:sp>
        <p:nvSpPr>
          <p:cNvPr id="9" name="流程图: 文档 8">
            <a:extLst>
              <a:ext uri="{FF2B5EF4-FFF2-40B4-BE49-F238E27FC236}">
                <a16:creationId xmlns:a16="http://schemas.microsoft.com/office/drawing/2014/main" id="{6F68FD16-C989-D569-00D9-1C5504496773}"/>
              </a:ext>
            </a:extLst>
          </p:cNvPr>
          <p:cNvSpPr/>
          <p:nvPr/>
        </p:nvSpPr>
        <p:spPr>
          <a:xfrm>
            <a:off x="6150319" y="5366634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235AD8-18B7-B471-7C27-725F67CE3185}"/>
              </a:ext>
            </a:extLst>
          </p:cNvPr>
          <p:cNvSpPr txBox="1"/>
          <p:nvPr/>
        </p:nvSpPr>
        <p:spPr>
          <a:xfrm>
            <a:off x="1677833" y="3782001"/>
            <a:ext cx="683627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解剖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88789387-E5A2-9217-0503-5A115D82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反射介绍</a:t>
            </a:r>
          </a:p>
        </p:txBody>
      </p:sp>
    </p:spTree>
    <p:extLst>
      <p:ext uri="{BB962C8B-B14F-4D97-AF65-F5344CB8AC3E}">
        <p14:creationId xmlns:p14="http://schemas.microsoft.com/office/powerpoint/2010/main" val="37102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文档 3">
            <a:extLst>
              <a:ext uri="{FF2B5EF4-FFF2-40B4-BE49-F238E27FC236}">
                <a16:creationId xmlns:a16="http://schemas.microsoft.com/office/drawing/2014/main" id="{4BE9964E-64CB-BC8D-C6CE-387A8F2A7B77}"/>
              </a:ext>
            </a:extLst>
          </p:cNvPr>
          <p:cNvSpPr/>
          <p:nvPr/>
        </p:nvSpPr>
        <p:spPr>
          <a:xfrm>
            <a:off x="877752" y="4345323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1FBB64C7-FBD0-0023-31FC-B56780E8A97A}"/>
              </a:ext>
            </a:extLst>
          </p:cNvPr>
          <p:cNvSpPr/>
          <p:nvPr/>
        </p:nvSpPr>
        <p:spPr>
          <a:xfrm>
            <a:off x="877752" y="4345323"/>
            <a:ext cx="2192442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字节码对象</a:t>
            </a:r>
            <a:endParaRPr lang="zh-CN" altLang="en-US" sz="1200" b="1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5B4AB2-B7C8-8B75-4814-58CC04409E4C}"/>
              </a:ext>
            </a:extLst>
          </p:cNvPr>
          <p:cNvSpPr txBox="1"/>
          <p:nvPr/>
        </p:nvSpPr>
        <p:spPr>
          <a:xfrm>
            <a:off x="877753" y="1800492"/>
            <a:ext cx="10245968" cy="15240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获取类的字节码对象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反射类中的构造方法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随后创建对象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反射类中的成员变量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完成赋值和获取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反射类中的成员方法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调用成员方法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10BAD280-7C77-876A-962D-9088289ECE65}"/>
              </a:ext>
            </a:extLst>
          </p:cNvPr>
          <p:cNvSpPr/>
          <p:nvPr/>
        </p:nvSpPr>
        <p:spPr>
          <a:xfrm>
            <a:off x="3656463" y="3639950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构造方法对象</a:t>
            </a:r>
          </a:p>
        </p:txBody>
      </p:sp>
      <p:sp>
        <p:nvSpPr>
          <p:cNvPr id="10" name="流程图: 文档 9">
            <a:extLst>
              <a:ext uri="{FF2B5EF4-FFF2-40B4-BE49-F238E27FC236}">
                <a16:creationId xmlns:a16="http://schemas.microsoft.com/office/drawing/2014/main" id="{CE3B7DDE-33AE-056F-33A2-1D16DD452909}"/>
              </a:ext>
            </a:extLst>
          </p:cNvPr>
          <p:cNvSpPr/>
          <p:nvPr/>
        </p:nvSpPr>
        <p:spPr>
          <a:xfrm>
            <a:off x="3656462" y="4453503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成员变量对象</a:t>
            </a: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22E9D313-F879-26B9-448A-504C166C5A23}"/>
              </a:ext>
            </a:extLst>
          </p:cNvPr>
          <p:cNvSpPr/>
          <p:nvPr/>
        </p:nvSpPr>
        <p:spPr>
          <a:xfrm>
            <a:off x="3656462" y="5366634"/>
            <a:ext cx="1907589" cy="705373"/>
          </a:xfrm>
          <a:prstGeom prst="flowChartDocumen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成员方法对象</a:t>
            </a:r>
          </a:p>
        </p:txBody>
      </p:sp>
      <p:sp>
        <p:nvSpPr>
          <p:cNvPr id="2" name="流程图: 文档 1">
            <a:extLst>
              <a:ext uri="{FF2B5EF4-FFF2-40B4-BE49-F238E27FC236}">
                <a16:creationId xmlns:a16="http://schemas.microsoft.com/office/drawing/2014/main" id="{E22F93B1-30E8-D5FB-24E8-C108BD43FCC2}"/>
              </a:ext>
            </a:extLst>
          </p:cNvPr>
          <p:cNvSpPr/>
          <p:nvPr/>
        </p:nvSpPr>
        <p:spPr>
          <a:xfrm>
            <a:off x="6150320" y="3639950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</a:p>
        </p:txBody>
      </p:sp>
      <p:sp>
        <p:nvSpPr>
          <p:cNvPr id="8" name="流程图: 文档 7">
            <a:extLst>
              <a:ext uri="{FF2B5EF4-FFF2-40B4-BE49-F238E27FC236}">
                <a16:creationId xmlns:a16="http://schemas.microsoft.com/office/drawing/2014/main" id="{ABE8161D-B28A-2276-E41D-C2EA0C3B6603}"/>
              </a:ext>
            </a:extLst>
          </p:cNvPr>
          <p:cNvSpPr/>
          <p:nvPr/>
        </p:nvSpPr>
        <p:spPr>
          <a:xfrm>
            <a:off x="6150319" y="4453503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</a:t>
            </a:r>
            <a:r>
              <a:rPr lang="en-US" altLang="zh-CN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</a:p>
        </p:txBody>
      </p:sp>
      <p:sp>
        <p:nvSpPr>
          <p:cNvPr id="9" name="流程图: 文档 8">
            <a:extLst>
              <a:ext uri="{FF2B5EF4-FFF2-40B4-BE49-F238E27FC236}">
                <a16:creationId xmlns:a16="http://schemas.microsoft.com/office/drawing/2014/main" id="{6F68FD16-C989-D569-00D9-1C5504496773}"/>
              </a:ext>
            </a:extLst>
          </p:cNvPr>
          <p:cNvSpPr/>
          <p:nvPr/>
        </p:nvSpPr>
        <p:spPr>
          <a:xfrm>
            <a:off x="6150319" y="5366634"/>
            <a:ext cx="1907589" cy="705373"/>
          </a:xfrm>
          <a:prstGeom prst="flowChartDocumen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  <a:prstDash val="lgDashDotDot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235AD8-18B7-B471-7C27-725F67CE3185}"/>
              </a:ext>
            </a:extLst>
          </p:cNvPr>
          <p:cNvSpPr txBox="1"/>
          <p:nvPr/>
        </p:nvSpPr>
        <p:spPr>
          <a:xfrm>
            <a:off x="1677833" y="3782001"/>
            <a:ext cx="683627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解剖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C0243651-C542-60A8-B759-763AFC31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反射技术的学习路径</a:t>
            </a:r>
          </a:p>
        </p:txBody>
      </p:sp>
    </p:spTree>
    <p:extLst>
      <p:ext uri="{BB962C8B-B14F-4D97-AF65-F5344CB8AC3E}">
        <p14:creationId xmlns:p14="http://schemas.microsoft.com/office/powerpoint/2010/main" val="186016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E1F92944-905A-F659-7E94-255D12ECC93F}"/>
              </a:ext>
            </a:extLst>
          </p:cNvPr>
          <p:cNvSpPr txBox="1"/>
          <p:nvPr/>
        </p:nvSpPr>
        <p:spPr>
          <a:xfrm>
            <a:off x="877753" y="1800492"/>
            <a:ext cx="10245968" cy="11599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>
                <a:latin typeface="Consolas" panose="020B0609020204030204" pitchFamily="49" charset="0"/>
              </a:rPr>
              <a:t>Class.forName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全类名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600" dirty="0">
                <a:latin typeface="Consolas" panose="020B0609020204030204" pitchFamily="49" charset="0"/>
              </a:rPr>
              <a:t>.class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600" dirty="0">
                <a:latin typeface="Consolas" panose="020B0609020204030204" pitchFamily="49" charset="0"/>
              </a:rPr>
              <a:t>.</a:t>
            </a:r>
            <a:r>
              <a:rPr lang="en-US" altLang="zh-CN" sz="1600" dirty="0" err="1">
                <a:latin typeface="Consolas" panose="020B0609020204030204" pitchFamily="49" charset="0"/>
              </a:rPr>
              <a:t>getClass</a:t>
            </a:r>
            <a:r>
              <a:rPr lang="en-US" altLang="zh-CN" sz="16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5D4221-5363-0727-CD68-5C99FD69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获取类的字节码对象</a:t>
            </a:r>
          </a:p>
        </p:txBody>
      </p:sp>
    </p:spTree>
    <p:extLst>
      <p:ext uri="{BB962C8B-B14F-4D97-AF65-F5344CB8AC3E}">
        <p14:creationId xmlns:p14="http://schemas.microsoft.com/office/powerpoint/2010/main" val="47376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CE31-2165-D1B0-6FD2-739E09AA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07073DD-DDC9-FCBE-B42E-EF889B33AE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反射是框架技术的灵魂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在运行状态中，可以操作到任意类中的任意属性任意方法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反射操作的是字节码对象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获取字节码对象的三种方式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 err="1"/>
              <a:t>Class.forName</a:t>
            </a:r>
            <a:r>
              <a:rPr lang="en-US" altLang="zh-CN" dirty="0"/>
              <a:t>(</a:t>
            </a:r>
            <a:r>
              <a:rPr lang="zh-CN" altLang="en-US" dirty="0"/>
              <a:t>全类名</a:t>
            </a:r>
            <a:r>
              <a:rPr lang="en-US" altLang="zh-CN" dirty="0"/>
              <a:t>)</a:t>
            </a:r>
          </a:p>
          <a:p>
            <a:pPr marL="342900" indent="-342900">
              <a:buAutoNum type="arabicPeriod"/>
            </a:pPr>
            <a:r>
              <a:rPr lang="zh-CN" altLang="en-US" dirty="0"/>
              <a:t>类名</a:t>
            </a:r>
            <a:r>
              <a:rPr lang="en-US" altLang="zh-CN" dirty="0"/>
              <a:t>.class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对象名</a:t>
            </a:r>
            <a:r>
              <a:rPr lang="en-US" altLang="zh-CN" dirty="0"/>
              <a:t>.</a:t>
            </a:r>
            <a:r>
              <a:rPr lang="en-US" altLang="zh-CN" dirty="0" err="1"/>
              <a:t>getClass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3100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B247E31-8BC9-FAE3-B715-54DAEE3DF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17474"/>
              </p:ext>
            </p:extLst>
          </p:nvPr>
        </p:nvGraphicFramePr>
        <p:xfrm>
          <a:off x="669979" y="2149381"/>
          <a:ext cx="11136127" cy="25592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16384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3719743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Constructor&lt;?&gt;[]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getConstructors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返回所有公共构造方法对象的数组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Constructor&lt;?&gt;[]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getDeclaredConstructors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返回所有构造方法对象的数组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18280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Constructor&lt;T&gt;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getConstructor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(Class&lt;?&gt;...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parameterTypes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返回单个公共构造方法对象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26590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Constructor&lt;T&gt;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getDeclaredConstructor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(Class&lt;?&gt;...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parameterTypes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返回单个构造方法对象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40795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5C4842A7-6463-7354-39F2-6BC6848D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反射类中的构造方法</a:t>
            </a:r>
          </a:p>
        </p:txBody>
      </p:sp>
    </p:spTree>
    <p:extLst>
      <p:ext uri="{BB962C8B-B14F-4D97-AF65-F5344CB8AC3E}">
        <p14:creationId xmlns:p14="http://schemas.microsoft.com/office/powerpoint/2010/main" val="26895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2C4B67-985B-F887-6714-0AAB2B8BC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14703"/>
              </p:ext>
            </p:extLst>
          </p:nvPr>
        </p:nvGraphicFramePr>
        <p:xfrm>
          <a:off x="877752" y="2692000"/>
          <a:ext cx="11136127" cy="147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16384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3719743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T 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newInstance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(Object...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initargs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根据指定的构造方法创建对象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setAccessible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boolean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 flag)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设置为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true,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表示取消访问检查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18280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9B490F2-DEC0-7A34-EBE3-4D0A8129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Constructor</a:t>
            </a:r>
            <a:r>
              <a:rPr lang="zh-CN" altLang="en-US" dirty="0"/>
              <a:t>类用于创建对象的方法</a:t>
            </a:r>
          </a:p>
        </p:txBody>
      </p:sp>
    </p:spTree>
    <p:extLst>
      <p:ext uri="{BB962C8B-B14F-4D97-AF65-F5344CB8AC3E}">
        <p14:creationId xmlns:p14="http://schemas.microsoft.com/office/powerpoint/2010/main" val="421262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B247E31-8BC9-FAE3-B715-54DAEE3DF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388295"/>
              </p:ext>
            </p:extLst>
          </p:nvPr>
        </p:nvGraphicFramePr>
        <p:xfrm>
          <a:off x="669979" y="2149381"/>
          <a:ext cx="11136127" cy="25592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16384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3719743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Field[]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getFields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返回所有公共成员变量对象的数组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Field[]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getDeclaredFields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返回所有成员变量对象的数组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18280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Field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getField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(String name)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返回单个公共成员变量对象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26590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Field </a:t>
                      </a:r>
                      <a:r>
                        <a:rPr lang="en-US" altLang="zh-CN" sz="1600" b="0" dirty="0" err="1"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getDeclaredField</a:t>
                      </a: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(String name)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返回单个成员变量对象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40795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680AD287-BCB8-769A-0CCE-236378C1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反射类中的成员变量</a:t>
            </a:r>
          </a:p>
        </p:txBody>
      </p:sp>
    </p:spTree>
    <p:extLst>
      <p:ext uri="{BB962C8B-B14F-4D97-AF65-F5344CB8AC3E}">
        <p14:creationId xmlns:p14="http://schemas.microsoft.com/office/powerpoint/2010/main" val="24004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B247E31-8BC9-FAE3-B715-54DAEE3DF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517681"/>
              </p:ext>
            </p:extLst>
          </p:nvPr>
        </p:nvGraphicFramePr>
        <p:xfrm>
          <a:off x="687734" y="1820907"/>
          <a:ext cx="11136127" cy="147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16384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3719743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void set(Object obj, Object value)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赋值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Object get(Object obj)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获取值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18280"/>
                  </a:ext>
                </a:extLst>
              </a:tr>
            </a:tbl>
          </a:graphicData>
        </a:graphic>
      </p:graphicFrame>
      <p:pic>
        <p:nvPicPr>
          <p:cNvPr id="36872" name="Picture 8" descr="龙图表情包下载|龙图800张表情包 经典版 下载_当游网">
            <a:extLst>
              <a:ext uri="{FF2B5EF4-FFF2-40B4-BE49-F238E27FC236}">
                <a16:creationId xmlns:a16="http://schemas.microsoft.com/office/drawing/2014/main" id="{A63F9381-F7FD-81A0-DA47-41F80667A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96" y="4702668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0BA4E6-C8B9-81DC-728D-578F4CEB6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776" y="5255821"/>
            <a:ext cx="5843014" cy="10154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6353E065-7A97-8A79-E1C3-6C07375BF39E}"/>
              </a:ext>
            </a:extLst>
          </p:cNvPr>
          <p:cNvSpPr/>
          <p:nvPr/>
        </p:nvSpPr>
        <p:spPr>
          <a:xfrm>
            <a:off x="2020752" y="3992455"/>
            <a:ext cx="1819922" cy="710213"/>
          </a:xfrm>
          <a:prstGeom prst="wedgeRoundRectCallout">
            <a:avLst>
              <a:gd name="adj1" fmla="val -38882"/>
              <a:gd name="adj2" fmla="val 6875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Student </a:t>
            </a:r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类的</a:t>
            </a:r>
            <a:r>
              <a:rPr lang="en-US" altLang="zh-CN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name</a:t>
            </a:r>
          </a:p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都归我管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8F04C69E-6885-2DCF-9688-1A5302B2CA45}"/>
              </a:ext>
            </a:extLst>
          </p:cNvPr>
          <p:cNvSpPr/>
          <p:nvPr/>
        </p:nvSpPr>
        <p:spPr>
          <a:xfrm>
            <a:off x="2399717" y="5135455"/>
            <a:ext cx="2190038" cy="413089"/>
          </a:xfrm>
          <a:prstGeom prst="wedgeRoundRectCallout">
            <a:avLst>
              <a:gd name="adj1" fmla="val -64248"/>
              <a:gd name="adj2" fmla="val -4500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你要操作哪个对象</a:t>
            </a:r>
            <a:r>
              <a:rPr lang="en-US" altLang="zh-CN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?</a:t>
            </a:r>
            <a:endParaRPr lang="zh-CN" altLang="en-US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B981B7-A80A-F730-997D-210B43599577}"/>
              </a:ext>
            </a:extLst>
          </p:cNvPr>
          <p:cNvSpPr/>
          <p:nvPr/>
        </p:nvSpPr>
        <p:spPr>
          <a:xfrm>
            <a:off x="4909351" y="3563094"/>
            <a:ext cx="5843014" cy="1296140"/>
          </a:xfrm>
          <a:prstGeom prst="roundRect">
            <a:avLst/>
          </a:prstGeom>
          <a:solidFill>
            <a:schemeClr val="tx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817324D-E066-9EA5-153D-FF0A3F8C4A31}"/>
              </a:ext>
            </a:extLst>
          </p:cNvPr>
          <p:cNvSpPr/>
          <p:nvPr/>
        </p:nvSpPr>
        <p:spPr>
          <a:xfrm>
            <a:off x="5389855" y="3856057"/>
            <a:ext cx="2051482" cy="710213"/>
          </a:xfrm>
          <a:prstGeom prst="roundRect">
            <a:avLst/>
          </a:prstGeom>
          <a:gradFill>
            <a:gsLst>
              <a:gs pos="0">
                <a:schemeClr val="bg1"/>
              </a:gs>
              <a:gs pos="50000">
                <a:schemeClr val="dk1">
                  <a:lumMod val="105000"/>
                  <a:satMod val="103000"/>
                  <a:tint val="73000"/>
                </a:schemeClr>
              </a:gs>
              <a:gs pos="100000">
                <a:schemeClr val="dk1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Student stu1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name : null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65DC308-231B-B89F-57F2-9C034E493AA0}"/>
              </a:ext>
            </a:extLst>
          </p:cNvPr>
          <p:cNvSpPr/>
          <p:nvPr/>
        </p:nvSpPr>
        <p:spPr>
          <a:xfrm>
            <a:off x="8031914" y="3856057"/>
            <a:ext cx="2051482" cy="710213"/>
          </a:xfrm>
          <a:prstGeom prst="roundRect">
            <a:avLst/>
          </a:prstGeom>
          <a:gradFill>
            <a:gsLst>
              <a:gs pos="0">
                <a:schemeClr val="bg1"/>
              </a:gs>
              <a:gs pos="50000">
                <a:schemeClr val="dk1">
                  <a:lumMod val="105000"/>
                  <a:satMod val="103000"/>
                  <a:tint val="73000"/>
                </a:schemeClr>
              </a:gs>
              <a:gs pos="100000">
                <a:schemeClr val="dk1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Student stu2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name : null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4696615-6417-A1E0-8E77-13766BBF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Field</a:t>
            </a:r>
            <a:r>
              <a:rPr lang="zh-CN" altLang="en-US" dirty="0"/>
              <a:t>类的设置和获取方法</a:t>
            </a:r>
          </a:p>
        </p:txBody>
      </p:sp>
    </p:spTree>
    <p:extLst>
      <p:ext uri="{BB962C8B-B14F-4D97-AF65-F5344CB8AC3E}">
        <p14:creationId xmlns:p14="http://schemas.microsoft.com/office/powerpoint/2010/main" val="262927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ECE24A1-AFF6-1769-9151-E8978DB188A1}"/>
              </a:ext>
            </a:extLst>
          </p:cNvPr>
          <p:cNvSpPr txBox="1"/>
          <p:nvPr/>
        </p:nvSpPr>
        <p:spPr>
          <a:xfrm>
            <a:off x="576626" y="1188309"/>
            <a:ext cx="10245968" cy="4661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禁止暴力反射操作</a:t>
            </a:r>
            <a:endParaRPr lang="zh-CN" altLang="zh-C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阿里巴巴普惠体" panose="00020600040101010101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307C0A3-E0CA-4B6B-1D03-4B3E3785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反射建议</a:t>
            </a:r>
          </a:p>
        </p:txBody>
      </p:sp>
    </p:spTree>
    <p:extLst>
      <p:ext uri="{BB962C8B-B14F-4D97-AF65-F5344CB8AC3E}">
        <p14:creationId xmlns:p14="http://schemas.microsoft.com/office/powerpoint/2010/main" val="202006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2C4B67-985B-F887-6714-0AAB2B8BC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03790"/>
              </p:ext>
            </p:extLst>
          </p:nvPr>
        </p:nvGraphicFramePr>
        <p:xfrm>
          <a:off x="469943" y="1910764"/>
          <a:ext cx="11252113" cy="259573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631">
                  <a:extLst>
                    <a:ext uri="{9D8B030D-6E8A-4147-A177-3AD203B41FA5}">
                      <a16:colId xmlns:a16="http://schemas.microsoft.com/office/drawing/2014/main" val="3735867491"/>
                    </a:ext>
                  </a:extLst>
                </a:gridCol>
                <a:gridCol w="4491482">
                  <a:extLst>
                    <a:ext uri="{9D8B030D-6E8A-4147-A177-3AD203B41FA5}">
                      <a16:colId xmlns:a16="http://schemas.microsoft.com/office/drawing/2014/main" val="3653541819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97662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Method[] 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getMethods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()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返回所有公共成员方法对象的数组，包括继承的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6241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Method[]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getDeclaredMethods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()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返回所有成员方法对象的数组，不包括继承的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18280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Method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getMethod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(String name, Class&lt;?&gt;...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parameterTypes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返回单个公共成员方法对象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81062"/>
                  </a:ext>
                </a:extLst>
              </a:tr>
              <a:tr h="542619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Method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getDeclaredMethod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(String name, Class&lt;?&gt;...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parameterTypes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返回单个成员方法对象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99260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5E517F5-5D3D-7C99-6F47-4B1F1A4A75D2}"/>
              </a:ext>
            </a:extLst>
          </p:cNvPr>
          <p:cNvSpPr txBox="1"/>
          <p:nvPr/>
        </p:nvSpPr>
        <p:spPr>
          <a:xfrm>
            <a:off x="469943" y="4882718"/>
            <a:ext cx="3198311" cy="4212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Method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类用于执行方法的方法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CDBCE8-4695-7589-86F0-65B03E330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57230"/>
              </p:ext>
            </p:extLst>
          </p:nvPr>
        </p:nvGraphicFramePr>
        <p:xfrm>
          <a:off x="469942" y="5421081"/>
          <a:ext cx="11252113" cy="93138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0631">
                  <a:extLst>
                    <a:ext uri="{9D8B030D-6E8A-4147-A177-3AD203B41FA5}">
                      <a16:colId xmlns:a16="http://schemas.microsoft.com/office/drawing/2014/main" val="4242388980"/>
                    </a:ext>
                  </a:extLst>
                </a:gridCol>
                <a:gridCol w="4491482">
                  <a:extLst>
                    <a:ext uri="{9D8B030D-6E8A-4147-A177-3AD203B41FA5}">
                      <a16:colId xmlns:a16="http://schemas.microsoft.com/office/drawing/2014/main" val="454438266"/>
                    </a:ext>
                  </a:extLst>
                </a:gridCol>
              </a:tblGrid>
              <a:tr h="490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方法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625854"/>
                  </a:ext>
                </a:extLst>
              </a:tr>
              <a:tr h="4407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Object invoke(Object obj, Object... </a:t>
                      </a:r>
                      <a:r>
                        <a:rPr lang="en-US" altLang="zh-CN" sz="1600" b="0" i="0" kern="1200" dirty="0" err="1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args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)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运行方法</a:t>
                      </a:r>
                      <a:endParaRPr lang="zh-CN" altLang="en-US" sz="1600" b="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845951"/>
                  </a:ext>
                </a:extLst>
              </a:tr>
            </a:tbl>
          </a:graphicData>
        </a:graphic>
      </p:graphicFrame>
      <p:sp>
        <p:nvSpPr>
          <p:cNvPr id="6" name="标题 5">
            <a:extLst>
              <a:ext uri="{FF2B5EF4-FFF2-40B4-BE49-F238E27FC236}">
                <a16:creationId xmlns:a16="http://schemas.microsoft.com/office/drawing/2014/main" id="{9700F9B4-2A67-A709-EB83-304A0D74D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反射类中的成员方法</a:t>
            </a:r>
          </a:p>
        </p:txBody>
      </p:sp>
    </p:spTree>
    <p:extLst>
      <p:ext uri="{BB962C8B-B14F-4D97-AF65-F5344CB8AC3E}">
        <p14:creationId xmlns:p14="http://schemas.microsoft.com/office/powerpoint/2010/main" val="21870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1CCD44-211C-2756-0272-B00B2A6E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反射练习（伪泛型）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B0908EE-6AB8-9792-4686-B08DB890D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: </a:t>
            </a:r>
            <a:r>
              <a:rPr lang="zh-CN" altLang="en-US" dirty="0"/>
              <a:t>请向一个泛型为 </a:t>
            </a:r>
            <a:r>
              <a:rPr lang="en-US" altLang="zh-CN" dirty="0"/>
              <a:t>Integer </a:t>
            </a:r>
            <a:r>
              <a:rPr lang="zh-CN" altLang="en-US" dirty="0"/>
              <a:t>的集合，添加一个 </a:t>
            </a:r>
            <a:r>
              <a:rPr lang="en-US" altLang="zh-CN" dirty="0"/>
              <a:t>String </a:t>
            </a:r>
            <a:r>
              <a:rPr lang="zh-CN" altLang="en-US" dirty="0"/>
              <a:t>字符串</a:t>
            </a:r>
          </a:p>
          <a:p>
            <a:r>
              <a:rPr lang="zh-CN" altLang="en-US" dirty="0"/>
              <a:t>思路</a:t>
            </a:r>
            <a:r>
              <a:rPr lang="en-US" altLang="zh-CN" dirty="0"/>
              <a:t>: Java </a:t>
            </a:r>
            <a:r>
              <a:rPr lang="zh-CN" altLang="en-US" dirty="0"/>
              <a:t>中的泛型是假的，只在编译的时候有效</a:t>
            </a:r>
          </a:p>
        </p:txBody>
      </p:sp>
    </p:spTree>
    <p:extLst>
      <p:ext uri="{BB962C8B-B14F-4D97-AF65-F5344CB8AC3E}">
        <p14:creationId xmlns:p14="http://schemas.microsoft.com/office/powerpoint/2010/main" val="293314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881528-8DB8-5396-0AB7-FDD1A4B4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反射练习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B0908EE-6AB8-9792-4686-B08DB890D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1600" dirty="0"/>
              <a:t>编写三个任意的</a:t>
            </a:r>
            <a:r>
              <a:rPr lang="en-US" altLang="zh-CN" sz="1600" dirty="0" err="1"/>
              <a:t>Javabean</a:t>
            </a:r>
            <a:r>
              <a:rPr lang="zh-CN" altLang="en-US" sz="1600" dirty="0"/>
              <a:t>类，</a:t>
            </a:r>
            <a:r>
              <a:rPr lang="en-US" altLang="zh-CN" sz="1600" dirty="0"/>
              <a:t>Student</a:t>
            </a:r>
            <a:r>
              <a:rPr lang="zh-CN" altLang="en-US" sz="1600" dirty="0"/>
              <a:t>类，</a:t>
            </a:r>
            <a:r>
              <a:rPr lang="en-US" altLang="zh-CN" sz="1600" dirty="0"/>
              <a:t>Teacher</a:t>
            </a:r>
            <a:r>
              <a:rPr lang="zh-CN" altLang="en-US" sz="1600" dirty="0"/>
              <a:t>类，</a:t>
            </a:r>
            <a:r>
              <a:rPr lang="en-US" altLang="zh-CN" sz="1600" dirty="0"/>
              <a:t>Worker</a:t>
            </a:r>
            <a:r>
              <a:rPr lang="zh-CN" altLang="en-US" sz="1600" dirty="0"/>
              <a:t>类。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属性均为：</a:t>
            </a:r>
            <a:r>
              <a:rPr lang="en-US" altLang="zh-CN" sz="1600" dirty="0"/>
              <a:t>name</a:t>
            </a:r>
            <a:r>
              <a:rPr lang="zh-CN" altLang="en-US" sz="1600" dirty="0"/>
              <a:t>，</a:t>
            </a:r>
            <a:r>
              <a:rPr lang="en-US" altLang="zh-CN" sz="1600" dirty="0"/>
              <a:t>age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方法要求：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	</a:t>
            </a:r>
            <a:r>
              <a:rPr lang="en-US" altLang="zh-CN" sz="1600" dirty="0"/>
              <a:t>Student</a:t>
            </a:r>
            <a:r>
              <a:rPr lang="zh-CN" altLang="en-US" sz="1600" dirty="0"/>
              <a:t>里面写学习</a:t>
            </a:r>
            <a:r>
              <a:rPr lang="en-US" altLang="zh-CN" sz="1600" dirty="0"/>
              <a:t>study</a:t>
            </a:r>
            <a:r>
              <a:rPr lang="zh-CN" altLang="en-US" sz="1600" dirty="0"/>
              <a:t>和吃饭</a:t>
            </a:r>
            <a:r>
              <a:rPr lang="en-US" altLang="zh-CN" sz="1600" dirty="0"/>
              <a:t>eat</a:t>
            </a:r>
            <a:r>
              <a:rPr lang="zh-CN" altLang="en-US" sz="1600" dirty="0"/>
              <a:t>的方法（方法无参无返回）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	</a:t>
            </a:r>
            <a:r>
              <a:rPr lang="en-US" altLang="zh-CN" sz="1600" dirty="0"/>
              <a:t>Teacher</a:t>
            </a:r>
            <a:r>
              <a:rPr lang="zh-CN" altLang="en-US" sz="1600" dirty="0"/>
              <a:t>里面写上课</a:t>
            </a:r>
            <a:r>
              <a:rPr lang="en-US" altLang="zh-CN" sz="1600" dirty="0"/>
              <a:t>teach</a:t>
            </a:r>
            <a:r>
              <a:rPr lang="zh-CN" altLang="en-US" sz="1600" dirty="0"/>
              <a:t>和吃饭</a:t>
            </a:r>
            <a:r>
              <a:rPr lang="en-US" altLang="zh-CN" sz="1600" dirty="0"/>
              <a:t>eat</a:t>
            </a:r>
            <a:r>
              <a:rPr lang="zh-CN" altLang="en-US" sz="1600" dirty="0"/>
              <a:t>的方法（方法无参无返回）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	</a:t>
            </a:r>
            <a:r>
              <a:rPr lang="en-US" altLang="zh-CN" sz="1600" dirty="0"/>
              <a:t>Worker</a:t>
            </a:r>
            <a:r>
              <a:rPr lang="zh-CN" altLang="en-US" sz="1600" dirty="0"/>
              <a:t>里面写工作</a:t>
            </a:r>
            <a:r>
              <a:rPr lang="en-US" altLang="zh-CN" sz="1600" dirty="0"/>
              <a:t>work</a:t>
            </a:r>
            <a:r>
              <a:rPr lang="zh-CN" altLang="en-US" sz="1600" dirty="0"/>
              <a:t>和睡觉</a:t>
            </a:r>
            <a:r>
              <a:rPr lang="en-US" altLang="zh-CN" sz="1600" dirty="0"/>
              <a:t>sleep</a:t>
            </a:r>
            <a:r>
              <a:rPr lang="zh-CN" altLang="en-US" sz="1600" dirty="0"/>
              <a:t>的方法（方法无参无返回）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本地新建配置文件</a:t>
            </a:r>
            <a:r>
              <a:rPr lang="en-US" altLang="zh-CN" sz="1600" dirty="0"/>
              <a:t>properties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	</a:t>
            </a:r>
            <a:r>
              <a:rPr lang="zh-CN" altLang="en-US" sz="1600" dirty="0"/>
              <a:t>属性： 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dirty="0"/>
              <a:t>		</a:t>
            </a:r>
            <a:r>
              <a:rPr lang="en-US" altLang="zh-CN" sz="1600" dirty="0" err="1"/>
              <a:t>className</a:t>
            </a:r>
            <a:r>
              <a:rPr lang="en-US" altLang="zh-CN" sz="1600" dirty="0"/>
              <a:t>=Student</a:t>
            </a:r>
            <a:r>
              <a:rPr lang="zh-CN" altLang="en-US" sz="1600" dirty="0"/>
              <a:t>类的全类名    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dirty="0"/>
              <a:t>		</a:t>
            </a:r>
            <a:r>
              <a:rPr lang="en-US" altLang="zh-CN" sz="1600" dirty="0" err="1"/>
              <a:t>methodName</a:t>
            </a:r>
            <a:r>
              <a:rPr lang="en-US" altLang="zh-CN" sz="1600" dirty="0"/>
              <a:t>=study</a:t>
            </a:r>
          </a:p>
          <a:p>
            <a:pPr>
              <a:lnSpc>
                <a:spcPct val="100000"/>
              </a:lnSpc>
            </a:pP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zh-CN" altLang="en-US" sz="1600" dirty="0"/>
              <a:t>在测试类中读取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文件中的两个属性值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利用反射创建对象学生类的对象，并调用方法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修改配置文件，不修改代码，运行老师类中的上课方法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/>
              <a:t>修改配置文件，不修改代码，运行工人类中的工作方法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179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DE66C42-A3EF-642E-DA78-8F53E8F8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FFF9CD-5311-DBB5-9DC4-011D876AD3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5472" y="2267199"/>
            <a:ext cx="5634223" cy="2755562"/>
          </a:xfrm>
        </p:spPr>
        <p:txBody>
          <a:bodyPr anchor="t"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枚举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类加载器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反射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注解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动态代理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8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F52F-F86C-99DB-F1B0-8C845980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D45FEA-DFC2-2C59-CB36-0E9123DB2F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注解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981DD6C-4741-931F-F825-F83AC65F9E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777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注解介绍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BBD0DB94-23F1-042A-26A8-DAE3E6B1300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7694" y="1044750"/>
            <a:ext cx="10996612" cy="862012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Annotation表示注解，是JDK1.5的新特性。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注解的主要作用：对程序进行标注。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A166F0-692E-DA75-472A-1E7B8FDED7DD}"/>
              </a:ext>
            </a:extLst>
          </p:cNvPr>
          <p:cNvSpPr txBox="1">
            <a:spLocks/>
          </p:cNvSpPr>
          <p:nvPr/>
        </p:nvSpPr>
        <p:spPr>
          <a:xfrm>
            <a:off x="983197" y="2017808"/>
            <a:ext cx="8672817" cy="8615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理解：注释是给人看的，注解是给虚拟机看的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通过注解可以给类增加额外的信息。</a:t>
            </a:r>
            <a:endParaRPr lang="en-US" altLang="zh-CN" sz="1600" b="0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编译器或</a:t>
            </a:r>
            <a:r>
              <a:rPr lang="en-US" altLang="zh-CN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JVM</a:t>
            </a: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可以根据注解来完成对应的功能</a:t>
            </a:r>
            <a:endParaRPr lang="zh-CN" altLang="zh-CN" sz="1600" b="0" dirty="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CE33D8-193F-A4CD-D721-062BDC856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543" y="1369087"/>
            <a:ext cx="4383083" cy="28761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ADB0B9-9D27-A208-A1BE-5463F213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13" y="3976497"/>
            <a:ext cx="6610350" cy="2514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5590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8E543-B132-5CAA-B4DF-41671DF4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AC90166-DA8C-167B-F6DE-85E4CFBA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注解介绍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253498CA-C2E7-56F6-1186-57C33F9759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7694" y="1044750"/>
            <a:ext cx="10996612" cy="862012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Annotation表示注解，是JDK1.5的新特性。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注解的主要作用：对程序进行标注。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3FA905-57A9-398C-3663-2456A89DCD84}"/>
              </a:ext>
            </a:extLst>
          </p:cNvPr>
          <p:cNvSpPr txBox="1">
            <a:spLocks/>
          </p:cNvSpPr>
          <p:nvPr/>
        </p:nvSpPr>
        <p:spPr>
          <a:xfrm>
            <a:off x="983197" y="2017808"/>
            <a:ext cx="8672817" cy="8615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理解：注释是给人看的，注解是给虚拟机看的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通过注解可以给类增加额外的信息。</a:t>
            </a:r>
            <a:endParaRPr lang="en-US" altLang="zh-CN" sz="1600" b="0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编译器或</a:t>
            </a:r>
            <a:r>
              <a:rPr lang="en-US" altLang="zh-CN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JVM</a:t>
            </a:r>
            <a:r>
              <a:rPr lang="zh-CN" altLang="en-US" sz="1600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可以根据注解来完成对应的功能</a:t>
            </a:r>
            <a:endParaRPr lang="zh-CN" altLang="zh-CN" sz="1600" b="0" dirty="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DAE82C58-46D7-5125-39EA-AD7C0716F876}"/>
              </a:ext>
            </a:extLst>
          </p:cNvPr>
          <p:cNvSpPr txBox="1">
            <a:spLocks/>
          </p:cNvSpPr>
          <p:nvPr/>
        </p:nvSpPr>
        <p:spPr>
          <a:xfrm>
            <a:off x="576626" y="3830572"/>
            <a:ext cx="5724477" cy="177290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JDK</a:t>
            </a:r>
            <a:r>
              <a:rPr lang="zh-CN" altLang="en-US" b="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中常见注解：</a:t>
            </a:r>
            <a:endParaRPr lang="en-US" altLang="zh-CN" b="0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marL="342900" indent="-342900">
              <a:spcBef>
                <a:spcPct val="0"/>
              </a:spcBef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@Override</a:t>
            </a:r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：表示方法的重写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marL="342900" indent="-342900">
              <a:spcBef>
                <a:spcPct val="0"/>
              </a:spcBef>
              <a:buAutoNum type="arabicPeriod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@Deprecated：表示修饰的方法已过时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 marL="342900" indent="-342900">
              <a:spcBef>
                <a:spcPct val="0"/>
              </a:spcBef>
              <a:buAutoNum type="arabicPeriod"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@SuppressWarnings("all")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：压制警告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3005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自定义注解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BBA68F8-5862-2164-8A9F-CDDD019B839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6626" y="1244087"/>
            <a:ext cx="9170988" cy="3860800"/>
          </a:xfrm>
          <a:prstGeom prst="rect">
            <a:avLst/>
          </a:prstGeo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自定义注解单独存在意义不大，一般会跟反射结合起来使用</a:t>
            </a:r>
          </a:p>
        </p:txBody>
      </p:sp>
    </p:spTree>
    <p:extLst>
      <p:ext uri="{BB962C8B-B14F-4D97-AF65-F5344CB8AC3E}">
        <p14:creationId xmlns:p14="http://schemas.microsoft.com/office/powerpoint/2010/main" val="2933783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自定义注解格式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8EF3E6-5480-1246-496F-CA46E9497470}"/>
              </a:ext>
            </a:extLst>
          </p:cNvPr>
          <p:cNvSpPr txBox="1"/>
          <p:nvPr/>
        </p:nvSpPr>
        <p:spPr>
          <a:xfrm>
            <a:off x="792152" y="1730476"/>
            <a:ext cx="6093043" cy="263809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zh-CN" altLang="en-US" sz="1600" dirty="0">
                <a:solidFill>
                  <a:srgbClr val="9E880D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注解名称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zh-CN" altLang="en-US" sz="1600" dirty="0"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属性类型 </a:t>
            </a:r>
            <a:r>
              <a:rPr lang="zh-CN" altLang="en-US" sz="1600" dirty="0">
                <a:solidFill>
                  <a:srgbClr val="00627A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属性名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zh-CN" altLang="en-US" sz="1600" dirty="0"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默认值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altLang="zh-CN" sz="1600" dirty="0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Anno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"show..."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6F56D7-C407-A18B-7D49-55B89743EEB7}"/>
              </a:ext>
            </a:extLst>
          </p:cNvPr>
          <p:cNvSpPr txBox="1"/>
          <p:nvPr/>
        </p:nvSpPr>
        <p:spPr>
          <a:xfrm>
            <a:off x="7325032" y="1641986"/>
            <a:ext cx="3903407" cy="3006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属性类型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</a:p>
          <a:p>
            <a:pPr algn="l"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基本数据类型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String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注解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以上类型的一维数组</a:t>
            </a:r>
          </a:p>
        </p:txBody>
      </p:sp>
    </p:spTree>
    <p:extLst>
      <p:ext uri="{BB962C8B-B14F-4D97-AF65-F5344CB8AC3E}">
        <p14:creationId xmlns:p14="http://schemas.microsoft.com/office/powerpoint/2010/main" val="8071313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自定义注解格式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8EF3E6-5480-1246-496F-CA46E9497470}"/>
              </a:ext>
            </a:extLst>
          </p:cNvPr>
          <p:cNvSpPr txBox="1"/>
          <p:nvPr/>
        </p:nvSpPr>
        <p:spPr>
          <a:xfrm>
            <a:off x="792152" y="1730476"/>
            <a:ext cx="7752080" cy="485408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altLang="zh-CN" sz="1600" dirty="0" err="1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MyAnno</a:t>
            </a:r>
            <a:r>
              <a:rPr lang="en-US" altLang="zh-CN" sz="1600" dirty="0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final int </a:t>
            </a:r>
            <a:r>
              <a:rPr lang="en-US" altLang="zh-CN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num1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final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altLang="zh-CN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num2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zh-CN" sz="16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final </a:t>
            </a:r>
            <a:r>
              <a:rPr lang="en-US" altLang="zh-CN" sz="1600" dirty="0" err="1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MyAnno</a:t>
            </a:r>
            <a:r>
              <a:rPr lang="en-US" altLang="zh-CN" sz="1600" dirty="0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num3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final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altLang="zh-CN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num4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final int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num5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{};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abstract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show1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"show1"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abstract int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show2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132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abstract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MyAnno2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show3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@MyAnno2;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abstract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show4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abstract int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16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show5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6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6F56D7-C407-A18B-7D49-55B89743EEB7}"/>
              </a:ext>
            </a:extLst>
          </p:cNvPr>
          <p:cNvSpPr txBox="1"/>
          <p:nvPr/>
        </p:nvSpPr>
        <p:spPr>
          <a:xfrm>
            <a:off x="9193161" y="1730476"/>
            <a:ext cx="2702917" cy="30065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属性类型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</a:p>
          <a:p>
            <a:pPr algn="l"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基本数据类型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String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Class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注解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枚举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以上类型的一维数组</a:t>
            </a:r>
          </a:p>
        </p:txBody>
      </p:sp>
    </p:spTree>
    <p:extLst>
      <p:ext uri="{BB962C8B-B14F-4D97-AF65-F5344CB8AC3E}">
        <p14:creationId xmlns:p14="http://schemas.microsoft.com/office/powerpoint/2010/main" val="116415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自定义注解使用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6F56D7-C407-A18B-7D49-55B89743EEB7}"/>
              </a:ext>
            </a:extLst>
          </p:cNvPr>
          <p:cNvSpPr txBox="1"/>
          <p:nvPr/>
        </p:nvSpPr>
        <p:spPr>
          <a:xfrm>
            <a:off x="710880" y="1668332"/>
            <a:ext cx="2765060" cy="11599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常用位置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: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类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方法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065177-1085-2FD6-EB19-261FFCC11F83}"/>
              </a:ext>
            </a:extLst>
          </p:cNvPr>
          <p:cNvGrpSpPr/>
          <p:nvPr/>
        </p:nvGrpSpPr>
        <p:grpSpPr>
          <a:xfrm>
            <a:off x="792160" y="3371825"/>
            <a:ext cx="10335643" cy="1163741"/>
            <a:chOff x="710879" y="5692749"/>
            <a:chExt cx="10030327" cy="736840"/>
          </a:xfrm>
        </p:grpSpPr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E1E8EFF0-E125-BC4D-CD37-08C2EEE9D541}"/>
                </a:ext>
              </a:extLst>
            </p:cNvPr>
            <p:cNvSpPr/>
            <p:nvPr/>
          </p:nvSpPr>
          <p:spPr>
            <a:xfrm rot="16200000">
              <a:off x="863043" y="5540586"/>
              <a:ext cx="736839" cy="1041167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4DA4656-348C-CE46-514C-D80C8CA94C06}"/>
                </a:ext>
              </a:extLst>
            </p:cNvPr>
            <p:cNvSpPr/>
            <p:nvPr/>
          </p:nvSpPr>
          <p:spPr>
            <a:xfrm>
              <a:off x="710880" y="5692749"/>
              <a:ext cx="10030326" cy="73442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在使用注解时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, 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如果注解的属性没有给出默认值，需要手动给出</a:t>
              </a: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@Anno(name="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张三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")</a:t>
              </a: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如果数组中只有一个属性值，在使用时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{}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/>
                </a:rPr>
                <a:t>是可以省略的</a:t>
              </a:r>
            </a:p>
          </p:txBody>
        </p:sp>
        <p:sp>
          <p:nvSpPr>
            <p:cNvPr id="9" name="Shape 2468">
              <a:extLst>
                <a:ext uri="{FF2B5EF4-FFF2-40B4-BE49-F238E27FC236}">
                  <a16:creationId xmlns:a16="http://schemas.microsoft.com/office/drawing/2014/main" id="{3FBD067D-5C70-928C-22EA-43F3D953FBB5}"/>
                </a:ext>
              </a:extLst>
            </p:cNvPr>
            <p:cNvSpPr/>
            <p:nvPr/>
          </p:nvSpPr>
          <p:spPr>
            <a:xfrm>
              <a:off x="854807" y="5965510"/>
              <a:ext cx="223663" cy="170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CED26C1-A775-E959-1861-35150514E000}"/>
                </a:ext>
              </a:extLst>
            </p:cNvPr>
            <p:cNvSpPr txBox="1"/>
            <p:nvPr/>
          </p:nvSpPr>
          <p:spPr>
            <a:xfrm>
              <a:off x="1112336" y="5965510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44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特殊的属性 </a:t>
            </a:r>
            <a:r>
              <a:rPr lang="en-US" altLang="zh-CN" dirty="0"/>
              <a:t>value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6F56D7-C407-A18B-7D49-55B89743EEB7}"/>
              </a:ext>
            </a:extLst>
          </p:cNvPr>
          <p:cNvSpPr txBox="1"/>
          <p:nvPr/>
        </p:nvSpPr>
        <p:spPr>
          <a:xfrm>
            <a:off x="710880" y="1668332"/>
            <a:ext cx="9196600" cy="425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如果只有一个属性名字为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value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/>
              </a:rPr>
              <a:t>没有赋值，使用时直接给出值，不需要写属性名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0DCA4A-3BF8-278F-9992-F808FD102766}"/>
              </a:ext>
            </a:extLst>
          </p:cNvPr>
          <p:cNvSpPr txBox="1"/>
          <p:nvPr/>
        </p:nvSpPr>
        <p:spPr>
          <a:xfrm>
            <a:off x="1180730" y="2771598"/>
            <a:ext cx="612559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@SuppressWarnings("all")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：压制警告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96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A06FF8B-9EB2-9274-4C91-D42C1B76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自定义测试注解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7EFC4A9-E5EB-4DC7-E935-6E574803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需求：自定义一个注解</a:t>
            </a:r>
            <a:r>
              <a:rPr lang="en-US" altLang="zh-CN" dirty="0"/>
              <a:t>@Test</a:t>
            </a:r>
            <a:r>
              <a:rPr lang="zh-CN" altLang="en-US" dirty="0"/>
              <a:t>，用于指定类的方法上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如果类中的某个的方法上使用了该注解，就执行该方法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7500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元注解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6F56D7-C407-A18B-7D49-55B89743EEB7}"/>
              </a:ext>
            </a:extLst>
          </p:cNvPr>
          <p:cNvSpPr txBox="1"/>
          <p:nvPr/>
        </p:nvSpPr>
        <p:spPr>
          <a:xfrm>
            <a:off x="576626" y="1178934"/>
            <a:ext cx="91966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元注解就是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用在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上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/>
              </a:rPr>
              <a:t> 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CE801EC-8FC2-5038-E588-D0E51973F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01082"/>
              </p:ext>
            </p:extLst>
          </p:nvPr>
        </p:nvGraphicFramePr>
        <p:xfrm>
          <a:off x="683489" y="1613785"/>
          <a:ext cx="9400786" cy="14121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00393">
                  <a:extLst>
                    <a:ext uri="{9D8B030D-6E8A-4147-A177-3AD203B41FA5}">
                      <a16:colId xmlns:a16="http://schemas.microsoft.com/office/drawing/2014/main" val="2894421045"/>
                    </a:ext>
                  </a:extLst>
                </a:gridCol>
                <a:gridCol w="4700393">
                  <a:extLst>
                    <a:ext uri="{9D8B030D-6E8A-4147-A177-3AD203B41FA5}">
                      <a16:colId xmlns:a16="http://schemas.microsoft.com/office/drawing/2014/main" val="2281688483"/>
                    </a:ext>
                  </a:extLst>
                </a:gridCol>
              </a:tblGrid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元注解名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说明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97160"/>
                  </a:ext>
                </a:extLst>
              </a:tr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@Target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指定了注解能在哪里使用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472175"/>
                  </a:ext>
                </a:extLst>
              </a:tr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@Retention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可以理解为保留时间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(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生命周期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)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3764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FF22388-6742-432F-86D4-4AFF8AAF4B0D}"/>
              </a:ext>
            </a:extLst>
          </p:cNvPr>
          <p:cNvSpPr txBox="1"/>
          <p:nvPr/>
        </p:nvSpPr>
        <p:spPr>
          <a:xfrm>
            <a:off x="576626" y="3200763"/>
            <a:ext cx="1084784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@Target: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用来标识注解使用的位置，如果没有使用该注解标识，则自定义的注解可以使用在任意位置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/>
              </a:rPr>
              <a:t> </a:t>
            </a:r>
            <a:endParaRPr lang="en-US" altLang="zh-CN" sz="1600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7A6441F-4311-685D-41D4-7F2E0C35C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8A36F5-F359-AEB6-2C2D-346AFF214353}"/>
              </a:ext>
            </a:extLst>
          </p:cNvPr>
          <p:cNvSpPr txBox="1"/>
          <p:nvPr/>
        </p:nvSpPr>
        <p:spPr>
          <a:xfrm>
            <a:off x="683489" y="3609688"/>
            <a:ext cx="7331957" cy="263726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可使用的值定义在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ElementType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枚举类中，常用值如下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TYPE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  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	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类，接口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FIELD  	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成员变量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METHOD 	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成员方法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PARAMETER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方法参数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CONSTRUCTOR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构造方法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/>
              </a:rPr>
              <a:t>LOCAL_VARIABLE	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/>
              </a:rPr>
              <a:t>局部变量</a:t>
            </a:r>
            <a:endParaRPr lang="zh-CN" altLang="zh-CN" sz="1600" dirty="0">
              <a:latin typeface="Consolas" panose="020B0609020204030204" pitchFamily="49" charset="0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910100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256D6F-7C1A-12B6-D038-0118B69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元注解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F22388-6742-432F-86D4-4AFF8AAF4B0D}"/>
              </a:ext>
            </a:extLst>
          </p:cNvPr>
          <p:cNvSpPr txBox="1"/>
          <p:nvPr/>
        </p:nvSpPr>
        <p:spPr>
          <a:xfrm>
            <a:off x="710880" y="3690161"/>
            <a:ext cx="1084784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@Retention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：用来标识注解的生命周期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(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有效范围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7A6441F-4311-685D-41D4-7F2E0C35C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8A36F5-F359-AEB6-2C2D-346AFF214353}"/>
              </a:ext>
            </a:extLst>
          </p:cNvPr>
          <p:cNvSpPr txBox="1"/>
          <p:nvPr/>
        </p:nvSpPr>
        <p:spPr>
          <a:xfrm>
            <a:off x="817743" y="4300857"/>
            <a:ext cx="10669962" cy="189859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可使用的值定义在 </a:t>
            </a:r>
            <a:r>
              <a:rPr lang="en-US" altLang="zh-CN" sz="1600" dirty="0" err="1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RetentionPolicy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枚举类中，常用值如下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1600" dirty="0">
              <a:solidFill>
                <a:srgbClr val="333333"/>
              </a:solidFill>
              <a:latin typeface="Consolas" panose="020B0609020204030204" pitchFamily="49" charset="0"/>
              <a:ea typeface="阿里巴巴普惠体" panose="00020600040101010101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SOURCE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：注解只作用在源码阶段，生成的字节码文件中不存在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CLASS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：注解作用在源码阶段，字节码文件阶段，运行阶段不存在，默认值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RUNTIME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：注解作用在源码阶段，字节码文件阶段，运行阶段</a:t>
            </a:r>
            <a:endParaRPr lang="zh-CN" altLang="zh-CN" sz="1600" dirty="0">
              <a:latin typeface="Consolas" panose="020B0609020204030204" pitchFamily="49" charset="0"/>
              <a:ea typeface="阿里巴巴普惠体" panose="00020600040101010101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FE3F0E-3285-016E-A9E3-12762C7F0AAA}"/>
              </a:ext>
            </a:extLst>
          </p:cNvPr>
          <p:cNvSpPr txBox="1"/>
          <p:nvPr/>
        </p:nvSpPr>
        <p:spPr>
          <a:xfrm>
            <a:off x="576626" y="1178934"/>
            <a:ext cx="91966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元注解就是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用在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</a:t>
            </a:r>
            <a:r>
              <a:rPr lang="zh-CN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上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/>
                <a:cs typeface="Open Sans" panose="020B0606030504020204" pitchFamily="34" charset="0"/>
              </a:rPr>
              <a:t>注解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/>
              </a:rPr>
              <a:t>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109FEA3-E0B4-DFD0-1753-5600C301F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528146"/>
              </p:ext>
            </p:extLst>
          </p:nvPr>
        </p:nvGraphicFramePr>
        <p:xfrm>
          <a:off x="683489" y="1613785"/>
          <a:ext cx="9400786" cy="14121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00393">
                  <a:extLst>
                    <a:ext uri="{9D8B030D-6E8A-4147-A177-3AD203B41FA5}">
                      <a16:colId xmlns:a16="http://schemas.microsoft.com/office/drawing/2014/main" val="2894421045"/>
                    </a:ext>
                  </a:extLst>
                </a:gridCol>
                <a:gridCol w="4700393">
                  <a:extLst>
                    <a:ext uri="{9D8B030D-6E8A-4147-A177-3AD203B41FA5}">
                      <a16:colId xmlns:a16="http://schemas.microsoft.com/office/drawing/2014/main" val="2281688483"/>
                    </a:ext>
                  </a:extLst>
                </a:gridCol>
              </a:tblGrid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元注解名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说明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97160"/>
                  </a:ext>
                </a:extLst>
              </a:tr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@Target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指定了注解能在哪里使用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472175"/>
                  </a:ext>
                </a:extLst>
              </a:tr>
              <a:tr h="4707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阿里巴巴普惠体" panose="00020600040101010101"/>
                        </a:rPr>
                        <a:t>@Retention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可以理解为保留时间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(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生命周期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)</a:t>
                      </a:r>
                      <a:endParaRPr lang="zh-CN" altLang="en-US" sz="1600" dirty="0">
                        <a:latin typeface="Consolas" panose="020B0609020204030204" pitchFamily="49" charset="0"/>
                        <a:ea typeface="阿里巴巴普惠体" panose="0002060004010101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37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074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FEDB0A5-2240-6885-D744-8889EE79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57384C8-2CDC-D251-833F-E20DEE26DC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5472" y="2267199"/>
            <a:ext cx="5634223" cy="2755562"/>
          </a:xfrm>
        </p:spPr>
        <p:txBody>
          <a:bodyPr anchor="t"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枚举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类加载器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反射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注解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动态代理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94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1932-CE33-A39F-8B9D-CC273FC7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D2116D-87DC-8F18-F4A1-76354C871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动态代理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126086B-4DC9-86DA-05FA-E282C17366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643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5C21-77BE-068B-735E-F1891F56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997B471-0832-3A7C-6602-BEE2E125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6CE7DC5-C2A6-745A-6006-917711E23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07861E97-EACA-AA6B-D96A-E1B91755521D}"/>
              </a:ext>
            </a:extLst>
          </p:cNvPr>
          <p:cNvSpPr txBox="1">
            <a:spLocks/>
          </p:cNvSpPr>
          <p:nvPr/>
        </p:nvSpPr>
        <p:spPr>
          <a:xfrm>
            <a:off x="576197" y="956241"/>
            <a:ext cx="11060481" cy="6123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动态代理是对象的另外一种创建方式，这种方式可以在不修改源码的情况下，增强方法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29591176-F1D7-602A-0717-4E8A16F05381}"/>
              </a:ext>
            </a:extLst>
          </p:cNvPr>
          <p:cNvSpPr/>
          <p:nvPr/>
        </p:nvSpPr>
        <p:spPr>
          <a:xfrm>
            <a:off x="685666" y="1872579"/>
            <a:ext cx="2476097" cy="474415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 d = new Dog();</a:t>
            </a:r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流程图: 文档 5">
            <a:extLst>
              <a:ext uri="{FF2B5EF4-FFF2-40B4-BE49-F238E27FC236}">
                <a16:creationId xmlns:a16="http://schemas.microsoft.com/office/drawing/2014/main" id="{CA91EAC8-FBC1-771E-7508-EBDEAAE79E48}"/>
              </a:ext>
            </a:extLst>
          </p:cNvPr>
          <p:cNvSpPr/>
          <p:nvPr/>
        </p:nvSpPr>
        <p:spPr>
          <a:xfrm>
            <a:off x="685664" y="3289837"/>
            <a:ext cx="4974601" cy="512541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Dog.class.getConstructor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().</a:t>
            </a: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newInstance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ABF9B5F3-0FFF-D779-5916-C79FB4667969}"/>
              </a:ext>
            </a:extLst>
          </p:cNvPr>
          <p:cNvSpPr/>
          <p:nvPr/>
        </p:nvSpPr>
        <p:spPr>
          <a:xfrm>
            <a:off x="685665" y="2581208"/>
            <a:ext cx="2875343" cy="474415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Animal a = new Dog();</a:t>
            </a:r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AEE2B22-B4DF-E5BE-26EF-369503A4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737" y="2803119"/>
            <a:ext cx="4400776" cy="1485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E4F6D5F-C17C-620D-B5EC-79BFD2B657D5}"/>
              </a:ext>
            </a:extLst>
          </p:cNvPr>
          <p:cNvSpPr txBox="1"/>
          <p:nvPr/>
        </p:nvSpPr>
        <p:spPr>
          <a:xfrm>
            <a:off x="7447334" y="2044155"/>
            <a:ext cx="2569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计算 </a:t>
            </a:r>
            <a:r>
              <a:rPr lang="en-US" altLang="zh-CN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add </a:t>
            </a:r>
            <a:r>
              <a:rPr lang="zh-CN" altLang="en-US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方法耗时</a:t>
            </a:r>
            <a:endParaRPr lang="en-US" altLang="zh-CN" sz="2400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C82ADF6-F5BD-67F6-0714-BCA42B8C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46" y="2633856"/>
            <a:ext cx="4870700" cy="2762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58BF363-FCE1-0419-68F8-F9946530C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69" y="2561175"/>
            <a:ext cx="5181866" cy="3873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D6C2BB1-E3EE-E61B-CD29-D5884C241086}"/>
              </a:ext>
            </a:extLst>
          </p:cNvPr>
          <p:cNvSpPr/>
          <p:nvPr/>
        </p:nvSpPr>
        <p:spPr>
          <a:xfrm>
            <a:off x="6915955" y="4726546"/>
            <a:ext cx="1584101" cy="83896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5B3A19E-3FD3-2038-2F82-9B5BE42F0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744" y="3097416"/>
            <a:ext cx="5239019" cy="35561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8952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151E-A36F-FB85-F2EF-C615C5FC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77F0A90-4420-93CE-2BD5-E5D54B8E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8BC1105-84AB-EF69-7624-1DC7C5AAB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7E157A-AF04-C1EA-753C-EF87F6052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819" y="1171977"/>
            <a:ext cx="1821261" cy="25670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5E905C3-C62F-8162-CB26-A44CD4DB7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86919" y="3580326"/>
            <a:ext cx="1821262" cy="3013304"/>
          </a:xfrm>
          <a:prstGeom prst="rect">
            <a:avLst/>
          </a:prstGeom>
        </p:spPr>
      </p:pic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2936E66A-4E10-A361-F78F-A4C391F76738}"/>
              </a:ext>
            </a:extLst>
          </p:cNvPr>
          <p:cNvSpPr/>
          <p:nvPr/>
        </p:nvSpPr>
        <p:spPr>
          <a:xfrm>
            <a:off x="8487177" y="3739037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2A9089DC-AD26-39F8-AB7D-0BA4826EF310}"/>
              </a:ext>
            </a:extLst>
          </p:cNvPr>
          <p:cNvSpPr/>
          <p:nvPr/>
        </p:nvSpPr>
        <p:spPr>
          <a:xfrm>
            <a:off x="8487177" y="4260454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F7548CE2-F87B-8F74-41DB-646EA3EDDA18}"/>
              </a:ext>
            </a:extLst>
          </p:cNvPr>
          <p:cNvSpPr/>
          <p:nvPr/>
        </p:nvSpPr>
        <p:spPr>
          <a:xfrm flipH="1">
            <a:off x="2005081" y="1445623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790824F2-AB62-76D7-E5DD-54793D74CDE4}"/>
              </a:ext>
            </a:extLst>
          </p:cNvPr>
          <p:cNvSpPr/>
          <p:nvPr/>
        </p:nvSpPr>
        <p:spPr>
          <a:xfrm flipH="1">
            <a:off x="2005080" y="2033693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9A16D38-5059-D98E-90C2-4BB6BB230C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7177" y="4725862"/>
            <a:ext cx="1390918" cy="97183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8AED90C-0D28-7CD6-5F7C-28BFA8033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00810" y="4601060"/>
            <a:ext cx="1390918" cy="97183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6A09CCE-0A12-977C-554E-36DE4FCE55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6568" y="2641071"/>
            <a:ext cx="1390918" cy="97183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61605E9-5F4A-DB46-A3FD-ABAE9A818D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0201" y="2516269"/>
            <a:ext cx="1390918" cy="97183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808E3B9-86E4-F577-5F85-7A3598ED6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7476" y="2956604"/>
            <a:ext cx="1390918" cy="97183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0E41850-DF40-A09F-3875-4C4034967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9" y="2831802"/>
            <a:ext cx="1390918" cy="97183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632C5E5-90D2-6345-78D6-C227217D34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80" b="93680" l="2857" r="94416">
                        <a14:foregroundMark x1="6623" y1="54089" x2="18961" y2="75836"/>
                        <a14:foregroundMark x1="18961" y1="75836" x2="34675" y2="79182"/>
                        <a14:foregroundMark x1="34675" y1="79182" x2="74935" y2="59851"/>
                        <a14:foregroundMark x1="74935" y1="59851" x2="85195" y2="47398"/>
                        <a14:foregroundMark x1="85195" y1="47398" x2="90390" y2="32900"/>
                        <a14:foregroundMark x1="92468" y1="35874" x2="92727" y2="45725"/>
                        <a14:foregroundMark x1="94416" y1="42751" x2="36104" y2="83086"/>
                        <a14:foregroundMark x1="36104" y1="83086" x2="25195" y2="87546"/>
                        <a14:foregroundMark x1="25195" y1="87546" x2="7273" y2="64126"/>
                        <a14:foregroundMark x1="7273" y1="64126" x2="15325" y2="82714"/>
                        <a14:foregroundMark x1="15325" y1="82714" x2="27143" y2="87175"/>
                        <a14:foregroundMark x1="27143" y1="87175" x2="20519" y2="79926"/>
                        <a14:foregroundMark x1="8571" y1="65242" x2="9351" y2="78067"/>
                        <a14:foregroundMark x1="4935" y1="63755" x2="18571" y2="81413"/>
                        <a14:foregroundMark x1="18571" y1="81413" x2="33247" y2="84201"/>
                        <a14:foregroundMark x1="33247" y1="84201" x2="43247" y2="82342"/>
                        <a14:foregroundMark x1="81429" y1="54647" x2="34286" y2="84944"/>
                        <a14:foregroundMark x1="93766" y1="38290" x2="88182" y2="52045"/>
                        <a14:foregroundMark x1="94805" y1="45725" x2="78961" y2="53346"/>
                        <a14:foregroundMark x1="23766" y1="90149" x2="32597" y2="92751"/>
                        <a14:foregroundMark x1="39610" y1="87175" x2="66623" y2="64498"/>
                        <a14:foregroundMark x1="56104" y1="71561" x2="32208" y2="94052"/>
                        <a14:foregroundMark x1="4805" y1="55390" x2="4286" y2="76022"/>
                        <a14:foregroundMark x1="4286" y1="76022" x2="8182" y2="78810"/>
                        <a14:foregroundMark x1="3896" y1="63197" x2="2857" y2="695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5652" y="2798838"/>
            <a:ext cx="1390918" cy="97183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F8FED166-6C79-1365-E81C-BBBEF1FCD5D6}"/>
              </a:ext>
            </a:extLst>
          </p:cNvPr>
          <p:cNvSpPr txBox="1"/>
          <p:nvPr/>
        </p:nvSpPr>
        <p:spPr>
          <a:xfrm>
            <a:off x="3866509" y="1612484"/>
            <a:ext cx="3860815" cy="47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在</a:t>
            </a:r>
            <a:r>
              <a:rPr lang="zh-CN" altLang="en-US" sz="2400" dirty="0">
                <a:solidFill>
                  <a:srgbClr val="AD2B26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原有功能</a:t>
            </a:r>
            <a:r>
              <a:rPr lang="zh-CN" altLang="en-US" sz="24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基础上进行增强</a:t>
            </a:r>
            <a:endParaRPr lang="en-US" altLang="zh-CN" sz="2400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925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3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E0DC-4D68-FA6B-8B36-0800BEF1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3D69EBE-4198-904B-80A2-484BA817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A8EFF42-ED86-7AB0-379D-39C175F3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DD4AB3-E9E1-A9EB-210C-2155A409F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774" y="2296796"/>
            <a:ext cx="1821261" cy="25670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1588CC7-3AC9-EE79-6A30-A89707FC3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916" y="2305298"/>
            <a:ext cx="1821262" cy="3013304"/>
          </a:xfrm>
          <a:prstGeom prst="rect">
            <a:avLst/>
          </a:prstGeom>
        </p:spPr>
      </p:pic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5D754173-1E2F-6094-E54B-632231DB49E5}"/>
              </a:ext>
            </a:extLst>
          </p:cNvPr>
          <p:cNvSpPr/>
          <p:nvPr/>
        </p:nvSpPr>
        <p:spPr>
          <a:xfrm>
            <a:off x="8145886" y="2914787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867988FA-63C4-0DF5-E744-7802A3DA088D}"/>
              </a:ext>
            </a:extLst>
          </p:cNvPr>
          <p:cNvSpPr/>
          <p:nvPr/>
        </p:nvSpPr>
        <p:spPr>
          <a:xfrm>
            <a:off x="8145886" y="3436204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DF5248A9-6D3D-01C6-9174-CADFB88AB9E1}"/>
              </a:ext>
            </a:extLst>
          </p:cNvPr>
          <p:cNvSpPr/>
          <p:nvPr/>
        </p:nvSpPr>
        <p:spPr>
          <a:xfrm flipH="1">
            <a:off x="2063036" y="3223880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39F469B8-CD43-F0E9-6EEB-B4476B2D5D12}"/>
              </a:ext>
            </a:extLst>
          </p:cNvPr>
          <p:cNvSpPr/>
          <p:nvPr/>
        </p:nvSpPr>
        <p:spPr>
          <a:xfrm flipH="1">
            <a:off x="2063035" y="3811950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A62BA46-2CE5-6EA9-1BE3-3B57BF8EE95A}"/>
              </a:ext>
            </a:extLst>
          </p:cNvPr>
          <p:cNvSpPr/>
          <p:nvPr/>
        </p:nvSpPr>
        <p:spPr>
          <a:xfrm>
            <a:off x="8145886" y="3957621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代驾</a:t>
            </a: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5D4ACEEE-F68C-9EAF-ED29-B0E1B364CE47}"/>
              </a:ext>
            </a:extLst>
          </p:cNvPr>
          <p:cNvSpPr/>
          <p:nvPr/>
        </p:nvSpPr>
        <p:spPr>
          <a:xfrm>
            <a:off x="8145886" y="4479038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喂养宠物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595E02-A461-903F-7B46-7998FD1F2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788" y="1966240"/>
            <a:ext cx="3511858" cy="35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8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EDD0-F7F5-F0BB-7F80-2113F4BC8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6708CBD-0F8A-3B18-9717-460713CA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0E51D2A7-3F77-0292-59D2-C3CB4DEA8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715513-9A03-3344-A3A2-60A53038B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774" y="2296796"/>
            <a:ext cx="1821261" cy="25670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D71E6E3-7F49-394D-B57D-5E93A52B5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916" y="2305298"/>
            <a:ext cx="1821262" cy="3013304"/>
          </a:xfrm>
          <a:prstGeom prst="rect">
            <a:avLst/>
          </a:prstGeom>
        </p:spPr>
      </p:pic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5D9B80CC-4DA9-601A-0CC5-8DF9629722ED}"/>
              </a:ext>
            </a:extLst>
          </p:cNvPr>
          <p:cNvSpPr/>
          <p:nvPr/>
        </p:nvSpPr>
        <p:spPr>
          <a:xfrm>
            <a:off x="8145886" y="2914787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896A5D6C-A588-F230-D4E5-EF655D8B1D52}"/>
              </a:ext>
            </a:extLst>
          </p:cNvPr>
          <p:cNvSpPr/>
          <p:nvPr/>
        </p:nvSpPr>
        <p:spPr>
          <a:xfrm>
            <a:off x="8145886" y="3436204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10B59AB2-C99F-E877-F56E-4144D22ABCED}"/>
              </a:ext>
            </a:extLst>
          </p:cNvPr>
          <p:cNvSpPr/>
          <p:nvPr/>
        </p:nvSpPr>
        <p:spPr>
          <a:xfrm flipH="1">
            <a:off x="2063036" y="3223880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售卖房产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34FC778E-6E9B-3B97-40BD-C4DBFF795454}"/>
              </a:ext>
            </a:extLst>
          </p:cNvPr>
          <p:cNvSpPr/>
          <p:nvPr/>
        </p:nvSpPr>
        <p:spPr>
          <a:xfrm flipH="1">
            <a:off x="2063035" y="3811950"/>
            <a:ext cx="1448873" cy="356446"/>
          </a:xfrm>
          <a:prstGeom prst="homePlat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房屋出租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38BA142-4671-2BCC-1059-7BB454E26B5C}"/>
              </a:ext>
            </a:extLst>
          </p:cNvPr>
          <p:cNvSpPr/>
          <p:nvPr/>
        </p:nvSpPr>
        <p:spPr>
          <a:xfrm>
            <a:off x="8145886" y="3957621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代驾</a:t>
            </a: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0AA580BF-2EDF-F18A-9CD4-6D60AE10CD15}"/>
              </a:ext>
            </a:extLst>
          </p:cNvPr>
          <p:cNvSpPr/>
          <p:nvPr/>
        </p:nvSpPr>
        <p:spPr>
          <a:xfrm>
            <a:off x="8145886" y="4479038"/>
            <a:ext cx="1390918" cy="309093"/>
          </a:xfrm>
          <a:prstGeom prst="homePlat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喂养宠物</a:t>
            </a:r>
          </a:p>
        </p:txBody>
      </p:sp>
      <p:grpSp>
        <p:nvGrpSpPr>
          <p:cNvPr id="5" name="!!组合 2">
            <a:extLst>
              <a:ext uri="{FF2B5EF4-FFF2-40B4-BE49-F238E27FC236}">
                <a16:creationId xmlns:a16="http://schemas.microsoft.com/office/drawing/2014/main" id="{FA9210A2-A62B-8616-252B-F683E5011EC0}"/>
              </a:ext>
            </a:extLst>
          </p:cNvPr>
          <p:cNvGrpSpPr/>
          <p:nvPr/>
        </p:nvGrpSpPr>
        <p:grpSpPr>
          <a:xfrm>
            <a:off x="3988965" y="2838827"/>
            <a:ext cx="3494466" cy="1503845"/>
            <a:chOff x="2276436" y="3654112"/>
            <a:chExt cx="3850251" cy="145041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7F89872-878D-752A-7F59-8BBCA38F508E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interface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hire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6DD0EC50-A48D-2C5B-21E1-F416EB177B8A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390D00E-4265-301D-421D-345F214418D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763E258-7F88-1163-A099-2377474E8D4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84EEC4E-4589-1DB2-45E8-2FE085D6653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099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7F4F-4152-D5F8-C5C1-12001F97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B630BCF-3BA6-E7BF-9C0B-375D98B1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09C9BCD-BC66-8A28-46B7-1DC12EF0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BD4A513-92A1-0759-8325-A8078331E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731" y="3812278"/>
            <a:ext cx="1107785" cy="1832846"/>
          </a:xfrm>
          <a:prstGeom prst="rect">
            <a:avLst/>
          </a:prstGeom>
        </p:spPr>
      </p:pic>
      <p:grpSp>
        <p:nvGrpSpPr>
          <p:cNvPr id="5" name="!!组合 2">
            <a:extLst>
              <a:ext uri="{FF2B5EF4-FFF2-40B4-BE49-F238E27FC236}">
                <a16:creationId xmlns:a16="http://schemas.microsoft.com/office/drawing/2014/main" id="{F7F6C9F1-FC6C-8D56-BF6F-E8E1D497BF56}"/>
              </a:ext>
            </a:extLst>
          </p:cNvPr>
          <p:cNvGrpSpPr/>
          <p:nvPr/>
        </p:nvGrpSpPr>
        <p:grpSpPr>
          <a:xfrm>
            <a:off x="293265" y="1130815"/>
            <a:ext cx="3494466" cy="1503845"/>
            <a:chOff x="2276436" y="3654112"/>
            <a:chExt cx="3850251" cy="145041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A8982E2-D5F2-A50A-30ED-3AB8E5318CFB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interface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hire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FA7F8CD1-3053-3972-977F-F1014DC2FB83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12BCA77-AE03-9485-CA87-22DBAF7730C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7233EEF-CD9F-39D4-2718-E9FE9BDCEC0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204A2FC-07D7-DAF0-008E-C062C8922C8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5337C5DC-3FCD-DD25-8E31-EB0051699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63994BF-01CA-5B8D-0605-2A723B0E7D92}"/>
              </a:ext>
            </a:extLst>
          </p:cNvPr>
          <p:cNvSpPr/>
          <p:nvPr/>
        </p:nvSpPr>
        <p:spPr>
          <a:xfrm>
            <a:off x="1411138" y="3171952"/>
            <a:ext cx="4983312" cy="2920394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售卖房产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出租房产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4517B0C2-83C7-88A3-5428-5798D35D56FB}"/>
              </a:ext>
            </a:extLst>
          </p:cNvPr>
          <p:cNvSpPr/>
          <p:nvPr/>
        </p:nvSpPr>
        <p:spPr>
          <a:xfrm>
            <a:off x="1391814" y="316551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97C5522-F0E6-0526-92C5-7F33B4ECB709}"/>
              </a:ext>
            </a:extLst>
          </p:cNvPr>
          <p:cNvSpPr>
            <a:spLocks/>
          </p:cNvSpPr>
          <p:nvPr/>
        </p:nvSpPr>
        <p:spPr>
          <a:xfrm>
            <a:off x="1488806" y="324467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04C7556-BD5C-FF2F-8EE7-66116068F8A9}"/>
              </a:ext>
            </a:extLst>
          </p:cNvPr>
          <p:cNvSpPr>
            <a:spLocks/>
          </p:cNvSpPr>
          <p:nvPr/>
        </p:nvSpPr>
        <p:spPr>
          <a:xfrm>
            <a:off x="1865454" y="324757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BC6984E-397C-2AA7-861F-B862BDB9CE6E}"/>
              </a:ext>
            </a:extLst>
          </p:cNvPr>
          <p:cNvSpPr/>
          <p:nvPr/>
        </p:nvSpPr>
        <p:spPr>
          <a:xfrm>
            <a:off x="1677130" y="324467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9E92248-030E-7BEB-9A1F-F50BAE1E3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83C347B-9CE5-FE15-13D6-487290C71622}"/>
              </a:ext>
            </a:extLst>
          </p:cNvPr>
          <p:cNvSpPr/>
          <p:nvPr/>
        </p:nvSpPr>
        <p:spPr>
          <a:xfrm>
            <a:off x="6679767" y="1943721"/>
            <a:ext cx="4983312" cy="4850779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SaleImpl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SaleImpl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.sale(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.hire(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50FF02C2-5317-CD6D-68B0-555072FBC0D2}"/>
              </a:ext>
            </a:extLst>
          </p:cNvPr>
          <p:cNvSpPr/>
          <p:nvPr/>
        </p:nvSpPr>
        <p:spPr>
          <a:xfrm>
            <a:off x="6660443" y="193728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6AD0FB1-32FE-4366-45C1-B97C5D081935}"/>
              </a:ext>
            </a:extLst>
          </p:cNvPr>
          <p:cNvSpPr>
            <a:spLocks/>
          </p:cNvSpPr>
          <p:nvPr/>
        </p:nvSpPr>
        <p:spPr>
          <a:xfrm>
            <a:off x="6757435" y="201644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9EC5207-F659-FCC7-D5D4-1BE3412A46DB}"/>
              </a:ext>
            </a:extLst>
          </p:cNvPr>
          <p:cNvSpPr>
            <a:spLocks/>
          </p:cNvSpPr>
          <p:nvPr/>
        </p:nvSpPr>
        <p:spPr>
          <a:xfrm>
            <a:off x="7134083" y="201934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4DB649-7767-E957-6AC8-5D5E6F3934BB}"/>
              </a:ext>
            </a:extLst>
          </p:cNvPr>
          <p:cNvSpPr/>
          <p:nvPr/>
        </p:nvSpPr>
        <p:spPr>
          <a:xfrm>
            <a:off x="6945759" y="201644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BEE3A847-C3AD-8FA2-7330-C3234FAB7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0" name="!!组合 2">
            <a:extLst>
              <a:ext uri="{FF2B5EF4-FFF2-40B4-BE49-F238E27FC236}">
                <a16:creationId xmlns:a16="http://schemas.microsoft.com/office/drawing/2014/main" id="{F989F63E-CF6F-2AEE-3C7C-6404D7C5ADB3}"/>
              </a:ext>
            </a:extLst>
          </p:cNvPr>
          <p:cNvGrpSpPr/>
          <p:nvPr/>
        </p:nvGrpSpPr>
        <p:grpSpPr>
          <a:xfrm>
            <a:off x="6353032" y="228600"/>
            <a:ext cx="3494466" cy="1503845"/>
            <a:chOff x="2276436" y="3654112"/>
            <a:chExt cx="3850251" cy="1450415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A284A4B3-0552-2DAB-AD5B-7CD7C7453D93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 owner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sale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SaleImpl(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.sale(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1000000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.hire(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3000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42" name="矩形: 圆顶角 41">
              <a:extLst>
                <a:ext uri="{FF2B5EF4-FFF2-40B4-BE49-F238E27FC236}">
                  <a16:creationId xmlns:a16="http://schemas.microsoft.com/office/drawing/2014/main" id="{0262B120-4241-827A-ED3C-3B57B5376EAF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581A084-2172-06BF-95B0-24B1DB34E82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E05A275-899B-B5A8-7C4B-DE084EADD3A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034271B5-D967-B10C-62D7-96E787C5330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Rectangle 5">
            <a:extLst>
              <a:ext uri="{FF2B5EF4-FFF2-40B4-BE49-F238E27FC236}">
                <a16:creationId xmlns:a16="http://schemas.microsoft.com/office/drawing/2014/main" id="{DE53354D-E475-EA1C-566B-DABC6CF4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EF8680D3-A2EF-EEB1-E7A0-1159D16F67C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72697" y="317010"/>
            <a:ext cx="879073" cy="5659815"/>
          </a:xfrm>
          <a:prstGeom prst="curvedConnector3">
            <a:avLst>
              <a:gd name="adj1" fmla="val 126005"/>
            </a:avLst>
          </a:prstGeom>
          <a:ln w="38100">
            <a:solidFill>
              <a:schemeClr val="tx1">
                <a:lumMod val="50000"/>
              </a:schemeClr>
            </a:solidFill>
            <a:prstDash val="lgDash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E71088DA-9372-E15F-AF01-5A89D56AD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5247" y="1299234"/>
            <a:ext cx="1107785" cy="1561418"/>
          </a:xfrm>
          <a:prstGeom prst="rect">
            <a:avLst/>
          </a:prstGeom>
        </p:spPr>
      </p:pic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F875EE0-E5FD-4A29-8991-442105901BEC}"/>
              </a:ext>
            </a:extLst>
          </p:cNvPr>
          <p:cNvSpPr/>
          <p:nvPr/>
        </p:nvSpPr>
        <p:spPr>
          <a:xfrm>
            <a:off x="7244737" y="4150035"/>
            <a:ext cx="1632563" cy="375430"/>
          </a:xfrm>
          <a:prstGeom prst="roundRect">
            <a:avLst/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0FED5B1-56FD-5FB7-FB58-1EECE7B1BCD5}"/>
              </a:ext>
            </a:extLst>
          </p:cNvPr>
          <p:cNvSpPr/>
          <p:nvPr/>
        </p:nvSpPr>
        <p:spPr>
          <a:xfrm>
            <a:off x="7244738" y="4525465"/>
            <a:ext cx="1632562" cy="375430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714F4CA-4C97-F06E-2F63-7CA4FB74CCEE}"/>
              </a:ext>
            </a:extLst>
          </p:cNvPr>
          <p:cNvSpPr/>
          <p:nvPr/>
        </p:nvSpPr>
        <p:spPr>
          <a:xfrm>
            <a:off x="7244736" y="5641567"/>
            <a:ext cx="1632563" cy="375430"/>
          </a:xfrm>
          <a:prstGeom prst="roundRect">
            <a:avLst/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F7C2297-CFEC-5A15-1302-C48E71DF0650}"/>
              </a:ext>
            </a:extLst>
          </p:cNvPr>
          <p:cNvSpPr/>
          <p:nvPr/>
        </p:nvSpPr>
        <p:spPr>
          <a:xfrm>
            <a:off x="7244736" y="6021352"/>
            <a:ext cx="1632562" cy="375430"/>
          </a:xfrm>
          <a:prstGeom prst="roundRect">
            <a:avLst/>
          </a:prstGeom>
          <a:noFill/>
          <a:ln w="254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53DCE47-99FD-D27E-5E72-1B278E2A7624}"/>
              </a:ext>
            </a:extLst>
          </p:cNvPr>
          <p:cNvSpPr txBox="1"/>
          <p:nvPr/>
        </p:nvSpPr>
        <p:spPr>
          <a:xfrm>
            <a:off x="9161760" y="4128303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代理对象对功能增强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B2C5E7F-B154-6FD8-A485-FF02E4167D4B}"/>
              </a:ext>
            </a:extLst>
          </p:cNvPr>
          <p:cNvSpPr txBox="1"/>
          <p:nvPr/>
        </p:nvSpPr>
        <p:spPr>
          <a:xfrm>
            <a:off x="8342141" y="4974061"/>
            <a:ext cx="316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被代理对象处理执行原有功能</a:t>
            </a:r>
          </a:p>
        </p:txBody>
      </p:sp>
    </p:spTree>
    <p:extLst>
      <p:ext uri="{BB962C8B-B14F-4D97-AF65-F5344CB8AC3E}">
        <p14:creationId xmlns:p14="http://schemas.microsoft.com/office/powerpoint/2010/main" val="2512530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51" grpId="0" animBg="1"/>
      <p:bldP spid="52" grpId="0" animBg="1"/>
      <p:bldP spid="56" grpId="0"/>
      <p:bldP spid="5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652D3-B898-57F2-747A-731CD209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6295233-FE5E-96DE-6485-4D512EC9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1C484FE-F678-CB45-B71B-2FA35AD47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34FA781-6F6C-DE5A-C8F5-649566824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731" y="3812278"/>
            <a:ext cx="1107785" cy="1832846"/>
          </a:xfrm>
          <a:prstGeom prst="rect">
            <a:avLst/>
          </a:prstGeom>
        </p:spPr>
      </p:pic>
      <p:grpSp>
        <p:nvGrpSpPr>
          <p:cNvPr id="5" name="!!组合 2">
            <a:extLst>
              <a:ext uri="{FF2B5EF4-FFF2-40B4-BE49-F238E27FC236}">
                <a16:creationId xmlns:a16="http://schemas.microsoft.com/office/drawing/2014/main" id="{42E8FC63-1236-051E-A953-868610833F92}"/>
              </a:ext>
            </a:extLst>
          </p:cNvPr>
          <p:cNvGrpSpPr/>
          <p:nvPr/>
        </p:nvGrpSpPr>
        <p:grpSpPr>
          <a:xfrm>
            <a:off x="293265" y="1130815"/>
            <a:ext cx="3494466" cy="1503845"/>
            <a:chOff x="2276436" y="3654112"/>
            <a:chExt cx="3850251" cy="145041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C9A91CC-70A5-A2B1-C83A-C66A5C74460E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interface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hire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A31F14B1-A9A1-39C2-5A50-B66CA09D9892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1AD6333-3387-72F2-6F1A-1EE7816B38A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1DF5BA7-284D-0F7C-2F54-25B09817172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53D5E84-F1B3-04F6-5911-5FF080DEEC8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BE28864-99A3-FD8E-C05C-DE595C13E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5E3C9C8-16FC-FA84-43AE-AA3932040E7A}"/>
              </a:ext>
            </a:extLst>
          </p:cNvPr>
          <p:cNvSpPr/>
          <p:nvPr/>
        </p:nvSpPr>
        <p:spPr>
          <a:xfrm>
            <a:off x="1411138" y="3171952"/>
            <a:ext cx="4983312" cy="2920394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售卖房产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出租房产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9F9FFB90-DFAC-247D-2A0D-924378212632}"/>
              </a:ext>
            </a:extLst>
          </p:cNvPr>
          <p:cNvSpPr/>
          <p:nvPr/>
        </p:nvSpPr>
        <p:spPr>
          <a:xfrm>
            <a:off x="1391814" y="316551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099FA17-56DE-C554-3B62-DCFFC7163150}"/>
              </a:ext>
            </a:extLst>
          </p:cNvPr>
          <p:cNvSpPr>
            <a:spLocks/>
          </p:cNvSpPr>
          <p:nvPr/>
        </p:nvSpPr>
        <p:spPr>
          <a:xfrm>
            <a:off x="1488806" y="324467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E9C88B4-897E-BEA2-4957-E1188A2D347A}"/>
              </a:ext>
            </a:extLst>
          </p:cNvPr>
          <p:cNvSpPr>
            <a:spLocks/>
          </p:cNvSpPr>
          <p:nvPr/>
        </p:nvSpPr>
        <p:spPr>
          <a:xfrm>
            <a:off x="1865454" y="324757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C9ABDCA-D8C7-FCF1-0AC7-5688C190DD7F}"/>
              </a:ext>
            </a:extLst>
          </p:cNvPr>
          <p:cNvSpPr/>
          <p:nvPr/>
        </p:nvSpPr>
        <p:spPr>
          <a:xfrm>
            <a:off x="1677130" y="324467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BC507B1A-E78C-DB8C-490D-075ECE313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93819C-D7C1-5B6D-4EBA-33347BF899C3}"/>
              </a:ext>
            </a:extLst>
          </p:cNvPr>
          <p:cNvSpPr/>
          <p:nvPr/>
        </p:nvSpPr>
        <p:spPr>
          <a:xfrm>
            <a:off x="6679767" y="1943721"/>
            <a:ext cx="4983312" cy="4850779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SaleImpl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SaleImpl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.sale(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.hire(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矩形: 圆顶角 34">
            <a:extLst>
              <a:ext uri="{FF2B5EF4-FFF2-40B4-BE49-F238E27FC236}">
                <a16:creationId xmlns:a16="http://schemas.microsoft.com/office/drawing/2014/main" id="{FF6547FA-57EB-9891-088A-0CE8A9CF93D7}"/>
              </a:ext>
            </a:extLst>
          </p:cNvPr>
          <p:cNvSpPr/>
          <p:nvPr/>
        </p:nvSpPr>
        <p:spPr>
          <a:xfrm>
            <a:off x="6660443" y="193728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3D13A9A-80E9-E09E-D20C-FEE848121FF7}"/>
              </a:ext>
            </a:extLst>
          </p:cNvPr>
          <p:cNvSpPr>
            <a:spLocks/>
          </p:cNvSpPr>
          <p:nvPr/>
        </p:nvSpPr>
        <p:spPr>
          <a:xfrm>
            <a:off x="6757435" y="201644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0705491-8CC1-4CCE-DDC3-283C8DDDB8A6}"/>
              </a:ext>
            </a:extLst>
          </p:cNvPr>
          <p:cNvSpPr>
            <a:spLocks/>
          </p:cNvSpPr>
          <p:nvPr/>
        </p:nvSpPr>
        <p:spPr>
          <a:xfrm>
            <a:off x="7134083" y="201934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C4AF99C-4C3B-6CA8-B733-88CCBA0455EA}"/>
              </a:ext>
            </a:extLst>
          </p:cNvPr>
          <p:cNvSpPr/>
          <p:nvPr/>
        </p:nvSpPr>
        <p:spPr>
          <a:xfrm>
            <a:off x="6945759" y="201644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58B9FF17-8C6E-B1DC-2D88-A331347CE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0" name="!!组合 2">
            <a:extLst>
              <a:ext uri="{FF2B5EF4-FFF2-40B4-BE49-F238E27FC236}">
                <a16:creationId xmlns:a16="http://schemas.microsoft.com/office/drawing/2014/main" id="{CF4EC69D-2692-BF49-5EC1-0DA69E6AE4AF}"/>
              </a:ext>
            </a:extLst>
          </p:cNvPr>
          <p:cNvGrpSpPr/>
          <p:nvPr/>
        </p:nvGrpSpPr>
        <p:grpSpPr>
          <a:xfrm>
            <a:off x="6353032" y="228600"/>
            <a:ext cx="3494466" cy="1503845"/>
            <a:chOff x="2276436" y="3654112"/>
            <a:chExt cx="3850251" cy="1450415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0CF7877C-CE1F-2695-EB8B-BBFCDD97C4B8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 owner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sale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SaleImpl(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owner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.sale(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1000000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.hire(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3000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42" name="矩形: 圆顶角 41">
              <a:extLst>
                <a:ext uri="{FF2B5EF4-FFF2-40B4-BE49-F238E27FC236}">
                  <a16:creationId xmlns:a16="http://schemas.microsoft.com/office/drawing/2014/main" id="{8B063288-E888-ECEC-FF38-76EBE9441E56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A37B1453-8908-B89D-DE5A-AA615BABEE6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59D533F3-C0B4-F6CC-755B-D0D0E9E5E6A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03A2B4A-FBCB-4405-EA41-743CB547599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Rectangle 5">
            <a:extLst>
              <a:ext uri="{FF2B5EF4-FFF2-40B4-BE49-F238E27FC236}">
                <a16:creationId xmlns:a16="http://schemas.microsoft.com/office/drawing/2014/main" id="{2E532D4D-D943-4CEF-35B3-C57F44E31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CC79638-EB36-ADBA-F503-87E4929DFD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5247" y="1299234"/>
            <a:ext cx="1107785" cy="156141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D5C0D72-95A7-10DF-EB1A-A1C1668E4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907" y="4057638"/>
            <a:ext cx="1107785" cy="1832846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C30AF89-ED67-5270-D2B6-FDB3B58638E1}"/>
              </a:ext>
            </a:extLst>
          </p:cNvPr>
          <p:cNvSpPr/>
          <p:nvPr/>
        </p:nvSpPr>
        <p:spPr>
          <a:xfrm>
            <a:off x="1596300" y="3800590"/>
            <a:ext cx="4983312" cy="2920394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售卖房产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出租房产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CB3B8BAF-EBFD-671F-1ED6-F457D7CDB4A2}"/>
              </a:ext>
            </a:extLst>
          </p:cNvPr>
          <p:cNvSpPr/>
          <p:nvPr/>
        </p:nvSpPr>
        <p:spPr>
          <a:xfrm>
            <a:off x="1576976" y="3794149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FCE75F5-5B46-138E-C425-69E43E680EFF}"/>
              </a:ext>
            </a:extLst>
          </p:cNvPr>
          <p:cNvSpPr>
            <a:spLocks/>
          </p:cNvSpPr>
          <p:nvPr/>
        </p:nvSpPr>
        <p:spPr>
          <a:xfrm>
            <a:off x="1673968" y="3873311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572F840-BE38-6ADD-172B-A0681511FA5F}"/>
              </a:ext>
            </a:extLst>
          </p:cNvPr>
          <p:cNvSpPr>
            <a:spLocks/>
          </p:cNvSpPr>
          <p:nvPr/>
        </p:nvSpPr>
        <p:spPr>
          <a:xfrm>
            <a:off x="2050616" y="3876210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4A199A8-DDC7-497B-73A9-C2F41AEB3ABC}"/>
              </a:ext>
            </a:extLst>
          </p:cNvPr>
          <p:cNvSpPr/>
          <p:nvPr/>
        </p:nvSpPr>
        <p:spPr>
          <a:xfrm>
            <a:off x="1862292" y="3873311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7B13CCC-DEE3-6459-811C-E6C0E018EED9}"/>
              </a:ext>
            </a:extLst>
          </p:cNvPr>
          <p:cNvSpPr/>
          <p:nvPr/>
        </p:nvSpPr>
        <p:spPr>
          <a:xfrm>
            <a:off x="6945759" y="2540176"/>
            <a:ext cx="4486653" cy="4007163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SaleImpl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SaleImpl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.sale(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.hire(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矩形: 圆顶角 24">
            <a:extLst>
              <a:ext uri="{FF2B5EF4-FFF2-40B4-BE49-F238E27FC236}">
                <a16:creationId xmlns:a16="http://schemas.microsoft.com/office/drawing/2014/main" id="{B5985B94-D2B2-1E00-59F5-48AFD44AC175}"/>
              </a:ext>
            </a:extLst>
          </p:cNvPr>
          <p:cNvSpPr/>
          <p:nvPr/>
        </p:nvSpPr>
        <p:spPr>
          <a:xfrm>
            <a:off x="6926435" y="2533736"/>
            <a:ext cx="4505977" cy="234061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B9C2C30-E95B-BDC4-012F-BF31A7D4E4F0}"/>
              </a:ext>
            </a:extLst>
          </p:cNvPr>
          <p:cNvSpPr>
            <a:spLocks/>
          </p:cNvSpPr>
          <p:nvPr/>
        </p:nvSpPr>
        <p:spPr>
          <a:xfrm>
            <a:off x="7056413" y="260381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2A1EE3D-7F08-AD2A-4AAE-00EBE8C07978}"/>
              </a:ext>
            </a:extLst>
          </p:cNvPr>
          <p:cNvSpPr>
            <a:spLocks/>
          </p:cNvSpPr>
          <p:nvPr/>
        </p:nvSpPr>
        <p:spPr>
          <a:xfrm>
            <a:off x="7433061" y="260671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6EB94F8-4551-AFE5-4EDE-127811D80196}"/>
              </a:ext>
            </a:extLst>
          </p:cNvPr>
          <p:cNvSpPr/>
          <p:nvPr/>
        </p:nvSpPr>
        <p:spPr>
          <a:xfrm>
            <a:off x="7244737" y="260381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4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007F-E51B-5F5C-010C-365902CC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A870EC5-156F-96AA-2F4B-71C7E1D1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2A6ADAB-98CC-8040-94AE-AB7EA5D2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0DA376-9C21-198B-619E-FC8B895C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731" y="3812278"/>
            <a:ext cx="1107785" cy="1832846"/>
          </a:xfrm>
          <a:prstGeom prst="rect">
            <a:avLst/>
          </a:prstGeom>
        </p:spPr>
      </p:pic>
      <p:grpSp>
        <p:nvGrpSpPr>
          <p:cNvPr id="5" name="!!组合 2">
            <a:extLst>
              <a:ext uri="{FF2B5EF4-FFF2-40B4-BE49-F238E27FC236}">
                <a16:creationId xmlns:a16="http://schemas.microsoft.com/office/drawing/2014/main" id="{19D0C2FC-8BA7-D5ED-8F17-A39501562F0E}"/>
              </a:ext>
            </a:extLst>
          </p:cNvPr>
          <p:cNvGrpSpPr/>
          <p:nvPr/>
        </p:nvGrpSpPr>
        <p:grpSpPr>
          <a:xfrm>
            <a:off x="293265" y="1130815"/>
            <a:ext cx="3494466" cy="1503845"/>
            <a:chOff x="2276436" y="3654112"/>
            <a:chExt cx="3850251" cy="145041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F6615D07-D6E8-CBF8-F211-83FFA0722265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interface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hire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3136DCE8-1EA5-D0E7-D7B8-C42339FE27EA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B21D04D-7DCD-B308-0A4C-E9A828A258B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E943247-6A06-E936-908D-0F0F2A6A823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83BB46C-723D-8205-2AD0-1E75B2A8238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F56618D8-8E57-CDB8-436A-7767DE4FE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A943490-3820-AC19-D078-D68F2E037F27}"/>
              </a:ext>
            </a:extLst>
          </p:cNvPr>
          <p:cNvSpPr/>
          <p:nvPr/>
        </p:nvSpPr>
        <p:spPr>
          <a:xfrm>
            <a:off x="1411138" y="3171952"/>
            <a:ext cx="4983312" cy="2920394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售卖房产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出租房产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55AEB15F-A872-7B3F-ECCD-3E89FE2C016E}"/>
              </a:ext>
            </a:extLst>
          </p:cNvPr>
          <p:cNvSpPr/>
          <p:nvPr/>
        </p:nvSpPr>
        <p:spPr>
          <a:xfrm>
            <a:off x="1391814" y="316551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D4E98C0-C067-BD0E-50EB-589BD0068564}"/>
              </a:ext>
            </a:extLst>
          </p:cNvPr>
          <p:cNvSpPr>
            <a:spLocks/>
          </p:cNvSpPr>
          <p:nvPr/>
        </p:nvSpPr>
        <p:spPr>
          <a:xfrm>
            <a:off x="1488806" y="324467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88BA5B9-6604-EA5D-44A9-EB8A0E17D419}"/>
              </a:ext>
            </a:extLst>
          </p:cNvPr>
          <p:cNvSpPr>
            <a:spLocks/>
          </p:cNvSpPr>
          <p:nvPr/>
        </p:nvSpPr>
        <p:spPr>
          <a:xfrm>
            <a:off x="1865454" y="324757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3BE5AB9-7A6D-ACE9-6769-24586E82CCAB}"/>
              </a:ext>
            </a:extLst>
          </p:cNvPr>
          <p:cNvSpPr/>
          <p:nvPr/>
        </p:nvSpPr>
        <p:spPr>
          <a:xfrm>
            <a:off x="1677130" y="324467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2A74FAC8-819B-5D12-635D-0D47F1B5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AB0E79FF-B8F3-58D5-A400-84BF8819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63C2749C-1D4A-9F02-1AC3-F72362503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7D1975-1E23-B7E7-70F9-DEE5B18D7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37" b="99053" l="8160" r="91543">
                        <a14:foregroundMark x1="46884" y1="7368" x2="53412" y2="9158"/>
                        <a14:foregroundMark x1="54006" y1="4737" x2="45994" y2="5158"/>
                        <a14:foregroundMark x1="42730" y1="81579" x2="44214" y2="89263"/>
                        <a14:foregroundMark x1="61128" y1="84211" x2="60979" y2="99053"/>
                        <a14:foregroundMark x1="15282" y1="42526" x2="11276" y2="50316"/>
                        <a14:foregroundMark x1="11276" y1="50316" x2="19585" y2="60000"/>
                        <a14:foregroundMark x1="19585" y1="60000" x2="32938" y2="60000"/>
                        <a14:foregroundMark x1="32938" y1="60000" x2="33383" y2="59684"/>
                        <a14:foregroundMark x1="91691" y1="69789" x2="91246" y2="73579"/>
                        <a14:foregroundMark x1="9199" y1="50105" x2="8160" y2="56737"/>
                        <a14:backgroundMark x1="29674" y1="33368" x2="29674" y2="33368"/>
                        <a14:backgroundMark x1="32493" y1="37053" x2="32493" y2="37053"/>
                        <a14:backgroundMark x1="28338" y1="34526" x2="28338" y2="34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5247" y="1299234"/>
            <a:ext cx="1107785" cy="1561418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AB18A845-7F6A-6E1E-2D6D-8C229B02F66B}"/>
              </a:ext>
            </a:extLst>
          </p:cNvPr>
          <p:cNvSpPr/>
          <p:nvPr/>
        </p:nvSpPr>
        <p:spPr>
          <a:xfrm>
            <a:off x="5181600" y="1209976"/>
            <a:ext cx="1276350" cy="1768173"/>
          </a:xfrm>
          <a:prstGeom prst="round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AC07A8D-F5DE-B201-BDE1-358EE426A144}"/>
              </a:ext>
            </a:extLst>
          </p:cNvPr>
          <p:cNvSpPr/>
          <p:nvPr/>
        </p:nvSpPr>
        <p:spPr>
          <a:xfrm>
            <a:off x="6679767" y="1943721"/>
            <a:ext cx="4983312" cy="4850779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SaleImpl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SaleImpl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.sale(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owner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.hire(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矩形: 圆顶角 16">
            <a:extLst>
              <a:ext uri="{FF2B5EF4-FFF2-40B4-BE49-F238E27FC236}">
                <a16:creationId xmlns:a16="http://schemas.microsoft.com/office/drawing/2014/main" id="{33128211-3C8A-28F7-EC20-EB5F572ED8F0}"/>
              </a:ext>
            </a:extLst>
          </p:cNvPr>
          <p:cNvSpPr/>
          <p:nvPr/>
        </p:nvSpPr>
        <p:spPr>
          <a:xfrm>
            <a:off x="6660443" y="193728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595D88B-1F15-2F36-86F1-973EEEA9B6FB}"/>
              </a:ext>
            </a:extLst>
          </p:cNvPr>
          <p:cNvSpPr>
            <a:spLocks/>
          </p:cNvSpPr>
          <p:nvPr/>
        </p:nvSpPr>
        <p:spPr>
          <a:xfrm>
            <a:off x="6757435" y="201644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96B3BE8-AA5F-B4F6-F305-19340D4446DB}"/>
              </a:ext>
            </a:extLst>
          </p:cNvPr>
          <p:cNvSpPr>
            <a:spLocks/>
          </p:cNvSpPr>
          <p:nvPr/>
        </p:nvSpPr>
        <p:spPr>
          <a:xfrm>
            <a:off x="7134083" y="201934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9284CD3-34DE-23F4-CAC3-EBFA3C664049}"/>
              </a:ext>
            </a:extLst>
          </p:cNvPr>
          <p:cNvSpPr/>
          <p:nvPr/>
        </p:nvSpPr>
        <p:spPr>
          <a:xfrm>
            <a:off x="6945759" y="201644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F3472C-352E-569A-460C-35920DE57C5D}"/>
              </a:ext>
            </a:extLst>
          </p:cNvPr>
          <p:cNvSpPr/>
          <p:nvPr/>
        </p:nvSpPr>
        <p:spPr>
          <a:xfrm>
            <a:off x="6572250" y="1828800"/>
            <a:ext cx="5213350" cy="502920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5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1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2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2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4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4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5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6" grpId="0" animBg="1"/>
      <p:bldP spid="17" grpId="0" animBg="1"/>
      <p:bldP spid="18" grpId="0" animBg="1"/>
      <p:bldP spid="19" grpId="0" animBg="1"/>
      <p:bldP spid="20" grpId="0" animBg="1"/>
      <p:bldP spid="27" grpId="0" animBg="1"/>
      <p:bldP spid="27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05B5-6C4D-E2E9-DEED-8815B70F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7A07AD9-8D88-0B88-E32E-E77C3370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动态代理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B6DDD2E-E1CA-511A-591B-8445CF30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2765"/>
            <a:ext cx="5770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86FDC37-E2C1-EF6C-A256-A4141E6A8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99" b="94544" l="5382" r="89931">
                        <a14:foregroundMark x1="43403" y1="6611" x2="39583" y2="19307"/>
                        <a14:foregroundMark x1="39583" y1="19307" x2="49306" y2="25603"/>
                        <a14:foregroundMark x1="49306" y1="25603" x2="51736" y2="23715"/>
                        <a14:foregroundMark x1="52778" y1="12067" x2="51563" y2="15530"/>
                        <a14:foregroundMark x1="57639" y1="9234" x2="56424" y2="16999"/>
                        <a14:foregroundMark x1="56250" y1="5561" x2="47743" y2="4932"/>
                        <a14:foregroundMark x1="32813" y1="14586" x2="32813" y2="16264"/>
                        <a14:foregroundMark x1="60243" y1="6716" x2="61806" y2="9444"/>
                        <a14:foregroundMark x1="62674" y1="14376" x2="63021" y2="16264"/>
                        <a14:foregroundMark x1="45660" y1="2099" x2="45660" y2="2099"/>
                        <a14:foregroundMark x1="59028" y1="5352" x2="59028" y2="5352"/>
                        <a14:foregroundMark x1="58507" y1="4617" x2="58507" y2="4617"/>
                        <a14:foregroundMark x1="15625" y1="43547" x2="15625" y2="43547"/>
                        <a14:foregroundMark x1="14583" y1="44281" x2="19097" y2="46800"/>
                        <a14:foregroundMark x1="9201" y1="42497" x2="7118" y2="44911"/>
                        <a14:foregroundMark x1="7813" y1="42392" x2="7813" y2="42392"/>
                        <a14:foregroundMark x1="11979" y1="33578" x2="11979" y2="33578"/>
                        <a14:foregroundMark x1="15451" y1="31270" x2="13368" y2="33263"/>
                        <a14:foregroundMark x1="18056" y1="29276" x2="13021" y2="27072"/>
                        <a14:foregroundMark x1="15625" y1="25918" x2="15625" y2="25918"/>
                        <a14:foregroundMark x1="15972" y1="26233" x2="17014" y2="28017"/>
                        <a14:foregroundMark x1="15799" y1="25603" x2="18229" y2="27597"/>
                        <a14:foregroundMark x1="15625" y1="26023" x2="8854" y2="30430"/>
                        <a14:foregroundMark x1="11285" y1="33263" x2="10764" y2="34942"/>
                        <a14:foregroundMark x1="11111" y1="35152" x2="7639" y2="41973"/>
                        <a14:foregroundMark x1="18924" y1="30535" x2="17535" y2="33158"/>
                        <a14:foregroundMark x1="7986" y1="40609" x2="7986" y2="40609"/>
                        <a14:foregroundMark x1="7465" y1="40399" x2="5382" y2="40399"/>
                        <a14:foregroundMark x1="79861" y1="60860" x2="80556" y2="67576"/>
                        <a14:foregroundMark x1="64410" y1="89402" x2="64757" y2="93389"/>
                        <a14:foregroundMark x1="62153" y1="86149" x2="62500" y2="89402"/>
                        <a14:foregroundMark x1="39931" y1="86779" x2="35764" y2="94544"/>
                        <a14:foregroundMark x1="78299" y1="67471" x2="78646" y2="72193"/>
                        <a14:backgroundMark x1="70486" y1="16264" x2="69271" y2="24764"/>
                        <a14:backgroundMark x1="69271" y1="24764" x2="70139" y2="17524"/>
                        <a14:backgroundMark x1="72743" y1="61175" x2="71354" y2="641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731" y="3812278"/>
            <a:ext cx="1107785" cy="1832846"/>
          </a:xfrm>
          <a:prstGeom prst="rect">
            <a:avLst/>
          </a:prstGeom>
        </p:spPr>
      </p:pic>
      <p:grpSp>
        <p:nvGrpSpPr>
          <p:cNvPr id="5" name="!!组合 2">
            <a:extLst>
              <a:ext uri="{FF2B5EF4-FFF2-40B4-BE49-F238E27FC236}">
                <a16:creationId xmlns:a16="http://schemas.microsoft.com/office/drawing/2014/main" id="{3C03C779-3656-5E81-9BBE-44E253BF08D0}"/>
              </a:ext>
            </a:extLst>
          </p:cNvPr>
          <p:cNvGrpSpPr/>
          <p:nvPr/>
        </p:nvGrpSpPr>
        <p:grpSpPr>
          <a:xfrm>
            <a:off x="293265" y="1130815"/>
            <a:ext cx="3494466" cy="1503845"/>
            <a:chOff x="2276436" y="3654112"/>
            <a:chExt cx="3850251" cy="145041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CA25C31-0CC9-B8D2-C245-97E8AB0EF114}"/>
                </a:ext>
              </a:extLst>
            </p:cNvPr>
            <p:cNvSpPr/>
            <p:nvPr/>
          </p:nvSpPr>
          <p:spPr>
            <a:xfrm>
              <a:off x="2297728" y="3660324"/>
              <a:ext cx="3828959" cy="1444203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interface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sale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void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hire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double 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money</a:t>
              </a: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74911278-60E0-16A3-3C81-CC66ABCD504D}"/>
                </a:ext>
              </a:extLst>
            </p:cNvPr>
            <p:cNvSpPr/>
            <p:nvPr/>
          </p:nvSpPr>
          <p:spPr>
            <a:xfrm>
              <a:off x="2276436" y="3654112"/>
              <a:ext cx="3850250" cy="254128"/>
            </a:xfrm>
            <a:prstGeom prst="round2SameRect">
              <a:avLst>
                <a:gd name="adj1" fmla="val 764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A4FB1F6-F3FC-4680-1657-6A1305BCFAD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D774E4A-34F7-A485-7F4B-FC711884A64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333528C-D50C-D436-7823-8AC20F19188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2FEA1E20-A6C6-C420-7790-DB5D8BD6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66AB191-3ADB-DB60-AD92-E5C0C305F591}"/>
              </a:ext>
            </a:extLst>
          </p:cNvPr>
          <p:cNvSpPr/>
          <p:nvPr/>
        </p:nvSpPr>
        <p:spPr>
          <a:xfrm>
            <a:off x="1411138" y="3171952"/>
            <a:ext cx="4983312" cy="2920394"/>
          </a:xfrm>
          <a:prstGeom prst="roundRect">
            <a:avLst>
              <a:gd name="adj" fmla="val 2224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Owner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Sale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sale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售卖房产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hire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出租房产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money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19220C67-7AA3-7F04-B6E3-01D4767825EA}"/>
              </a:ext>
            </a:extLst>
          </p:cNvPr>
          <p:cNvSpPr/>
          <p:nvPr/>
        </p:nvSpPr>
        <p:spPr>
          <a:xfrm>
            <a:off x="1391814" y="3165511"/>
            <a:ext cx="5002635" cy="263489"/>
          </a:xfrm>
          <a:prstGeom prst="round2SameRect">
            <a:avLst>
              <a:gd name="adj1" fmla="val 764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11FA253-3358-84DC-BA59-E69A29F69385}"/>
              </a:ext>
            </a:extLst>
          </p:cNvPr>
          <p:cNvSpPr>
            <a:spLocks/>
          </p:cNvSpPr>
          <p:nvPr/>
        </p:nvSpPr>
        <p:spPr>
          <a:xfrm>
            <a:off x="1488806" y="3244673"/>
            <a:ext cx="110654" cy="10535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835171D-240C-BC9A-3EA1-D522B56F02FC}"/>
              </a:ext>
            </a:extLst>
          </p:cNvPr>
          <p:cNvSpPr>
            <a:spLocks/>
          </p:cNvSpPr>
          <p:nvPr/>
        </p:nvSpPr>
        <p:spPr>
          <a:xfrm>
            <a:off x="1865454" y="3247572"/>
            <a:ext cx="110654" cy="10535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25E8A4D-5F09-C667-E07D-59D63006E53A}"/>
              </a:ext>
            </a:extLst>
          </p:cNvPr>
          <p:cNvSpPr/>
          <p:nvPr/>
        </p:nvSpPr>
        <p:spPr>
          <a:xfrm>
            <a:off x="1677130" y="3244673"/>
            <a:ext cx="110654" cy="10535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CC5D7D4-68AA-CBFF-058D-6C510219A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504FB06D-B2C9-6AD2-1D33-C5AC75965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E4A5D194-FD7A-DA67-3FEB-0F1CFD436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69D594-B4F6-20DE-E90B-7AEDB1BE143D}"/>
              </a:ext>
            </a:extLst>
          </p:cNvPr>
          <p:cNvSpPr txBox="1"/>
          <p:nvPr/>
        </p:nvSpPr>
        <p:spPr>
          <a:xfrm>
            <a:off x="1976108" y="372355"/>
            <a:ext cx="7067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 i="0" dirty="0">
                <a:effectLst/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在运行时动态生成代理类，无需手动为每个目标类编写代理类</a:t>
            </a:r>
            <a:endParaRPr lang="zh-CN" altLang="en-US" sz="2000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1C1E0-D7FA-B886-C16B-123A2DCBBA92}"/>
              </a:ext>
            </a:extLst>
          </p:cNvPr>
          <p:cNvSpPr txBox="1"/>
          <p:nvPr/>
        </p:nvSpPr>
        <p:spPr>
          <a:xfrm>
            <a:off x="4000499" y="1130815"/>
            <a:ext cx="8124959" cy="57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Consolas" panose="020B0609020204030204" pitchFamily="49" charset="0"/>
              </a:rPr>
              <a:t>java.lang.reflect.Proxy</a:t>
            </a:r>
            <a:r>
              <a:rPr lang="zh-CN" altLang="en-US" dirty="0">
                <a:latin typeface="Consolas" panose="020B0609020204030204" pitchFamily="49" charset="0"/>
              </a:rPr>
              <a:t>类：提供了使用动态代理方式创建对象的</a:t>
            </a:r>
            <a:r>
              <a:rPr lang="en-US" altLang="zh-CN" dirty="0">
                <a:latin typeface="Consolas" panose="020B0609020204030204" pitchFamily="49" charset="0"/>
              </a:rPr>
              <a:t>API</a:t>
            </a:r>
            <a:endParaRPr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A64FE8-8DD1-87B5-6A23-1F7A1531D611}"/>
              </a:ext>
            </a:extLst>
          </p:cNvPr>
          <p:cNvSpPr txBox="1"/>
          <p:nvPr/>
        </p:nvSpPr>
        <p:spPr>
          <a:xfrm>
            <a:off x="3929621" y="1971468"/>
            <a:ext cx="8124959" cy="33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static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Object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newProxyInstance(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ClassLoader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loader,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Class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&lt;?&gt;[] interfaces,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InvocationHandler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h)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C8143B7C-64FE-DE16-FDF6-F64867775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FE16E35-93FA-B3D8-4388-64A40D438511}"/>
              </a:ext>
            </a:extLst>
          </p:cNvPr>
          <p:cNvGrpSpPr/>
          <p:nvPr/>
        </p:nvGrpSpPr>
        <p:grpSpPr>
          <a:xfrm>
            <a:off x="7121757" y="2510694"/>
            <a:ext cx="4078514" cy="4192048"/>
            <a:chOff x="1465854" y="4354221"/>
            <a:chExt cx="4078514" cy="3326739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E6D9EDD-0399-7FE4-45AF-F4832C7C836C}"/>
                </a:ext>
              </a:extLst>
            </p:cNvPr>
            <p:cNvGrpSpPr/>
            <p:nvPr/>
          </p:nvGrpSpPr>
          <p:grpSpPr>
            <a:xfrm>
              <a:off x="1465854" y="4354221"/>
              <a:ext cx="4078514" cy="3326739"/>
              <a:chOff x="1470848" y="2814179"/>
              <a:chExt cx="4078514" cy="3326739"/>
            </a:xfrm>
          </p:grpSpPr>
          <p:grpSp>
            <p:nvGrpSpPr>
              <p:cNvPr id="40" name="Group 48">
                <a:extLst>
                  <a:ext uri="{FF2B5EF4-FFF2-40B4-BE49-F238E27FC236}">
                    <a16:creationId xmlns:a16="http://schemas.microsoft.com/office/drawing/2014/main" id="{E0D50314-80D9-6308-68EF-B499856B4135}"/>
                  </a:ext>
                </a:extLst>
              </p:cNvPr>
              <p:cNvGrpSpPr/>
              <p:nvPr/>
            </p:nvGrpSpPr>
            <p:grpSpPr>
              <a:xfrm>
                <a:off x="1470848" y="2814179"/>
                <a:ext cx="4078514" cy="3326739"/>
                <a:chOff x="508001" y="2083447"/>
                <a:chExt cx="2463800" cy="2898818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3" name="Rounded Rectangle 2">
                  <a:extLst>
                    <a:ext uri="{FF2B5EF4-FFF2-40B4-BE49-F238E27FC236}">
                      <a16:creationId xmlns:a16="http://schemas.microsoft.com/office/drawing/2014/main" id="{8DB07682-9910-44C2-C98F-ED30E8FDB6F0}"/>
                    </a:ext>
                  </a:extLst>
                </p:cNvPr>
                <p:cNvSpPr/>
                <p:nvPr/>
              </p:nvSpPr>
              <p:spPr>
                <a:xfrm>
                  <a:off x="508001" y="2083447"/>
                  <a:ext cx="2463800" cy="2898818"/>
                </a:xfrm>
                <a:prstGeom prst="roundRect">
                  <a:avLst>
                    <a:gd name="adj" fmla="val 4811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" name="Round Same Side Corner Rectangle 3">
                  <a:extLst>
                    <a:ext uri="{FF2B5EF4-FFF2-40B4-BE49-F238E27FC236}">
                      <a16:creationId xmlns:a16="http://schemas.microsoft.com/office/drawing/2014/main" id="{ADC71CB1-5AA2-3CC0-F800-787017AC1870}"/>
                    </a:ext>
                  </a:extLst>
                </p:cNvPr>
                <p:cNvSpPr/>
                <p:nvPr/>
              </p:nvSpPr>
              <p:spPr>
                <a:xfrm>
                  <a:off x="508001" y="2083447"/>
                  <a:ext cx="2463800" cy="434305"/>
                </a:xfrm>
                <a:prstGeom prst="round2SameRect">
                  <a:avLst>
                    <a:gd name="adj1" fmla="val 10686"/>
                    <a:gd name="adj2" fmla="val 0"/>
                  </a:avLst>
                </a:prstGeom>
                <a:solidFill>
                  <a:srgbClr val="02C2A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en-US" altLang="zh-CN" b="1" dirty="0">
                    <a:solidFill>
                      <a:schemeClr val="bg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90204" pitchFamily="34" charset="0"/>
                  </a:endParaRPr>
                </a:p>
              </p:txBody>
            </p:sp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3358043-44DB-B28A-0906-47F3FCA2E402}"/>
                  </a:ext>
                </a:extLst>
              </p:cNvPr>
              <p:cNvSpPr txBox="1"/>
              <p:nvPr/>
            </p:nvSpPr>
            <p:spPr>
              <a:xfrm>
                <a:off x="1536114" y="3284323"/>
                <a:ext cx="3946764" cy="2637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参数一：</a:t>
                </a:r>
                <a:endParaRPr lang="en-US" altLang="zh-CN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用于指定用哪个类加载器，去加载生成的实现类</a:t>
                </a:r>
              </a:p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参数二：</a:t>
                </a:r>
                <a:endParaRPr lang="en-US" altLang="zh-CN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指定接口，这些接口用于指定生成的实现类中有什么也就是有哪些方法</a:t>
                </a:r>
                <a:endParaRPr lang="en-US" altLang="zh-CN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参数三：</a:t>
                </a:r>
                <a:endParaRPr lang="en-US" altLang="zh-CN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schemeClr val="tx1">
                        <a:lumMod val="50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用来指定生成的实现类中不同方法的实现方案</a:t>
                </a:r>
              </a:p>
              <a:p>
                <a:endParaRPr lang="zh-CN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8" name="Inhaltsplatzhalter 4">
              <a:extLst>
                <a:ext uri="{FF2B5EF4-FFF2-40B4-BE49-F238E27FC236}">
                  <a16:creationId xmlns:a16="http://schemas.microsoft.com/office/drawing/2014/main" id="{AF187ACB-67B6-765E-1241-CB1F390BE7BA}"/>
                </a:ext>
              </a:extLst>
            </p:cNvPr>
            <p:cNvSpPr txBox="1">
              <a:spLocks/>
            </p:cNvSpPr>
            <p:nvPr/>
          </p:nvSpPr>
          <p:spPr>
            <a:xfrm>
              <a:off x="1493152" y="4437138"/>
              <a:ext cx="3790027" cy="33258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spcAft>
                  <a:spcPts val="0"/>
                </a:spcAft>
                <a:buNone/>
              </a:pPr>
              <a:r>
                <a:rPr lang="zh-CN" altLang="en-US" sz="2400" b="1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参数介绍</a:t>
              </a:r>
              <a:endParaRPr 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4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3D182-A418-2B05-09D2-E1CF3192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A62E271-90C9-4758-A9E2-3E287DDF6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8766" y="532956"/>
            <a:ext cx="8515626" cy="3962399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动态代理是对象的另外一种创建方式，这种方式可以在不修改源码的情况下，增强方法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代理对象可以在原有功能的基础上进行增强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动态代理在运行时动态的生成代理类，无需手动为每个目标类编写代理类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Proxy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 </a:t>
            </a:r>
            <a:r>
              <a:rPr lang="en-US" altLang="zh-CN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newProxyInstance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方法创建代理对象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51C7EC-6F6E-63F7-2443-5006DAFCA44D}"/>
              </a:ext>
            </a:extLst>
          </p:cNvPr>
          <p:cNvSpPr txBox="1"/>
          <p:nvPr/>
        </p:nvSpPr>
        <p:spPr>
          <a:xfrm>
            <a:off x="3968766" y="3845345"/>
            <a:ext cx="8124959" cy="33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static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Object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newProxyInstance(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ClassLoader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loader,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Class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&lt;?&gt;[] interfaces,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InvocationHandler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h)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92BA22-A403-D055-9E6B-8CDBDCF10AE5}"/>
              </a:ext>
            </a:extLst>
          </p:cNvPr>
          <p:cNvSpPr txBox="1"/>
          <p:nvPr/>
        </p:nvSpPr>
        <p:spPr>
          <a:xfrm>
            <a:off x="3968766" y="4247842"/>
            <a:ext cx="700288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参数一：用于指定用哪个类加载器，去加载生成的实现类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参数二：指定接口，这些接口用于指定生成的实现类中有什么，也就是有哪些方法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参数三：用来指定生成的实现类中不同方法的实现方案</a:t>
            </a:r>
          </a:p>
          <a:p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4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14454</TotalTime>
  <Words>4396</Words>
  <Application>Microsoft Office PowerPoint</Application>
  <PresentationFormat>宽屏</PresentationFormat>
  <Paragraphs>666</Paragraphs>
  <Slides>79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79</vt:i4>
      </vt:variant>
    </vt:vector>
  </HeadingPairs>
  <TitlesOfParts>
    <vt:vector size="101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杨任东竹石体-Heavy</vt:lpstr>
      <vt:lpstr>Arial</vt:lpstr>
      <vt:lpstr>Calisto MT</vt:lpstr>
      <vt:lpstr>Consolas</vt:lpstr>
      <vt:lpstr>Fira Code</vt:lpstr>
      <vt:lpstr>Open Sans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第二十章：Java高级技术</vt:lpstr>
      <vt:lpstr>PowerPoint 演示文稿</vt:lpstr>
      <vt:lpstr>PowerPoint 演示文稿</vt:lpstr>
      <vt:lpstr>枚举介绍</vt:lpstr>
      <vt:lpstr>枚举介绍</vt:lpstr>
      <vt:lpstr>枚举介绍</vt:lpstr>
      <vt:lpstr>枚举介绍</vt:lpstr>
      <vt:lpstr>枚举定义格式</vt:lpstr>
      <vt:lpstr>枚举的特点</vt:lpstr>
      <vt:lpstr>枚举的使用场景</vt:lpstr>
      <vt:lpstr>枚举的使用场景</vt:lpstr>
      <vt:lpstr>枚举的使用场景</vt:lpstr>
      <vt:lpstr>PowerPoint 演示文稿</vt:lpstr>
      <vt:lpstr>PowerPoint 演示文稿</vt:lpstr>
      <vt:lpstr>PowerPoint 演示文稿</vt:lpstr>
      <vt:lpstr>类加载器介绍</vt:lpstr>
      <vt:lpstr>类加载器介绍</vt:lpstr>
      <vt:lpstr>类加载器介绍</vt:lpstr>
      <vt:lpstr>类加载器介绍</vt:lpstr>
      <vt:lpstr>类加载器介绍</vt:lpstr>
      <vt:lpstr>类加载器介绍</vt:lpstr>
      <vt:lpstr>类加载器介绍</vt:lpstr>
      <vt:lpstr>类加载器的加载过程</vt:lpstr>
      <vt:lpstr>类加载器的加载过程</vt:lpstr>
      <vt:lpstr>类加载器的加载过程</vt:lpstr>
      <vt:lpstr>类加载器的加载过程</vt:lpstr>
      <vt:lpstr>类加载器的加载过程</vt:lpstr>
      <vt:lpstr>类加载器的加载过程</vt:lpstr>
      <vt:lpstr> </vt:lpstr>
      <vt:lpstr>类加载器的加载过程</vt:lpstr>
      <vt:lpstr> </vt:lpstr>
      <vt:lpstr>类加载器的加载过程</vt:lpstr>
      <vt:lpstr>类加载器的加载过程</vt:lpstr>
      <vt:lpstr>PowerPoint 演示文稿</vt:lpstr>
      <vt:lpstr>类加载器介绍</vt:lpstr>
      <vt:lpstr>类加载器的分类</vt:lpstr>
      <vt:lpstr>双亲委派模式</vt:lpstr>
      <vt:lpstr>双亲委派模式</vt:lpstr>
      <vt:lpstr>PowerPoint 演示文稿</vt:lpstr>
      <vt:lpstr>PowerPoint 演示文稿</vt:lpstr>
      <vt:lpstr>PowerPoint 演示文稿</vt:lpstr>
      <vt:lpstr>反射介绍</vt:lpstr>
      <vt:lpstr>反射介绍</vt:lpstr>
      <vt:lpstr>反射介绍</vt:lpstr>
      <vt:lpstr>反射技术的学习路径</vt:lpstr>
      <vt:lpstr>获取类的字节码对象</vt:lpstr>
      <vt:lpstr>PowerPoint 演示文稿</vt:lpstr>
      <vt:lpstr>反射类中的构造方法</vt:lpstr>
      <vt:lpstr>Constructor类用于创建对象的方法</vt:lpstr>
      <vt:lpstr>反射类中的成员变量</vt:lpstr>
      <vt:lpstr>Field类的设置和获取方法</vt:lpstr>
      <vt:lpstr>反射建议</vt:lpstr>
      <vt:lpstr>反射类中的成员方法</vt:lpstr>
      <vt:lpstr>反射练习（伪泛型）</vt:lpstr>
      <vt:lpstr>反射练习</vt:lpstr>
      <vt:lpstr>PowerPoint 演示文稿</vt:lpstr>
      <vt:lpstr>PowerPoint 演示文稿</vt:lpstr>
      <vt:lpstr>注解介绍</vt:lpstr>
      <vt:lpstr>注解介绍</vt:lpstr>
      <vt:lpstr>自定义注解</vt:lpstr>
      <vt:lpstr>自定义注解格式</vt:lpstr>
      <vt:lpstr>自定义注解格式</vt:lpstr>
      <vt:lpstr>自定义注解使用</vt:lpstr>
      <vt:lpstr>特殊的属性 value</vt:lpstr>
      <vt:lpstr>自定义测试注解</vt:lpstr>
      <vt:lpstr>元注解</vt:lpstr>
      <vt:lpstr>元注解</vt:lpstr>
      <vt:lpstr>PowerPoint 演示文稿</vt:lpstr>
      <vt:lpstr>PowerPoint 演示文稿</vt:lpstr>
      <vt:lpstr>动态代理</vt:lpstr>
      <vt:lpstr>代理</vt:lpstr>
      <vt:lpstr>代理</vt:lpstr>
      <vt:lpstr>代理</vt:lpstr>
      <vt:lpstr>代理</vt:lpstr>
      <vt:lpstr>代理</vt:lpstr>
      <vt:lpstr>动态代理</vt:lpstr>
      <vt:lpstr>动态代理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1954</cp:revision>
  <cp:lastPrinted>2022-05-29T16:00:00Z</cp:lastPrinted>
  <dcterms:created xsi:type="dcterms:W3CDTF">2022-05-29T16:00:00Z</dcterms:created>
  <dcterms:modified xsi:type="dcterms:W3CDTF">2025-05-22T09:53:10Z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