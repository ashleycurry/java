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68"/>
  </p:notesMasterIdLst>
  <p:handoutMasterIdLst>
    <p:handoutMasterId r:id="rId69"/>
  </p:handoutMasterIdLst>
  <p:sldIdLst>
    <p:sldId id="280" r:id="rId6"/>
    <p:sldId id="3392" r:id="rId7"/>
    <p:sldId id="3418" r:id="rId8"/>
    <p:sldId id="3416" r:id="rId9"/>
    <p:sldId id="2615" r:id="rId10"/>
    <p:sldId id="2616" r:id="rId11"/>
    <p:sldId id="2617" r:id="rId12"/>
    <p:sldId id="2618" r:id="rId13"/>
    <p:sldId id="2619" r:id="rId14"/>
    <p:sldId id="2620" r:id="rId15"/>
    <p:sldId id="588" r:id="rId16"/>
    <p:sldId id="3417" r:id="rId17"/>
    <p:sldId id="3420" r:id="rId18"/>
    <p:sldId id="2586" r:id="rId19"/>
    <p:sldId id="2624" r:id="rId20"/>
    <p:sldId id="2625" r:id="rId21"/>
    <p:sldId id="2626" r:id="rId22"/>
    <p:sldId id="2627" r:id="rId23"/>
    <p:sldId id="2628" r:id="rId24"/>
    <p:sldId id="2630" r:id="rId25"/>
    <p:sldId id="3419" r:id="rId26"/>
    <p:sldId id="3422" r:id="rId27"/>
    <p:sldId id="2636" r:id="rId28"/>
    <p:sldId id="2637" r:id="rId29"/>
    <p:sldId id="2638" r:id="rId30"/>
    <p:sldId id="2639" r:id="rId31"/>
    <p:sldId id="2640" r:id="rId32"/>
    <p:sldId id="2641" r:id="rId33"/>
    <p:sldId id="2642" r:id="rId34"/>
    <p:sldId id="2643" r:id="rId35"/>
    <p:sldId id="2644" r:id="rId36"/>
    <p:sldId id="2645" r:id="rId37"/>
    <p:sldId id="2646" r:id="rId38"/>
    <p:sldId id="2647" r:id="rId39"/>
    <p:sldId id="2648" r:id="rId40"/>
    <p:sldId id="2649" r:id="rId41"/>
    <p:sldId id="2650" r:id="rId42"/>
    <p:sldId id="2652" r:id="rId43"/>
    <p:sldId id="2651" r:id="rId44"/>
    <p:sldId id="3421" r:id="rId45"/>
    <p:sldId id="3393" r:id="rId46"/>
    <p:sldId id="2805" r:id="rId47"/>
    <p:sldId id="3423" r:id="rId48"/>
    <p:sldId id="2809" r:id="rId49"/>
    <p:sldId id="2810" r:id="rId50"/>
    <p:sldId id="3424" r:id="rId51"/>
    <p:sldId id="3429" r:id="rId52"/>
    <p:sldId id="3435" r:id="rId53"/>
    <p:sldId id="3425" r:id="rId54"/>
    <p:sldId id="3426" r:id="rId55"/>
    <p:sldId id="3427" r:id="rId56"/>
    <p:sldId id="2841" r:id="rId57"/>
    <p:sldId id="3434" r:id="rId58"/>
    <p:sldId id="3437" r:id="rId59"/>
    <p:sldId id="3436" r:id="rId60"/>
    <p:sldId id="3430" r:id="rId61"/>
    <p:sldId id="3433" r:id="rId62"/>
    <p:sldId id="3431" r:id="rId63"/>
    <p:sldId id="3438" r:id="rId64"/>
    <p:sldId id="3439" r:id="rId65"/>
    <p:sldId id="3428" r:id="rId66"/>
    <p:sldId id="288" r:id="rId67"/>
  </p:sldIdLst>
  <p:sldSz cx="12192000" cy="6858000"/>
  <p:notesSz cx="6858000" cy="9144000"/>
  <p:custDataLst>
    <p:tags r:id="rId7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3392"/>
            <p14:sldId id="3418"/>
            <p14:sldId id="3416"/>
            <p14:sldId id="2615"/>
            <p14:sldId id="2616"/>
            <p14:sldId id="2617"/>
            <p14:sldId id="2618"/>
            <p14:sldId id="2619"/>
            <p14:sldId id="2620"/>
            <p14:sldId id="588"/>
            <p14:sldId id="3417"/>
            <p14:sldId id="3420"/>
            <p14:sldId id="2586"/>
            <p14:sldId id="2624"/>
            <p14:sldId id="2625"/>
            <p14:sldId id="2626"/>
            <p14:sldId id="2627"/>
            <p14:sldId id="2628"/>
            <p14:sldId id="2630"/>
            <p14:sldId id="3419"/>
            <p14:sldId id="3422"/>
            <p14:sldId id="2636"/>
            <p14:sldId id="2637"/>
            <p14:sldId id="2638"/>
            <p14:sldId id="2639"/>
            <p14:sldId id="2640"/>
            <p14:sldId id="2641"/>
            <p14:sldId id="2642"/>
            <p14:sldId id="2643"/>
            <p14:sldId id="2644"/>
            <p14:sldId id="2645"/>
            <p14:sldId id="2646"/>
            <p14:sldId id="2647"/>
            <p14:sldId id="2648"/>
            <p14:sldId id="2649"/>
            <p14:sldId id="2650"/>
            <p14:sldId id="2652"/>
            <p14:sldId id="2651"/>
            <p14:sldId id="3421"/>
            <p14:sldId id="3393"/>
            <p14:sldId id="2805"/>
            <p14:sldId id="3423"/>
            <p14:sldId id="2809"/>
            <p14:sldId id="2810"/>
            <p14:sldId id="3424"/>
            <p14:sldId id="3429"/>
            <p14:sldId id="3435"/>
            <p14:sldId id="3425"/>
            <p14:sldId id="3426"/>
            <p14:sldId id="3427"/>
            <p14:sldId id="2841"/>
            <p14:sldId id="3434"/>
            <p14:sldId id="3437"/>
            <p14:sldId id="3436"/>
            <p14:sldId id="3430"/>
            <p14:sldId id="3433"/>
            <p14:sldId id="3431"/>
            <p14:sldId id="3438"/>
            <p14:sldId id="3439"/>
            <p14:sldId id="3428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97" autoAdjust="0"/>
    <p:restoredTop sz="94595" autoAdjust="0"/>
  </p:normalViewPr>
  <p:slideViewPr>
    <p:cSldViewPr snapToGrid="0" showGuides="1">
      <p:cViewPr varScale="1">
        <p:scale>
          <a:sx n="78" d="100"/>
          <a:sy n="78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99B8-CC18-7C45-9E7C-5C2A31F9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CE5745-3AC4-D992-DB26-46AD1075B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E3BF9D-3A1A-2D66-DF5F-970F434B2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F71A64-9EEE-4565-514E-DDD8C7857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82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79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094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502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86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12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89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940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79008810-D77B-4E40-A671-02409678F1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91D06D9A-2F1D-412E-A471-AF49C91123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9A2C53D4-C612-4EB0-9C60-3922DA9E6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DEB466-FE9A-40E9-97FD-4345BD42E7E1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876AC-D414-87B3-92F2-E11F2F68B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537E11-F11D-225E-CD1B-5722D4019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0FDA5F-6ABA-D2C8-59FA-561848611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7960E8-5C55-EA87-BE77-A8D932565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264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817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536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75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58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36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24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200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6A719-A2B2-4066-CC3F-BE8D7F20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87FD19-53B1-65E9-938A-E3C8E710B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A683A2-B922-BC4F-27F5-ED9B7B020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A3D85-1408-0A0E-CA41-3261667FE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082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1211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238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544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778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595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6155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078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0580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7260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0760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5809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7074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7537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6097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762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585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1DD71-A7A3-9E55-D042-3A4AD63F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D9C015-55FD-4DA0-7712-3C7A9F484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C197D8-F7EA-552C-99CB-A4434BC1A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AAC5E8-C173-0EEA-A719-DF643199E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8001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515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7988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869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869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96CE4-751A-F701-1F33-25557EFF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4AE6E8-0435-EABD-DCA8-74A1EC5BA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8A6AD7-9E0E-426E-8446-B8D051A61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99BDAA-ED5E-96C5-14FD-50814081D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7491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360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246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2006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2454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0D5D-376B-38DE-6A84-62D7387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70D45B9F-61CF-E450-0CCD-0C9FD5EC67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39276D49-3AD5-2837-E5DE-3438D7FE56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4096764-47FE-468E-49B8-1C519C954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0369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5A426-746C-4955-933C-FB8CE5CC8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521BEF-8C20-5FC0-7FF9-AB9D8CE43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43EFAE-305A-8367-6378-47037EB86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427E43-9015-2156-EFA0-310A6D23A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37856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3ED8-F322-FE1D-36D2-CFC59BC3C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106B3F6F-A9AE-45CB-6134-D72E98AF6B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9D631028-F004-004C-A454-0CBFCF55A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02CBD85F-41BB-2524-219A-029390E67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9884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8FBF-7C5A-2B21-F4FE-CB3B8F51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DB5B7559-4D11-54C6-B360-66AEBFCF0C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D279934A-D4F9-E476-77AF-B4B8DE6151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31959D12-7CA5-F142-167C-55A738EE9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522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19CF-F0FB-C5EC-DACB-6B3A7726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E07A30AB-5D63-1486-739B-9F7B1B3430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571E79C2-A90A-E8D3-55BF-F7F25F779A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670FC371-C89F-A340-62F9-0F9F1DCB3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8312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D0B6E-BF1D-7CE7-36AB-2F19618C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59ADC8AF-EFD9-3FE5-E37E-E32EA68FB4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CEBA1C3B-7089-6CE1-C841-483EC1D2CB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A56D5F75-45DB-D084-7143-43E961677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4397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7E48-165A-1FFA-E882-AEC3980D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1B70CFC3-4829-1CE0-BA6B-F395F43EA8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BFB5629D-77F3-AD7C-E85F-8ABDFADD17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03887FD1-B8DE-0600-8A85-B95C9D97D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168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75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99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50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624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660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8098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569567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2642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77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2" r:id="rId10"/>
    <p:sldLayoutId id="2147483693" r:id="rId11"/>
    <p:sldLayoutId id="2147483694" r:id="rId12"/>
    <p:sldLayoutId id="2147483696" r:id="rId13"/>
    <p:sldLayoutId id="2147483699" r:id="rId14"/>
    <p:sldLayoutId id="2147483700" r:id="rId15"/>
    <p:sldLayoutId id="2147483702" r:id="rId16"/>
    <p:sldLayoutId id="2147483706" r:id="rId17"/>
    <p:sldLayoutId id="2147483707" r:id="rId18"/>
    <p:sldLayoutId id="2147483708" r:id="rId19"/>
    <p:sldLayoutId id="2147483713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  <p:sldLayoutId id="2147483709" r:id="rId5"/>
    <p:sldLayoutId id="214748371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  <p:sldLayoutId id="2147483710" r:id="rId6"/>
    <p:sldLayoutId id="214748371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第十七章：</a:t>
            </a:r>
            <a:r>
              <a:rPr lang="en-US" altLang="zh-CN" sz="4000" dirty="0"/>
              <a:t>IO</a:t>
            </a:r>
            <a:r>
              <a:rPr lang="zh-CN" altLang="en-US" sz="4000" dirty="0"/>
              <a:t>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7709B9C-2ED4-41E3-43A6-8BB77BF3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C9D56B0-71F8-ABFD-D98A-8BBC99D479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139" y="1526664"/>
            <a:ext cx="5634223" cy="3804672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IO </a:t>
            </a:r>
            <a:r>
              <a:rPr kumimoji="1" lang="zh-CN" altLang="en-US" dirty="0">
                <a:latin typeface="Consolas" panose="020B0609020204030204" pitchFamily="49" charset="0"/>
              </a:rPr>
              <a:t>介绍和分类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FileOutputStream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FileInputStream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FileReader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FileWriter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Properties </a:t>
            </a:r>
            <a:r>
              <a:rPr kumimoji="1" lang="zh-CN" altLang="en-US" dirty="0">
                <a:latin typeface="Consolas" panose="020B0609020204030204" pitchFamily="49" charset="0"/>
              </a:rPr>
              <a:t>集合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HuTool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工具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02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81A8-DE55-3B32-5D15-C8195234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A0B60B-0533-54C3-B578-35685394AD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IO </a:t>
            </a:r>
            <a:r>
              <a:rPr lang="zh-CN" altLang="en-US" dirty="0"/>
              <a:t>介绍和分类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2EB1003-F0AE-5315-A9E5-AA42CFAD5F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5534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8F35AE-2CB2-F0D7-F51E-6DC90EAA58CC}"/>
              </a:ext>
            </a:extLst>
          </p:cNvPr>
          <p:cNvSpPr/>
          <p:nvPr/>
        </p:nvSpPr>
        <p:spPr>
          <a:xfrm>
            <a:off x="2754915" y="2180991"/>
            <a:ext cx="23236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I : input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F7037C-2A3F-5EA8-F61A-7AD79AC1E8CD}"/>
              </a:ext>
            </a:extLst>
          </p:cNvPr>
          <p:cNvSpPr/>
          <p:nvPr/>
        </p:nvSpPr>
        <p:spPr>
          <a:xfrm>
            <a:off x="2754915" y="3301334"/>
            <a:ext cx="2735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O : output 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048C9-CF56-7A2F-8D4E-1A50BED4E59D}"/>
              </a:ext>
            </a:extLst>
          </p:cNvPr>
          <p:cNvSpPr/>
          <p:nvPr/>
        </p:nvSpPr>
        <p:spPr>
          <a:xfrm>
            <a:off x="5078560" y="2227374"/>
            <a:ext cx="1576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</a:t>
            </a:r>
            <a:endParaRPr lang="en-US" altLang="zh-C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3DE0F5-B13D-F070-70D3-9041F9979C15}"/>
              </a:ext>
            </a:extLst>
          </p:cNvPr>
          <p:cNvSpPr/>
          <p:nvPr/>
        </p:nvSpPr>
        <p:spPr>
          <a:xfrm>
            <a:off x="5452345" y="3347717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3A93B4-404D-A5BB-52DD-258E6657D702}"/>
              </a:ext>
            </a:extLst>
          </p:cNvPr>
          <p:cNvSpPr/>
          <p:nvPr/>
        </p:nvSpPr>
        <p:spPr>
          <a:xfrm>
            <a:off x="6829635" y="2228383"/>
            <a:ext cx="21486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读取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DFF0C8-712D-703A-C525-60E87C9EEC2A}"/>
              </a:ext>
            </a:extLst>
          </p:cNvPr>
          <p:cNvSpPr/>
          <p:nvPr/>
        </p:nvSpPr>
        <p:spPr>
          <a:xfrm>
            <a:off x="7139759" y="3347717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写出</a:t>
            </a:r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006BC9F-0619-8626-DA1D-39692860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54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8F35AE-2CB2-F0D7-F51E-6DC90EAA58CC}"/>
              </a:ext>
            </a:extLst>
          </p:cNvPr>
          <p:cNvSpPr/>
          <p:nvPr/>
        </p:nvSpPr>
        <p:spPr>
          <a:xfrm>
            <a:off x="453682" y="907663"/>
            <a:ext cx="23236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I : input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F7037C-2A3F-5EA8-F61A-7AD79AC1E8CD}"/>
              </a:ext>
            </a:extLst>
          </p:cNvPr>
          <p:cNvSpPr/>
          <p:nvPr/>
        </p:nvSpPr>
        <p:spPr>
          <a:xfrm>
            <a:off x="5786384" y="5448187"/>
            <a:ext cx="2735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O : output 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048C9-CF56-7A2F-8D4E-1A50BED4E59D}"/>
              </a:ext>
            </a:extLst>
          </p:cNvPr>
          <p:cNvSpPr/>
          <p:nvPr/>
        </p:nvSpPr>
        <p:spPr>
          <a:xfrm>
            <a:off x="2777327" y="954046"/>
            <a:ext cx="1576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</a:t>
            </a:r>
            <a:endParaRPr lang="en-US" altLang="zh-C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3DE0F5-B13D-F070-70D3-9041F9979C15}"/>
              </a:ext>
            </a:extLst>
          </p:cNvPr>
          <p:cNvSpPr/>
          <p:nvPr/>
        </p:nvSpPr>
        <p:spPr>
          <a:xfrm>
            <a:off x="8483814" y="5494570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3A93B4-404D-A5BB-52DD-258E6657D702}"/>
              </a:ext>
            </a:extLst>
          </p:cNvPr>
          <p:cNvSpPr/>
          <p:nvPr/>
        </p:nvSpPr>
        <p:spPr>
          <a:xfrm>
            <a:off x="4528402" y="955055"/>
            <a:ext cx="21486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读取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DFF0C8-712D-703A-C525-60E87C9EEC2A}"/>
              </a:ext>
            </a:extLst>
          </p:cNvPr>
          <p:cNvSpPr/>
          <p:nvPr/>
        </p:nvSpPr>
        <p:spPr>
          <a:xfrm>
            <a:off x="10171228" y="5494570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写出</a:t>
            </a:r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FE0B9B44-0BB4-662E-A03F-D20A2FAE5273}"/>
              </a:ext>
            </a:extLst>
          </p:cNvPr>
          <p:cNvSpPr/>
          <p:nvPr/>
        </p:nvSpPr>
        <p:spPr>
          <a:xfrm>
            <a:off x="7536444" y="3156389"/>
            <a:ext cx="2782428" cy="1186070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0F4C16F6-6E56-BDB8-1D4B-314E815377AF}"/>
              </a:ext>
            </a:extLst>
          </p:cNvPr>
          <p:cNvSpPr/>
          <p:nvPr/>
        </p:nvSpPr>
        <p:spPr>
          <a:xfrm>
            <a:off x="662609" y="2743201"/>
            <a:ext cx="3127513" cy="2065148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D:\user.txt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Ashen_666  </a:t>
            </a:r>
            <a:r>
              <a:rPr lang="zh-CN" altLang="en-US" dirty="0">
                <a:latin typeface="Consolas" panose="020B0609020204030204" pitchFamily="49" charset="0"/>
              </a:rPr>
              <a:t>  </a:t>
            </a:r>
            <a:r>
              <a:rPr lang="en-US" altLang="zh-CN" dirty="0">
                <a:latin typeface="Consolas" panose="020B0609020204030204" pitchFamily="49" charset="0"/>
              </a:rPr>
              <a:t>123456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Ajie_888     111111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箭头: 手杖形 7">
            <a:extLst>
              <a:ext uri="{FF2B5EF4-FFF2-40B4-BE49-F238E27FC236}">
                <a16:creationId xmlns:a16="http://schemas.microsoft.com/office/drawing/2014/main" id="{481DB5F2-0BBC-33DE-CEDF-6D1180DEBB00}"/>
              </a:ext>
            </a:extLst>
          </p:cNvPr>
          <p:cNvSpPr/>
          <p:nvPr/>
        </p:nvSpPr>
        <p:spPr>
          <a:xfrm flipH="1">
            <a:off x="1030387" y="2003268"/>
            <a:ext cx="8027474" cy="118606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6047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0D277A-8CCF-9B5B-0136-8AB268BEC7AB}"/>
              </a:ext>
            </a:extLst>
          </p:cNvPr>
          <p:cNvSpPr txBox="1"/>
          <p:nvPr/>
        </p:nvSpPr>
        <p:spPr>
          <a:xfrm>
            <a:off x="4412975" y="1993280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E2D23F-2A4F-405B-2500-CD6A99D2D990}"/>
              </a:ext>
            </a:extLst>
          </p:cNvPr>
          <p:cNvSpPr txBox="1"/>
          <p:nvPr/>
        </p:nvSpPr>
        <p:spPr>
          <a:xfrm>
            <a:off x="7728098" y="4388842"/>
            <a:ext cx="259077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Ashen_666  </a:t>
            </a:r>
            <a:r>
              <a:rPr lang="zh-CN" altLang="en-US" dirty="0">
                <a:latin typeface="Consolas" panose="020B0609020204030204" pitchFamily="49" charset="0"/>
              </a:rPr>
              <a:t>  </a:t>
            </a:r>
            <a:r>
              <a:rPr lang="en-US" altLang="zh-CN" dirty="0">
                <a:latin typeface="Consolas" panose="020B0609020204030204" pitchFamily="49" charset="0"/>
              </a:rPr>
              <a:t>123456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5B4E3DC-C502-B7F6-2B08-FFD6069E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611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8F35AE-2CB2-F0D7-F51E-6DC90EAA58CC}"/>
              </a:ext>
            </a:extLst>
          </p:cNvPr>
          <p:cNvSpPr/>
          <p:nvPr/>
        </p:nvSpPr>
        <p:spPr>
          <a:xfrm>
            <a:off x="453682" y="907663"/>
            <a:ext cx="23236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I : input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F7037C-2A3F-5EA8-F61A-7AD79AC1E8CD}"/>
              </a:ext>
            </a:extLst>
          </p:cNvPr>
          <p:cNvSpPr/>
          <p:nvPr/>
        </p:nvSpPr>
        <p:spPr>
          <a:xfrm>
            <a:off x="5786384" y="5448187"/>
            <a:ext cx="2735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O : output 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048C9-CF56-7A2F-8D4E-1A50BED4E59D}"/>
              </a:ext>
            </a:extLst>
          </p:cNvPr>
          <p:cNvSpPr/>
          <p:nvPr/>
        </p:nvSpPr>
        <p:spPr>
          <a:xfrm>
            <a:off x="2777327" y="954046"/>
            <a:ext cx="1576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</a:t>
            </a:r>
            <a:endParaRPr lang="en-US" altLang="zh-C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3DE0F5-B13D-F070-70D3-9041F9979C15}"/>
              </a:ext>
            </a:extLst>
          </p:cNvPr>
          <p:cNvSpPr/>
          <p:nvPr/>
        </p:nvSpPr>
        <p:spPr>
          <a:xfrm>
            <a:off x="8483814" y="5494570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3A93B4-404D-A5BB-52DD-258E6657D702}"/>
              </a:ext>
            </a:extLst>
          </p:cNvPr>
          <p:cNvSpPr/>
          <p:nvPr/>
        </p:nvSpPr>
        <p:spPr>
          <a:xfrm>
            <a:off x="4528402" y="955055"/>
            <a:ext cx="21486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读取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DFF0C8-712D-703A-C525-60E87C9EEC2A}"/>
              </a:ext>
            </a:extLst>
          </p:cNvPr>
          <p:cNvSpPr/>
          <p:nvPr/>
        </p:nvSpPr>
        <p:spPr>
          <a:xfrm>
            <a:off x="10171228" y="5494570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写出</a:t>
            </a:r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FE0B9B44-0BB4-662E-A03F-D20A2FAE5273}"/>
              </a:ext>
            </a:extLst>
          </p:cNvPr>
          <p:cNvSpPr/>
          <p:nvPr/>
        </p:nvSpPr>
        <p:spPr>
          <a:xfrm>
            <a:off x="7536444" y="3156389"/>
            <a:ext cx="2782428" cy="1186070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0F4C16F6-6E56-BDB8-1D4B-314E815377AF}"/>
              </a:ext>
            </a:extLst>
          </p:cNvPr>
          <p:cNvSpPr/>
          <p:nvPr/>
        </p:nvSpPr>
        <p:spPr>
          <a:xfrm>
            <a:off x="662609" y="2743201"/>
            <a:ext cx="3127513" cy="2065148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D:\user.txt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Ashen_666  </a:t>
            </a:r>
            <a:r>
              <a:rPr lang="zh-CN" altLang="en-US" dirty="0">
                <a:latin typeface="Consolas" panose="020B0609020204030204" pitchFamily="49" charset="0"/>
              </a:rPr>
              <a:t>  </a:t>
            </a:r>
            <a:r>
              <a:rPr lang="en-US" altLang="zh-CN" dirty="0">
                <a:latin typeface="Consolas" panose="020B0609020204030204" pitchFamily="49" charset="0"/>
              </a:rPr>
              <a:t>123456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Ajie_888     111111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箭头: 手杖形 7">
            <a:extLst>
              <a:ext uri="{FF2B5EF4-FFF2-40B4-BE49-F238E27FC236}">
                <a16:creationId xmlns:a16="http://schemas.microsoft.com/office/drawing/2014/main" id="{481DB5F2-0BBC-33DE-CEDF-6D1180DEBB00}"/>
              </a:ext>
            </a:extLst>
          </p:cNvPr>
          <p:cNvSpPr/>
          <p:nvPr/>
        </p:nvSpPr>
        <p:spPr>
          <a:xfrm flipH="1">
            <a:off x="1030387" y="2003268"/>
            <a:ext cx="8027474" cy="118606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6047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A24F7D-E46F-946E-180C-4B819D98AB65}"/>
              </a:ext>
            </a:extLst>
          </p:cNvPr>
          <p:cNvSpPr txBox="1"/>
          <p:nvPr/>
        </p:nvSpPr>
        <p:spPr>
          <a:xfrm>
            <a:off x="7728098" y="4388842"/>
            <a:ext cx="259077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Ashen_666  </a:t>
            </a:r>
            <a:r>
              <a:rPr lang="zh-CN" altLang="en-US" dirty="0">
                <a:latin typeface="Consolas" panose="020B0609020204030204" pitchFamily="49" charset="0"/>
              </a:rPr>
              <a:t>  </a:t>
            </a:r>
            <a:r>
              <a:rPr lang="en-US" altLang="zh-CN" dirty="0">
                <a:latin typeface="Consolas" panose="020B0609020204030204" pitchFamily="49" charset="0"/>
              </a:rPr>
              <a:t>123456</a:t>
            </a:r>
          </a:p>
        </p:txBody>
      </p:sp>
      <p:pic>
        <p:nvPicPr>
          <p:cNvPr id="3" name="图形 2" descr="用户 纯色填充">
            <a:extLst>
              <a:ext uri="{FF2B5EF4-FFF2-40B4-BE49-F238E27FC236}">
                <a16:creationId xmlns:a16="http://schemas.microsoft.com/office/drawing/2014/main" id="{6D06E248-0032-6575-D0F1-25F90BADF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5856" y="3472461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1DEF040-E42C-2337-59AC-66E06E3E4114}"/>
              </a:ext>
            </a:extLst>
          </p:cNvPr>
          <p:cNvSpPr txBox="1"/>
          <p:nvPr/>
        </p:nvSpPr>
        <p:spPr>
          <a:xfrm>
            <a:off x="5206083" y="3329497"/>
            <a:ext cx="2056108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注册账号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SanLian666</a:t>
            </a: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888888</a:t>
            </a:r>
          </a:p>
        </p:txBody>
      </p:sp>
      <p:sp>
        <p:nvSpPr>
          <p:cNvPr id="10" name="箭头: 手杖形 9">
            <a:extLst>
              <a:ext uri="{FF2B5EF4-FFF2-40B4-BE49-F238E27FC236}">
                <a16:creationId xmlns:a16="http://schemas.microsoft.com/office/drawing/2014/main" id="{0FA56C06-B85A-239C-6F0D-46DFA2153CE1}"/>
              </a:ext>
            </a:extLst>
          </p:cNvPr>
          <p:cNvSpPr/>
          <p:nvPr/>
        </p:nvSpPr>
        <p:spPr>
          <a:xfrm flipH="1" flipV="1">
            <a:off x="2124919" y="4433244"/>
            <a:ext cx="6932942" cy="968560"/>
          </a:xfrm>
          <a:prstGeom prst="uturnArrow">
            <a:avLst>
              <a:gd name="adj1" fmla="val 31841"/>
              <a:gd name="adj2" fmla="val 25000"/>
              <a:gd name="adj3" fmla="val 25000"/>
              <a:gd name="adj4" fmla="val 43750"/>
              <a:gd name="adj5" fmla="val 6268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BDAE85-6DB1-772A-628B-1729902528BD}"/>
              </a:ext>
            </a:extLst>
          </p:cNvPr>
          <p:cNvSpPr txBox="1"/>
          <p:nvPr/>
        </p:nvSpPr>
        <p:spPr>
          <a:xfrm>
            <a:off x="4412975" y="1993280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39F4CC-4C03-0133-2CE4-02E6711FAC16}"/>
              </a:ext>
            </a:extLst>
          </p:cNvPr>
          <p:cNvSpPr txBox="1"/>
          <p:nvPr/>
        </p:nvSpPr>
        <p:spPr>
          <a:xfrm>
            <a:off x="4507411" y="5094027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66973D5-BDEB-FF6C-2C36-FCA48AC9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74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10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8F35AE-2CB2-F0D7-F51E-6DC90EAA58CC}"/>
              </a:ext>
            </a:extLst>
          </p:cNvPr>
          <p:cNvSpPr/>
          <p:nvPr/>
        </p:nvSpPr>
        <p:spPr>
          <a:xfrm>
            <a:off x="453682" y="907663"/>
            <a:ext cx="23236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I : input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F7037C-2A3F-5EA8-F61A-7AD79AC1E8CD}"/>
              </a:ext>
            </a:extLst>
          </p:cNvPr>
          <p:cNvSpPr/>
          <p:nvPr/>
        </p:nvSpPr>
        <p:spPr>
          <a:xfrm>
            <a:off x="5786384" y="5448187"/>
            <a:ext cx="2735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O : output 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048C9-CF56-7A2F-8D4E-1A50BED4E59D}"/>
              </a:ext>
            </a:extLst>
          </p:cNvPr>
          <p:cNvSpPr/>
          <p:nvPr/>
        </p:nvSpPr>
        <p:spPr>
          <a:xfrm>
            <a:off x="2777327" y="954046"/>
            <a:ext cx="1576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</a:t>
            </a:r>
            <a:endParaRPr lang="en-US" altLang="zh-C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3DE0F5-B13D-F070-70D3-9041F9979C15}"/>
              </a:ext>
            </a:extLst>
          </p:cNvPr>
          <p:cNvSpPr/>
          <p:nvPr/>
        </p:nvSpPr>
        <p:spPr>
          <a:xfrm>
            <a:off x="8483814" y="5494570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3A93B4-404D-A5BB-52DD-258E6657D702}"/>
              </a:ext>
            </a:extLst>
          </p:cNvPr>
          <p:cNvSpPr/>
          <p:nvPr/>
        </p:nvSpPr>
        <p:spPr>
          <a:xfrm>
            <a:off x="4528402" y="955055"/>
            <a:ext cx="21486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读取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DFF0C8-712D-703A-C525-60E87C9EEC2A}"/>
              </a:ext>
            </a:extLst>
          </p:cNvPr>
          <p:cNvSpPr/>
          <p:nvPr/>
        </p:nvSpPr>
        <p:spPr>
          <a:xfrm>
            <a:off x="10171228" y="5494570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写出</a:t>
            </a:r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FE0B9B44-0BB4-662E-A03F-D20A2FAE5273}"/>
              </a:ext>
            </a:extLst>
          </p:cNvPr>
          <p:cNvSpPr/>
          <p:nvPr/>
        </p:nvSpPr>
        <p:spPr>
          <a:xfrm>
            <a:off x="7536444" y="3156389"/>
            <a:ext cx="2782428" cy="1186070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0F4C16F6-6E56-BDB8-1D4B-314E815377AF}"/>
              </a:ext>
            </a:extLst>
          </p:cNvPr>
          <p:cNvSpPr/>
          <p:nvPr/>
        </p:nvSpPr>
        <p:spPr>
          <a:xfrm>
            <a:off x="662609" y="2743201"/>
            <a:ext cx="3127513" cy="2065148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D:\user.txt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Ashen_666  </a:t>
            </a:r>
            <a:r>
              <a:rPr lang="zh-CN" altLang="en-US" dirty="0">
                <a:latin typeface="Consolas" panose="020B0609020204030204" pitchFamily="49" charset="0"/>
              </a:rPr>
              <a:t>  </a:t>
            </a:r>
            <a:r>
              <a:rPr lang="en-US" altLang="zh-CN" dirty="0">
                <a:latin typeface="Consolas" panose="020B0609020204030204" pitchFamily="49" charset="0"/>
              </a:rPr>
              <a:t>123456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Ajie_888     111111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箭头: 手杖形 7">
            <a:extLst>
              <a:ext uri="{FF2B5EF4-FFF2-40B4-BE49-F238E27FC236}">
                <a16:creationId xmlns:a16="http://schemas.microsoft.com/office/drawing/2014/main" id="{481DB5F2-0BBC-33DE-CEDF-6D1180DEBB00}"/>
              </a:ext>
            </a:extLst>
          </p:cNvPr>
          <p:cNvSpPr/>
          <p:nvPr/>
        </p:nvSpPr>
        <p:spPr>
          <a:xfrm flipH="1">
            <a:off x="1030387" y="2003268"/>
            <a:ext cx="8027474" cy="118606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6047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A24F7D-E46F-946E-180C-4B819D98AB65}"/>
              </a:ext>
            </a:extLst>
          </p:cNvPr>
          <p:cNvSpPr txBox="1"/>
          <p:nvPr/>
        </p:nvSpPr>
        <p:spPr>
          <a:xfrm>
            <a:off x="7372267" y="4433244"/>
            <a:ext cx="265498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SanLian666      888888</a:t>
            </a:r>
          </a:p>
        </p:txBody>
      </p:sp>
      <p:pic>
        <p:nvPicPr>
          <p:cNvPr id="3" name="图形 2" descr="用户 纯色填充">
            <a:extLst>
              <a:ext uri="{FF2B5EF4-FFF2-40B4-BE49-F238E27FC236}">
                <a16:creationId xmlns:a16="http://schemas.microsoft.com/office/drawing/2014/main" id="{6D06E248-0032-6575-D0F1-25F90BADF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5856" y="3472461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1DEF040-E42C-2337-59AC-66E06E3E4114}"/>
              </a:ext>
            </a:extLst>
          </p:cNvPr>
          <p:cNvSpPr txBox="1"/>
          <p:nvPr/>
        </p:nvSpPr>
        <p:spPr>
          <a:xfrm>
            <a:off x="5206083" y="3329497"/>
            <a:ext cx="2056108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注册账号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SanLian666</a:t>
            </a: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888888</a:t>
            </a:r>
          </a:p>
        </p:txBody>
      </p:sp>
      <p:sp>
        <p:nvSpPr>
          <p:cNvPr id="10" name="箭头: 手杖形 9">
            <a:extLst>
              <a:ext uri="{FF2B5EF4-FFF2-40B4-BE49-F238E27FC236}">
                <a16:creationId xmlns:a16="http://schemas.microsoft.com/office/drawing/2014/main" id="{0FA56C06-B85A-239C-6F0D-46DFA2153CE1}"/>
              </a:ext>
            </a:extLst>
          </p:cNvPr>
          <p:cNvSpPr/>
          <p:nvPr/>
        </p:nvSpPr>
        <p:spPr>
          <a:xfrm flipH="1" flipV="1">
            <a:off x="2124919" y="4433244"/>
            <a:ext cx="6932942" cy="968560"/>
          </a:xfrm>
          <a:prstGeom prst="uturnArrow">
            <a:avLst>
              <a:gd name="adj1" fmla="val 31841"/>
              <a:gd name="adj2" fmla="val 25000"/>
              <a:gd name="adj3" fmla="val 25000"/>
              <a:gd name="adj4" fmla="val 43750"/>
              <a:gd name="adj5" fmla="val 6268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BDAE85-6DB1-772A-628B-1729902528BD}"/>
              </a:ext>
            </a:extLst>
          </p:cNvPr>
          <p:cNvSpPr txBox="1"/>
          <p:nvPr/>
        </p:nvSpPr>
        <p:spPr>
          <a:xfrm>
            <a:off x="4412975" y="1993280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39F4CC-4C03-0133-2CE4-02E6711FAC16}"/>
              </a:ext>
            </a:extLst>
          </p:cNvPr>
          <p:cNvSpPr txBox="1"/>
          <p:nvPr/>
        </p:nvSpPr>
        <p:spPr>
          <a:xfrm>
            <a:off x="4507411" y="5094027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1B02CEC-CA67-5AD0-57F4-2979D254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051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8F35AE-2CB2-F0D7-F51E-6DC90EAA58CC}"/>
              </a:ext>
            </a:extLst>
          </p:cNvPr>
          <p:cNvSpPr/>
          <p:nvPr/>
        </p:nvSpPr>
        <p:spPr>
          <a:xfrm>
            <a:off x="453682" y="907663"/>
            <a:ext cx="23236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I : input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F7037C-2A3F-5EA8-F61A-7AD79AC1E8CD}"/>
              </a:ext>
            </a:extLst>
          </p:cNvPr>
          <p:cNvSpPr/>
          <p:nvPr/>
        </p:nvSpPr>
        <p:spPr>
          <a:xfrm>
            <a:off x="5786384" y="5448187"/>
            <a:ext cx="2735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O : output 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048C9-CF56-7A2F-8D4E-1A50BED4E59D}"/>
              </a:ext>
            </a:extLst>
          </p:cNvPr>
          <p:cNvSpPr/>
          <p:nvPr/>
        </p:nvSpPr>
        <p:spPr>
          <a:xfrm>
            <a:off x="2777327" y="954046"/>
            <a:ext cx="1576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</a:t>
            </a:r>
            <a:endParaRPr lang="en-US" altLang="zh-C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3DE0F5-B13D-F070-70D3-9041F9979C15}"/>
              </a:ext>
            </a:extLst>
          </p:cNvPr>
          <p:cNvSpPr/>
          <p:nvPr/>
        </p:nvSpPr>
        <p:spPr>
          <a:xfrm>
            <a:off x="8483814" y="5494570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3A93B4-404D-A5BB-52DD-258E6657D702}"/>
              </a:ext>
            </a:extLst>
          </p:cNvPr>
          <p:cNvSpPr/>
          <p:nvPr/>
        </p:nvSpPr>
        <p:spPr>
          <a:xfrm>
            <a:off x="4528402" y="955055"/>
            <a:ext cx="21486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读取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DFF0C8-712D-703A-C525-60E87C9EEC2A}"/>
              </a:ext>
            </a:extLst>
          </p:cNvPr>
          <p:cNvSpPr/>
          <p:nvPr/>
        </p:nvSpPr>
        <p:spPr>
          <a:xfrm>
            <a:off x="10171228" y="5494570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写出</a:t>
            </a:r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FE0B9B44-0BB4-662E-A03F-D20A2FAE5273}"/>
              </a:ext>
            </a:extLst>
          </p:cNvPr>
          <p:cNvSpPr/>
          <p:nvPr/>
        </p:nvSpPr>
        <p:spPr>
          <a:xfrm>
            <a:off x="7536444" y="3156389"/>
            <a:ext cx="2782428" cy="1186070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0F4C16F6-6E56-BDB8-1D4B-314E815377AF}"/>
              </a:ext>
            </a:extLst>
          </p:cNvPr>
          <p:cNvSpPr/>
          <p:nvPr/>
        </p:nvSpPr>
        <p:spPr>
          <a:xfrm>
            <a:off x="662609" y="2743201"/>
            <a:ext cx="3127513" cy="2065148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D:\user.txt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Ashen_666  </a:t>
            </a:r>
            <a:r>
              <a:rPr lang="zh-CN" altLang="en-US" dirty="0">
                <a:latin typeface="Consolas" panose="020B0609020204030204" pitchFamily="49" charset="0"/>
              </a:rPr>
              <a:t>  </a:t>
            </a:r>
            <a:r>
              <a:rPr lang="en-US" altLang="zh-CN" dirty="0">
                <a:latin typeface="Consolas" panose="020B0609020204030204" pitchFamily="49" charset="0"/>
              </a:rPr>
              <a:t>123456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Ajie_888     111111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箭头: 手杖形 7">
            <a:extLst>
              <a:ext uri="{FF2B5EF4-FFF2-40B4-BE49-F238E27FC236}">
                <a16:creationId xmlns:a16="http://schemas.microsoft.com/office/drawing/2014/main" id="{481DB5F2-0BBC-33DE-CEDF-6D1180DEBB00}"/>
              </a:ext>
            </a:extLst>
          </p:cNvPr>
          <p:cNvSpPr/>
          <p:nvPr/>
        </p:nvSpPr>
        <p:spPr>
          <a:xfrm flipH="1">
            <a:off x="1030387" y="2003268"/>
            <a:ext cx="8027474" cy="1186069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6047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A24F7D-E46F-946E-180C-4B819D98AB65}"/>
              </a:ext>
            </a:extLst>
          </p:cNvPr>
          <p:cNvSpPr txBox="1"/>
          <p:nvPr/>
        </p:nvSpPr>
        <p:spPr>
          <a:xfrm>
            <a:off x="662609" y="3929662"/>
            <a:ext cx="265498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SanLian666      888888</a:t>
            </a:r>
          </a:p>
        </p:txBody>
      </p:sp>
      <p:pic>
        <p:nvPicPr>
          <p:cNvPr id="3" name="图形 2" descr="用户 纯色填充">
            <a:extLst>
              <a:ext uri="{FF2B5EF4-FFF2-40B4-BE49-F238E27FC236}">
                <a16:creationId xmlns:a16="http://schemas.microsoft.com/office/drawing/2014/main" id="{6D06E248-0032-6575-D0F1-25F90BADF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5856" y="3472461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1DEF040-E42C-2337-59AC-66E06E3E4114}"/>
              </a:ext>
            </a:extLst>
          </p:cNvPr>
          <p:cNvSpPr txBox="1"/>
          <p:nvPr/>
        </p:nvSpPr>
        <p:spPr>
          <a:xfrm>
            <a:off x="5206083" y="3329497"/>
            <a:ext cx="2056108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注册账号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SanLian666</a:t>
            </a:r>
          </a:p>
          <a:p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888888</a:t>
            </a:r>
          </a:p>
        </p:txBody>
      </p:sp>
      <p:sp>
        <p:nvSpPr>
          <p:cNvPr id="10" name="箭头: 手杖形 9">
            <a:extLst>
              <a:ext uri="{FF2B5EF4-FFF2-40B4-BE49-F238E27FC236}">
                <a16:creationId xmlns:a16="http://schemas.microsoft.com/office/drawing/2014/main" id="{0FA56C06-B85A-239C-6F0D-46DFA2153CE1}"/>
              </a:ext>
            </a:extLst>
          </p:cNvPr>
          <p:cNvSpPr/>
          <p:nvPr/>
        </p:nvSpPr>
        <p:spPr>
          <a:xfrm flipH="1" flipV="1">
            <a:off x="2124919" y="4433244"/>
            <a:ext cx="6932942" cy="968560"/>
          </a:xfrm>
          <a:prstGeom prst="uturnArrow">
            <a:avLst>
              <a:gd name="adj1" fmla="val 31841"/>
              <a:gd name="adj2" fmla="val 25000"/>
              <a:gd name="adj3" fmla="val 25000"/>
              <a:gd name="adj4" fmla="val 43750"/>
              <a:gd name="adj5" fmla="val 62686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BDAE85-6DB1-772A-628B-1729902528BD}"/>
              </a:ext>
            </a:extLst>
          </p:cNvPr>
          <p:cNvSpPr txBox="1"/>
          <p:nvPr/>
        </p:nvSpPr>
        <p:spPr>
          <a:xfrm>
            <a:off x="4412975" y="1993280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39F4CC-4C03-0133-2CE4-02E6711FAC16}"/>
              </a:ext>
            </a:extLst>
          </p:cNvPr>
          <p:cNvSpPr txBox="1"/>
          <p:nvPr/>
        </p:nvSpPr>
        <p:spPr>
          <a:xfrm>
            <a:off x="4507411" y="5094027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A9AA948-B417-2FFA-AF6F-3169BD38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907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8F35AE-2CB2-F0D7-F51E-6DC90EAA58CC}"/>
              </a:ext>
            </a:extLst>
          </p:cNvPr>
          <p:cNvSpPr/>
          <p:nvPr/>
        </p:nvSpPr>
        <p:spPr>
          <a:xfrm>
            <a:off x="592829" y="1328034"/>
            <a:ext cx="23236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I : input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F7037C-2A3F-5EA8-F61A-7AD79AC1E8CD}"/>
              </a:ext>
            </a:extLst>
          </p:cNvPr>
          <p:cNvSpPr/>
          <p:nvPr/>
        </p:nvSpPr>
        <p:spPr>
          <a:xfrm>
            <a:off x="518644" y="2290580"/>
            <a:ext cx="2735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O : output 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048C9-CF56-7A2F-8D4E-1A50BED4E59D}"/>
              </a:ext>
            </a:extLst>
          </p:cNvPr>
          <p:cNvSpPr/>
          <p:nvPr/>
        </p:nvSpPr>
        <p:spPr>
          <a:xfrm>
            <a:off x="2916474" y="1374417"/>
            <a:ext cx="1576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</a:t>
            </a:r>
            <a:endParaRPr lang="en-US" altLang="zh-C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3DE0F5-B13D-F070-70D3-9041F9979C15}"/>
              </a:ext>
            </a:extLst>
          </p:cNvPr>
          <p:cNvSpPr/>
          <p:nvPr/>
        </p:nvSpPr>
        <p:spPr>
          <a:xfrm>
            <a:off x="3216074" y="2336963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3A93B4-404D-A5BB-52DD-258E6657D702}"/>
              </a:ext>
            </a:extLst>
          </p:cNvPr>
          <p:cNvSpPr/>
          <p:nvPr/>
        </p:nvSpPr>
        <p:spPr>
          <a:xfrm>
            <a:off x="4667549" y="1375426"/>
            <a:ext cx="21486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读取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DFF0C8-712D-703A-C525-60E87C9EEC2A}"/>
              </a:ext>
            </a:extLst>
          </p:cNvPr>
          <p:cNvSpPr/>
          <p:nvPr/>
        </p:nvSpPr>
        <p:spPr>
          <a:xfrm>
            <a:off x="4903488" y="2336963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写出</a:t>
            </a:r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FE0B9B44-0BB4-662E-A03F-D20A2FAE5273}"/>
              </a:ext>
            </a:extLst>
          </p:cNvPr>
          <p:cNvSpPr/>
          <p:nvPr/>
        </p:nvSpPr>
        <p:spPr>
          <a:xfrm>
            <a:off x="5352941" y="4468085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0F4C16F6-6E56-BDB8-1D4B-314E815377AF}"/>
              </a:ext>
            </a:extLst>
          </p:cNvPr>
          <p:cNvSpPr/>
          <p:nvPr/>
        </p:nvSpPr>
        <p:spPr>
          <a:xfrm>
            <a:off x="592829" y="4500039"/>
            <a:ext cx="2114717" cy="618411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50" dirty="0">
                <a:latin typeface="Consolas" panose="020B0609020204030204" pitchFamily="49" charset="0"/>
              </a:rPr>
              <a:t>D:\user.txt</a:t>
            </a:r>
          </a:p>
          <a:p>
            <a:endParaRPr lang="en-US" altLang="zh-CN" sz="1050" dirty="0">
              <a:latin typeface="Consolas" panose="020B0609020204030204" pitchFamily="49" charset="0"/>
            </a:endParaRPr>
          </a:p>
          <a:p>
            <a:r>
              <a:rPr lang="en-US" altLang="zh-CN" sz="1050" dirty="0">
                <a:latin typeface="Consolas" panose="020B0609020204030204" pitchFamily="49" charset="0"/>
              </a:rPr>
              <a:t>Ashen_666  </a:t>
            </a:r>
            <a:r>
              <a:rPr lang="zh-CN" altLang="en-US" sz="1050" dirty="0">
                <a:latin typeface="Consolas" panose="020B0609020204030204" pitchFamily="49" charset="0"/>
              </a:rPr>
              <a:t>  </a:t>
            </a:r>
            <a:r>
              <a:rPr lang="en-US" altLang="zh-CN" sz="1050" dirty="0">
                <a:latin typeface="Consolas" panose="020B0609020204030204" pitchFamily="49" charset="0"/>
              </a:rPr>
              <a:t>123456</a:t>
            </a:r>
          </a:p>
          <a:p>
            <a:r>
              <a:rPr lang="en-US" altLang="zh-CN" sz="1050" dirty="0">
                <a:latin typeface="Consolas" panose="020B0609020204030204" pitchFamily="49" charset="0"/>
              </a:rPr>
              <a:t>Ajie_888     111111</a:t>
            </a:r>
          </a:p>
          <a:p>
            <a:r>
              <a:rPr lang="en-US" altLang="zh-CN" sz="105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SanLian666   888888</a:t>
            </a:r>
            <a:endParaRPr lang="en-US" altLang="zh-CN" sz="1050" dirty="0">
              <a:latin typeface="Consolas" panose="020B0609020204030204" pitchFamily="49" charset="0"/>
            </a:endParaRPr>
          </a:p>
          <a:p>
            <a:endParaRPr lang="zh-CN" altLang="en-US" sz="1050" dirty="0">
              <a:latin typeface="Consolas" panose="020B0609020204030204" pitchFamily="49" charset="0"/>
            </a:endParaRPr>
          </a:p>
        </p:txBody>
      </p:sp>
      <p:sp>
        <p:nvSpPr>
          <p:cNvPr id="8" name="箭头: 手杖形 7">
            <a:extLst>
              <a:ext uri="{FF2B5EF4-FFF2-40B4-BE49-F238E27FC236}">
                <a16:creationId xmlns:a16="http://schemas.microsoft.com/office/drawing/2014/main" id="{481DB5F2-0BBC-33DE-CEDF-6D1180DEBB00}"/>
              </a:ext>
            </a:extLst>
          </p:cNvPr>
          <p:cNvSpPr/>
          <p:nvPr/>
        </p:nvSpPr>
        <p:spPr>
          <a:xfrm flipH="1">
            <a:off x="960606" y="3760106"/>
            <a:ext cx="5357161" cy="739933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60475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手杖形 9">
            <a:extLst>
              <a:ext uri="{FF2B5EF4-FFF2-40B4-BE49-F238E27FC236}">
                <a16:creationId xmlns:a16="http://schemas.microsoft.com/office/drawing/2014/main" id="{0FA56C06-B85A-239C-6F0D-46DFA2153CE1}"/>
              </a:ext>
            </a:extLst>
          </p:cNvPr>
          <p:cNvSpPr/>
          <p:nvPr/>
        </p:nvSpPr>
        <p:spPr>
          <a:xfrm flipH="1" flipV="1">
            <a:off x="1016897" y="5134330"/>
            <a:ext cx="5300870" cy="572029"/>
          </a:xfrm>
          <a:prstGeom prst="uturnArrow">
            <a:avLst>
              <a:gd name="adj1" fmla="val 31841"/>
              <a:gd name="adj2" fmla="val 25000"/>
              <a:gd name="adj3" fmla="val 21786"/>
              <a:gd name="adj4" fmla="val 43750"/>
              <a:gd name="adj5" fmla="val 9804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BDAE85-6DB1-772A-628B-1729902528BD}"/>
              </a:ext>
            </a:extLst>
          </p:cNvPr>
          <p:cNvSpPr txBox="1"/>
          <p:nvPr/>
        </p:nvSpPr>
        <p:spPr>
          <a:xfrm>
            <a:off x="2958869" y="3696034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39F4CC-4C03-0133-2CE4-02E6711FAC16}"/>
              </a:ext>
            </a:extLst>
          </p:cNvPr>
          <p:cNvSpPr txBox="1"/>
          <p:nvPr/>
        </p:nvSpPr>
        <p:spPr>
          <a:xfrm>
            <a:off x="4438411" y="4428869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781A99-8857-C025-423B-A98EEBE33161}"/>
              </a:ext>
            </a:extLst>
          </p:cNvPr>
          <p:cNvSpPr txBox="1"/>
          <p:nvPr/>
        </p:nvSpPr>
        <p:spPr>
          <a:xfrm>
            <a:off x="8523706" y="3105834"/>
            <a:ext cx="212441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0" lang="zh-CN" altLang="en-US" sz="3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数据传输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3DFD04D-790A-D9F4-B33D-70580538A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A2D34F-5151-28EE-75A4-8F8150C72ED9}"/>
              </a:ext>
            </a:extLst>
          </p:cNvPr>
          <p:cNvSpPr txBox="1"/>
          <p:nvPr/>
        </p:nvSpPr>
        <p:spPr>
          <a:xfrm>
            <a:off x="2916474" y="5465161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0669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8F35AE-2CB2-F0D7-F51E-6DC90EAA58CC}"/>
              </a:ext>
            </a:extLst>
          </p:cNvPr>
          <p:cNvSpPr/>
          <p:nvPr/>
        </p:nvSpPr>
        <p:spPr>
          <a:xfrm>
            <a:off x="592829" y="1328034"/>
            <a:ext cx="232364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I : input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F7037C-2A3F-5EA8-F61A-7AD79AC1E8CD}"/>
              </a:ext>
            </a:extLst>
          </p:cNvPr>
          <p:cNvSpPr/>
          <p:nvPr/>
        </p:nvSpPr>
        <p:spPr>
          <a:xfrm>
            <a:off x="518644" y="2290580"/>
            <a:ext cx="2735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O : output 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048C9-CF56-7A2F-8D4E-1A50BED4E59D}"/>
              </a:ext>
            </a:extLst>
          </p:cNvPr>
          <p:cNvSpPr/>
          <p:nvPr/>
        </p:nvSpPr>
        <p:spPr>
          <a:xfrm>
            <a:off x="2916474" y="1374417"/>
            <a:ext cx="157607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</a:t>
            </a:r>
            <a:endParaRPr lang="en-US" altLang="zh-C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3DE0F5-B13D-F070-70D3-9041F9979C15}"/>
              </a:ext>
            </a:extLst>
          </p:cNvPr>
          <p:cNvSpPr/>
          <p:nvPr/>
        </p:nvSpPr>
        <p:spPr>
          <a:xfrm>
            <a:off x="3216074" y="2336963"/>
            <a:ext cx="1576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3A93B4-404D-A5BB-52DD-258E6657D702}"/>
              </a:ext>
            </a:extLst>
          </p:cNvPr>
          <p:cNvSpPr/>
          <p:nvPr/>
        </p:nvSpPr>
        <p:spPr>
          <a:xfrm>
            <a:off x="4667549" y="1375426"/>
            <a:ext cx="214864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读取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DFF0C8-712D-703A-C525-60E87C9EEC2A}"/>
              </a:ext>
            </a:extLst>
          </p:cNvPr>
          <p:cNvSpPr/>
          <p:nvPr/>
        </p:nvSpPr>
        <p:spPr>
          <a:xfrm>
            <a:off x="4903488" y="2336963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(</a:t>
            </a:r>
            <a:r>
              <a:rPr lang="zh-CN" altLang="en-US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写出</a:t>
            </a:r>
            <a:r>
              <a:rPr lang="en-US" altLang="zh-CN" sz="5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)</a:t>
            </a:r>
            <a:endParaRPr lang="zh-CN" altLang="en-US" sz="5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6" name="流程图: 磁盘 5">
            <a:extLst>
              <a:ext uri="{FF2B5EF4-FFF2-40B4-BE49-F238E27FC236}">
                <a16:creationId xmlns:a16="http://schemas.microsoft.com/office/drawing/2014/main" id="{FE0B9B44-0BB4-662E-A03F-D20A2FAE5273}"/>
              </a:ext>
            </a:extLst>
          </p:cNvPr>
          <p:cNvSpPr/>
          <p:nvPr/>
        </p:nvSpPr>
        <p:spPr>
          <a:xfrm>
            <a:off x="5352941" y="4468085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7" name="矩形: 折角 6">
            <a:extLst>
              <a:ext uri="{FF2B5EF4-FFF2-40B4-BE49-F238E27FC236}">
                <a16:creationId xmlns:a16="http://schemas.microsoft.com/office/drawing/2014/main" id="{0F4C16F6-6E56-BDB8-1D4B-314E815377AF}"/>
              </a:ext>
            </a:extLst>
          </p:cNvPr>
          <p:cNvSpPr/>
          <p:nvPr/>
        </p:nvSpPr>
        <p:spPr>
          <a:xfrm>
            <a:off x="592829" y="4500039"/>
            <a:ext cx="2114717" cy="618411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50" dirty="0">
                <a:latin typeface="Consolas" panose="020B0609020204030204" pitchFamily="49" charset="0"/>
              </a:rPr>
              <a:t>D:\user.txt</a:t>
            </a:r>
          </a:p>
          <a:p>
            <a:endParaRPr lang="en-US" altLang="zh-CN" sz="1050" dirty="0">
              <a:latin typeface="Consolas" panose="020B0609020204030204" pitchFamily="49" charset="0"/>
            </a:endParaRPr>
          </a:p>
          <a:p>
            <a:r>
              <a:rPr lang="en-US" altLang="zh-CN" sz="1050" dirty="0">
                <a:latin typeface="Consolas" panose="020B0609020204030204" pitchFamily="49" charset="0"/>
              </a:rPr>
              <a:t>Ashen_666  </a:t>
            </a:r>
            <a:r>
              <a:rPr lang="zh-CN" altLang="en-US" sz="1050" dirty="0">
                <a:latin typeface="Consolas" panose="020B0609020204030204" pitchFamily="49" charset="0"/>
              </a:rPr>
              <a:t>  </a:t>
            </a:r>
            <a:r>
              <a:rPr lang="en-US" altLang="zh-CN" sz="1050" dirty="0">
                <a:latin typeface="Consolas" panose="020B0609020204030204" pitchFamily="49" charset="0"/>
              </a:rPr>
              <a:t>123456</a:t>
            </a:r>
          </a:p>
          <a:p>
            <a:r>
              <a:rPr lang="en-US" altLang="zh-CN" sz="1050" dirty="0">
                <a:latin typeface="Consolas" panose="020B0609020204030204" pitchFamily="49" charset="0"/>
              </a:rPr>
              <a:t>Ajie_888     111111</a:t>
            </a:r>
          </a:p>
          <a:p>
            <a:r>
              <a:rPr lang="en-US" altLang="zh-CN" sz="105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SanLian666   888888</a:t>
            </a:r>
            <a:endParaRPr lang="en-US" altLang="zh-CN" sz="1050" dirty="0">
              <a:latin typeface="Consolas" panose="020B0609020204030204" pitchFamily="49" charset="0"/>
            </a:endParaRPr>
          </a:p>
          <a:p>
            <a:endParaRPr lang="zh-CN" altLang="en-US" sz="1050" dirty="0">
              <a:latin typeface="Consolas" panose="020B0609020204030204" pitchFamily="49" charset="0"/>
            </a:endParaRPr>
          </a:p>
        </p:txBody>
      </p:sp>
      <p:sp>
        <p:nvSpPr>
          <p:cNvPr id="8" name="箭头: 手杖形 7">
            <a:extLst>
              <a:ext uri="{FF2B5EF4-FFF2-40B4-BE49-F238E27FC236}">
                <a16:creationId xmlns:a16="http://schemas.microsoft.com/office/drawing/2014/main" id="{481DB5F2-0BBC-33DE-CEDF-6D1180DEBB00}"/>
              </a:ext>
            </a:extLst>
          </p:cNvPr>
          <p:cNvSpPr/>
          <p:nvPr/>
        </p:nvSpPr>
        <p:spPr>
          <a:xfrm flipH="1">
            <a:off x="960606" y="3760106"/>
            <a:ext cx="5357161" cy="739933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6047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箭头: 手杖形 9">
            <a:extLst>
              <a:ext uri="{FF2B5EF4-FFF2-40B4-BE49-F238E27FC236}">
                <a16:creationId xmlns:a16="http://schemas.microsoft.com/office/drawing/2014/main" id="{0FA56C06-B85A-239C-6F0D-46DFA2153CE1}"/>
              </a:ext>
            </a:extLst>
          </p:cNvPr>
          <p:cNvSpPr/>
          <p:nvPr/>
        </p:nvSpPr>
        <p:spPr>
          <a:xfrm flipH="1" flipV="1">
            <a:off x="1016897" y="5134330"/>
            <a:ext cx="5300870" cy="572029"/>
          </a:xfrm>
          <a:prstGeom prst="uturnArrow">
            <a:avLst>
              <a:gd name="adj1" fmla="val 31841"/>
              <a:gd name="adj2" fmla="val 25000"/>
              <a:gd name="adj3" fmla="val 21786"/>
              <a:gd name="adj4" fmla="val 43750"/>
              <a:gd name="adj5" fmla="val 98045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BDAE85-6DB1-772A-628B-1729902528BD}"/>
              </a:ext>
            </a:extLst>
          </p:cNvPr>
          <p:cNvSpPr txBox="1"/>
          <p:nvPr/>
        </p:nvSpPr>
        <p:spPr>
          <a:xfrm>
            <a:off x="2958869" y="3696034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输入流管道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39F4CC-4C03-0133-2CE4-02E6711FAC16}"/>
              </a:ext>
            </a:extLst>
          </p:cNvPr>
          <p:cNvSpPr txBox="1"/>
          <p:nvPr/>
        </p:nvSpPr>
        <p:spPr>
          <a:xfrm>
            <a:off x="4438411" y="4428869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781A99-8857-C025-423B-A98EEBE33161}"/>
              </a:ext>
            </a:extLst>
          </p:cNvPr>
          <p:cNvSpPr txBox="1"/>
          <p:nvPr/>
        </p:nvSpPr>
        <p:spPr>
          <a:xfrm>
            <a:off x="8430940" y="1651416"/>
            <a:ext cx="212441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0" lang="zh-CN" altLang="en-US" sz="3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数据传输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BFC4E10-019C-25BE-2116-C5DE27A0B8D8}"/>
              </a:ext>
            </a:extLst>
          </p:cNvPr>
          <p:cNvSpPr/>
          <p:nvPr/>
        </p:nvSpPr>
        <p:spPr>
          <a:xfrm>
            <a:off x="7653131" y="2613962"/>
            <a:ext cx="4048538" cy="64633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场景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</a:rPr>
              <a:t>1: </a:t>
            </a: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读写配置文件、日志文件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C014BDC-7B33-6C4C-4161-CB72AB86A5F0}"/>
              </a:ext>
            </a:extLst>
          </p:cNvPr>
          <p:cNvSpPr/>
          <p:nvPr/>
        </p:nvSpPr>
        <p:spPr>
          <a:xfrm>
            <a:off x="7653131" y="3526756"/>
            <a:ext cx="4048538" cy="64633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场景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</a:rPr>
              <a:t>2: </a:t>
            </a: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客户端与服务端的通讯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C5F9FCC-EF8F-FB6C-7340-A33A59D414FC}"/>
              </a:ext>
            </a:extLst>
          </p:cNvPr>
          <p:cNvSpPr/>
          <p:nvPr/>
        </p:nvSpPr>
        <p:spPr>
          <a:xfrm>
            <a:off x="7653131" y="4366670"/>
            <a:ext cx="4048538" cy="64633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场景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</a:rPr>
              <a:t>3: </a:t>
            </a: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文件上传下载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D9A3E93-3971-44D1-79A0-4758D2D14A48}"/>
              </a:ext>
            </a:extLst>
          </p:cNvPr>
          <p:cNvSpPr/>
          <p:nvPr/>
        </p:nvSpPr>
        <p:spPr>
          <a:xfrm>
            <a:off x="7653131" y="5206584"/>
            <a:ext cx="4048538" cy="64633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endParaRPr lang="zh-CN" alt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75D975DE-0974-FA3D-86A0-DF3D258C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D86B81-AE6B-A87E-5B7A-3BD8C471384A}"/>
              </a:ext>
            </a:extLst>
          </p:cNvPr>
          <p:cNvSpPr txBox="1"/>
          <p:nvPr/>
        </p:nvSpPr>
        <p:spPr>
          <a:xfrm>
            <a:off x="2916474" y="5465161"/>
            <a:ext cx="107342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输出流管道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1154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82EEC4B-B124-80E3-963C-4A0EFA3D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IO</a:t>
            </a:r>
            <a:r>
              <a:rPr lang="en-US" altLang="zh-CN" dirty="0"/>
              <a:t> </a:t>
            </a:r>
            <a:r>
              <a:rPr lang="zh-CN" altLang="en-US" dirty="0"/>
              <a:t>流体系结构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30350FD-1272-2401-09F4-123CC473CE80}"/>
              </a:ext>
            </a:extLst>
          </p:cNvPr>
          <p:cNvSpPr/>
          <p:nvPr/>
        </p:nvSpPr>
        <p:spPr>
          <a:xfrm>
            <a:off x="710880" y="2408449"/>
            <a:ext cx="1763486" cy="5784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字节流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FC624BE-003F-4E1E-C10B-3DEEAE18AC8C}"/>
              </a:ext>
            </a:extLst>
          </p:cNvPr>
          <p:cNvSpPr/>
          <p:nvPr/>
        </p:nvSpPr>
        <p:spPr>
          <a:xfrm>
            <a:off x="710880" y="5030643"/>
            <a:ext cx="1763486" cy="5784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字符流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7C1B344-8493-FF60-D6E4-6645D799280C}"/>
              </a:ext>
            </a:extLst>
          </p:cNvPr>
          <p:cNvSpPr/>
          <p:nvPr/>
        </p:nvSpPr>
        <p:spPr>
          <a:xfrm>
            <a:off x="2910741" y="1850572"/>
            <a:ext cx="1787155" cy="44205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  <a:ea typeface="杨任东竹石体-Bold" panose="02000000000000000000" pitchFamily="2" charset="-122"/>
              </a:rPr>
              <a:t>InputStream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3FF2949-4FD0-B817-0991-9B0B459B5296}"/>
              </a:ext>
            </a:extLst>
          </p:cNvPr>
          <p:cNvSpPr/>
          <p:nvPr/>
        </p:nvSpPr>
        <p:spPr>
          <a:xfrm>
            <a:off x="2910740" y="3059834"/>
            <a:ext cx="1787155" cy="44205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  <a:ea typeface="杨任东竹石体-Bold" panose="02000000000000000000" pitchFamily="2" charset="-122"/>
              </a:rPr>
              <a:t>OutputStream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792FE01-6499-5BC3-6CA5-F0BF03E47265}"/>
              </a:ext>
            </a:extLst>
          </p:cNvPr>
          <p:cNvSpPr/>
          <p:nvPr/>
        </p:nvSpPr>
        <p:spPr>
          <a:xfrm>
            <a:off x="2623930" y="1519422"/>
            <a:ext cx="4459357" cy="2376717"/>
          </a:xfrm>
          <a:custGeom>
            <a:avLst/>
            <a:gdLst>
              <a:gd name="connsiteX0" fmla="*/ 0 w 4459357"/>
              <a:gd name="connsiteY0" fmla="*/ 396127 h 2376717"/>
              <a:gd name="connsiteX1" fmla="*/ 396127 w 4459357"/>
              <a:gd name="connsiteY1" fmla="*/ 0 h 2376717"/>
              <a:gd name="connsiteX2" fmla="*/ 1043982 w 4459357"/>
              <a:gd name="connsiteY2" fmla="*/ 0 h 2376717"/>
              <a:gd name="connsiteX3" fmla="*/ 1618495 w 4459357"/>
              <a:gd name="connsiteY3" fmla="*/ 0 h 2376717"/>
              <a:gd name="connsiteX4" fmla="*/ 2266350 w 4459357"/>
              <a:gd name="connsiteY4" fmla="*/ 0 h 2376717"/>
              <a:gd name="connsiteX5" fmla="*/ 2840862 w 4459357"/>
              <a:gd name="connsiteY5" fmla="*/ 0 h 2376717"/>
              <a:gd name="connsiteX6" fmla="*/ 3452046 w 4459357"/>
              <a:gd name="connsiteY6" fmla="*/ 0 h 2376717"/>
              <a:gd name="connsiteX7" fmla="*/ 4063230 w 4459357"/>
              <a:gd name="connsiteY7" fmla="*/ 0 h 2376717"/>
              <a:gd name="connsiteX8" fmla="*/ 4459357 w 4459357"/>
              <a:gd name="connsiteY8" fmla="*/ 396127 h 2376717"/>
              <a:gd name="connsiteX9" fmla="*/ 4459357 w 4459357"/>
              <a:gd name="connsiteY9" fmla="*/ 955971 h 2376717"/>
              <a:gd name="connsiteX10" fmla="*/ 4459357 w 4459357"/>
              <a:gd name="connsiteY10" fmla="*/ 1452436 h 2376717"/>
              <a:gd name="connsiteX11" fmla="*/ 4459357 w 4459357"/>
              <a:gd name="connsiteY11" fmla="*/ 1980590 h 2376717"/>
              <a:gd name="connsiteX12" fmla="*/ 4063230 w 4459357"/>
              <a:gd name="connsiteY12" fmla="*/ 2376717 h 2376717"/>
              <a:gd name="connsiteX13" fmla="*/ 3525388 w 4459357"/>
              <a:gd name="connsiteY13" fmla="*/ 2376717 h 2376717"/>
              <a:gd name="connsiteX14" fmla="*/ 2840862 w 4459357"/>
              <a:gd name="connsiteY14" fmla="*/ 2376717 h 2376717"/>
              <a:gd name="connsiteX15" fmla="*/ 2339692 w 4459357"/>
              <a:gd name="connsiteY15" fmla="*/ 2376717 h 2376717"/>
              <a:gd name="connsiteX16" fmla="*/ 1691837 w 4459357"/>
              <a:gd name="connsiteY16" fmla="*/ 2376717 h 2376717"/>
              <a:gd name="connsiteX17" fmla="*/ 1043982 w 4459357"/>
              <a:gd name="connsiteY17" fmla="*/ 2376717 h 2376717"/>
              <a:gd name="connsiteX18" fmla="*/ 396127 w 4459357"/>
              <a:gd name="connsiteY18" fmla="*/ 2376717 h 2376717"/>
              <a:gd name="connsiteX19" fmla="*/ 0 w 4459357"/>
              <a:gd name="connsiteY19" fmla="*/ 1980590 h 2376717"/>
              <a:gd name="connsiteX20" fmla="*/ 0 w 4459357"/>
              <a:gd name="connsiteY20" fmla="*/ 1452436 h 2376717"/>
              <a:gd name="connsiteX21" fmla="*/ 0 w 4459357"/>
              <a:gd name="connsiteY21" fmla="*/ 892592 h 2376717"/>
              <a:gd name="connsiteX22" fmla="*/ 0 w 4459357"/>
              <a:gd name="connsiteY22" fmla="*/ 396127 h 2376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459357" h="2376717" extrusionOk="0">
                <a:moveTo>
                  <a:pt x="0" y="396127"/>
                </a:moveTo>
                <a:cubicBezTo>
                  <a:pt x="40907" y="178544"/>
                  <a:pt x="147821" y="9362"/>
                  <a:pt x="396127" y="0"/>
                </a:cubicBezTo>
                <a:cubicBezTo>
                  <a:pt x="553814" y="-12004"/>
                  <a:pt x="799634" y="-9883"/>
                  <a:pt x="1043982" y="0"/>
                </a:cubicBezTo>
                <a:cubicBezTo>
                  <a:pt x="1288330" y="9883"/>
                  <a:pt x="1400926" y="-22421"/>
                  <a:pt x="1618495" y="0"/>
                </a:cubicBezTo>
                <a:cubicBezTo>
                  <a:pt x="1836064" y="22421"/>
                  <a:pt x="1985433" y="11037"/>
                  <a:pt x="2266350" y="0"/>
                </a:cubicBezTo>
                <a:cubicBezTo>
                  <a:pt x="2547267" y="-11037"/>
                  <a:pt x="2662432" y="4994"/>
                  <a:pt x="2840862" y="0"/>
                </a:cubicBezTo>
                <a:cubicBezTo>
                  <a:pt x="3019292" y="-4994"/>
                  <a:pt x="3300604" y="-3652"/>
                  <a:pt x="3452046" y="0"/>
                </a:cubicBezTo>
                <a:cubicBezTo>
                  <a:pt x="3603488" y="3652"/>
                  <a:pt x="3909506" y="19432"/>
                  <a:pt x="4063230" y="0"/>
                </a:cubicBezTo>
                <a:cubicBezTo>
                  <a:pt x="4249962" y="-12094"/>
                  <a:pt x="4480802" y="179139"/>
                  <a:pt x="4459357" y="396127"/>
                </a:cubicBezTo>
                <a:cubicBezTo>
                  <a:pt x="4478980" y="590947"/>
                  <a:pt x="4460794" y="689995"/>
                  <a:pt x="4459357" y="955971"/>
                </a:cubicBezTo>
                <a:cubicBezTo>
                  <a:pt x="4457920" y="1221947"/>
                  <a:pt x="4482822" y="1278577"/>
                  <a:pt x="4459357" y="1452436"/>
                </a:cubicBezTo>
                <a:cubicBezTo>
                  <a:pt x="4435892" y="1626295"/>
                  <a:pt x="4465484" y="1852894"/>
                  <a:pt x="4459357" y="1980590"/>
                </a:cubicBezTo>
                <a:cubicBezTo>
                  <a:pt x="4436650" y="2245710"/>
                  <a:pt x="4236369" y="2380209"/>
                  <a:pt x="4063230" y="2376717"/>
                </a:cubicBezTo>
                <a:cubicBezTo>
                  <a:pt x="3807700" y="2379567"/>
                  <a:pt x="3739016" y="2373974"/>
                  <a:pt x="3525388" y="2376717"/>
                </a:cubicBezTo>
                <a:cubicBezTo>
                  <a:pt x="3311760" y="2379460"/>
                  <a:pt x="2993091" y="2402712"/>
                  <a:pt x="2840862" y="2376717"/>
                </a:cubicBezTo>
                <a:cubicBezTo>
                  <a:pt x="2688633" y="2350722"/>
                  <a:pt x="2509299" y="2356705"/>
                  <a:pt x="2339692" y="2376717"/>
                </a:cubicBezTo>
                <a:cubicBezTo>
                  <a:pt x="2170085" y="2396730"/>
                  <a:pt x="1978380" y="2354506"/>
                  <a:pt x="1691837" y="2376717"/>
                </a:cubicBezTo>
                <a:cubicBezTo>
                  <a:pt x="1405295" y="2398928"/>
                  <a:pt x="1261791" y="2383577"/>
                  <a:pt x="1043982" y="2376717"/>
                </a:cubicBezTo>
                <a:cubicBezTo>
                  <a:pt x="826173" y="2369857"/>
                  <a:pt x="611538" y="2387523"/>
                  <a:pt x="396127" y="2376717"/>
                </a:cubicBezTo>
                <a:cubicBezTo>
                  <a:pt x="159826" y="2368402"/>
                  <a:pt x="39632" y="2198703"/>
                  <a:pt x="0" y="1980590"/>
                </a:cubicBezTo>
                <a:cubicBezTo>
                  <a:pt x="387" y="1825942"/>
                  <a:pt x="17318" y="1606883"/>
                  <a:pt x="0" y="1452436"/>
                </a:cubicBezTo>
                <a:cubicBezTo>
                  <a:pt x="-17318" y="1297989"/>
                  <a:pt x="25604" y="1059298"/>
                  <a:pt x="0" y="892592"/>
                </a:cubicBezTo>
                <a:cubicBezTo>
                  <a:pt x="-25604" y="725886"/>
                  <a:pt x="8015" y="504849"/>
                  <a:pt x="0" y="396127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C219E-B02F-A2C4-3888-C9BEC6692E0B}"/>
              </a:ext>
            </a:extLst>
          </p:cNvPr>
          <p:cNvSpPr txBox="1"/>
          <p:nvPr/>
        </p:nvSpPr>
        <p:spPr>
          <a:xfrm>
            <a:off x="5084098" y="1886932"/>
            <a:ext cx="13308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字节输入流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B3E4E5-A595-AE12-8AA8-CDE47AEDA5B7}"/>
              </a:ext>
            </a:extLst>
          </p:cNvPr>
          <p:cNvSpPr txBox="1"/>
          <p:nvPr/>
        </p:nvSpPr>
        <p:spPr>
          <a:xfrm>
            <a:off x="5084098" y="3096194"/>
            <a:ext cx="13308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字节输出流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DDEF7D-4673-BB93-9F8B-09AF7C4C9E1C}"/>
              </a:ext>
            </a:extLst>
          </p:cNvPr>
          <p:cNvSpPr txBox="1"/>
          <p:nvPr/>
        </p:nvSpPr>
        <p:spPr>
          <a:xfrm>
            <a:off x="3368139" y="2513032"/>
            <a:ext cx="87235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抽象类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90B8326-A094-9890-9F12-8B3808B881C6}"/>
              </a:ext>
            </a:extLst>
          </p:cNvPr>
          <p:cNvSpPr/>
          <p:nvPr/>
        </p:nvSpPr>
        <p:spPr>
          <a:xfrm>
            <a:off x="7370097" y="1616766"/>
            <a:ext cx="2741312" cy="2126974"/>
          </a:xfrm>
          <a:custGeom>
            <a:avLst/>
            <a:gdLst>
              <a:gd name="connsiteX0" fmla="*/ 0 w 2741312"/>
              <a:gd name="connsiteY0" fmla="*/ 354503 h 2126974"/>
              <a:gd name="connsiteX1" fmla="*/ 354503 w 2741312"/>
              <a:gd name="connsiteY1" fmla="*/ 0 h 2126974"/>
              <a:gd name="connsiteX2" fmla="*/ 1052261 w 2741312"/>
              <a:gd name="connsiteY2" fmla="*/ 0 h 2126974"/>
              <a:gd name="connsiteX3" fmla="*/ 1709374 w 2741312"/>
              <a:gd name="connsiteY3" fmla="*/ 0 h 2126974"/>
              <a:gd name="connsiteX4" fmla="*/ 2386809 w 2741312"/>
              <a:gd name="connsiteY4" fmla="*/ 0 h 2126974"/>
              <a:gd name="connsiteX5" fmla="*/ 2741312 w 2741312"/>
              <a:gd name="connsiteY5" fmla="*/ 354503 h 2126974"/>
              <a:gd name="connsiteX6" fmla="*/ 2741312 w 2741312"/>
              <a:gd name="connsiteY6" fmla="*/ 841339 h 2126974"/>
              <a:gd name="connsiteX7" fmla="*/ 2741312 w 2741312"/>
              <a:gd name="connsiteY7" fmla="*/ 1285635 h 2126974"/>
              <a:gd name="connsiteX8" fmla="*/ 2741312 w 2741312"/>
              <a:gd name="connsiteY8" fmla="*/ 1772471 h 2126974"/>
              <a:gd name="connsiteX9" fmla="*/ 2386809 w 2741312"/>
              <a:gd name="connsiteY9" fmla="*/ 2126974 h 2126974"/>
              <a:gd name="connsiteX10" fmla="*/ 1729697 w 2741312"/>
              <a:gd name="connsiteY10" fmla="*/ 2126974 h 2126974"/>
              <a:gd name="connsiteX11" fmla="*/ 1113231 w 2741312"/>
              <a:gd name="connsiteY11" fmla="*/ 2126974 h 2126974"/>
              <a:gd name="connsiteX12" fmla="*/ 354503 w 2741312"/>
              <a:gd name="connsiteY12" fmla="*/ 2126974 h 2126974"/>
              <a:gd name="connsiteX13" fmla="*/ 0 w 2741312"/>
              <a:gd name="connsiteY13" fmla="*/ 1772471 h 2126974"/>
              <a:gd name="connsiteX14" fmla="*/ 0 w 2741312"/>
              <a:gd name="connsiteY14" fmla="*/ 1313995 h 2126974"/>
              <a:gd name="connsiteX15" fmla="*/ 0 w 2741312"/>
              <a:gd name="connsiteY15" fmla="*/ 827159 h 2126974"/>
              <a:gd name="connsiteX16" fmla="*/ 0 w 2741312"/>
              <a:gd name="connsiteY16" fmla="*/ 354503 h 2126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1312" h="2126974" extrusionOk="0">
                <a:moveTo>
                  <a:pt x="0" y="354503"/>
                </a:moveTo>
                <a:cubicBezTo>
                  <a:pt x="42637" y="159958"/>
                  <a:pt x="136278" y="7114"/>
                  <a:pt x="354503" y="0"/>
                </a:cubicBezTo>
                <a:cubicBezTo>
                  <a:pt x="588744" y="-8062"/>
                  <a:pt x="717082" y="16538"/>
                  <a:pt x="1052261" y="0"/>
                </a:cubicBezTo>
                <a:cubicBezTo>
                  <a:pt x="1387440" y="-16538"/>
                  <a:pt x="1554377" y="30646"/>
                  <a:pt x="1709374" y="0"/>
                </a:cubicBezTo>
                <a:cubicBezTo>
                  <a:pt x="1864371" y="-30646"/>
                  <a:pt x="2207223" y="7138"/>
                  <a:pt x="2386809" y="0"/>
                </a:cubicBezTo>
                <a:cubicBezTo>
                  <a:pt x="2614001" y="-1980"/>
                  <a:pt x="2760336" y="124486"/>
                  <a:pt x="2741312" y="354503"/>
                </a:cubicBezTo>
                <a:cubicBezTo>
                  <a:pt x="2720197" y="473537"/>
                  <a:pt x="2720700" y="629090"/>
                  <a:pt x="2741312" y="841339"/>
                </a:cubicBezTo>
                <a:cubicBezTo>
                  <a:pt x="2761924" y="1053588"/>
                  <a:pt x="2720401" y="1073416"/>
                  <a:pt x="2741312" y="1285635"/>
                </a:cubicBezTo>
                <a:cubicBezTo>
                  <a:pt x="2762223" y="1497854"/>
                  <a:pt x="2742870" y="1668631"/>
                  <a:pt x="2741312" y="1772471"/>
                </a:cubicBezTo>
                <a:cubicBezTo>
                  <a:pt x="2753151" y="1926121"/>
                  <a:pt x="2580994" y="2100135"/>
                  <a:pt x="2386809" y="2126974"/>
                </a:cubicBezTo>
                <a:cubicBezTo>
                  <a:pt x="2068073" y="2111069"/>
                  <a:pt x="1965085" y="2134498"/>
                  <a:pt x="1729697" y="2126974"/>
                </a:cubicBezTo>
                <a:cubicBezTo>
                  <a:pt x="1494309" y="2119450"/>
                  <a:pt x="1350331" y="2131611"/>
                  <a:pt x="1113231" y="2126974"/>
                </a:cubicBezTo>
                <a:cubicBezTo>
                  <a:pt x="876131" y="2122337"/>
                  <a:pt x="630363" y="2120054"/>
                  <a:pt x="354503" y="2126974"/>
                </a:cubicBezTo>
                <a:cubicBezTo>
                  <a:pt x="115706" y="2137021"/>
                  <a:pt x="-3179" y="1949971"/>
                  <a:pt x="0" y="1772471"/>
                </a:cubicBezTo>
                <a:cubicBezTo>
                  <a:pt x="-1495" y="1670639"/>
                  <a:pt x="11192" y="1440627"/>
                  <a:pt x="0" y="1313995"/>
                </a:cubicBezTo>
                <a:cubicBezTo>
                  <a:pt x="-11192" y="1187363"/>
                  <a:pt x="7626" y="1068221"/>
                  <a:pt x="0" y="827159"/>
                </a:cubicBezTo>
                <a:cubicBezTo>
                  <a:pt x="-7626" y="586097"/>
                  <a:pt x="-19916" y="463870"/>
                  <a:pt x="0" y="354503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74FD025-0022-334D-DA15-EA52F823A997}"/>
              </a:ext>
            </a:extLst>
          </p:cNvPr>
          <p:cNvSpPr/>
          <p:nvPr/>
        </p:nvSpPr>
        <p:spPr>
          <a:xfrm>
            <a:off x="7595383" y="1853889"/>
            <a:ext cx="2270859" cy="44205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  <a:ea typeface="杨任东竹石体-Bold" panose="02000000000000000000" pitchFamily="2" charset="-122"/>
              </a:rPr>
              <a:t>FileInputStream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0F8E55C-F88C-A7FE-AF43-12F76846906A}"/>
              </a:ext>
            </a:extLst>
          </p:cNvPr>
          <p:cNvSpPr/>
          <p:nvPr/>
        </p:nvSpPr>
        <p:spPr>
          <a:xfrm>
            <a:off x="7595383" y="3063063"/>
            <a:ext cx="2270859" cy="44205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  <a:ea typeface="杨任东竹石体-Bold" panose="02000000000000000000" pitchFamily="2" charset="-122"/>
              </a:rPr>
              <a:t>FileOutputStream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66C80C-C645-68EE-C001-0D863AF039E2}"/>
              </a:ext>
            </a:extLst>
          </p:cNvPr>
          <p:cNvSpPr txBox="1"/>
          <p:nvPr/>
        </p:nvSpPr>
        <p:spPr>
          <a:xfrm>
            <a:off x="8034532" y="2489983"/>
            <a:ext cx="156004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抽象类的子类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1B10D4-EB55-B7EA-146E-7E366FDC10FF}"/>
              </a:ext>
            </a:extLst>
          </p:cNvPr>
          <p:cNvSpPr/>
          <p:nvPr/>
        </p:nvSpPr>
        <p:spPr>
          <a:xfrm>
            <a:off x="2623930" y="4288654"/>
            <a:ext cx="4459357" cy="2204912"/>
          </a:xfrm>
          <a:custGeom>
            <a:avLst/>
            <a:gdLst>
              <a:gd name="connsiteX0" fmla="*/ 0 w 4459357"/>
              <a:gd name="connsiteY0" fmla="*/ 367493 h 2204912"/>
              <a:gd name="connsiteX1" fmla="*/ 367493 w 4459357"/>
              <a:gd name="connsiteY1" fmla="*/ 0 h 2204912"/>
              <a:gd name="connsiteX2" fmla="*/ 1025465 w 4459357"/>
              <a:gd name="connsiteY2" fmla="*/ 0 h 2204912"/>
              <a:gd name="connsiteX3" fmla="*/ 1608950 w 4459357"/>
              <a:gd name="connsiteY3" fmla="*/ 0 h 2204912"/>
              <a:gd name="connsiteX4" fmla="*/ 2266922 w 4459357"/>
              <a:gd name="connsiteY4" fmla="*/ 0 h 2204912"/>
              <a:gd name="connsiteX5" fmla="*/ 2850407 w 4459357"/>
              <a:gd name="connsiteY5" fmla="*/ 0 h 2204912"/>
              <a:gd name="connsiteX6" fmla="*/ 3471136 w 4459357"/>
              <a:gd name="connsiteY6" fmla="*/ 0 h 2204912"/>
              <a:gd name="connsiteX7" fmla="*/ 4091864 w 4459357"/>
              <a:gd name="connsiteY7" fmla="*/ 0 h 2204912"/>
              <a:gd name="connsiteX8" fmla="*/ 4459357 w 4459357"/>
              <a:gd name="connsiteY8" fmla="*/ 367493 h 2204912"/>
              <a:gd name="connsiteX9" fmla="*/ 4459357 w 4459357"/>
              <a:gd name="connsiteY9" fmla="*/ 886867 h 2204912"/>
              <a:gd name="connsiteX10" fmla="*/ 4459357 w 4459357"/>
              <a:gd name="connsiteY10" fmla="*/ 1347444 h 2204912"/>
              <a:gd name="connsiteX11" fmla="*/ 4459357 w 4459357"/>
              <a:gd name="connsiteY11" fmla="*/ 1837419 h 2204912"/>
              <a:gd name="connsiteX12" fmla="*/ 4091864 w 4459357"/>
              <a:gd name="connsiteY12" fmla="*/ 2204912 h 2204912"/>
              <a:gd name="connsiteX13" fmla="*/ 3545623 w 4459357"/>
              <a:gd name="connsiteY13" fmla="*/ 2204912 h 2204912"/>
              <a:gd name="connsiteX14" fmla="*/ 2850407 w 4459357"/>
              <a:gd name="connsiteY14" fmla="*/ 2204912 h 2204912"/>
              <a:gd name="connsiteX15" fmla="*/ 2341410 w 4459357"/>
              <a:gd name="connsiteY15" fmla="*/ 2204912 h 2204912"/>
              <a:gd name="connsiteX16" fmla="*/ 1683437 w 4459357"/>
              <a:gd name="connsiteY16" fmla="*/ 2204912 h 2204912"/>
              <a:gd name="connsiteX17" fmla="*/ 1025465 w 4459357"/>
              <a:gd name="connsiteY17" fmla="*/ 2204912 h 2204912"/>
              <a:gd name="connsiteX18" fmla="*/ 367493 w 4459357"/>
              <a:gd name="connsiteY18" fmla="*/ 2204912 h 2204912"/>
              <a:gd name="connsiteX19" fmla="*/ 0 w 4459357"/>
              <a:gd name="connsiteY19" fmla="*/ 1837419 h 2204912"/>
              <a:gd name="connsiteX20" fmla="*/ 0 w 4459357"/>
              <a:gd name="connsiteY20" fmla="*/ 1347444 h 2204912"/>
              <a:gd name="connsiteX21" fmla="*/ 0 w 4459357"/>
              <a:gd name="connsiteY21" fmla="*/ 828070 h 2204912"/>
              <a:gd name="connsiteX22" fmla="*/ 0 w 4459357"/>
              <a:gd name="connsiteY22" fmla="*/ 367493 h 2204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459357" h="2204912" extrusionOk="0">
                <a:moveTo>
                  <a:pt x="0" y="367493"/>
                </a:moveTo>
                <a:cubicBezTo>
                  <a:pt x="15214" y="164975"/>
                  <a:pt x="119206" y="14370"/>
                  <a:pt x="367493" y="0"/>
                </a:cubicBezTo>
                <a:cubicBezTo>
                  <a:pt x="537425" y="-1734"/>
                  <a:pt x="766226" y="21666"/>
                  <a:pt x="1025465" y="0"/>
                </a:cubicBezTo>
                <a:cubicBezTo>
                  <a:pt x="1284704" y="-21666"/>
                  <a:pt x="1347892" y="13758"/>
                  <a:pt x="1608950" y="0"/>
                </a:cubicBezTo>
                <a:cubicBezTo>
                  <a:pt x="1870008" y="-13758"/>
                  <a:pt x="2076120" y="11544"/>
                  <a:pt x="2266922" y="0"/>
                </a:cubicBezTo>
                <a:cubicBezTo>
                  <a:pt x="2457724" y="-11544"/>
                  <a:pt x="2714293" y="5777"/>
                  <a:pt x="2850407" y="0"/>
                </a:cubicBezTo>
                <a:cubicBezTo>
                  <a:pt x="2986521" y="-5777"/>
                  <a:pt x="3285409" y="10651"/>
                  <a:pt x="3471136" y="0"/>
                </a:cubicBezTo>
                <a:cubicBezTo>
                  <a:pt x="3656863" y="-10651"/>
                  <a:pt x="3795968" y="26960"/>
                  <a:pt x="4091864" y="0"/>
                </a:cubicBezTo>
                <a:cubicBezTo>
                  <a:pt x="4279925" y="-5624"/>
                  <a:pt x="4469584" y="165384"/>
                  <a:pt x="4459357" y="367493"/>
                </a:cubicBezTo>
                <a:cubicBezTo>
                  <a:pt x="4444770" y="479485"/>
                  <a:pt x="4459790" y="750195"/>
                  <a:pt x="4459357" y="886867"/>
                </a:cubicBezTo>
                <a:cubicBezTo>
                  <a:pt x="4458924" y="1023539"/>
                  <a:pt x="4480150" y="1163708"/>
                  <a:pt x="4459357" y="1347444"/>
                </a:cubicBezTo>
                <a:cubicBezTo>
                  <a:pt x="4438564" y="1531180"/>
                  <a:pt x="4435726" y="1630032"/>
                  <a:pt x="4459357" y="1837419"/>
                </a:cubicBezTo>
                <a:cubicBezTo>
                  <a:pt x="4444686" y="2070324"/>
                  <a:pt x="4267493" y="2207003"/>
                  <a:pt x="4091864" y="2204912"/>
                </a:cubicBezTo>
                <a:cubicBezTo>
                  <a:pt x="3892242" y="2224751"/>
                  <a:pt x="3676822" y="2191026"/>
                  <a:pt x="3545623" y="2204912"/>
                </a:cubicBezTo>
                <a:cubicBezTo>
                  <a:pt x="3414424" y="2218798"/>
                  <a:pt x="3143223" y="2232570"/>
                  <a:pt x="2850407" y="2204912"/>
                </a:cubicBezTo>
                <a:cubicBezTo>
                  <a:pt x="2557591" y="2177254"/>
                  <a:pt x="2574056" y="2223043"/>
                  <a:pt x="2341410" y="2204912"/>
                </a:cubicBezTo>
                <a:cubicBezTo>
                  <a:pt x="2108764" y="2186781"/>
                  <a:pt x="1815935" y="2200649"/>
                  <a:pt x="1683437" y="2204912"/>
                </a:cubicBezTo>
                <a:cubicBezTo>
                  <a:pt x="1550939" y="2209175"/>
                  <a:pt x="1334927" y="2217399"/>
                  <a:pt x="1025465" y="2204912"/>
                </a:cubicBezTo>
                <a:cubicBezTo>
                  <a:pt x="716003" y="2192425"/>
                  <a:pt x="634807" y="2184335"/>
                  <a:pt x="367493" y="2204912"/>
                </a:cubicBezTo>
                <a:cubicBezTo>
                  <a:pt x="136190" y="2191466"/>
                  <a:pt x="13509" y="2040154"/>
                  <a:pt x="0" y="1837419"/>
                </a:cubicBezTo>
                <a:cubicBezTo>
                  <a:pt x="-5520" y="1600110"/>
                  <a:pt x="-5082" y="1473804"/>
                  <a:pt x="0" y="1347444"/>
                </a:cubicBezTo>
                <a:cubicBezTo>
                  <a:pt x="5082" y="1221085"/>
                  <a:pt x="-19549" y="1022017"/>
                  <a:pt x="0" y="828070"/>
                </a:cubicBezTo>
                <a:cubicBezTo>
                  <a:pt x="19549" y="634123"/>
                  <a:pt x="-4505" y="581041"/>
                  <a:pt x="0" y="367493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9862313-FDD7-24E2-2ACB-6379F0525457}"/>
              </a:ext>
            </a:extLst>
          </p:cNvPr>
          <p:cNvSpPr/>
          <p:nvPr/>
        </p:nvSpPr>
        <p:spPr>
          <a:xfrm>
            <a:off x="2934409" y="4622576"/>
            <a:ext cx="1697226" cy="5656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  <a:ea typeface="杨任东竹石体-Bold" panose="02000000000000000000" pitchFamily="2" charset="-122"/>
              </a:rPr>
              <a:t>Reader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A6EE7E6-D9B1-1284-D630-17897FD8FD0D}"/>
              </a:ext>
            </a:extLst>
          </p:cNvPr>
          <p:cNvSpPr/>
          <p:nvPr/>
        </p:nvSpPr>
        <p:spPr>
          <a:xfrm>
            <a:off x="2934409" y="5643973"/>
            <a:ext cx="1697226" cy="5656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  <a:ea typeface="杨任东竹石体-Bold" panose="02000000000000000000" pitchFamily="2" charset="-122"/>
              </a:rPr>
              <a:t>Writer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EDC3C58-E237-EF2A-B8AB-7015604707BA}"/>
              </a:ext>
            </a:extLst>
          </p:cNvPr>
          <p:cNvSpPr txBox="1"/>
          <p:nvPr/>
        </p:nvSpPr>
        <p:spPr>
          <a:xfrm>
            <a:off x="5192054" y="4631013"/>
            <a:ext cx="13308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字符输入流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D5B3CBB-9177-2013-B6E0-04B7A070C337}"/>
              </a:ext>
            </a:extLst>
          </p:cNvPr>
          <p:cNvSpPr txBox="1"/>
          <p:nvPr/>
        </p:nvSpPr>
        <p:spPr>
          <a:xfrm>
            <a:off x="5192054" y="5840275"/>
            <a:ext cx="13308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字符输出流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A3797C2-DB8F-5BE0-5EE6-BD2E6AA23057}"/>
              </a:ext>
            </a:extLst>
          </p:cNvPr>
          <p:cNvSpPr txBox="1"/>
          <p:nvPr/>
        </p:nvSpPr>
        <p:spPr>
          <a:xfrm>
            <a:off x="3346844" y="5231433"/>
            <a:ext cx="87235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抽象类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FFF555F-6D6D-E582-641C-94837AE65BF2}"/>
              </a:ext>
            </a:extLst>
          </p:cNvPr>
          <p:cNvSpPr/>
          <p:nvPr/>
        </p:nvSpPr>
        <p:spPr>
          <a:xfrm>
            <a:off x="7449610" y="4366592"/>
            <a:ext cx="2741312" cy="2126974"/>
          </a:xfrm>
          <a:custGeom>
            <a:avLst/>
            <a:gdLst>
              <a:gd name="connsiteX0" fmla="*/ 0 w 2741312"/>
              <a:gd name="connsiteY0" fmla="*/ 354503 h 2126974"/>
              <a:gd name="connsiteX1" fmla="*/ 354503 w 2741312"/>
              <a:gd name="connsiteY1" fmla="*/ 0 h 2126974"/>
              <a:gd name="connsiteX2" fmla="*/ 1052261 w 2741312"/>
              <a:gd name="connsiteY2" fmla="*/ 0 h 2126974"/>
              <a:gd name="connsiteX3" fmla="*/ 1709374 w 2741312"/>
              <a:gd name="connsiteY3" fmla="*/ 0 h 2126974"/>
              <a:gd name="connsiteX4" fmla="*/ 2386809 w 2741312"/>
              <a:gd name="connsiteY4" fmla="*/ 0 h 2126974"/>
              <a:gd name="connsiteX5" fmla="*/ 2741312 w 2741312"/>
              <a:gd name="connsiteY5" fmla="*/ 354503 h 2126974"/>
              <a:gd name="connsiteX6" fmla="*/ 2741312 w 2741312"/>
              <a:gd name="connsiteY6" fmla="*/ 841339 h 2126974"/>
              <a:gd name="connsiteX7" fmla="*/ 2741312 w 2741312"/>
              <a:gd name="connsiteY7" fmla="*/ 1285635 h 2126974"/>
              <a:gd name="connsiteX8" fmla="*/ 2741312 w 2741312"/>
              <a:gd name="connsiteY8" fmla="*/ 1772471 h 2126974"/>
              <a:gd name="connsiteX9" fmla="*/ 2386809 w 2741312"/>
              <a:gd name="connsiteY9" fmla="*/ 2126974 h 2126974"/>
              <a:gd name="connsiteX10" fmla="*/ 1729697 w 2741312"/>
              <a:gd name="connsiteY10" fmla="*/ 2126974 h 2126974"/>
              <a:gd name="connsiteX11" fmla="*/ 1113231 w 2741312"/>
              <a:gd name="connsiteY11" fmla="*/ 2126974 h 2126974"/>
              <a:gd name="connsiteX12" fmla="*/ 354503 w 2741312"/>
              <a:gd name="connsiteY12" fmla="*/ 2126974 h 2126974"/>
              <a:gd name="connsiteX13" fmla="*/ 0 w 2741312"/>
              <a:gd name="connsiteY13" fmla="*/ 1772471 h 2126974"/>
              <a:gd name="connsiteX14" fmla="*/ 0 w 2741312"/>
              <a:gd name="connsiteY14" fmla="*/ 1313995 h 2126974"/>
              <a:gd name="connsiteX15" fmla="*/ 0 w 2741312"/>
              <a:gd name="connsiteY15" fmla="*/ 827159 h 2126974"/>
              <a:gd name="connsiteX16" fmla="*/ 0 w 2741312"/>
              <a:gd name="connsiteY16" fmla="*/ 354503 h 2126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41312" h="2126974" extrusionOk="0">
                <a:moveTo>
                  <a:pt x="0" y="354503"/>
                </a:moveTo>
                <a:cubicBezTo>
                  <a:pt x="42637" y="159958"/>
                  <a:pt x="136278" y="7114"/>
                  <a:pt x="354503" y="0"/>
                </a:cubicBezTo>
                <a:cubicBezTo>
                  <a:pt x="588744" y="-8062"/>
                  <a:pt x="717082" y="16538"/>
                  <a:pt x="1052261" y="0"/>
                </a:cubicBezTo>
                <a:cubicBezTo>
                  <a:pt x="1387440" y="-16538"/>
                  <a:pt x="1554377" y="30646"/>
                  <a:pt x="1709374" y="0"/>
                </a:cubicBezTo>
                <a:cubicBezTo>
                  <a:pt x="1864371" y="-30646"/>
                  <a:pt x="2207223" y="7138"/>
                  <a:pt x="2386809" y="0"/>
                </a:cubicBezTo>
                <a:cubicBezTo>
                  <a:pt x="2614001" y="-1980"/>
                  <a:pt x="2760336" y="124486"/>
                  <a:pt x="2741312" y="354503"/>
                </a:cubicBezTo>
                <a:cubicBezTo>
                  <a:pt x="2720197" y="473537"/>
                  <a:pt x="2720700" y="629090"/>
                  <a:pt x="2741312" y="841339"/>
                </a:cubicBezTo>
                <a:cubicBezTo>
                  <a:pt x="2761924" y="1053588"/>
                  <a:pt x="2720401" y="1073416"/>
                  <a:pt x="2741312" y="1285635"/>
                </a:cubicBezTo>
                <a:cubicBezTo>
                  <a:pt x="2762223" y="1497854"/>
                  <a:pt x="2742870" y="1668631"/>
                  <a:pt x="2741312" y="1772471"/>
                </a:cubicBezTo>
                <a:cubicBezTo>
                  <a:pt x="2753151" y="1926121"/>
                  <a:pt x="2580994" y="2100135"/>
                  <a:pt x="2386809" y="2126974"/>
                </a:cubicBezTo>
                <a:cubicBezTo>
                  <a:pt x="2068073" y="2111069"/>
                  <a:pt x="1965085" y="2134498"/>
                  <a:pt x="1729697" y="2126974"/>
                </a:cubicBezTo>
                <a:cubicBezTo>
                  <a:pt x="1494309" y="2119450"/>
                  <a:pt x="1350331" y="2131611"/>
                  <a:pt x="1113231" y="2126974"/>
                </a:cubicBezTo>
                <a:cubicBezTo>
                  <a:pt x="876131" y="2122337"/>
                  <a:pt x="630363" y="2120054"/>
                  <a:pt x="354503" y="2126974"/>
                </a:cubicBezTo>
                <a:cubicBezTo>
                  <a:pt x="115706" y="2137021"/>
                  <a:pt x="-3179" y="1949971"/>
                  <a:pt x="0" y="1772471"/>
                </a:cubicBezTo>
                <a:cubicBezTo>
                  <a:pt x="-1495" y="1670639"/>
                  <a:pt x="11192" y="1440627"/>
                  <a:pt x="0" y="1313995"/>
                </a:cubicBezTo>
                <a:cubicBezTo>
                  <a:pt x="-11192" y="1187363"/>
                  <a:pt x="7626" y="1068221"/>
                  <a:pt x="0" y="827159"/>
                </a:cubicBezTo>
                <a:cubicBezTo>
                  <a:pt x="-7626" y="586097"/>
                  <a:pt x="-19916" y="463870"/>
                  <a:pt x="0" y="354503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30193779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0D075BB3-A653-CF02-0689-85830D7BC5F7}"/>
              </a:ext>
            </a:extLst>
          </p:cNvPr>
          <p:cNvSpPr/>
          <p:nvPr/>
        </p:nvSpPr>
        <p:spPr>
          <a:xfrm>
            <a:off x="7674896" y="4603715"/>
            <a:ext cx="2270859" cy="44205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  <a:ea typeface="杨任东竹石体-Bold" panose="02000000000000000000" pitchFamily="2" charset="-122"/>
              </a:rPr>
              <a:t>FileReader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F718672-9F49-4704-7623-73F2CC6A10C1}"/>
              </a:ext>
            </a:extLst>
          </p:cNvPr>
          <p:cNvSpPr/>
          <p:nvPr/>
        </p:nvSpPr>
        <p:spPr>
          <a:xfrm>
            <a:off x="7674896" y="5812889"/>
            <a:ext cx="2270859" cy="44205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  <a:ea typeface="杨任东竹石体-Bold" panose="02000000000000000000" pitchFamily="2" charset="-122"/>
              </a:rPr>
              <a:t>FileWriter</a:t>
            </a:r>
            <a:endParaRPr lang="zh-CN" altLang="en-US" dirty="0">
              <a:latin typeface="Consolas" panose="020B0609020204030204" pitchFamily="49" charset="0"/>
              <a:ea typeface="杨任东竹石体-Bold" panose="02000000000000000000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9EFFDBD-DAB9-F7EA-6F67-952EE02420C7}"/>
              </a:ext>
            </a:extLst>
          </p:cNvPr>
          <p:cNvSpPr txBox="1"/>
          <p:nvPr/>
        </p:nvSpPr>
        <p:spPr>
          <a:xfrm>
            <a:off x="8114045" y="5239809"/>
            <a:ext cx="156004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抽象类的子类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22AF77A-3FEC-0EE8-D6AC-11A34E5DF302}"/>
              </a:ext>
            </a:extLst>
          </p:cNvPr>
          <p:cNvSpPr txBox="1"/>
          <p:nvPr/>
        </p:nvSpPr>
        <p:spPr>
          <a:xfrm>
            <a:off x="1122297" y="1886932"/>
            <a:ext cx="87235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万能流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0CBC81D-25D7-74F3-5A0E-D77948C693C2}"/>
              </a:ext>
            </a:extLst>
          </p:cNvPr>
          <p:cNvSpPr txBox="1"/>
          <p:nvPr/>
        </p:nvSpPr>
        <p:spPr>
          <a:xfrm>
            <a:off x="917404" y="4603631"/>
            <a:ext cx="133081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纯文本文件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7" grpId="0"/>
      <p:bldP spid="19" grpId="0"/>
      <p:bldP spid="21" grpId="0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/>
      <p:bldP spid="30" grpId="0"/>
      <p:bldP spid="31" grpId="0"/>
      <p:bldP spid="37" grpId="0" animBg="1"/>
      <p:bldP spid="38" grpId="0" animBg="1"/>
      <p:bldP spid="39" grpId="0" animBg="1"/>
      <p:bldP spid="40" grpId="0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441CA3-0844-96FB-EB86-960DEC6E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736E91-94FA-2ADF-2767-D318E26C4B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139" y="1526664"/>
            <a:ext cx="5634223" cy="3804672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IO </a:t>
            </a:r>
            <a:r>
              <a:rPr kumimoji="1" lang="zh-CN" altLang="en-US" dirty="0">
                <a:latin typeface="Consolas" panose="020B0609020204030204" pitchFamily="49" charset="0"/>
              </a:rPr>
              <a:t>介绍和分类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FileOutputStream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FileInputStream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FileReader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FileWriter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Properties </a:t>
            </a:r>
            <a:r>
              <a:rPr kumimoji="1" lang="zh-CN" altLang="en-US" dirty="0">
                <a:latin typeface="Consolas" panose="020B0609020204030204" pitchFamily="49" charset="0"/>
              </a:rPr>
              <a:t>集合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HuTool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工具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6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45F46-5C58-1036-40DE-EAE260EE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9B8087-AA14-6FEC-45F3-11A0279727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233424" cy="901700"/>
          </a:xfrm>
        </p:spPr>
        <p:txBody>
          <a:bodyPr/>
          <a:lstStyle/>
          <a:p>
            <a:r>
              <a:rPr lang="en-US" altLang="zh-CN" dirty="0" err="1"/>
              <a:t>FileOutputStream</a:t>
            </a:r>
            <a:endParaRPr lang="en-US" altLang="zh-CN" dirty="0"/>
          </a:p>
          <a:p>
            <a:r>
              <a:rPr lang="zh-CN" altLang="en-US" dirty="0"/>
              <a:t>字节输出流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28CCFA8-E932-89DF-BAFD-C269E81DB8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5871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磁盘 2">
            <a:extLst>
              <a:ext uri="{FF2B5EF4-FFF2-40B4-BE49-F238E27FC236}">
                <a16:creationId xmlns:a16="http://schemas.microsoft.com/office/drawing/2014/main" id="{B7373084-B1B9-9D0C-963B-DB0302FB419B}"/>
              </a:ext>
            </a:extLst>
          </p:cNvPr>
          <p:cNvSpPr/>
          <p:nvPr/>
        </p:nvSpPr>
        <p:spPr>
          <a:xfrm>
            <a:off x="877752" y="2347737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921E5A0B-F875-4D04-6B72-D65D987DE309}"/>
              </a:ext>
            </a:extLst>
          </p:cNvPr>
          <p:cNvSpPr/>
          <p:nvPr/>
        </p:nvSpPr>
        <p:spPr>
          <a:xfrm>
            <a:off x="7855021" y="2347737"/>
            <a:ext cx="2114717" cy="618411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50" dirty="0">
                <a:latin typeface="Consolas" panose="020B0609020204030204" pitchFamily="49" charset="0"/>
              </a:rPr>
              <a:t>D:\A.txt</a:t>
            </a:r>
          </a:p>
          <a:p>
            <a:endParaRPr lang="en-US" altLang="zh-CN" sz="1050" dirty="0">
              <a:latin typeface="Consolas" panose="020B0609020204030204" pitchFamily="49" charset="0"/>
            </a:endParaRPr>
          </a:p>
          <a:p>
            <a:endParaRPr lang="zh-CN" alt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E75459D-30BB-F653-2DAC-C35A7964F175}"/>
              </a:ext>
            </a:extLst>
          </p:cNvPr>
          <p:cNvSpPr/>
          <p:nvPr/>
        </p:nvSpPr>
        <p:spPr>
          <a:xfrm>
            <a:off x="2769703" y="2426080"/>
            <a:ext cx="5085317" cy="461724"/>
          </a:xfrm>
          <a:prstGeom prst="rightArrow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DC7270-13F1-EDAB-BA8D-EE972B71EAB9}"/>
              </a:ext>
            </a:extLst>
          </p:cNvPr>
          <p:cNvSpPr txBox="1"/>
          <p:nvPr/>
        </p:nvSpPr>
        <p:spPr>
          <a:xfrm>
            <a:off x="2769702" y="1993517"/>
            <a:ext cx="5626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ECC65756-2BC7-FBE1-7B57-2B3A2D0E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FileOutputStream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字节输出流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691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磁盘 2">
            <a:extLst>
              <a:ext uri="{FF2B5EF4-FFF2-40B4-BE49-F238E27FC236}">
                <a16:creationId xmlns:a16="http://schemas.microsoft.com/office/drawing/2014/main" id="{B7373084-B1B9-9D0C-963B-DB0302FB419B}"/>
              </a:ext>
            </a:extLst>
          </p:cNvPr>
          <p:cNvSpPr/>
          <p:nvPr/>
        </p:nvSpPr>
        <p:spPr>
          <a:xfrm>
            <a:off x="877752" y="2347737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921E5A0B-F875-4D04-6B72-D65D987DE309}"/>
              </a:ext>
            </a:extLst>
          </p:cNvPr>
          <p:cNvSpPr/>
          <p:nvPr/>
        </p:nvSpPr>
        <p:spPr>
          <a:xfrm>
            <a:off x="7855021" y="2347737"/>
            <a:ext cx="2114717" cy="618411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50" dirty="0">
                <a:latin typeface="Consolas" panose="020B0609020204030204" pitchFamily="49" charset="0"/>
              </a:rPr>
              <a:t>D:\A.txt</a:t>
            </a:r>
          </a:p>
          <a:p>
            <a:endParaRPr lang="en-US" altLang="zh-CN" sz="1050" dirty="0">
              <a:latin typeface="Consolas" panose="020B0609020204030204" pitchFamily="49" charset="0"/>
            </a:endParaRPr>
          </a:p>
          <a:p>
            <a:endParaRPr lang="zh-CN" alt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E75459D-30BB-F653-2DAC-C35A7964F175}"/>
              </a:ext>
            </a:extLst>
          </p:cNvPr>
          <p:cNvSpPr/>
          <p:nvPr/>
        </p:nvSpPr>
        <p:spPr>
          <a:xfrm>
            <a:off x="2769703" y="2426080"/>
            <a:ext cx="5085317" cy="461724"/>
          </a:xfrm>
          <a:prstGeom prst="rightArrow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DC7270-13F1-EDAB-BA8D-EE972B71EAB9}"/>
              </a:ext>
            </a:extLst>
          </p:cNvPr>
          <p:cNvSpPr txBox="1"/>
          <p:nvPr/>
        </p:nvSpPr>
        <p:spPr>
          <a:xfrm>
            <a:off x="7914128" y="2504483"/>
            <a:ext cx="5626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09791-2B32-07AA-367C-48869AE9FF3A}"/>
              </a:ext>
            </a:extLst>
          </p:cNvPr>
          <p:cNvSpPr txBox="1"/>
          <p:nvPr/>
        </p:nvSpPr>
        <p:spPr>
          <a:xfrm>
            <a:off x="7914128" y="2475521"/>
            <a:ext cx="5626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JetBrains Mono"/>
              </a:rPr>
              <a:t>a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E7BF78-F73B-7415-FBF1-2CAD94AF333B}"/>
              </a:ext>
            </a:extLst>
          </p:cNvPr>
          <p:cNvGraphicFramePr>
            <a:graphicFrameLocks noGrp="1"/>
          </p:cNvGraphicFramePr>
          <p:nvPr/>
        </p:nvGraphicFramePr>
        <p:xfrm>
          <a:off x="877752" y="3724901"/>
          <a:ext cx="10769784" cy="1384049"/>
        </p:xfrm>
        <a:graphic>
          <a:graphicData uri="http://schemas.openxmlformats.org/drawingml/2006/table">
            <a:tbl>
              <a:tblPr/>
              <a:tblGrid>
                <a:gridCol w="5648328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5121456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270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4542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FileOutputStream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name)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文件路径以字符串形式给出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文件路径以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</a:tbl>
          </a:graphicData>
        </a:graphic>
      </p:graphicFrame>
      <p:sp>
        <p:nvSpPr>
          <p:cNvPr id="9" name="三角形 9">
            <a:extLst>
              <a:ext uri="{FF2B5EF4-FFF2-40B4-BE49-F238E27FC236}">
                <a16:creationId xmlns:a16="http://schemas.microsoft.com/office/drawing/2014/main" id="{C12C4974-59EA-800C-0B9F-203831AF6809}"/>
              </a:ext>
            </a:extLst>
          </p:cNvPr>
          <p:cNvSpPr/>
          <p:nvPr/>
        </p:nvSpPr>
        <p:spPr>
          <a:xfrm rot="2651319">
            <a:off x="884367" y="5836356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7AB0C8-DD11-C07F-29A7-4BD7B24557DE}"/>
              </a:ext>
            </a:extLst>
          </p:cNvPr>
          <p:cNvSpPr/>
          <p:nvPr/>
        </p:nvSpPr>
        <p:spPr>
          <a:xfrm>
            <a:off x="977681" y="5479773"/>
            <a:ext cx="4980391" cy="1029811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CB88A5-BD68-41FA-640A-386609915595}"/>
              </a:ext>
            </a:extLst>
          </p:cNvPr>
          <p:cNvSpPr/>
          <p:nvPr/>
        </p:nvSpPr>
        <p:spPr>
          <a:xfrm>
            <a:off x="877753" y="5552243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D1D8EB8-E4E4-87BE-4324-2601605951F1}"/>
              </a:ext>
            </a:extLst>
          </p:cNvPr>
          <p:cNvSpPr txBox="1"/>
          <p:nvPr/>
        </p:nvSpPr>
        <p:spPr>
          <a:xfrm>
            <a:off x="1931049" y="5763522"/>
            <a:ext cx="3515594" cy="707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关联的文件如果不存在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自动创建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存在 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会清空现有的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再开始写入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6EF865FD-3C55-0196-19D5-9AE14030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FileOutputStream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字节输出流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4046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 animBg="1"/>
      <p:bldP spid="11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磁盘 2">
            <a:extLst>
              <a:ext uri="{FF2B5EF4-FFF2-40B4-BE49-F238E27FC236}">
                <a16:creationId xmlns:a16="http://schemas.microsoft.com/office/drawing/2014/main" id="{B7373084-B1B9-9D0C-963B-DB0302FB419B}"/>
              </a:ext>
            </a:extLst>
          </p:cNvPr>
          <p:cNvSpPr/>
          <p:nvPr/>
        </p:nvSpPr>
        <p:spPr>
          <a:xfrm>
            <a:off x="877752" y="2347737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921E5A0B-F875-4D04-6B72-D65D987DE309}"/>
              </a:ext>
            </a:extLst>
          </p:cNvPr>
          <p:cNvSpPr/>
          <p:nvPr/>
        </p:nvSpPr>
        <p:spPr>
          <a:xfrm>
            <a:off x="7855021" y="2347737"/>
            <a:ext cx="2114717" cy="618411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50" dirty="0">
                <a:latin typeface="Consolas" panose="020B0609020204030204" pitchFamily="49" charset="0"/>
              </a:rPr>
              <a:t>D:\A.txt</a:t>
            </a:r>
          </a:p>
          <a:p>
            <a:endParaRPr lang="en-US" altLang="zh-CN" sz="1050" dirty="0">
              <a:latin typeface="Consolas" panose="020B0609020204030204" pitchFamily="49" charset="0"/>
            </a:endParaRPr>
          </a:p>
          <a:p>
            <a:endParaRPr lang="zh-CN" alt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E75459D-30BB-F653-2DAC-C35A7964F175}"/>
              </a:ext>
            </a:extLst>
          </p:cNvPr>
          <p:cNvSpPr/>
          <p:nvPr/>
        </p:nvSpPr>
        <p:spPr>
          <a:xfrm>
            <a:off x="2769703" y="2426080"/>
            <a:ext cx="5085317" cy="461724"/>
          </a:xfrm>
          <a:prstGeom prst="rightArrow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09791-2B32-07AA-367C-48869AE9FF3A}"/>
              </a:ext>
            </a:extLst>
          </p:cNvPr>
          <p:cNvSpPr txBox="1"/>
          <p:nvPr/>
        </p:nvSpPr>
        <p:spPr>
          <a:xfrm>
            <a:off x="7914127" y="2487918"/>
            <a:ext cx="5626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JetBrains Mono"/>
              </a:rPr>
              <a:t>a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E7BF78-F73B-7415-FBF1-2CAD94AF333B}"/>
              </a:ext>
            </a:extLst>
          </p:cNvPr>
          <p:cNvGraphicFramePr>
            <a:graphicFrameLocks noGrp="1"/>
          </p:cNvGraphicFramePr>
          <p:nvPr/>
        </p:nvGraphicFramePr>
        <p:xfrm>
          <a:off x="877752" y="3539048"/>
          <a:ext cx="10769784" cy="2565092"/>
        </p:xfrm>
        <a:graphic>
          <a:graphicData uri="http://schemas.openxmlformats.org/drawingml/2006/table">
            <a:tbl>
              <a:tblPr/>
              <a:tblGrid>
                <a:gridCol w="5648328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5121456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270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5246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FileOutputStream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name)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文件路径以字符串形式给出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(String name,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文件路径以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16911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(File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file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96799"/>
                  </a:ext>
                </a:extLst>
              </a:tr>
            </a:tbl>
          </a:graphicData>
        </a:graphic>
      </p:graphicFrame>
      <p:sp>
        <p:nvSpPr>
          <p:cNvPr id="6" name="标题 5">
            <a:extLst>
              <a:ext uri="{FF2B5EF4-FFF2-40B4-BE49-F238E27FC236}">
                <a16:creationId xmlns:a16="http://schemas.microsoft.com/office/drawing/2014/main" id="{7911C317-B444-1118-D6D4-C121EA04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FileOutputStream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字节输出流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243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磁盘 2">
            <a:extLst>
              <a:ext uri="{FF2B5EF4-FFF2-40B4-BE49-F238E27FC236}">
                <a16:creationId xmlns:a16="http://schemas.microsoft.com/office/drawing/2014/main" id="{B7373084-B1B9-9D0C-963B-DB0302FB419B}"/>
              </a:ext>
            </a:extLst>
          </p:cNvPr>
          <p:cNvSpPr/>
          <p:nvPr/>
        </p:nvSpPr>
        <p:spPr>
          <a:xfrm>
            <a:off x="877752" y="2347737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921E5A0B-F875-4D04-6B72-D65D987DE309}"/>
              </a:ext>
            </a:extLst>
          </p:cNvPr>
          <p:cNvSpPr/>
          <p:nvPr/>
        </p:nvSpPr>
        <p:spPr>
          <a:xfrm>
            <a:off x="7855021" y="2347737"/>
            <a:ext cx="2114717" cy="618411"/>
          </a:xfrm>
          <a:prstGeom prst="foldedCorner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050" dirty="0">
                <a:latin typeface="Consolas" panose="020B0609020204030204" pitchFamily="49" charset="0"/>
              </a:rPr>
              <a:t>D:\A.txt</a:t>
            </a:r>
          </a:p>
          <a:p>
            <a:endParaRPr lang="en-US" altLang="zh-CN" sz="1050" dirty="0">
              <a:latin typeface="Consolas" panose="020B0609020204030204" pitchFamily="49" charset="0"/>
            </a:endParaRPr>
          </a:p>
          <a:p>
            <a:endParaRPr lang="zh-CN" altLang="en-US" sz="1050" dirty="0">
              <a:latin typeface="Consolas" panose="020B0609020204030204" pitchFamily="49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E75459D-30BB-F653-2DAC-C35A7964F175}"/>
              </a:ext>
            </a:extLst>
          </p:cNvPr>
          <p:cNvSpPr/>
          <p:nvPr/>
        </p:nvSpPr>
        <p:spPr>
          <a:xfrm>
            <a:off x="2769703" y="2426080"/>
            <a:ext cx="5085317" cy="461724"/>
          </a:xfrm>
          <a:prstGeom prst="rightArrow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09791-2B32-07AA-367C-48869AE9FF3A}"/>
              </a:ext>
            </a:extLst>
          </p:cNvPr>
          <p:cNvSpPr txBox="1"/>
          <p:nvPr/>
        </p:nvSpPr>
        <p:spPr>
          <a:xfrm>
            <a:off x="7914127" y="2487918"/>
            <a:ext cx="5626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rgbClr val="0070C0"/>
                </a:solidFill>
                <a:latin typeface="Consolas" panose="020B0609020204030204" pitchFamily="49" charset="0"/>
                <a:ea typeface="JetBrains Mono"/>
              </a:rPr>
              <a:t>a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E7BF78-F73B-7415-FBF1-2CAD94AF333B}"/>
              </a:ext>
            </a:extLst>
          </p:cNvPr>
          <p:cNvGraphicFramePr>
            <a:graphicFrameLocks noGrp="1"/>
          </p:cNvGraphicFramePr>
          <p:nvPr/>
        </p:nvGraphicFramePr>
        <p:xfrm>
          <a:off x="877752" y="3539048"/>
          <a:ext cx="10769784" cy="2565092"/>
        </p:xfrm>
        <a:graphic>
          <a:graphicData uri="http://schemas.openxmlformats.org/drawingml/2006/table">
            <a:tbl>
              <a:tblPr/>
              <a:tblGrid>
                <a:gridCol w="5648328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5121456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270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5246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FileOutputStream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name)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文件路径以字符串形式给出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(String name,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输出流关联文件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文件路径以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16911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FileOutputStream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(File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file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 append)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</a:rPr>
                        <a:t>第二个参数是追加写入的开关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9679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0C0C576-D6D7-75BF-8F78-BE659C876E08}"/>
              </a:ext>
            </a:extLst>
          </p:cNvPr>
          <p:cNvGraphicFramePr>
            <a:graphicFrameLocks noGrp="1"/>
          </p:cNvGraphicFramePr>
          <p:nvPr/>
        </p:nvGraphicFramePr>
        <p:xfrm>
          <a:off x="877752" y="4440875"/>
          <a:ext cx="10769784" cy="2009774"/>
        </p:xfrm>
        <a:graphic>
          <a:graphicData uri="http://schemas.openxmlformats.org/drawingml/2006/table">
            <a:tbl>
              <a:tblPr/>
              <a:tblGrid>
                <a:gridCol w="5648328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5121456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270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52463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void write(int b)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写出单个字节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void write(byte[] b)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写出一个字节数组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702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void write(byte[] b, int off, int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len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写出字节数组的一部分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593561"/>
                  </a:ext>
                </a:extLst>
              </a:tr>
            </a:tbl>
          </a:graphicData>
        </a:graphic>
      </p:graphicFrame>
      <p:sp>
        <p:nvSpPr>
          <p:cNvPr id="9" name="标题 8">
            <a:extLst>
              <a:ext uri="{FF2B5EF4-FFF2-40B4-BE49-F238E27FC236}">
                <a16:creationId xmlns:a16="http://schemas.microsoft.com/office/drawing/2014/main" id="{8DD8AC44-9BEB-4199-8BE8-F6F847AE4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FileOutputStream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字节输出流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683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7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CB879B1-6475-296F-9465-5E082AEF8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13" b="96201" l="7199" r="90141">
                        <a14:foregroundMark x1="9077" y1="36364" x2="9077" y2="36364"/>
                        <a14:foregroundMark x1="24413" y1="31615" x2="32394" y2="28630"/>
                        <a14:foregroundMark x1="44757" y1="25916" x2="32707" y2="28630"/>
                        <a14:foregroundMark x1="46792" y1="23474" x2="55243" y2="23474"/>
                        <a14:foregroundMark x1="33020" y1="11262" x2="33646" y2="19539"/>
                        <a14:foregroundMark x1="38498" y1="10312" x2="42879" y2="10719"/>
                        <a14:foregroundMark x1="34585" y1="6377" x2="32394" y2="10719"/>
                        <a14:foregroundMark x1="37559" y1="6106" x2="39280" y2="5699"/>
                        <a14:foregroundMark x1="42097" y1="12076" x2="38028" y2="10991"/>
                        <a14:foregroundMark x1="23787" y1="5834" x2="29108" y2="8005"/>
                        <a14:foregroundMark x1="25509" y1="11940" x2="26291" y2="11533"/>
                        <a14:foregroundMark x1="22692" y1="6377" x2="21127" y2="6377"/>
                        <a14:foregroundMark x1="8451" y1="30936" x2="11111" y2="34871"/>
                        <a14:foregroundMark x1="14241" y1="30122" x2="28326" y2="30258"/>
                        <a14:foregroundMark x1="31299" y1="19267" x2="29421" y2="23338"/>
                        <a14:foregroundMark x1="34272" y1="20353" x2="36150" y2="25780"/>
                        <a14:foregroundMark x1="44444" y1="88738" x2="43349" y2="96336"/>
                        <a14:foregroundMark x1="78873" y1="76934" x2="82003" y2="79240"/>
                        <a14:foregroundMark x1="85290" y1="86839" x2="90297" y2="86160"/>
                        <a14:foregroundMark x1="7355" y1="32022" x2="9077" y2="27544"/>
                        <a14:foregroundMark x1="7199" y1="36092" x2="17214" y2="43419"/>
                        <a14:foregroundMark x1="12520" y1="27544" x2="17684" y2="27001"/>
                        <a14:foregroundMark x1="10485" y1="27273" x2="15023" y2="25780"/>
                        <a14:foregroundMark x1="27074" y1="24423" x2="34116" y2="36364"/>
                        <a14:foregroundMark x1="30203" y1="37178" x2="26291" y2="35414"/>
                        <a14:foregroundMark x1="38967" y1="6242" x2="38967" y2="4613"/>
                        <a14:foregroundMark x1="27543" y1="14383" x2="27543" y2="14383"/>
                        <a14:foregroundMark x1="68232" y1="41791" x2="71674" y2="45590"/>
                        <a14:foregroundMark x1="73865" y1="45726" x2="71831" y2="42877"/>
                        <a14:foregroundMark x1="75430" y1="45183" x2="76526" y2="47354"/>
                        <a14:foregroundMark x1="71674" y1="43826" x2="76369" y2="47354"/>
                        <a14:foregroundMark x1="73083" y1="44369" x2="78873" y2="4626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7752" y="2011269"/>
            <a:ext cx="2731295" cy="315017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F8925E6-C0DF-5ABF-93BD-A2B3DD9F46F2}"/>
              </a:ext>
            </a:extLst>
          </p:cNvPr>
          <p:cNvSpPr txBox="1"/>
          <p:nvPr/>
        </p:nvSpPr>
        <p:spPr>
          <a:xfrm>
            <a:off x="4048539" y="1899959"/>
            <a:ext cx="6841938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流对象使用完毕后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记得调用 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close</a:t>
            </a:r>
            <a:r>
              <a:rPr kumimoji="0" lang="en-US" altLang="zh-CN" sz="2800" b="0" i="0" u="none" strike="noStrike" cap="none" normalizeH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方法关闭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不然会占用资源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1AB297E-7F23-C918-06C2-269AF8F54AA1}"/>
              </a:ext>
            </a:extLst>
          </p:cNvPr>
          <p:cNvSpPr/>
          <p:nvPr/>
        </p:nvSpPr>
        <p:spPr>
          <a:xfrm>
            <a:off x="-2618072" y="1032060"/>
            <a:ext cx="2252312" cy="94543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JDK7</a:t>
            </a:r>
            <a:r>
              <a:rPr lang="zh-CN" altLang="en-US" dirty="0"/>
              <a:t>版本之前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AC7196-A6E0-4E73-2B5C-6B0D6EB8BCB2}"/>
              </a:ext>
            </a:extLst>
          </p:cNvPr>
          <p:cNvSpPr/>
          <p:nvPr/>
        </p:nvSpPr>
        <p:spPr>
          <a:xfrm>
            <a:off x="13196236" y="5161448"/>
            <a:ext cx="2252312" cy="94543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JDK7</a:t>
            </a:r>
            <a:r>
              <a:rPr lang="zh-CN" altLang="en-US" dirty="0"/>
              <a:t>版本之后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C0F9E84-1388-D2B4-D06D-0A4A3E88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71486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56B0AE64-CB8E-9EE6-0CE0-1E4CF32BDCE6}"/>
              </a:ext>
            </a:extLst>
          </p:cNvPr>
          <p:cNvSpPr/>
          <p:nvPr/>
        </p:nvSpPr>
        <p:spPr>
          <a:xfrm>
            <a:off x="2310063" y="2956284"/>
            <a:ext cx="2252312" cy="945432"/>
          </a:xfrm>
          <a:prstGeom prst="roundRect">
            <a:avLst/>
          </a:prstGeom>
          <a:solidFill>
            <a:schemeClr val="bg1">
              <a:lumMod val="50000"/>
            </a:schemeClr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JDK7</a:t>
            </a:r>
            <a:r>
              <a:rPr lang="zh-CN" altLang="en-US" dirty="0"/>
              <a:t>版本之前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D3C4C89-5AB3-A84A-F8EA-C86BBB0803DA}"/>
              </a:ext>
            </a:extLst>
          </p:cNvPr>
          <p:cNvSpPr/>
          <p:nvPr/>
        </p:nvSpPr>
        <p:spPr>
          <a:xfrm>
            <a:off x="7257448" y="2956284"/>
            <a:ext cx="2252312" cy="945432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JDK7</a:t>
            </a:r>
            <a:r>
              <a:rPr lang="zh-CN" altLang="en-US" dirty="0"/>
              <a:t>版本之后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FEA7F7B-B6A0-B23E-838C-647C40D1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标准的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</a:t>
            </a:r>
            <a:r>
              <a:rPr lang="zh-CN" altLang="en-US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3399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FD3C4C89-5AB3-A84A-F8EA-C86BBB0803DA}"/>
              </a:ext>
            </a:extLst>
          </p:cNvPr>
          <p:cNvSpPr/>
          <p:nvPr/>
        </p:nvSpPr>
        <p:spPr>
          <a:xfrm>
            <a:off x="877752" y="2028632"/>
            <a:ext cx="1739552" cy="489281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JDK7</a:t>
            </a:r>
            <a:r>
              <a:rPr lang="zh-CN" altLang="en-US" dirty="0"/>
              <a:t>版本之后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7AA85D-EC20-9B7F-C7A9-488A08BE6A1F}"/>
              </a:ext>
            </a:extLst>
          </p:cNvPr>
          <p:cNvSpPr txBox="1"/>
          <p:nvPr/>
        </p:nvSpPr>
        <p:spPr>
          <a:xfrm>
            <a:off x="877753" y="3054625"/>
            <a:ext cx="4774300" cy="2462213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JetBrains Mono"/>
              </a:rPr>
              <a:t>格式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JetBrains Mono"/>
              </a:rPr>
              <a:t>:</a:t>
            </a:r>
          </a:p>
          <a:p>
            <a:pPr algn="l"/>
            <a:endParaRPr lang="en-US" altLang="zh-CN" sz="140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try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JetBrains Mono"/>
              </a:rPr>
              <a:t>需要调用</a:t>
            </a: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JetBrains Mono"/>
              </a:rPr>
              <a:t>close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JetBrains Mono"/>
              </a:rPr>
              <a:t>方法的对象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) {</a:t>
            </a:r>
          </a:p>
          <a:p>
            <a:pPr algn="l"/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  </a:t>
            </a:r>
          </a:p>
          <a:p>
            <a:pPr algn="l"/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逻辑代码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...</a:t>
            </a:r>
          </a:p>
          <a:p>
            <a:pPr algn="l"/>
            <a:endParaRPr lang="en-US" altLang="zh-CN" sz="140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}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catch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异常类名 对象名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) {</a:t>
            </a:r>
          </a:p>
          <a:p>
            <a:pPr algn="l"/>
            <a:endParaRPr lang="en-US" altLang="zh-CN" sz="1400" dirty="0">
              <a:solidFill>
                <a:srgbClr val="0033B3"/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异常的处理方式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JetBrains Mono"/>
            </a:endParaRPr>
          </a:p>
          <a:p>
            <a:pPr algn="l"/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三角形 9">
            <a:extLst>
              <a:ext uri="{FF2B5EF4-FFF2-40B4-BE49-F238E27FC236}">
                <a16:creationId xmlns:a16="http://schemas.microsoft.com/office/drawing/2014/main" id="{2B657745-6381-D241-00E6-5CEE27EBA4A0}"/>
              </a:ext>
            </a:extLst>
          </p:cNvPr>
          <p:cNvSpPr/>
          <p:nvPr/>
        </p:nvSpPr>
        <p:spPr>
          <a:xfrm rot="2651319">
            <a:off x="6150886" y="341120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4AFC0C-BCD3-7B46-CD6F-B900F54066BE}"/>
              </a:ext>
            </a:extLst>
          </p:cNvPr>
          <p:cNvSpPr/>
          <p:nvPr/>
        </p:nvSpPr>
        <p:spPr>
          <a:xfrm>
            <a:off x="6244200" y="3054625"/>
            <a:ext cx="4980391" cy="1029811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80FFB6A-7248-DF1A-FEED-1A3E7F47688A}"/>
              </a:ext>
            </a:extLst>
          </p:cNvPr>
          <p:cNvSpPr/>
          <p:nvPr/>
        </p:nvSpPr>
        <p:spPr>
          <a:xfrm>
            <a:off x="6144272" y="3127095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A9656C6E-EF0B-6A19-5FB6-FC951E802707}"/>
              </a:ext>
            </a:extLst>
          </p:cNvPr>
          <p:cNvSpPr txBox="1"/>
          <p:nvPr/>
        </p:nvSpPr>
        <p:spPr>
          <a:xfrm>
            <a:off x="6403077" y="3500507"/>
            <a:ext cx="4774300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 ()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中的对象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需要实现过 </a:t>
            </a: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AutoCloseable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2808D71-403B-F44F-F47C-17099311C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标准的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</a:t>
            </a:r>
            <a:r>
              <a:rPr lang="zh-CN" altLang="en-US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234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943ED8E-FCB2-6B4B-18D1-CF1077D7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80EC2BB-A9C8-4180-4808-07F42EFE90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139" y="1526664"/>
            <a:ext cx="5634223" cy="3804672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IO </a:t>
            </a:r>
            <a:r>
              <a:rPr kumimoji="1" lang="zh-CN" altLang="en-US" dirty="0">
                <a:latin typeface="Consolas" panose="020B0609020204030204" pitchFamily="49" charset="0"/>
              </a:rPr>
              <a:t>介绍和分类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FileOutputStream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FileInputStream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FileReader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FileWriter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Properties </a:t>
            </a:r>
            <a:r>
              <a:rPr kumimoji="1" lang="zh-CN" altLang="en-US" dirty="0">
                <a:latin typeface="Consolas" panose="020B0609020204030204" pitchFamily="49" charset="0"/>
              </a:rPr>
              <a:t>集合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HuTool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工具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0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B7F6-F2CC-F710-4D83-2DB0AC3F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8DA68F-5A4E-B6EF-0AE7-F1D5B04A55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233424" cy="901700"/>
          </a:xfrm>
        </p:spPr>
        <p:txBody>
          <a:bodyPr/>
          <a:lstStyle/>
          <a:p>
            <a:r>
              <a:rPr lang="en-US" altLang="zh-CN" dirty="0" err="1"/>
              <a:t>FileInputStream</a:t>
            </a:r>
            <a:endParaRPr lang="en-US" altLang="zh-CN" dirty="0"/>
          </a:p>
          <a:p>
            <a:r>
              <a:rPr lang="zh-CN" altLang="en-US" dirty="0"/>
              <a:t>字节输入流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77850F89-8EE2-CAFD-A86C-7151971846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0444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37AD1DB5-A67E-B4FE-C4CF-D65845A90F56}"/>
              </a:ext>
            </a:extLst>
          </p:cNvPr>
          <p:cNvSpPr/>
          <p:nvPr/>
        </p:nvSpPr>
        <p:spPr>
          <a:xfrm>
            <a:off x="9603280" y="2493510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2422EA2A-B23F-A4CD-305A-0DF4D728A197}"/>
              </a:ext>
            </a:extLst>
          </p:cNvPr>
          <p:cNvSpPr/>
          <p:nvPr/>
        </p:nvSpPr>
        <p:spPr>
          <a:xfrm>
            <a:off x="970517" y="2269393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abc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C2F6593-736E-EB5B-6437-274FBB9185E6}"/>
              </a:ext>
            </a:extLst>
          </p:cNvPr>
          <p:cNvSpPr/>
          <p:nvPr/>
        </p:nvSpPr>
        <p:spPr>
          <a:xfrm rot="10800000">
            <a:off x="4438964" y="2571854"/>
            <a:ext cx="5085317" cy="461724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75B4A3-26F0-5AA7-07CB-B66BB2496AB9}"/>
              </a:ext>
            </a:extLst>
          </p:cNvPr>
          <p:cNvSpPr txBox="1"/>
          <p:nvPr/>
        </p:nvSpPr>
        <p:spPr>
          <a:xfrm>
            <a:off x="97000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605B2-9139-9610-A399-0CCF0354F747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0622F-D98A-5EBC-6D19-EFE41E55AA12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56BB11C-E4C2-91F4-E2ED-C0217434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9005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37AD1DB5-A67E-B4FE-C4CF-D65845A90F56}"/>
              </a:ext>
            </a:extLst>
          </p:cNvPr>
          <p:cNvSpPr/>
          <p:nvPr/>
        </p:nvSpPr>
        <p:spPr>
          <a:xfrm>
            <a:off x="9603280" y="2493510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2422EA2A-B23F-A4CD-305A-0DF4D728A197}"/>
              </a:ext>
            </a:extLst>
          </p:cNvPr>
          <p:cNvSpPr/>
          <p:nvPr/>
        </p:nvSpPr>
        <p:spPr>
          <a:xfrm>
            <a:off x="970517" y="2269393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C2F6593-736E-EB5B-6437-274FBB9185E6}"/>
              </a:ext>
            </a:extLst>
          </p:cNvPr>
          <p:cNvSpPr/>
          <p:nvPr/>
        </p:nvSpPr>
        <p:spPr>
          <a:xfrm rot="10800000">
            <a:off x="4438964" y="2571854"/>
            <a:ext cx="5085317" cy="461724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75B4A3-26F0-5AA7-07CB-B66BB2496AB9}"/>
              </a:ext>
            </a:extLst>
          </p:cNvPr>
          <p:cNvSpPr txBox="1"/>
          <p:nvPr/>
        </p:nvSpPr>
        <p:spPr>
          <a:xfrm>
            <a:off x="97000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605B2-9139-9610-A399-0CCF0354F747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0622F-D98A-5EBC-6D19-EFE41E55AA12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70D326-1677-2996-6852-25292BED436B}"/>
              </a:ext>
            </a:extLst>
          </p:cNvPr>
          <p:cNvSpPr txBox="1"/>
          <p:nvPr/>
        </p:nvSpPr>
        <p:spPr>
          <a:xfrm>
            <a:off x="97000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D7E03D-4A97-28C0-9AF0-B886726854E0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9C7156-4F5B-79DE-9727-BD923789D009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C0D60338-72AC-F499-3E81-5BC798E1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551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37AD1DB5-A67E-B4FE-C4CF-D65845A90F56}"/>
              </a:ext>
            </a:extLst>
          </p:cNvPr>
          <p:cNvSpPr/>
          <p:nvPr/>
        </p:nvSpPr>
        <p:spPr>
          <a:xfrm>
            <a:off x="9603280" y="2493510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2422EA2A-B23F-A4CD-305A-0DF4D728A197}"/>
              </a:ext>
            </a:extLst>
          </p:cNvPr>
          <p:cNvSpPr/>
          <p:nvPr/>
        </p:nvSpPr>
        <p:spPr>
          <a:xfrm>
            <a:off x="970517" y="2269393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C2F6593-736E-EB5B-6437-274FBB9185E6}"/>
              </a:ext>
            </a:extLst>
          </p:cNvPr>
          <p:cNvSpPr/>
          <p:nvPr/>
        </p:nvSpPr>
        <p:spPr>
          <a:xfrm rot="10800000">
            <a:off x="4438964" y="2571854"/>
            <a:ext cx="5085317" cy="461724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75B4A3-26F0-5AA7-07CB-B66BB2496AB9}"/>
              </a:ext>
            </a:extLst>
          </p:cNvPr>
          <p:cNvSpPr txBox="1"/>
          <p:nvPr/>
        </p:nvSpPr>
        <p:spPr>
          <a:xfrm>
            <a:off x="97000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605B2-9139-9610-A399-0CCF0354F747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0622F-D98A-5EBC-6D19-EFE41E55AA12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70D326-1677-2996-6852-25292BED436B}"/>
              </a:ext>
            </a:extLst>
          </p:cNvPr>
          <p:cNvSpPr txBox="1"/>
          <p:nvPr/>
        </p:nvSpPr>
        <p:spPr>
          <a:xfrm>
            <a:off x="10315098" y="3232285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D7E03D-4A97-28C0-9AF0-B886726854E0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9C7156-4F5B-79DE-9727-BD923789D009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B469720A-9171-3395-C7B3-F8B897EC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4572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37AD1DB5-A67E-B4FE-C4CF-D65845A90F56}"/>
              </a:ext>
            </a:extLst>
          </p:cNvPr>
          <p:cNvSpPr/>
          <p:nvPr/>
        </p:nvSpPr>
        <p:spPr>
          <a:xfrm>
            <a:off x="9603280" y="2493510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2422EA2A-B23F-A4CD-305A-0DF4D728A197}"/>
              </a:ext>
            </a:extLst>
          </p:cNvPr>
          <p:cNvSpPr/>
          <p:nvPr/>
        </p:nvSpPr>
        <p:spPr>
          <a:xfrm>
            <a:off x="970517" y="2269393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C2F6593-736E-EB5B-6437-274FBB9185E6}"/>
              </a:ext>
            </a:extLst>
          </p:cNvPr>
          <p:cNvSpPr/>
          <p:nvPr/>
        </p:nvSpPr>
        <p:spPr>
          <a:xfrm rot="10800000">
            <a:off x="4438964" y="2571854"/>
            <a:ext cx="5085317" cy="461724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75B4A3-26F0-5AA7-07CB-B66BB2496AB9}"/>
              </a:ext>
            </a:extLst>
          </p:cNvPr>
          <p:cNvSpPr txBox="1"/>
          <p:nvPr/>
        </p:nvSpPr>
        <p:spPr>
          <a:xfrm>
            <a:off x="97000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605B2-9139-9610-A399-0CCF0354F747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0622F-D98A-5EBC-6D19-EFE41E55AA12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70D326-1677-2996-6852-25292BED436B}"/>
              </a:ext>
            </a:extLst>
          </p:cNvPr>
          <p:cNvSpPr txBox="1"/>
          <p:nvPr/>
        </p:nvSpPr>
        <p:spPr>
          <a:xfrm>
            <a:off x="10315098" y="3232285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D7E03D-4A97-28C0-9AF0-B886726854E0}"/>
              </a:ext>
            </a:extLst>
          </p:cNvPr>
          <p:cNvSpPr txBox="1"/>
          <p:nvPr/>
        </p:nvSpPr>
        <p:spPr>
          <a:xfrm>
            <a:off x="10315098" y="3660426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9C7156-4F5B-79DE-9727-BD923789D009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F8F079E6-F24F-590A-BEA6-86A9EC55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4575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37AD1DB5-A67E-B4FE-C4CF-D65845A90F56}"/>
              </a:ext>
            </a:extLst>
          </p:cNvPr>
          <p:cNvSpPr/>
          <p:nvPr/>
        </p:nvSpPr>
        <p:spPr>
          <a:xfrm>
            <a:off x="9603280" y="2493510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2422EA2A-B23F-A4CD-305A-0DF4D728A197}"/>
              </a:ext>
            </a:extLst>
          </p:cNvPr>
          <p:cNvSpPr/>
          <p:nvPr/>
        </p:nvSpPr>
        <p:spPr>
          <a:xfrm>
            <a:off x="970517" y="2269393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C2F6593-736E-EB5B-6437-274FBB9185E6}"/>
              </a:ext>
            </a:extLst>
          </p:cNvPr>
          <p:cNvSpPr/>
          <p:nvPr/>
        </p:nvSpPr>
        <p:spPr>
          <a:xfrm rot="10800000">
            <a:off x="4438964" y="2571854"/>
            <a:ext cx="5085317" cy="461724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75B4A3-26F0-5AA7-07CB-B66BB2496AB9}"/>
              </a:ext>
            </a:extLst>
          </p:cNvPr>
          <p:cNvSpPr txBox="1"/>
          <p:nvPr/>
        </p:nvSpPr>
        <p:spPr>
          <a:xfrm>
            <a:off x="97000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605B2-9139-9610-A399-0CCF0354F747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0622F-D98A-5EBC-6D19-EFE41E55AA12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70D326-1677-2996-6852-25292BED436B}"/>
              </a:ext>
            </a:extLst>
          </p:cNvPr>
          <p:cNvSpPr txBox="1"/>
          <p:nvPr/>
        </p:nvSpPr>
        <p:spPr>
          <a:xfrm>
            <a:off x="10315098" y="3232285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D7E03D-4A97-28C0-9AF0-B886726854E0}"/>
              </a:ext>
            </a:extLst>
          </p:cNvPr>
          <p:cNvSpPr txBox="1"/>
          <p:nvPr/>
        </p:nvSpPr>
        <p:spPr>
          <a:xfrm>
            <a:off x="10315098" y="3660426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9C7156-4F5B-79DE-9727-BD923789D009}"/>
              </a:ext>
            </a:extLst>
          </p:cNvPr>
          <p:cNvSpPr txBox="1"/>
          <p:nvPr/>
        </p:nvSpPr>
        <p:spPr>
          <a:xfrm>
            <a:off x="10315098" y="4090513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/>
        </p:nvGraphicFramePr>
        <p:xfrm>
          <a:off x="970002" y="3926172"/>
          <a:ext cx="9005896" cy="1443350"/>
        </p:xfrm>
        <a:graphic>
          <a:graphicData uri="http://schemas.openxmlformats.org/drawingml/2006/table">
            <a:tbl>
              <a:tblPr/>
              <a:tblGrid>
                <a:gridCol w="4723238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282658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478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4811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FileInputStream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name)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输入流关联文件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文件路径以字符串形式给出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FileInputStream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输入流关联文件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文件路径以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</a:tbl>
          </a:graphicData>
        </a:graphic>
      </p:graphicFrame>
      <p:sp>
        <p:nvSpPr>
          <p:cNvPr id="13" name="三角形 9">
            <a:extLst>
              <a:ext uri="{FF2B5EF4-FFF2-40B4-BE49-F238E27FC236}">
                <a16:creationId xmlns:a16="http://schemas.microsoft.com/office/drawing/2014/main" id="{06978B59-DDDD-C502-EC26-FAD516F5AAD6}"/>
              </a:ext>
            </a:extLst>
          </p:cNvPr>
          <p:cNvSpPr/>
          <p:nvPr/>
        </p:nvSpPr>
        <p:spPr>
          <a:xfrm rot="2651319">
            <a:off x="976617" y="592249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1C550B-12D2-E694-8FA3-93E8C4C66F35}"/>
              </a:ext>
            </a:extLst>
          </p:cNvPr>
          <p:cNvSpPr/>
          <p:nvPr/>
        </p:nvSpPr>
        <p:spPr>
          <a:xfrm>
            <a:off x="1069931" y="5565912"/>
            <a:ext cx="9005896" cy="1029811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6B3C94-7148-4048-1AAB-06A6FB1BFF16}"/>
              </a:ext>
            </a:extLst>
          </p:cNvPr>
          <p:cNvSpPr/>
          <p:nvPr/>
        </p:nvSpPr>
        <p:spPr>
          <a:xfrm>
            <a:off x="970003" y="563838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DA68ADD-0F0C-756C-1E57-0BA627A0CEBF}"/>
              </a:ext>
            </a:extLst>
          </p:cNvPr>
          <p:cNvSpPr txBox="1"/>
          <p:nvPr/>
        </p:nvSpPr>
        <p:spPr>
          <a:xfrm>
            <a:off x="1228808" y="6011794"/>
            <a:ext cx="4774300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关联的文件不存在会抛出 </a:t>
            </a: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FileNotFoundException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1E98C50B-E856-2367-7FED-8209DAECDAA7}"/>
              </a:ext>
            </a:extLst>
          </p:cNvPr>
          <p:cNvSpPr txBox="1"/>
          <p:nvPr/>
        </p:nvSpPr>
        <p:spPr>
          <a:xfrm>
            <a:off x="6284027" y="6023012"/>
            <a:ext cx="4774300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文件夹的话会拒绝访问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FA7B75BC-25D4-EBB8-5E5A-3CD63476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9551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磁盘 3">
            <a:extLst>
              <a:ext uri="{FF2B5EF4-FFF2-40B4-BE49-F238E27FC236}">
                <a16:creationId xmlns:a16="http://schemas.microsoft.com/office/drawing/2014/main" id="{37AD1DB5-A67E-B4FE-C4CF-D65845A90F56}"/>
              </a:ext>
            </a:extLst>
          </p:cNvPr>
          <p:cNvSpPr/>
          <p:nvPr/>
        </p:nvSpPr>
        <p:spPr>
          <a:xfrm>
            <a:off x="9603280" y="2493510"/>
            <a:ext cx="1832843" cy="618411"/>
          </a:xfrm>
          <a:prstGeom prst="flowChartMagneticDisk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程序</a:t>
            </a: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2422EA2A-B23F-A4CD-305A-0DF4D728A197}"/>
              </a:ext>
            </a:extLst>
          </p:cNvPr>
          <p:cNvSpPr/>
          <p:nvPr/>
        </p:nvSpPr>
        <p:spPr>
          <a:xfrm>
            <a:off x="970517" y="2269393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C2F6593-736E-EB5B-6437-274FBB9185E6}"/>
              </a:ext>
            </a:extLst>
          </p:cNvPr>
          <p:cNvSpPr/>
          <p:nvPr/>
        </p:nvSpPr>
        <p:spPr>
          <a:xfrm rot="10800000">
            <a:off x="4438964" y="2571854"/>
            <a:ext cx="5085317" cy="461724"/>
          </a:xfrm>
          <a:prstGeom prst="rightArrow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75B4A3-26F0-5AA7-07CB-B66BB2496AB9}"/>
              </a:ext>
            </a:extLst>
          </p:cNvPr>
          <p:cNvSpPr txBox="1"/>
          <p:nvPr/>
        </p:nvSpPr>
        <p:spPr>
          <a:xfrm>
            <a:off x="97000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4605B2-9139-9610-A399-0CCF0354F747}"/>
              </a:ext>
            </a:extLst>
          </p:cNvPr>
          <p:cNvSpPr txBox="1"/>
          <p:nvPr/>
        </p:nvSpPr>
        <p:spPr>
          <a:xfrm>
            <a:off x="1423453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E0622F-D98A-5EBC-6D19-EFE41E55AA12}"/>
              </a:ext>
            </a:extLst>
          </p:cNvPr>
          <p:cNvSpPr txBox="1"/>
          <p:nvPr/>
        </p:nvSpPr>
        <p:spPr>
          <a:xfrm>
            <a:off x="1876902" y="3109581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70D326-1677-2996-6852-25292BED436B}"/>
              </a:ext>
            </a:extLst>
          </p:cNvPr>
          <p:cNvSpPr txBox="1"/>
          <p:nvPr/>
        </p:nvSpPr>
        <p:spPr>
          <a:xfrm>
            <a:off x="10315098" y="3232285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D7E03D-4A97-28C0-9AF0-B886726854E0}"/>
              </a:ext>
            </a:extLst>
          </p:cNvPr>
          <p:cNvSpPr txBox="1"/>
          <p:nvPr/>
        </p:nvSpPr>
        <p:spPr>
          <a:xfrm>
            <a:off x="10315098" y="3660426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9C7156-4F5B-79DE-9727-BD923789D009}"/>
              </a:ext>
            </a:extLst>
          </p:cNvPr>
          <p:cNvSpPr txBox="1"/>
          <p:nvPr/>
        </p:nvSpPr>
        <p:spPr>
          <a:xfrm>
            <a:off x="10315098" y="4090513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/>
        </p:nvGraphicFramePr>
        <p:xfrm>
          <a:off x="970002" y="3926172"/>
          <a:ext cx="9005896" cy="1443350"/>
        </p:xfrm>
        <a:graphic>
          <a:graphicData uri="http://schemas.openxmlformats.org/drawingml/2006/table">
            <a:tbl>
              <a:tblPr/>
              <a:tblGrid>
                <a:gridCol w="4723238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282658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478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4811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FileInputStream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name)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输入流关联文件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文件路径以字符串形式给出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FileInputStream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输入流关联文件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文件路径以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C9C140D8-09AA-4214-F97A-B772E1D4B49F}"/>
              </a:ext>
            </a:extLst>
          </p:cNvPr>
          <p:cNvGraphicFramePr>
            <a:graphicFrameLocks noGrp="1"/>
          </p:cNvGraphicFramePr>
          <p:nvPr/>
        </p:nvGraphicFramePr>
        <p:xfrm>
          <a:off x="877752" y="4269188"/>
          <a:ext cx="10741819" cy="2078871"/>
        </p:xfrm>
        <a:graphic>
          <a:graphicData uri="http://schemas.openxmlformats.org/drawingml/2006/table">
            <a:tbl>
              <a:tblPr/>
              <a:tblGrid>
                <a:gridCol w="5633661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5108158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4520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6333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int read()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读取一个字节并返回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如果到达文件结尾则返回 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-1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  <a:tr h="99348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int read(byte[] b)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将读取到字节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放到传入的数组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返回读取到的有效字节个数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如果到达文件结尾则返回 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-1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702"/>
                  </a:ext>
                </a:extLst>
              </a:tr>
            </a:tbl>
          </a:graphicData>
        </a:graphic>
      </p:graphicFrame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0B3E363-0DDD-845F-3A39-737EC7F15B84}"/>
              </a:ext>
            </a:extLst>
          </p:cNvPr>
          <p:cNvSpPr/>
          <p:nvPr/>
        </p:nvSpPr>
        <p:spPr>
          <a:xfrm>
            <a:off x="750849" y="5369522"/>
            <a:ext cx="11307336" cy="978537"/>
          </a:xfrm>
          <a:custGeom>
            <a:avLst/>
            <a:gdLst>
              <a:gd name="connsiteX0" fmla="*/ 0 w 11307336"/>
              <a:gd name="connsiteY0" fmla="*/ 163093 h 978537"/>
              <a:gd name="connsiteX1" fmla="*/ 163093 w 11307336"/>
              <a:gd name="connsiteY1" fmla="*/ 0 h 978537"/>
              <a:gd name="connsiteX2" fmla="*/ 1069038 w 11307336"/>
              <a:gd name="connsiteY2" fmla="*/ 0 h 978537"/>
              <a:gd name="connsiteX3" fmla="*/ 1645548 w 11307336"/>
              <a:gd name="connsiteY3" fmla="*/ 0 h 978537"/>
              <a:gd name="connsiteX4" fmla="*/ 2112247 w 11307336"/>
              <a:gd name="connsiteY4" fmla="*/ 0 h 978537"/>
              <a:gd name="connsiteX5" fmla="*/ 2908381 w 11307336"/>
              <a:gd name="connsiteY5" fmla="*/ 0 h 978537"/>
              <a:gd name="connsiteX6" fmla="*/ 3484891 w 11307336"/>
              <a:gd name="connsiteY6" fmla="*/ 0 h 978537"/>
              <a:gd name="connsiteX7" fmla="*/ 4390836 w 11307336"/>
              <a:gd name="connsiteY7" fmla="*/ 0 h 978537"/>
              <a:gd name="connsiteX8" fmla="*/ 4857535 w 11307336"/>
              <a:gd name="connsiteY8" fmla="*/ 0 h 978537"/>
              <a:gd name="connsiteX9" fmla="*/ 5763480 w 11307336"/>
              <a:gd name="connsiteY9" fmla="*/ 0 h 978537"/>
              <a:gd name="connsiteX10" fmla="*/ 6120367 w 11307336"/>
              <a:gd name="connsiteY10" fmla="*/ 0 h 978537"/>
              <a:gd name="connsiteX11" fmla="*/ 6806689 w 11307336"/>
              <a:gd name="connsiteY11" fmla="*/ 0 h 978537"/>
              <a:gd name="connsiteX12" fmla="*/ 7493011 w 11307336"/>
              <a:gd name="connsiteY12" fmla="*/ 0 h 978537"/>
              <a:gd name="connsiteX13" fmla="*/ 8069521 w 11307336"/>
              <a:gd name="connsiteY13" fmla="*/ 0 h 978537"/>
              <a:gd name="connsiteX14" fmla="*/ 8975466 w 11307336"/>
              <a:gd name="connsiteY14" fmla="*/ 0 h 978537"/>
              <a:gd name="connsiteX15" fmla="*/ 9881411 w 11307336"/>
              <a:gd name="connsiteY15" fmla="*/ 0 h 978537"/>
              <a:gd name="connsiteX16" fmla="*/ 10348110 w 11307336"/>
              <a:gd name="connsiteY16" fmla="*/ 0 h 978537"/>
              <a:gd name="connsiteX17" fmla="*/ 11144243 w 11307336"/>
              <a:gd name="connsiteY17" fmla="*/ 0 h 978537"/>
              <a:gd name="connsiteX18" fmla="*/ 11307336 w 11307336"/>
              <a:gd name="connsiteY18" fmla="*/ 163093 h 978537"/>
              <a:gd name="connsiteX19" fmla="*/ 11307336 w 11307336"/>
              <a:gd name="connsiteY19" fmla="*/ 815444 h 978537"/>
              <a:gd name="connsiteX20" fmla="*/ 11144243 w 11307336"/>
              <a:gd name="connsiteY20" fmla="*/ 978537 h 978537"/>
              <a:gd name="connsiteX21" fmla="*/ 10348110 w 11307336"/>
              <a:gd name="connsiteY21" fmla="*/ 978537 h 978537"/>
              <a:gd name="connsiteX22" fmla="*/ 9881411 w 11307336"/>
              <a:gd name="connsiteY22" fmla="*/ 978537 h 978537"/>
              <a:gd name="connsiteX23" fmla="*/ 9195089 w 11307336"/>
              <a:gd name="connsiteY23" fmla="*/ 978537 h 978537"/>
              <a:gd name="connsiteX24" fmla="*/ 8838202 w 11307336"/>
              <a:gd name="connsiteY24" fmla="*/ 978537 h 978537"/>
              <a:gd name="connsiteX25" fmla="*/ 8481314 w 11307336"/>
              <a:gd name="connsiteY25" fmla="*/ 978537 h 978537"/>
              <a:gd name="connsiteX26" fmla="*/ 7794992 w 11307336"/>
              <a:gd name="connsiteY26" fmla="*/ 978537 h 978537"/>
              <a:gd name="connsiteX27" fmla="*/ 7328293 w 11307336"/>
              <a:gd name="connsiteY27" fmla="*/ 978537 h 978537"/>
              <a:gd name="connsiteX28" fmla="*/ 6532160 w 11307336"/>
              <a:gd name="connsiteY28" fmla="*/ 978537 h 978537"/>
              <a:gd name="connsiteX29" fmla="*/ 6065461 w 11307336"/>
              <a:gd name="connsiteY29" fmla="*/ 978537 h 978537"/>
              <a:gd name="connsiteX30" fmla="*/ 5269328 w 11307336"/>
              <a:gd name="connsiteY30" fmla="*/ 978537 h 978537"/>
              <a:gd name="connsiteX31" fmla="*/ 4912440 w 11307336"/>
              <a:gd name="connsiteY31" fmla="*/ 978537 h 978537"/>
              <a:gd name="connsiteX32" fmla="*/ 4116307 w 11307336"/>
              <a:gd name="connsiteY32" fmla="*/ 978537 h 978537"/>
              <a:gd name="connsiteX33" fmla="*/ 3649608 w 11307336"/>
              <a:gd name="connsiteY33" fmla="*/ 978537 h 978537"/>
              <a:gd name="connsiteX34" fmla="*/ 3292721 w 11307336"/>
              <a:gd name="connsiteY34" fmla="*/ 978537 h 978537"/>
              <a:gd name="connsiteX35" fmla="*/ 2826022 w 11307336"/>
              <a:gd name="connsiteY35" fmla="*/ 978537 h 978537"/>
              <a:gd name="connsiteX36" fmla="*/ 2029889 w 11307336"/>
              <a:gd name="connsiteY36" fmla="*/ 978537 h 978537"/>
              <a:gd name="connsiteX37" fmla="*/ 1563190 w 11307336"/>
              <a:gd name="connsiteY37" fmla="*/ 978537 h 978537"/>
              <a:gd name="connsiteX38" fmla="*/ 1206302 w 11307336"/>
              <a:gd name="connsiteY38" fmla="*/ 978537 h 978537"/>
              <a:gd name="connsiteX39" fmla="*/ 163093 w 11307336"/>
              <a:gd name="connsiteY39" fmla="*/ 978537 h 978537"/>
              <a:gd name="connsiteX40" fmla="*/ 0 w 11307336"/>
              <a:gd name="connsiteY40" fmla="*/ 815444 h 978537"/>
              <a:gd name="connsiteX41" fmla="*/ 0 w 11307336"/>
              <a:gd name="connsiteY41" fmla="*/ 163093 h 97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307336" h="978537" extrusionOk="0">
                <a:moveTo>
                  <a:pt x="0" y="163093"/>
                </a:moveTo>
                <a:cubicBezTo>
                  <a:pt x="-4465" y="70265"/>
                  <a:pt x="61531" y="4312"/>
                  <a:pt x="163093" y="0"/>
                </a:cubicBezTo>
                <a:cubicBezTo>
                  <a:pt x="382630" y="23966"/>
                  <a:pt x="761241" y="28148"/>
                  <a:pt x="1069038" y="0"/>
                </a:cubicBezTo>
                <a:cubicBezTo>
                  <a:pt x="1376836" y="-28148"/>
                  <a:pt x="1403648" y="-19971"/>
                  <a:pt x="1645548" y="0"/>
                </a:cubicBezTo>
                <a:cubicBezTo>
                  <a:pt x="1887448" y="19971"/>
                  <a:pt x="1927897" y="-22889"/>
                  <a:pt x="2112247" y="0"/>
                </a:cubicBezTo>
                <a:cubicBezTo>
                  <a:pt x="2296597" y="22889"/>
                  <a:pt x="2545352" y="-14311"/>
                  <a:pt x="2908381" y="0"/>
                </a:cubicBezTo>
                <a:cubicBezTo>
                  <a:pt x="3271410" y="14311"/>
                  <a:pt x="3332423" y="6831"/>
                  <a:pt x="3484891" y="0"/>
                </a:cubicBezTo>
                <a:cubicBezTo>
                  <a:pt x="3637359" y="-6831"/>
                  <a:pt x="4131719" y="34304"/>
                  <a:pt x="4390836" y="0"/>
                </a:cubicBezTo>
                <a:cubicBezTo>
                  <a:pt x="4649954" y="-34304"/>
                  <a:pt x="4659570" y="-21913"/>
                  <a:pt x="4857535" y="0"/>
                </a:cubicBezTo>
                <a:cubicBezTo>
                  <a:pt x="5055500" y="21913"/>
                  <a:pt x="5393470" y="-5448"/>
                  <a:pt x="5763480" y="0"/>
                </a:cubicBezTo>
                <a:cubicBezTo>
                  <a:pt x="6133490" y="5448"/>
                  <a:pt x="6015121" y="-12586"/>
                  <a:pt x="6120367" y="0"/>
                </a:cubicBezTo>
                <a:cubicBezTo>
                  <a:pt x="6225613" y="12586"/>
                  <a:pt x="6485799" y="6219"/>
                  <a:pt x="6806689" y="0"/>
                </a:cubicBezTo>
                <a:cubicBezTo>
                  <a:pt x="7127579" y="-6219"/>
                  <a:pt x="7289073" y="10261"/>
                  <a:pt x="7493011" y="0"/>
                </a:cubicBezTo>
                <a:cubicBezTo>
                  <a:pt x="7696949" y="-10261"/>
                  <a:pt x="7794072" y="19638"/>
                  <a:pt x="8069521" y="0"/>
                </a:cubicBezTo>
                <a:cubicBezTo>
                  <a:pt x="8344970" y="-19638"/>
                  <a:pt x="8714785" y="-2964"/>
                  <a:pt x="8975466" y="0"/>
                </a:cubicBezTo>
                <a:cubicBezTo>
                  <a:pt x="9236147" y="2964"/>
                  <a:pt x="9447945" y="24618"/>
                  <a:pt x="9881411" y="0"/>
                </a:cubicBezTo>
                <a:cubicBezTo>
                  <a:pt x="10314878" y="-24618"/>
                  <a:pt x="10133341" y="-20797"/>
                  <a:pt x="10348110" y="0"/>
                </a:cubicBezTo>
                <a:cubicBezTo>
                  <a:pt x="10562879" y="20797"/>
                  <a:pt x="10846296" y="13907"/>
                  <a:pt x="11144243" y="0"/>
                </a:cubicBezTo>
                <a:cubicBezTo>
                  <a:pt x="11227168" y="-14573"/>
                  <a:pt x="11308501" y="57266"/>
                  <a:pt x="11307336" y="163093"/>
                </a:cubicBezTo>
                <a:cubicBezTo>
                  <a:pt x="11285018" y="359392"/>
                  <a:pt x="11322532" y="539133"/>
                  <a:pt x="11307336" y="815444"/>
                </a:cubicBezTo>
                <a:cubicBezTo>
                  <a:pt x="11300062" y="905817"/>
                  <a:pt x="11237610" y="972601"/>
                  <a:pt x="11144243" y="978537"/>
                </a:cubicBezTo>
                <a:cubicBezTo>
                  <a:pt x="10940760" y="956148"/>
                  <a:pt x="10664432" y="986530"/>
                  <a:pt x="10348110" y="978537"/>
                </a:cubicBezTo>
                <a:cubicBezTo>
                  <a:pt x="10031788" y="970544"/>
                  <a:pt x="10027977" y="994962"/>
                  <a:pt x="9881411" y="978537"/>
                </a:cubicBezTo>
                <a:cubicBezTo>
                  <a:pt x="9734845" y="962112"/>
                  <a:pt x="9448348" y="985934"/>
                  <a:pt x="9195089" y="978537"/>
                </a:cubicBezTo>
                <a:cubicBezTo>
                  <a:pt x="8941830" y="971140"/>
                  <a:pt x="9002990" y="981146"/>
                  <a:pt x="8838202" y="978537"/>
                </a:cubicBezTo>
                <a:cubicBezTo>
                  <a:pt x="8673414" y="975928"/>
                  <a:pt x="8593804" y="961326"/>
                  <a:pt x="8481314" y="978537"/>
                </a:cubicBezTo>
                <a:cubicBezTo>
                  <a:pt x="8368824" y="995748"/>
                  <a:pt x="8059948" y="1005659"/>
                  <a:pt x="7794992" y="978537"/>
                </a:cubicBezTo>
                <a:cubicBezTo>
                  <a:pt x="7530036" y="951415"/>
                  <a:pt x="7430017" y="971168"/>
                  <a:pt x="7328293" y="978537"/>
                </a:cubicBezTo>
                <a:cubicBezTo>
                  <a:pt x="7226569" y="985906"/>
                  <a:pt x="6743837" y="976853"/>
                  <a:pt x="6532160" y="978537"/>
                </a:cubicBezTo>
                <a:cubicBezTo>
                  <a:pt x="6320483" y="980221"/>
                  <a:pt x="6283847" y="976815"/>
                  <a:pt x="6065461" y="978537"/>
                </a:cubicBezTo>
                <a:cubicBezTo>
                  <a:pt x="5847075" y="980259"/>
                  <a:pt x="5457149" y="940314"/>
                  <a:pt x="5269328" y="978537"/>
                </a:cubicBezTo>
                <a:cubicBezTo>
                  <a:pt x="5081507" y="1016760"/>
                  <a:pt x="5011241" y="962055"/>
                  <a:pt x="4912440" y="978537"/>
                </a:cubicBezTo>
                <a:cubicBezTo>
                  <a:pt x="4813639" y="995019"/>
                  <a:pt x="4514188" y="939863"/>
                  <a:pt x="4116307" y="978537"/>
                </a:cubicBezTo>
                <a:cubicBezTo>
                  <a:pt x="3718426" y="1017211"/>
                  <a:pt x="3782102" y="1001410"/>
                  <a:pt x="3649608" y="978537"/>
                </a:cubicBezTo>
                <a:cubicBezTo>
                  <a:pt x="3517114" y="955664"/>
                  <a:pt x="3443181" y="960911"/>
                  <a:pt x="3292721" y="978537"/>
                </a:cubicBezTo>
                <a:cubicBezTo>
                  <a:pt x="3142261" y="996163"/>
                  <a:pt x="2949328" y="989877"/>
                  <a:pt x="2826022" y="978537"/>
                </a:cubicBezTo>
                <a:cubicBezTo>
                  <a:pt x="2702716" y="967197"/>
                  <a:pt x="2191668" y="953123"/>
                  <a:pt x="2029889" y="978537"/>
                </a:cubicBezTo>
                <a:cubicBezTo>
                  <a:pt x="1868110" y="1003951"/>
                  <a:pt x="1673017" y="979381"/>
                  <a:pt x="1563190" y="978537"/>
                </a:cubicBezTo>
                <a:cubicBezTo>
                  <a:pt x="1453363" y="977693"/>
                  <a:pt x="1383589" y="985731"/>
                  <a:pt x="1206302" y="978537"/>
                </a:cubicBezTo>
                <a:cubicBezTo>
                  <a:pt x="1029015" y="971343"/>
                  <a:pt x="505640" y="957860"/>
                  <a:pt x="163093" y="978537"/>
                </a:cubicBezTo>
                <a:cubicBezTo>
                  <a:pt x="77166" y="988673"/>
                  <a:pt x="2680" y="908169"/>
                  <a:pt x="0" y="815444"/>
                </a:cubicBezTo>
                <a:cubicBezTo>
                  <a:pt x="-16959" y="684356"/>
                  <a:pt x="27245" y="377692"/>
                  <a:pt x="0" y="163093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872809-AA76-037F-A8A5-0BD378FA3BE0}"/>
              </a:ext>
            </a:extLst>
          </p:cNvPr>
          <p:cNvSpPr/>
          <p:nvPr/>
        </p:nvSpPr>
        <p:spPr>
          <a:xfrm>
            <a:off x="1069931" y="5565912"/>
            <a:ext cx="9005896" cy="1029811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19CAE71D-1D4C-819A-C543-DACD53CE0E21}"/>
              </a:ext>
            </a:extLst>
          </p:cNvPr>
          <p:cNvSpPr txBox="1"/>
          <p:nvPr/>
        </p:nvSpPr>
        <p:spPr>
          <a:xfrm>
            <a:off x="1228808" y="6011794"/>
            <a:ext cx="4774300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关联的文件不存在会抛出 </a:t>
            </a:r>
            <a:r>
              <a:rPr lang="en-US" altLang="zh-CN" sz="1400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FileNotFoundException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异常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218E00E6-D385-813A-C76C-889511A2B17F}"/>
              </a:ext>
            </a:extLst>
          </p:cNvPr>
          <p:cNvSpPr txBox="1"/>
          <p:nvPr/>
        </p:nvSpPr>
        <p:spPr>
          <a:xfrm>
            <a:off x="6284027" y="6023012"/>
            <a:ext cx="4774300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文件夹的话会拒绝访问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三角形 9">
            <a:extLst>
              <a:ext uri="{FF2B5EF4-FFF2-40B4-BE49-F238E27FC236}">
                <a16:creationId xmlns:a16="http://schemas.microsoft.com/office/drawing/2014/main" id="{F8B3CF11-7C9E-E830-8799-8ED18AB72574}"/>
              </a:ext>
            </a:extLst>
          </p:cNvPr>
          <p:cNvSpPr/>
          <p:nvPr/>
        </p:nvSpPr>
        <p:spPr>
          <a:xfrm rot="2651319">
            <a:off x="976617" y="592249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86C449-0049-58F8-E8E5-98D5F202B95C}"/>
              </a:ext>
            </a:extLst>
          </p:cNvPr>
          <p:cNvSpPr/>
          <p:nvPr/>
        </p:nvSpPr>
        <p:spPr>
          <a:xfrm>
            <a:off x="970003" y="563838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810AC6AA-5655-F289-B65E-AC8055C0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456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7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7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7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7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5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/>
      <p:bldP spid="10" grpId="0"/>
      <p:bldP spid="3" grpId="0"/>
      <p:bldP spid="6" grpId="0"/>
      <p:bldP spid="11" grpId="0"/>
      <p:bldP spid="18" grpId="0" animBg="1"/>
      <p:bldP spid="19" grpId="0" animBg="1"/>
      <p:bldP spid="20" grpId="0"/>
      <p:bldP spid="21" grpId="0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2B1C2C0-6AE3-8226-BAF8-F4FEB09A2DB0}"/>
              </a:ext>
            </a:extLst>
          </p:cNvPr>
          <p:cNvSpPr/>
          <p:nvPr/>
        </p:nvSpPr>
        <p:spPr>
          <a:xfrm>
            <a:off x="5564052" y="2498035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0E420BA-0489-E592-77E3-B5C3ED6F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980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6" grpId="0" animBg="1"/>
      <p:bldP spid="27" grpId="0" animBg="1"/>
      <p:bldP spid="28" grpId="0"/>
      <p:bldP spid="29" grpId="0" animBg="1"/>
      <p:bldP spid="30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2B1C2C0-6AE3-8226-BAF8-F4FEB09A2DB0}"/>
              </a:ext>
            </a:extLst>
          </p:cNvPr>
          <p:cNvSpPr/>
          <p:nvPr/>
        </p:nvSpPr>
        <p:spPr>
          <a:xfrm>
            <a:off x="5564052" y="2498035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EF25AB-5BD7-7C6E-4C34-DDAC0FD195D2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B96187-3BEF-2F3D-2043-430690D6B752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E8F5C73-AF47-44A6-018E-D67A21FF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0389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2B1C2C0-6AE3-8226-BAF8-F4FEB09A2DB0}"/>
              </a:ext>
            </a:extLst>
          </p:cNvPr>
          <p:cNvSpPr/>
          <p:nvPr/>
        </p:nvSpPr>
        <p:spPr>
          <a:xfrm>
            <a:off x="5564052" y="2498035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EF25AB-5BD7-7C6E-4C34-DDAC0FD195D2}"/>
              </a:ext>
            </a:extLst>
          </p:cNvPr>
          <p:cNvSpPr txBox="1"/>
          <p:nvPr/>
        </p:nvSpPr>
        <p:spPr>
          <a:xfrm>
            <a:off x="3099397" y="422415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B96187-3BEF-2F3D-2043-430690D6B752}"/>
              </a:ext>
            </a:extLst>
          </p:cNvPr>
          <p:cNvSpPr txBox="1"/>
          <p:nvPr/>
        </p:nvSpPr>
        <p:spPr>
          <a:xfrm>
            <a:off x="3841519" y="422415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1B32E61-18CF-1694-7AF5-59D28071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1442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2B1C2C0-6AE3-8226-BAF8-F4FEB09A2DB0}"/>
              </a:ext>
            </a:extLst>
          </p:cNvPr>
          <p:cNvSpPr/>
          <p:nvPr/>
        </p:nvSpPr>
        <p:spPr>
          <a:xfrm>
            <a:off x="5521753" y="3447075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EF25AB-5BD7-7C6E-4C34-DDAC0FD195D2}"/>
              </a:ext>
            </a:extLst>
          </p:cNvPr>
          <p:cNvSpPr txBox="1"/>
          <p:nvPr/>
        </p:nvSpPr>
        <p:spPr>
          <a:xfrm>
            <a:off x="3099397" y="422415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B96187-3BEF-2F3D-2043-430690D6B752}"/>
              </a:ext>
            </a:extLst>
          </p:cNvPr>
          <p:cNvSpPr txBox="1"/>
          <p:nvPr/>
        </p:nvSpPr>
        <p:spPr>
          <a:xfrm>
            <a:off x="3841519" y="422415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A9829-7D87-EB55-A51D-9F1FEE9C92D1}"/>
              </a:ext>
            </a:extLst>
          </p:cNvPr>
          <p:cNvSpPr txBox="1"/>
          <p:nvPr/>
        </p:nvSpPr>
        <p:spPr>
          <a:xfrm>
            <a:off x="1794593" y="2872627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A920C0-E521-D8B6-535F-6F2282BF5965}"/>
              </a:ext>
            </a:extLst>
          </p:cNvPr>
          <p:cNvSpPr txBox="1"/>
          <p:nvPr/>
        </p:nvSpPr>
        <p:spPr>
          <a:xfrm>
            <a:off x="2223196" y="2872627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52E48D19-539E-D6D6-2CA2-BEE91C91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7830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5EF25AB-5BD7-7C6E-4C34-DDAC0FD195D2}"/>
              </a:ext>
            </a:extLst>
          </p:cNvPr>
          <p:cNvSpPr txBox="1"/>
          <p:nvPr/>
        </p:nvSpPr>
        <p:spPr>
          <a:xfrm>
            <a:off x="3099397" y="422415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B96187-3BEF-2F3D-2043-430690D6B752}"/>
              </a:ext>
            </a:extLst>
          </p:cNvPr>
          <p:cNvSpPr txBox="1"/>
          <p:nvPr/>
        </p:nvSpPr>
        <p:spPr>
          <a:xfrm>
            <a:off x="3841519" y="422415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5A9829-7D87-EB55-A51D-9F1FEE9C92D1}"/>
              </a:ext>
            </a:extLst>
          </p:cNvPr>
          <p:cNvSpPr txBox="1"/>
          <p:nvPr/>
        </p:nvSpPr>
        <p:spPr>
          <a:xfrm>
            <a:off x="3100894" y="422415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A920C0-E521-D8B6-535F-6F2282BF5965}"/>
              </a:ext>
            </a:extLst>
          </p:cNvPr>
          <p:cNvSpPr txBox="1"/>
          <p:nvPr/>
        </p:nvSpPr>
        <p:spPr>
          <a:xfrm>
            <a:off x="3773548" y="422415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646601D-58E8-5D39-D404-BDC3D6BEAC08}"/>
              </a:ext>
            </a:extLst>
          </p:cNvPr>
          <p:cNvSpPr/>
          <p:nvPr/>
        </p:nvSpPr>
        <p:spPr>
          <a:xfrm>
            <a:off x="5521753" y="3447075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F5A14E0F-615D-A14A-DE90-EB7F027C4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88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646601D-58E8-5D39-D404-BDC3D6BEAC08}"/>
              </a:ext>
            </a:extLst>
          </p:cNvPr>
          <p:cNvSpPr/>
          <p:nvPr/>
        </p:nvSpPr>
        <p:spPr>
          <a:xfrm>
            <a:off x="5564052" y="4436263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7FEE0D-06EF-23D4-E71C-76A14600E568}"/>
              </a:ext>
            </a:extLst>
          </p:cNvPr>
          <p:cNvSpPr txBox="1"/>
          <p:nvPr/>
        </p:nvSpPr>
        <p:spPr>
          <a:xfrm>
            <a:off x="2750255" y="286693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9554C4-DC63-49AB-5BF0-017DDA62243D}"/>
              </a:ext>
            </a:extLst>
          </p:cNvPr>
          <p:cNvSpPr txBox="1"/>
          <p:nvPr/>
        </p:nvSpPr>
        <p:spPr>
          <a:xfrm>
            <a:off x="3116854" y="4197609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EB97F8-5411-BA53-EDDF-4D014A906B14}"/>
              </a:ext>
            </a:extLst>
          </p:cNvPr>
          <p:cNvSpPr txBox="1"/>
          <p:nvPr/>
        </p:nvSpPr>
        <p:spPr>
          <a:xfrm>
            <a:off x="3805950" y="4197609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FB6EC56-FE1D-E934-924B-3110F1C3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349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646601D-58E8-5D39-D404-BDC3D6BEAC08}"/>
              </a:ext>
            </a:extLst>
          </p:cNvPr>
          <p:cNvSpPr/>
          <p:nvPr/>
        </p:nvSpPr>
        <p:spPr>
          <a:xfrm>
            <a:off x="5564052" y="4436263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7FEE0D-06EF-23D4-E71C-76A14600E568}"/>
              </a:ext>
            </a:extLst>
          </p:cNvPr>
          <p:cNvSpPr txBox="1"/>
          <p:nvPr/>
        </p:nvSpPr>
        <p:spPr>
          <a:xfrm>
            <a:off x="3062080" y="419760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9554C4-DC63-49AB-5BF0-017DDA62243D}"/>
              </a:ext>
            </a:extLst>
          </p:cNvPr>
          <p:cNvSpPr txBox="1"/>
          <p:nvPr/>
        </p:nvSpPr>
        <p:spPr>
          <a:xfrm>
            <a:off x="3116854" y="4197609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EB97F8-5411-BA53-EDDF-4D014A906B14}"/>
              </a:ext>
            </a:extLst>
          </p:cNvPr>
          <p:cNvSpPr txBox="1"/>
          <p:nvPr/>
        </p:nvSpPr>
        <p:spPr>
          <a:xfrm>
            <a:off x="3805950" y="4197609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AC8DFC6-921D-C7C2-F0AC-4B83A188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2646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1B9554C4-DC63-49AB-5BF0-017DDA62243D}"/>
              </a:ext>
            </a:extLst>
          </p:cNvPr>
          <p:cNvSpPr txBox="1"/>
          <p:nvPr/>
        </p:nvSpPr>
        <p:spPr>
          <a:xfrm>
            <a:off x="3116854" y="4197609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9" name="矩形: 折角 18">
            <a:extLst>
              <a:ext uri="{FF2B5EF4-FFF2-40B4-BE49-F238E27FC236}">
                <a16:creationId xmlns:a16="http://schemas.microsoft.com/office/drawing/2014/main" id="{B6339B71-9776-0923-DFEC-9CF6E47ABA5B}"/>
              </a:ext>
            </a:extLst>
          </p:cNvPr>
          <p:cNvSpPr/>
          <p:nvPr/>
        </p:nvSpPr>
        <p:spPr>
          <a:xfrm>
            <a:off x="937387" y="2017602"/>
            <a:ext cx="3389448" cy="1159607"/>
          </a:xfrm>
          <a:prstGeom prst="foldedCorner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nsolas" panose="020B0609020204030204" pitchFamily="49" charset="0"/>
              </a:rPr>
              <a:t>D:\A.txt</a:t>
            </a:r>
          </a:p>
          <a:p>
            <a:r>
              <a:rPr lang="en-US" altLang="zh-CN">
                <a:latin typeface="Consolas" panose="020B0609020204030204" pitchFamily="49" charset="0"/>
              </a:rPr>
              <a:t>abcde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3262E-6A48-2050-7AED-02873DB3FC9B}"/>
              </a:ext>
            </a:extLst>
          </p:cNvPr>
          <p:cNvSpPr txBox="1"/>
          <p:nvPr/>
        </p:nvSpPr>
        <p:spPr>
          <a:xfrm>
            <a:off x="937387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97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82443D5-03FD-3F76-A926-9C5AEE67D55B}"/>
              </a:ext>
            </a:extLst>
          </p:cNvPr>
          <p:cNvSpPr txBox="1"/>
          <p:nvPr/>
        </p:nvSpPr>
        <p:spPr>
          <a:xfrm>
            <a:off x="1365990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98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B64202-93D3-D06B-584B-80EA3E143549}"/>
              </a:ext>
            </a:extLst>
          </p:cNvPr>
          <p:cNvSpPr txBox="1"/>
          <p:nvPr/>
        </p:nvSpPr>
        <p:spPr>
          <a:xfrm>
            <a:off x="1794593" y="2869432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99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4AF79B-4B10-C340-E7E2-F5A3C0020191}"/>
              </a:ext>
            </a:extLst>
          </p:cNvPr>
          <p:cNvSpPr txBox="1"/>
          <p:nvPr/>
        </p:nvSpPr>
        <p:spPr>
          <a:xfrm>
            <a:off x="2223196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447643-AAFA-3219-70B5-0DC92BDE96AF}"/>
              </a:ext>
            </a:extLst>
          </p:cNvPr>
          <p:cNvSpPr txBox="1"/>
          <p:nvPr/>
        </p:nvSpPr>
        <p:spPr>
          <a:xfrm>
            <a:off x="2751184" y="286943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EA303A-D718-7CD8-7D6F-E06C3A1FD866}"/>
              </a:ext>
            </a:extLst>
          </p:cNvPr>
          <p:cNvSpPr/>
          <p:nvPr/>
        </p:nvSpPr>
        <p:spPr>
          <a:xfrm>
            <a:off x="2934179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4541EF-B1EC-40BD-098A-9319F85E30C4}"/>
              </a:ext>
            </a:extLst>
          </p:cNvPr>
          <p:cNvSpPr/>
          <p:nvPr/>
        </p:nvSpPr>
        <p:spPr>
          <a:xfrm>
            <a:off x="3676301" y="4056676"/>
            <a:ext cx="742122" cy="64273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占位符 6">
            <a:extLst>
              <a:ext uri="{FF2B5EF4-FFF2-40B4-BE49-F238E27FC236}">
                <a16:creationId xmlns:a16="http://schemas.microsoft.com/office/drawing/2014/main" id="{39445219-BFE8-6D7A-F07F-60B9D5FF6554}"/>
              </a:ext>
            </a:extLst>
          </p:cNvPr>
          <p:cNvSpPr txBox="1">
            <a:spLocks/>
          </p:cNvSpPr>
          <p:nvPr/>
        </p:nvSpPr>
        <p:spPr>
          <a:xfrm>
            <a:off x="2876760" y="3637723"/>
            <a:ext cx="1395889" cy="307778"/>
          </a:xfrm>
          <a:prstGeom prst="rect">
            <a:avLst/>
          </a:prstGeom>
        </p:spPr>
        <p:txBody>
          <a:bodyPr/>
          <a:lstStyle>
            <a:lvl1pPr marL="457189" indent="-457189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1600" dirty="0">
                <a:latin typeface="Consolas" panose="020B0609020204030204" pitchFamily="49" charset="0"/>
              </a:rPr>
              <a:t>byte[] </a:t>
            </a:r>
            <a:r>
              <a:rPr lang="en-US" altLang="zh-CN" sz="1600" dirty="0" err="1">
                <a:latin typeface="Consolas" panose="020B0609020204030204" pitchFamily="49" charset="0"/>
              </a:rPr>
              <a:t>bys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5958EA-5186-5157-B803-E74C4AB7F244}"/>
              </a:ext>
            </a:extLst>
          </p:cNvPr>
          <p:cNvSpPr/>
          <p:nvPr/>
        </p:nvSpPr>
        <p:spPr>
          <a:xfrm>
            <a:off x="2904158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651B96-0C51-0C78-BA63-7A6CA9016494}"/>
              </a:ext>
            </a:extLst>
          </p:cNvPr>
          <p:cNvSpPr/>
          <p:nvPr/>
        </p:nvSpPr>
        <p:spPr>
          <a:xfrm>
            <a:off x="3646280" y="4722639"/>
            <a:ext cx="742122" cy="64273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4354917-2454-9897-CC02-BEAECE96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58" y="3527484"/>
            <a:ext cx="1339919" cy="209560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9A64CD7-8A6D-647B-B229-12A4360D1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755" y="1548684"/>
            <a:ext cx="5768493" cy="4794344"/>
          </a:xfrm>
          <a:prstGeom prst="rect">
            <a:avLst/>
          </a:prstGeom>
          <a:ln w="3175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646601D-58E8-5D39-D404-BDC3D6BEAC08}"/>
              </a:ext>
            </a:extLst>
          </p:cNvPr>
          <p:cNvSpPr/>
          <p:nvPr/>
        </p:nvSpPr>
        <p:spPr>
          <a:xfrm>
            <a:off x="5564052" y="5412063"/>
            <a:ext cx="3876764" cy="930965"/>
          </a:xfrm>
          <a:custGeom>
            <a:avLst/>
            <a:gdLst>
              <a:gd name="connsiteX0" fmla="*/ 0 w 3876764"/>
              <a:gd name="connsiteY0" fmla="*/ 155164 h 930965"/>
              <a:gd name="connsiteX1" fmla="*/ 155164 w 3876764"/>
              <a:gd name="connsiteY1" fmla="*/ 0 h 930965"/>
              <a:gd name="connsiteX2" fmla="*/ 785234 w 3876764"/>
              <a:gd name="connsiteY2" fmla="*/ 0 h 930965"/>
              <a:gd name="connsiteX3" fmla="*/ 1272647 w 3876764"/>
              <a:gd name="connsiteY3" fmla="*/ 0 h 930965"/>
              <a:gd name="connsiteX4" fmla="*/ 1831389 w 3876764"/>
              <a:gd name="connsiteY4" fmla="*/ 0 h 930965"/>
              <a:gd name="connsiteX5" fmla="*/ 2390131 w 3876764"/>
              <a:gd name="connsiteY5" fmla="*/ 0 h 930965"/>
              <a:gd name="connsiteX6" fmla="*/ 2877543 w 3876764"/>
              <a:gd name="connsiteY6" fmla="*/ 0 h 930965"/>
              <a:gd name="connsiteX7" fmla="*/ 3721600 w 3876764"/>
              <a:gd name="connsiteY7" fmla="*/ 0 h 930965"/>
              <a:gd name="connsiteX8" fmla="*/ 3876764 w 3876764"/>
              <a:gd name="connsiteY8" fmla="*/ 155164 h 930965"/>
              <a:gd name="connsiteX9" fmla="*/ 3876764 w 3876764"/>
              <a:gd name="connsiteY9" fmla="*/ 471689 h 930965"/>
              <a:gd name="connsiteX10" fmla="*/ 3876764 w 3876764"/>
              <a:gd name="connsiteY10" fmla="*/ 775801 h 930965"/>
              <a:gd name="connsiteX11" fmla="*/ 3721600 w 3876764"/>
              <a:gd name="connsiteY11" fmla="*/ 930965 h 930965"/>
              <a:gd name="connsiteX12" fmla="*/ 3091530 w 3876764"/>
              <a:gd name="connsiteY12" fmla="*/ 930965 h 930965"/>
              <a:gd name="connsiteX13" fmla="*/ 2604117 w 3876764"/>
              <a:gd name="connsiteY13" fmla="*/ 930965 h 930965"/>
              <a:gd name="connsiteX14" fmla="*/ 1974046 w 3876764"/>
              <a:gd name="connsiteY14" fmla="*/ 930965 h 930965"/>
              <a:gd name="connsiteX15" fmla="*/ 1486633 w 3876764"/>
              <a:gd name="connsiteY15" fmla="*/ 930965 h 930965"/>
              <a:gd name="connsiteX16" fmla="*/ 892227 w 3876764"/>
              <a:gd name="connsiteY16" fmla="*/ 930965 h 930965"/>
              <a:gd name="connsiteX17" fmla="*/ 155164 w 3876764"/>
              <a:gd name="connsiteY17" fmla="*/ 930965 h 930965"/>
              <a:gd name="connsiteX18" fmla="*/ 0 w 3876764"/>
              <a:gd name="connsiteY18" fmla="*/ 775801 h 930965"/>
              <a:gd name="connsiteX19" fmla="*/ 0 w 3876764"/>
              <a:gd name="connsiteY19" fmla="*/ 465483 h 930965"/>
              <a:gd name="connsiteX20" fmla="*/ 0 w 3876764"/>
              <a:gd name="connsiteY20" fmla="*/ 155164 h 93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76764" h="930965" extrusionOk="0">
                <a:moveTo>
                  <a:pt x="0" y="155164"/>
                </a:moveTo>
                <a:cubicBezTo>
                  <a:pt x="8866" y="84709"/>
                  <a:pt x="88747" y="12080"/>
                  <a:pt x="155164" y="0"/>
                </a:cubicBezTo>
                <a:cubicBezTo>
                  <a:pt x="448100" y="-38276"/>
                  <a:pt x="641645" y="55050"/>
                  <a:pt x="785234" y="0"/>
                </a:cubicBezTo>
                <a:cubicBezTo>
                  <a:pt x="928823" y="-55050"/>
                  <a:pt x="1174152" y="17803"/>
                  <a:pt x="1272647" y="0"/>
                </a:cubicBezTo>
                <a:cubicBezTo>
                  <a:pt x="1371142" y="-17803"/>
                  <a:pt x="1591241" y="35454"/>
                  <a:pt x="1831389" y="0"/>
                </a:cubicBezTo>
                <a:cubicBezTo>
                  <a:pt x="2071537" y="-35454"/>
                  <a:pt x="2131216" y="8373"/>
                  <a:pt x="2390131" y="0"/>
                </a:cubicBezTo>
                <a:cubicBezTo>
                  <a:pt x="2649046" y="-8373"/>
                  <a:pt x="2750196" y="13499"/>
                  <a:pt x="2877543" y="0"/>
                </a:cubicBezTo>
                <a:cubicBezTo>
                  <a:pt x="3004890" y="-13499"/>
                  <a:pt x="3483627" y="59560"/>
                  <a:pt x="3721600" y="0"/>
                </a:cubicBezTo>
                <a:cubicBezTo>
                  <a:pt x="3802843" y="1092"/>
                  <a:pt x="3867317" y="72382"/>
                  <a:pt x="3876764" y="155164"/>
                </a:cubicBezTo>
                <a:cubicBezTo>
                  <a:pt x="3879604" y="293283"/>
                  <a:pt x="3875486" y="397256"/>
                  <a:pt x="3876764" y="471689"/>
                </a:cubicBezTo>
                <a:cubicBezTo>
                  <a:pt x="3878042" y="546122"/>
                  <a:pt x="3863347" y="632184"/>
                  <a:pt x="3876764" y="775801"/>
                </a:cubicBezTo>
                <a:cubicBezTo>
                  <a:pt x="3885167" y="867714"/>
                  <a:pt x="3799305" y="943183"/>
                  <a:pt x="3721600" y="930965"/>
                </a:cubicBezTo>
                <a:cubicBezTo>
                  <a:pt x="3536848" y="1006566"/>
                  <a:pt x="3280570" y="926036"/>
                  <a:pt x="3091530" y="930965"/>
                </a:cubicBezTo>
                <a:cubicBezTo>
                  <a:pt x="2902490" y="935894"/>
                  <a:pt x="2786540" y="896710"/>
                  <a:pt x="2604117" y="930965"/>
                </a:cubicBezTo>
                <a:cubicBezTo>
                  <a:pt x="2421694" y="965220"/>
                  <a:pt x="2196654" y="909704"/>
                  <a:pt x="1974046" y="930965"/>
                </a:cubicBezTo>
                <a:cubicBezTo>
                  <a:pt x="1751438" y="952226"/>
                  <a:pt x="1614178" y="877543"/>
                  <a:pt x="1486633" y="930965"/>
                </a:cubicBezTo>
                <a:cubicBezTo>
                  <a:pt x="1359088" y="984387"/>
                  <a:pt x="1030556" y="885932"/>
                  <a:pt x="892227" y="930965"/>
                </a:cubicBezTo>
                <a:cubicBezTo>
                  <a:pt x="753898" y="975998"/>
                  <a:pt x="367222" y="918855"/>
                  <a:pt x="155164" y="930965"/>
                </a:cubicBezTo>
                <a:cubicBezTo>
                  <a:pt x="78950" y="938240"/>
                  <a:pt x="-2203" y="861895"/>
                  <a:pt x="0" y="775801"/>
                </a:cubicBezTo>
                <a:cubicBezTo>
                  <a:pt x="-8343" y="692134"/>
                  <a:pt x="7335" y="537932"/>
                  <a:pt x="0" y="465483"/>
                </a:cubicBezTo>
                <a:cubicBezTo>
                  <a:pt x="-7335" y="393034"/>
                  <a:pt x="29953" y="240690"/>
                  <a:pt x="0" y="155164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36074579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7FEE0D-06EF-23D4-E71C-76A14600E568}"/>
              </a:ext>
            </a:extLst>
          </p:cNvPr>
          <p:cNvSpPr txBox="1"/>
          <p:nvPr/>
        </p:nvSpPr>
        <p:spPr>
          <a:xfrm>
            <a:off x="3062080" y="419760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101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EB97F8-5411-BA53-EDDF-4D014A906B14}"/>
              </a:ext>
            </a:extLst>
          </p:cNvPr>
          <p:cNvSpPr txBox="1"/>
          <p:nvPr/>
        </p:nvSpPr>
        <p:spPr>
          <a:xfrm>
            <a:off x="3805950" y="4197609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100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C577998-BA65-CFDF-7C28-879D82F1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0509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55BB29B-8C9E-0794-6841-95927B3A88DC}"/>
              </a:ext>
            </a:extLst>
          </p:cNvPr>
          <p:cNvGraphicFramePr>
            <a:graphicFrameLocks noGrp="1"/>
          </p:cNvGraphicFramePr>
          <p:nvPr/>
        </p:nvGraphicFramePr>
        <p:xfrm>
          <a:off x="950639" y="1936806"/>
          <a:ext cx="10741819" cy="2112899"/>
        </p:xfrm>
        <a:graphic>
          <a:graphicData uri="http://schemas.openxmlformats.org/drawingml/2006/table">
            <a:tbl>
              <a:tblPr/>
              <a:tblGrid>
                <a:gridCol w="5633661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5108158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45207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6333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String</a:t>
                      </a:r>
                    </a:p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(byte[] bytes, int offset, int length)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将字节数组转换为字符串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1 :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 字节数组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2 :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起始索引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3 :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转换的个数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BEF2999C-D722-59BE-74FB-F79A7AFA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FileInputStream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3822341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6BCDC5-A63E-FB06-F0AB-AFE4C01B7C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897875"/>
            <a:ext cx="7402227" cy="396239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FileInputStream</a:t>
            </a:r>
            <a:r>
              <a:rPr lang="en-US" altLang="zh-CN" dirty="0"/>
              <a:t> </a:t>
            </a:r>
            <a:r>
              <a:rPr lang="zh-CN" altLang="en-US" dirty="0"/>
              <a:t>字节输入流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创建对象的时候关联文件</a:t>
            </a:r>
            <a:r>
              <a:rPr lang="en-US" altLang="zh-CN" dirty="0"/>
              <a:t>, </a:t>
            </a:r>
            <a:r>
              <a:rPr lang="zh-CN" altLang="en-US" dirty="0"/>
              <a:t>文件不存在就会抛出异常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调用 </a:t>
            </a:r>
            <a:r>
              <a:rPr lang="en-US" altLang="zh-CN" dirty="0"/>
              <a:t>read </a:t>
            </a:r>
            <a:r>
              <a:rPr lang="zh-CN" altLang="en-US" dirty="0"/>
              <a:t>方法读取字节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6435787-29F0-0642-2012-56F29CDB5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354018"/>
              </p:ext>
            </p:extLst>
          </p:nvPr>
        </p:nvGraphicFramePr>
        <p:xfrm>
          <a:off x="3936569" y="3870023"/>
          <a:ext cx="6735622" cy="1980501"/>
        </p:xfrm>
        <a:graphic>
          <a:graphicData uri="http://schemas.openxmlformats.org/drawingml/2006/table">
            <a:tbl>
              <a:tblPr/>
              <a:tblGrid>
                <a:gridCol w="3532568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3203054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24481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3429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int read()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读取一个字节并返回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如果到达文件结尾则返回 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-1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  <a:tr h="53800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int read(byte[] b)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将读取到字节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, </a:t>
                      </a: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放到传入的数组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返回读取到的有效字节个数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如果到达文件结尾则返回 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-1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2231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DF73DA9-08B5-D38B-41BB-9E9B8D22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文件拷贝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46777DB-4474-A330-2AB1-2A0429C8C7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将 </a:t>
            </a:r>
            <a:r>
              <a:rPr lang="en-US" altLang="zh-CN" dirty="0"/>
              <a:t>D:\</a:t>
            </a:r>
            <a:r>
              <a:rPr lang="zh-CN" altLang="en-US" dirty="0"/>
              <a:t>嘿嘿</a:t>
            </a:r>
            <a:r>
              <a:rPr lang="en-US" altLang="zh-CN" dirty="0"/>
              <a:t>.jpg</a:t>
            </a:r>
            <a:r>
              <a:rPr lang="zh-CN" altLang="en-US" dirty="0"/>
              <a:t>，拷贝到 </a:t>
            </a:r>
            <a:r>
              <a:rPr lang="en-US" altLang="zh-CN" dirty="0"/>
              <a:t>E:\</a:t>
            </a:r>
            <a:r>
              <a:rPr lang="zh-CN" altLang="en-US" dirty="0"/>
              <a:t> 根目录下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创建输入流对象读取文件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创建输出流对象关联数据目的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读写操作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关流释放资源</a:t>
            </a:r>
          </a:p>
        </p:txBody>
      </p:sp>
    </p:spTree>
    <p:extLst>
      <p:ext uri="{BB962C8B-B14F-4D97-AF65-F5344CB8AC3E}">
        <p14:creationId xmlns:p14="http://schemas.microsoft.com/office/powerpoint/2010/main" val="36479386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1C3BF61-510E-3271-C3DD-83283BCE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029B70-900C-938F-FEB7-4091EBE7D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139" y="1526664"/>
            <a:ext cx="5634223" cy="3804672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IO </a:t>
            </a:r>
            <a:r>
              <a:rPr kumimoji="1" lang="zh-CN" altLang="en-US" dirty="0">
                <a:latin typeface="Consolas" panose="020B0609020204030204" pitchFamily="49" charset="0"/>
              </a:rPr>
              <a:t>介绍和分类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FileOutputStream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FileInputStream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FileReader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FileWriter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Properties </a:t>
            </a:r>
            <a:r>
              <a:rPr kumimoji="1" lang="zh-CN" altLang="en-US" dirty="0">
                <a:latin typeface="Consolas" panose="020B0609020204030204" pitchFamily="49" charset="0"/>
              </a:rPr>
              <a:t>集合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HuTool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工具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02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6785C-0D4A-6790-1FB2-3E41858E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80E64E-BD23-A3CA-9742-2875DB898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233424" cy="901700"/>
          </a:xfrm>
        </p:spPr>
        <p:txBody>
          <a:bodyPr/>
          <a:lstStyle/>
          <a:p>
            <a:r>
              <a:rPr lang="en-US" altLang="zh-CN" dirty="0" err="1"/>
              <a:t>FileReader</a:t>
            </a:r>
            <a:r>
              <a:rPr lang="en-US" altLang="zh-CN" dirty="0"/>
              <a:t> </a:t>
            </a:r>
            <a:r>
              <a:rPr lang="zh-CN" altLang="en-US" dirty="0"/>
              <a:t>字符输入流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F482452-705B-EEE2-D033-B4B2F69870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450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115496"/>
              </p:ext>
            </p:extLst>
          </p:nvPr>
        </p:nvGraphicFramePr>
        <p:xfrm>
          <a:off x="668877" y="1707952"/>
          <a:ext cx="9005896" cy="1443350"/>
        </p:xfrm>
        <a:graphic>
          <a:graphicData uri="http://schemas.openxmlformats.org/drawingml/2006/table">
            <a:tbl>
              <a:tblPr/>
              <a:tblGrid>
                <a:gridCol w="4723238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282658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478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4811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FileReader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</a:t>
                      </a:r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fileName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字符输入流关联文件，路径以字符串形式给出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FileReader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字符输入流关联文件，路径以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</a:tbl>
          </a:graphicData>
        </a:graphic>
      </p:graphicFrame>
      <p:sp>
        <p:nvSpPr>
          <p:cNvPr id="17" name="TextBox 6">
            <a:extLst>
              <a:ext uri="{FF2B5EF4-FFF2-40B4-BE49-F238E27FC236}">
                <a16:creationId xmlns:a16="http://schemas.microsoft.com/office/drawing/2014/main" id="{E503AC6C-58AA-8487-C8B0-9D639A83C445}"/>
              </a:ext>
            </a:extLst>
          </p:cNvPr>
          <p:cNvSpPr txBox="1"/>
          <p:nvPr/>
        </p:nvSpPr>
        <p:spPr>
          <a:xfrm>
            <a:off x="576626" y="1036445"/>
            <a:ext cx="8769831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用于读取纯文本文件，解决中文乱码问题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99983C9-8FBA-8EAB-F28D-6DAA789AD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50797"/>
              </p:ext>
            </p:extLst>
          </p:nvPr>
        </p:nvGraphicFramePr>
        <p:xfrm>
          <a:off x="668877" y="3629512"/>
          <a:ext cx="10047155" cy="1335519"/>
        </p:xfrm>
        <a:graphic>
          <a:graphicData uri="http://schemas.openxmlformats.org/drawingml/2006/table">
            <a:tbl>
              <a:tblPr/>
              <a:tblGrid>
                <a:gridCol w="5269336">
                  <a:extLst>
                    <a:ext uri="{9D8B030D-6E8A-4147-A177-3AD203B41FA5}">
                      <a16:colId xmlns:a16="http://schemas.microsoft.com/office/drawing/2014/main" val="3903616913"/>
                    </a:ext>
                  </a:extLst>
                </a:gridCol>
                <a:gridCol w="4777819">
                  <a:extLst>
                    <a:ext uri="{9D8B030D-6E8A-4147-A177-3AD203B41FA5}">
                      <a16:colId xmlns:a16="http://schemas.microsoft.com/office/drawing/2014/main" val="350103272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53032"/>
                  </a:ext>
                </a:extLst>
              </a:tr>
              <a:tr h="3429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int read()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读取单个字符</a:t>
                      </a:r>
                      <a:endParaRPr lang="en-US" altLang="zh-CN" sz="16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623438"/>
                  </a:ext>
                </a:extLst>
              </a:tr>
              <a:tr h="53800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public int read(char[]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</a:rPr>
                        <a:t>cbuf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读取一个字符数组</a:t>
                      </a:r>
                      <a:r>
                        <a:rPr lang="en-US" altLang="zh-CN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6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返回读取到的有效字符个数</a:t>
                      </a:r>
                      <a:endParaRPr lang="en-US" altLang="zh-CN" sz="16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20702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2544340C-E1D8-572A-AE15-A22A6A86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FileReader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字符输入流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021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FB85-1107-0248-9384-AB2E330B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E0D7CB-2ACB-9C0F-DDD9-87BB6CA132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233424" cy="901700"/>
          </a:xfrm>
        </p:spPr>
        <p:txBody>
          <a:bodyPr/>
          <a:lstStyle/>
          <a:p>
            <a:r>
              <a:rPr lang="en-US" altLang="zh-CN" dirty="0" err="1"/>
              <a:t>FileWriter</a:t>
            </a:r>
            <a:r>
              <a:rPr lang="en-US" altLang="zh-CN" dirty="0"/>
              <a:t> </a:t>
            </a:r>
            <a:r>
              <a:rPr lang="zh-CN" altLang="en-US" dirty="0"/>
              <a:t>字符输出流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26DCA52-D66F-64ED-F76B-559B9ADFB7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7097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/>
        </p:nvGraphicFramePr>
        <p:xfrm>
          <a:off x="942200" y="2223682"/>
          <a:ext cx="10307599" cy="2410636"/>
        </p:xfrm>
        <a:graphic>
          <a:graphicData uri="http://schemas.openxmlformats.org/drawingml/2006/table">
            <a:tbl>
              <a:tblPr/>
              <a:tblGrid>
                <a:gridCol w="5405930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901669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478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4811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FileWriter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(String </a:t>
                      </a:r>
                      <a:r>
                        <a:rPr lang="en-US" altLang="zh-CN" sz="160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fileName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字符输出流关联文件，路径以字符串形式给出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FileWriter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(String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fileName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,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 append)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2: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追加写入的开关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FileWriter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file)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字符输出流关联文件，路径以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File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对象形式给出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574392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FileWriter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(File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file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,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boolean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 append)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参数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2: 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追加写入的开关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974860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840BA550-3A76-E4EE-BDD1-D3601046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FileWriter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字符输出流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711626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1756AF5-628E-47D3-265E-9D583E585B71}"/>
              </a:ext>
            </a:extLst>
          </p:cNvPr>
          <p:cNvGraphicFramePr>
            <a:graphicFrameLocks noGrp="1"/>
          </p:cNvGraphicFramePr>
          <p:nvPr/>
        </p:nvGraphicFramePr>
        <p:xfrm>
          <a:off x="942200" y="1981860"/>
          <a:ext cx="10307599" cy="2894279"/>
        </p:xfrm>
        <a:graphic>
          <a:graphicData uri="http://schemas.openxmlformats.org/drawingml/2006/table">
            <a:tbl>
              <a:tblPr/>
              <a:tblGrid>
                <a:gridCol w="5405930">
                  <a:extLst>
                    <a:ext uri="{9D8B030D-6E8A-4147-A177-3AD203B41FA5}">
                      <a16:colId xmlns:a16="http://schemas.microsoft.com/office/drawing/2014/main" val="4059425573"/>
                    </a:ext>
                  </a:extLst>
                </a:gridCol>
                <a:gridCol w="4901669">
                  <a:extLst>
                    <a:ext uri="{9D8B030D-6E8A-4147-A177-3AD203B41FA5}">
                      <a16:colId xmlns:a16="http://schemas.microsoft.com/office/drawing/2014/main" val="1139361603"/>
                    </a:ext>
                  </a:extLst>
                </a:gridCol>
              </a:tblGrid>
              <a:tr h="4785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02838"/>
                  </a:ext>
                </a:extLst>
              </a:tr>
              <a:tr h="4811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public void write(int c)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写出单个字符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313400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void write(char[]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cbuf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写出一个字符数组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507733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write(char[]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cbuf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, int off, int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len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写出字符数组的一部分</a:t>
                      </a:r>
                      <a:endParaRPr lang="en-US" altLang="zh-CN" sz="14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574392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void write(String str)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Alibaba PuHuiTi R"/>
                        </a:rPr>
                        <a:t>写出字符串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974860"/>
                  </a:ext>
                </a:extLst>
              </a:tr>
              <a:tr h="483643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public void write(String str, int off, int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len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 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写出字符串的一部分</a:t>
                      </a:r>
                      <a:endParaRPr lang="en-US" altLang="zh-CN" sz="1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849088"/>
                  </a:ext>
                </a:extLst>
              </a:tr>
            </a:tbl>
          </a:graphicData>
        </a:graphic>
      </p:graphicFrame>
      <p:sp>
        <p:nvSpPr>
          <p:cNvPr id="3" name="三角形 9">
            <a:extLst>
              <a:ext uri="{FF2B5EF4-FFF2-40B4-BE49-F238E27FC236}">
                <a16:creationId xmlns:a16="http://schemas.microsoft.com/office/drawing/2014/main" id="{241BC1B2-C55B-016B-DF8D-B7F901C64C6F}"/>
              </a:ext>
            </a:extLst>
          </p:cNvPr>
          <p:cNvSpPr/>
          <p:nvPr/>
        </p:nvSpPr>
        <p:spPr>
          <a:xfrm rot="2651319">
            <a:off x="948815" y="554725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5D138F-8850-01AF-8E44-BFD0ADB00108}"/>
              </a:ext>
            </a:extLst>
          </p:cNvPr>
          <p:cNvSpPr/>
          <p:nvPr/>
        </p:nvSpPr>
        <p:spPr>
          <a:xfrm>
            <a:off x="1042129" y="5190672"/>
            <a:ext cx="6417547" cy="1029811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EC4CB3-A612-D1F9-B480-E38CCFB799C1}"/>
              </a:ext>
            </a:extLst>
          </p:cNvPr>
          <p:cNvSpPr/>
          <p:nvPr/>
        </p:nvSpPr>
        <p:spPr>
          <a:xfrm>
            <a:off x="942201" y="526314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8230587-4DD6-B756-E10D-C804FC528C0E}"/>
              </a:ext>
            </a:extLst>
          </p:cNvPr>
          <p:cNvSpPr txBox="1"/>
          <p:nvPr/>
        </p:nvSpPr>
        <p:spPr>
          <a:xfrm>
            <a:off x="1201006" y="5636554"/>
            <a:ext cx="6364688" cy="38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字符输出流写出数据，需要调用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flush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</a:t>
            </a: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close</a:t>
            </a: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方法，数据才会写出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8DA48B-D1C8-AA11-FD69-62BC68F07EE2}"/>
              </a:ext>
            </a:extLst>
          </p:cNvPr>
          <p:cNvSpPr txBox="1"/>
          <p:nvPr/>
        </p:nvSpPr>
        <p:spPr>
          <a:xfrm>
            <a:off x="7878418" y="5174889"/>
            <a:ext cx="408167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Flush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后可以继续写出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杨任东竹石体-Bold" panose="02000000000000000000" pitchFamily="2" charset="-122"/>
              </a:rPr>
              <a:t>Close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后不能继续写出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68A4343-210E-2D75-CCDE-F900B509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FileWriter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字符输出流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98289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08171EF6-AAFC-4AC3-4FC7-74AE001BAE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9448" y="1447800"/>
            <a:ext cx="7402227" cy="3962399"/>
          </a:xfrm>
        </p:spPr>
        <p:txBody>
          <a:bodyPr/>
          <a:lstStyle/>
          <a:p>
            <a:r>
              <a:rPr lang="zh-CN" altLang="en-US" dirty="0"/>
              <a:t>字符流使用场景：读写纯文本文件</a:t>
            </a:r>
            <a:endParaRPr lang="en-US" altLang="zh-CN" dirty="0"/>
          </a:p>
          <a:p>
            <a:r>
              <a:rPr lang="zh-CN" altLang="en-US" dirty="0"/>
              <a:t>字节流使用场景：不是纯文本文件都用字节流</a:t>
            </a:r>
          </a:p>
        </p:txBody>
      </p:sp>
    </p:spTree>
    <p:extLst>
      <p:ext uri="{BB962C8B-B14F-4D97-AF65-F5344CB8AC3E}">
        <p14:creationId xmlns:p14="http://schemas.microsoft.com/office/powerpoint/2010/main" val="3296857939"/>
      </p:ext>
    </p:extLst>
  </p:cSld>
  <p:clrMapOvr>
    <a:masterClrMapping/>
  </p:clrMapOvr>
  <p:transition spd="slow">
    <p:randomBar dir="vert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49C107-F2F9-F008-1259-60538D7F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07E8CD3-5C35-0E1D-AEC0-67B4A8AB02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139" y="1526664"/>
            <a:ext cx="5634223" cy="3804672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IO </a:t>
            </a:r>
            <a:r>
              <a:rPr kumimoji="1" lang="zh-CN" altLang="en-US" dirty="0">
                <a:latin typeface="Consolas" panose="020B0609020204030204" pitchFamily="49" charset="0"/>
              </a:rPr>
              <a:t>介绍和分类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FileOutputStream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FileInputStream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FileReader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FileWriter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Properties </a:t>
            </a:r>
            <a:r>
              <a:rPr kumimoji="1" lang="zh-CN" altLang="en-US" dirty="0">
                <a:latin typeface="Consolas" panose="020B0609020204030204" pitchFamily="49" charset="0"/>
              </a:rPr>
              <a:t>集合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HuTool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工具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55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AF69-78F2-81D0-DD7A-9815AA2C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78EE11-308C-4C7D-0488-2D9E01A61A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233424" cy="901700"/>
          </a:xfrm>
        </p:spPr>
        <p:txBody>
          <a:bodyPr/>
          <a:lstStyle/>
          <a:p>
            <a:r>
              <a:rPr lang="en-US" altLang="zh-CN" dirty="0"/>
              <a:t>Properties </a:t>
            </a:r>
            <a:r>
              <a:rPr lang="zh-CN" altLang="en-US" dirty="0"/>
              <a:t>集合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E96F7E1-7B87-41D1-A74A-6366DB72CE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892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66D90A97-4003-4450-69D4-95CB01A0E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357" y="1405906"/>
            <a:ext cx="9449286" cy="402610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FE9B8C8-50A5-97A0-7DB9-8DDFF7628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Properties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介绍</a:t>
            </a:r>
            <a:b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93434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42361C1-63DB-2F17-C01A-79135CBDA31C}"/>
              </a:ext>
            </a:extLst>
          </p:cNvPr>
          <p:cNvSpPr txBox="1"/>
          <p:nvPr/>
        </p:nvSpPr>
        <p:spPr>
          <a:xfrm>
            <a:off x="576626" y="1055694"/>
            <a:ext cx="9001760" cy="1504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其实就是一个Map集合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内部存在着两个方法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，可以很方便的将集合中的键值对写入文件，也可以方便的从文件中读取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将来加载配置文件的时候很方便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BA1FAC-2487-75DA-CB60-C6C9037630A8}"/>
              </a:ext>
            </a:extLst>
          </p:cNvPr>
          <p:cNvSpPr txBox="1"/>
          <p:nvPr/>
        </p:nvSpPr>
        <p:spPr>
          <a:xfrm>
            <a:off x="1551654" y="3048678"/>
            <a:ext cx="3711272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Properties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作为集合的使用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l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Properties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中和流有关的方法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55819D8-F483-2954-58BB-1E2BF5C1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Properties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098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29A4F0D-0878-C7F0-F6C2-48DC0BE63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39" y="1467467"/>
            <a:ext cx="7461633" cy="141612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946DFA5-6E9E-F77D-A52E-89A889827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402141"/>
              </p:ext>
            </p:extLst>
          </p:nvPr>
        </p:nvGraphicFramePr>
        <p:xfrm>
          <a:off x="647339" y="3796338"/>
          <a:ext cx="10666307" cy="1665327"/>
        </p:xfrm>
        <a:graphic>
          <a:graphicData uri="http://schemas.openxmlformats.org/drawingml/2006/table">
            <a:tbl>
              <a:tblPr/>
              <a:tblGrid>
                <a:gridCol w="5985508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680799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30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Object </a:t>
                      </a:r>
                      <a:r>
                        <a:rPr lang="en-US" altLang="zh-CN" sz="140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setProperty</a:t>
                      </a:r>
                      <a:r>
                        <a:rPr lang="en-US" altLang="zh-CN" sz="14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​(String key, String value)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黑体" pitchFamily="49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添加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(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修改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)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一个键值对</a:t>
                      </a:r>
                      <a:endParaRPr lang="en-US" altLang="zh-C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30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String </a:t>
                      </a:r>
                      <a:r>
                        <a:rPr lang="en-US" altLang="zh-CN" sz="140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getProperty</a:t>
                      </a:r>
                      <a:r>
                        <a:rPr lang="en-US" altLang="zh-CN" sz="14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​(String key) </a:t>
                      </a:r>
                      <a:endParaRPr lang="zh-CN" altLang="en-US" sz="140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根据键获取值</a:t>
                      </a:r>
                      <a:endParaRPr lang="en-US" altLang="zh-C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360735"/>
                  </a:ext>
                </a:extLst>
              </a:tr>
              <a:tr h="430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Set&lt;String&gt; </a:t>
                      </a:r>
                      <a:r>
                        <a:rPr lang="en-US" altLang="zh-CN" sz="140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stringPropertyNames</a:t>
                      </a:r>
                      <a:r>
                        <a:rPr lang="en-US" altLang="zh-CN" sz="140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()</a:t>
                      </a:r>
                      <a:endParaRPr lang="zh-CN" altLang="en-US" sz="140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获取集合中所有的键</a:t>
                      </a:r>
                      <a:endParaRPr lang="en-US" altLang="zh-CN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855602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A11D0CC5-84D8-023A-DC51-D4333946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Properties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作为集合的使用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370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88AEE9-217C-4344-E2F6-FEEE1EF0C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755179"/>
              </p:ext>
            </p:extLst>
          </p:nvPr>
        </p:nvGraphicFramePr>
        <p:xfrm>
          <a:off x="924116" y="1915001"/>
          <a:ext cx="10042039" cy="3027997"/>
        </p:xfrm>
        <a:graphic>
          <a:graphicData uri="http://schemas.openxmlformats.org/drawingml/2006/table">
            <a:tbl>
              <a:tblPr/>
              <a:tblGrid>
                <a:gridCol w="5112686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929353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411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724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void load​(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InputStream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inStream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从输入字节流读取属性列表（键和元素对）</a:t>
                      </a:r>
                      <a:endParaRPr lang="en-US" altLang="zh-CN" sz="1400" i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+mn-cs"/>
                      </a:endParaRP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37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void load​(Reader reader)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从输入字符流读取属性列表（键和元素对）</a:t>
                      </a:r>
                      <a:endParaRPr lang="en-US" altLang="zh-CN" sz="1400" i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+mn-cs"/>
                      </a:endParaRP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142493"/>
                  </a:ext>
                </a:extLst>
              </a:tr>
              <a:tr h="6622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void store​(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OutputStream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 out, String comments)</a:t>
                      </a:r>
                      <a:endParaRPr lang="zh-CN" altLang="en-US" sz="14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微软雅黑" pitchFamily="34" charset="-122"/>
                        <a:cs typeface="+mn-cs"/>
                      </a:endParaRP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将此属性列表（键和元素对）写入此 </a:t>
                      </a:r>
                      <a:r>
                        <a:rPr lang="en-US" altLang="zh-CN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Properties</a:t>
                      </a: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表中，以适合于使用 </a:t>
                      </a:r>
                      <a:r>
                        <a:rPr lang="en-US" altLang="zh-CN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load(</a:t>
                      </a:r>
                      <a:r>
                        <a:rPr lang="en-US" altLang="zh-CN" sz="1400" i="0" kern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InputStream</a:t>
                      </a:r>
                      <a:r>
                        <a:rPr lang="en-US" altLang="zh-CN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)</a:t>
                      </a: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方法的格式写入输出字节流</a:t>
                      </a: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160588"/>
                  </a:ext>
                </a:extLst>
              </a:tr>
              <a:tr h="6622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void store​(Writer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writer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, String comments)</a:t>
                      </a:r>
                      <a:endParaRPr lang="zh-CN" altLang="en-US" sz="140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微软雅黑" pitchFamily="34" charset="-122"/>
                        <a:cs typeface="+mn-cs"/>
                      </a:endParaRP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将此属性列表（键和元素对）写入此 </a:t>
                      </a:r>
                      <a:r>
                        <a:rPr lang="en-US" altLang="zh-CN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Properties</a:t>
                      </a: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表中，以适合使用 </a:t>
                      </a:r>
                      <a:r>
                        <a:rPr lang="en-US" altLang="zh-CN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load(Reader)</a:t>
                      </a:r>
                      <a:r>
                        <a:rPr lang="zh-CN" altLang="en-US" sz="1400" i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+mn-cs"/>
                        </a:rPr>
                        <a:t>方法的格式写入输出字符流</a:t>
                      </a:r>
                      <a:endParaRPr lang="en-US" altLang="zh-CN" sz="1400" i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+mn-cs"/>
                      </a:endParaRPr>
                    </a:p>
                  </a:txBody>
                  <a:tcPr marL="121885" marR="121885" marT="60964" marB="609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835918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7482AE3C-D7AB-3625-3667-34369DA5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Properties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IO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有关的方法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674852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BA07F-B545-4AB5-F2A7-880A816F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E4764A-1F5A-76DC-7EA2-B0AB09E8CB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Properties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本质来说就是一个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map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集合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内部键和值都是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String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字符串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这个集合中存在着和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IO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有关的方法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使用方便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重点掌握的方法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: 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setProperty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键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值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);  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添加键值对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getProperty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键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);     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根据键获取值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load(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字节流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|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字符流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);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从流中加载键值对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store(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字节流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|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字符流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);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将键值对写出到文件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15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A2723D7-7DBB-EDD1-122E-F9DA80EB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4396B25-4285-5967-57D4-40BFF0DF29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139" y="1526664"/>
            <a:ext cx="5634223" cy="3804672"/>
          </a:xfrm>
        </p:spPr>
        <p:txBody>
          <a:bodyPr anchor="t"/>
          <a:lstStyle/>
          <a:p>
            <a:r>
              <a:rPr kumimoji="1" lang="en-US" altLang="zh-CN" dirty="0">
                <a:latin typeface="Consolas" panose="020B0609020204030204" pitchFamily="49" charset="0"/>
              </a:rPr>
              <a:t>IO </a:t>
            </a:r>
            <a:r>
              <a:rPr kumimoji="1" lang="zh-CN" altLang="en-US" dirty="0">
                <a:latin typeface="Consolas" panose="020B0609020204030204" pitchFamily="49" charset="0"/>
              </a:rPr>
              <a:t>介绍和分类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FileOutputStream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FileInputStream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字节输入流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FileReader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字符输入流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FileWriter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字符输出流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</a:rPr>
              <a:t>Properties </a:t>
            </a:r>
            <a:r>
              <a:rPr kumimoji="1" lang="zh-CN" altLang="en-US" dirty="0">
                <a:latin typeface="Consolas" panose="020B0609020204030204" pitchFamily="49" charset="0"/>
              </a:rPr>
              <a:t>集合</a:t>
            </a:r>
            <a:endParaRPr kumimoji="1" lang="en-US" altLang="zh-CN" dirty="0">
              <a:latin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</a:rPr>
              <a:t>HuTool</a:t>
            </a:r>
            <a:r>
              <a:rPr kumimoji="1" lang="en-US" altLang="zh-CN" dirty="0">
                <a:latin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</a:rPr>
              <a:t>工具</a:t>
            </a:r>
            <a:endParaRPr kumimoji="1"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4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E2845-87F2-1607-20FC-4A0358A2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CEE7BF-CEB0-6275-41B8-7EF43FEC3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6233424" cy="901700"/>
          </a:xfrm>
        </p:spPr>
        <p:txBody>
          <a:bodyPr/>
          <a:lstStyle/>
          <a:p>
            <a:r>
              <a:rPr lang="en-US" altLang="zh-CN" dirty="0" err="1"/>
              <a:t>HuTool</a:t>
            </a:r>
            <a:r>
              <a:rPr lang="en-US" altLang="zh-CN" dirty="0"/>
              <a:t> </a:t>
            </a:r>
            <a:r>
              <a:rPr lang="zh-CN" altLang="en-US" dirty="0"/>
              <a:t>工具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33A05C9-0B79-0E30-0DE1-A6A7328578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1305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7FF04-025B-0443-CFDA-AFC5010A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AC03DA2-1BCD-4362-2E71-B16B00EB64F6}"/>
              </a:ext>
            </a:extLst>
          </p:cNvPr>
          <p:cNvSpPr txBox="1"/>
          <p:nvPr/>
        </p:nvSpPr>
        <p:spPr>
          <a:xfrm>
            <a:off x="576625" y="1055694"/>
            <a:ext cx="10523993" cy="518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0" i="0" dirty="0" err="1">
                <a:solidFill>
                  <a:srgbClr val="00323C"/>
                </a:solidFill>
                <a:effectLst/>
                <a:latin typeface="Consolas" panose="020B0609020204030204" pitchFamily="49" charset="0"/>
              </a:rPr>
              <a:t>Hutool</a:t>
            </a:r>
            <a:r>
              <a:rPr lang="en-US" altLang="zh-CN" sz="1600" b="0" i="0" dirty="0">
                <a:solidFill>
                  <a:srgbClr val="00323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sz="1600" b="0" i="0" dirty="0">
                <a:solidFill>
                  <a:srgbClr val="00323C"/>
                </a:solidFill>
                <a:effectLst/>
                <a:latin typeface="Consolas" panose="020B0609020204030204" pitchFamily="49" charset="0"/>
              </a:rPr>
              <a:t>是一个小而全的 </a:t>
            </a:r>
            <a:r>
              <a:rPr lang="en-US" altLang="zh-CN" sz="1600" b="0" i="0" dirty="0">
                <a:solidFill>
                  <a:srgbClr val="00323C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lang="zh-CN" altLang="en-US" sz="1600" b="0" i="0" dirty="0">
                <a:solidFill>
                  <a:srgbClr val="00323C"/>
                </a:solidFill>
                <a:effectLst/>
                <a:latin typeface="Consolas" panose="020B0609020204030204" pitchFamily="49" charset="0"/>
              </a:rPr>
              <a:t>工具类库，通过静态方法封装，降低相关</a:t>
            </a:r>
            <a:r>
              <a:rPr lang="en-US" altLang="zh-CN" sz="1600" b="0" i="0" dirty="0">
                <a:solidFill>
                  <a:srgbClr val="00323C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zh-CN" altLang="en-US" sz="1600" b="0" i="0" dirty="0">
                <a:solidFill>
                  <a:srgbClr val="00323C"/>
                </a:solidFill>
                <a:effectLst/>
                <a:latin typeface="Consolas" panose="020B0609020204030204" pitchFamily="49" charset="0"/>
              </a:rPr>
              <a:t>的学习成本，提高工作效率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B84A528-EF90-8CBD-FF46-5F68B2E3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HuTool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介绍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3386F7-5136-53DF-6C25-FC7ECD272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0" y="2752781"/>
            <a:ext cx="10823971" cy="17038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4251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DFB0D-3458-BB4F-3C04-A2C9C51E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37E28A1-6E16-8C1A-3D72-9178E4F90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Hutool</a:t>
            </a:r>
            <a:r>
              <a:rPr lang="en-US" altLang="zh-CN" dirty="0"/>
              <a:t> </a:t>
            </a:r>
            <a:r>
              <a:rPr lang="zh-CN" altLang="en-US" dirty="0"/>
              <a:t>常用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E02884B-240F-58DA-E5C1-94C8D7440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301454"/>
              </p:ext>
            </p:extLst>
          </p:nvPr>
        </p:nvGraphicFramePr>
        <p:xfrm>
          <a:off x="806521" y="1401582"/>
          <a:ext cx="9482556" cy="1941385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6646831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2835725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360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阿里巴巴普惠体" panose="00020600040101010101" pitchFamily="18" charset="-122"/>
                        </a:rPr>
                        <a:t>IOUtil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阿里巴巴普惠体" panose="00020600040101010101" pitchFamily="18" charset="-122"/>
                        </a:rPr>
                        <a:t>类提供的部分方法展示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阿里巴巴普惠体" panose="00020600040101010101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763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copy(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InputStream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in,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OutputStream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out, int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bufferSize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字节流拷贝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151486"/>
                  </a:ext>
                </a:extLst>
              </a:tr>
              <a:tr h="3763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copy(Reader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reader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Writer writer)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阿里巴巴普惠体" panose="00020600040101010101"/>
                          <a:cs typeface="+mn-cs"/>
                        </a:rPr>
                        <a:t>字符流拷贝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96779"/>
                  </a:ext>
                </a:extLst>
              </a:tr>
              <a:tr h="3763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readLines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(Reader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reader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Collection&lt;String&gt; collection)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按行读取内容到集合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786017"/>
                  </a:ext>
                </a:extLst>
              </a:tr>
              <a:tr h="376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close(Closeable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closeables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algn="l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安全关闭流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阿里巴巴普惠体" panose="00020600040101010101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39758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DC7BD3C-5A49-050D-E67A-1D567B599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16043"/>
              </p:ext>
            </p:extLst>
          </p:nvPr>
        </p:nvGraphicFramePr>
        <p:xfrm>
          <a:off x="806521" y="4156194"/>
          <a:ext cx="9482556" cy="1839114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6665995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2816561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275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阿里巴巴普惠体" panose="00020600040101010101" pitchFamily="18" charset="-122"/>
                        </a:rPr>
                        <a:t>FileUtil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阿里巴巴普惠体" panose="00020600040101010101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/>
                          <a:cs typeface="阿里巴巴普惠体" panose="00020600040101010101" pitchFamily="18" charset="-122"/>
                        </a:rPr>
                        <a:t>类提供的部分方法展示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阿里巴巴普惠体" panose="00020600040101010101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6892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touch(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filePath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创建文件（自动创建父目录）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151486"/>
                  </a:ext>
                </a:extLst>
              </a:tr>
              <a:tr h="36892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mkdir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dirPath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创建目录（支持多级目录）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96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copy(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srcPath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destPath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isOverride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复制文件或目录（可选覆盖）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786017"/>
                  </a:ext>
                </a:extLst>
              </a:tr>
              <a:tr h="36892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move(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srcFile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destDir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isOverride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移动文件或目录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999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541270"/>
      </p:ext>
    </p:extLst>
  </p:cSld>
  <p:clrMapOvr>
    <a:masterClrMapping/>
  </p:clrMapOvr>
  <p:transition spd="med">
    <p:pull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43185-8FF1-CC2A-A3C8-426A80F7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CABCFC0-0D91-9755-99C1-FFE4D7B0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 </a:t>
            </a:r>
            <a:r>
              <a:rPr lang="en-US" altLang="zh-CN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HuTool</a:t>
            </a:r>
            <a:r>
              <a:rPr lang="en-US" altLang="zh-CN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EC1D75-6D33-97E3-4212-E7EEAA86A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82" y="934375"/>
            <a:ext cx="5470706" cy="558842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FE2666-570E-4BB0-973C-E58EFADB5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517" y="2556434"/>
            <a:ext cx="3779848" cy="1745131"/>
          </a:xfrm>
          <a:custGeom>
            <a:avLst/>
            <a:gdLst>
              <a:gd name="connsiteX0" fmla="*/ 0 w 3779848"/>
              <a:gd name="connsiteY0" fmla="*/ 0 h 1745131"/>
              <a:gd name="connsiteX1" fmla="*/ 554378 w 3779848"/>
              <a:gd name="connsiteY1" fmla="*/ 0 h 1745131"/>
              <a:gd name="connsiteX2" fmla="*/ 1222151 w 3779848"/>
              <a:gd name="connsiteY2" fmla="*/ 0 h 1745131"/>
              <a:gd name="connsiteX3" fmla="*/ 1814327 w 3779848"/>
              <a:gd name="connsiteY3" fmla="*/ 0 h 1745131"/>
              <a:gd name="connsiteX4" fmla="*/ 2368705 w 3779848"/>
              <a:gd name="connsiteY4" fmla="*/ 0 h 1745131"/>
              <a:gd name="connsiteX5" fmla="*/ 3036478 w 3779848"/>
              <a:gd name="connsiteY5" fmla="*/ 0 h 1745131"/>
              <a:gd name="connsiteX6" fmla="*/ 3779848 w 3779848"/>
              <a:gd name="connsiteY6" fmla="*/ 0 h 1745131"/>
              <a:gd name="connsiteX7" fmla="*/ 3779848 w 3779848"/>
              <a:gd name="connsiteY7" fmla="*/ 581710 h 1745131"/>
              <a:gd name="connsiteX8" fmla="*/ 3779848 w 3779848"/>
              <a:gd name="connsiteY8" fmla="*/ 1128518 h 1745131"/>
              <a:gd name="connsiteX9" fmla="*/ 3779848 w 3779848"/>
              <a:gd name="connsiteY9" fmla="*/ 1745131 h 1745131"/>
              <a:gd name="connsiteX10" fmla="*/ 3225470 w 3779848"/>
              <a:gd name="connsiteY10" fmla="*/ 1745131 h 1745131"/>
              <a:gd name="connsiteX11" fmla="*/ 2708891 w 3779848"/>
              <a:gd name="connsiteY11" fmla="*/ 1745131 h 1745131"/>
              <a:gd name="connsiteX12" fmla="*/ 2041118 w 3779848"/>
              <a:gd name="connsiteY12" fmla="*/ 1745131 h 1745131"/>
              <a:gd name="connsiteX13" fmla="*/ 1486740 w 3779848"/>
              <a:gd name="connsiteY13" fmla="*/ 1745131 h 1745131"/>
              <a:gd name="connsiteX14" fmla="*/ 818967 w 3779848"/>
              <a:gd name="connsiteY14" fmla="*/ 1745131 h 1745131"/>
              <a:gd name="connsiteX15" fmla="*/ 0 w 3779848"/>
              <a:gd name="connsiteY15" fmla="*/ 1745131 h 1745131"/>
              <a:gd name="connsiteX16" fmla="*/ 0 w 3779848"/>
              <a:gd name="connsiteY16" fmla="*/ 1180872 h 1745131"/>
              <a:gd name="connsiteX17" fmla="*/ 0 w 3779848"/>
              <a:gd name="connsiteY17" fmla="*/ 581710 h 1745131"/>
              <a:gd name="connsiteX18" fmla="*/ 0 w 3779848"/>
              <a:gd name="connsiteY18" fmla="*/ 0 h 174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79848" h="1745131" fill="none" extrusionOk="0">
                <a:moveTo>
                  <a:pt x="0" y="0"/>
                </a:moveTo>
                <a:cubicBezTo>
                  <a:pt x="133556" y="27293"/>
                  <a:pt x="397654" y="10426"/>
                  <a:pt x="554378" y="0"/>
                </a:cubicBezTo>
                <a:cubicBezTo>
                  <a:pt x="711102" y="-10426"/>
                  <a:pt x="1055870" y="-13031"/>
                  <a:pt x="1222151" y="0"/>
                </a:cubicBezTo>
                <a:cubicBezTo>
                  <a:pt x="1388432" y="13031"/>
                  <a:pt x="1630191" y="-18911"/>
                  <a:pt x="1814327" y="0"/>
                </a:cubicBezTo>
                <a:cubicBezTo>
                  <a:pt x="1998463" y="18911"/>
                  <a:pt x="2220769" y="-12870"/>
                  <a:pt x="2368705" y="0"/>
                </a:cubicBezTo>
                <a:cubicBezTo>
                  <a:pt x="2516641" y="12870"/>
                  <a:pt x="2890745" y="-20016"/>
                  <a:pt x="3036478" y="0"/>
                </a:cubicBezTo>
                <a:cubicBezTo>
                  <a:pt x="3182211" y="20016"/>
                  <a:pt x="3465235" y="-20528"/>
                  <a:pt x="3779848" y="0"/>
                </a:cubicBezTo>
                <a:cubicBezTo>
                  <a:pt x="3759247" y="239938"/>
                  <a:pt x="3751913" y="462658"/>
                  <a:pt x="3779848" y="581710"/>
                </a:cubicBezTo>
                <a:cubicBezTo>
                  <a:pt x="3807784" y="700762"/>
                  <a:pt x="3765703" y="996258"/>
                  <a:pt x="3779848" y="1128518"/>
                </a:cubicBezTo>
                <a:cubicBezTo>
                  <a:pt x="3793993" y="1260778"/>
                  <a:pt x="3771685" y="1444505"/>
                  <a:pt x="3779848" y="1745131"/>
                </a:cubicBezTo>
                <a:cubicBezTo>
                  <a:pt x="3532974" y="1746257"/>
                  <a:pt x="3413588" y="1748299"/>
                  <a:pt x="3225470" y="1745131"/>
                </a:cubicBezTo>
                <a:cubicBezTo>
                  <a:pt x="3037352" y="1741963"/>
                  <a:pt x="2839823" y="1730707"/>
                  <a:pt x="2708891" y="1745131"/>
                </a:cubicBezTo>
                <a:cubicBezTo>
                  <a:pt x="2577959" y="1759555"/>
                  <a:pt x="2279419" y="1756433"/>
                  <a:pt x="2041118" y="1745131"/>
                </a:cubicBezTo>
                <a:cubicBezTo>
                  <a:pt x="1802817" y="1733829"/>
                  <a:pt x="1666497" y="1737428"/>
                  <a:pt x="1486740" y="1745131"/>
                </a:cubicBezTo>
                <a:cubicBezTo>
                  <a:pt x="1306983" y="1752834"/>
                  <a:pt x="1022219" y="1735171"/>
                  <a:pt x="818967" y="1745131"/>
                </a:cubicBezTo>
                <a:cubicBezTo>
                  <a:pt x="615715" y="1755091"/>
                  <a:pt x="356123" y="1726994"/>
                  <a:pt x="0" y="1745131"/>
                </a:cubicBezTo>
                <a:cubicBezTo>
                  <a:pt x="-17658" y="1574073"/>
                  <a:pt x="-5115" y="1439331"/>
                  <a:pt x="0" y="1180872"/>
                </a:cubicBezTo>
                <a:cubicBezTo>
                  <a:pt x="5115" y="922413"/>
                  <a:pt x="23620" y="707918"/>
                  <a:pt x="0" y="581710"/>
                </a:cubicBezTo>
                <a:cubicBezTo>
                  <a:pt x="-23620" y="455502"/>
                  <a:pt x="19627" y="117527"/>
                  <a:pt x="0" y="0"/>
                </a:cubicBezTo>
                <a:close/>
              </a:path>
              <a:path w="3779848" h="1745131" stroke="0" extrusionOk="0">
                <a:moveTo>
                  <a:pt x="0" y="0"/>
                </a:moveTo>
                <a:cubicBezTo>
                  <a:pt x="204443" y="-1547"/>
                  <a:pt x="393636" y="-20718"/>
                  <a:pt x="592176" y="0"/>
                </a:cubicBezTo>
                <a:cubicBezTo>
                  <a:pt x="790716" y="20718"/>
                  <a:pt x="866555" y="24056"/>
                  <a:pt x="1108755" y="0"/>
                </a:cubicBezTo>
                <a:cubicBezTo>
                  <a:pt x="1350955" y="-24056"/>
                  <a:pt x="1572370" y="-5093"/>
                  <a:pt x="1814327" y="0"/>
                </a:cubicBezTo>
                <a:cubicBezTo>
                  <a:pt x="2056284" y="5093"/>
                  <a:pt x="2173058" y="1036"/>
                  <a:pt x="2406503" y="0"/>
                </a:cubicBezTo>
                <a:cubicBezTo>
                  <a:pt x="2639948" y="-1036"/>
                  <a:pt x="2748415" y="22131"/>
                  <a:pt x="2998679" y="0"/>
                </a:cubicBezTo>
                <a:cubicBezTo>
                  <a:pt x="3248943" y="-22131"/>
                  <a:pt x="3542886" y="7188"/>
                  <a:pt x="3779848" y="0"/>
                </a:cubicBezTo>
                <a:cubicBezTo>
                  <a:pt x="3755804" y="263307"/>
                  <a:pt x="3756207" y="330623"/>
                  <a:pt x="3779848" y="546808"/>
                </a:cubicBezTo>
                <a:cubicBezTo>
                  <a:pt x="3803489" y="762993"/>
                  <a:pt x="3800554" y="960528"/>
                  <a:pt x="3779848" y="1128518"/>
                </a:cubicBezTo>
                <a:cubicBezTo>
                  <a:pt x="3759143" y="1296508"/>
                  <a:pt x="3797546" y="1611048"/>
                  <a:pt x="3779848" y="1745131"/>
                </a:cubicBezTo>
                <a:cubicBezTo>
                  <a:pt x="3657169" y="1727445"/>
                  <a:pt x="3372027" y="1758463"/>
                  <a:pt x="3225470" y="1745131"/>
                </a:cubicBezTo>
                <a:cubicBezTo>
                  <a:pt x="3078913" y="1731799"/>
                  <a:pt x="2807251" y="1735241"/>
                  <a:pt x="2595496" y="1745131"/>
                </a:cubicBezTo>
                <a:cubicBezTo>
                  <a:pt x="2383741" y="1755021"/>
                  <a:pt x="2200718" y="1757678"/>
                  <a:pt x="2003319" y="1745131"/>
                </a:cubicBezTo>
                <a:cubicBezTo>
                  <a:pt x="1805920" y="1732584"/>
                  <a:pt x="1463096" y="1712648"/>
                  <a:pt x="1297748" y="1745131"/>
                </a:cubicBezTo>
                <a:cubicBezTo>
                  <a:pt x="1132400" y="1777614"/>
                  <a:pt x="909558" y="1764801"/>
                  <a:pt x="592176" y="1745131"/>
                </a:cubicBezTo>
                <a:cubicBezTo>
                  <a:pt x="274794" y="1725461"/>
                  <a:pt x="139300" y="1729186"/>
                  <a:pt x="0" y="1745131"/>
                </a:cubicBezTo>
                <a:cubicBezTo>
                  <a:pt x="11900" y="1560849"/>
                  <a:pt x="7829" y="1308953"/>
                  <a:pt x="0" y="1163421"/>
                </a:cubicBezTo>
                <a:cubicBezTo>
                  <a:pt x="-7829" y="1017889"/>
                  <a:pt x="-345" y="821006"/>
                  <a:pt x="0" y="599162"/>
                </a:cubicBezTo>
                <a:cubicBezTo>
                  <a:pt x="345" y="377318"/>
                  <a:pt x="-16733" y="193239"/>
                  <a:pt x="0" y="0"/>
                </a:cubicBezTo>
                <a:close/>
              </a:path>
            </a:pathLst>
          </a:custGeom>
          <a:ln>
            <a:solidFill>
              <a:schemeClr val="tx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7857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CEB1-9F3E-D8FC-476C-976C2B2E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4114702-279F-EB08-45E2-41DCC7D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 </a:t>
            </a:r>
            <a:r>
              <a:rPr lang="en-US" altLang="zh-CN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HuTool</a:t>
            </a:r>
            <a:r>
              <a:rPr lang="en-US" altLang="zh-CN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9A1637B-9320-6C11-BDB3-E0DFF2FEF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4" y="1206910"/>
            <a:ext cx="11004234" cy="4648603"/>
          </a:xfrm>
          <a:prstGeom prst="rect">
            <a:avLst/>
          </a:prstGeom>
        </p:spPr>
      </p:pic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9F9F3406-78AB-C8D9-392C-0918AB419870}"/>
              </a:ext>
            </a:extLst>
          </p:cNvPr>
          <p:cNvCxnSpPr/>
          <p:nvPr/>
        </p:nvCxnSpPr>
        <p:spPr>
          <a:xfrm rot="10800000">
            <a:off x="1769806" y="2713703"/>
            <a:ext cx="4552336" cy="914400"/>
          </a:xfrm>
          <a:prstGeom prst="bentConnector3">
            <a:avLst/>
          </a:prstGeom>
          <a:ln w="38100"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58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1D28E-A1F0-AEBD-80E8-A84CA5DC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AC6BFFC-8307-21A2-1E7C-577B3555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 </a:t>
            </a:r>
            <a:r>
              <a:rPr lang="en-US" altLang="zh-CN" dirty="0" err="1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HuTool</a:t>
            </a:r>
            <a:r>
              <a:rPr lang="en-US" altLang="zh-CN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5F64F6-0C1C-4B6A-5C0A-A8EA07F57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161" y="962277"/>
            <a:ext cx="3871295" cy="1981372"/>
          </a:xfrm>
          <a:prstGeom prst="rect">
            <a:avLst/>
          </a:prstGeom>
          <a:ln w="25400">
            <a:solidFill>
              <a:schemeClr val="tx1">
                <a:lumMod val="50000"/>
              </a:schemeClr>
            </a:solidFill>
            <a:prstDash val="dash"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8DB78A-5202-1D1B-F4CB-5899BA331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161" y="3346509"/>
            <a:ext cx="3932261" cy="2057578"/>
          </a:xfrm>
          <a:prstGeom prst="rect">
            <a:avLst/>
          </a:prstGeom>
          <a:ln w="25400">
            <a:solidFill>
              <a:schemeClr val="tx1">
                <a:lumMod val="50000"/>
              </a:schemeClr>
            </a:solidFill>
            <a:prstDash val="dash"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20D1248-3A27-58B4-09A1-089B1E6AA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07" y="962277"/>
            <a:ext cx="2955805" cy="5205192"/>
          </a:xfrm>
          <a:prstGeom prst="rect">
            <a:avLst/>
          </a:prstGeom>
          <a:ln w="25400">
            <a:solidFill>
              <a:schemeClr val="tx1">
                <a:lumMod val="50000"/>
              </a:schemeClr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139936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F3F00C-409E-6423-4F57-FE0FAAF387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Hutool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该工具不属于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JDK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，使用的时候需要导入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jar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包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Tips: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这种导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jar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包的方式较为繁琐，后面学到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Maven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的时候可以简化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51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12459</TotalTime>
  <Words>2296</Words>
  <Application>Microsoft Office PowerPoint</Application>
  <PresentationFormat>宽屏</PresentationFormat>
  <Paragraphs>656</Paragraphs>
  <Slides>62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62</vt:i4>
      </vt:variant>
    </vt:vector>
  </HeadingPairs>
  <TitlesOfParts>
    <vt:vector size="83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微软雅黑</vt:lpstr>
      <vt:lpstr>杨任东竹石体-Bold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第十七章：IO流</vt:lpstr>
      <vt:lpstr>PowerPoint 演示文稿</vt:lpstr>
      <vt:lpstr>PowerPoint 演示文稿</vt:lpstr>
      <vt:lpstr>IO 流介绍</vt:lpstr>
      <vt:lpstr>IO 流介绍</vt:lpstr>
      <vt:lpstr>IO 流介绍</vt:lpstr>
      <vt:lpstr>IO 流介绍</vt:lpstr>
      <vt:lpstr>IO 流介绍</vt:lpstr>
      <vt:lpstr>IO 流介绍</vt:lpstr>
      <vt:lpstr>IO 流介绍</vt:lpstr>
      <vt:lpstr>IO 流体系结构</vt:lpstr>
      <vt:lpstr>PowerPoint 演示文稿</vt:lpstr>
      <vt:lpstr>PowerPoint 演示文稿</vt:lpstr>
      <vt:lpstr>FileOutputStream 字节输出流</vt:lpstr>
      <vt:lpstr>FileOutputStream 字节输出流</vt:lpstr>
      <vt:lpstr>FileOutputStream 字节输出流</vt:lpstr>
      <vt:lpstr>FileOutputStream 字节输出流</vt:lpstr>
      <vt:lpstr>关流</vt:lpstr>
      <vt:lpstr>标准的IO异常处理</vt:lpstr>
      <vt:lpstr>标准的IO异常处理</vt:lpstr>
      <vt:lpstr>PowerPoint 演示文稿</vt:lpstr>
      <vt:lpstr>PowerPoint 演示文稿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FileInputStream 字节输入流</vt:lpstr>
      <vt:lpstr>PowerPoint 演示文稿</vt:lpstr>
      <vt:lpstr>文件拷贝</vt:lpstr>
      <vt:lpstr>PowerPoint 演示文稿</vt:lpstr>
      <vt:lpstr>PowerPoint 演示文稿</vt:lpstr>
      <vt:lpstr>FileReader 字符输入流</vt:lpstr>
      <vt:lpstr>PowerPoint 演示文稿</vt:lpstr>
      <vt:lpstr>FileWriter 字符输出流</vt:lpstr>
      <vt:lpstr>FileWriter 字符输出流</vt:lpstr>
      <vt:lpstr>PowerPoint 演示文稿</vt:lpstr>
      <vt:lpstr>PowerPoint 演示文稿</vt:lpstr>
      <vt:lpstr>PowerPoint 演示文稿</vt:lpstr>
      <vt:lpstr>Properties 介绍 </vt:lpstr>
      <vt:lpstr>Properties 介绍</vt:lpstr>
      <vt:lpstr>Properties 作为集合的使用</vt:lpstr>
      <vt:lpstr>Properties 和 IO 有关的方法</vt:lpstr>
      <vt:lpstr>PowerPoint 演示文稿</vt:lpstr>
      <vt:lpstr>PowerPoint 演示文稿</vt:lpstr>
      <vt:lpstr>PowerPoint 演示文稿</vt:lpstr>
      <vt:lpstr>HuTool 介绍</vt:lpstr>
      <vt:lpstr>Hutool 常用API</vt:lpstr>
      <vt:lpstr>引入 HuTool </vt:lpstr>
      <vt:lpstr>引入 HuTool </vt:lpstr>
      <vt:lpstr>引入 HuTool 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1734</cp:revision>
  <cp:lastPrinted>2022-05-29T16:00:00Z</cp:lastPrinted>
  <dcterms:created xsi:type="dcterms:W3CDTF">2022-05-29T16:00:00Z</dcterms:created>
  <dcterms:modified xsi:type="dcterms:W3CDTF">2025-05-14T04:11:21Z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