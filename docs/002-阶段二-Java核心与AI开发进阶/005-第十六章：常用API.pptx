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5"/>
  </p:notesMasterIdLst>
  <p:handoutMasterIdLst>
    <p:handoutMasterId r:id="rId66"/>
  </p:handoutMasterIdLst>
  <p:sldIdLst>
    <p:sldId id="280" r:id="rId6"/>
    <p:sldId id="3392" r:id="rId7"/>
    <p:sldId id="3393" r:id="rId8"/>
    <p:sldId id="525" r:id="rId9"/>
    <p:sldId id="3396" r:id="rId10"/>
    <p:sldId id="3395" r:id="rId11"/>
    <p:sldId id="527" r:id="rId12"/>
    <p:sldId id="1545" r:id="rId13"/>
    <p:sldId id="1709" r:id="rId14"/>
    <p:sldId id="3397" r:id="rId15"/>
    <p:sldId id="3399" r:id="rId16"/>
    <p:sldId id="1903" r:id="rId17"/>
    <p:sldId id="1907" r:id="rId18"/>
    <p:sldId id="1908" r:id="rId19"/>
    <p:sldId id="1909" r:id="rId20"/>
    <p:sldId id="1911" r:id="rId21"/>
    <p:sldId id="3398" r:id="rId22"/>
    <p:sldId id="3402" r:id="rId23"/>
    <p:sldId id="1897" r:id="rId24"/>
    <p:sldId id="1898" r:id="rId25"/>
    <p:sldId id="3400" r:id="rId26"/>
    <p:sldId id="1901" r:id="rId27"/>
    <p:sldId id="2853" r:id="rId28"/>
    <p:sldId id="3401" r:id="rId29"/>
    <p:sldId id="3404" r:id="rId30"/>
    <p:sldId id="1916" r:id="rId31"/>
    <p:sldId id="1964" r:id="rId32"/>
    <p:sldId id="1965" r:id="rId33"/>
    <p:sldId id="1966" r:id="rId34"/>
    <p:sldId id="3403" r:id="rId35"/>
    <p:sldId id="1999" r:id="rId36"/>
    <p:sldId id="1504" r:id="rId37"/>
    <p:sldId id="2000" r:id="rId38"/>
    <p:sldId id="2001" r:id="rId39"/>
    <p:sldId id="1998" r:id="rId40"/>
    <p:sldId id="3384" r:id="rId41"/>
    <p:sldId id="3405" r:id="rId42"/>
    <p:sldId id="775" r:id="rId43"/>
    <p:sldId id="3408" r:id="rId44"/>
    <p:sldId id="3409" r:id="rId45"/>
    <p:sldId id="3406" r:id="rId46"/>
    <p:sldId id="3407" r:id="rId47"/>
    <p:sldId id="1325" r:id="rId48"/>
    <p:sldId id="368" r:id="rId49"/>
    <p:sldId id="3410" r:id="rId50"/>
    <p:sldId id="3413" r:id="rId51"/>
    <p:sldId id="734" r:id="rId52"/>
    <p:sldId id="2010" r:id="rId53"/>
    <p:sldId id="2011" r:id="rId54"/>
    <p:sldId id="3411" r:id="rId55"/>
    <p:sldId id="3412" r:id="rId56"/>
    <p:sldId id="3415" r:id="rId57"/>
    <p:sldId id="2013" r:id="rId58"/>
    <p:sldId id="3414" r:id="rId59"/>
    <p:sldId id="3388" r:id="rId60"/>
    <p:sldId id="1827" r:id="rId61"/>
    <p:sldId id="1829" r:id="rId62"/>
    <p:sldId id="2023" r:id="rId63"/>
    <p:sldId id="288" r:id="rId64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3392"/>
            <p14:sldId id="3393"/>
            <p14:sldId id="525"/>
            <p14:sldId id="3396"/>
            <p14:sldId id="3395"/>
            <p14:sldId id="527"/>
            <p14:sldId id="1545"/>
            <p14:sldId id="1709"/>
            <p14:sldId id="3397"/>
            <p14:sldId id="3399"/>
            <p14:sldId id="1903"/>
            <p14:sldId id="1907"/>
            <p14:sldId id="1908"/>
            <p14:sldId id="1909"/>
            <p14:sldId id="1911"/>
            <p14:sldId id="3398"/>
            <p14:sldId id="3402"/>
            <p14:sldId id="1897"/>
            <p14:sldId id="1898"/>
            <p14:sldId id="3400"/>
            <p14:sldId id="1901"/>
            <p14:sldId id="2853"/>
            <p14:sldId id="3401"/>
            <p14:sldId id="3404"/>
            <p14:sldId id="1916"/>
            <p14:sldId id="1964"/>
            <p14:sldId id="1965"/>
            <p14:sldId id="1966"/>
            <p14:sldId id="3403"/>
            <p14:sldId id="1999"/>
            <p14:sldId id="1504"/>
            <p14:sldId id="2000"/>
            <p14:sldId id="2001"/>
            <p14:sldId id="1998"/>
            <p14:sldId id="3384"/>
            <p14:sldId id="3405"/>
            <p14:sldId id="775"/>
            <p14:sldId id="3408"/>
            <p14:sldId id="3409"/>
            <p14:sldId id="3406"/>
            <p14:sldId id="3407"/>
            <p14:sldId id="1325"/>
            <p14:sldId id="368"/>
            <p14:sldId id="3410"/>
            <p14:sldId id="3413"/>
            <p14:sldId id="734"/>
            <p14:sldId id="2010"/>
            <p14:sldId id="2011"/>
            <p14:sldId id="3411"/>
            <p14:sldId id="3412"/>
            <p14:sldId id="3415"/>
            <p14:sldId id="2013"/>
            <p14:sldId id="3414"/>
            <p14:sldId id="3388"/>
            <p14:sldId id="1827"/>
            <p14:sldId id="1829"/>
            <p14:sldId id="2023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7" autoAdjust="0"/>
    <p:restoredTop sz="94595" autoAdjust="0"/>
  </p:normalViewPr>
  <p:slideViewPr>
    <p:cSldViewPr snapToGrid="0" showGuides="1">
      <p:cViewPr varScale="1">
        <p:scale>
          <a:sx n="75" d="100"/>
          <a:sy n="75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9B8-CC18-7C45-9E7C-5C2A31F9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CE5745-3AC4-D992-DB26-46AD1075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E3BF9D-3A1A-2D66-DF5F-970F434B2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71A64-9EEE-4565-514E-DDD8C7857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8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7DDBD095-9769-4200-AA3B-29965DA2E8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4F49BD61-5C5F-4089-AC76-1C663FB41F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EE669C1C-4B08-442A-A450-678300AE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6E0704-38DF-4EFF-97F4-7B9CA6A226EB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6369D-6798-562D-74F2-AD3CE4A5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A404B3-D687-E34D-BBB0-C28BC7E25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743105-926A-7286-F351-84C7B4541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D25AA7-BD30-1EC2-A4DA-1C089DC85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086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34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098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CFF1-3A9A-134A-CA99-831DEFBA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68DB71-4279-50AD-8ED6-10354D972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031563-0493-72DA-1BBA-96D4F0F1B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7BFAF3-51D7-3AC2-6979-44806ED9D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16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34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03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737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485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02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4CAF-3A6F-7D27-709C-943608B1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946B51-E086-2ED3-BCAC-E27FED981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60F410-7D0F-77DF-9FEA-0E4EA9AB5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BA4DF-C966-159E-68A0-DC470C825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978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57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962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017F-1F34-B105-29DA-45E0E585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F5210000-8ECF-B1E0-DB32-2A94BFBB4A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C4E615F8-8D22-C11D-C339-BA1ED10ACE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83E1FAB7-9072-2582-7A36-ADB237A4C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35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>
            <a:extLst>
              <a:ext uri="{FF2B5EF4-FFF2-40B4-BE49-F238E27FC236}">
                <a16:creationId xmlns:a16="http://schemas.microsoft.com/office/drawing/2014/main" id="{0300BD5B-1595-4708-B540-71F1594D21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>
            <a:extLst>
              <a:ext uri="{FF2B5EF4-FFF2-40B4-BE49-F238E27FC236}">
                <a16:creationId xmlns:a16="http://schemas.microsoft.com/office/drawing/2014/main" id="{5061E9CB-2999-445A-AD4F-1D3E73C7FE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12915AC3-9534-475F-8AE3-8BCCBB72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DD4956-BE10-4E4A-88B6-36AAAEE33C1E}" type="slidenum">
              <a:rPr lang="zh-CN" altLang="en-US"/>
              <a:pPr>
                <a:spcBef>
                  <a:spcPct val="0"/>
                </a:spcBef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980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55E0-996E-CA8A-7B4D-CA610DE2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34CF75E-C7BB-82E1-CDDA-76D23BAFE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982FA1CB-AD3B-4DB5-BDA6-9EE7979CAA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E879294-9006-7F9C-3281-A5220B02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5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FA39-1927-4AFB-7898-90A379AE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9FFA16-E1B4-0F48-CF9A-68E1DCB69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A8F5BD-3566-F232-0FA7-601896CC9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7F42A-7488-AB4C-8421-34FD6B13B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45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454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123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583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7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3936-B033-0508-B426-F9E90F73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B10311-8A46-D205-6853-D5C0CA09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3CA13B-5AAF-5F6F-1272-BDAA642DA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A98716-14BC-1A56-B3F7-4927A857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360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985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2828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862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6281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006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FC57-10B0-D661-194C-4AF9A143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580B5B-C3FE-1DC9-EBF8-5843EC097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D9B2CF-5115-066E-DEEF-6EDC64054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33FF5-A147-2EA5-3527-02D2BF0E3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825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5072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91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9A28346C-849B-4FBD-9CAC-CDF3E17335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A1EE108F-B7B2-4B09-9659-67874EF59A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082A4C53-34CE-4B5E-8B65-E1B6CFAD8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28F1ED4-DA1E-4E34-9C2B-C6FC996489DF}" type="slidenum">
              <a:rPr lang="zh-CN" altLang="en-US"/>
              <a:pPr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53F9-B2B2-D44E-7231-5E8E506EF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833F19-D545-C5EB-5735-26C3AB1E8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9CBFE5-18B5-8C37-4C9C-F9769446A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835DC-5A7D-0C79-F64D-5A0C310BD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5479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A8F8AE7C-E93F-4310-A9E4-DC2197FFB2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5A47805D-F02B-443E-828D-0A0152DE3F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86DBAB21-EA34-4903-A4AA-F52DA0CA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4B7884-D31C-4B5E-B5C1-8B0EEF9CDB41}" type="slidenum">
              <a:rPr lang="zh-CN" altLang="en-US"/>
              <a:pPr>
                <a:spcBef>
                  <a:spcPct val="0"/>
                </a:spcBef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219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A8F8AE7C-E93F-4310-A9E4-DC2197FFB2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5A47805D-F02B-443E-828D-0A0152DE3F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86DBAB21-EA34-4903-A4AA-F52DA0CA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4B7884-D31C-4B5E-B5C1-8B0EEF9CDB41}" type="slidenum">
              <a:rPr lang="zh-CN" altLang="en-US"/>
              <a:pPr>
                <a:spcBef>
                  <a:spcPct val="0"/>
                </a:spcBef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4836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A8F8AE7C-E93F-4310-A9E4-DC2197FFB2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5A47805D-F02B-443E-828D-0A0152DE3F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86DBAB21-EA34-4903-A4AA-F52DA0CA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4B7884-D31C-4B5E-B5C1-8B0EEF9CDB41}" type="slidenum">
              <a:rPr lang="zh-CN" altLang="en-US"/>
              <a:pPr>
                <a:spcBef>
                  <a:spcPct val="0"/>
                </a:spcBef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338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6107-3148-DB07-82F4-D8843FE75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470D05-7059-24DE-6253-F6E91C7BF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D25CAE-E315-57B2-6287-5390FBF43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65F58-299E-5964-150C-81CEC96E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1635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>
            <a:extLst>
              <a:ext uri="{FF2B5EF4-FFF2-40B4-BE49-F238E27FC236}">
                <a16:creationId xmlns:a16="http://schemas.microsoft.com/office/drawing/2014/main" id="{A8F8AE7C-E93F-4310-A9E4-DC2197FFB2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备注占位符 2">
            <a:extLst>
              <a:ext uri="{FF2B5EF4-FFF2-40B4-BE49-F238E27FC236}">
                <a16:creationId xmlns:a16="http://schemas.microsoft.com/office/drawing/2014/main" id="{5A47805D-F02B-443E-828D-0A0152DE3F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86DBAB21-EA34-4903-A4AA-F52DA0CA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4B7884-D31C-4B5E-B5C1-8B0EEF9CDB41}" type="slidenum">
              <a:rPr lang="zh-CN" altLang="en-US"/>
              <a:pPr>
                <a:spcBef>
                  <a:spcPct val="0"/>
                </a:spcBef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0802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1B15-E6D6-D066-FB34-0FF740D3D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5A078D-8093-C1D2-8303-CC5265F54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17B45C-F0E1-997E-B671-9BBDD376B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423046-B99F-B13C-15BA-49F514406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665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7DDBD095-9769-4200-AA3B-29965DA2E8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4F49BD61-5C5F-4089-AC76-1C663FB41F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EE669C1C-4B08-442A-A450-678300AE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6E0704-38DF-4EFF-97F4-7B9CA6A226EB}" type="slidenum">
              <a:rPr lang="zh-CN" altLang="en-US"/>
              <a:pPr>
                <a:spcBef>
                  <a:spcPct val="0"/>
                </a:spcBef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738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7DDBD095-9769-4200-AA3B-29965DA2E8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4F49BD61-5C5F-4089-AC76-1C663FB41F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EE669C1C-4B08-442A-A450-678300AE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6E0704-38DF-4EFF-97F4-7B9CA6A226EB}" type="slidenum">
              <a:rPr lang="zh-CN" altLang="en-US"/>
              <a:pPr>
                <a:spcBef>
                  <a:spcPct val="0"/>
                </a:spcBef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1997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66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77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6" r:id="rId18"/>
    <p:sldLayoutId id="2147483707" r:id="rId19"/>
    <p:sldLayoutId id="2147483708" r:id="rId20"/>
    <p:sldLayoutId id="2147483713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  <p:sldLayoutId id="214748371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第十六章：常用 </a:t>
            </a:r>
            <a:r>
              <a:rPr lang="en-US" altLang="zh-CN" sz="4000" dirty="0"/>
              <a:t>API</a:t>
            </a:r>
            <a:endParaRPr lang="zh-CN" altLang="en-US" sz="4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7709B9C-2ED4-41E3-43A6-8BB77BF3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C9D56B0-71F8-ABFD-D98A-8BBC99D479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785C-0D4A-6790-1FB2-3E41858E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80E64E-BD23-A3CA-9742-2875DB898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Math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F482452-705B-EEE2-D033-B4B2F69870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5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27F64-3775-4415-BD82-7F091AFF5DD9}"/>
              </a:ext>
            </a:extLst>
          </p:cNvPr>
          <p:cNvSpPr txBox="1"/>
          <p:nvPr/>
        </p:nvSpPr>
        <p:spPr>
          <a:xfrm>
            <a:off x="572135" y="1965003"/>
            <a:ext cx="46863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Math 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类的常用方法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FAD3A-C1F1-49ED-BDBE-955442E805CE}"/>
              </a:ext>
            </a:extLst>
          </p:cNvPr>
          <p:cNvSpPr txBox="1"/>
          <p:nvPr/>
        </p:nvSpPr>
        <p:spPr>
          <a:xfrm>
            <a:off x="576626" y="939612"/>
            <a:ext cx="9743439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包含执行基本数字运算的方法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605DA13-05A9-401A-A068-46BA359E5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45839"/>
              </p:ext>
            </p:extLst>
          </p:nvPr>
        </p:nvGraphicFramePr>
        <p:xfrm>
          <a:off x="572135" y="2666242"/>
          <a:ext cx="8867684" cy="3071097"/>
        </p:xfrm>
        <a:graphic>
          <a:graphicData uri="http://schemas.openxmlformats.org/drawingml/2006/table">
            <a:tbl>
              <a:tblPr/>
              <a:tblGrid>
                <a:gridCol w="5061361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80632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153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584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int abs​(int 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获取参数绝对值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073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double ceil​(double 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向上取整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3584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double floor​(double 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向下取整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3584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int round​(float 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四舍五入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3584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int max​(int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a,int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获取两个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值中的较大值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double pow​(double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a,double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次幂的值</a:t>
                      </a:r>
                      <a:endParaRPr lang="en-US" altLang="zh-CN" sz="1400" b="0" dirty="0">
                        <a:solidFill>
                          <a:schemeClr val="tx1">
                            <a:lumMod val="7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77622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double random​()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返回值为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的随机值，范围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[0.0,1.0)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84505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3E36843-239D-9266-3E6D-32727A33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 </a:t>
            </a:r>
            <a:r>
              <a:rPr lang="zh-CN" altLang="en-US" dirty="0"/>
              <a:t>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CFB49A-0753-6DC0-EA50-183C7683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35537C6-4E66-5AC4-DE15-2E6821A89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8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2A7A-7A22-986C-F045-E4CDAF9A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3468AF-A1D1-4407-1781-87FBA8CDF9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System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8928825-B1D2-D688-A003-BEEFDC575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837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FA5BD-BC48-4CE1-966E-B33FBA1A0654}"/>
              </a:ext>
            </a:extLst>
          </p:cNvPr>
          <p:cNvSpPr txBox="1"/>
          <p:nvPr/>
        </p:nvSpPr>
        <p:spPr>
          <a:xfrm>
            <a:off x="576626" y="1111414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的功能是静态的，都是直接用类名调用即可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828313-0530-47C7-89C1-B24A043BBF1F}"/>
              </a:ext>
            </a:extLst>
          </p:cNvPr>
          <p:cNvSpPr txBox="1"/>
          <p:nvPr/>
        </p:nvSpPr>
        <p:spPr>
          <a:xfrm>
            <a:off x="576626" y="1938967"/>
            <a:ext cx="4686300" cy="468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常用方法 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AE07BC1-D709-4A65-9090-F76ADF694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724837"/>
              </p:ext>
            </p:extLst>
          </p:nvPr>
        </p:nvGraphicFramePr>
        <p:xfrm>
          <a:off x="587449" y="2808390"/>
          <a:ext cx="11017101" cy="2607483"/>
        </p:xfrm>
        <a:graphic>
          <a:graphicData uri="http://schemas.openxmlformats.org/drawingml/2006/table">
            <a:tbl>
              <a:tblPr/>
              <a:tblGrid>
                <a:gridCol w="790176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115339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6299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6129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exit​(int status)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终止当前运行的 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 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虚拟机，非零表示异常终止</a:t>
                      </a:r>
                      <a:endParaRPr lang="en-US" altLang="zh-CN" sz="16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392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long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currentTimeMillis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返回当前系统的时间毫秒值形式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8254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</a:t>
                      </a:r>
                      <a:r>
                        <a:rPr lang="en-US" altLang="zh-CN" sz="16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arraycopy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数据源数组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目的地数组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拷贝个数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数组拷贝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C85FAA2-B142-F09D-FCB1-C1DC542B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 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类概述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2">
            <a:extLst>
              <a:ext uri="{FF2B5EF4-FFF2-40B4-BE49-F238E27FC236}">
                <a16:creationId xmlns:a16="http://schemas.microsoft.com/office/drawing/2014/main" id="{6055921F-E5A7-465A-99E9-D22F4A8CF242}"/>
              </a:ext>
            </a:extLst>
          </p:cNvPr>
          <p:cNvSpPr txBox="1">
            <a:spLocks/>
          </p:cNvSpPr>
          <p:nvPr/>
        </p:nvSpPr>
        <p:spPr>
          <a:xfrm>
            <a:off x="710879" y="1002232"/>
            <a:ext cx="267049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lang="zh-CN" altLang="en-US" dirty="0"/>
          </a:p>
        </p:txBody>
      </p:sp>
      <p:sp>
        <p:nvSpPr>
          <p:cNvPr id="8" name="圆角矩形 5">
            <a:extLst>
              <a:ext uri="{FF2B5EF4-FFF2-40B4-BE49-F238E27FC236}">
                <a16:creationId xmlns:a16="http://schemas.microsoft.com/office/drawing/2014/main" id="{BF090D07-20D5-1E0A-6A71-C0BFB353A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4" y="2133674"/>
            <a:ext cx="3629026" cy="561901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1970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 	   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00:00:00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612A07-8294-340A-7480-B4C74F9A731F}"/>
              </a:ext>
            </a:extLst>
          </p:cNvPr>
          <p:cNvSpPr txBox="1"/>
          <p:nvPr/>
        </p:nvSpPr>
        <p:spPr>
          <a:xfrm>
            <a:off x="2168204" y="3255913"/>
            <a:ext cx="7309171" cy="235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原因：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1969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月，贝尔实验室的程序员肯汤普逊利用妻儿离开一个月的机会。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开始着手创造一个全新的革命性的操作系统。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他使用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编译语言在老旧的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PDP-7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机器上开发出了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Unix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的一个版本。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随后，汤普逊和同事丹尼斯里奇改进了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语言，开发出了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语言，重写了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UNIX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1970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 算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语言的生日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8184E68-2A0E-9BDB-CF47-3D2FD61C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计算机中的时间原点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CDF92-CE6D-2D18-4183-CD1EAC1495F3}"/>
              </a:ext>
            </a:extLst>
          </p:cNvPr>
          <p:cNvSpPr txBox="1"/>
          <p:nvPr/>
        </p:nvSpPr>
        <p:spPr>
          <a:xfrm>
            <a:off x="12831610" y="1519422"/>
            <a:ext cx="10485275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也是一个工具类，提供了一些与系统相关的方法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1C78E12-BE64-36F8-D058-B7EBA890A1E3}"/>
              </a:ext>
            </a:extLst>
          </p:cNvPr>
          <p:cNvGraphicFramePr>
            <a:graphicFrameLocks noGrp="1"/>
          </p:cNvGraphicFramePr>
          <p:nvPr/>
        </p:nvGraphicFramePr>
        <p:xfrm>
          <a:off x="-11233431" y="2609461"/>
          <a:ext cx="10362810" cy="2199162"/>
        </p:xfrm>
        <a:graphic>
          <a:graphicData uri="http://schemas.openxmlformats.org/drawingml/2006/table">
            <a:tbl>
              <a:tblPr/>
              <a:tblGrid>
                <a:gridCol w="5298174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064636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exit​(int status)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终止当前运行的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虚拟机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long currentTimeMillis​()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返回当前系统的时间毫秒值形式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</a:t>
                      </a:r>
                      <a:r>
                        <a:rPr lang="en-US" altLang="zh-CN" sz="1600" b="0" dirty="0" err="1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arraycopy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数据源数组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目的地数组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拷贝个数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9504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数组拷贝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6D39554-32E5-4030-751A-D8CCCE02FBA6}"/>
              </a:ext>
            </a:extLst>
          </p:cNvPr>
          <p:cNvSpPr/>
          <p:nvPr/>
        </p:nvSpPr>
        <p:spPr>
          <a:xfrm>
            <a:off x="-11497981" y="4234584"/>
            <a:ext cx="10882938" cy="681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468B0B-1448-E741-F6EA-364E11C3A232}"/>
              </a:ext>
            </a:extLst>
          </p:cNvPr>
          <p:cNvSpPr txBox="1"/>
          <p:nvPr/>
        </p:nvSpPr>
        <p:spPr>
          <a:xfrm>
            <a:off x="4081471" y="2245347"/>
            <a:ext cx="33337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1970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 	   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08:00:00</a:t>
            </a:r>
          </a:p>
        </p:txBody>
      </p:sp>
    </p:spTree>
    <p:extLst>
      <p:ext uri="{BB962C8B-B14F-4D97-AF65-F5344CB8AC3E}">
        <p14:creationId xmlns:p14="http://schemas.microsoft.com/office/powerpoint/2010/main" val="514075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7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8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1" nodeType="with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11" dur="7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12" dur="7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6" fill="hold">
                          <p:stCondLst>
                            <p:cond delay="indefinite"/>
                          </p:stCondLst>
                          <p:childTnLst>
                            <p:par>
                              <p:cTn id="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2" presetClass="entr" presetSubtype="4" fill="hold" nodeType="click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39" dur="700" fill="hold"/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40" dur="700" fill="hold"/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xit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wipe(down)">
                                          <p:cBhvr>
                                            <p:cTn id="49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uiExpand="1" build="allAtOnce"/>
          <p:bldP spid="1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6" fill="hold">
                          <p:stCondLst>
                            <p:cond delay="indefinite"/>
                          </p:stCondLst>
                          <p:childTnLst>
                            <p:par>
                              <p:cTn id="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9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3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9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5" fill="hold">
                          <p:stCondLst>
                            <p:cond delay="indefinite"/>
                          </p:stCondLst>
                          <p:childTnLst>
                            <p:par>
                              <p:cTn id="3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7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00" fill="hold"/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00" fill="hold"/>
                                            <p:tgtEl>
                                              <p:spTgt spid="9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4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xit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8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out" filter="wipe(down)">
                                          <p:cBhvr>
                                            <p:cTn id="49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8" grpId="1" uiExpand="1" build="allAtOnce"/>
          <p:bldP spid="16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E612A07-8294-340A-7480-B4C74F9A731F}"/>
              </a:ext>
            </a:extLst>
          </p:cNvPr>
          <p:cNvSpPr txBox="1"/>
          <p:nvPr/>
        </p:nvSpPr>
        <p:spPr>
          <a:xfrm>
            <a:off x="2168204" y="3255913"/>
            <a:ext cx="7309171" cy="235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原因：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1969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月，贝尔实验室的程序员肯汤普逊利用妻儿离开一个月的机会。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开始着手创造一个全新的革命性的操作系统。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他使用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编译语言在老旧的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PDP-7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机器上开发出了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Unix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的一个版本。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随后，汤普逊和同事丹尼斯里奇改进了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语言，开发出了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语言，重写了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UNIX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1970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 算</a:t>
            </a:r>
            <a:r>
              <a:rPr lang="en-US" altLang="zh-CN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2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语言的生日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8184E68-2A0E-9BDB-CF47-3D2FD61C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计算机中的时间原点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CDF92-CE6D-2D18-4183-CD1EAC1495F3}"/>
              </a:ext>
            </a:extLst>
          </p:cNvPr>
          <p:cNvSpPr txBox="1"/>
          <p:nvPr/>
        </p:nvSpPr>
        <p:spPr>
          <a:xfrm>
            <a:off x="12831610" y="1519422"/>
            <a:ext cx="10485275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也是一个工具类，提供了一些与系统相关的方法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1C78E12-BE64-36F8-D058-B7EBA890A1E3}"/>
              </a:ext>
            </a:extLst>
          </p:cNvPr>
          <p:cNvGraphicFramePr>
            <a:graphicFrameLocks noGrp="1"/>
          </p:cNvGraphicFramePr>
          <p:nvPr/>
        </p:nvGraphicFramePr>
        <p:xfrm>
          <a:off x="-11233431" y="2609461"/>
          <a:ext cx="10362810" cy="2199162"/>
        </p:xfrm>
        <a:graphic>
          <a:graphicData uri="http://schemas.openxmlformats.org/drawingml/2006/table">
            <a:tbl>
              <a:tblPr/>
              <a:tblGrid>
                <a:gridCol w="5298174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064636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exit​(int status)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终止当前运行的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Java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虚拟机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long currentTimeMillis​()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返回当前系统的时间毫秒值形式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void </a:t>
                      </a:r>
                      <a:r>
                        <a:rPr lang="en-US" altLang="zh-CN" sz="1600" b="0" dirty="0" err="1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arraycopy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数据源数组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目的地数组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起始索引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拷贝个数</a:t>
                      </a:r>
                      <a:r>
                        <a:rPr lang="en-US" altLang="zh-CN" sz="1600" b="0" dirty="0">
                          <a:solidFill>
                            <a:srgbClr val="49504F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9504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数组拷贝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6D39554-32E5-4030-751A-D8CCCE02FBA6}"/>
              </a:ext>
            </a:extLst>
          </p:cNvPr>
          <p:cNvSpPr/>
          <p:nvPr/>
        </p:nvSpPr>
        <p:spPr>
          <a:xfrm>
            <a:off x="-11497981" y="4234584"/>
            <a:ext cx="10882938" cy="681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5">
            <a:extLst>
              <a:ext uri="{FF2B5EF4-FFF2-40B4-BE49-F238E27FC236}">
                <a16:creationId xmlns:a16="http://schemas.microsoft.com/office/drawing/2014/main" id="{947FAE61-21AC-0D80-710D-DB3A1952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4" y="2133674"/>
            <a:ext cx="3629026" cy="561901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1970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 	   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08:00:00</a:t>
            </a:r>
          </a:p>
        </p:txBody>
      </p:sp>
    </p:spTree>
    <p:extLst>
      <p:ext uri="{BB962C8B-B14F-4D97-AF65-F5344CB8AC3E}">
        <p14:creationId xmlns:p14="http://schemas.microsoft.com/office/powerpoint/2010/main" val="140609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47C8AD2-8E1F-14B2-16C9-AAD8E4B5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9AF12A5-1925-93AD-61F0-F12B4CE47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40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ADD4-124F-3B40-B5F9-1784FED8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6335F-C507-7C49-7787-ABD497C13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包装类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0F1D783-EFE9-BE13-6FDA-4C4854326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967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FA5BD-BC48-4CE1-966E-B33FBA1A0654}"/>
              </a:ext>
            </a:extLst>
          </p:cNvPr>
          <p:cNvSpPr txBox="1"/>
          <p:nvPr/>
        </p:nvSpPr>
        <p:spPr>
          <a:xfrm>
            <a:off x="576626" y="987667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基本数据类型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包装成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变成引用数据类型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3098B1C-2886-451A-71DB-8921D17EB595}"/>
              </a:ext>
            </a:extLst>
          </p:cNvPr>
          <p:cNvSpPr/>
          <p:nvPr/>
        </p:nvSpPr>
        <p:spPr>
          <a:xfrm>
            <a:off x="677215" y="3907551"/>
            <a:ext cx="4755775" cy="712694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变成类</a:t>
            </a:r>
            <a:r>
              <a:rPr lang="en-US" altLang="zh-CN" dirty="0"/>
              <a:t>, </a:t>
            </a:r>
            <a:r>
              <a:rPr lang="zh-CN" altLang="en-US" dirty="0"/>
              <a:t>就可以创建对象了</a:t>
            </a:r>
            <a:endParaRPr lang="en-US" altLang="zh-CN" dirty="0"/>
          </a:p>
          <a:p>
            <a:pPr algn="ctr"/>
            <a:r>
              <a:rPr lang="zh-CN" altLang="en-US" dirty="0"/>
              <a:t>对象就可以调用方法方便的解决问题了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A0956DC-2DC4-2650-268A-800F23B24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15" y="1803087"/>
            <a:ext cx="5804646" cy="1754326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IntegerDemo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"123"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// 223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960A9F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//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转换为十六进制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八进制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,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二进制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...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666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                  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163580-EA9B-5EF6-6BF2-A3961E53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包装类</a:t>
            </a:r>
          </a:p>
        </p:txBody>
      </p:sp>
    </p:spTree>
    <p:extLst>
      <p:ext uri="{BB962C8B-B14F-4D97-AF65-F5344CB8AC3E}">
        <p14:creationId xmlns:p14="http://schemas.microsoft.com/office/powerpoint/2010/main" val="115943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8B1475-1CD3-4FE8-9E1C-7A0FF2B77E24}"/>
              </a:ext>
            </a:extLst>
          </p:cNvPr>
          <p:cNvGraphicFramePr>
            <a:graphicFrameLocks noGrp="1"/>
          </p:cNvGraphicFramePr>
          <p:nvPr/>
        </p:nvGraphicFramePr>
        <p:xfrm>
          <a:off x="983786" y="2402605"/>
          <a:ext cx="4540715" cy="3100607"/>
        </p:xfrm>
        <a:graphic>
          <a:graphicData uri="http://schemas.openxmlformats.org/drawingml/2006/table">
            <a:tbl>
              <a:tblPr/>
              <a:tblGrid>
                <a:gridCol w="2254975">
                  <a:extLst>
                    <a:ext uri="{9D8B030D-6E8A-4147-A177-3AD203B41FA5}">
                      <a16:colId xmlns:a16="http://schemas.microsoft.com/office/drawing/2014/main" val="885658640"/>
                    </a:ext>
                  </a:extLst>
                </a:gridCol>
                <a:gridCol w="2285740">
                  <a:extLst>
                    <a:ext uri="{9D8B030D-6E8A-4147-A177-3AD203B41FA5}">
                      <a16:colId xmlns:a16="http://schemas.microsoft.com/office/drawing/2014/main" val="2770204209"/>
                    </a:ext>
                  </a:extLst>
                </a:gridCol>
              </a:tblGrid>
              <a:tr h="4478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基本数据类型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引用数据类型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594579"/>
                  </a:ext>
                </a:extLst>
              </a:tr>
              <a:tr h="33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70873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594454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Integer</a:t>
                      </a:r>
                      <a:endParaRPr lang="zh-CN" altLang="en-US" sz="1400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15544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67370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Character</a:t>
                      </a:r>
                      <a:endParaRPr lang="zh-CN" altLang="en-US" sz="1400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142083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890847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891745"/>
                  </a:ext>
                </a:extLst>
              </a:tr>
              <a:tr h="33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58717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6D91FD4C-26F4-8EB4-E7DB-779EE9DFEF5D}"/>
              </a:ext>
            </a:extLst>
          </p:cNvPr>
          <p:cNvSpPr/>
          <p:nvPr/>
        </p:nvSpPr>
        <p:spPr>
          <a:xfrm>
            <a:off x="6209554" y="2326340"/>
            <a:ext cx="3442447" cy="102724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zh-CN" altLang="en-US" dirty="0"/>
              <a:t>怎么包 </a:t>
            </a:r>
            <a:r>
              <a:rPr lang="en-US" altLang="zh-CN" dirty="0"/>
              <a:t>?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怎么用 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5DB93A-3DED-EE84-4DCD-9AB4783D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包装类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8839554-DC8A-39E2-AC63-3BAB44C3055B}"/>
              </a:ext>
            </a:extLst>
          </p:cNvPr>
          <p:cNvSpPr txBox="1"/>
          <p:nvPr/>
        </p:nvSpPr>
        <p:spPr>
          <a:xfrm>
            <a:off x="576626" y="987667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基本数据类型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包装成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变成引用数据类型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173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FA5BD-BC48-4CE1-966E-B33FBA1A0654}"/>
              </a:ext>
            </a:extLst>
          </p:cNvPr>
          <p:cNvSpPr txBox="1"/>
          <p:nvPr/>
        </p:nvSpPr>
        <p:spPr>
          <a:xfrm>
            <a:off x="576626" y="1064481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将基本数据类型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手动包装为类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25C8EF-DE71-B47B-394B-630228F70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16538"/>
              </p:ext>
            </p:extLst>
          </p:nvPr>
        </p:nvGraphicFramePr>
        <p:xfrm>
          <a:off x="650585" y="1700863"/>
          <a:ext cx="5676899" cy="965345"/>
        </p:xfrm>
        <a:graphic>
          <a:graphicData uri="http://schemas.openxmlformats.org/drawingml/2006/table">
            <a:tbl>
              <a:tblPr/>
              <a:tblGrid>
                <a:gridCol w="5676899">
                  <a:extLst>
                    <a:ext uri="{9D8B030D-6E8A-4147-A177-3AD203B41FA5}">
                      <a16:colId xmlns:a16="http://schemas.microsoft.com/office/drawing/2014/main" val="2299739792"/>
                    </a:ext>
                  </a:extLst>
                </a:gridCol>
              </a:tblGrid>
              <a:tr h="4536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strike="sngStrike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Integer(int value) </a:t>
                      </a:r>
                      <a:endParaRPr kumimoji="0" lang="zh-CN" altLang="en-US" sz="14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655396"/>
                  </a:ext>
                </a:extLst>
              </a:tr>
              <a:tr h="51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Integer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valueOf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(int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endParaRPr lang="zh-CN" altLang="en-US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38405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5792D94-BD00-7E31-F640-E65F3E86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Integer 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5549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125384-B1AE-D910-8C54-C48ABD5F9FA6}"/>
              </a:ext>
            </a:extLst>
          </p:cNvPr>
          <p:cNvSpPr txBox="1"/>
          <p:nvPr/>
        </p:nvSpPr>
        <p:spPr>
          <a:xfrm>
            <a:off x="576626" y="1124736"/>
            <a:ext cx="7768953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自动装箱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基本类型的数据和变量可以直接赋值给包装类型的变量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28CDAF-9A40-B2F1-CF9F-34DFF56B1A57}"/>
              </a:ext>
            </a:extLst>
          </p:cNvPr>
          <p:cNvSpPr txBox="1"/>
          <p:nvPr/>
        </p:nvSpPr>
        <p:spPr>
          <a:xfrm>
            <a:off x="576626" y="1734812"/>
            <a:ext cx="7360739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自动拆箱：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包装类型的变量可以直接赋值给基本数据类型的变量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0976968-9330-A3A2-8634-B83945283C6E}"/>
              </a:ext>
            </a:extLst>
          </p:cNvPr>
          <p:cNvSpPr/>
          <p:nvPr/>
        </p:nvSpPr>
        <p:spPr>
          <a:xfrm>
            <a:off x="710880" y="3873500"/>
            <a:ext cx="5131120" cy="266293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三角形 9">
            <a:extLst>
              <a:ext uri="{FF2B5EF4-FFF2-40B4-BE49-F238E27FC236}">
                <a16:creationId xmlns:a16="http://schemas.microsoft.com/office/drawing/2014/main" id="{C032F317-3AEF-0FA9-7430-150416BD18CF}"/>
              </a:ext>
            </a:extLst>
          </p:cNvPr>
          <p:cNvSpPr/>
          <p:nvPr/>
        </p:nvSpPr>
        <p:spPr>
          <a:xfrm rot="2651319">
            <a:off x="646967" y="314540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DA8FA1-ABA4-6E1F-3A11-8491AAF11FDC}"/>
              </a:ext>
            </a:extLst>
          </p:cNvPr>
          <p:cNvSpPr/>
          <p:nvPr/>
        </p:nvSpPr>
        <p:spPr>
          <a:xfrm>
            <a:off x="640353" y="2861293"/>
            <a:ext cx="8239062" cy="113541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0C8EA9-A01A-6C00-A5D2-08AC3B76E387}"/>
              </a:ext>
            </a:extLst>
          </p:cNvPr>
          <p:cNvSpPr/>
          <p:nvPr/>
        </p:nvSpPr>
        <p:spPr>
          <a:xfrm>
            <a:off x="640353" y="286129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简单记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3877C8-881C-5DDB-8724-7E8346C76566}"/>
              </a:ext>
            </a:extLst>
          </p:cNvPr>
          <p:cNvSpPr txBox="1"/>
          <p:nvPr/>
        </p:nvSpPr>
        <p:spPr>
          <a:xfrm>
            <a:off x="1113739" y="3359470"/>
            <a:ext cx="7242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有了自动拆装箱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基本数据类型和对应的包装类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可以直接运算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操作起来非常便捷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E046E1-D6EA-8ECD-985F-60947330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Integer 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213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C79647F-3B1F-E665-32FA-9CC04098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包装类练习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93A81B7-CB50-907A-C335-1A5959C44E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已知字符串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String 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</a:rPr>
              <a:t>"10,50,30,20,40"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;</a:t>
            </a:r>
            <a:endParaRPr lang="en-US" altLang="zh-CN" dirty="0">
              <a:solidFill>
                <a:srgbClr val="080808"/>
              </a:solidFill>
            </a:endParaRPr>
          </a:p>
          <a:p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请将该字符串转换为整数</a:t>
            </a:r>
            <a:r>
              <a:rPr lang="zh-CN" altLang="en-US" dirty="0">
                <a:solidFill>
                  <a:schemeClr val="tx1"/>
                </a:solidFill>
              </a:rPr>
              <a:t>并存入数组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随后求出最大值打印在控制台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84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717593-8449-7FDE-FE3F-903F1E95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5703A2-66B0-6FB7-224E-F33B07816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9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BE6E-8980-912E-C932-B7360F6B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313F5C-D907-92A7-456C-F555CBB687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 err="1"/>
              <a:t>BigDecimal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A2E739B-0CE3-80F4-FF45-8CCDCF367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427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FA5BD-BC48-4CE1-966E-B33FBA1A0654}"/>
              </a:ext>
            </a:extLst>
          </p:cNvPr>
          <p:cNvSpPr txBox="1"/>
          <p:nvPr/>
        </p:nvSpPr>
        <p:spPr>
          <a:xfrm>
            <a:off x="576626" y="997919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用于解决小数运算中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出现的不精确问题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ECDF7B-FEE3-7733-C432-64E790B42002}"/>
              </a:ext>
            </a:extLst>
          </p:cNvPr>
          <p:cNvSpPr txBox="1"/>
          <p:nvPr/>
        </p:nvSpPr>
        <p:spPr>
          <a:xfrm>
            <a:off x="658066" y="1791395"/>
            <a:ext cx="5811687" cy="206210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BigDecimalDemo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0.2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820A9E-566F-4B2D-C5C8-E3D63AAEF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66" y="4224140"/>
            <a:ext cx="3924502" cy="1333569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08ED627B-68A0-716C-3F63-C2912CFE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BigDecimal</a:t>
            </a:r>
            <a:r>
              <a:rPr lang="en-US" altLang="zh-CN" dirty="0"/>
              <a:t> </a:t>
            </a:r>
            <a:r>
              <a:rPr lang="zh-CN" altLang="en-US" dirty="0"/>
              <a:t>类介绍</a:t>
            </a:r>
          </a:p>
        </p:txBody>
      </p:sp>
    </p:spTree>
    <p:extLst>
      <p:ext uri="{BB962C8B-B14F-4D97-AF65-F5344CB8AC3E}">
        <p14:creationId xmlns:p14="http://schemas.microsoft.com/office/powerpoint/2010/main" val="238631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500D-E085-AE18-C3E4-4123B62D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BigDecimal</a:t>
            </a:r>
            <a:r>
              <a:rPr lang="en-US" altLang="zh-CN" dirty="0"/>
              <a:t> </a:t>
            </a:r>
            <a:r>
              <a:rPr lang="zh-CN" altLang="en-US" dirty="0"/>
              <a:t>类使用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6A15B28-86B3-03BC-5575-964E0F2162A5}"/>
              </a:ext>
            </a:extLst>
          </p:cNvPr>
          <p:cNvSpPr txBox="1"/>
          <p:nvPr/>
        </p:nvSpPr>
        <p:spPr>
          <a:xfrm>
            <a:off x="576626" y="809618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3DEB8AF-088D-3B4E-0C0A-45D13DAC2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786023"/>
              </p:ext>
            </p:extLst>
          </p:nvPr>
        </p:nvGraphicFramePr>
        <p:xfrm>
          <a:off x="660338" y="1367591"/>
          <a:ext cx="5676899" cy="1411942"/>
        </p:xfrm>
        <a:graphic>
          <a:graphicData uri="http://schemas.openxmlformats.org/drawingml/2006/table">
            <a:tbl>
              <a:tblPr/>
              <a:tblGrid>
                <a:gridCol w="5676899">
                  <a:extLst>
                    <a:ext uri="{9D8B030D-6E8A-4147-A177-3AD203B41FA5}">
                      <a16:colId xmlns:a16="http://schemas.microsoft.com/office/drawing/2014/main" val="764238292"/>
                    </a:ext>
                  </a:extLst>
                </a:gridCol>
              </a:tblGrid>
              <a:tr h="450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(double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83195"/>
                  </a:ext>
                </a:extLst>
              </a:tr>
              <a:tr h="51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(String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094218"/>
                  </a:ext>
                </a:extLst>
              </a:tr>
              <a:tr h="450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valueOf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(double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4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211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F41E-CE68-54C9-2C1D-5D810011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11284A-4475-9BDF-9D04-64970239C888}"/>
              </a:ext>
            </a:extLst>
          </p:cNvPr>
          <p:cNvSpPr txBox="1"/>
          <p:nvPr/>
        </p:nvSpPr>
        <p:spPr>
          <a:xfrm>
            <a:off x="576626" y="809618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B9E5912-FF62-C9DB-E433-9476EFC6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BigDecimal</a:t>
            </a:r>
            <a:r>
              <a:rPr lang="en-US" altLang="zh-CN" dirty="0"/>
              <a:t> </a:t>
            </a:r>
            <a:r>
              <a:rPr lang="zh-CN" altLang="en-US" dirty="0"/>
              <a:t>类使用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07F3BC5-EF46-C90B-EB05-6F4E87CE1407}"/>
              </a:ext>
            </a:extLst>
          </p:cNvPr>
          <p:cNvSpPr txBox="1"/>
          <p:nvPr/>
        </p:nvSpPr>
        <p:spPr>
          <a:xfrm>
            <a:off x="576626" y="2910401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常用方法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584CAB-0FA1-17AD-C616-C0A6EAB6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14467"/>
              </p:ext>
            </p:extLst>
          </p:nvPr>
        </p:nvGraphicFramePr>
        <p:xfrm>
          <a:off x="576626" y="3450003"/>
          <a:ext cx="10854792" cy="3122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9224">
                  <a:extLst>
                    <a:ext uri="{9D8B030D-6E8A-4147-A177-3AD203B41FA5}">
                      <a16:colId xmlns:a16="http://schemas.microsoft.com/office/drawing/2014/main" val="2079209350"/>
                    </a:ext>
                  </a:extLst>
                </a:gridCol>
                <a:gridCol w="2775568">
                  <a:extLst>
                    <a:ext uri="{9D8B030D-6E8A-4147-A177-3AD203B41FA5}">
                      <a16:colId xmlns:a16="http://schemas.microsoft.com/office/drawing/2014/main" val="3221100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554110"/>
                  </a:ext>
                </a:extLst>
              </a:tr>
              <a:tr h="5107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add(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lang="zh-CN" altLang="en-US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加法</a:t>
                      </a: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62284"/>
                  </a:ext>
                </a:extLst>
              </a:tr>
              <a:tr h="5107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subtract(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lang="zh-CN" altLang="en-US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减法</a:t>
                      </a: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64629"/>
                  </a:ext>
                </a:extLst>
              </a:tr>
              <a:tr h="5107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multiply(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lang="zh-CN" altLang="en-US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乘法</a:t>
                      </a:r>
                      <a:endParaRPr lang="en-US" altLang="zh-CN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513722"/>
                  </a:ext>
                </a:extLst>
              </a:tr>
              <a:tr h="5107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divide(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b)</a:t>
                      </a:r>
                      <a:endParaRPr lang="zh-CN" altLang="en-US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除法</a:t>
                      </a:r>
                      <a:endParaRPr lang="en-US" altLang="zh-CN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168836"/>
                  </a:ext>
                </a:extLst>
              </a:tr>
              <a:tr h="7136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divide (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另一个</a:t>
                      </a:r>
                      <a:r>
                        <a:rPr lang="en-US" altLang="zh-CN" sz="1400" b="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对象，精确几位，舍入模式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除法</a:t>
                      </a:r>
                      <a:endParaRPr lang="en-US" altLang="zh-CN" sz="1400" b="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87867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7C179AE-6EBC-3FE9-2C40-FD4CA6022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179929"/>
              </p:ext>
            </p:extLst>
          </p:nvPr>
        </p:nvGraphicFramePr>
        <p:xfrm>
          <a:off x="660338" y="1367591"/>
          <a:ext cx="5676899" cy="1411942"/>
        </p:xfrm>
        <a:graphic>
          <a:graphicData uri="http://schemas.openxmlformats.org/drawingml/2006/table">
            <a:tbl>
              <a:tblPr/>
              <a:tblGrid>
                <a:gridCol w="5676899">
                  <a:extLst>
                    <a:ext uri="{9D8B030D-6E8A-4147-A177-3AD203B41FA5}">
                      <a16:colId xmlns:a16="http://schemas.microsoft.com/office/drawing/2014/main" val="764238292"/>
                    </a:ext>
                  </a:extLst>
                </a:gridCol>
              </a:tblGrid>
              <a:tr h="450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(double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83195"/>
                  </a:ext>
                </a:extLst>
              </a:tr>
              <a:tr h="51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(String </a:t>
                      </a:r>
                      <a:r>
                        <a:rPr lang="en-US" altLang="zh-CN" sz="1400" b="0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094218"/>
                  </a:ext>
                </a:extLst>
              </a:tr>
              <a:tr h="450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</a:t>
                      </a:r>
                      <a:r>
                        <a:rPr lang="en-US" altLang="zh-CN" sz="1400" b="0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BigDecimal</a:t>
                      </a: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400" b="0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valueOf</a:t>
                      </a: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(double </a:t>
                      </a:r>
                      <a:r>
                        <a:rPr lang="en-US" altLang="zh-CN" sz="1400" b="0" dirty="0" err="1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</a:t>
                      </a:r>
                      <a:r>
                        <a:rPr lang="en-US" altLang="zh-CN" sz="14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4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2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FA5BD-BC48-4CE1-966E-B33FBA1A0654}"/>
              </a:ext>
            </a:extLst>
          </p:cNvPr>
          <p:cNvSpPr txBox="1"/>
          <p:nvPr/>
        </p:nvSpPr>
        <p:spPr>
          <a:xfrm>
            <a:off x="576626" y="979631"/>
            <a:ext cx="8813800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divide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除法细节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45234E-FD1D-840F-E01D-603E93719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1638908"/>
            <a:ext cx="9068988" cy="313438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BigDecimal divide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bd1.divide(参与运算的对象, 小数点后精确到多少位, 舍入模式);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参数1 ，表示参与运算的BigDecimal 对象。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参数2 ，表示小数点后面精确到多少位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参数3 ，舍入模式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RoundingMode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UP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进一法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RoundingMode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en-US" altLang="zh-CN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DOWN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去尾法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RoundingMode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HALF_UP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四舍五入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32AF2E-7C34-EC53-4E4F-06D6C672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BigDecimal</a:t>
            </a:r>
            <a:r>
              <a:rPr lang="en-US" altLang="zh-CN" dirty="0"/>
              <a:t> </a:t>
            </a:r>
            <a:r>
              <a:rPr lang="zh-CN" altLang="en-US" dirty="0"/>
              <a:t>类使用</a:t>
            </a:r>
          </a:p>
        </p:txBody>
      </p:sp>
    </p:spTree>
    <p:extLst>
      <p:ext uri="{BB962C8B-B14F-4D97-AF65-F5344CB8AC3E}">
        <p14:creationId xmlns:p14="http://schemas.microsoft.com/office/powerpoint/2010/main" val="545293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52F4-3FE0-96CC-F55C-C60E86A8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9E347-EC93-9B5D-E547-448F034D8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402227" cy="5444970"/>
          </a:xfrm>
        </p:spPr>
        <p:txBody>
          <a:bodyPr anchor="t"/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BigDecimal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解决小数运算的精度损失问题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BigDecimal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(String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BigDecimal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valueOf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(double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除法运算需要注意除不尽的情况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04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8BC2D1D-8245-2FBF-46F2-8ADC7FFA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C7DF85-7594-F2C4-B8DD-2336C5EEF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14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3641-893E-E1B3-E1B3-A0B26462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2831C-7786-3CB6-BA93-B33694630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Arrays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CFACF7C-BB54-31A3-18DF-65A0AC75E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63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AC7E335-801D-492F-A2F8-90E77B1EAB09}"/>
              </a:ext>
            </a:extLst>
          </p:cNvPr>
          <p:cNvSpPr txBox="1"/>
          <p:nvPr/>
        </p:nvSpPr>
        <p:spPr>
          <a:xfrm>
            <a:off x="579121" y="1046115"/>
            <a:ext cx="1103376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数组操作工具类，专门用于操作数组元素</a:t>
            </a:r>
            <a:endParaRPr lang="zh-CN" altLang="en-US" sz="16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BD0EDEE-8E66-9A3F-F9C4-D4C0BB13A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54819"/>
              </p:ext>
            </p:extLst>
          </p:nvPr>
        </p:nvGraphicFramePr>
        <p:xfrm>
          <a:off x="579120" y="1849543"/>
          <a:ext cx="11033759" cy="3002899"/>
        </p:xfrm>
        <a:graphic>
          <a:graphicData uri="http://schemas.openxmlformats.org/drawingml/2006/table">
            <a:tbl>
              <a:tblPr/>
              <a:tblGrid>
                <a:gridCol w="5652423">
                  <a:extLst>
                    <a:ext uri="{9D8B030D-6E8A-4147-A177-3AD203B41FA5}">
                      <a16:colId xmlns:a16="http://schemas.microsoft.com/office/drawing/2014/main" val="1543311559"/>
                    </a:ext>
                  </a:extLst>
                </a:gridCol>
                <a:gridCol w="5381336">
                  <a:extLst>
                    <a:ext uri="{9D8B030D-6E8A-4147-A177-3AD203B41FA5}">
                      <a16:colId xmlns:a16="http://schemas.microsoft.com/office/drawing/2014/main" val="3183341731"/>
                    </a:ext>
                  </a:extLst>
                </a:gridCol>
              </a:tblGrid>
              <a:tr h="5477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532848"/>
                  </a:ext>
                </a:extLst>
              </a:tr>
              <a:tr h="6085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 </a:t>
                      </a:r>
                      <a:r>
                        <a:rPr lang="en-US" altLang="zh-CN" sz="1400" b="0" u="none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String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 </a:t>
                      </a:r>
                      <a:r>
                        <a:rPr lang="en-US" altLang="zh-CN" sz="1400" b="0" dirty="0" err="1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toString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类型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[] 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将数组元素拼接为带有格式的字符串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65775"/>
                  </a:ext>
                </a:extLst>
              </a:tr>
              <a:tr h="6155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 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 equals​(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类型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[] a,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类型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[] b)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比较两个数组内容是否相同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1940"/>
                  </a:ext>
                </a:extLst>
              </a:tr>
              <a:tr h="615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 int 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binarySearch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​(int[] a, int key)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查找元素在数组中的索引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二分查找法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221483"/>
                  </a:ext>
                </a:extLst>
              </a:tr>
              <a:tr h="6155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 void sort​(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类型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[] a)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对数组进行默认升序排序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134835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D6D505A7-7FD0-74A5-2504-ADCDC3AA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Arrays </a:t>
            </a:r>
            <a:r>
              <a:rPr lang="zh-CN" altLang="en-US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9850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38092A9-6538-2C4E-36FA-C055D3505469}"/>
              </a:ext>
            </a:extLst>
          </p:cNvPr>
          <p:cNvSpPr/>
          <p:nvPr/>
        </p:nvSpPr>
        <p:spPr>
          <a:xfrm>
            <a:off x="884092" y="2289916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B72CB8-E578-876A-B4BA-3CB40CB72580}"/>
              </a:ext>
            </a:extLst>
          </p:cNvPr>
          <p:cNvSpPr/>
          <p:nvPr/>
        </p:nvSpPr>
        <p:spPr>
          <a:xfrm>
            <a:off x="1901128" y="2289915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B80CE5-42C0-FDF8-C4E4-4EC1FFDA488F}"/>
              </a:ext>
            </a:extLst>
          </p:cNvPr>
          <p:cNvSpPr/>
          <p:nvPr/>
        </p:nvSpPr>
        <p:spPr>
          <a:xfrm>
            <a:off x="2918164" y="2289915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AA2528-875B-4D08-88F3-51E81E990A98}"/>
              </a:ext>
            </a:extLst>
          </p:cNvPr>
          <p:cNvSpPr/>
          <p:nvPr/>
        </p:nvSpPr>
        <p:spPr>
          <a:xfrm>
            <a:off x="3935200" y="2289914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C131F2-2CDC-EB5D-73CF-C08B74202902}"/>
              </a:ext>
            </a:extLst>
          </p:cNvPr>
          <p:cNvSpPr/>
          <p:nvPr/>
        </p:nvSpPr>
        <p:spPr>
          <a:xfrm>
            <a:off x="4952236" y="2289914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55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96AAEB-B942-C620-EC33-795FD118A100}"/>
              </a:ext>
            </a:extLst>
          </p:cNvPr>
          <p:cNvSpPr/>
          <p:nvPr/>
        </p:nvSpPr>
        <p:spPr>
          <a:xfrm>
            <a:off x="5969272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10CA5D-39B4-CF48-07E2-3C2230158B87}"/>
              </a:ext>
            </a:extLst>
          </p:cNvPr>
          <p:cNvSpPr/>
          <p:nvPr/>
        </p:nvSpPr>
        <p:spPr>
          <a:xfrm>
            <a:off x="6986308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77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EAF07-80E9-1CF0-27AC-55ABD991258A}"/>
              </a:ext>
            </a:extLst>
          </p:cNvPr>
          <p:cNvSpPr/>
          <p:nvPr/>
        </p:nvSpPr>
        <p:spPr>
          <a:xfrm>
            <a:off x="8003344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88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3BDE60-734F-3E0B-760B-A380135335F1}"/>
              </a:ext>
            </a:extLst>
          </p:cNvPr>
          <p:cNvSpPr/>
          <p:nvPr/>
        </p:nvSpPr>
        <p:spPr>
          <a:xfrm>
            <a:off x="4153141" y="5630970"/>
            <a:ext cx="2606565" cy="76725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查找元素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AB6489-8965-2A7B-E331-1BD2CDFF979F}"/>
              </a:ext>
            </a:extLst>
          </p:cNvPr>
          <p:cNvSpPr/>
          <p:nvPr/>
        </p:nvSpPr>
        <p:spPr>
          <a:xfrm>
            <a:off x="879763" y="3355006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81363E-758B-3FC3-E853-C006EB6FEA87}"/>
              </a:ext>
            </a:extLst>
          </p:cNvPr>
          <p:cNvSpPr/>
          <p:nvPr/>
        </p:nvSpPr>
        <p:spPr>
          <a:xfrm>
            <a:off x="1896799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F4F491-D6E9-A005-EDE9-D3ECD56DF314}"/>
              </a:ext>
            </a:extLst>
          </p:cNvPr>
          <p:cNvSpPr/>
          <p:nvPr/>
        </p:nvSpPr>
        <p:spPr>
          <a:xfrm>
            <a:off x="2913835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81A265-A989-9F1C-3DA4-6FBD0A803BB0}"/>
              </a:ext>
            </a:extLst>
          </p:cNvPr>
          <p:cNvSpPr/>
          <p:nvPr/>
        </p:nvSpPr>
        <p:spPr>
          <a:xfrm>
            <a:off x="3930871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89307E-AC9F-B678-27FB-D36DF42E3649}"/>
              </a:ext>
            </a:extLst>
          </p:cNvPr>
          <p:cNvSpPr/>
          <p:nvPr/>
        </p:nvSpPr>
        <p:spPr>
          <a:xfrm>
            <a:off x="4947907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423807-B95C-FF23-FE8B-980DE4CE7EE1}"/>
              </a:ext>
            </a:extLst>
          </p:cNvPr>
          <p:cNvSpPr/>
          <p:nvPr/>
        </p:nvSpPr>
        <p:spPr>
          <a:xfrm>
            <a:off x="5964943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51605C-7638-87D2-C3B3-A39E5C8ACCB4}"/>
              </a:ext>
            </a:extLst>
          </p:cNvPr>
          <p:cNvSpPr/>
          <p:nvPr/>
        </p:nvSpPr>
        <p:spPr>
          <a:xfrm>
            <a:off x="6981979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3D0D7D-5F36-F14A-B2D9-4CE5813F65C5}"/>
              </a:ext>
            </a:extLst>
          </p:cNvPr>
          <p:cNvSpPr/>
          <p:nvPr/>
        </p:nvSpPr>
        <p:spPr>
          <a:xfrm>
            <a:off x="7999015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F3FE353E-0E23-C92C-1EF3-F019A6D9B110}"/>
              </a:ext>
            </a:extLst>
          </p:cNvPr>
          <p:cNvSpPr/>
          <p:nvPr/>
        </p:nvSpPr>
        <p:spPr>
          <a:xfrm>
            <a:off x="5246486" y="4274067"/>
            <a:ext cx="419877" cy="989045"/>
          </a:xfrm>
          <a:prstGeom prst="up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4633AB-7550-E813-D0F8-B04322F1AE81}"/>
              </a:ext>
            </a:extLst>
          </p:cNvPr>
          <p:cNvSpPr/>
          <p:nvPr/>
        </p:nvSpPr>
        <p:spPr>
          <a:xfrm>
            <a:off x="9016051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99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2D2A9A-1F6D-7860-C8E7-C49FA7761017}"/>
              </a:ext>
            </a:extLst>
          </p:cNvPr>
          <p:cNvSpPr/>
          <p:nvPr/>
        </p:nvSpPr>
        <p:spPr>
          <a:xfrm>
            <a:off x="10033087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F61527-3657-C061-3EA4-0D68FB01B9CA}"/>
              </a:ext>
            </a:extLst>
          </p:cNvPr>
          <p:cNvSpPr/>
          <p:nvPr/>
        </p:nvSpPr>
        <p:spPr>
          <a:xfrm>
            <a:off x="9016051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EDAAF7-F760-5C1D-2FF5-D81475AB53C7}"/>
              </a:ext>
            </a:extLst>
          </p:cNvPr>
          <p:cNvSpPr/>
          <p:nvPr/>
        </p:nvSpPr>
        <p:spPr>
          <a:xfrm>
            <a:off x="10033087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5" name="思想气泡: 云 24">
            <a:extLst>
              <a:ext uri="{FF2B5EF4-FFF2-40B4-BE49-F238E27FC236}">
                <a16:creationId xmlns:a16="http://schemas.microsoft.com/office/drawing/2014/main" id="{29CCBAF1-E5D8-5B2D-372C-AE100C6B6850}"/>
              </a:ext>
            </a:extLst>
          </p:cNvPr>
          <p:cNvSpPr/>
          <p:nvPr/>
        </p:nvSpPr>
        <p:spPr>
          <a:xfrm>
            <a:off x="5964943" y="4088524"/>
            <a:ext cx="2606565" cy="1454457"/>
          </a:xfrm>
          <a:prstGeom prst="cloudCallout">
            <a:avLst>
              <a:gd name="adj1" fmla="val -57780"/>
              <a:gd name="adj2" fmla="val -1337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不是 </a:t>
            </a:r>
            <a:r>
              <a:rPr lang="en-US" altLang="zh-CN" dirty="0"/>
              <a:t>88 </a:t>
            </a:r>
          </a:p>
          <a:p>
            <a:pPr algn="ctr"/>
            <a:r>
              <a:rPr lang="zh-CN" altLang="en-US" dirty="0"/>
              <a:t>那就比大小</a:t>
            </a:r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6B7FA4E1-CC89-E0D5-F51F-DBEFAA2B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8184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496AAEB-B942-C620-EC33-795FD118A100}"/>
              </a:ext>
            </a:extLst>
          </p:cNvPr>
          <p:cNvSpPr/>
          <p:nvPr/>
        </p:nvSpPr>
        <p:spPr>
          <a:xfrm>
            <a:off x="5969272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10CA5D-39B4-CF48-07E2-3C2230158B87}"/>
              </a:ext>
            </a:extLst>
          </p:cNvPr>
          <p:cNvSpPr/>
          <p:nvPr/>
        </p:nvSpPr>
        <p:spPr>
          <a:xfrm>
            <a:off x="6986308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77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EAF07-80E9-1CF0-27AC-55ABD991258A}"/>
              </a:ext>
            </a:extLst>
          </p:cNvPr>
          <p:cNvSpPr/>
          <p:nvPr/>
        </p:nvSpPr>
        <p:spPr>
          <a:xfrm>
            <a:off x="8003344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88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3BDE60-734F-3E0B-760B-A380135335F1}"/>
              </a:ext>
            </a:extLst>
          </p:cNvPr>
          <p:cNvSpPr/>
          <p:nvPr/>
        </p:nvSpPr>
        <p:spPr>
          <a:xfrm>
            <a:off x="4153141" y="5630970"/>
            <a:ext cx="2606565" cy="76725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查找元素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AB6489-8965-2A7B-E331-1BD2CDFF979F}"/>
              </a:ext>
            </a:extLst>
          </p:cNvPr>
          <p:cNvSpPr/>
          <p:nvPr/>
        </p:nvSpPr>
        <p:spPr>
          <a:xfrm>
            <a:off x="879763" y="3355006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81363E-758B-3FC3-E853-C006EB6FEA87}"/>
              </a:ext>
            </a:extLst>
          </p:cNvPr>
          <p:cNvSpPr/>
          <p:nvPr/>
        </p:nvSpPr>
        <p:spPr>
          <a:xfrm>
            <a:off x="1896799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F4F491-D6E9-A005-EDE9-D3ECD56DF314}"/>
              </a:ext>
            </a:extLst>
          </p:cNvPr>
          <p:cNvSpPr/>
          <p:nvPr/>
        </p:nvSpPr>
        <p:spPr>
          <a:xfrm>
            <a:off x="2913835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81A265-A989-9F1C-3DA4-6FBD0A803BB0}"/>
              </a:ext>
            </a:extLst>
          </p:cNvPr>
          <p:cNvSpPr/>
          <p:nvPr/>
        </p:nvSpPr>
        <p:spPr>
          <a:xfrm>
            <a:off x="3930871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89307E-AC9F-B678-27FB-D36DF42E3649}"/>
              </a:ext>
            </a:extLst>
          </p:cNvPr>
          <p:cNvSpPr/>
          <p:nvPr/>
        </p:nvSpPr>
        <p:spPr>
          <a:xfrm>
            <a:off x="4947907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423807-B95C-FF23-FE8B-980DE4CE7EE1}"/>
              </a:ext>
            </a:extLst>
          </p:cNvPr>
          <p:cNvSpPr/>
          <p:nvPr/>
        </p:nvSpPr>
        <p:spPr>
          <a:xfrm>
            <a:off x="5964943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51605C-7638-87D2-C3B3-A39E5C8ACCB4}"/>
              </a:ext>
            </a:extLst>
          </p:cNvPr>
          <p:cNvSpPr/>
          <p:nvPr/>
        </p:nvSpPr>
        <p:spPr>
          <a:xfrm>
            <a:off x="6981979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3D0D7D-5F36-F14A-B2D9-4CE5813F65C5}"/>
              </a:ext>
            </a:extLst>
          </p:cNvPr>
          <p:cNvSpPr/>
          <p:nvPr/>
        </p:nvSpPr>
        <p:spPr>
          <a:xfrm>
            <a:off x="7999015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F3FE353E-0E23-C92C-1EF3-F019A6D9B110}"/>
              </a:ext>
            </a:extLst>
          </p:cNvPr>
          <p:cNvSpPr/>
          <p:nvPr/>
        </p:nvSpPr>
        <p:spPr>
          <a:xfrm>
            <a:off x="5246486" y="4274067"/>
            <a:ext cx="419877" cy="989045"/>
          </a:xfrm>
          <a:prstGeom prst="up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4633AB-7550-E813-D0F8-B04322F1AE81}"/>
              </a:ext>
            </a:extLst>
          </p:cNvPr>
          <p:cNvSpPr/>
          <p:nvPr/>
        </p:nvSpPr>
        <p:spPr>
          <a:xfrm>
            <a:off x="9016051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99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2D2A9A-1F6D-7860-C8E7-C49FA7761017}"/>
              </a:ext>
            </a:extLst>
          </p:cNvPr>
          <p:cNvSpPr/>
          <p:nvPr/>
        </p:nvSpPr>
        <p:spPr>
          <a:xfrm>
            <a:off x="10033087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F61527-3657-C061-3EA4-0D68FB01B9CA}"/>
              </a:ext>
            </a:extLst>
          </p:cNvPr>
          <p:cNvSpPr/>
          <p:nvPr/>
        </p:nvSpPr>
        <p:spPr>
          <a:xfrm>
            <a:off x="9016051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EDAAF7-F760-5C1D-2FF5-D81475AB53C7}"/>
              </a:ext>
            </a:extLst>
          </p:cNvPr>
          <p:cNvSpPr/>
          <p:nvPr/>
        </p:nvSpPr>
        <p:spPr>
          <a:xfrm>
            <a:off x="10033087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D7BD91-ED04-0993-503C-A036A5B4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7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496AAEB-B942-C620-EC33-795FD118A100}"/>
              </a:ext>
            </a:extLst>
          </p:cNvPr>
          <p:cNvSpPr/>
          <p:nvPr/>
        </p:nvSpPr>
        <p:spPr>
          <a:xfrm>
            <a:off x="5969272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66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10CA5D-39B4-CF48-07E2-3C2230158B87}"/>
              </a:ext>
            </a:extLst>
          </p:cNvPr>
          <p:cNvSpPr/>
          <p:nvPr/>
        </p:nvSpPr>
        <p:spPr>
          <a:xfrm>
            <a:off x="6986308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77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EAF07-80E9-1CF0-27AC-55ABD991258A}"/>
              </a:ext>
            </a:extLst>
          </p:cNvPr>
          <p:cNvSpPr/>
          <p:nvPr/>
        </p:nvSpPr>
        <p:spPr>
          <a:xfrm>
            <a:off x="8003344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88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3BDE60-734F-3E0B-760B-A380135335F1}"/>
              </a:ext>
            </a:extLst>
          </p:cNvPr>
          <p:cNvSpPr/>
          <p:nvPr/>
        </p:nvSpPr>
        <p:spPr>
          <a:xfrm>
            <a:off x="4153141" y="5630970"/>
            <a:ext cx="2606565" cy="76725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查找元素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AB6489-8965-2A7B-E331-1BD2CDFF979F}"/>
              </a:ext>
            </a:extLst>
          </p:cNvPr>
          <p:cNvSpPr/>
          <p:nvPr/>
        </p:nvSpPr>
        <p:spPr>
          <a:xfrm>
            <a:off x="879763" y="3355006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81363E-758B-3FC3-E853-C006EB6FEA87}"/>
              </a:ext>
            </a:extLst>
          </p:cNvPr>
          <p:cNvSpPr/>
          <p:nvPr/>
        </p:nvSpPr>
        <p:spPr>
          <a:xfrm>
            <a:off x="1896799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F4F491-D6E9-A005-EDE9-D3ECD56DF314}"/>
              </a:ext>
            </a:extLst>
          </p:cNvPr>
          <p:cNvSpPr/>
          <p:nvPr/>
        </p:nvSpPr>
        <p:spPr>
          <a:xfrm>
            <a:off x="2913835" y="3355005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81A265-A989-9F1C-3DA4-6FBD0A803BB0}"/>
              </a:ext>
            </a:extLst>
          </p:cNvPr>
          <p:cNvSpPr/>
          <p:nvPr/>
        </p:nvSpPr>
        <p:spPr>
          <a:xfrm>
            <a:off x="3930871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89307E-AC9F-B678-27FB-D36DF42E3649}"/>
              </a:ext>
            </a:extLst>
          </p:cNvPr>
          <p:cNvSpPr/>
          <p:nvPr/>
        </p:nvSpPr>
        <p:spPr>
          <a:xfrm>
            <a:off x="4947907" y="3355004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423807-B95C-FF23-FE8B-980DE4CE7EE1}"/>
              </a:ext>
            </a:extLst>
          </p:cNvPr>
          <p:cNvSpPr/>
          <p:nvPr/>
        </p:nvSpPr>
        <p:spPr>
          <a:xfrm>
            <a:off x="5964943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51605C-7638-87D2-C3B3-A39E5C8ACCB4}"/>
              </a:ext>
            </a:extLst>
          </p:cNvPr>
          <p:cNvSpPr/>
          <p:nvPr/>
        </p:nvSpPr>
        <p:spPr>
          <a:xfrm>
            <a:off x="6981979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3D0D7D-5F36-F14A-B2D9-4CE5813F65C5}"/>
              </a:ext>
            </a:extLst>
          </p:cNvPr>
          <p:cNvSpPr/>
          <p:nvPr/>
        </p:nvSpPr>
        <p:spPr>
          <a:xfrm>
            <a:off x="7999015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F3FE353E-0E23-C92C-1EF3-F019A6D9B110}"/>
              </a:ext>
            </a:extLst>
          </p:cNvPr>
          <p:cNvSpPr/>
          <p:nvPr/>
        </p:nvSpPr>
        <p:spPr>
          <a:xfrm>
            <a:off x="8335748" y="4274067"/>
            <a:ext cx="419877" cy="989045"/>
          </a:xfrm>
          <a:prstGeom prst="upArrow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4633AB-7550-E813-D0F8-B04322F1AE81}"/>
              </a:ext>
            </a:extLst>
          </p:cNvPr>
          <p:cNvSpPr/>
          <p:nvPr/>
        </p:nvSpPr>
        <p:spPr>
          <a:xfrm>
            <a:off x="9016051" y="2289913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99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2D2A9A-1F6D-7860-C8E7-C49FA7761017}"/>
              </a:ext>
            </a:extLst>
          </p:cNvPr>
          <p:cNvSpPr/>
          <p:nvPr/>
        </p:nvSpPr>
        <p:spPr>
          <a:xfrm>
            <a:off x="10033087" y="2289912"/>
            <a:ext cx="1017036" cy="91906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F61527-3657-C061-3EA4-0D68FB01B9CA}"/>
              </a:ext>
            </a:extLst>
          </p:cNvPr>
          <p:cNvSpPr/>
          <p:nvPr/>
        </p:nvSpPr>
        <p:spPr>
          <a:xfrm>
            <a:off x="9016051" y="3355003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EDAAF7-F760-5C1D-2FF5-D81475AB53C7}"/>
              </a:ext>
            </a:extLst>
          </p:cNvPr>
          <p:cNvSpPr/>
          <p:nvPr/>
        </p:nvSpPr>
        <p:spPr>
          <a:xfrm>
            <a:off x="10033087" y="3355002"/>
            <a:ext cx="1017036" cy="91906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" name="思想气泡: 云 2">
            <a:extLst>
              <a:ext uri="{FF2B5EF4-FFF2-40B4-BE49-F238E27FC236}">
                <a16:creationId xmlns:a16="http://schemas.microsoft.com/office/drawing/2014/main" id="{91B69131-0B46-3197-9F83-6741B6505266}"/>
              </a:ext>
            </a:extLst>
          </p:cNvPr>
          <p:cNvSpPr/>
          <p:nvPr/>
        </p:nvSpPr>
        <p:spPr>
          <a:xfrm>
            <a:off x="9092357" y="4274067"/>
            <a:ext cx="2606565" cy="1454457"/>
          </a:xfrm>
          <a:prstGeom prst="cloudCallout">
            <a:avLst>
              <a:gd name="adj1" fmla="val -57780"/>
              <a:gd name="adj2" fmla="val -1337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找到了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C1CEF60-B68F-3566-FD57-35EAC36B8C1D}"/>
              </a:ext>
            </a:extLst>
          </p:cNvPr>
          <p:cNvSpPr/>
          <p:nvPr/>
        </p:nvSpPr>
        <p:spPr>
          <a:xfrm>
            <a:off x="1033202" y="2506876"/>
            <a:ext cx="4223633" cy="691112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二分查找的前提 </a:t>
            </a:r>
            <a:r>
              <a:rPr lang="en-US" altLang="zh-CN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: </a:t>
            </a:r>
            <a:r>
              <a:rPr lang="zh-CN" altLang="en-US" sz="18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必须是排好序的数据</a:t>
            </a:r>
            <a:endParaRPr lang="zh-CN" altLang="en-US" dirty="0">
              <a:solidFill>
                <a:schemeClr val="bg1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A0605F5D-5AF5-06FB-B027-57D6CF69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286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2C6F2CF-E48A-8A2E-A4DA-6A2DB405A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56ABB99-6791-DD31-6B79-BA9B020141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30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EDD5FE-6804-10D3-2936-F05931A3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54" y="1541286"/>
            <a:ext cx="10318291" cy="41130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5595109"/>
      </p:ext>
    </p:extLst>
  </p:cSld>
  <p:clrMapOvr>
    <a:masterClrMapping/>
  </p:clrMapOvr>
  <p:transition spd="slow">
    <p:split orient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EE81B99-5F2A-8994-D8F5-6A9A39A07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0" y="1318077"/>
            <a:ext cx="11309060" cy="422184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809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F6039E-F88B-3F29-0A5A-536784B6D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96" y="1235370"/>
            <a:ext cx="2451449" cy="531459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423C83-1D0D-7673-F0A9-AA1CD18CB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459" y="1084280"/>
            <a:ext cx="2521142" cy="5465681"/>
          </a:xfrm>
          <a:prstGeom prst="round2DiagRect">
            <a:avLst>
              <a:gd name="adj1" fmla="val 16667"/>
              <a:gd name="adj2" fmla="val 108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9670F5-86B1-5CEA-CDA2-119747556B6F}"/>
              </a:ext>
            </a:extLst>
          </p:cNvPr>
          <p:cNvSpPr/>
          <p:nvPr/>
        </p:nvSpPr>
        <p:spPr>
          <a:xfrm>
            <a:off x="6911528" y="2967135"/>
            <a:ext cx="1129004" cy="186613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11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图形用户界面&#10;&#10;描述已自动生成">
            <a:extLst>
              <a:ext uri="{FF2B5EF4-FFF2-40B4-BE49-F238E27FC236}">
                <a16:creationId xmlns:a16="http://schemas.microsoft.com/office/drawing/2014/main" id="{F9EEE87F-4C41-D630-4B24-41E77835A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693" y="514293"/>
            <a:ext cx="2688919" cy="58294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图片 7" descr="图形用户界面&#10;&#10;低可信度描述已自动生成">
            <a:extLst>
              <a:ext uri="{FF2B5EF4-FFF2-40B4-BE49-F238E27FC236}">
                <a16:creationId xmlns:a16="http://schemas.microsoft.com/office/drawing/2014/main" id="{51151D14-07CA-2929-6B71-9D6E872D3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780" y="514293"/>
            <a:ext cx="2774486" cy="60149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1448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D9136660-919A-31A8-5E8F-17571FBECE59}"/>
              </a:ext>
            </a:extLst>
          </p:cNvPr>
          <p:cNvSpPr/>
          <p:nvPr/>
        </p:nvSpPr>
        <p:spPr>
          <a:xfrm>
            <a:off x="1649604" y="1346060"/>
            <a:ext cx="1612201" cy="1612201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JDK8(-) </a:t>
            </a:r>
            <a:r>
              <a:rPr lang="zh-CN" altLang="en-US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时间</a:t>
            </a:r>
            <a:r>
              <a:rPr lang="en-US" altLang="zh-CN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API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85B7DD5-1235-B6AA-1C68-52E28A69DCF0}"/>
              </a:ext>
            </a:extLst>
          </p:cNvPr>
          <p:cNvSpPr/>
          <p:nvPr/>
        </p:nvSpPr>
        <p:spPr>
          <a:xfrm>
            <a:off x="7389646" y="1224763"/>
            <a:ext cx="1612201" cy="1612201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JDK8(+) </a:t>
            </a:r>
            <a:r>
              <a:rPr lang="zh-CN" altLang="en-US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时间</a:t>
            </a:r>
            <a:r>
              <a:rPr lang="en-US" altLang="zh-CN" sz="2000" dirty="0">
                <a:solidFill>
                  <a:srgbClr val="F9F9F9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API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088D5CE-262E-3588-98D7-449A50EAF391}"/>
              </a:ext>
            </a:extLst>
          </p:cNvPr>
          <p:cNvSpPr/>
          <p:nvPr/>
        </p:nvSpPr>
        <p:spPr>
          <a:xfrm>
            <a:off x="1416339" y="3447661"/>
            <a:ext cx="2080726" cy="55050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Date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78CDD39-4FA7-C768-C524-159EFB79022B}"/>
              </a:ext>
            </a:extLst>
          </p:cNvPr>
          <p:cNvSpPr/>
          <p:nvPr/>
        </p:nvSpPr>
        <p:spPr>
          <a:xfrm>
            <a:off x="1416339" y="4221644"/>
            <a:ext cx="2080726" cy="55050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SimpleDateFormat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179CACD-FE34-AC10-6099-8AFAC438E5FE}"/>
              </a:ext>
            </a:extLst>
          </p:cNvPr>
          <p:cNvSpPr/>
          <p:nvPr/>
        </p:nvSpPr>
        <p:spPr>
          <a:xfrm>
            <a:off x="4797314" y="4172884"/>
            <a:ext cx="2226544" cy="5505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DateTimeFormatter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F9C5E43-0968-FEC9-841F-8B3C7C4EF76A}"/>
              </a:ext>
            </a:extLst>
          </p:cNvPr>
          <p:cNvSpPr/>
          <p:nvPr/>
        </p:nvSpPr>
        <p:spPr>
          <a:xfrm>
            <a:off x="4797314" y="3429000"/>
            <a:ext cx="2226543" cy="5505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LocalDate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CCEA714-F331-3D2D-9CC7-356861BD0D16}"/>
              </a:ext>
            </a:extLst>
          </p:cNvPr>
          <p:cNvSpPr/>
          <p:nvPr/>
        </p:nvSpPr>
        <p:spPr>
          <a:xfrm>
            <a:off x="7195059" y="3429000"/>
            <a:ext cx="2226542" cy="5505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LocalTime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34FE44-0330-68FD-EDC6-5F73542C02D3}"/>
              </a:ext>
            </a:extLst>
          </p:cNvPr>
          <p:cNvSpPr/>
          <p:nvPr/>
        </p:nvSpPr>
        <p:spPr>
          <a:xfrm>
            <a:off x="9592803" y="3429000"/>
            <a:ext cx="2226544" cy="5505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LocalDateTime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35E0370-346E-1A15-5A86-77742BF88951}"/>
              </a:ext>
            </a:extLst>
          </p:cNvPr>
          <p:cNvSpPr/>
          <p:nvPr/>
        </p:nvSpPr>
        <p:spPr>
          <a:xfrm>
            <a:off x="7195059" y="4163487"/>
            <a:ext cx="2226542" cy="5505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Consolas" panose="020B0609020204030204" pitchFamily="49" charset="0"/>
              </a:rPr>
              <a:t>ChronUnit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5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6" grpId="0" animBg="1"/>
      <p:bldP spid="7" grpId="0" animBg="1"/>
      <p:bldP spid="8" grpId="0" animBg="1"/>
      <p:bldP spid="10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08EA-319D-16AA-0871-FC00A495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7CDE21-0317-DE5B-34A8-CD4689A71B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Date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ED3247C-3A29-9385-7061-8D7B0CE40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91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C3704C-916A-4C21-80B9-4B5E027AFC6E}"/>
              </a:ext>
            </a:extLst>
          </p:cNvPr>
          <p:cNvSpPr txBox="1"/>
          <p:nvPr/>
        </p:nvSpPr>
        <p:spPr>
          <a:xfrm>
            <a:off x="576626" y="893243"/>
            <a:ext cx="6633391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代表</a:t>
            </a:r>
            <a:r>
              <a:rPr lang="zh-CN" altLang="en-US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的是</a:t>
            </a:r>
            <a:r>
              <a:rPr lang="zh-CN" altLang="zh-CN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日期</a:t>
            </a:r>
            <a:r>
              <a:rPr lang="zh-CN" altLang="en-US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zh-CN" altLang="zh-CN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时间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4CA88AA-23D6-C85A-2040-1907AD583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84045"/>
              </p:ext>
            </p:extLst>
          </p:nvPr>
        </p:nvGraphicFramePr>
        <p:xfrm>
          <a:off x="576626" y="1704495"/>
          <a:ext cx="7585113" cy="14789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71853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866576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770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构造器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0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Date()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创建一个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Date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对象，</a:t>
                      </a:r>
                      <a:r>
                        <a:rPr lang="zh-CN" altLang="zh-CN" sz="1400" dirty="0">
                          <a:solidFill>
                            <a:srgbClr val="49504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代表的是系统当前此刻日期时间。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0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Date(long time)</a:t>
                      </a:r>
                      <a:endParaRPr lang="zh-CN" altLang="en-US" sz="1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把时间毫秒值转换成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Date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日期对象。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2667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241CAC-54EC-0A33-DE43-848FFD559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654442"/>
              </p:ext>
            </p:extLst>
          </p:nvPr>
        </p:nvGraphicFramePr>
        <p:xfrm>
          <a:off x="576626" y="3612556"/>
          <a:ext cx="7585112" cy="14789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70520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8799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770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常见方法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0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long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getTime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返回从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1970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月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日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  00:00:00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走到此刻的总的毫秒数</a:t>
                      </a:r>
                      <a:endParaRPr lang="zh-CN" altLang="en-US" sz="1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09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setTime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(long time)</a:t>
                      </a:r>
                      <a:endParaRPr lang="zh-CN" altLang="en-US" sz="1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设置日期对象的时间为当前时间毫秒值对应的时间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668187"/>
                  </a:ext>
                </a:extLst>
              </a:tr>
            </a:tbl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FB6B97AB-E655-89B3-E682-D3149868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Date </a:t>
            </a:r>
            <a:r>
              <a:rPr lang="zh-CN" altLang="en-US" dirty="0"/>
              <a:t>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6100A2-7C94-09D6-9CA5-47A645C80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、日期对象如何创建，如何获取时间毫秒值？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Date();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long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getTime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、时间毫秒值怎么转成日期对象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Date(long time);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setTime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(long time);</a:t>
            </a:r>
          </a:p>
        </p:txBody>
      </p:sp>
    </p:spTree>
    <p:extLst>
      <p:ext uri="{BB962C8B-B14F-4D97-AF65-F5344CB8AC3E}">
        <p14:creationId xmlns:p14="http://schemas.microsoft.com/office/powerpoint/2010/main" val="1970263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6874053-276E-27D4-D602-E3EEC3DD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CBDE916-6DE8-88C2-4516-2B8E0CED0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2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1436-438A-38BA-4244-FFDB5FF8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363B2D-B53A-75C8-6B5F-8FBE2ECDB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447813" cy="901700"/>
          </a:xfrm>
        </p:spPr>
        <p:txBody>
          <a:bodyPr/>
          <a:lstStyle/>
          <a:p>
            <a:r>
              <a:rPr lang="en-US" altLang="zh-CN" dirty="0" err="1"/>
              <a:t>SimpleDateFormat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F2B03FA-971F-4FC0-0BF7-621B2EE69D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3984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C3704C-916A-4C21-80B9-4B5E027AFC6E}"/>
              </a:ext>
            </a:extLst>
          </p:cNvPr>
          <p:cNvSpPr txBox="1"/>
          <p:nvPr/>
        </p:nvSpPr>
        <p:spPr>
          <a:xfrm>
            <a:off x="576626" y="861464"/>
            <a:ext cx="6633391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用于日期格式化</a:t>
            </a:r>
            <a:endParaRPr lang="zh-CN" altLang="zh-CN" sz="1600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5647A4-A4AA-C5AA-564D-8D96A182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726531"/>
            <a:ext cx="5867908" cy="301016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C548D2-390D-3495-D90C-D85D8065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3646E3-EA2B-ABBF-F617-8D7C65CE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591" y="2543628"/>
            <a:ext cx="4489681" cy="12256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AA8A69-BA34-2752-2288-DC80A95B5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674" y="4417345"/>
            <a:ext cx="5962956" cy="10859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126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C3704C-916A-4C21-80B9-4B5E027AFC6E}"/>
              </a:ext>
            </a:extLst>
          </p:cNvPr>
          <p:cNvSpPr txBox="1"/>
          <p:nvPr/>
        </p:nvSpPr>
        <p:spPr>
          <a:xfrm>
            <a:off x="576626" y="957015"/>
            <a:ext cx="6633391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49504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用于日期格式化</a:t>
            </a:r>
            <a:endParaRPr lang="zh-CN" altLang="zh-CN" sz="1600" dirty="0">
              <a:solidFill>
                <a:srgbClr val="49504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1E8AA75-EAD6-B237-4025-E83F35DD7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259875"/>
              </p:ext>
            </p:extLst>
          </p:nvPr>
        </p:nvGraphicFramePr>
        <p:xfrm>
          <a:off x="639964" y="1826378"/>
          <a:ext cx="10255249" cy="1328228"/>
        </p:xfrm>
        <a:graphic>
          <a:graphicData uri="http://schemas.openxmlformats.org/drawingml/2006/table">
            <a:tbl>
              <a:tblPr/>
              <a:tblGrid>
                <a:gridCol w="533949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91575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105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构造器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189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SimpleDateFormat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构造一个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SimpleDateFormat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，使用默认格式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37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SimpleDateFormat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​(String pattern)</a:t>
                      </a:r>
                      <a:endParaRPr lang="zh-CN" altLang="en-US" sz="1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构造一个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SimpleDateFormat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，使用指定的格式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765349-928D-0736-EE14-0907E33F2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2659"/>
              </p:ext>
            </p:extLst>
          </p:nvPr>
        </p:nvGraphicFramePr>
        <p:xfrm>
          <a:off x="639964" y="3746538"/>
          <a:ext cx="10255249" cy="1194960"/>
        </p:xfrm>
        <a:graphic>
          <a:graphicData uri="http://schemas.openxmlformats.org/drawingml/2006/table">
            <a:tbl>
              <a:tblPr/>
              <a:tblGrid>
                <a:gridCol w="533949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91575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格式化方法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189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final String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format(Date date)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将日期格式化成日期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时间字符串</a:t>
                      </a:r>
                      <a:endParaRPr lang="zh-CN" altLang="en-US" sz="1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370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final Date </a:t>
                      </a:r>
                      <a:r>
                        <a:rPr lang="en-US" altLang="zh-CN" sz="14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parse(String source)</a:t>
                      </a:r>
                      <a:endParaRPr lang="zh-CN" altLang="en-US" sz="1400" b="1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将字符串解析为日期类型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</a:tbl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4E74DB19-DD16-2D03-5A9A-6AA5A31E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11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A908CB-DB59-E7E7-9AA0-3A92E8394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代表什么，有什么作用？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可以把日期对象格式化成我们想要的形式；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00100" lvl="1" indent="-34290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可以把字符串的时间形式解析成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Date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日期对象。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的对象如何创建？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00100" lvl="1" indent="-342900" fontAlgn="base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​(String pattern)</a:t>
            </a:r>
          </a:p>
          <a:p>
            <a:pPr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SimpleDateFormat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格式化，以及解析时间的方法是哪些？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final String format(Date d):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格式化日期对象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Date parse​(String source)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：解析字符串时间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41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2D23D-F75C-29B0-77D8-B66615D5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AD2B26"/>
                </a:solidFill>
              </a:rPr>
              <a:t> </a:t>
            </a:r>
            <a:endParaRPr lang="zh-CN" altLang="en-US" dirty="0">
              <a:solidFill>
                <a:srgbClr val="AD2B26"/>
              </a:solidFill>
            </a:endParaRPr>
          </a:p>
        </p:txBody>
      </p:sp>
      <p:grpSp>
        <p:nvGrpSpPr>
          <p:cNvPr id="6" name="Group 49">
            <a:extLst>
              <a:ext uri="{FF2B5EF4-FFF2-40B4-BE49-F238E27FC236}">
                <a16:creationId xmlns:a16="http://schemas.microsoft.com/office/drawing/2014/main" id="{BBF4BFC6-CBBA-B272-D4AC-45C9157E6F01}"/>
              </a:ext>
            </a:extLst>
          </p:cNvPr>
          <p:cNvGrpSpPr/>
          <p:nvPr/>
        </p:nvGrpSpPr>
        <p:grpSpPr>
          <a:xfrm>
            <a:off x="923896" y="1806487"/>
            <a:ext cx="3193818" cy="3617043"/>
            <a:chOff x="3312887" y="2108385"/>
            <a:chExt cx="2463800" cy="401486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Rounded Rectangle 13">
              <a:extLst>
                <a:ext uri="{FF2B5EF4-FFF2-40B4-BE49-F238E27FC236}">
                  <a16:creationId xmlns:a16="http://schemas.microsoft.com/office/drawing/2014/main" id="{4EAE9A34-4DF7-EB25-4998-CE040DC081EF}"/>
                </a:ext>
              </a:extLst>
            </p:cNvPr>
            <p:cNvSpPr/>
            <p:nvPr/>
          </p:nvSpPr>
          <p:spPr>
            <a:xfrm>
              <a:off x="3312887" y="2108385"/>
              <a:ext cx="2463800" cy="4014868"/>
            </a:xfrm>
            <a:prstGeom prst="roundRect">
              <a:avLst>
                <a:gd name="adj" fmla="val 48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>
                <a:lnSpc>
                  <a:spcPct val="120000"/>
                </a:lnSpc>
              </a:pPr>
              <a:endParaRPr 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Round Same Side Corner Rectangle 14">
              <a:extLst>
                <a:ext uri="{FF2B5EF4-FFF2-40B4-BE49-F238E27FC236}">
                  <a16:creationId xmlns:a16="http://schemas.microsoft.com/office/drawing/2014/main" id="{3BCE51BD-2F69-31F3-8873-C5A53662BA90}"/>
                </a:ext>
              </a:extLst>
            </p:cNvPr>
            <p:cNvSpPr/>
            <p:nvPr/>
          </p:nvSpPr>
          <p:spPr>
            <a:xfrm>
              <a:off x="3312887" y="2108385"/>
              <a:ext cx="2463800" cy="1113825"/>
            </a:xfrm>
            <a:prstGeom prst="round2SameRect">
              <a:avLst>
                <a:gd name="adj1" fmla="val 10686"/>
                <a:gd name="adj2" fmla="val 0"/>
              </a:avLst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zh-CN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endParaRPr>
            </a:p>
            <a:p>
              <a:pPr algn="ctr">
                <a:lnSpc>
                  <a:spcPct val="120000"/>
                </a:lnSpc>
              </a:pPr>
              <a:endParaRPr lang="en-US" altLang="zh-CN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90204" pitchFamily="34" charset="0"/>
                </a:rPr>
                <a:t>新增的时间</a:t>
              </a:r>
              <a:r>
                <a:rPr lang="en-US" altLang="zh-CN" b="1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Arial" panose="020B0604020202090204" pitchFamily="34" charset="0"/>
                </a:rPr>
                <a:t>API</a:t>
              </a:r>
              <a:endParaRPr lang="zh-CN" altLang="en-US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Arial" panose="020B0604020202090204" pitchFamily="34" charset="0"/>
              </a:endParaRPr>
            </a:p>
            <a:p>
              <a:pPr algn="ctr">
                <a:lnSpc>
                  <a:spcPct val="120000"/>
                </a:lnSpc>
              </a:pPr>
              <a:endParaRPr 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1147414F-60C3-896E-F6E4-04D7B4561FFD}"/>
              </a:ext>
            </a:extLst>
          </p:cNvPr>
          <p:cNvSpPr txBox="1">
            <a:spLocks/>
          </p:cNvSpPr>
          <p:nvPr/>
        </p:nvSpPr>
        <p:spPr>
          <a:xfrm>
            <a:off x="1542021" y="1958953"/>
            <a:ext cx="2045589" cy="34926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sz="20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开始之后</a:t>
            </a:r>
            <a:endParaRPr 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2258BC-20F0-A6BE-49DA-7ED451699044}"/>
              </a:ext>
            </a:extLst>
          </p:cNvPr>
          <p:cNvSpPr txBox="1"/>
          <p:nvPr/>
        </p:nvSpPr>
        <p:spPr>
          <a:xfrm>
            <a:off x="1005454" y="3025759"/>
            <a:ext cx="2948288" cy="595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、设计更合理，功能丰富，使用更方便。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CB8BDD-B0C1-9F7E-5F72-6E718C9B6413}"/>
              </a:ext>
            </a:extLst>
          </p:cNvPr>
          <p:cNvSpPr txBox="1"/>
          <p:nvPr/>
        </p:nvSpPr>
        <p:spPr>
          <a:xfrm>
            <a:off x="1005453" y="3708491"/>
            <a:ext cx="3112261" cy="595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zh-CN" altLang="en-US" sz="1400" dirty="0"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都是不可变对象，修改后会返回新的时间对象，不会丢失最开始的时间。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39635A-8F5B-6CBE-A381-FFD7384A71BC}"/>
              </a:ext>
            </a:extLst>
          </p:cNvPr>
          <p:cNvSpPr txBox="1"/>
          <p:nvPr/>
        </p:nvSpPr>
        <p:spPr>
          <a:xfrm>
            <a:off x="1005452" y="4432356"/>
            <a:ext cx="2311841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zh-CN" altLang="en-US" sz="1400" dirty="0"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线程安全。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BC103B-78AE-3CE0-1E5D-FC250C3BB665}"/>
              </a:ext>
            </a:extLst>
          </p:cNvPr>
          <p:cNvSpPr txBox="1"/>
          <p:nvPr/>
        </p:nvSpPr>
        <p:spPr>
          <a:xfrm>
            <a:off x="1020827" y="4932010"/>
            <a:ext cx="2311841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zh-CN" altLang="en-US" sz="1400" dirty="0">
                <a:latin typeface="Arial Rounded MT Bold" panose="020F070403050403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能精确到毫秒、纳秒。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676CFF-D476-15DD-EB75-00A3E6CC08CE}"/>
              </a:ext>
            </a:extLst>
          </p:cNvPr>
          <p:cNvSpPr txBox="1"/>
          <p:nvPr/>
        </p:nvSpPr>
        <p:spPr>
          <a:xfrm>
            <a:off x="4949739" y="3779771"/>
            <a:ext cx="2625656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DateTimeFormatter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3CB7745-C41F-1314-9593-7DC99D6A3637}"/>
              </a:ext>
            </a:extLst>
          </p:cNvPr>
          <p:cNvSpPr txBox="1"/>
          <p:nvPr/>
        </p:nvSpPr>
        <p:spPr>
          <a:xfrm>
            <a:off x="4949739" y="2197694"/>
            <a:ext cx="307947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</a:t>
            </a:r>
            <a:r>
              <a:rPr lang="zh-CN" altLang="it-IT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年、月、日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62B9A1A-2EF3-D2D6-7E12-8456CF019435}"/>
              </a:ext>
            </a:extLst>
          </p:cNvPr>
          <p:cNvSpPr txBox="1"/>
          <p:nvPr/>
        </p:nvSpPr>
        <p:spPr>
          <a:xfrm>
            <a:off x="4949739" y="2725053"/>
            <a:ext cx="307947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LocalTime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：时、分、秒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FD80E99-F964-268E-7F74-1F2B91D0CCF4}"/>
              </a:ext>
            </a:extLst>
          </p:cNvPr>
          <p:cNvSpPr txBox="1"/>
          <p:nvPr/>
        </p:nvSpPr>
        <p:spPr>
          <a:xfrm>
            <a:off x="4949739" y="3252412"/>
            <a:ext cx="5131947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LocalDateTime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7F2F813-4AE3-C0E8-9A98-7FC7EC157E13}"/>
              </a:ext>
            </a:extLst>
          </p:cNvPr>
          <p:cNvSpPr txBox="1"/>
          <p:nvPr/>
        </p:nvSpPr>
        <p:spPr>
          <a:xfrm>
            <a:off x="7146431" y="3873771"/>
            <a:ext cx="2935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：用于时间的格式化和解析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1F9987-4529-0B8E-8BBE-5154BE9CF182}"/>
              </a:ext>
            </a:extLst>
          </p:cNvPr>
          <p:cNvSpPr txBox="1"/>
          <p:nvPr/>
        </p:nvSpPr>
        <p:spPr>
          <a:xfrm>
            <a:off x="6905393" y="3346891"/>
            <a:ext cx="1386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年、月、日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648ED08-74DF-0AB3-069F-29E7AE6717DB}"/>
              </a:ext>
            </a:extLst>
          </p:cNvPr>
          <p:cNvSpPr txBox="1"/>
          <p:nvPr/>
        </p:nvSpPr>
        <p:spPr>
          <a:xfrm>
            <a:off x="8207792" y="3343499"/>
            <a:ext cx="1386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时、分、秒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8D5FC46-3C50-5CD6-4865-999A46F43281}"/>
              </a:ext>
            </a:extLst>
          </p:cNvPr>
          <p:cNvSpPr txBox="1"/>
          <p:nvPr/>
        </p:nvSpPr>
        <p:spPr>
          <a:xfrm>
            <a:off x="4949738" y="4301487"/>
            <a:ext cx="5018509" cy="46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ChronoUnit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：计算时间间隔的工具类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EC6E07-123B-59EB-7106-E34DE027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8557FCB-2C53-BE4C-8E77-1FD4ACA952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3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B26D-027B-F65B-5FE6-C31ED5A1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693597-C3D2-8995-AAAB-670A24C93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447813" cy="901700"/>
          </a:xfrm>
        </p:spPr>
        <p:txBody>
          <a:bodyPr/>
          <a:lstStyle/>
          <a:p>
            <a:r>
              <a:rPr lang="en-US" altLang="zh-CN" dirty="0" err="1"/>
              <a:t>LocaldateTime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4BBEBE0-214F-BE36-A0AC-31B571004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9496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46D06B0-1B65-4615-ADD6-A45CE3278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12133"/>
              </p:ext>
            </p:extLst>
          </p:nvPr>
        </p:nvGraphicFramePr>
        <p:xfrm>
          <a:off x="891032" y="3517559"/>
          <a:ext cx="11136125" cy="1631397"/>
        </p:xfrm>
        <a:graphic>
          <a:graphicData uri="http://schemas.openxmlformats.org/drawingml/2006/table">
            <a:tbl>
              <a:tblPr/>
              <a:tblGrid>
                <a:gridCol w="4796251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6339874">
                  <a:extLst>
                    <a:ext uri="{9D8B030D-6E8A-4147-A177-3AD203B41FA5}">
                      <a16:colId xmlns:a16="http://schemas.microsoft.com/office/drawing/2014/main" val="2086197139"/>
                    </a:ext>
                  </a:extLst>
                </a:gridCol>
              </a:tblGrid>
              <a:tr h="4948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示例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78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Xxxx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now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():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获取系统当前时间对应的该对象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LocaDate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ld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LocalDate.now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();</a:t>
                      </a:r>
                      <a:b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</a:b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LocalTime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lt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LocalTime.now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();</a:t>
                      </a:r>
                      <a:b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</a:b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LocalDateTime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ldt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LocalDateTime.now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();</a:t>
                      </a:r>
                      <a:endParaRPr kumimoji="0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D64771E-523D-4561-ACDE-FDD93A0B8230}"/>
              </a:ext>
            </a:extLst>
          </p:cNvPr>
          <p:cNvSpPr txBox="1"/>
          <p:nvPr/>
        </p:nvSpPr>
        <p:spPr>
          <a:xfrm>
            <a:off x="806704" y="1124923"/>
            <a:ext cx="10596880" cy="227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：代表本地日期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年、月、日、星期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LocalTime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：代表本地时间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时、分、秒、纳秒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LocalDateTime</a:t>
            </a:r>
            <a:r>
              <a:rPr lang="zh-CN" altLang="en-US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：代表本地日期、时间</a:t>
            </a:r>
            <a:r>
              <a:rPr lang="en-US" altLang="zh-CN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年、月、日、星期、时、分、秒、纳秒</a:t>
            </a:r>
            <a:r>
              <a:rPr lang="en-US" altLang="zh-CN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获取对象</a:t>
            </a:r>
            <a:endParaRPr lang="en-US" altLang="zh-CN" sz="1600" b="1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508E1F-0E8E-7C3A-072C-C01B00424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337431"/>
              </p:ext>
            </p:extLst>
          </p:nvPr>
        </p:nvGraphicFramePr>
        <p:xfrm>
          <a:off x="891033" y="5162953"/>
          <a:ext cx="11136126" cy="1136502"/>
        </p:xfrm>
        <a:graphic>
          <a:graphicData uri="http://schemas.openxmlformats.org/drawingml/2006/table">
            <a:tbl>
              <a:tblPr/>
              <a:tblGrid>
                <a:gridCol w="4796251">
                  <a:extLst>
                    <a:ext uri="{9D8B030D-6E8A-4147-A177-3AD203B41FA5}">
                      <a16:colId xmlns:a16="http://schemas.microsoft.com/office/drawing/2014/main" val="3857733850"/>
                    </a:ext>
                  </a:extLst>
                </a:gridCol>
                <a:gridCol w="6339875">
                  <a:extLst>
                    <a:ext uri="{9D8B030D-6E8A-4147-A177-3AD203B41FA5}">
                      <a16:colId xmlns:a16="http://schemas.microsoft.com/office/drawing/2014/main" val="281090711"/>
                    </a:ext>
                  </a:extLst>
                </a:gridCol>
              </a:tblGrid>
              <a:tr h="556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static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Xxxx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of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(…)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：获取指定时间的对象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localDate1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LocalDate.of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(2099 , 11,11);</a:t>
                      </a:r>
                      <a:b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</a:b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LocalTime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localTime1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LocalTime.of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(9,  8, 59);</a:t>
                      </a:r>
                      <a:b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</a:b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LocalDateTime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localDateTime1 = </a:t>
                      </a:r>
                      <a:r>
                        <a:rPr kumimoji="0" lang="en-US" altLang="zh-CN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LocalDateTime.of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(2025, 11, 16, 14, 30, 01);</a:t>
                      </a:r>
                      <a:endParaRPr kumimoji="0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525661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551EEF70-802E-2643-B542-FCD6CF30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LocalDateTime</a:t>
            </a:r>
            <a:r>
              <a:rPr lang="zh-CN" altLang="en-US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</a:t>
            </a:r>
            <a:r>
              <a:rPr lang="zh-CN" altLang="en-US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LocalTime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11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D64771E-523D-4561-ACDE-FDD93A0B8230}"/>
              </a:ext>
            </a:extLst>
          </p:cNvPr>
          <p:cNvSpPr txBox="1"/>
          <p:nvPr/>
        </p:nvSpPr>
        <p:spPr>
          <a:xfrm>
            <a:off x="7496753" y="3308286"/>
            <a:ext cx="388854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获取年月日时分秒的相关方法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BD76904-F477-558A-9827-61749BEE1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99818"/>
              </p:ext>
            </p:extLst>
          </p:nvPr>
        </p:nvGraphicFramePr>
        <p:xfrm>
          <a:off x="650550" y="1311693"/>
          <a:ext cx="10890899" cy="43420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41355">
                  <a:extLst>
                    <a:ext uri="{9D8B030D-6E8A-4147-A177-3AD203B41FA5}">
                      <a16:colId xmlns:a16="http://schemas.microsoft.com/office/drawing/2014/main" val="3210881917"/>
                    </a:ext>
                  </a:extLst>
                </a:gridCol>
                <a:gridCol w="5049544">
                  <a:extLst>
                    <a:ext uri="{9D8B030D-6E8A-4147-A177-3AD203B41FA5}">
                      <a16:colId xmlns:a16="http://schemas.microsoft.com/office/drawing/2014/main" val="688925314"/>
                    </a:ext>
                  </a:extLst>
                </a:gridCol>
              </a:tblGrid>
              <a:tr h="4824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Consolas" panose="020B0609020204030204" pitchFamily="49" charset="0"/>
                        </a:rPr>
                        <a:t>方法名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Consolas" panose="020B0609020204030204" pitchFamily="49" charset="0"/>
                        </a:rPr>
                        <a:t>功能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026943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getYear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获取年份字段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88712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Month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getMonth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使用 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Month 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枚举获取年份字段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277489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getMonthValue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12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之间的月份字段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921026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getDayOfMonth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获取日期字段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369878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DayOfWeek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getDayOfWeek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获取星期几字段，即枚举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DayOfWeek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512646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getHour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获取当日时间字段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98657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getMinute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获取分钟字段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054995"/>
                  </a:ext>
                </a:extLst>
              </a:tr>
              <a:tr h="4824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getSecond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zh-CN" altLang="en-US" sz="18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获取第二分钟字段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402807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29B2B08-D00D-29CA-43CC-5D1FD1B9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获取年月日时分秒相关的方法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27804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8BCD26A-6314-6B4C-2FCF-4EE6DF51A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89977"/>
              </p:ext>
            </p:extLst>
          </p:nvPr>
        </p:nvGraphicFramePr>
        <p:xfrm>
          <a:off x="817881" y="2317953"/>
          <a:ext cx="9567090" cy="2627272"/>
        </p:xfrm>
        <a:graphic>
          <a:graphicData uri="http://schemas.openxmlformats.org/drawingml/2006/table">
            <a:tbl>
              <a:tblPr/>
              <a:tblGrid>
                <a:gridCol w="553330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033782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6256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1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43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withHour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withMinute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withSecond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withNano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修改时间，返回新时间对象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828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plusHours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plusMinutes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plusSeconds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plusNanos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把某个信息</a:t>
                      </a:r>
                      <a:r>
                        <a:rPr lang="zh-CN" altLang="en-US" sz="1400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加多少，返回新时间对象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4876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minusHours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minusMinutes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minusSeconds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minusNanos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把某个信息</a:t>
                      </a:r>
                      <a:r>
                        <a:rPr lang="zh-CN" altLang="en-US" sz="1400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减多少，返回新时间对象</a:t>
                      </a:r>
                      <a:endParaRPr lang="en-US" altLang="zh-CN" sz="1400" kern="12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4876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equals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isBefore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isAfter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判断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个时间对象，是否相等，在前还是在后 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5315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F9D5B446-19B8-EA6C-B5C7-FF55ADF9F1AB}"/>
              </a:ext>
            </a:extLst>
          </p:cNvPr>
          <p:cNvSpPr txBox="1"/>
          <p:nvPr/>
        </p:nvSpPr>
        <p:spPr>
          <a:xfrm>
            <a:off x="576626" y="921865"/>
            <a:ext cx="10506241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b="0" i="0" dirty="0" err="1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LocalDateTime</a:t>
            </a:r>
            <a:r>
              <a:rPr lang="en-US" altLang="zh-CN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b="0" i="0" dirty="0" err="1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</a:t>
            </a:r>
            <a:r>
              <a:rPr lang="en-US" altLang="zh-CN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b="0" i="0" dirty="0" err="1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LocalTime</a:t>
            </a:r>
            <a:r>
              <a:rPr lang="en-US" altLang="zh-CN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都是不可变的</a:t>
            </a:r>
            <a:r>
              <a:rPr lang="en-US" altLang="zh-CN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b="0" i="0" dirty="0">
                <a:solidFill>
                  <a:srgbClr val="393939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下列方法返回的是一个新的</a:t>
            </a:r>
            <a:r>
              <a:rPr lang="zh-CN" altLang="en-US" dirty="0">
                <a:solidFill>
                  <a:srgbClr val="39393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zh-CN" altLang="en-US" b="0" i="0" dirty="0">
              <a:solidFill>
                <a:srgbClr val="393939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AC995F-D70F-338C-44CB-537777BC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修改年月日时分秒相关的方法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29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323B-E8D1-C5E6-6B9E-16C6BE11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DC8202-94E6-5566-88F3-2D2AD71059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 err="1">
                <a:latin typeface="Consolas" panose="020B0609020204030204" pitchFamily="49" charset="0"/>
              </a:rPr>
              <a:t>LocalDate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latin typeface="Consolas" panose="020B0609020204030204" pitchFamily="49" charset="0"/>
              </a:rPr>
              <a:t>LocalTime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latin typeface="Consolas" panose="020B0609020204030204" pitchFamily="49" charset="0"/>
              </a:rPr>
              <a:t>LocalDateTime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zh-CN" altLang="en-US" b="1" dirty="0">
                <a:latin typeface="Consolas" panose="020B0609020204030204" pitchFamily="49" charset="0"/>
              </a:rPr>
              <a:t>对象如何创建</a:t>
            </a:r>
            <a:r>
              <a:rPr lang="en-US" altLang="zh-CN" b="1" dirty="0">
                <a:latin typeface="Consolas" panose="020B0609020204030204" pitchFamily="49" charset="0"/>
              </a:rPr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now :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当前时间</a:t>
            </a:r>
            <a:endParaRPr lang="en-US" altLang="zh-CN" sz="1600" b="1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 :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指定时间</a:t>
            </a:r>
            <a:endParaRPr lang="en-US" altLang="zh-CN" sz="1600" b="1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b="1" dirty="0">
                <a:latin typeface="Consolas" panose="020B0609020204030204" pitchFamily="49" charset="0"/>
              </a:rPr>
              <a:t>获取的相关方法是 </a:t>
            </a:r>
            <a:r>
              <a:rPr lang="en-US" altLang="zh-CN" b="1" dirty="0">
                <a:latin typeface="Consolas" panose="020B0609020204030204" pitchFamily="49" charset="0"/>
              </a:rPr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getXxx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getYear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getMonth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getMonthValue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...</a:t>
            </a:r>
          </a:p>
          <a:p>
            <a:r>
              <a:rPr lang="zh-CN" altLang="en-US" b="1" dirty="0">
                <a:latin typeface="Consolas" panose="020B0609020204030204" pitchFamily="49" charset="0"/>
              </a:rPr>
              <a:t>修改的相关方法是 </a:t>
            </a:r>
            <a:r>
              <a:rPr lang="en-US" altLang="zh-CN" b="1" dirty="0">
                <a:latin typeface="Consolas" panose="020B0609020204030204" pitchFamily="49" charset="0"/>
              </a:rPr>
              <a:t>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withXxx</a:t>
            </a:r>
            <a:r>
              <a:rPr lang="zh-CN" altLang="en-US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：修改</a:t>
            </a:r>
            <a:endParaRPr lang="en-US" altLang="zh-CN" sz="1600" b="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minusXxx</a:t>
            </a:r>
            <a:r>
              <a:rPr lang="zh-CN" altLang="en-US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：减</a:t>
            </a:r>
            <a:endParaRPr lang="en-US" altLang="zh-CN" sz="1600" b="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plusXxx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zh-CN" altLang="en-US" b="1" dirty="0">
                <a:latin typeface="Consolas" panose="020B0609020204030204" pitchFamily="49" charset="0"/>
              </a:rPr>
              <a:t>注意点：</a:t>
            </a:r>
            <a:endParaRPr lang="en-US" altLang="zh-CN" b="1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LocalDateTime</a:t>
            </a:r>
            <a:r>
              <a:rPr lang="en-US" altLang="zh-CN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LocalDate</a:t>
            </a:r>
            <a:r>
              <a:rPr lang="en-US" altLang="zh-CN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LocalTime</a:t>
            </a:r>
            <a:r>
              <a:rPr lang="en-US" altLang="zh-CN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都是不可变的</a:t>
            </a:r>
            <a:endParaRPr lang="en-US" altLang="zh-CN" sz="16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调用修改的相关方法</a:t>
            </a:r>
            <a:r>
              <a:rPr lang="en-US" altLang="zh-CN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返回的都是新的对象</a:t>
            </a:r>
            <a:endParaRPr lang="en-US" altLang="zh-CN" sz="1600" b="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341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9D24EC-AD8E-35D7-400C-C1E1519C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D5A7A3-3CBB-36DD-2022-BC593FD7C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0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4414-A403-75A2-97C4-798D1FF6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5057B-FFB2-7041-AE92-71FAF5DDE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447813" cy="901700"/>
          </a:xfrm>
        </p:spPr>
        <p:txBody>
          <a:bodyPr/>
          <a:lstStyle/>
          <a:p>
            <a:r>
              <a:rPr lang="en-US" altLang="zh-CN" dirty="0" err="1"/>
              <a:t>DateTimeFormatter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E0F6ED9-71EC-45AF-58FB-99B6111ECE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30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6F9E2BC1-5690-4D4A-00A5-9DAC6F73DF7C}"/>
              </a:ext>
            </a:extLst>
          </p:cNvPr>
          <p:cNvSpPr txBox="1"/>
          <p:nvPr/>
        </p:nvSpPr>
        <p:spPr>
          <a:xfrm>
            <a:off x="576626" y="1195518"/>
            <a:ext cx="77382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时间的格式化和解析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C0C04A1-6E4C-B311-3EF0-E711A0B84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791683"/>
              </p:ext>
            </p:extLst>
          </p:nvPr>
        </p:nvGraphicFramePr>
        <p:xfrm>
          <a:off x="576626" y="1919972"/>
          <a:ext cx="9349946" cy="1855754"/>
        </p:xfrm>
        <a:graphic>
          <a:graphicData uri="http://schemas.openxmlformats.org/drawingml/2006/table">
            <a:tbl>
              <a:tblPr/>
              <a:tblGrid>
                <a:gridCol w="494939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6299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6129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static DateTimeFormatter 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ofPattern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​(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格式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) 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获取格式对象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612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String </a:t>
                      </a:r>
                      <a:r>
                        <a:rPr lang="en-US" altLang="zh-CN" sz="1600" b="1" kern="120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format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​(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时间对象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) 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按照指定方式格式化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880021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9F92520-A62E-C383-F432-78FCF9E2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DateTimeFormatter</a:t>
            </a:r>
            <a:r>
              <a:rPr lang="en-US" altLang="zh-CN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030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86B328E-2430-9847-2EC7-0734D8BB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623DF54-C02C-633D-E07D-6EB44342C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427" y="1031345"/>
            <a:ext cx="5634223" cy="4480814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Math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System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包装类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BigDecimal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Arrays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Date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SimpleDateFormat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LocalDateTime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LocalDate</a:t>
            </a:r>
            <a:r>
              <a:rPr kumimoji="1" lang="zh-CN" altLang="en-US" dirty="0">
                <a:latin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</a:rPr>
              <a:t>LocalTime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DateTimeFormatter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ChronoUnit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类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56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AA49-DE3A-1E28-6BFC-14C1673E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3DC882-67EA-116F-D2F9-B6292101D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447813" cy="901700"/>
          </a:xfrm>
        </p:spPr>
        <p:txBody>
          <a:bodyPr/>
          <a:lstStyle/>
          <a:p>
            <a:r>
              <a:rPr lang="en-US" altLang="zh-CN" dirty="0" err="1"/>
              <a:t>ChronoUnit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6065F5B-3EB1-5A7C-3973-2300130802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8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D5713EA-F778-BA97-A732-9F348CB4A949}"/>
              </a:ext>
            </a:extLst>
          </p:cNvPr>
          <p:cNvSpPr txBox="1">
            <a:spLocks/>
          </p:cNvSpPr>
          <p:nvPr/>
        </p:nvSpPr>
        <p:spPr>
          <a:xfrm>
            <a:off x="1957100" y="335203"/>
            <a:ext cx="979856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Period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75DF706-88A5-835B-3FA0-AC4F97359BC6}"/>
              </a:ext>
            </a:extLst>
          </p:cNvPr>
          <p:cNvSpPr txBox="1">
            <a:spLocks/>
          </p:cNvSpPr>
          <p:nvPr/>
        </p:nvSpPr>
        <p:spPr>
          <a:xfrm>
            <a:off x="697847" y="335203"/>
            <a:ext cx="1994432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Duration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FE3DABB-BACF-C231-F6D5-FCE792DC56E8}"/>
              </a:ext>
            </a:extLst>
          </p:cNvPr>
          <p:cNvSpPr txBox="1">
            <a:spLocks/>
          </p:cNvSpPr>
          <p:nvPr/>
        </p:nvSpPr>
        <p:spPr>
          <a:xfrm>
            <a:off x="2936955" y="335203"/>
            <a:ext cx="1594657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ChronoUnit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7AD2ED2-5C64-E4AA-72D9-BA6B1A205DB8}"/>
              </a:ext>
            </a:extLst>
          </p:cNvPr>
          <p:cNvSpPr txBox="1">
            <a:spLocks/>
          </p:cNvSpPr>
          <p:nvPr/>
        </p:nvSpPr>
        <p:spPr>
          <a:xfrm>
            <a:off x="1783190" y="335203"/>
            <a:ext cx="41815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ADEA9BB-53FA-5EE1-9DBC-DDB0E4E6EDDD}"/>
              </a:ext>
            </a:extLst>
          </p:cNvPr>
          <p:cNvSpPr txBox="1">
            <a:spLocks/>
          </p:cNvSpPr>
          <p:nvPr/>
        </p:nvSpPr>
        <p:spPr>
          <a:xfrm>
            <a:off x="2766316" y="335203"/>
            <a:ext cx="45851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2ABC76-1194-7AD4-B52F-91A00C3307C2}"/>
              </a:ext>
            </a:extLst>
          </p:cNvPr>
          <p:cNvSpPr/>
          <p:nvPr/>
        </p:nvSpPr>
        <p:spPr>
          <a:xfrm>
            <a:off x="576626" y="335203"/>
            <a:ext cx="4119073" cy="51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0232422-BFDA-22BC-3CD2-A5C49C98F0D4}"/>
              </a:ext>
            </a:extLst>
          </p:cNvPr>
          <p:cNvSpPr txBox="1">
            <a:spLocks/>
          </p:cNvSpPr>
          <p:nvPr/>
        </p:nvSpPr>
        <p:spPr>
          <a:xfrm>
            <a:off x="1957100" y="335203"/>
            <a:ext cx="979856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Period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9DC2D7C-E876-5B8B-B130-A8363A1831C4}"/>
              </a:ext>
            </a:extLst>
          </p:cNvPr>
          <p:cNvSpPr txBox="1">
            <a:spLocks/>
          </p:cNvSpPr>
          <p:nvPr/>
        </p:nvSpPr>
        <p:spPr>
          <a:xfrm>
            <a:off x="697847" y="335203"/>
            <a:ext cx="1994432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Duration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CFBCA177-7093-027C-80EA-F45A594936DC}"/>
              </a:ext>
            </a:extLst>
          </p:cNvPr>
          <p:cNvSpPr txBox="1">
            <a:spLocks/>
          </p:cNvSpPr>
          <p:nvPr/>
        </p:nvSpPr>
        <p:spPr>
          <a:xfrm>
            <a:off x="2936955" y="335203"/>
            <a:ext cx="1594657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ChronoUnit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EAB2B0-AA5F-DDC9-0F04-B3A0B805420D}"/>
              </a:ext>
            </a:extLst>
          </p:cNvPr>
          <p:cNvSpPr txBox="1">
            <a:spLocks/>
          </p:cNvSpPr>
          <p:nvPr/>
        </p:nvSpPr>
        <p:spPr>
          <a:xfrm>
            <a:off x="1783190" y="335203"/>
            <a:ext cx="41815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2EFCDC8-6F48-81CB-97E4-58A8C9F5BE99}"/>
              </a:ext>
            </a:extLst>
          </p:cNvPr>
          <p:cNvSpPr txBox="1">
            <a:spLocks/>
          </p:cNvSpPr>
          <p:nvPr/>
        </p:nvSpPr>
        <p:spPr>
          <a:xfrm>
            <a:off x="2766316" y="335203"/>
            <a:ext cx="45851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312348-98DC-8F89-FB1A-BF3F5A5D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62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FD5713EA-F778-BA97-A732-9F348CB4A949}"/>
              </a:ext>
            </a:extLst>
          </p:cNvPr>
          <p:cNvSpPr txBox="1">
            <a:spLocks/>
          </p:cNvSpPr>
          <p:nvPr/>
        </p:nvSpPr>
        <p:spPr>
          <a:xfrm>
            <a:off x="1438495" y="3206918"/>
            <a:ext cx="979856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Period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75DF706-88A5-835B-3FA0-AC4F97359BC6}"/>
              </a:ext>
            </a:extLst>
          </p:cNvPr>
          <p:cNvSpPr txBox="1">
            <a:spLocks/>
          </p:cNvSpPr>
          <p:nvPr/>
        </p:nvSpPr>
        <p:spPr>
          <a:xfrm>
            <a:off x="1421135" y="2016939"/>
            <a:ext cx="1994432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Duration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FE3DABB-BACF-C231-F6D5-FCE792DC56E8}"/>
              </a:ext>
            </a:extLst>
          </p:cNvPr>
          <p:cNvSpPr txBox="1">
            <a:spLocks/>
          </p:cNvSpPr>
          <p:nvPr/>
        </p:nvSpPr>
        <p:spPr>
          <a:xfrm>
            <a:off x="1438495" y="4622164"/>
            <a:ext cx="1594657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ChronoUnit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0232422-BFDA-22BC-3CD2-A5C49C98F0D4}"/>
              </a:ext>
            </a:extLst>
          </p:cNvPr>
          <p:cNvSpPr txBox="1">
            <a:spLocks/>
          </p:cNvSpPr>
          <p:nvPr/>
        </p:nvSpPr>
        <p:spPr>
          <a:xfrm>
            <a:off x="1970134" y="1000800"/>
            <a:ext cx="979856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Period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9DC2D7C-E876-5B8B-B130-A8363A1831C4}"/>
              </a:ext>
            </a:extLst>
          </p:cNvPr>
          <p:cNvSpPr txBox="1">
            <a:spLocks/>
          </p:cNvSpPr>
          <p:nvPr/>
        </p:nvSpPr>
        <p:spPr>
          <a:xfrm>
            <a:off x="710881" y="1000800"/>
            <a:ext cx="1994432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Duration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CFBCA177-7093-027C-80EA-F45A594936DC}"/>
              </a:ext>
            </a:extLst>
          </p:cNvPr>
          <p:cNvSpPr txBox="1">
            <a:spLocks/>
          </p:cNvSpPr>
          <p:nvPr/>
        </p:nvSpPr>
        <p:spPr>
          <a:xfrm>
            <a:off x="2949989" y="1000800"/>
            <a:ext cx="1594657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en-US" altLang="zh-CN" dirty="0"/>
              <a:t>ChronoUnit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EAB2B0-AA5F-DDC9-0F04-B3A0B805420D}"/>
              </a:ext>
            </a:extLst>
          </p:cNvPr>
          <p:cNvSpPr txBox="1">
            <a:spLocks/>
          </p:cNvSpPr>
          <p:nvPr/>
        </p:nvSpPr>
        <p:spPr>
          <a:xfrm>
            <a:off x="1796224" y="1000800"/>
            <a:ext cx="41815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2EFCDC8-6F48-81CB-97E4-58A8C9F5BE99}"/>
              </a:ext>
            </a:extLst>
          </p:cNvPr>
          <p:cNvSpPr txBox="1">
            <a:spLocks/>
          </p:cNvSpPr>
          <p:nvPr/>
        </p:nvSpPr>
        <p:spPr>
          <a:xfrm>
            <a:off x="2779350" y="1000800"/>
            <a:ext cx="45851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、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0B12D3-105F-BCB6-8212-CED5CF9B9D60}"/>
              </a:ext>
            </a:extLst>
          </p:cNvPr>
          <p:cNvSpPr txBox="1"/>
          <p:nvPr/>
        </p:nvSpPr>
        <p:spPr>
          <a:xfrm>
            <a:off x="3008606" y="2115080"/>
            <a:ext cx="6127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用于计算两个“时间”间隔（秒，纳秒）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4D9BF4-763E-378A-DBE6-BD839B9595C8}"/>
              </a:ext>
            </a:extLst>
          </p:cNvPr>
          <p:cNvSpPr txBox="1"/>
          <p:nvPr/>
        </p:nvSpPr>
        <p:spPr>
          <a:xfrm>
            <a:off x="3008606" y="3319552"/>
            <a:ext cx="6127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用于计算两个“日期”间隔（年、月、日）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4E4024-018C-613B-967F-24CE12CC65C7}"/>
              </a:ext>
            </a:extLst>
          </p:cNvPr>
          <p:cNvSpPr txBox="1"/>
          <p:nvPr/>
        </p:nvSpPr>
        <p:spPr>
          <a:xfrm>
            <a:off x="3008606" y="4696093"/>
            <a:ext cx="6127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用于计算两个“日期”间隔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197CB02-477B-B1A5-D45B-F8EFE555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计算时间间隔的工具类</a:t>
            </a:r>
          </a:p>
        </p:txBody>
      </p:sp>
    </p:spTree>
    <p:extLst>
      <p:ext uri="{BB962C8B-B14F-4D97-AF65-F5344CB8AC3E}">
        <p14:creationId xmlns:p14="http://schemas.microsoft.com/office/powerpoint/2010/main" val="3026681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F6039E-F88B-3F29-0A5A-536784B6D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96" y="1235370"/>
            <a:ext cx="2451449" cy="531459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423C83-1D0D-7673-F0A9-AA1CD18CB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459" y="1084280"/>
            <a:ext cx="2521142" cy="5465681"/>
          </a:xfrm>
          <a:prstGeom prst="round2DiagRect">
            <a:avLst>
              <a:gd name="adj1" fmla="val 16667"/>
              <a:gd name="adj2" fmla="val 108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9670F5-86B1-5CEA-CDA2-119747556B6F}"/>
              </a:ext>
            </a:extLst>
          </p:cNvPr>
          <p:cNvSpPr/>
          <p:nvPr/>
        </p:nvSpPr>
        <p:spPr>
          <a:xfrm>
            <a:off x="6911528" y="2967135"/>
            <a:ext cx="1129004" cy="186613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5CBB901-C534-1BC6-E274-CC3CC944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案例：计算用户年龄</a:t>
            </a:r>
          </a:p>
        </p:txBody>
      </p:sp>
    </p:spTree>
    <p:extLst>
      <p:ext uri="{BB962C8B-B14F-4D97-AF65-F5344CB8AC3E}">
        <p14:creationId xmlns:p14="http://schemas.microsoft.com/office/powerpoint/2010/main" val="66302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1720105</TotalTime>
  <Words>2467</Words>
  <Application>Microsoft Office PowerPoint</Application>
  <PresentationFormat>宽屏</PresentationFormat>
  <Paragraphs>542</Paragraphs>
  <Slides>59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59</vt:i4>
      </vt:variant>
    </vt:vector>
  </HeadingPairs>
  <TitlesOfParts>
    <vt:vector size="80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杨任东竹石体-Bold</vt:lpstr>
      <vt:lpstr>Arial</vt:lpstr>
      <vt:lpstr>Arial Rounded MT Bold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第十六章：常用 API</vt:lpstr>
      <vt:lpstr>PowerPoint 演示文稿</vt:lpstr>
      <vt:lpstr>PowerPoint 演示文稿</vt:lpstr>
      <vt:lpstr>Math 类</vt:lpstr>
      <vt:lpstr>PowerPoint 演示文稿</vt:lpstr>
      <vt:lpstr>PowerPoint 演示文稿</vt:lpstr>
      <vt:lpstr>System 类概述</vt:lpstr>
      <vt:lpstr>计算机中的时间原点</vt:lpstr>
      <vt:lpstr>计算机中的时间原点</vt:lpstr>
      <vt:lpstr>PowerPoint 演示文稿</vt:lpstr>
      <vt:lpstr>PowerPoint 演示文稿</vt:lpstr>
      <vt:lpstr>包装类</vt:lpstr>
      <vt:lpstr>包装类</vt:lpstr>
      <vt:lpstr>Integer 类</vt:lpstr>
      <vt:lpstr>Integer 类</vt:lpstr>
      <vt:lpstr>包装类练习</vt:lpstr>
      <vt:lpstr>PowerPoint 演示文稿</vt:lpstr>
      <vt:lpstr>PowerPoint 演示文稿</vt:lpstr>
      <vt:lpstr>BigDecimal 类介绍</vt:lpstr>
      <vt:lpstr>BigDecimal 类使用</vt:lpstr>
      <vt:lpstr>BigDecimal 类使用</vt:lpstr>
      <vt:lpstr>BigDecimal 类使用</vt:lpstr>
      <vt:lpstr>PowerPoint 演示文稿</vt:lpstr>
      <vt:lpstr>PowerPoint 演示文稿</vt:lpstr>
      <vt:lpstr>PowerPoint 演示文稿</vt:lpstr>
      <vt:lpstr>Arrays 类</vt:lpstr>
      <vt:lpstr> 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Date 类</vt:lpstr>
      <vt:lpstr>PowerPoint 演示文稿</vt:lpstr>
      <vt:lpstr>PowerPoint 演示文稿</vt:lpstr>
      <vt:lpstr>PowerPoint 演示文稿</vt:lpstr>
      <vt:lpstr>SimpleDateFormat 类</vt:lpstr>
      <vt:lpstr>SimpleDateFormat 类</vt:lpstr>
      <vt:lpstr>PowerPoint 演示文稿</vt:lpstr>
      <vt:lpstr> </vt:lpstr>
      <vt:lpstr>PowerPoint 演示文稿</vt:lpstr>
      <vt:lpstr>PowerPoint 演示文稿</vt:lpstr>
      <vt:lpstr>LocalDateTime、LocalDate、LocalTime</vt:lpstr>
      <vt:lpstr>获取年月日时分秒相关的方法</vt:lpstr>
      <vt:lpstr>修改年月日时分秒相关的方法</vt:lpstr>
      <vt:lpstr>PowerPoint 演示文稿</vt:lpstr>
      <vt:lpstr>PowerPoint 演示文稿</vt:lpstr>
      <vt:lpstr>PowerPoint 演示文稿</vt:lpstr>
      <vt:lpstr>DateTimeFormatter 类</vt:lpstr>
      <vt:lpstr>PowerPoint 演示文稿</vt:lpstr>
      <vt:lpstr>PowerPoint 演示文稿</vt:lpstr>
      <vt:lpstr> </vt:lpstr>
      <vt:lpstr>计算时间间隔的工具类</vt:lpstr>
      <vt:lpstr>案例：计算用户年龄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1655</cp:revision>
  <cp:lastPrinted>2022-05-29T16:00:00Z</cp:lastPrinted>
  <dcterms:created xsi:type="dcterms:W3CDTF">2022-05-29T16:00:00Z</dcterms:created>
  <dcterms:modified xsi:type="dcterms:W3CDTF">2028-08-08T07:21:04Z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