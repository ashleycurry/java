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29"/>
  </p:notesMasterIdLst>
  <p:handoutMasterIdLst>
    <p:handoutMasterId r:id="rId30"/>
  </p:handoutMasterIdLst>
  <p:sldIdLst>
    <p:sldId id="280" r:id="rId6"/>
    <p:sldId id="2805" r:id="rId7"/>
    <p:sldId id="3376" r:id="rId8"/>
    <p:sldId id="2042" r:id="rId9"/>
    <p:sldId id="368" r:id="rId10"/>
    <p:sldId id="3340" r:id="rId11"/>
    <p:sldId id="2853" r:id="rId12"/>
    <p:sldId id="3375" r:id="rId13"/>
    <p:sldId id="3378" r:id="rId14"/>
    <p:sldId id="530" r:id="rId15"/>
    <p:sldId id="3377" r:id="rId16"/>
    <p:sldId id="3380" r:id="rId17"/>
    <p:sldId id="532" r:id="rId18"/>
    <p:sldId id="3381" r:id="rId19"/>
    <p:sldId id="926" r:id="rId20"/>
    <p:sldId id="2049" r:id="rId21"/>
    <p:sldId id="2055" r:id="rId22"/>
    <p:sldId id="3379" r:id="rId23"/>
    <p:sldId id="3363" r:id="rId24"/>
    <p:sldId id="931" r:id="rId25"/>
    <p:sldId id="945" r:id="rId26"/>
    <p:sldId id="3382" r:id="rId27"/>
    <p:sldId id="288" r:id="rId28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97" autoAdjust="0"/>
    <p:restoredTop sz="94595" autoAdjust="0"/>
  </p:normalViewPr>
  <p:slideViewPr>
    <p:cSldViewPr snapToGrid="0" showGuides="1">
      <p:cViewPr varScale="1">
        <p:scale>
          <a:sx n="75" d="100"/>
          <a:sy n="75" d="100"/>
        </p:scale>
        <p:origin x="86" y="-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2025/5/6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14A6-3C2E-46C9-90F4-D41FFA7A8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795829-3F8A-F260-B557-7A8D89320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AFF8C0-DB9A-5616-AFF6-9EC6B0542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71C233-701B-E36D-B12C-A352FA8D7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506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幻灯片图像占位符 1">
            <a:extLst>
              <a:ext uri="{FF2B5EF4-FFF2-40B4-BE49-F238E27FC236}">
                <a16:creationId xmlns:a16="http://schemas.microsoft.com/office/drawing/2014/main" id="{D96141AA-5C70-4B63-919F-5F98C626C3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F1E5ABB8-919F-4DE9-BE55-FEA408DEA0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4148" name="灯片编号占位符 3">
            <a:extLst>
              <a:ext uri="{FF2B5EF4-FFF2-40B4-BE49-F238E27FC236}">
                <a16:creationId xmlns:a16="http://schemas.microsoft.com/office/drawing/2014/main" id="{085B809D-E437-445E-A650-83C535269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FA27DF5A-C730-433F-A45D-1719B9E86591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912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9A28346C-849B-4FBD-9CAC-CDF3E17335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A1EE108F-B7B2-4B09-9659-67874EF59A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082A4C53-34CE-4B5E-8B65-E1B6CFAD8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F28F1ED4-DA1E-4E34-9C2B-C6FC996489DF}" type="slidenum">
              <a:rPr lang="zh-CN" altLang="en-US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28E3-3A58-0E61-EDC8-B15680FC2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59B9DBD9-14B1-FBDB-6A59-0A881D927D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5CF33FB3-5726-670C-A6CC-7120DF66E5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25822899-83B1-9344-0651-C3A5E66BE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207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855E0-996E-CA8A-7B4D-CA610DE22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34CF75E-C7BB-82E1-CDDA-76D23BAFEF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982FA1CB-AD3B-4DB5-BDA6-9EE7979CAA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EE879294-9006-7F9C-3281-A5220B026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105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637AE-97EA-3550-0467-C8877F036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3A4864-818C-7CD7-88F5-41612A819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61903A-6EE5-C4CB-3BDB-C6FC8844F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4D043F-70A2-481F-F721-E4935668C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607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7B758B60-E6FF-40BF-B1E1-A125B3193A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563D25DF-2E63-4CD5-8628-55CC56E46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D6820E55-10C4-4DC9-9C77-A087F0FCC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DB65DAC5-D580-41CE-80E8-59EACAC99784}" type="slidenum">
              <a:rPr lang="zh-CN" altLang="en-US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CE871-DF0B-BC86-CF92-E92348C4D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79D89C-3C5E-3E5F-4E2A-3B3439312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15AA3D-2AB5-CB3B-C0FB-B06CEAB37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673832-8920-1D02-F902-9AB535F42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600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B1703095-6390-4E21-8C3C-4401FE4A25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F0762749-26E9-4CD8-B850-24379DDCBE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F785F2C8-F287-44B2-8579-16A4E1C06A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1FD2A7F0-DCC2-43B6-94B0-CF64CF33FC03}" type="slidenum">
              <a:rPr lang="zh-CN" altLang="en-US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61649-04EB-DE98-226F-D1237F7C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1F190E5E-F174-FEDC-AFA5-70FF26A523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7017228B-DADB-8750-8550-84C6846D39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E9287636-0965-4D8D-BDB2-A43D1983A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1FD2A7F0-DCC2-43B6-94B0-CF64CF33FC03}" type="slidenum">
              <a:rPr lang="zh-CN" altLang="en-US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857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>
            <a:extLst>
              <a:ext uri="{FF2B5EF4-FFF2-40B4-BE49-F238E27FC236}">
                <a16:creationId xmlns:a16="http://schemas.microsoft.com/office/drawing/2014/main" id="{2442C0B8-8D2F-4A2F-B6AC-C583416702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备注占位符 2">
            <a:extLst>
              <a:ext uri="{FF2B5EF4-FFF2-40B4-BE49-F238E27FC236}">
                <a16:creationId xmlns:a16="http://schemas.microsoft.com/office/drawing/2014/main" id="{BEABA9E5-E40F-40ED-9C87-1E580B80A9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写两个方法举例</a:t>
            </a:r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064F50C9-5344-4976-97AA-7367DAFAE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6FAA8EF-4903-4CB8-829C-00ABC634D05D}" type="slidenum">
              <a:rPr lang="zh-CN" altLang="en-US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919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CB98E-3709-1161-B96A-82AAEDEB3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97B78C-FA69-F54D-7908-807A78C78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7CCA83-9869-8138-4E30-30CC2D3D0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35C317-01D4-DACC-890F-CB120D7D4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112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343DAFBA-C6F6-450B-AFB3-BA4BC073EB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98308299-A1D4-4067-A9F8-12910459DD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复制图片，其实做读写数据操作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422DE9BC-4559-4274-A721-BCDB05C21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7CB8D3B-63E8-4DDF-909F-C8B61FB6589C}" type="slidenum">
              <a:rPr lang="zh-CN" altLang="en-US">
                <a:solidFill>
                  <a:srgbClr val="000000"/>
                </a:solidFill>
              </a:rPr>
              <a:pPr/>
              <a:t>20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941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343DAFBA-C6F6-450B-AFB3-BA4BC073EB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98308299-A1D4-4067-A9F8-12910459DD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复制图片，其实做读写数据操作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422DE9BC-4559-4274-A721-BCDB05C21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7CB8D3B-63E8-4DDF-909F-C8B61FB6589C}" type="slidenum">
              <a:rPr lang="zh-CN" altLang="en-US">
                <a:solidFill>
                  <a:srgbClr val="000000"/>
                </a:solidFill>
              </a:rPr>
              <a:pPr/>
              <a:t>21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764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1888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4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329653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703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22555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9993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950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1624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293496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8098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569567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0940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02642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77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6" r:id="rId14"/>
    <p:sldLayoutId id="2147483699" r:id="rId15"/>
    <p:sldLayoutId id="2147483700" r:id="rId16"/>
    <p:sldLayoutId id="2147483702" r:id="rId17"/>
    <p:sldLayoutId id="2147483706" r:id="rId18"/>
    <p:sldLayoutId id="2147483707" r:id="rId19"/>
    <p:sldLayoutId id="214748370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  <p:sldLayoutId id="2147483704" r:id="rId4"/>
    <p:sldLayoutId id="2147483709" r:id="rId5"/>
    <p:sldLayoutId id="214748371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  <p:sldLayoutId id="2147483701" r:id="rId5"/>
    <p:sldLayoutId id="2147483710" r:id="rId6"/>
    <p:sldLayoutId id="214748371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第十四章：异常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5057820" cy="563562"/>
          </a:xfrm>
        </p:spPr>
        <p:txBody>
          <a:bodyPr/>
          <a:lstStyle/>
          <a:p>
            <a:pPr algn="l"/>
            <a:r>
              <a:rPr lang="en-US" altLang="zh-CN" sz="1400" b="0" i="0" dirty="0">
                <a:solidFill>
                  <a:srgbClr val="15171A"/>
                </a:solidFill>
                <a:effectLst/>
                <a:latin typeface="Consolas" panose="020B0609020204030204" pitchFamily="49" charset="0"/>
              </a:rPr>
              <a:t> </a:t>
            </a:r>
            <a:endParaRPr lang="zh-CN" altLang="en-US" sz="1800" b="0" i="0" dirty="0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9520F1A-77B2-0C7D-E557-AC00D33E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60B0315-BD43-28B8-32A5-3B981E6F8E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82521" y="2505975"/>
            <a:ext cx="4410730" cy="1956553"/>
          </a:xfrm>
        </p:spPr>
        <p:txBody>
          <a:bodyPr/>
          <a:lstStyle/>
          <a:p>
            <a:r>
              <a:rPr kumimoji="1" lang="zh-CN" altLang="en-US" dirty="0">
                <a:latin typeface="Consolas" panose="020B0609020204030204" pitchFamily="49" charset="0"/>
              </a:rPr>
              <a:t>异常的介绍和体系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异常的默认处理流程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异常处理方式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自定义异常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74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71AE-13F8-4493-2044-856F26A4E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378E2-3713-3616-390E-F4095F5107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异常的介绍和体系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59E49DAE-0E82-0F10-417D-9D5F8DD958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4965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7F617A1-B04C-4B79-A028-0AD84C8C8CC4}"/>
              </a:ext>
            </a:extLst>
          </p:cNvPr>
          <p:cNvSpPr txBox="1"/>
          <p:nvPr/>
        </p:nvSpPr>
        <p:spPr>
          <a:xfrm>
            <a:off x="933944" y="1805464"/>
            <a:ext cx="9984316" cy="243143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指的是程序在编译或执行过程中，出现的非正常的情况 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错误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zh-CN" altLang="en-US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en-US" altLang="zh-CN" sz="16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ArrayIndexOutOfBoundsException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en-US" altLang="zh-CN" sz="16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ClassCastException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en-US" altLang="zh-CN" sz="16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NullPointerException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...</a:t>
            </a:r>
          </a:p>
          <a:p>
            <a:endParaRPr lang="zh-CN" altLang="en-US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 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语法错误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不是异常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A4CDE3D-AA3F-7B1E-5133-7BAA8661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异常介绍</a:t>
            </a:r>
            <a:endParaRPr lang="zh-CN" altLang="en-US" dirty="0">
              <a:solidFill>
                <a:srgbClr val="AD2B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15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0">
            <a:extLst>
              <a:ext uri="{FF2B5EF4-FFF2-40B4-BE49-F238E27FC236}">
                <a16:creationId xmlns:a16="http://schemas.microsoft.com/office/drawing/2014/main" id="{5040495B-C09B-48A3-8AA2-FC1FDC5B3C48}"/>
              </a:ext>
            </a:extLst>
          </p:cNvPr>
          <p:cNvSpPr txBox="1"/>
          <p:nvPr/>
        </p:nvSpPr>
        <p:spPr>
          <a:xfrm>
            <a:off x="957793" y="3872767"/>
            <a:ext cx="8961269" cy="132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Error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严重级别问题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常见的 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栈内存溢出 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StackOverflowError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堆内存溢出 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OutOfMemoryError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086F7F6-FA76-45E6-BAB5-19553FEDFA7B}"/>
              </a:ext>
            </a:extLst>
          </p:cNvPr>
          <p:cNvSpPr/>
          <p:nvPr/>
        </p:nvSpPr>
        <p:spPr>
          <a:xfrm>
            <a:off x="3742269" y="1480871"/>
            <a:ext cx="1504949" cy="410633"/>
          </a:xfrm>
          <a:prstGeom prst="roundRect">
            <a:avLst/>
          </a:prstGeom>
          <a:solidFill>
            <a:srgbClr val="AD2B2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Throwable</a:t>
            </a:r>
            <a:endParaRPr lang="zh-CN" altLang="en-US" sz="1600" b="1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73C1CCC-76B9-455D-A906-2AFDE3958948}"/>
              </a:ext>
            </a:extLst>
          </p:cNvPr>
          <p:cNvSpPr/>
          <p:nvPr/>
        </p:nvSpPr>
        <p:spPr>
          <a:xfrm>
            <a:off x="1153585" y="2463004"/>
            <a:ext cx="1507067" cy="410633"/>
          </a:xfrm>
          <a:prstGeom prst="roundRect">
            <a:avLst/>
          </a:prstGeom>
          <a:solidFill>
            <a:srgbClr val="AD2B2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Error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197823F-D83F-42F9-AAFF-AC7DE324E499}"/>
              </a:ext>
            </a:extLst>
          </p:cNvPr>
          <p:cNvSpPr/>
          <p:nvPr/>
        </p:nvSpPr>
        <p:spPr>
          <a:xfrm>
            <a:off x="6045203" y="2463004"/>
            <a:ext cx="1504949" cy="410633"/>
          </a:xfrm>
          <a:prstGeom prst="roundRect">
            <a:avLst/>
          </a:prstGeom>
          <a:solidFill>
            <a:srgbClr val="AD2B2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Exception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3C4C1EA-DDC2-4239-AB39-CE53601AC2C3}"/>
              </a:ext>
            </a:extLst>
          </p:cNvPr>
          <p:cNvSpPr/>
          <p:nvPr/>
        </p:nvSpPr>
        <p:spPr>
          <a:xfrm>
            <a:off x="4055536" y="3362587"/>
            <a:ext cx="2152224" cy="499533"/>
          </a:xfrm>
          <a:prstGeom prst="roundRect">
            <a:avLst/>
          </a:prstGeom>
          <a:solidFill>
            <a:srgbClr val="AD2B2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RuntimeException</a:t>
            </a:r>
            <a:r>
              <a:rPr lang="zh-CN" altLang="en-US" sz="16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及其子类</a:t>
            </a:r>
            <a:endParaRPr lang="en-US" altLang="zh-CN" sz="1600" b="1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49B56C4A-F8D2-4682-8B31-32D0FA318056}"/>
              </a:ext>
            </a:extLst>
          </p:cNvPr>
          <p:cNvSpPr/>
          <p:nvPr/>
        </p:nvSpPr>
        <p:spPr>
          <a:xfrm>
            <a:off x="7531103" y="3345654"/>
            <a:ext cx="2598417" cy="516467"/>
          </a:xfrm>
          <a:prstGeom prst="roundRect">
            <a:avLst/>
          </a:prstGeom>
          <a:solidFill>
            <a:srgbClr val="AD2B2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除</a:t>
            </a:r>
            <a:r>
              <a:rPr lang="en-US" altLang="zh-CN" sz="16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RuntimeException</a:t>
            </a:r>
            <a:r>
              <a:rPr lang="zh-CN" altLang="en-US" sz="16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之外所有的异常</a:t>
            </a:r>
            <a:endParaRPr lang="en-US" altLang="zh-CN" sz="1600" b="1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4" name="肘形连接符 13">
            <a:extLst>
              <a:ext uri="{FF2B5EF4-FFF2-40B4-BE49-F238E27FC236}">
                <a16:creationId xmlns:a16="http://schemas.microsoft.com/office/drawing/2014/main" id="{73A0E902-A8DD-49DB-BFED-075FB3FB0F84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rot="16200000" flipH="1">
            <a:off x="5360460" y="1024728"/>
            <a:ext cx="571500" cy="2305051"/>
          </a:xfrm>
          <a:prstGeom prst="bentConnector3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>
            <a:extLst>
              <a:ext uri="{FF2B5EF4-FFF2-40B4-BE49-F238E27FC236}">
                <a16:creationId xmlns:a16="http://schemas.microsoft.com/office/drawing/2014/main" id="{C9FC1D02-558E-49ED-8488-BBEBD277E695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914652" y="883970"/>
            <a:ext cx="571500" cy="2586567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>
            <a:extLst>
              <a:ext uri="{FF2B5EF4-FFF2-40B4-BE49-F238E27FC236}">
                <a16:creationId xmlns:a16="http://schemas.microsoft.com/office/drawing/2014/main" id="{58BE4C9B-2794-49DB-892C-B9C4105490B4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77987" y="2102853"/>
            <a:ext cx="472017" cy="20326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89B2CF81-9E0F-4DAA-A508-B748FF608F77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5720188" y="2285097"/>
            <a:ext cx="488950" cy="1666030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DA57265A-48DB-4ACD-8962-A372044D729E}"/>
              </a:ext>
            </a:extLst>
          </p:cNvPr>
          <p:cNvSpPr/>
          <p:nvPr/>
        </p:nvSpPr>
        <p:spPr>
          <a:xfrm>
            <a:off x="957794" y="5253068"/>
            <a:ext cx="11234206" cy="1326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Exception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RuntimeException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及其子类：运行时异常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除</a:t>
            </a:r>
            <a:r>
              <a:rPr lang="en-US" altLang="zh-CN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RuntimeException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之外所有的异常：编译时异常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872D23D-F75C-29B0-77D8-B66615D5A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异常体系</a:t>
            </a:r>
            <a:endParaRPr lang="zh-CN" altLang="en-US" dirty="0">
              <a:solidFill>
                <a:srgbClr val="AD2B2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53358-4A22-C8DB-D600-1CFD0C032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434A0-9100-C332-2738-5C98D58C1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异常的分类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83D192-C994-983E-91DA-70E6D3BDF9BF}"/>
              </a:ext>
            </a:extLst>
          </p:cNvPr>
          <p:cNvSpPr/>
          <p:nvPr/>
        </p:nvSpPr>
        <p:spPr>
          <a:xfrm>
            <a:off x="835825" y="5939621"/>
            <a:ext cx="18473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endParaRPr lang="en-US" altLang="zh-CN" sz="20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  <a:p>
            <a:endParaRPr lang="zh-CN" altLang="en-US" sz="20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977DC1-9413-E481-97AA-D55911F5997D}"/>
              </a:ext>
            </a:extLst>
          </p:cNvPr>
          <p:cNvSpPr/>
          <p:nvPr/>
        </p:nvSpPr>
        <p:spPr>
          <a:xfrm>
            <a:off x="576626" y="906448"/>
            <a:ext cx="11234206" cy="1326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Exception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RuntimeException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及其子类：运行时异常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除</a:t>
            </a:r>
            <a:r>
              <a:rPr lang="en-US" altLang="zh-CN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RuntimeException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之外所有的异常：编译时异常</a:t>
            </a:r>
            <a:endParaRPr lang="en-US" altLang="zh-CN" sz="1400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2B4D5CE-3375-B41D-6FC3-4B38443E3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282" y="3053218"/>
            <a:ext cx="4851649" cy="5715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6DDEC952-D6D7-4454-6464-334AF4A51FA2}"/>
              </a:ext>
            </a:extLst>
          </p:cNvPr>
          <p:cNvSpPr/>
          <p:nvPr/>
        </p:nvSpPr>
        <p:spPr>
          <a:xfrm>
            <a:off x="6467210" y="5180287"/>
            <a:ext cx="4482955" cy="1245637"/>
          </a:xfrm>
          <a:prstGeom prst="rect">
            <a:avLst/>
          </a:prstGeom>
          <a:noFill/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B190AF2-D319-B7B9-E713-761299ABA6FA}"/>
              </a:ext>
            </a:extLst>
          </p:cNvPr>
          <p:cNvSpPr/>
          <p:nvPr/>
        </p:nvSpPr>
        <p:spPr>
          <a:xfrm>
            <a:off x="6367282" y="5252757"/>
            <a:ext cx="766662" cy="24440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说明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204CE3-8B92-6A1A-10DA-E8E574A7F4B0}"/>
              </a:ext>
            </a:extLst>
          </p:cNvPr>
          <p:cNvSpPr txBox="1"/>
          <p:nvPr/>
        </p:nvSpPr>
        <p:spPr>
          <a:xfrm>
            <a:off x="6635839" y="5610304"/>
            <a:ext cx="5174993" cy="7040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编译阶段就出现的错误</a:t>
            </a:r>
            <a:endParaRPr lang="en-US" altLang="zh-CN" sz="14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主要起到提醒作用</a:t>
            </a:r>
            <a:endParaRPr lang="en-US" altLang="zh-CN" sz="14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0BEE92BE-77D9-30EA-E43B-2261DB8F7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4464" y="4186659"/>
            <a:ext cx="1568515" cy="223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02958293-B878-2FF0-A30C-247F793DB799}"/>
              </a:ext>
            </a:extLst>
          </p:cNvPr>
          <p:cNvSpPr txBox="1"/>
          <p:nvPr/>
        </p:nvSpPr>
        <p:spPr>
          <a:xfrm>
            <a:off x="576626" y="2928250"/>
            <a:ext cx="6238240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zh-CN" sz="140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数组索引越界异常: ArrayIndexOutOfBoundsException</a:t>
            </a:r>
            <a:endParaRPr lang="zh-CN" altLang="en-US" sz="1400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BBD2FF-5C1A-24AE-527B-10A51A27611F}"/>
              </a:ext>
            </a:extLst>
          </p:cNvPr>
          <p:cNvSpPr txBox="1"/>
          <p:nvPr/>
        </p:nvSpPr>
        <p:spPr>
          <a:xfrm>
            <a:off x="576626" y="3398585"/>
            <a:ext cx="3947583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zh-CN" sz="140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空指针异常 : NullPointerException</a:t>
            </a:r>
            <a:endParaRPr lang="zh-CN" altLang="en-US" sz="1400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9808836-1629-77BA-7FE9-AC7CB994522C}"/>
              </a:ext>
            </a:extLst>
          </p:cNvPr>
          <p:cNvSpPr txBox="1"/>
          <p:nvPr/>
        </p:nvSpPr>
        <p:spPr>
          <a:xfrm>
            <a:off x="576626" y="3868920"/>
            <a:ext cx="6238240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zh-CN" sz="140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类型转换异常：ClassCastException</a:t>
            </a:r>
            <a:endParaRPr lang="zh-CN" altLang="en-US" sz="1400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三角形 9">
            <a:extLst>
              <a:ext uri="{FF2B5EF4-FFF2-40B4-BE49-F238E27FC236}">
                <a16:creationId xmlns:a16="http://schemas.microsoft.com/office/drawing/2014/main" id="{01338C91-3D7C-D476-AA4C-B91A32D6595F}"/>
              </a:ext>
            </a:extLst>
          </p:cNvPr>
          <p:cNvSpPr/>
          <p:nvPr/>
        </p:nvSpPr>
        <p:spPr>
          <a:xfrm rot="2651319">
            <a:off x="581317" y="5457631"/>
            <a:ext cx="159249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8F59BBC-A0ED-472A-474B-68B576C811A3}"/>
              </a:ext>
            </a:extLst>
          </p:cNvPr>
          <p:cNvSpPr/>
          <p:nvPr/>
        </p:nvSpPr>
        <p:spPr>
          <a:xfrm>
            <a:off x="676556" y="5180287"/>
            <a:ext cx="4951681" cy="1245637"/>
          </a:xfrm>
          <a:prstGeom prst="rect">
            <a:avLst/>
          </a:prstGeom>
          <a:noFill/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1608253-C166-BC91-83F5-62A39D97F07A}"/>
              </a:ext>
            </a:extLst>
          </p:cNvPr>
          <p:cNvSpPr/>
          <p:nvPr/>
        </p:nvSpPr>
        <p:spPr>
          <a:xfrm>
            <a:off x="576628" y="5252757"/>
            <a:ext cx="766662" cy="24440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说明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A551A37-505E-B1B2-AEEB-E0A943F49C76}"/>
              </a:ext>
            </a:extLst>
          </p:cNvPr>
          <p:cNvSpPr txBox="1"/>
          <p:nvPr/>
        </p:nvSpPr>
        <p:spPr>
          <a:xfrm>
            <a:off x="845185" y="5580187"/>
            <a:ext cx="5174993" cy="7040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编译阶段没有错误，运行时 </a:t>
            </a: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</a:t>
            </a:r>
            <a:r>
              <a:rPr lang="zh-CN" altLang="en-US" sz="14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可能</a:t>
            </a: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 </a:t>
            </a:r>
            <a:r>
              <a:rPr lang="zh-CN" altLang="en-US" sz="14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会出现的错误</a:t>
            </a:r>
            <a:endParaRPr lang="en-US" altLang="zh-CN" sz="14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这种错误通常都是程序员代码不严谨所造成的</a:t>
            </a:r>
            <a:endParaRPr lang="en-US" altLang="zh-CN" sz="14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2691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8" grpId="0"/>
      <p:bldP spid="19" grpId="0"/>
      <p:bldP spid="20" grpId="0"/>
      <p:bldP spid="21" grpId="0"/>
      <p:bldP spid="24" grpId="0" animBg="1"/>
      <p:bldP spid="25" grpId="0" animBg="1"/>
      <p:bldP spid="26" grpId="0" animBg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652F4-3FE0-96CC-F55C-C60E86A8A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79E347-EC93-9B5D-E547-448F034D84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异常是什么？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200000"/>
              </a:lnSpc>
              <a:buNone/>
              <a:defRPr/>
            </a:pP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异常是代码在编译或者执行的过程中可能出现的错误。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异常的体系结构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</a:p>
          <a:p>
            <a:pPr marL="457200" lvl="1" indent="0">
              <a:lnSpc>
                <a:spcPct val="200000"/>
              </a:lnSpc>
              <a:buNone/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Throwable </a:t>
            </a:r>
          </a:p>
          <a:p>
            <a:pPr marL="457200" lvl="1" indent="0">
              <a:lnSpc>
                <a:spcPct val="200000"/>
              </a:lnSpc>
              <a:buNone/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Error 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严重级别问题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通常跟系统有关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200000"/>
              </a:lnSpc>
              <a:buNone/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Exception 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异常类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程序常见的错误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Exception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的分类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</a:p>
          <a:p>
            <a:pPr marL="457200" lvl="1" indent="0">
              <a:lnSpc>
                <a:spcPct val="200000"/>
              </a:lnSpc>
              <a:buNone/>
              <a:defRPr/>
            </a:pP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编译时异常、运行时异常。</a:t>
            </a:r>
            <a:endParaRPr lang="en-US" altLang="zh-CN" sz="1600" b="1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200000"/>
              </a:lnSpc>
              <a:buNone/>
              <a:defRPr/>
            </a:pP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编译时异常：没有继承 </a:t>
            </a:r>
            <a:r>
              <a:rPr lang="en-US" altLang="zh-CN" sz="1600" b="1" dirty="0" err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RuntimeExcpetion</a:t>
            </a: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的异常，编译阶段就会出错。</a:t>
            </a:r>
            <a:endParaRPr lang="en-US" altLang="zh-CN" sz="1600" b="1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200000"/>
              </a:lnSpc>
              <a:buNone/>
              <a:defRPr/>
            </a:pP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运行时异常：继承自 </a:t>
            </a:r>
            <a:r>
              <a:rPr lang="en-US" altLang="zh-CN" sz="1600" b="1" dirty="0" err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RuntimeException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 异常或其子类</a:t>
            </a:r>
            <a:endParaRPr lang="en-US" altLang="zh-CN" sz="1600" b="1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200000"/>
              </a:lnSpc>
              <a:buNone/>
              <a:defRPr/>
            </a:pP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                                      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编译阶段不报错，运行可能报错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044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954BCF0-4A55-4FA0-1FC8-0B9E91B6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A70C471-2C91-2C66-41DA-D02E418AF7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82521" y="2505975"/>
            <a:ext cx="4410730" cy="1956553"/>
          </a:xfrm>
        </p:spPr>
        <p:txBody>
          <a:bodyPr/>
          <a:lstStyle/>
          <a:p>
            <a:r>
              <a:rPr kumimoji="1" lang="zh-CN" altLang="en-US" dirty="0">
                <a:latin typeface="Consolas" panose="020B0609020204030204" pitchFamily="49" charset="0"/>
              </a:rPr>
              <a:t>异常的介绍和体系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异常的默认处理流程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异常处理方式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自定义异常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28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920A-7D71-43C0-783D-4966350F7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F6AFD6-497F-7240-FBB7-7CC8BD366D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6053120" cy="901700"/>
          </a:xfrm>
        </p:spPr>
        <p:txBody>
          <a:bodyPr/>
          <a:lstStyle/>
          <a:p>
            <a:r>
              <a:rPr kumimoji="1" lang="zh-CN" altLang="en-US" b="1" dirty="0"/>
              <a:t>异常的默认处理流程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9E9E3313-5A62-A9DC-0A23-1533A98AE2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3988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090420-B35B-4652-BAA0-75C8E2829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626" y="1186013"/>
            <a:ext cx="10200640" cy="19967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虚拟机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会在出现异常的代码那里自动的创建一个异常对象：ArithmeticException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</a:pP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异常会从方法中出现的点这里抛出给调用者，调用者最终抛出给JVM虚拟机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</a:pP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虚拟机接收到异常对象后，先在控制台直接输出异常信息数据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终止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程序的运行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FF3530C-9FC1-CF40-F9D3-EDE8E98AB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异常的默认处理流程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5F94F01-2819-320D-DD14-A9878CA95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57E0068-6133-6F40-6395-723B51405C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82521" y="2505975"/>
            <a:ext cx="4410730" cy="1956553"/>
          </a:xfrm>
        </p:spPr>
        <p:txBody>
          <a:bodyPr/>
          <a:lstStyle/>
          <a:p>
            <a:r>
              <a:rPr kumimoji="1" lang="zh-CN" altLang="en-US" dirty="0">
                <a:latin typeface="Consolas" panose="020B0609020204030204" pitchFamily="49" charset="0"/>
              </a:rPr>
              <a:t>异常的介绍和体系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异常的默认处理流程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异常处理方式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自定义异常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2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039BA-12E0-74F0-5BA4-23C519CA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2203FF-86CB-7D99-5856-A57BA384F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6053120" cy="901700"/>
          </a:xfrm>
        </p:spPr>
        <p:txBody>
          <a:bodyPr/>
          <a:lstStyle/>
          <a:p>
            <a:r>
              <a:rPr kumimoji="1" lang="zh-CN" altLang="en-US" b="1" dirty="0"/>
              <a:t>异常处理方式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B83D66F9-12CC-DE58-2EE5-68804EF1F4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8914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5" name="TextBox 10">
            <a:extLst>
              <a:ext uri="{FF2B5EF4-FFF2-40B4-BE49-F238E27FC236}">
                <a16:creationId xmlns:a16="http://schemas.microsoft.com/office/drawing/2014/main" id="{3D44231D-02F5-4C2A-89B2-848C0CB65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020" y="3028142"/>
            <a:ext cx="4320897" cy="1899431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try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en-US" altLang="zh-CN" sz="1600" b="0" i="0" u="none" strike="noStrike" cap="none" normalizeH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可能会出现异常的代码</a:t>
            </a:r>
            <a:endParaRPr lang="en-US" altLang="zh-CN" sz="1600" i="1" dirty="0">
              <a:solidFill>
                <a:srgbClr val="8C8C8C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catch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(异常类型1 变量)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en-US" altLang="zh-CN" sz="1600" b="0" i="0" u="none" strike="noStrike" cap="none" normalizeH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en-US" sz="16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处理异常的方案</a:t>
            </a:r>
            <a:b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774EC8-CDCB-4974-9157-E30B85255731}"/>
              </a:ext>
            </a:extLst>
          </p:cNvPr>
          <p:cNvSpPr txBox="1"/>
          <p:nvPr/>
        </p:nvSpPr>
        <p:spPr>
          <a:xfrm>
            <a:off x="838201" y="2484116"/>
            <a:ext cx="9105900" cy="468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</a:t>
            </a:r>
            <a:endParaRPr lang="en-US" altLang="zh-CN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0BA8C8B-26EA-46C2-B623-F53039A5E515}"/>
              </a:ext>
            </a:extLst>
          </p:cNvPr>
          <p:cNvSpPr txBox="1"/>
          <p:nvPr/>
        </p:nvSpPr>
        <p:spPr>
          <a:xfrm>
            <a:off x="576626" y="1122444"/>
            <a:ext cx="9606279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能够将抛出的异常对象捕获，然后执行异常的处理方案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好处：程序可以继续往下执行</a:t>
            </a: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63D95982-09DB-0E4B-3773-CE96DC9CB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718" y="3028142"/>
            <a:ext cx="4320897" cy="2638094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try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en-US" altLang="zh-CN" sz="1600" b="0" i="0" u="none" strike="noStrike" cap="none" normalizeH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en-US" sz="1600" b="0" i="0" u="none" strike="noStrike" cap="none" normalizeH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可能会出现异常的代码</a:t>
            </a:r>
            <a:endParaRPr lang="en-US" altLang="zh-CN" sz="1600" i="1" dirty="0">
              <a:solidFill>
                <a:srgbClr val="8C8C8C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catch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(异常类型1 变量)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en-US" altLang="zh-CN" sz="1600" b="0" i="0" u="none" strike="noStrike" cap="none" normalizeH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en-US" sz="16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处理异常的方案</a:t>
            </a:r>
            <a:b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catch</a:t>
            </a: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(异常类型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变量)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处理异常的方案</a:t>
            </a:r>
            <a:b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92100C-AED1-7121-3CEE-E7F05C72E21D}"/>
              </a:ext>
            </a:extLst>
          </p:cNvPr>
          <p:cNvSpPr txBox="1"/>
          <p:nvPr/>
        </p:nvSpPr>
        <p:spPr>
          <a:xfrm>
            <a:off x="838201" y="5864479"/>
            <a:ext cx="9084538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注意</a:t>
            </a:r>
            <a:r>
              <a:rPr lang="en-US" altLang="zh-CN" sz="3200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: </a:t>
            </a:r>
            <a:r>
              <a:rPr lang="zh-CN" altLang="en-US" sz="3200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如果使用多个</a:t>
            </a:r>
            <a:r>
              <a:rPr lang="en-US" altLang="zh-CN" sz="3200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catch, </a:t>
            </a:r>
            <a:r>
              <a:rPr lang="zh-CN" altLang="en-US" sz="3200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最大的异常需要放在最后</a:t>
            </a:r>
            <a:endParaRPr kumimoji="0" lang="zh-CN" altLang="en-US" sz="32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85311DB-26B3-AB4A-A806-DF187D629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异常处理方式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try...catch...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5" grpId="0" animBg="1"/>
      <p:bldP spid="11" grpId="0"/>
      <p:bldP spid="2" grpId="0" animBg="1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76532-C812-B0D8-65BE-7004F95E9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6FBCB0D-1222-7C8F-9659-D6FFC5AF8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Throwable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的常见方法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B60A2FB-F20F-B8CC-BE0A-E341B762B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837504"/>
              </p:ext>
            </p:extLst>
          </p:nvPr>
        </p:nvGraphicFramePr>
        <p:xfrm>
          <a:off x="1881136" y="2784014"/>
          <a:ext cx="8128000" cy="138950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2872704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51763360"/>
                    </a:ext>
                  </a:extLst>
                </a:gridCol>
              </a:tblGrid>
              <a:tr h="3369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方法名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006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8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String </a:t>
                      </a:r>
                      <a:r>
                        <a:rPr lang="en-US" altLang="zh-CN" sz="1800" dirty="0" err="1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getMessage</a:t>
                      </a:r>
                      <a:r>
                        <a:rPr lang="en-US" altLang="zh-CN" sz="18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()</a:t>
                      </a:r>
                      <a:endParaRPr lang="zh-CN" altLang="en-US" sz="1800" dirty="0"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获取异常的错误原因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9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8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void </a:t>
                      </a:r>
                      <a:r>
                        <a:rPr lang="en-US" altLang="zh-CN" sz="1800" dirty="0" err="1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printStackTrace</a:t>
                      </a:r>
                      <a:r>
                        <a:rPr lang="en-US" altLang="zh-CN" sz="18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()</a:t>
                      </a:r>
                      <a:endParaRPr lang="zh-CN" altLang="en-US" sz="1800" dirty="0"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展示完整的异常错误信息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630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026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C2271C49-31D7-4E08-B00B-1AF7E570A7D9}"/>
              </a:ext>
            </a:extLst>
          </p:cNvPr>
          <p:cNvSpPr txBox="1"/>
          <p:nvPr/>
        </p:nvSpPr>
        <p:spPr>
          <a:xfrm>
            <a:off x="597480" y="1138460"/>
            <a:ext cx="9606279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throws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：用在方法上，作用是声明，声明这个方法中的异常是抛出处理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F7B392-A616-4D5C-977B-57CEFC5C6874}"/>
              </a:ext>
            </a:extLst>
          </p:cNvPr>
          <p:cNvSpPr txBox="1"/>
          <p:nvPr/>
        </p:nvSpPr>
        <p:spPr>
          <a:xfrm>
            <a:off x="618334" y="19680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800" b="1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26880B8-B935-4190-94FE-C7A8D1E88E56}"/>
              </a:ext>
            </a:extLst>
          </p:cNvPr>
          <p:cNvSpPr txBox="1"/>
          <p:nvPr/>
        </p:nvSpPr>
        <p:spPr>
          <a:xfrm>
            <a:off x="714128" y="2550170"/>
            <a:ext cx="8166462" cy="878830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void method()</a:t>
            </a:r>
            <a:r>
              <a:rPr kumimoji="0" lang="zh-CN" altLang="zh-CN" sz="18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800" b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throws</a:t>
            </a:r>
            <a:r>
              <a:rPr kumimoji="0" lang="zh-CN" altLang="zh-CN" sz="1800" b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8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异常1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kumimoji="0" lang="zh-CN" altLang="zh-CN" sz="18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，异常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kumimoji="0" lang="zh-CN" altLang="zh-CN" sz="18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 </a:t>
            </a:r>
            <a:r>
              <a:rPr kumimoji="0" lang="zh-CN" altLang="zh-CN" sz="18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kumimoji="0" lang="zh-CN" altLang="zh-CN" sz="18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8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en-US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1C6CB7C-0CE7-6E43-6DF5-0B415D609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异常处理方式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throws 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抛出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C5E5EA-85DF-4720-A59F-17DDF9576733}"/>
              </a:ext>
            </a:extLst>
          </p:cNvPr>
          <p:cNvSpPr txBox="1"/>
          <p:nvPr/>
        </p:nvSpPr>
        <p:spPr>
          <a:xfrm>
            <a:off x="618334" y="4001159"/>
            <a:ext cx="9855925" cy="519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子类重写父类方法时，不能抛出父类没有的异常</a:t>
            </a:r>
            <a:r>
              <a:rPr lang="en-US" altLang="zh-CN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或者比父类更大的异常</a:t>
            </a:r>
          </a:p>
        </p:txBody>
      </p:sp>
    </p:spTree>
    <p:extLst>
      <p:ext uri="{BB962C8B-B14F-4D97-AF65-F5344CB8AC3E}">
        <p14:creationId xmlns:p14="http://schemas.microsoft.com/office/powerpoint/2010/main" val="172260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D585615-2E17-96FB-E6BB-0271C350A2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异常的两种处理方式是？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          try…catch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捕获异常 ：出现问题，程序可以继续执行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          throws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抛出异常 ：出现问题，程序会在错误点停止，不会继续执行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两种处理方式该怎么选？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           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思路：看这个问题是否需要暴露出来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                       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需要：抛出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                       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不需要：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try…catch</a:t>
            </a:r>
          </a:p>
        </p:txBody>
      </p:sp>
    </p:spTree>
    <p:extLst>
      <p:ext uri="{BB962C8B-B14F-4D97-AF65-F5344CB8AC3E}">
        <p14:creationId xmlns:p14="http://schemas.microsoft.com/office/powerpoint/2010/main" val="1348034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AF79EF3-EF53-3423-4A4C-13DA7E738E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2175" y="1825154"/>
            <a:ext cx="7796085" cy="396239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throw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throws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的区别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throw 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用在方法中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后面跟的是异常对象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其作用是抛出异常对象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throws  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用在方法名后面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起到声明作用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                               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声明此方法中存在异常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如果出现问题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做抛出处理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细节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 </a:t>
            </a:r>
          </a:p>
          <a:p>
            <a:pPr marL="914400" lvl="2" indent="0">
              <a:lnSpc>
                <a:spcPct val="200000"/>
              </a:lnSpc>
              <a:buNone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抛出的异常对象如果是编译时异常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必须使用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throws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声明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200000"/>
              </a:lnSpc>
              <a:buNone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如果是运行时异常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则不需要写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throws  </a:t>
            </a:r>
          </a:p>
          <a:p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BA6AC10-CA29-6801-DA29-1B91827F7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3B8C43A-8356-7E33-CE4E-285CCC8438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82521" y="2505975"/>
            <a:ext cx="4410730" cy="1956553"/>
          </a:xfrm>
        </p:spPr>
        <p:txBody>
          <a:bodyPr/>
          <a:lstStyle/>
          <a:p>
            <a:r>
              <a:rPr kumimoji="1" lang="zh-CN" altLang="en-US" dirty="0">
                <a:latin typeface="Consolas" panose="020B0609020204030204" pitchFamily="49" charset="0"/>
              </a:rPr>
              <a:t>异常的介绍和体系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异常的默认处理流程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异常处理方式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自定义异常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98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3D502-5479-DC1A-26E2-E22B80A23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8FAA6D-5E74-1D60-6799-026EB0309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6053120" cy="901700"/>
          </a:xfrm>
        </p:spPr>
        <p:txBody>
          <a:bodyPr/>
          <a:lstStyle/>
          <a:p>
            <a:r>
              <a:rPr kumimoji="1" lang="zh-CN" altLang="en-US" b="1" dirty="0"/>
              <a:t>自定义异常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50F43639-225F-ACE2-F093-515629ABCF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4697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1596386-1539-4162-9B6E-12C5F4E3677B}"/>
              </a:ext>
            </a:extLst>
          </p:cNvPr>
          <p:cNvSpPr txBox="1"/>
          <p:nvPr/>
        </p:nvSpPr>
        <p:spPr>
          <a:xfrm>
            <a:off x="576626" y="1054101"/>
            <a:ext cx="8199120" cy="1011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无法为这个世界上全部的问题提供异常类。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如果企业想通过异常的方式来管理自己的某个业务问题，就需要自定义异常类了。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BFFDBE7-894A-1677-E7E4-E10926E2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b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自定义异常的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3125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52570651-5DED-46A5-9FDA-5211CF2453C1}"/>
              </a:ext>
            </a:extLst>
          </p:cNvPr>
          <p:cNvSpPr txBox="1"/>
          <p:nvPr/>
        </p:nvSpPr>
        <p:spPr>
          <a:xfrm>
            <a:off x="576626" y="1114711"/>
            <a:ext cx="6477484" cy="311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kumimoji="0" lang="en-US" altLang="zh-CN" sz="1600" b="1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kumimoji="0" lang="zh-CN" altLang="en-US" sz="1600" b="1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、自定义编译时异常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endParaRPr kumimoji="0" lang="en-US" altLang="zh-CN" sz="1600" b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kumimoji="0" lang="zh-CN" altLang="zh-CN" sz="1400" b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定义一个异常类继承Exception.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kumimoji="0" lang="en-US" altLang="zh-CN" sz="1400" b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400" b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重写构造器</a:t>
            </a:r>
            <a:endParaRPr kumimoji="0" lang="en-US" altLang="zh-CN" sz="1400" b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、自定义运行时异常</a:t>
            </a:r>
            <a:endParaRPr lang="en-US" altLang="zh-CN" sz="1400" b="1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kumimoji="0" lang="zh-CN" altLang="zh-CN" sz="1400" b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定义一个异常类继承RuntimeException.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kumimoji="0" lang="zh-CN" altLang="zh-CN" sz="1400" b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重写构造器。</a:t>
            </a:r>
            <a:endParaRPr kumimoji="0" lang="en-US" altLang="zh-CN" sz="1400" b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D19060C-BAC5-8610-0D38-119AAB16A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b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自定义异常的分类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050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EE1C1-2252-6F18-03FA-8E80E2C93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C84E5A5-713D-8766-6C21-5D210C50B3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2175" y="1825154"/>
            <a:ext cx="7796085" cy="396239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通过自定义异常可以精准表达特定错误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自定义编译时异常，继承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Exception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，重写构造器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自定义运行时异常，继承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RuntimeException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，重写构造器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16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11925</TotalTime>
  <Words>920</Words>
  <Application>Microsoft Office PowerPoint</Application>
  <PresentationFormat>宽屏</PresentationFormat>
  <Paragraphs>142</Paragraphs>
  <Slides>23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23</vt:i4>
      </vt:variant>
    </vt:vector>
  </HeadingPairs>
  <TitlesOfParts>
    <vt:vector size="44" baseType="lpstr">
      <vt:lpstr>Alibaba PuHuiTi B</vt:lpstr>
      <vt:lpstr>Alibaba PuHuiTi M</vt:lpstr>
      <vt:lpstr>Alibaba PuHuiTi Medium</vt:lpstr>
      <vt:lpstr>Alibaba PuHuiTi R</vt:lpstr>
      <vt:lpstr>阿里巴巴普惠体</vt:lpstr>
      <vt:lpstr>阿里巴巴普惠体 Heavy</vt:lpstr>
      <vt:lpstr>阿里巴巴普惠体 Medium</vt:lpstr>
      <vt:lpstr>等线</vt:lpstr>
      <vt:lpstr>楷体</vt:lpstr>
      <vt:lpstr>微软雅黑</vt:lpstr>
      <vt:lpstr>杨任东竹石体-Bold</vt:lpstr>
      <vt:lpstr>Arial</vt:lpstr>
      <vt:lpstr>Calisto MT</vt:lpstr>
      <vt:lpstr>Consolas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第十四章：异常</vt:lpstr>
      <vt:lpstr>PowerPoint 演示文稿</vt:lpstr>
      <vt:lpstr>PowerPoint 演示文稿</vt:lpstr>
      <vt:lpstr>异常介绍</vt:lpstr>
      <vt:lpstr>异常体系</vt:lpstr>
      <vt:lpstr>异常的分类</vt:lpstr>
      <vt:lpstr>PowerPoint 演示文稿</vt:lpstr>
      <vt:lpstr>PowerPoint 演示文稿</vt:lpstr>
      <vt:lpstr>PowerPoint 演示文稿</vt:lpstr>
      <vt:lpstr>异常的默认处理流程</vt:lpstr>
      <vt:lpstr>PowerPoint 演示文稿</vt:lpstr>
      <vt:lpstr>PowerPoint 演示文稿</vt:lpstr>
      <vt:lpstr>异常处理方式 try...catch...</vt:lpstr>
      <vt:lpstr>Throwable的常见方法</vt:lpstr>
      <vt:lpstr>异常处理方式 throws 抛出</vt:lpstr>
      <vt:lpstr>PowerPoint 演示文稿</vt:lpstr>
      <vt:lpstr>PowerPoint 演示文稿</vt:lpstr>
      <vt:lpstr>PowerPoint 演示文稿</vt:lpstr>
      <vt:lpstr>PowerPoint 演示文稿</vt:lpstr>
      <vt:lpstr>自定义异常的作用</vt:lpstr>
      <vt:lpstr>自定义异常的分类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1564</cp:revision>
  <cp:lastPrinted>2022-05-29T16:00:00Z</cp:lastPrinted>
  <dcterms:created xsi:type="dcterms:W3CDTF">2022-05-29T16:00:00Z</dcterms:created>
  <dcterms:modified xsi:type="dcterms:W3CDTF">2025-05-07T02:45:56Z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