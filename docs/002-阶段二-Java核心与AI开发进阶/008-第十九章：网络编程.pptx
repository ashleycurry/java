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1" r:id="rId2"/>
    <p:sldMasterId id="2147483660" r:id="rId3"/>
    <p:sldMasterId id="2147483672" r:id="rId4"/>
    <p:sldMasterId id="2147483679" r:id="rId5"/>
  </p:sldMasterIdLst>
  <p:notesMasterIdLst>
    <p:notesMasterId r:id="rId59"/>
  </p:notesMasterIdLst>
  <p:handoutMasterIdLst>
    <p:handoutMasterId r:id="rId60"/>
  </p:handoutMasterIdLst>
  <p:sldIdLst>
    <p:sldId id="280" r:id="rId6"/>
    <p:sldId id="3392" r:id="rId7"/>
    <p:sldId id="2145705258" r:id="rId8"/>
    <p:sldId id="2145705154" r:id="rId9"/>
    <p:sldId id="2145705218" r:id="rId10"/>
    <p:sldId id="2145705254" r:id="rId11"/>
    <p:sldId id="2145705255" r:id="rId12"/>
    <p:sldId id="2145705256" r:id="rId13"/>
    <p:sldId id="2145705219" r:id="rId14"/>
    <p:sldId id="2145705264" r:id="rId15"/>
    <p:sldId id="2145705268" r:id="rId16"/>
    <p:sldId id="2145705157" r:id="rId17"/>
    <p:sldId id="2145705224" r:id="rId18"/>
    <p:sldId id="2145705225" r:id="rId19"/>
    <p:sldId id="2145705226" r:id="rId20"/>
    <p:sldId id="3229" r:id="rId21"/>
    <p:sldId id="3131" r:id="rId22"/>
    <p:sldId id="3230" r:id="rId23"/>
    <p:sldId id="3231" r:id="rId24"/>
    <p:sldId id="3232" r:id="rId25"/>
    <p:sldId id="2145705259" r:id="rId26"/>
    <p:sldId id="2145705260" r:id="rId27"/>
    <p:sldId id="2145705261" r:id="rId28"/>
    <p:sldId id="3135" r:id="rId29"/>
    <p:sldId id="3136" r:id="rId30"/>
    <p:sldId id="2145705262" r:id="rId31"/>
    <p:sldId id="2145705263" r:id="rId32"/>
    <p:sldId id="3233" r:id="rId33"/>
    <p:sldId id="3138" r:id="rId34"/>
    <p:sldId id="3234" r:id="rId35"/>
    <p:sldId id="3140" r:id="rId36"/>
    <p:sldId id="3235" r:id="rId37"/>
    <p:sldId id="2145705265" r:id="rId38"/>
    <p:sldId id="3236" r:id="rId39"/>
    <p:sldId id="3147" r:id="rId40"/>
    <p:sldId id="2145705266" r:id="rId41"/>
    <p:sldId id="2145705267" r:id="rId42"/>
    <p:sldId id="2145705272" r:id="rId43"/>
    <p:sldId id="3239" r:id="rId44"/>
    <p:sldId id="2145705269" r:id="rId45"/>
    <p:sldId id="3146" r:id="rId46"/>
    <p:sldId id="3149" r:id="rId47"/>
    <p:sldId id="3150" r:id="rId48"/>
    <p:sldId id="2145705270" r:id="rId49"/>
    <p:sldId id="2145705271" r:id="rId50"/>
    <p:sldId id="3442" r:id="rId51"/>
    <p:sldId id="3242" r:id="rId52"/>
    <p:sldId id="3246" r:id="rId53"/>
    <p:sldId id="3251" r:id="rId54"/>
    <p:sldId id="3244" r:id="rId55"/>
    <p:sldId id="3243" r:id="rId56"/>
    <p:sldId id="2145705273" r:id="rId57"/>
    <p:sldId id="288" r:id="rId58"/>
  </p:sldIdLst>
  <p:sldSz cx="12192000" cy="6858000"/>
  <p:notesSz cx="6858000" cy="9144000"/>
  <p:custDataLst>
    <p:tags r:id="rId6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5B0C935-3A8C-4FC9-B6CD-4BB339AB9D93}">
          <p14:sldIdLst>
            <p14:sldId id="280"/>
            <p14:sldId id="3392"/>
            <p14:sldId id="2145705258"/>
            <p14:sldId id="2145705154"/>
            <p14:sldId id="2145705218"/>
            <p14:sldId id="2145705254"/>
            <p14:sldId id="2145705255"/>
            <p14:sldId id="2145705256"/>
            <p14:sldId id="2145705219"/>
            <p14:sldId id="2145705264"/>
            <p14:sldId id="2145705268"/>
            <p14:sldId id="2145705157"/>
            <p14:sldId id="2145705224"/>
            <p14:sldId id="2145705225"/>
            <p14:sldId id="2145705226"/>
            <p14:sldId id="3229"/>
            <p14:sldId id="3131"/>
            <p14:sldId id="3230"/>
            <p14:sldId id="3231"/>
            <p14:sldId id="3232"/>
            <p14:sldId id="2145705259"/>
            <p14:sldId id="2145705260"/>
            <p14:sldId id="2145705261"/>
            <p14:sldId id="3135"/>
            <p14:sldId id="3136"/>
            <p14:sldId id="2145705262"/>
            <p14:sldId id="2145705263"/>
            <p14:sldId id="3233"/>
            <p14:sldId id="3138"/>
            <p14:sldId id="3234"/>
            <p14:sldId id="3140"/>
            <p14:sldId id="3235"/>
            <p14:sldId id="2145705265"/>
            <p14:sldId id="3236"/>
            <p14:sldId id="3147"/>
            <p14:sldId id="2145705266"/>
            <p14:sldId id="2145705267"/>
            <p14:sldId id="2145705272"/>
            <p14:sldId id="3239"/>
            <p14:sldId id="2145705269"/>
            <p14:sldId id="3146"/>
            <p14:sldId id="3149"/>
            <p14:sldId id="3150"/>
            <p14:sldId id="2145705270"/>
            <p14:sldId id="2145705271"/>
            <p14:sldId id="3442"/>
            <p14:sldId id="3242"/>
            <p14:sldId id="3246"/>
            <p14:sldId id="3251"/>
            <p14:sldId id="3244"/>
            <p14:sldId id="3243"/>
            <p14:sldId id="2145705273"/>
            <p14:sldId id="28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2B26"/>
    <a:srgbClr val="FFFFFF"/>
    <a:srgbClr val="DBD8D2"/>
    <a:srgbClr val="EC2025"/>
    <a:srgbClr val="F22126"/>
    <a:srgbClr val="E5E5E5"/>
    <a:srgbClr val="0067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297" autoAdjust="0"/>
    <p:restoredTop sz="94595" autoAdjust="0"/>
  </p:normalViewPr>
  <p:slideViewPr>
    <p:cSldViewPr snapToGrid="0" showGuides="1">
      <p:cViewPr varScale="1">
        <p:scale>
          <a:sx n="78" d="100"/>
          <a:sy n="78" d="100"/>
        </p:scale>
        <p:origin x="499" y="6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2184" y="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5" Type="http://schemas.openxmlformats.org/officeDocument/2006/relationships/slideMaster" Target="slideMasters/slideMaster5.xml"/><Relationship Id="rId61" Type="http://schemas.openxmlformats.org/officeDocument/2006/relationships/tags" Target="tags/tag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E23121D-534D-C18D-86F2-F8B084E7F1B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3724E421-5F99-33C1-6C60-3D67F5BBC34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11D20C-92F4-4D32-92CD-1278806BF344}" type="datetimeFigureOut">
              <a:rPr lang="zh-CN" altLang="en-US" smtClean="0"/>
              <a:t>2025/5/19</a:t>
            </a:fld>
            <a:endParaRPr lang="zh-CN" altLang="en-US"/>
          </a:p>
        </p:txBody>
      </p:sp>
      <p:sp>
        <p:nvSpPr>
          <p:cNvPr id="4" name="页脚占位符 3">
            <a:extLst>
              <a:ext uri="{FF2B5EF4-FFF2-40B4-BE49-F238E27FC236}">
                <a16:creationId xmlns:a16="http://schemas.microsoft.com/office/drawing/2014/main" id="{A4CEAC0C-2766-8EA5-AFAC-04E2AE7E12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7B69A8BD-4CEA-8355-A923-3DE76C6694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4D7DA4C-D0A3-441A-A01E-F1F72C62FDE0}" type="slidenum">
              <a:rPr lang="zh-CN" altLang="en-US" smtClean="0"/>
              <a:t>‹#›</a:t>
            </a:fld>
            <a:endParaRPr lang="zh-CN" altLang="en-US"/>
          </a:p>
        </p:txBody>
      </p:sp>
    </p:spTree>
    <p:extLst>
      <p:ext uri="{BB962C8B-B14F-4D97-AF65-F5344CB8AC3E}">
        <p14:creationId xmlns:p14="http://schemas.microsoft.com/office/powerpoint/2010/main" val="4930792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2A3D24-6083-4546-8C6D-DEE86BAAAE49}" type="datetimeFigureOut">
              <a:rPr lang="zh-CN" altLang="en-US" smtClean="0"/>
              <a:t>2025/5/19</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ED8765-8EF3-408C-9341-152904E414ED}" type="slidenum">
              <a:rPr lang="zh-CN" altLang="en-US" smtClean="0"/>
              <a:t>‹#›</a:t>
            </a:fld>
            <a:endParaRPr lang="zh-CN" altLang="en-US"/>
          </a:p>
        </p:txBody>
      </p:sp>
    </p:spTree>
    <p:extLst>
      <p:ext uri="{BB962C8B-B14F-4D97-AF65-F5344CB8AC3E}">
        <p14:creationId xmlns:p14="http://schemas.microsoft.com/office/powerpoint/2010/main" val="189854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F99B8-CC18-7C45-9E7C-5C2A31F92C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CE5745-3AC4-D992-DB26-46AD1075B76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1E3BF9D-3A1A-2D66-DF5F-970F434B2BF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AF71A64-9EEE-4565-514E-DDD8C785784C}"/>
              </a:ext>
            </a:extLst>
          </p:cNvPr>
          <p:cNvSpPr>
            <a:spLocks noGrp="1"/>
          </p:cNvSpPr>
          <p:nvPr>
            <p:ph type="sldNum" sz="quarter" idx="5"/>
          </p:nvPr>
        </p:nvSpPr>
        <p:spPr/>
        <p:txBody>
          <a:bodyPr/>
          <a:lstStyle/>
          <a:p>
            <a:fld id="{A3ED8765-8EF3-408C-9341-152904E414ED}" type="slidenum">
              <a:rPr lang="zh-CN" altLang="en-US" smtClean="0"/>
              <a:t>2</a:t>
            </a:fld>
            <a:endParaRPr lang="zh-CN" altLang="en-US"/>
          </a:p>
        </p:txBody>
      </p:sp>
    </p:spTree>
    <p:extLst>
      <p:ext uri="{BB962C8B-B14F-4D97-AF65-F5344CB8AC3E}">
        <p14:creationId xmlns:p14="http://schemas.microsoft.com/office/powerpoint/2010/main" val="1655825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A3555-5989-E866-08EA-C141D4ABF29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D4BEA00-7342-8B0D-D0C2-C88A72ACCD5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45B6FB2-F1F5-D571-1194-3FC3042DDB8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05FF4C4-9256-88D0-102D-E7C733D46AA5}"/>
              </a:ext>
            </a:extLst>
          </p:cNvPr>
          <p:cNvSpPr>
            <a:spLocks noGrp="1"/>
          </p:cNvSpPr>
          <p:nvPr>
            <p:ph type="sldNum" sz="quarter" idx="5"/>
          </p:nvPr>
        </p:nvSpPr>
        <p:spPr/>
        <p:txBody>
          <a:bodyPr/>
          <a:lstStyle/>
          <a:p>
            <a:fld id="{A3ED8765-8EF3-408C-9341-152904E414ED}" type="slidenum">
              <a:rPr lang="zh-CN" altLang="en-US" smtClean="0"/>
              <a:t>10</a:t>
            </a:fld>
            <a:endParaRPr lang="zh-CN" altLang="en-US"/>
          </a:p>
        </p:txBody>
      </p:sp>
    </p:spTree>
    <p:extLst>
      <p:ext uri="{BB962C8B-B14F-4D97-AF65-F5344CB8AC3E}">
        <p14:creationId xmlns:p14="http://schemas.microsoft.com/office/powerpoint/2010/main" val="1851914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16</a:t>
            </a:fld>
            <a:endParaRPr lang="zh-CN" altLang="en-US"/>
          </a:p>
        </p:txBody>
      </p:sp>
    </p:spTree>
    <p:extLst>
      <p:ext uri="{BB962C8B-B14F-4D97-AF65-F5344CB8AC3E}">
        <p14:creationId xmlns:p14="http://schemas.microsoft.com/office/powerpoint/2010/main" val="10144487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17</a:t>
            </a:fld>
            <a:endParaRPr lang="zh-CN" altLang="en-US"/>
          </a:p>
        </p:txBody>
      </p:sp>
    </p:spTree>
    <p:extLst>
      <p:ext uri="{BB962C8B-B14F-4D97-AF65-F5344CB8AC3E}">
        <p14:creationId xmlns:p14="http://schemas.microsoft.com/office/powerpoint/2010/main" val="27490567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18</a:t>
            </a:fld>
            <a:endParaRPr lang="zh-CN" altLang="en-US"/>
          </a:p>
        </p:txBody>
      </p:sp>
    </p:spTree>
    <p:extLst>
      <p:ext uri="{BB962C8B-B14F-4D97-AF65-F5344CB8AC3E}">
        <p14:creationId xmlns:p14="http://schemas.microsoft.com/office/powerpoint/2010/main" val="3238104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19</a:t>
            </a:fld>
            <a:endParaRPr lang="zh-CN" altLang="en-US"/>
          </a:p>
        </p:txBody>
      </p:sp>
    </p:spTree>
    <p:extLst>
      <p:ext uri="{BB962C8B-B14F-4D97-AF65-F5344CB8AC3E}">
        <p14:creationId xmlns:p14="http://schemas.microsoft.com/office/powerpoint/2010/main" val="2549360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20</a:t>
            </a:fld>
            <a:endParaRPr lang="zh-CN" altLang="en-US"/>
          </a:p>
        </p:txBody>
      </p:sp>
    </p:spTree>
    <p:extLst>
      <p:ext uri="{BB962C8B-B14F-4D97-AF65-F5344CB8AC3E}">
        <p14:creationId xmlns:p14="http://schemas.microsoft.com/office/powerpoint/2010/main" val="42037005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21</a:t>
            </a:fld>
            <a:endParaRPr lang="zh-CN" altLang="en-US"/>
          </a:p>
        </p:txBody>
      </p:sp>
    </p:spTree>
    <p:extLst>
      <p:ext uri="{BB962C8B-B14F-4D97-AF65-F5344CB8AC3E}">
        <p14:creationId xmlns:p14="http://schemas.microsoft.com/office/powerpoint/2010/main" val="1426593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22</a:t>
            </a:fld>
            <a:endParaRPr lang="zh-CN" altLang="en-US"/>
          </a:p>
        </p:txBody>
      </p:sp>
    </p:spTree>
    <p:extLst>
      <p:ext uri="{BB962C8B-B14F-4D97-AF65-F5344CB8AC3E}">
        <p14:creationId xmlns:p14="http://schemas.microsoft.com/office/powerpoint/2010/main" val="38202848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23</a:t>
            </a:fld>
            <a:endParaRPr lang="zh-CN" altLang="en-US"/>
          </a:p>
        </p:txBody>
      </p:sp>
    </p:spTree>
    <p:extLst>
      <p:ext uri="{BB962C8B-B14F-4D97-AF65-F5344CB8AC3E}">
        <p14:creationId xmlns:p14="http://schemas.microsoft.com/office/powerpoint/2010/main" val="13056549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24</a:t>
            </a:fld>
            <a:endParaRPr lang="zh-CN" altLang="en-US"/>
          </a:p>
        </p:txBody>
      </p:sp>
    </p:spTree>
    <p:extLst>
      <p:ext uri="{BB962C8B-B14F-4D97-AF65-F5344CB8AC3E}">
        <p14:creationId xmlns:p14="http://schemas.microsoft.com/office/powerpoint/2010/main" val="2075346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25</a:t>
            </a:fld>
            <a:endParaRPr lang="zh-CN" altLang="en-US"/>
          </a:p>
        </p:txBody>
      </p:sp>
    </p:spTree>
    <p:extLst>
      <p:ext uri="{BB962C8B-B14F-4D97-AF65-F5344CB8AC3E}">
        <p14:creationId xmlns:p14="http://schemas.microsoft.com/office/powerpoint/2010/main" val="29680387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26</a:t>
            </a:fld>
            <a:endParaRPr lang="zh-CN" altLang="en-US"/>
          </a:p>
        </p:txBody>
      </p:sp>
    </p:spTree>
    <p:extLst>
      <p:ext uri="{BB962C8B-B14F-4D97-AF65-F5344CB8AC3E}">
        <p14:creationId xmlns:p14="http://schemas.microsoft.com/office/powerpoint/2010/main" val="3774645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27</a:t>
            </a:fld>
            <a:endParaRPr lang="zh-CN" altLang="en-US"/>
          </a:p>
        </p:txBody>
      </p:sp>
    </p:spTree>
    <p:extLst>
      <p:ext uri="{BB962C8B-B14F-4D97-AF65-F5344CB8AC3E}">
        <p14:creationId xmlns:p14="http://schemas.microsoft.com/office/powerpoint/2010/main" val="30149133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28</a:t>
            </a:fld>
            <a:endParaRPr lang="zh-CN" altLang="en-US"/>
          </a:p>
        </p:txBody>
      </p:sp>
    </p:spTree>
    <p:extLst>
      <p:ext uri="{BB962C8B-B14F-4D97-AF65-F5344CB8AC3E}">
        <p14:creationId xmlns:p14="http://schemas.microsoft.com/office/powerpoint/2010/main" val="18287249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29</a:t>
            </a:fld>
            <a:endParaRPr lang="zh-CN" altLang="en-US"/>
          </a:p>
        </p:txBody>
      </p:sp>
    </p:spTree>
    <p:extLst>
      <p:ext uri="{BB962C8B-B14F-4D97-AF65-F5344CB8AC3E}">
        <p14:creationId xmlns:p14="http://schemas.microsoft.com/office/powerpoint/2010/main" val="30889015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30</a:t>
            </a:fld>
            <a:endParaRPr lang="zh-CN" altLang="en-US"/>
          </a:p>
        </p:txBody>
      </p:sp>
    </p:spTree>
    <p:extLst>
      <p:ext uri="{BB962C8B-B14F-4D97-AF65-F5344CB8AC3E}">
        <p14:creationId xmlns:p14="http://schemas.microsoft.com/office/powerpoint/2010/main" val="35958155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31</a:t>
            </a:fld>
            <a:endParaRPr lang="zh-CN" altLang="en-US"/>
          </a:p>
        </p:txBody>
      </p:sp>
    </p:spTree>
    <p:extLst>
      <p:ext uri="{BB962C8B-B14F-4D97-AF65-F5344CB8AC3E}">
        <p14:creationId xmlns:p14="http://schemas.microsoft.com/office/powerpoint/2010/main" val="23543584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32</a:t>
            </a:fld>
            <a:endParaRPr lang="zh-CN" altLang="en-US"/>
          </a:p>
        </p:txBody>
      </p:sp>
    </p:spTree>
    <p:extLst>
      <p:ext uri="{BB962C8B-B14F-4D97-AF65-F5344CB8AC3E}">
        <p14:creationId xmlns:p14="http://schemas.microsoft.com/office/powerpoint/2010/main" val="40395074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33</a:t>
            </a:fld>
            <a:endParaRPr lang="zh-CN" altLang="en-US"/>
          </a:p>
        </p:txBody>
      </p:sp>
    </p:spTree>
    <p:extLst>
      <p:ext uri="{BB962C8B-B14F-4D97-AF65-F5344CB8AC3E}">
        <p14:creationId xmlns:p14="http://schemas.microsoft.com/office/powerpoint/2010/main" val="41048352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34</a:t>
            </a:fld>
            <a:endParaRPr lang="zh-CN" altLang="en-US"/>
          </a:p>
        </p:txBody>
      </p:sp>
    </p:spTree>
    <p:extLst>
      <p:ext uri="{BB962C8B-B14F-4D97-AF65-F5344CB8AC3E}">
        <p14:creationId xmlns:p14="http://schemas.microsoft.com/office/powerpoint/2010/main" val="40583849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35</a:t>
            </a:fld>
            <a:endParaRPr lang="zh-CN" altLang="en-US"/>
          </a:p>
        </p:txBody>
      </p:sp>
    </p:spTree>
    <p:extLst>
      <p:ext uri="{BB962C8B-B14F-4D97-AF65-F5344CB8AC3E}">
        <p14:creationId xmlns:p14="http://schemas.microsoft.com/office/powerpoint/2010/main" val="11151045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88A7B-BEFA-67B1-EF8E-43DEA3B2E5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5DED4F-D4EC-6E14-6964-B33FE32971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19A3F9-260B-70C3-3CD8-7DAF6C3E611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A543203-3195-60DD-13CA-44651A3747A3}"/>
              </a:ext>
            </a:extLst>
          </p:cNvPr>
          <p:cNvSpPr>
            <a:spLocks noGrp="1"/>
          </p:cNvSpPr>
          <p:nvPr>
            <p:ph type="sldNum" sz="quarter" idx="5"/>
          </p:nvPr>
        </p:nvSpPr>
        <p:spPr/>
        <p:txBody>
          <a:bodyPr/>
          <a:lstStyle/>
          <a:p>
            <a:fld id="{A3ED8765-8EF3-408C-9341-152904E414ED}" type="slidenum">
              <a:rPr lang="zh-CN" altLang="en-US" smtClean="0"/>
              <a:t>37</a:t>
            </a:fld>
            <a:endParaRPr lang="zh-CN" altLang="en-US"/>
          </a:p>
        </p:txBody>
      </p:sp>
    </p:spTree>
    <p:extLst>
      <p:ext uri="{BB962C8B-B14F-4D97-AF65-F5344CB8AC3E}">
        <p14:creationId xmlns:p14="http://schemas.microsoft.com/office/powerpoint/2010/main" val="3960791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39</a:t>
            </a:fld>
            <a:endParaRPr lang="zh-CN" altLang="en-US"/>
          </a:p>
        </p:txBody>
      </p:sp>
    </p:spTree>
    <p:extLst>
      <p:ext uri="{BB962C8B-B14F-4D97-AF65-F5344CB8AC3E}">
        <p14:creationId xmlns:p14="http://schemas.microsoft.com/office/powerpoint/2010/main" val="20724440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40</a:t>
            </a:fld>
            <a:endParaRPr lang="zh-CN" altLang="en-US"/>
          </a:p>
        </p:txBody>
      </p:sp>
    </p:spTree>
    <p:extLst>
      <p:ext uri="{BB962C8B-B14F-4D97-AF65-F5344CB8AC3E}">
        <p14:creationId xmlns:p14="http://schemas.microsoft.com/office/powerpoint/2010/main" val="7731675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41</a:t>
            </a:fld>
            <a:endParaRPr lang="zh-CN" altLang="en-US"/>
          </a:p>
        </p:txBody>
      </p:sp>
    </p:spTree>
    <p:extLst>
      <p:ext uri="{BB962C8B-B14F-4D97-AF65-F5344CB8AC3E}">
        <p14:creationId xmlns:p14="http://schemas.microsoft.com/office/powerpoint/2010/main" val="27095912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42</a:t>
            </a:fld>
            <a:endParaRPr lang="zh-CN" altLang="en-US"/>
          </a:p>
        </p:txBody>
      </p:sp>
    </p:spTree>
    <p:extLst>
      <p:ext uri="{BB962C8B-B14F-4D97-AF65-F5344CB8AC3E}">
        <p14:creationId xmlns:p14="http://schemas.microsoft.com/office/powerpoint/2010/main" val="18479276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43</a:t>
            </a:fld>
            <a:endParaRPr lang="zh-CN" altLang="en-US"/>
          </a:p>
        </p:txBody>
      </p:sp>
    </p:spTree>
    <p:extLst>
      <p:ext uri="{BB962C8B-B14F-4D97-AF65-F5344CB8AC3E}">
        <p14:creationId xmlns:p14="http://schemas.microsoft.com/office/powerpoint/2010/main" val="5105783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4F2A9-EAAB-692A-78A4-9A112810C560}"/>
            </a:ext>
          </a:extLst>
        </p:cNvPr>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F1441E8D-9D07-58ED-3437-543580EAE8D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A7588165-7919-B051-5CBF-72A07CC5FE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08E90FD8-817E-7A5D-8392-8443C97C49F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44</a:t>
            </a:fld>
            <a:endParaRPr lang="zh-CN" altLang="en-US"/>
          </a:p>
        </p:txBody>
      </p:sp>
    </p:spTree>
    <p:extLst>
      <p:ext uri="{BB962C8B-B14F-4D97-AF65-F5344CB8AC3E}">
        <p14:creationId xmlns:p14="http://schemas.microsoft.com/office/powerpoint/2010/main" val="17632180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5DF71-4146-91BD-9C3D-8D483FACCA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9BB6CA6-C0CD-E5F2-7AC5-15ED9FE510C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7FA1D2-5A94-72C2-E35B-5ADC7349DB1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80103E8-B0FB-66B6-09D7-AADEA3CCC42D}"/>
              </a:ext>
            </a:extLst>
          </p:cNvPr>
          <p:cNvSpPr>
            <a:spLocks noGrp="1"/>
          </p:cNvSpPr>
          <p:nvPr>
            <p:ph type="sldNum" sz="quarter" idx="5"/>
          </p:nvPr>
        </p:nvSpPr>
        <p:spPr/>
        <p:txBody>
          <a:bodyPr/>
          <a:lstStyle/>
          <a:p>
            <a:fld id="{A3ED8765-8EF3-408C-9341-152904E414ED}" type="slidenum">
              <a:rPr lang="zh-CN" altLang="en-US" smtClean="0"/>
              <a:t>45</a:t>
            </a:fld>
            <a:endParaRPr lang="zh-CN" altLang="en-US"/>
          </a:p>
        </p:txBody>
      </p:sp>
    </p:spTree>
    <p:extLst>
      <p:ext uri="{BB962C8B-B14F-4D97-AF65-F5344CB8AC3E}">
        <p14:creationId xmlns:p14="http://schemas.microsoft.com/office/powerpoint/2010/main" val="11380000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37A4058-E3B2-47D6-950B-A61F5D9550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备注占位符 2">
            <a:extLst>
              <a:ext uri="{FF2B5EF4-FFF2-40B4-BE49-F238E27FC236}">
                <a16:creationId xmlns:a16="http://schemas.microsoft.com/office/drawing/2014/main" id="{FE498ED5-CEAA-4CB9-AB0A-42A040AD3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a:t>关于</a:t>
            </a:r>
            <a:r>
              <a:rPr lang="en-US" altLang="zh-CN" dirty="0"/>
              <a:t>Object</a:t>
            </a:r>
            <a:r>
              <a:rPr lang="zh-CN" altLang="en-US"/>
              <a:t>类的学习，我们先到帮助文档中查看，然后到代码中演示，最后回到资料进行总结</a:t>
            </a:r>
          </a:p>
        </p:txBody>
      </p:sp>
      <p:sp>
        <p:nvSpPr>
          <p:cNvPr id="107524" name="灯片编号占位符 3">
            <a:extLst>
              <a:ext uri="{FF2B5EF4-FFF2-40B4-BE49-F238E27FC236}">
                <a16:creationId xmlns:a16="http://schemas.microsoft.com/office/drawing/2014/main" id="{FAA42A4E-207D-4BBA-8DEC-6A6A0ECA3F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0FF8181-36FB-453D-BB7A-7CBA702883DF}" type="slidenum">
              <a:rPr lang="zh-CN" altLang="en-US"/>
              <a:pPr>
                <a:spcBef>
                  <a:spcPct val="0"/>
                </a:spcBef>
              </a:pPr>
              <a:t>47</a:t>
            </a:fld>
            <a:endParaRPr lang="zh-CN" altLang="en-US"/>
          </a:p>
        </p:txBody>
      </p:sp>
    </p:spTree>
    <p:extLst>
      <p:ext uri="{BB962C8B-B14F-4D97-AF65-F5344CB8AC3E}">
        <p14:creationId xmlns:p14="http://schemas.microsoft.com/office/powerpoint/2010/main" val="17952918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48</a:t>
            </a:fld>
            <a:endParaRPr lang="zh-CN" altLang="en-US"/>
          </a:p>
        </p:txBody>
      </p:sp>
    </p:spTree>
    <p:extLst>
      <p:ext uri="{BB962C8B-B14F-4D97-AF65-F5344CB8AC3E}">
        <p14:creationId xmlns:p14="http://schemas.microsoft.com/office/powerpoint/2010/main" val="32345764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49</a:t>
            </a:fld>
            <a:endParaRPr lang="zh-CN" altLang="en-US"/>
          </a:p>
        </p:txBody>
      </p:sp>
    </p:spTree>
    <p:extLst>
      <p:ext uri="{BB962C8B-B14F-4D97-AF65-F5344CB8AC3E}">
        <p14:creationId xmlns:p14="http://schemas.microsoft.com/office/powerpoint/2010/main" val="12430038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50</a:t>
            </a:fld>
            <a:endParaRPr lang="zh-CN" altLang="en-US"/>
          </a:p>
        </p:txBody>
      </p:sp>
    </p:spTree>
    <p:extLst>
      <p:ext uri="{BB962C8B-B14F-4D97-AF65-F5344CB8AC3E}">
        <p14:creationId xmlns:p14="http://schemas.microsoft.com/office/powerpoint/2010/main" val="12525513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1D6F9B7F-ADE5-E4D3-EA82-0EC59CD067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40BEB394-D283-3459-1651-99B9AAD61E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459F3F05-C3BC-0590-0A58-A36E91F59B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51</a:t>
            </a:fld>
            <a:endParaRPr lang="zh-CN" altLang="en-US"/>
          </a:p>
        </p:txBody>
      </p:sp>
    </p:spTree>
    <p:extLst>
      <p:ext uri="{BB962C8B-B14F-4D97-AF65-F5344CB8AC3E}">
        <p14:creationId xmlns:p14="http://schemas.microsoft.com/office/powerpoint/2010/main" val="5232813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B5653-A07E-B292-F10A-FCDC26555271}"/>
            </a:ext>
          </a:extLst>
        </p:cNvPr>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6379DD23-DA9C-4BD1-5A7E-12C5E75598B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1CBF0331-1881-E0ED-208E-2DE38CA93D8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19812" name="灯片编号占位符 3">
            <a:extLst>
              <a:ext uri="{FF2B5EF4-FFF2-40B4-BE49-F238E27FC236}">
                <a16:creationId xmlns:a16="http://schemas.microsoft.com/office/drawing/2014/main" id="{8013126E-651A-103B-161C-2E5B47BA742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11829FD8-EAD0-41C4-9E29-2E2FCD31ED4F}" type="slidenum">
              <a:rPr lang="zh-CN" altLang="en-US"/>
              <a:pPr/>
              <a:t>52</a:t>
            </a:fld>
            <a:endParaRPr lang="zh-CN" altLang="en-US"/>
          </a:p>
        </p:txBody>
      </p:sp>
    </p:spTree>
    <p:extLst>
      <p:ext uri="{BB962C8B-B14F-4D97-AF65-F5344CB8AC3E}">
        <p14:creationId xmlns:p14="http://schemas.microsoft.com/office/powerpoint/2010/main" val="30293435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内容页">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CED916A-3E34-4B9E-8F9F-7A8921A30F99}"/>
              </a:ext>
            </a:extLst>
          </p:cNvPr>
          <p:cNvSpPr>
            <a:spLocks noGrp="1"/>
          </p:cNvSpPr>
          <p:nvPr>
            <p:ph idx="1" hasCustomPrompt="1"/>
          </p:nvPr>
        </p:nvSpPr>
        <p:spPr>
          <a:xfrm>
            <a:off x="576197" y="956241"/>
            <a:ext cx="11060481" cy="5331825"/>
          </a:xfrm>
          <a:prstGeom prst="rect">
            <a:avLst/>
          </a:prstGeom>
        </p:spPr>
        <p:txBody>
          <a:bodyPr/>
          <a:lstStyle>
            <a:lvl1pPr marL="0" indent="0">
              <a:lnSpc>
                <a:spcPct val="150000"/>
              </a:lnSpc>
              <a:buNone/>
              <a:defRPr sz="1600"/>
            </a:lvl1pPr>
          </a:lstStyle>
          <a:p>
            <a:pPr lvl="0"/>
            <a:r>
              <a:rPr lang="zh-CN" altLang="en-US"/>
              <a:t>单击此处编辑内容</a:t>
            </a:r>
            <a:endParaRPr lang="zh-CN" altLang="en-US" dirty="0"/>
          </a:p>
        </p:txBody>
      </p:sp>
      <p:sp>
        <p:nvSpPr>
          <p:cNvPr id="8" name="标题 7">
            <a:extLst>
              <a:ext uri="{FF2B5EF4-FFF2-40B4-BE49-F238E27FC236}">
                <a16:creationId xmlns:a16="http://schemas.microsoft.com/office/drawing/2014/main" id="{E0BD5DE7-58FF-A736-CEC2-C49FBA5469E8}"/>
              </a:ext>
            </a:extLst>
          </p:cNvPr>
          <p:cNvSpPr>
            <a:spLocks noGrp="1"/>
          </p:cNvSpPr>
          <p:nvPr>
            <p:ph type="title"/>
          </p:nvPr>
        </p:nvSpPr>
        <p:spPr>
          <a:xfrm>
            <a:off x="576196" y="336399"/>
            <a:ext cx="10747497" cy="474415"/>
          </a:xfrm>
          <a:prstGeom prst="rect">
            <a:avLst/>
          </a:prstGeom>
        </p:spPr>
        <p:txBody>
          <a:bodyPr/>
          <a:lstStyle>
            <a:lvl1pPr>
              <a:lnSpc>
                <a:spcPct val="100000"/>
              </a:lnSpc>
              <a:defRPr sz="2400">
                <a:solidFill>
                  <a:schemeClr val="accent1"/>
                </a:solidFill>
              </a:defRPr>
            </a:lvl1pPr>
          </a:lstStyle>
          <a:p>
            <a:r>
              <a:rPr lang="zh-CN" altLang="en-US"/>
              <a:t>单击此处编辑母版标题样式</a:t>
            </a:r>
          </a:p>
        </p:txBody>
      </p:sp>
      <p:sp>
        <p:nvSpPr>
          <p:cNvPr id="47" name="椭圆 46">
            <a:extLst>
              <a:ext uri="{FF2B5EF4-FFF2-40B4-BE49-F238E27FC236}">
                <a16:creationId xmlns:a16="http://schemas.microsoft.com/office/drawing/2014/main" id="{2828A69B-715F-4EF1-58FB-A763C01CE99E}"/>
              </a:ext>
            </a:extLst>
          </p:cNvPr>
          <p:cNvSpPr/>
          <p:nvPr userDrawn="1"/>
        </p:nvSpPr>
        <p:spPr>
          <a:xfrm>
            <a:off x="221806" y="190972"/>
            <a:ext cx="144104" cy="14410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a:extLst>
              <a:ext uri="{FF2B5EF4-FFF2-40B4-BE49-F238E27FC236}">
                <a16:creationId xmlns:a16="http://schemas.microsoft.com/office/drawing/2014/main" id="{D09C51A0-F849-48A7-BC23-68B1480BCFBA}"/>
              </a:ext>
            </a:extLst>
          </p:cNvPr>
          <p:cNvSpPr/>
          <p:nvPr userDrawn="1"/>
        </p:nvSpPr>
        <p:spPr>
          <a:xfrm>
            <a:off x="293858" y="224694"/>
            <a:ext cx="220764" cy="22076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2374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5" name="标题 7">
            <a:extLst>
              <a:ext uri="{FF2B5EF4-FFF2-40B4-BE49-F238E27FC236}">
                <a16:creationId xmlns:a16="http://schemas.microsoft.com/office/drawing/2014/main" id="{FCDA8ECA-5550-1579-68CA-CC29E9FAE4D5}"/>
              </a:ext>
            </a:extLst>
          </p:cNvPr>
          <p:cNvSpPr>
            <a:spLocks noGrp="1"/>
          </p:cNvSpPr>
          <p:nvPr>
            <p:ph type="title"/>
          </p:nvPr>
        </p:nvSpPr>
        <p:spPr>
          <a:xfrm>
            <a:off x="576626" y="335203"/>
            <a:ext cx="10737020"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sp>
        <p:nvSpPr>
          <p:cNvPr id="39" name="椭圆 38">
            <a:extLst>
              <a:ext uri="{FF2B5EF4-FFF2-40B4-BE49-F238E27FC236}">
                <a16:creationId xmlns:a16="http://schemas.microsoft.com/office/drawing/2014/main" id="{0F420230-886B-D4D3-2B3C-23A24A3C217F}"/>
              </a:ext>
            </a:extLst>
          </p:cNvPr>
          <p:cNvSpPr/>
          <p:nvPr userDrawn="1"/>
        </p:nvSpPr>
        <p:spPr>
          <a:xfrm>
            <a:off x="221806" y="190972"/>
            <a:ext cx="144104" cy="14410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0C47F643-5264-44DA-EC51-A1FD97EB2FDA}"/>
              </a:ext>
            </a:extLst>
          </p:cNvPr>
          <p:cNvSpPr/>
          <p:nvPr userDrawn="1"/>
        </p:nvSpPr>
        <p:spPr>
          <a:xfrm>
            <a:off x="293858" y="224694"/>
            <a:ext cx="220764" cy="22076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57642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无标题空白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3712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27" name="椭圆 26">
            <a:extLst>
              <a:ext uri="{FF2B5EF4-FFF2-40B4-BE49-F238E27FC236}">
                <a16:creationId xmlns:a16="http://schemas.microsoft.com/office/drawing/2014/main" id="{CE1A1E8E-5BFA-290B-CE2D-C63161DD862D}"/>
              </a:ext>
            </a:extLst>
          </p:cNvPr>
          <p:cNvSpPr/>
          <p:nvPr userDrawn="1"/>
        </p:nvSpPr>
        <p:spPr>
          <a:xfrm>
            <a:off x="410285" y="263623"/>
            <a:ext cx="201682" cy="201682"/>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7">
            <a:extLst>
              <a:ext uri="{FF2B5EF4-FFF2-40B4-BE49-F238E27FC236}">
                <a16:creationId xmlns:a16="http://schemas.microsoft.com/office/drawing/2014/main" id="{28157308-7332-F855-6CD5-8994EF9131BA}"/>
              </a:ext>
            </a:extLst>
          </p:cNvPr>
          <p:cNvSpPr>
            <a:spLocks noGrp="1"/>
          </p:cNvSpPr>
          <p:nvPr>
            <p:ph type="title"/>
          </p:nvPr>
        </p:nvSpPr>
        <p:spPr>
          <a:xfrm>
            <a:off x="1753098" y="316670"/>
            <a:ext cx="9735968"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pic>
        <p:nvPicPr>
          <p:cNvPr id="14" name="图形 13">
            <a:extLst>
              <a:ext uri="{FF2B5EF4-FFF2-40B4-BE49-F238E27FC236}">
                <a16:creationId xmlns:a16="http://schemas.microsoft.com/office/drawing/2014/main" id="{7C282B3D-F354-6522-5657-ED6D2CE0D84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779" y="423789"/>
            <a:ext cx="201682" cy="201682"/>
          </a:xfrm>
          <a:prstGeom prst="rect">
            <a:avLst/>
          </a:prstGeom>
        </p:spPr>
      </p:pic>
      <p:sp>
        <p:nvSpPr>
          <p:cNvPr id="18" name="文本占位符 17">
            <a:extLst>
              <a:ext uri="{FF2B5EF4-FFF2-40B4-BE49-F238E27FC236}">
                <a16:creationId xmlns:a16="http://schemas.microsoft.com/office/drawing/2014/main" id="{003B1F35-1C5E-4046-0266-04F81948A3E3}"/>
              </a:ext>
            </a:extLst>
          </p:cNvPr>
          <p:cNvSpPr>
            <a:spLocks noGrp="1"/>
          </p:cNvSpPr>
          <p:nvPr>
            <p:ph type="body" sz="quarter" idx="10" hasCustomPrompt="1"/>
          </p:nvPr>
        </p:nvSpPr>
        <p:spPr>
          <a:xfrm>
            <a:off x="1753099" y="1024932"/>
            <a:ext cx="9570540" cy="4780556"/>
          </a:xfrm>
          <a:prstGeom prst="rect">
            <a:avLst/>
          </a:prstGeom>
        </p:spPr>
        <p:txBody>
          <a:bodyPr/>
          <a:lstStyle>
            <a:lvl1pPr marL="0" indent="0">
              <a:lnSpc>
                <a:spcPct val="150000"/>
              </a:lnSpc>
              <a:buNone/>
              <a:defRPr sz="1600"/>
            </a:lvl1pPr>
          </a:lstStyle>
          <a:p>
            <a:pPr lvl="0"/>
            <a:r>
              <a:rPr lang="zh-CN" altLang="en-US"/>
              <a:t>此处</a:t>
            </a:r>
            <a:r>
              <a:rPr lang="en-US" altLang="zh-CN"/>
              <a:t>weight</a:t>
            </a:r>
            <a:r>
              <a:rPr lang="zh-CN" altLang="en-US"/>
              <a:t>案例内容，字体不可改，阿里巴巴惠普体</a:t>
            </a:r>
            <a:r>
              <a:rPr lang="en-US" altLang="zh-CN"/>
              <a:t>16</a:t>
            </a:r>
            <a:r>
              <a:rPr lang="zh-CN" altLang="en-US"/>
              <a:t>号</a:t>
            </a:r>
          </a:p>
        </p:txBody>
      </p:sp>
      <p:grpSp>
        <p:nvGrpSpPr>
          <p:cNvPr id="26" name="组合 25">
            <a:extLst>
              <a:ext uri="{FF2B5EF4-FFF2-40B4-BE49-F238E27FC236}">
                <a16:creationId xmlns:a16="http://schemas.microsoft.com/office/drawing/2014/main" id="{20A81A7A-9283-4012-AFC4-85E90FC61246}"/>
              </a:ext>
            </a:extLst>
          </p:cNvPr>
          <p:cNvGrpSpPr/>
          <p:nvPr userDrawn="1"/>
        </p:nvGrpSpPr>
        <p:grpSpPr>
          <a:xfrm>
            <a:off x="504134" y="308770"/>
            <a:ext cx="1212680" cy="453281"/>
            <a:chOff x="532462" y="1628775"/>
            <a:chExt cx="1212680" cy="453281"/>
          </a:xfrm>
        </p:grpSpPr>
        <p:sp>
          <p:nvSpPr>
            <p:cNvPr id="24" name="矩形: 圆角 23">
              <a:extLst>
                <a:ext uri="{FF2B5EF4-FFF2-40B4-BE49-F238E27FC236}">
                  <a16:creationId xmlns:a16="http://schemas.microsoft.com/office/drawing/2014/main" id="{54670D28-3CCE-924C-0936-90894593722C}"/>
                </a:ext>
              </a:extLst>
            </p:cNvPr>
            <p:cNvSpPr/>
            <p:nvPr userDrawn="1"/>
          </p:nvSpPr>
          <p:spPr>
            <a:xfrm>
              <a:off x="695616" y="1668659"/>
              <a:ext cx="1031831" cy="373512"/>
            </a:xfrm>
            <a:prstGeom prst="roundRect">
              <a:avLst>
                <a:gd name="adj" fmla="val 1502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55B1B6FC-F79A-9918-E71A-665867D34C18}"/>
                </a:ext>
              </a:extLst>
            </p:cNvPr>
            <p:cNvSpPr/>
            <p:nvPr userDrawn="1"/>
          </p:nvSpPr>
          <p:spPr>
            <a:xfrm>
              <a:off x="532462" y="1628775"/>
              <a:ext cx="453281" cy="4532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形 22">
              <a:extLst>
                <a:ext uri="{FF2B5EF4-FFF2-40B4-BE49-F238E27FC236}">
                  <a16:creationId xmlns:a16="http://schemas.microsoft.com/office/drawing/2014/main" id="{831BBACC-20D7-DBD1-9827-7405F380536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261" y="1754574"/>
              <a:ext cx="201682" cy="201682"/>
            </a:xfrm>
            <a:prstGeom prst="rect">
              <a:avLst/>
            </a:prstGeom>
          </p:spPr>
        </p:pic>
        <p:sp>
          <p:nvSpPr>
            <p:cNvPr id="25" name="文本框 24">
              <a:extLst>
                <a:ext uri="{FF2B5EF4-FFF2-40B4-BE49-F238E27FC236}">
                  <a16:creationId xmlns:a16="http://schemas.microsoft.com/office/drawing/2014/main" id="{92206755-775B-95BA-7085-C3DF286396FF}"/>
                </a:ext>
              </a:extLst>
            </p:cNvPr>
            <p:cNvSpPr txBox="1"/>
            <p:nvPr userDrawn="1"/>
          </p:nvSpPr>
          <p:spPr>
            <a:xfrm>
              <a:off x="1000760" y="1655360"/>
              <a:ext cx="74438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b="0">
                  <a:solidFill>
                    <a:schemeClr val="accent1"/>
                  </a:solidFill>
                  <a:latin typeface="Alibaba PuHuiTi B" pitchFamily="18" charset="-122"/>
                  <a:ea typeface="Alibaba PuHuiTi B" pitchFamily="18" charset="-122"/>
                  <a:cs typeface="Alibaba PuHuiTi B" pitchFamily="18" charset="-122"/>
                </a:rPr>
                <a:t>案例</a:t>
              </a:r>
              <a:endParaRPr lang="zh-CN" altLang="en-US" sz="2000" b="0"/>
            </a:p>
          </p:txBody>
        </p:sp>
      </p:grpSp>
    </p:spTree>
    <p:extLst>
      <p:ext uri="{BB962C8B-B14F-4D97-AF65-F5344CB8AC3E}">
        <p14:creationId xmlns:p14="http://schemas.microsoft.com/office/powerpoint/2010/main" val="367163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sp>
        <p:nvSpPr>
          <p:cNvPr id="27" name="椭圆 26">
            <a:extLst>
              <a:ext uri="{FF2B5EF4-FFF2-40B4-BE49-F238E27FC236}">
                <a16:creationId xmlns:a16="http://schemas.microsoft.com/office/drawing/2014/main" id="{CE1A1E8E-5BFA-290B-CE2D-C63161DD862D}"/>
              </a:ext>
            </a:extLst>
          </p:cNvPr>
          <p:cNvSpPr/>
          <p:nvPr userDrawn="1"/>
        </p:nvSpPr>
        <p:spPr>
          <a:xfrm>
            <a:off x="410285" y="263623"/>
            <a:ext cx="201682" cy="201682"/>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7">
            <a:extLst>
              <a:ext uri="{FF2B5EF4-FFF2-40B4-BE49-F238E27FC236}">
                <a16:creationId xmlns:a16="http://schemas.microsoft.com/office/drawing/2014/main" id="{28157308-7332-F855-6CD5-8994EF9131BA}"/>
              </a:ext>
            </a:extLst>
          </p:cNvPr>
          <p:cNvSpPr>
            <a:spLocks noGrp="1"/>
          </p:cNvSpPr>
          <p:nvPr>
            <p:ph type="title"/>
          </p:nvPr>
        </p:nvSpPr>
        <p:spPr>
          <a:xfrm>
            <a:off x="1753098" y="316670"/>
            <a:ext cx="9735968"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pic>
        <p:nvPicPr>
          <p:cNvPr id="14" name="图形 13">
            <a:extLst>
              <a:ext uri="{FF2B5EF4-FFF2-40B4-BE49-F238E27FC236}">
                <a16:creationId xmlns:a16="http://schemas.microsoft.com/office/drawing/2014/main" id="{7C282B3D-F354-6522-5657-ED6D2CE0D84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779" y="423789"/>
            <a:ext cx="201682" cy="201682"/>
          </a:xfrm>
          <a:prstGeom prst="rect">
            <a:avLst/>
          </a:prstGeom>
        </p:spPr>
      </p:pic>
      <p:sp>
        <p:nvSpPr>
          <p:cNvPr id="18" name="文本占位符 17">
            <a:extLst>
              <a:ext uri="{FF2B5EF4-FFF2-40B4-BE49-F238E27FC236}">
                <a16:creationId xmlns:a16="http://schemas.microsoft.com/office/drawing/2014/main" id="{003B1F35-1C5E-4046-0266-04F81948A3E3}"/>
              </a:ext>
            </a:extLst>
          </p:cNvPr>
          <p:cNvSpPr>
            <a:spLocks noGrp="1"/>
          </p:cNvSpPr>
          <p:nvPr>
            <p:ph type="body" sz="quarter" idx="10" hasCustomPrompt="1"/>
          </p:nvPr>
        </p:nvSpPr>
        <p:spPr>
          <a:xfrm>
            <a:off x="1753099" y="1024932"/>
            <a:ext cx="9570540" cy="4780556"/>
          </a:xfrm>
          <a:prstGeom prst="rect">
            <a:avLst/>
          </a:prstGeom>
        </p:spPr>
        <p:txBody>
          <a:bodyPr/>
          <a:lstStyle>
            <a:lvl1pPr marL="0" indent="0">
              <a:lnSpc>
                <a:spcPct val="150000"/>
              </a:lnSpc>
              <a:buNone/>
              <a:defRPr sz="1600"/>
            </a:lvl1pPr>
          </a:lstStyle>
          <a:p>
            <a:pPr lvl="0"/>
            <a:r>
              <a:rPr lang="zh-CN" altLang="en-US"/>
              <a:t>此处</a:t>
            </a:r>
            <a:r>
              <a:rPr lang="en-US" altLang="zh-CN"/>
              <a:t>weight</a:t>
            </a:r>
            <a:r>
              <a:rPr lang="zh-CN" altLang="en-US"/>
              <a:t>案例内容，字体不可改，阿里巴巴惠普体</a:t>
            </a:r>
            <a:r>
              <a:rPr lang="en-US" altLang="zh-CN"/>
              <a:t>16</a:t>
            </a:r>
            <a:r>
              <a:rPr lang="zh-CN" altLang="en-US"/>
              <a:t>号</a:t>
            </a:r>
          </a:p>
        </p:txBody>
      </p:sp>
      <p:grpSp>
        <p:nvGrpSpPr>
          <p:cNvPr id="26" name="组合 25">
            <a:extLst>
              <a:ext uri="{FF2B5EF4-FFF2-40B4-BE49-F238E27FC236}">
                <a16:creationId xmlns:a16="http://schemas.microsoft.com/office/drawing/2014/main" id="{20A81A7A-9283-4012-AFC4-85E90FC61246}"/>
              </a:ext>
            </a:extLst>
          </p:cNvPr>
          <p:cNvGrpSpPr/>
          <p:nvPr userDrawn="1"/>
        </p:nvGrpSpPr>
        <p:grpSpPr>
          <a:xfrm>
            <a:off x="504134" y="308770"/>
            <a:ext cx="1212680" cy="453281"/>
            <a:chOff x="532462" y="1628775"/>
            <a:chExt cx="1212680" cy="453281"/>
          </a:xfrm>
        </p:grpSpPr>
        <p:sp>
          <p:nvSpPr>
            <p:cNvPr id="24" name="矩形: 圆角 23">
              <a:extLst>
                <a:ext uri="{FF2B5EF4-FFF2-40B4-BE49-F238E27FC236}">
                  <a16:creationId xmlns:a16="http://schemas.microsoft.com/office/drawing/2014/main" id="{54670D28-3CCE-924C-0936-90894593722C}"/>
                </a:ext>
              </a:extLst>
            </p:cNvPr>
            <p:cNvSpPr/>
            <p:nvPr userDrawn="1"/>
          </p:nvSpPr>
          <p:spPr>
            <a:xfrm>
              <a:off x="695616" y="1668659"/>
              <a:ext cx="1031831" cy="373512"/>
            </a:xfrm>
            <a:prstGeom prst="roundRect">
              <a:avLst>
                <a:gd name="adj" fmla="val 1502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55B1B6FC-F79A-9918-E71A-665867D34C18}"/>
                </a:ext>
              </a:extLst>
            </p:cNvPr>
            <p:cNvSpPr/>
            <p:nvPr userDrawn="1"/>
          </p:nvSpPr>
          <p:spPr>
            <a:xfrm>
              <a:off x="532462" y="1628775"/>
              <a:ext cx="453281" cy="4532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形 22">
              <a:extLst>
                <a:ext uri="{FF2B5EF4-FFF2-40B4-BE49-F238E27FC236}">
                  <a16:creationId xmlns:a16="http://schemas.microsoft.com/office/drawing/2014/main" id="{831BBACC-20D7-DBD1-9827-7405F380536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261" y="1754574"/>
              <a:ext cx="201682" cy="201682"/>
            </a:xfrm>
            <a:prstGeom prst="rect">
              <a:avLst/>
            </a:prstGeom>
          </p:spPr>
        </p:pic>
        <p:sp>
          <p:nvSpPr>
            <p:cNvPr id="25" name="文本框 24">
              <a:extLst>
                <a:ext uri="{FF2B5EF4-FFF2-40B4-BE49-F238E27FC236}">
                  <a16:creationId xmlns:a16="http://schemas.microsoft.com/office/drawing/2014/main" id="{92206755-775B-95BA-7085-C3DF286396FF}"/>
                </a:ext>
              </a:extLst>
            </p:cNvPr>
            <p:cNvSpPr txBox="1"/>
            <p:nvPr userDrawn="1"/>
          </p:nvSpPr>
          <p:spPr>
            <a:xfrm>
              <a:off x="1000760" y="1655360"/>
              <a:ext cx="74438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b="0">
                  <a:solidFill>
                    <a:schemeClr val="accent1"/>
                  </a:solidFill>
                  <a:ea typeface="Alibaba PuHuiTi B" pitchFamily="18" charset="-122"/>
                </a:rPr>
                <a:t>步骤</a:t>
              </a:r>
              <a:endParaRPr lang="zh-CN" altLang="en-US" sz="2000" b="0"/>
            </a:p>
          </p:txBody>
        </p:sp>
      </p:grpSp>
    </p:spTree>
    <p:extLst>
      <p:ext uri="{BB962C8B-B14F-4D97-AF65-F5344CB8AC3E}">
        <p14:creationId xmlns:p14="http://schemas.microsoft.com/office/powerpoint/2010/main" val="1801550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27" name="椭圆 26">
            <a:extLst>
              <a:ext uri="{FF2B5EF4-FFF2-40B4-BE49-F238E27FC236}">
                <a16:creationId xmlns:a16="http://schemas.microsoft.com/office/drawing/2014/main" id="{CE1A1E8E-5BFA-290B-CE2D-C63161DD862D}"/>
              </a:ext>
            </a:extLst>
          </p:cNvPr>
          <p:cNvSpPr/>
          <p:nvPr userDrawn="1"/>
        </p:nvSpPr>
        <p:spPr>
          <a:xfrm>
            <a:off x="410285" y="263623"/>
            <a:ext cx="201682" cy="201682"/>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7">
            <a:extLst>
              <a:ext uri="{FF2B5EF4-FFF2-40B4-BE49-F238E27FC236}">
                <a16:creationId xmlns:a16="http://schemas.microsoft.com/office/drawing/2014/main" id="{28157308-7332-F855-6CD5-8994EF9131BA}"/>
              </a:ext>
            </a:extLst>
          </p:cNvPr>
          <p:cNvSpPr>
            <a:spLocks noGrp="1"/>
          </p:cNvSpPr>
          <p:nvPr>
            <p:ph type="title"/>
          </p:nvPr>
        </p:nvSpPr>
        <p:spPr>
          <a:xfrm>
            <a:off x="1753098" y="316670"/>
            <a:ext cx="9735968"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pic>
        <p:nvPicPr>
          <p:cNvPr id="14" name="图形 13">
            <a:extLst>
              <a:ext uri="{FF2B5EF4-FFF2-40B4-BE49-F238E27FC236}">
                <a16:creationId xmlns:a16="http://schemas.microsoft.com/office/drawing/2014/main" id="{7C282B3D-F354-6522-5657-ED6D2CE0D84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779" y="423789"/>
            <a:ext cx="201682" cy="201682"/>
          </a:xfrm>
          <a:prstGeom prst="rect">
            <a:avLst/>
          </a:prstGeom>
        </p:spPr>
      </p:pic>
      <p:sp>
        <p:nvSpPr>
          <p:cNvPr id="18" name="文本占位符 17">
            <a:extLst>
              <a:ext uri="{FF2B5EF4-FFF2-40B4-BE49-F238E27FC236}">
                <a16:creationId xmlns:a16="http://schemas.microsoft.com/office/drawing/2014/main" id="{003B1F35-1C5E-4046-0266-04F81948A3E3}"/>
              </a:ext>
            </a:extLst>
          </p:cNvPr>
          <p:cNvSpPr>
            <a:spLocks noGrp="1"/>
          </p:cNvSpPr>
          <p:nvPr>
            <p:ph type="body" sz="quarter" idx="10" hasCustomPrompt="1"/>
          </p:nvPr>
        </p:nvSpPr>
        <p:spPr>
          <a:xfrm>
            <a:off x="1753099" y="1024932"/>
            <a:ext cx="9570540" cy="4780556"/>
          </a:xfrm>
          <a:prstGeom prst="rect">
            <a:avLst/>
          </a:prstGeom>
        </p:spPr>
        <p:txBody>
          <a:bodyPr/>
          <a:lstStyle>
            <a:lvl1pPr marL="0" indent="0">
              <a:lnSpc>
                <a:spcPct val="150000"/>
              </a:lnSpc>
              <a:buNone/>
              <a:defRPr sz="1600"/>
            </a:lvl1pPr>
          </a:lstStyle>
          <a:p>
            <a:pPr lvl="0"/>
            <a:r>
              <a:rPr lang="zh-CN" altLang="en-US"/>
              <a:t>此处</a:t>
            </a:r>
            <a:r>
              <a:rPr lang="en-US" altLang="zh-CN"/>
              <a:t>weight</a:t>
            </a:r>
            <a:r>
              <a:rPr lang="zh-CN" altLang="en-US"/>
              <a:t>案例内容，字体不可改，阿里巴巴惠普体</a:t>
            </a:r>
            <a:r>
              <a:rPr lang="en-US" altLang="zh-CN"/>
              <a:t>16</a:t>
            </a:r>
            <a:r>
              <a:rPr lang="zh-CN" altLang="en-US"/>
              <a:t>号</a:t>
            </a:r>
          </a:p>
        </p:txBody>
      </p:sp>
      <p:grpSp>
        <p:nvGrpSpPr>
          <p:cNvPr id="26" name="组合 25">
            <a:extLst>
              <a:ext uri="{FF2B5EF4-FFF2-40B4-BE49-F238E27FC236}">
                <a16:creationId xmlns:a16="http://schemas.microsoft.com/office/drawing/2014/main" id="{20A81A7A-9283-4012-AFC4-85E90FC61246}"/>
              </a:ext>
            </a:extLst>
          </p:cNvPr>
          <p:cNvGrpSpPr/>
          <p:nvPr userDrawn="1"/>
        </p:nvGrpSpPr>
        <p:grpSpPr>
          <a:xfrm>
            <a:off x="504134" y="308770"/>
            <a:ext cx="1212680" cy="453281"/>
            <a:chOff x="532462" y="1628775"/>
            <a:chExt cx="1212680" cy="453281"/>
          </a:xfrm>
        </p:grpSpPr>
        <p:sp>
          <p:nvSpPr>
            <p:cNvPr id="24" name="矩形: 圆角 23">
              <a:extLst>
                <a:ext uri="{FF2B5EF4-FFF2-40B4-BE49-F238E27FC236}">
                  <a16:creationId xmlns:a16="http://schemas.microsoft.com/office/drawing/2014/main" id="{54670D28-3CCE-924C-0936-90894593722C}"/>
                </a:ext>
              </a:extLst>
            </p:cNvPr>
            <p:cNvSpPr/>
            <p:nvPr userDrawn="1"/>
          </p:nvSpPr>
          <p:spPr>
            <a:xfrm>
              <a:off x="695616" y="1668659"/>
              <a:ext cx="1031831" cy="373512"/>
            </a:xfrm>
            <a:prstGeom prst="roundRect">
              <a:avLst>
                <a:gd name="adj" fmla="val 1502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55B1B6FC-F79A-9918-E71A-665867D34C18}"/>
                </a:ext>
              </a:extLst>
            </p:cNvPr>
            <p:cNvSpPr/>
            <p:nvPr userDrawn="1"/>
          </p:nvSpPr>
          <p:spPr>
            <a:xfrm>
              <a:off x="532462" y="1628775"/>
              <a:ext cx="453281" cy="4532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形 22">
              <a:extLst>
                <a:ext uri="{FF2B5EF4-FFF2-40B4-BE49-F238E27FC236}">
                  <a16:creationId xmlns:a16="http://schemas.microsoft.com/office/drawing/2014/main" id="{831BBACC-20D7-DBD1-9827-7405F380536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261" y="1754574"/>
              <a:ext cx="201682" cy="201682"/>
            </a:xfrm>
            <a:prstGeom prst="rect">
              <a:avLst/>
            </a:prstGeom>
          </p:spPr>
        </p:pic>
        <p:sp>
          <p:nvSpPr>
            <p:cNvPr id="25" name="文本框 24">
              <a:extLst>
                <a:ext uri="{FF2B5EF4-FFF2-40B4-BE49-F238E27FC236}">
                  <a16:creationId xmlns:a16="http://schemas.microsoft.com/office/drawing/2014/main" id="{92206755-775B-95BA-7085-C3DF286396FF}"/>
                </a:ext>
              </a:extLst>
            </p:cNvPr>
            <p:cNvSpPr txBox="1"/>
            <p:nvPr userDrawn="1"/>
          </p:nvSpPr>
          <p:spPr>
            <a:xfrm>
              <a:off x="1000760" y="1655360"/>
              <a:ext cx="74438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b="0">
                  <a:solidFill>
                    <a:schemeClr val="accent1"/>
                  </a:solidFill>
                  <a:latin typeface="Alibaba PuHuiTi B" pitchFamily="18" charset="-122"/>
                  <a:ea typeface="Alibaba PuHuiTi B" pitchFamily="18" charset="-122"/>
                  <a:cs typeface="Alibaba PuHuiTi B" pitchFamily="18" charset="-122"/>
                </a:rPr>
                <a:t>练习</a:t>
              </a:r>
              <a:endParaRPr lang="zh-CN" altLang="en-US" sz="2000" b="0"/>
            </a:p>
          </p:txBody>
        </p:sp>
      </p:grpSp>
    </p:spTree>
    <p:extLst>
      <p:ext uri="{BB962C8B-B14F-4D97-AF65-F5344CB8AC3E}">
        <p14:creationId xmlns:p14="http://schemas.microsoft.com/office/powerpoint/2010/main" val="339810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E2BBC2-772E-7EE4-D242-D42D4DA45AF8}"/>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868446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小结页">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13735" y="1359878"/>
            <a:ext cx="7170081" cy="3962399"/>
          </a:xfrm>
          <a:prstGeom prst="rect">
            <a:avLst/>
          </a:prstGeom>
        </p:spPr>
        <p:txBody>
          <a:bodyPr anchor="ctr"/>
          <a:lstStyle>
            <a:lvl1pPr marL="0" indent="0">
              <a:lnSpc>
                <a:spcPct val="150000"/>
              </a:lnSpc>
              <a:buNone/>
              <a:defRPr sz="1600"/>
            </a:lvl1pPr>
          </a:lstStyle>
          <a:p>
            <a:pPr lvl="0"/>
            <a:r>
              <a:rPr lang="zh-CN" altLang="en-US"/>
              <a:t>点击输入小结内容</a:t>
            </a:r>
          </a:p>
        </p:txBody>
      </p:sp>
      <p:sp>
        <p:nvSpPr>
          <p:cNvPr id="2" name="文本框 1">
            <a:extLst>
              <a:ext uri="{FF2B5EF4-FFF2-40B4-BE49-F238E27FC236}">
                <a16:creationId xmlns:a16="http://schemas.microsoft.com/office/drawing/2014/main" id="{90828623-64C3-3CF5-C1AD-7CC5E8CC7C5A}"/>
              </a:ext>
            </a:extLst>
          </p:cNvPr>
          <p:cNvSpPr txBox="1"/>
          <p:nvPr userDrawn="1"/>
        </p:nvSpPr>
        <p:spPr>
          <a:xfrm>
            <a:off x="534625" y="2905780"/>
            <a:ext cx="2167598" cy="523220"/>
          </a:xfrm>
          <a:prstGeom prst="rect">
            <a:avLst/>
          </a:prstGeom>
          <a:noFill/>
        </p:spPr>
        <p:txBody>
          <a:bodyPr wrap="square">
            <a:spAutoFit/>
          </a:bodyPr>
          <a:lstStyle/>
          <a:p>
            <a:pPr algn="ctr"/>
            <a:r>
              <a:rPr lang="en-US" altLang="zh-CN" sz="2800" b="1" i="0">
                <a:gradFill>
                  <a:gsLst>
                    <a:gs pos="100000">
                      <a:schemeClr val="bg1">
                        <a:alpha val="30000"/>
                      </a:schemeClr>
                    </a:gs>
                    <a:gs pos="0">
                      <a:schemeClr val="bg1">
                        <a:alpha val="0"/>
                      </a:schemeClr>
                    </a:gs>
                  </a:gsLst>
                  <a:lin ang="16200000" scaled="1"/>
                </a:gradFill>
                <a:effectLst/>
                <a:latin typeface="Calisto MT" panose="02040603050505030304" pitchFamily="18" charset="0"/>
              </a:rPr>
              <a:t>BRIEF</a:t>
            </a:r>
          </a:p>
        </p:txBody>
      </p:sp>
      <p:sp>
        <p:nvSpPr>
          <p:cNvPr id="4" name="íşľíďe">
            <a:extLst>
              <a:ext uri="{FF2B5EF4-FFF2-40B4-BE49-F238E27FC236}">
                <a16:creationId xmlns:a16="http://schemas.microsoft.com/office/drawing/2014/main" id="{0D071958-1775-F474-3CD5-C9E1DEDF630A}"/>
              </a:ext>
            </a:extLst>
          </p:cNvPr>
          <p:cNvSpPr txBox="1"/>
          <p:nvPr userDrawn="1"/>
        </p:nvSpPr>
        <p:spPr>
          <a:xfrm flipH="1">
            <a:off x="1017939" y="3075057"/>
            <a:ext cx="1200970" cy="707886"/>
          </a:xfrm>
          <a:prstGeom prst="rect">
            <a:avLst/>
          </a:prstGeom>
          <a:noFill/>
        </p:spPr>
        <p:txBody>
          <a:bodyPr wrap="none" rtlCol="0">
            <a:spAutoFit/>
          </a:bodyPr>
          <a:lstStyle/>
          <a:p>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小结</a:t>
            </a:r>
            <a:endParaRPr lang="zh-CN" altLang="en-US" sz="4000" b="1" dirty="0">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Tree>
    <p:extLst>
      <p:ext uri="{BB962C8B-B14F-4D97-AF65-F5344CB8AC3E}">
        <p14:creationId xmlns:p14="http://schemas.microsoft.com/office/powerpoint/2010/main" val="1597969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3"/>
            <a:ext cx="10748057"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
        <p:nvSpPr>
          <p:cNvPr id="3" name="文本占位符 11"/>
          <p:cNvSpPr>
            <a:spLocks noGrp="1"/>
          </p:cNvSpPr>
          <p:nvPr>
            <p:ph type="body" sz="quarter" idx="11" hasCustomPrompt="1"/>
          </p:nvPr>
        </p:nvSpPr>
        <p:spPr>
          <a:xfrm>
            <a:off x="710880" y="1618707"/>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1323136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extLst>
      <p:ext uri="{BB962C8B-B14F-4D97-AF65-F5344CB8AC3E}">
        <p14:creationId xmlns:p14="http://schemas.microsoft.com/office/powerpoint/2010/main" val="1397681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二级标题+正文内容（无编号）">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6C2551-88ED-4239-96A2-7F3C49A205FD}"/>
              </a:ext>
            </a:extLst>
          </p:cNvPr>
          <p:cNvSpPr>
            <a:spLocks noGrp="1"/>
          </p:cNvSpPr>
          <p:nvPr>
            <p:ph type="title" hasCustomPrompt="1"/>
          </p:nvPr>
        </p:nvSpPr>
        <p:spPr>
          <a:xfrm>
            <a:off x="710880" y="1002232"/>
            <a:ext cx="1069880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0F12D90F-BB49-421D-A9D1-C25C2A378E5A}"/>
              </a:ext>
            </a:extLst>
          </p:cNvPr>
          <p:cNvSpPr>
            <a:spLocks noGrp="1"/>
          </p:cNvSpPr>
          <p:nvPr>
            <p:ph type="body" sz="quarter" idx="11" hasCustomPrompt="1"/>
          </p:nvPr>
        </p:nvSpPr>
        <p:spPr>
          <a:xfrm>
            <a:off x="710880" y="1624204"/>
            <a:ext cx="10698800" cy="386122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1610958281"/>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练习">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1054782"/>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101968"/>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练习标题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741808"/>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pic>
        <p:nvPicPr>
          <p:cNvPr id="13" name="图形 12">
            <a:extLst>
              <a:ext uri="{FF2B5EF4-FFF2-40B4-BE49-F238E27FC236}">
                <a16:creationId xmlns:a16="http://schemas.microsoft.com/office/drawing/2014/main" id="{1FD7787D-704C-E74D-B53E-A392EAB4805E}"/>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5476"/>
            <a:ext cx="201682" cy="201682"/>
          </a:xfrm>
          <a:prstGeom prst="rect">
            <a:avLst/>
          </a:prstGeom>
        </p:spPr>
      </p:pic>
    </p:spTree>
    <p:extLst>
      <p:ext uri="{BB962C8B-B14F-4D97-AF65-F5344CB8AC3E}">
        <p14:creationId xmlns:p14="http://schemas.microsoft.com/office/powerpoint/2010/main" val="35630295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案例">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105625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743280"/>
            <a:ext cx="9214230" cy="376237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pic>
        <p:nvPicPr>
          <p:cNvPr id="13" name="图形 12">
            <a:extLst>
              <a:ext uri="{FF2B5EF4-FFF2-40B4-BE49-F238E27FC236}">
                <a16:creationId xmlns:a16="http://schemas.microsoft.com/office/drawing/2014/main" id="{455DD043-453D-F04F-965C-A5E686829A6B}"/>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extLst>
      <p:ext uri="{BB962C8B-B14F-4D97-AF65-F5344CB8AC3E}">
        <p14:creationId xmlns:p14="http://schemas.microsoft.com/office/powerpoint/2010/main" val="11191249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练习">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33296530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167038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案例">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28225557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思考页">
    <p:spTree>
      <p:nvGrpSpPr>
        <p:cNvPr id="1" name=""/>
        <p:cNvGrpSpPr/>
        <p:nvPr/>
      </p:nvGrpSpPr>
      <p:grpSpPr>
        <a:xfrm>
          <a:off x="0" y="0"/>
          <a:ext cx="0" cy="0"/>
          <a:chOff x="0" y="0"/>
          <a:chExt cx="0" cy="0"/>
        </a:xfrm>
      </p:grpSpPr>
      <p:sp>
        <p:nvSpPr>
          <p:cNvPr id="28" name="六边形 27">
            <a:extLst>
              <a:ext uri="{FF2B5EF4-FFF2-40B4-BE49-F238E27FC236}">
                <a16:creationId xmlns:a16="http://schemas.microsoft.com/office/drawing/2014/main" id="{380B9059-6AA7-9E4F-BC56-F30289A262EA}"/>
              </a:ext>
            </a:extLst>
          </p:cNvPr>
          <p:cNvSpPr/>
          <p:nvPr userDrawn="1"/>
        </p:nvSpPr>
        <p:spPr>
          <a:xfrm rot="5400000">
            <a:off x="941355" y="35069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a:extLst>
              <a:ext uri="{FF2B5EF4-FFF2-40B4-BE49-F238E27FC236}">
                <a16:creationId xmlns:a16="http://schemas.microsoft.com/office/drawing/2014/main" id="{D71D36F9-1B1C-094A-A062-19A46A7AB388}"/>
              </a:ext>
            </a:extLst>
          </p:cNvPr>
          <p:cNvSpPr/>
          <p:nvPr userDrawn="1"/>
        </p:nvSpPr>
        <p:spPr>
          <a:xfrm rot="5400000">
            <a:off x="1484022" y="25274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695420" y="28826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p>
        </p:txBody>
      </p:sp>
      <p:sp>
        <p:nvSpPr>
          <p:cNvPr id="24" name="六边形 23">
            <a:extLst>
              <a:ext uri="{FF2B5EF4-FFF2-40B4-BE49-F238E27FC236}">
                <a16:creationId xmlns:a16="http://schemas.microsoft.com/office/drawing/2014/main" id="{745B08E3-3066-3844-87E9-46D7426765C6}"/>
              </a:ext>
            </a:extLst>
          </p:cNvPr>
          <p:cNvSpPr/>
          <p:nvPr userDrawn="1"/>
        </p:nvSpPr>
        <p:spPr>
          <a:xfrm rot="5400000">
            <a:off x="3294074" y="21491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a:extLst>
              <a:ext uri="{FF2B5EF4-FFF2-40B4-BE49-F238E27FC236}">
                <a16:creationId xmlns:a16="http://schemas.microsoft.com/office/drawing/2014/main" id="{B7A42CA5-7885-7642-B20D-B92B35099CBC}"/>
              </a:ext>
            </a:extLst>
          </p:cNvPr>
          <p:cNvSpPr/>
          <p:nvPr userDrawn="1"/>
        </p:nvSpPr>
        <p:spPr>
          <a:xfrm rot="5400000">
            <a:off x="1198356" y="41264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a:extLst>
              <a:ext uri="{FF2B5EF4-FFF2-40B4-BE49-F238E27FC236}">
                <a16:creationId xmlns:a16="http://schemas.microsoft.com/office/drawing/2014/main" id="{DE7B2235-1C6B-6B44-BC4F-1EC9BD8B9D8D}"/>
              </a:ext>
            </a:extLst>
          </p:cNvPr>
          <p:cNvSpPr/>
          <p:nvPr userDrawn="1"/>
        </p:nvSpPr>
        <p:spPr>
          <a:xfrm rot="5400000">
            <a:off x="3642476" y="43852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a:extLst>
              <a:ext uri="{FF2B5EF4-FFF2-40B4-BE49-F238E27FC236}">
                <a16:creationId xmlns:a16="http://schemas.microsoft.com/office/drawing/2014/main" id="{5BF818FD-51C6-E54A-9D53-783E1313F19E}"/>
              </a:ext>
            </a:extLst>
          </p:cNvPr>
          <p:cNvSpPr/>
          <p:nvPr userDrawn="1"/>
        </p:nvSpPr>
        <p:spPr>
          <a:xfrm rot="5400000">
            <a:off x="1190641" y="17150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19259993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19503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总结页">
    <p:spTree>
      <p:nvGrpSpPr>
        <p:cNvPr id="1" name=""/>
        <p:cNvGrpSpPr/>
        <p:nvPr/>
      </p:nvGrpSpPr>
      <p:grpSpPr>
        <a:xfrm>
          <a:off x="0" y="0"/>
          <a:ext cx="0" cy="0"/>
          <a:chOff x="0" y="0"/>
          <a:chExt cx="0" cy="0"/>
        </a:xfrm>
      </p:grpSpPr>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p>
          </p:txBody>
        </p:sp>
      </p:grpSp>
    </p:spTree>
    <p:extLst>
      <p:ext uri="{BB962C8B-B14F-4D97-AF65-F5344CB8AC3E}">
        <p14:creationId xmlns:p14="http://schemas.microsoft.com/office/powerpoint/2010/main" val="7316249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垂直排列标题与文本">
    <p:spTree>
      <p:nvGrpSpPr>
        <p:cNvPr id="1" name=""/>
        <p:cNvGrpSpPr/>
        <p:nvPr/>
      </p:nvGrpSpPr>
      <p:grpSpPr>
        <a:xfrm>
          <a:off x="0" y="0"/>
          <a:ext cx="0" cy="0"/>
          <a:chOff x="0" y="0"/>
          <a:chExt cx="0" cy="0"/>
        </a:xfrm>
      </p:grpSpPr>
    </p:spTree>
    <p:extLst>
      <p:ext uri="{BB962C8B-B14F-4D97-AF65-F5344CB8AC3E}">
        <p14:creationId xmlns:p14="http://schemas.microsoft.com/office/powerpoint/2010/main" val="8308660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21" name="椭圆 20">
            <a:extLst>
              <a:ext uri="{FF2B5EF4-FFF2-40B4-BE49-F238E27FC236}">
                <a16:creationId xmlns:a16="http://schemas.microsoft.com/office/drawing/2014/main" id="{A2C6D317-56F4-9711-5A26-95000236D36F}"/>
              </a:ext>
            </a:extLst>
          </p:cNvPr>
          <p:cNvSpPr/>
          <p:nvPr userDrawn="1"/>
        </p:nvSpPr>
        <p:spPr>
          <a:xfrm>
            <a:off x="375011" y="1961115"/>
            <a:ext cx="220344" cy="22034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9B200C4C-3F9D-867C-E497-ADCB7E43A5BB}"/>
              </a:ext>
            </a:extLst>
          </p:cNvPr>
          <p:cNvSpPr/>
          <p:nvPr userDrawn="1"/>
        </p:nvSpPr>
        <p:spPr>
          <a:xfrm>
            <a:off x="2838084" y="-2028162"/>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4824A05E-CCAC-E012-444F-D8238FD3ABEF}"/>
              </a:ext>
            </a:extLst>
          </p:cNvPr>
          <p:cNvSpPr/>
          <p:nvPr userDrawn="1"/>
        </p:nvSpPr>
        <p:spPr>
          <a:xfrm>
            <a:off x="4568596" y="-297650"/>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AC93AF0E-4B39-C67D-D03D-00737E937EE7}"/>
              </a:ext>
            </a:extLst>
          </p:cNvPr>
          <p:cNvSpPr/>
          <p:nvPr userDrawn="1"/>
        </p:nvSpPr>
        <p:spPr>
          <a:xfrm>
            <a:off x="6170528" y="1304282"/>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E545B57F-7D9D-4AD8-9FE4-E5267D65BB87}"/>
              </a:ext>
            </a:extLst>
          </p:cNvPr>
          <p:cNvSpPr>
            <a:spLocks noGrp="1"/>
          </p:cNvSpPr>
          <p:nvPr>
            <p:ph type="ctrTitle" hasCustomPrompt="1"/>
          </p:nvPr>
        </p:nvSpPr>
        <p:spPr>
          <a:xfrm>
            <a:off x="660400" y="2220686"/>
            <a:ext cx="10858500" cy="869023"/>
          </a:xfrm>
          <a:prstGeom prst="rect">
            <a:avLst/>
          </a:prstGeom>
        </p:spPr>
        <p:txBody>
          <a:bodyPr vert="horz" lIns="91440" tIns="45720" rIns="91440" bIns="45720" rtlCol="0" anchor="b">
            <a:normAutofit/>
          </a:bodyPr>
          <a:lstStyle>
            <a:lvl1pPr>
              <a:defRPr lang="zh-CN" altLang="en-US" sz="4800" b="1" dirty="0">
                <a:solidFill>
                  <a:schemeClr val="accent1"/>
                </a:solidFill>
              </a:defRPr>
            </a:lvl1pPr>
          </a:lstStyle>
          <a:p>
            <a:pPr lvl="0" defTabSz="914354"/>
            <a:r>
              <a:rPr lang="zh-CN" altLang="en-US"/>
              <a:t>点击输入一级标题</a:t>
            </a:r>
            <a:endParaRPr lang="zh-CN" altLang="en-US" dirty="0"/>
          </a:p>
        </p:txBody>
      </p:sp>
      <p:sp>
        <p:nvSpPr>
          <p:cNvPr id="11" name="圆心2">
            <a:extLst>
              <a:ext uri="{FF2B5EF4-FFF2-40B4-BE49-F238E27FC236}">
                <a16:creationId xmlns:a16="http://schemas.microsoft.com/office/drawing/2014/main" id="{6F73DB22-8BD9-67FD-6EBE-B56D6BF83FC2}"/>
              </a:ext>
            </a:extLst>
          </p:cNvPr>
          <p:cNvSpPr/>
          <p:nvPr/>
        </p:nvSpPr>
        <p:spPr>
          <a:xfrm>
            <a:off x="7262969" y="2396723"/>
            <a:ext cx="435738" cy="435738"/>
          </a:xfrm>
          <a:prstGeom prst="ellipse">
            <a:avLst/>
          </a:prstGeom>
          <a:solidFill>
            <a:schemeClr val="accent1">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心">
            <a:extLst>
              <a:ext uri="{FF2B5EF4-FFF2-40B4-BE49-F238E27FC236}">
                <a16:creationId xmlns:a16="http://schemas.microsoft.com/office/drawing/2014/main" id="{82339D60-0D0F-E0A8-9FEF-57B1B018D0C7}"/>
              </a:ext>
            </a:extLst>
          </p:cNvPr>
          <p:cNvSpPr/>
          <p:nvPr userDrawn="1"/>
        </p:nvSpPr>
        <p:spPr>
          <a:xfrm>
            <a:off x="7414470" y="2547358"/>
            <a:ext cx="132735" cy="13273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占位符 7">
            <a:extLst>
              <a:ext uri="{FF2B5EF4-FFF2-40B4-BE49-F238E27FC236}">
                <a16:creationId xmlns:a16="http://schemas.microsoft.com/office/drawing/2014/main" id="{FC241F82-E1B0-0249-A9D6-2656A3C64CB7}"/>
              </a:ext>
            </a:extLst>
          </p:cNvPr>
          <p:cNvSpPr>
            <a:spLocks noGrp="1"/>
          </p:cNvSpPr>
          <p:nvPr userDrawn="1">
            <p:ph type="body" sz="quarter" idx="10" hasCustomPrompt="1"/>
          </p:nvPr>
        </p:nvSpPr>
        <p:spPr>
          <a:xfrm>
            <a:off x="660400" y="3586894"/>
            <a:ext cx="4486275" cy="563562"/>
          </a:xfrm>
          <a:prstGeom prst="rect">
            <a:avLst/>
          </a:prstGeom>
        </p:spPr>
        <p:txBody>
          <a:bodyPr/>
          <a:lstStyle>
            <a:lvl1pPr marL="0" indent="0">
              <a:buNone/>
              <a:defRPr sz="2400"/>
            </a:lvl1pPr>
          </a:lstStyle>
          <a:p>
            <a:pPr lvl="0"/>
            <a:r>
              <a:rPr lang="zh-CN" altLang="en-US"/>
              <a:t>点击输入副标题</a:t>
            </a:r>
          </a:p>
        </p:txBody>
      </p:sp>
      <p:sp>
        <p:nvSpPr>
          <p:cNvPr id="20" name="椭圆 19">
            <a:extLst>
              <a:ext uri="{FF2B5EF4-FFF2-40B4-BE49-F238E27FC236}">
                <a16:creationId xmlns:a16="http://schemas.microsoft.com/office/drawing/2014/main" id="{EF4E1EF7-DD7F-C77D-A571-C682C80AC047}"/>
              </a:ext>
            </a:extLst>
          </p:cNvPr>
          <p:cNvSpPr/>
          <p:nvPr userDrawn="1"/>
        </p:nvSpPr>
        <p:spPr>
          <a:xfrm>
            <a:off x="485183" y="1962438"/>
            <a:ext cx="350434" cy="35043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B3C9B1B7-3BA3-1D3F-637E-1B77EAD927E4}"/>
              </a:ext>
            </a:extLst>
          </p:cNvPr>
          <p:cNvSpPr txBox="1"/>
          <p:nvPr userDrawn="1"/>
        </p:nvSpPr>
        <p:spPr>
          <a:xfrm>
            <a:off x="660399" y="6111671"/>
            <a:ext cx="8065704" cy="246221"/>
          </a:xfrm>
          <a:prstGeom prst="rect">
            <a:avLst/>
          </a:prstGeom>
          <a:noFill/>
        </p:spPr>
        <p:txBody>
          <a:bodyPr wrap="square" rtlCol="0">
            <a:spAutoFit/>
          </a:bodyPr>
          <a:lstStyle/>
          <a:p>
            <a:r>
              <a:rPr lang="zh-CN" altLang="en-US" sz="1000" i="0">
                <a:solidFill>
                  <a:schemeClr val="bg1">
                    <a:lumMod val="50000"/>
                  </a:schemeClr>
                </a:solidFill>
                <a:latin typeface="楷体" panose="02010609060101010101" pitchFamily="49" charset="-122"/>
                <a:ea typeface="楷体" panose="02010609060101010101" pitchFamily="49" charset="-122"/>
              </a:rPr>
              <a:t>多一句没有，少一句不行，用更短的时间，教会更实用的技术</a:t>
            </a:r>
          </a:p>
        </p:txBody>
      </p:sp>
      <p:sp>
        <p:nvSpPr>
          <p:cNvPr id="23" name="矩形 22">
            <a:extLst>
              <a:ext uri="{FF2B5EF4-FFF2-40B4-BE49-F238E27FC236}">
                <a16:creationId xmlns:a16="http://schemas.microsoft.com/office/drawing/2014/main" id="{976DEFC5-AB31-715D-5481-255694BCA629}"/>
              </a:ext>
            </a:extLst>
          </p:cNvPr>
          <p:cNvSpPr/>
          <p:nvPr userDrawn="1"/>
        </p:nvSpPr>
        <p:spPr>
          <a:xfrm>
            <a:off x="720618" y="5942536"/>
            <a:ext cx="2001676" cy="63628"/>
          </a:xfrm>
          <a:prstGeom prst="rect">
            <a:avLst/>
          </a:prstGeom>
          <a:gradFill flip="none" rotWithShape="1">
            <a:gsLst>
              <a:gs pos="0">
                <a:schemeClr val="bg1"/>
              </a:gs>
              <a:gs pos="50000">
                <a:schemeClr val="accent1"/>
              </a:gs>
              <a:gs pos="100000">
                <a:schemeClr val="accent1">
                  <a:shade val="100000"/>
                  <a:satMod val="115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长直线">
            <a:extLst>
              <a:ext uri="{FF2B5EF4-FFF2-40B4-BE49-F238E27FC236}">
                <a16:creationId xmlns:a16="http://schemas.microsoft.com/office/drawing/2014/main" id="{29F34751-B9FF-378D-D7A3-B7B27A91478D}"/>
              </a:ext>
            </a:extLst>
          </p:cNvPr>
          <p:cNvCxnSpPr>
            <a:cxnSpLocks/>
          </p:cNvCxnSpPr>
          <p:nvPr userDrawn="1"/>
        </p:nvCxnSpPr>
        <p:spPr>
          <a:xfrm>
            <a:off x="7858832" y="2124884"/>
            <a:ext cx="129159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短直线">
            <a:extLst>
              <a:ext uri="{FF2B5EF4-FFF2-40B4-BE49-F238E27FC236}">
                <a16:creationId xmlns:a16="http://schemas.microsoft.com/office/drawing/2014/main" id="{E9D012F5-DFB7-A078-3B1C-F9FE02E47E91}"/>
              </a:ext>
            </a:extLst>
          </p:cNvPr>
          <p:cNvCxnSpPr/>
          <p:nvPr userDrawn="1"/>
        </p:nvCxnSpPr>
        <p:spPr>
          <a:xfrm flipV="1">
            <a:off x="7550306" y="2124884"/>
            <a:ext cx="308526" cy="26631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图形 8">
            <a:extLst>
              <a:ext uri="{FF2B5EF4-FFF2-40B4-BE49-F238E27FC236}">
                <a16:creationId xmlns:a16="http://schemas.microsoft.com/office/drawing/2014/main" id="{EA3F6F4D-08CF-9E00-D954-69D3520E644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8081" t="21237" r="10346" b="18121"/>
          <a:stretch/>
        </p:blipFill>
        <p:spPr>
          <a:xfrm>
            <a:off x="9956716" y="152244"/>
            <a:ext cx="1848051" cy="605113"/>
          </a:xfrm>
          <a:prstGeom prst="rect">
            <a:avLst/>
          </a:prstGeom>
        </p:spPr>
      </p:pic>
      <p:pic>
        <p:nvPicPr>
          <p:cNvPr id="4" name="图片 3">
            <a:extLst>
              <a:ext uri="{FF2B5EF4-FFF2-40B4-BE49-F238E27FC236}">
                <a16:creationId xmlns:a16="http://schemas.microsoft.com/office/drawing/2014/main" id="{61E490B8-2AEA-ACCD-9526-01BED78DEB5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rot="2564276" flipH="1" flipV="1">
            <a:off x="3592764" y="481454"/>
            <a:ext cx="9317253" cy="6210881"/>
          </a:xfrm>
          <a:prstGeom prst="rect">
            <a:avLst/>
          </a:prstGeom>
        </p:spPr>
      </p:pic>
      <p:sp>
        <p:nvSpPr>
          <p:cNvPr id="14" name="文本框">
            <a:extLst>
              <a:ext uri="{FF2B5EF4-FFF2-40B4-BE49-F238E27FC236}">
                <a16:creationId xmlns:a16="http://schemas.microsoft.com/office/drawing/2014/main" id="{C37184BC-D315-706A-20DF-529BAFF1993E}"/>
              </a:ext>
            </a:extLst>
          </p:cNvPr>
          <p:cNvSpPr txBox="1"/>
          <p:nvPr userDrawn="1"/>
        </p:nvSpPr>
        <p:spPr>
          <a:xfrm>
            <a:off x="8399534" y="1847885"/>
            <a:ext cx="1366080" cy="307777"/>
          </a:xfrm>
          <a:prstGeom prst="rect">
            <a:avLst/>
          </a:prstGeom>
          <a:noFill/>
        </p:spPr>
        <p:txBody>
          <a:bodyPr wrap="none" rtlCol="0">
            <a:spAutoFit/>
          </a:bodyPr>
          <a:lstStyle/>
          <a:p>
            <a:r>
              <a:rPr lang="en-US" altLang="zh-CN" sz="1400" b="1">
                <a:solidFill>
                  <a:schemeClr val="accent1"/>
                </a:solidFill>
              </a:rPr>
              <a:t>AI Copilot </a:t>
            </a:r>
            <a:endParaRPr lang="zh-CN" altLang="en-US" sz="1400" b="1" dirty="0">
              <a:solidFill>
                <a:schemeClr val="accent1"/>
              </a:solidFill>
            </a:endParaRPr>
          </a:p>
        </p:txBody>
      </p:sp>
    </p:spTree>
    <p:extLst>
      <p:ext uri="{BB962C8B-B14F-4D97-AF65-F5344CB8AC3E}">
        <p14:creationId xmlns:p14="http://schemas.microsoft.com/office/powerpoint/2010/main" val="3218541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par>
                                <p:cTn id="10" presetID="53" presetClass="entr" presetSubtype="16" fill="hold" grpId="0" nodeType="withEffect">
                                  <p:stCondLst>
                                    <p:cond delay="150"/>
                                  </p:st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Effect transition="in" filter="fade">
                                      <p:cBhvr>
                                        <p:cTn id="14" dur="500"/>
                                        <p:tgtEl>
                                          <p:spTgt spid="11"/>
                                        </p:tgtEl>
                                      </p:cBhvr>
                                    </p:animEffect>
                                  </p:childTnLst>
                                </p:cTn>
                              </p:par>
                              <p:par>
                                <p:cTn id="15" presetID="53" presetClass="entr" presetSubtype="16" fill="hold" grpId="0" nodeType="withEffect">
                                  <p:stCondLst>
                                    <p:cond delay="300"/>
                                  </p:stCondLst>
                                  <p:childTnLst>
                                    <p:set>
                                      <p:cBhvr>
                                        <p:cTn id="16" dur="1" fill="hold">
                                          <p:stCondLst>
                                            <p:cond delay="0"/>
                                          </p:stCondLst>
                                        </p:cTn>
                                        <p:tgtEl>
                                          <p:spTgt spid="16"/>
                                        </p:tgtEl>
                                        <p:attrNameLst>
                                          <p:attrName>style.visibility</p:attrName>
                                        </p:attrNameLst>
                                      </p:cBhvr>
                                      <p:to>
                                        <p:strVal val="visible"/>
                                      </p:to>
                                    </p:set>
                                    <p:anim calcmode="lin" valueType="num">
                                      <p:cBhvr>
                                        <p:cTn id="17" dur="500" fill="hold"/>
                                        <p:tgtEl>
                                          <p:spTgt spid="16"/>
                                        </p:tgtEl>
                                        <p:attrNameLst>
                                          <p:attrName>ppt_w</p:attrName>
                                        </p:attrNameLst>
                                      </p:cBhvr>
                                      <p:tavLst>
                                        <p:tav tm="0">
                                          <p:val>
                                            <p:fltVal val="0"/>
                                          </p:val>
                                        </p:tav>
                                        <p:tav tm="100000">
                                          <p:val>
                                            <p:strVal val="#ppt_w"/>
                                          </p:val>
                                        </p:tav>
                                      </p:tavLst>
                                    </p:anim>
                                    <p:anim calcmode="lin" valueType="num">
                                      <p:cBhvr>
                                        <p:cTn id="18" dur="500" fill="hold"/>
                                        <p:tgtEl>
                                          <p:spTgt spid="16"/>
                                        </p:tgtEl>
                                        <p:attrNameLst>
                                          <p:attrName>ppt_h</p:attrName>
                                        </p:attrNameLst>
                                      </p:cBhvr>
                                      <p:tavLst>
                                        <p:tav tm="0">
                                          <p:val>
                                            <p:fltVal val="0"/>
                                          </p:val>
                                        </p:tav>
                                        <p:tav tm="100000">
                                          <p:val>
                                            <p:strVal val="#ppt_h"/>
                                          </p:val>
                                        </p:tav>
                                      </p:tavLst>
                                    </p:anim>
                                    <p:animEffect transition="in" filter="fade">
                                      <p:cBhvr>
                                        <p:cTn id="19" dur="500"/>
                                        <p:tgtEl>
                                          <p:spTgt spid="16"/>
                                        </p:tgtEl>
                                      </p:cBhvr>
                                    </p:animEffect>
                                  </p:childTnLst>
                                </p:cTn>
                              </p:par>
                              <p:par>
                                <p:cTn id="20" presetID="53" presetClass="entr" presetSubtype="16" fill="hold" grpId="0" nodeType="withEffect">
                                  <p:stCondLst>
                                    <p:cond delay="450"/>
                                  </p:stCondLst>
                                  <p:childTnLst>
                                    <p:set>
                                      <p:cBhvr>
                                        <p:cTn id="21" dur="1" fill="hold">
                                          <p:stCondLst>
                                            <p:cond delay="0"/>
                                          </p:stCondLst>
                                        </p:cTn>
                                        <p:tgtEl>
                                          <p:spTgt spid="17"/>
                                        </p:tgtEl>
                                        <p:attrNameLst>
                                          <p:attrName>style.visibility</p:attrName>
                                        </p:attrNameLst>
                                      </p:cBhvr>
                                      <p:to>
                                        <p:strVal val="visible"/>
                                      </p:to>
                                    </p:set>
                                    <p:anim calcmode="lin" valueType="num">
                                      <p:cBhvr>
                                        <p:cTn id="22" dur="500" fill="hold"/>
                                        <p:tgtEl>
                                          <p:spTgt spid="17"/>
                                        </p:tgtEl>
                                        <p:attrNameLst>
                                          <p:attrName>ppt_w</p:attrName>
                                        </p:attrNameLst>
                                      </p:cBhvr>
                                      <p:tavLst>
                                        <p:tav tm="0">
                                          <p:val>
                                            <p:fltVal val="0"/>
                                          </p:val>
                                        </p:tav>
                                        <p:tav tm="100000">
                                          <p:val>
                                            <p:strVal val="#ppt_w"/>
                                          </p:val>
                                        </p:tav>
                                      </p:tavLst>
                                    </p:anim>
                                    <p:anim calcmode="lin" valueType="num">
                                      <p:cBhvr>
                                        <p:cTn id="23" dur="500" fill="hold"/>
                                        <p:tgtEl>
                                          <p:spTgt spid="17"/>
                                        </p:tgtEl>
                                        <p:attrNameLst>
                                          <p:attrName>ppt_h</p:attrName>
                                        </p:attrNameLst>
                                      </p:cBhvr>
                                      <p:tavLst>
                                        <p:tav tm="0">
                                          <p:val>
                                            <p:fltVal val="0"/>
                                          </p:val>
                                        </p:tav>
                                        <p:tav tm="100000">
                                          <p:val>
                                            <p:strVal val="#ppt_h"/>
                                          </p:val>
                                        </p:tav>
                                      </p:tavLst>
                                    </p:anim>
                                    <p:animEffect transition="in" filter="fade">
                                      <p:cBhvr>
                                        <p:cTn id="24" dur="500"/>
                                        <p:tgtEl>
                                          <p:spTgt spid="17"/>
                                        </p:tgtEl>
                                      </p:cBhvr>
                                    </p:animEffect>
                                  </p:childTnLst>
                                </p:cTn>
                              </p:par>
                              <p:par>
                                <p:cTn id="25" presetID="53" presetClass="entr" presetSubtype="16" fill="hold" grpId="0" nodeType="withEffect">
                                  <p:stCondLst>
                                    <p:cond delay="600"/>
                                  </p:stCondLst>
                                  <p:childTnLst>
                                    <p:set>
                                      <p:cBhvr>
                                        <p:cTn id="26" dur="1" fill="hold">
                                          <p:stCondLst>
                                            <p:cond delay="0"/>
                                          </p:stCondLst>
                                        </p:cTn>
                                        <p:tgtEl>
                                          <p:spTgt spid="18"/>
                                        </p:tgtEl>
                                        <p:attrNameLst>
                                          <p:attrName>style.visibility</p:attrName>
                                        </p:attrNameLst>
                                      </p:cBhvr>
                                      <p:to>
                                        <p:strVal val="visible"/>
                                      </p:to>
                                    </p:set>
                                    <p:anim calcmode="lin" valueType="num">
                                      <p:cBhvr>
                                        <p:cTn id="27" dur="500" fill="hold"/>
                                        <p:tgtEl>
                                          <p:spTgt spid="18"/>
                                        </p:tgtEl>
                                        <p:attrNameLst>
                                          <p:attrName>ppt_w</p:attrName>
                                        </p:attrNameLst>
                                      </p:cBhvr>
                                      <p:tavLst>
                                        <p:tav tm="0">
                                          <p:val>
                                            <p:fltVal val="0"/>
                                          </p:val>
                                        </p:tav>
                                        <p:tav tm="100000">
                                          <p:val>
                                            <p:strVal val="#ppt_w"/>
                                          </p:val>
                                        </p:tav>
                                      </p:tavLst>
                                    </p:anim>
                                    <p:anim calcmode="lin" valueType="num">
                                      <p:cBhvr>
                                        <p:cTn id="28" dur="500" fill="hold"/>
                                        <p:tgtEl>
                                          <p:spTgt spid="18"/>
                                        </p:tgtEl>
                                        <p:attrNameLst>
                                          <p:attrName>ppt_h</p:attrName>
                                        </p:attrNameLst>
                                      </p:cBhvr>
                                      <p:tavLst>
                                        <p:tav tm="0">
                                          <p:val>
                                            <p:fltVal val="0"/>
                                          </p:val>
                                        </p:tav>
                                        <p:tav tm="100000">
                                          <p:val>
                                            <p:strVal val="#ppt_h"/>
                                          </p:val>
                                        </p:tav>
                                      </p:tavLst>
                                    </p:anim>
                                    <p:animEffect transition="in" filter="fade">
                                      <p:cBhvr>
                                        <p:cTn id="29" dur="500"/>
                                        <p:tgtEl>
                                          <p:spTgt spid="18"/>
                                        </p:tgtEl>
                                      </p:cBhvr>
                                    </p:animEffect>
                                  </p:childTnLst>
                                </p:cTn>
                              </p:par>
                              <p:par>
                                <p:cTn id="30" presetID="22" presetClass="entr" presetSubtype="8" fill="hold" nodeType="withEffect">
                                  <p:stCondLst>
                                    <p:cond delay="25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500"/>
                                        <p:tgtEl>
                                          <p:spTgt spid="15"/>
                                        </p:tgtEl>
                                      </p:cBhvr>
                                    </p:animEffect>
                                  </p:childTnLst>
                                </p:cTn>
                              </p:par>
                              <p:par>
                                <p:cTn id="33" presetID="22" presetClass="entr" presetSubtype="8" fill="hold" nodeType="withEffect">
                                  <p:stCondLst>
                                    <p:cond delay="75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500"/>
                                        <p:tgtEl>
                                          <p:spTgt spid="13"/>
                                        </p:tgtEl>
                                      </p:cBhvr>
                                    </p:animEffect>
                                  </p:childTnLst>
                                </p:cTn>
                              </p:par>
                              <p:par>
                                <p:cTn id="36" presetID="10" presetClass="entr" presetSubtype="0" decel="100000" fill="hold" grpId="0" nodeType="withEffect">
                                  <p:stCondLst>
                                    <p:cond delay="100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stCondLst>
                                            <p:cond delay="0"/>
                                          </p:stCondLst>
                                        </p:cTn>
                                        <p:tgtEl>
                                          <p:spTgt spid="14"/>
                                        </p:tgtEl>
                                      </p:cBhvr>
                                    </p:animEffect>
                                    <p:anim to="0" calcmode="lin" valueType="num">
                                      <p:cBhvr>
                                        <p:cTn id="39" dur="500" fill="hold">
                                          <p:stCondLst>
                                            <p:cond delay="0"/>
                                          </p:stCondLst>
                                        </p:cTn>
                                        <p:tgtEl>
                                          <p:spTgt spid="14"/>
                                        </p:tgtEl>
                                        <p:attrNameLst>
                                          <p:attrName>ppt_x</p:attrName>
                                        </p:attrNameLst>
                                      </p:cBhvr>
                                      <p:tavLst>
                                        <p:tav tm="0">
                                          <p:val>
                                            <p:strVal val="#ppt_x-.05"/>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7" grpId="0" animBg="1"/>
      <p:bldP spid="16" grpId="0" animBg="1"/>
      <p:bldP spid="11" grpId="0" animBg="1"/>
      <p:bldP spid="12" grpId="0" animBg="1"/>
      <p:bldP spid="14"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完结">
    <p:spTree>
      <p:nvGrpSpPr>
        <p:cNvPr id="1" name=""/>
        <p:cNvGrpSpPr/>
        <p:nvPr/>
      </p:nvGrpSpPr>
      <p:grpSpPr>
        <a:xfrm>
          <a:off x="0" y="0"/>
          <a:ext cx="0" cy="0"/>
          <a:chOff x="0" y="0"/>
          <a:chExt cx="0" cy="0"/>
        </a:xfrm>
      </p:grpSpPr>
      <p:sp>
        <p:nvSpPr>
          <p:cNvPr id="36" name="椭圆 35">
            <a:extLst>
              <a:ext uri="{FF2B5EF4-FFF2-40B4-BE49-F238E27FC236}">
                <a16:creationId xmlns:a16="http://schemas.microsoft.com/office/drawing/2014/main" id="{9C7E64E7-1F0A-79D2-A263-3605467F0B51}"/>
              </a:ext>
            </a:extLst>
          </p:cNvPr>
          <p:cNvSpPr/>
          <p:nvPr userDrawn="1"/>
        </p:nvSpPr>
        <p:spPr>
          <a:xfrm>
            <a:off x="1367628" y="-1213754"/>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C8A0D84D-155A-2194-ED3A-5A7CB9A4B72A}"/>
              </a:ext>
            </a:extLst>
          </p:cNvPr>
          <p:cNvSpPr/>
          <p:nvPr userDrawn="1"/>
        </p:nvSpPr>
        <p:spPr>
          <a:xfrm>
            <a:off x="3098140" y="516758"/>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0F7740DA-4F67-1648-9FE7-BA25A7F2910D}"/>
              </a:ext>
            </a:extLst>
          </p:cNvPr>
          <p:cNvSpPr/>
          <p:nvPr userDrawn="1"/>
        </p:nvSpPr>
        <p:spPr>
          <a:xfrm>
            <a:off x="4700072" y="2118690"/>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iṩ1iḍé">
            <a:extLst>
              <a:ext uri="{FF2B5EF4-FFF2-40B4-BE49-F238E27FC236}">
                <a16:creationId xmlns:a16="http://schemas.microsoft.com/office/drawing/2014/main" id="{7F87E56D-6D24-DF28-4A8B-DD94A5588CCD}"/>
              </a:ext>
            </a:extLst>
          </p:cNvPr>
          <p:cNvSpPr/>
          <p:nvPr userDrawn="1"/>
        </p:nvSpPr>
        <p:spPr>
          <a:xfrm>
            <a:off x="0" y="2689964"/>
            <a:ext cx="12192000" cy="1478071"/>
          </a:xfrm>
          <a:prstGeom prst="rect">
            <a:avLst/>
          </a:prstGeom>
          <a:gradFill flip="none" rotWithShape="1">
            <a:gsLst>
              <a:gs pos="0">
                <a:schemeClr val="accent1"/>
              </a:gs>
              <a:gs pos="90000">
                <a:schemeClr val="accent1"/>
              </a:gs>
            </a:gsLst>
            <a:lin ang="0" scaled="1"/>
            <a:tileRect/>
          </a:gradFill>
          <a:ln>
            <a:noFill/>
          </a:ln>
          <a:effectLst>
            <a:outerShdw blurRad="139700" dist="76200" dir="4560000" algn="t"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2" name="组合 31">
            <a:extLst>
              <a:ext uri="{FF2B5EF4-FFF2-40B4-BE49-F238E27FC236}">
                <a16:creationId xmlns:a16="http://schemas.microsoft.com/office/drawing/2014/main" id="{57CD92EE-FE45-4CC1-22A5-2D2AFAEDCC3F}"/>
              </a:ext>
            </a:extLst>
          </p:cNvPr>
          <p:cNvGrpSpPr/>
          <p:nvPr userDrawn="1"/>
        </p:nvGrpSpPr>
        <p:grpSpPr>
          <a:xfrm>
            <a:off x="3131925" y="2916806"/>
            <a:ext cx="4953838" cy="853924"/>
            <a:chOff x="3131925" y="2844887"/>
            <a:chExt cx="4953838" cy="853924"/>
          </a:xfrm>
        </p:grpSpPr>
        <p:pic>
          <p:nvPicPr>
            <p:cNvPr id="33" name="图片 1">
              <a:extLst>
                <a:ext uri="{FF2B5EF4-FFF2-40B4-BE49-F238E27FC236}">
                  <a16:creationId xmlns:a16="http://schemas.microsoft.com/office/drawing/2014/main" id="{C64F9D38-0ED4-99F8-903A-45555ADF80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29627"/>
            <a:stretch/>
          </p:blipFill>
          <p:spPr bwMode="auto">
            <a:xfrm>
              <a:off x="3131925" y="2844887"/>
              <a:ext cx="2948463" cy="8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4" name="直接连接符 33">
              <a:extLst>
                <a:ext uri="{FF2B5EF4-FFF2-40B4-BE49-F238E27FC236}">
                  <a16:creationId xmlns:a16="http://schemas.microsoft.com/office/drawing/2014/main" id="{C2C68E28-2375-6922-E133-284E7821B447}"/>
                </a:ext>
              </a:extLst>
            </p:cNvPr>
            <p:cNvCxnSpPr>
              <a:cxnSpLocks/>
            </p:cNvCxnSpPr>
            <p:nvPr userDrawn="1"/>
          </p:nvCxnSpPr>
          <p:spPr>
            <a:xfrm>
              <a:off x="6010382" y="3154751"/>
              <a:ext cx="0" cy="3801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AC7DE38E-8849-1998-75E8-89E432D90EBE}"/>
                </a:ext>
              </a:extLst>
            </p:cNvPr>
            <p:cNvSpPr txBox="1"/>
            <p:nvPr userDrawn="1"/>
          </p:nvSpPr>
          <p:spPr>
            <a:xfrm>
              <a:off x="6096001" y="3021658"/>
              <a:ext cx="1989762" cy="646331"/>
            </a:xfrm>
            <a:prstGeom prst="rect">
              <a:avLst/>
            </a:prstGeom>
            <a:noFill/>
          </p:spPr>
          <p:txBody>
            <a:bodyPr wrap="square" rtlCol="0">
              <a:spAutoFit/>
            </a:bodyPr>
            <a:lstStyle/>
            <a:p>
              <a:r>
                <a:rPr lang="zh-CN" altLang="en-US">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传智教育旗下</a:t>
              </a:r>
              <a:endParaRPr lang="en-US" altLang="zh-CN">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endParaRPr>
            </a:p>
            <a:p>
              <a:r>
                <a:rPr lang="zh-CN" altLang="en-US">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高端</a:t>
              </a:r>
              <a:r>
                <a:rPr lang="en-US" altLang="zh-CN">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IT</a:t>
              </a:r>
              <a:r>
                <a:rPr lang="zh-CN" altLang="en-US">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教育品牌</a:t>
              </a:r>
            </a:p>
          </p:txBody>
        </p:sp>
      </p:grpSp>
    </p:spTree>
    <p:extLst>
      <p:ext uri="{BB962C8B-B14F-4D97-AF65-F5344CB8AC3E}">
        <p14:creationId xmlns:p14="http://schemas.microsoft.com/office/powerpoint/2010/main" val="34970038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8" name="椭圆 7">
            <a:extLst>
              <a:ext uri="{FF2B5EF4-FFF2-40B4-BE49-F238E27FC236}">
                <a16:creationId xmlns:a16="http://schemas.microsoft.com/office/drawing/2014/main" id="{34FB0A6B-66AE-D2A8-FCAE-415D3251A19B}"/>
              </a:ext>
            </a:extLst>
          </p:cNvPr>
          <p:cNvSpPr/>
          <p:nvPr userDrawn="1"/>
        </p:nvSpPr>
        <p:spPr>
          <a:xfrm>
            <a:off x="367090" y="-1714814"/>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a:extLst>
              <a:ext uri="{FF2B5EF4-FFF2-40B4-BE49-F238E27FC236}">
                <a16:creationId xmlns:a16="http://schemas.microsoft.com/office/drawing/2014/main" id="{38539A05-556B-81A4-0795-3B191CB53943}"/>
              </a:ext>
            </a:extLst>
          </p:cNvPr>
          <p:cNvSpPr/>
          <p:nvPr userDrawn="1"/>
        </p:nvSpPr>
        <p:spPr>
          <a:xfrm>
            <a:off x="1832990" y="-2841"/>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10CECE50-264B-8294-A89A-D0F8A1907A78}"/>
              </a:ext>
            </a:extLst>
          </p:cNvPr>
          <p:cNvSpPr/>
          <p:nvPr userDrawn="1"/>
        </p:nvSpPr>
        <p:spPr>
          <a:xfrm>
            <a:off x="3434922" y="1599091"/>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a:extLst>
              <a:ext uri="{FF2B5EF4-FFF2-40B4-BE49-F238E27FC236}">
                <a16:creationId xmlns:a16="http://schemas.microsoft.com/office/drawing/2014/main" id="{287C0C2E-27D7-4123-B01F-3144FCE1EF2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741" r="31458"/>
          <a:stretch/>
        </p:blipFill>
        <p:spPr>
          <a:xfrm rot="568416">
            <a:off x="90962" y="381112"/>
            <a:ext cx="4016078" cy="5720226"/>
          </a:xfrm>
          <a:prstGeom prst="rect">
            <a:avLst/>
          </a:prstGeom>
        </p:spPr>
      </p:pic>
      <p:pic>
        <p:nvPicPr>
          <p:cNvPr id="6" name="图片 5">
            <a:extLst>
              <a:ext uri="{FF2B5EF4-FFF2-40B4-BE49-F238E27FC236}">
                <a16:creationId xmlns:a16="http://schemas.microsoft.com/office/drawing/2014/main" id="{8F041D8F-DCC0-35B8-2AA2-F0A7BAB253C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741" r="31458"/>
          <a:stretch/>
        </p:blipFill>
        <p:spPr>
          <a:xfrm rot="20629034">
            <a:off x="-3526421" y="-821074"/>
            <a:ext cx="4016077" cy="5720225"/>
          </a:xfrm>
          <a:prstGeom prst="rect">
            <a:avLst/>
          </a:prstGeom>
        </p:spPr>
      </p:pic>
      <p:sp>
        <p:nvSpPr>
          <p:cNvPr id="19" name="椭圆 18">
            <a:extLst>
              <a:ext uri="{FF2B5EF4-FFF2-40B4-BE49-F238E27FC236}">
                <a16:creationId xmlns:a16="http://schemas.microsoft.com/office/drawing/2014/main" id="{C3296A99-F5C4-3E6A-FF6E-4852C12DEE94}"/>
              </a:ext>
            </a:extLst>
          </p:cNvPr>
          <p:cNvSpPr/>
          <p:nvPr userDrawn="1"/>
        </p:nvSpPr>
        <p:spPr>
          <a:xfrm>
            <a:off x="4631217" y="3066159"/>
            <a:ext cx="409736" cy="409736"/>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心">
            <a:extLst>
              <a:ext uri="{FF2B5EF4-FFF2-40B4-BE49-F238E27FC236}">
                <a16:creationId xmlns:a16="http://schemas.microsoft.com/office/drawing/2014/main" id="{2B661CB4-3CBD-5C2B-5102-A013FB7A719E}"/>
              </a:ext>
            </a:extLst>
          </p:cNvPr>
          <p:cNvSpPr/>
          <p:nvPr/>
        </p:nvSpPr>
        <p:spPr>
          <a:xfrm>
            <a:off x="4184938" y="2356361"/>
            <a:ext cx="1119534" cy="111953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latin typeface="+mj-ea"/>
              <a:ea typeface="+mj-ea"/>
            </a:endParaRPr>
          </a:p>
        </p:txBody>
      </p:sp>
      <p:sp>
        <p:nvSpPr>
          <p:cNvPr id="4" name="文本占位符 3">
            <a:extLst>
              <a:ext uri="{FF2B5EF4-FFF2-40B4-BE49-F238E27FC236}">
                <a16:creationId xmlns:a16="http://schemas.microsoft.com/office/drawing/2014/main" id="{3EC6ED1A-7B72-CBE7-8DC0-8CA41549B762}"/>
              </a:ext>
            </a:extLst>
          </p:cNvPr>
          <p:cNvSpPr>
            <a:spLocks noGrp="1"/>
          </p:cNvSpPr>
          <p:nvPr>
            <p:ph type="body" sz="quarter" idx="13" hasCustomPrompt="1"/>
          </p:nvPr>
        </p:nvSpPr>
        <p:spPr>
          <a:xfrm>
            <a:off x="5834081" y="2465278"/>
            <a:ext cx="3397250" cy="901700"/>
          </a:xfrm>
          <a:prstGeom prst="rect">
            <a:avLst/>
          </a:prstGeom>
        </p:spPr>
        <p:txBody>
          <a:bodyPr anchor="ctr"/>
          <a:lstStyle>
            <a:lvl1pPr marL="0" indent="0">
              <a:lnSpc>
                <a:spcPct val="100000"/>
              </a:lnSpc>
              <a:buNone/>
              <a:defRPr sz="3600">
                <a:latin typeface="+mj-ea"/>
                <a:ea typeface="+mj-ea"/>
              </a:defRPr>
            </a:lvl1pPr>
          </a:lstStyle>
          <a:p>
            <a:pPr lvl="0"/>
            <a:r>
              <a:rPr lang="zh-CN" altLang="en-US"/>
              <a:t>章节标题</a:t>
            </a:r>
          </a:p>
        </p:txBody>
      </p:sp>
      <p:sp>
        <p:nvSpPr>
          <p:cNvPr id="7" name="文本占位符 6">
            <a:extLst>
              <a:ext uri="{FF2B5EF4-FFF2-40B4-BE49-F238E27FC236}">
                <a16:creationId xmlns:a16="http://schemas.microsoft.com/office/drawing/2014/main" id="{AF3EC600-D80B-73CA-E06E-8768FDEAA47B}"/>
              </a:ext>
            </a:extLst>
          </p:cNvPr>
          <p:cNvSpPr>
            <a:spLocks noGrp="1"/>
          </p:cNvSpPr>
          <p:nvPr>
            <p:ph type="body" sz="quarter" idx="14" hasCustomPrompt="1"/>
          </p:nvPr>
        </p:nvSpPr>
        <p:spPr>
          <a:xfrm>
            <a:off x="4302239" y="2675622"/>
            <a:ext cx="884931" cy="481012"/>
          </a:xfrm>
          <a:prstGeom prst="rect">
            <a:avLst/>
          </a:prstGeom>
        </p:spPr>
        <p:txBody>
          <a:bodyPr anchor="ctr"/>
          <a:lstStyle>
            <a:lvl1pPr marL="0" indent="0" algn="ctr">
              <a:lnSpc>
                <a:spcPct val="100000"/>
              </a:lnSpc>
              <a:buNone/>
              <a:defRPr sz="3600">
                <a:solidFill>
                  <a:schemeClr val="bg1"/>
                </a:solidFill>
                <a:latin typeface="+mj-ea"/>
                <a:ea typeface="+mj-ea"/>
              </a:defRPr>
            </a:lvl1pPr>
          </a:lstStyle>
          <a:p>
            <a:pPr lvl="0"/>
            <a:r>
              <a:rPr lang="en-US" altLang="zh-CN"/>
              <a:t>1</a:t>
            </a:r>
            <a:endParaRPr lang="zh-CN" altLang="en-US"/>
          </a:p>
        </p:txBody>
      </p:sp>
    </p:spTree>
    <p:extLst>
      <p:ext uri="{BB962C8B-B14F-4D97-AF65-F5344CB8AC3E}">
        <p14:creationId xmlns:p14="http://schemas.microsoft.com/office/powerpoint/2010/main" val="2433029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decel="60436" fill="hold" nodeType="withEffect">
                                  <p:stCondLst>
                                    <p:cond delay="0"/>
                                  </p:stCondLst>
                                  <p:childTnLst>
                                    <p:animEffect transition="out" filter="fade">
                                      <p:cBhvr>
                                        <p:cTn id="6" dur="750"/>
                                        <p:tgtEl>
                                          <p:spTgt spid="6"/>
                                        </p:tgtEl>
                                      </p:cBhvr>
                                    </p:animEffect>
                                    <p:set>
                                      <p:cBhvr>
                                        <p:cTn id="7" dur="1" fill="hold">
                                          <p:stCondLst>
                                            <p:cond delay="749"/>
                                          </p:stCondLst>
                                        </p:cTn>
                                        <p:tgtEl>
                                          <p:spTgt spid="6"/>
                                        </p:tgtEl>
                                        <p:attrNameLst>
                                          <p:attrName>style.visibility</p:attrName>
                                        </p:attrNameLst>
                                      </p:cBhvr>
                                      <p:to>
                                        <p:strVal val="hidden"/>
                                      </p:to>
                                    </p:set>
                                  </p:childTnLst>
                                </p:cTn>
                              </p:par>
                              <p:par>
                                <p:cTn id="8" presetID="10" presetClass="entr" presetSubtype="0" decel="60436"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750"/>
                                        <p:tgtEl>
                                          <p:spTgt spid="2"/>
                                        </p:tgtEl>
                                      </p:cBhvr>
                                    </p:animEffect>
                                  </p:childTnLst>
                                </p:cTn>
                              </p:par>
                              <p:par>
                                <p:cTn id="11" presetID="63" presetClass="path" presetSubtype="0" decel="60436" fill="hold" nodeType="withEffect">
                                  <p:stCondLst>
                                    <p:cond delay="0"/>
                                  </p:stCondLst>
                                  <p:childTnLst>
                                    <p:animMotion origin="layout" path="M 0 0 L 0.296701 0.175297 E" pathEditMode="relative" ptsTypes="">
                                      <p:cBhvr>
                                        <p:cTn id="12" dur="750" fill="hold"/>
                                        <p:tgtEl>
                                          <p:spTgt spid="6"/>
                                        </p:tgtEl>
                                        <p:attrNameLst>
                                          <p:attrName>ppt_x</p:attrName>
                                          <p:attrName>ppt_y</p:attrName>
                                        </p:attrNameLst>
                                      </p:cBhvr>
                                    </p:animMotion>
                                  </p:childTnLst>
                                </p:cTn>
                              </p:par>
                              <p:par>
                                <p:cTn id="13" presetID="63" presetClass="path" presetSubtype="0" decel="60436" fill="hold" nodeType="withEffect">
                                  <p:stCondLst>
                                    <p:cond delay="0"/>
                                  </p:stCondLst>
                                  <p:childTnLst>
                                    <p:animMotion origin="layout" path="M -0.296701 -0.175297 L 0 0 E" pathEditMode="relative" ptsTypes="">
                                      <p:cBhvr>
                                        <p:cTn id="14" dur="750" fill="hold"/>
                                        <p:tgtEl>
                                          <p:spTgt spid="2"/>
                                        </p:tgtEl>
                                        <p:attrNameLst>
                                          <p:attrName>ppt_x</p:attrName>
                                          <p:attrName>ppt_y</p:attrName>
                                        </p:attrNameLst>
                                      </p:cBhvr>
                                    </p:animMotion>
                                  </p:childTnLst>
                                </p:cTn>
                              </p:par>
                              <p:par>
                                <p:cTn id="15" presetID="6" presetClass="emph" presetSubtype="0" decel="60436" fill="hold" nodeType="withEffect">
                                  <p:stCondLst>
                                    <p:cond delay="0"/>
                                  </p:stCondLst>
                                  <p:childTnLst>
                                    <p:animScale>
                                      <p:cBhvr>
                                        <p:cTn id="16" dur="750" fill="hold"/>
                                        <p:tgtEl>
                                          <p:spTgt spid="6"/>
                                        </p:tgtEl>
                                      </p:cBhvr>
                                      <p:by x="150000" y="150000"/>
                                      <p:from x="100000" y="100000"/>
                                      <p:to x="100000" y="100000"/>
                                    </p:animScale>
                                  </p:childTnLst>
                                </p:cTn>
                              </p:par>
                              <p:par>
                                <p:cTn id="17" presetID="6" presetClass="emph" presetSubtype="0" decel="60436" fill="hold" nodeType="withEffect">
                                  <p:stCondLst>
                                    <p:cond delay="0"/>
                                  </p:stCondLst>
                                  <p:childTnLst>
                                    <p:animScale>
                                      <p:cBhvr>
                                        <p:cTn id="18" dur="750" fill="hold"/>
                                        <p:tgtEl>
                                          <p:spTgt spid="2"/>
                                        </p:tgtEl>
                                      </p:cBhvr>
                                      <p:by x="150000" y="150000"/>
                                      <p:from x="100000" y="100000"/>
                                      <p:to x="100000" y="100000"/>
                                    </p:animScale>
                                  </p:childTnLst>
                                </p:cTn>
                              </p:par>
                              <p:par>
                                <p:cTn id="19" presetID="8" presetClass="emph" presetSubtype="0" decel="60436" fill="hold" nodeType="withEffect">
                                  <p:stCondLst>
                                    <p:cond delay="0"/>
                                  </p:stCondLst>
                                  <p:childTnLst>
                                    <p:animRot by="21600000" from="0" to="1539382">
                                      <p:cBhvr>
                                        <p:cTn id="20" dur="750" fill="hold"/>
                                        <p:tgtEl>
                                          <p:spTgt spid="6"/>
                                        </p:tgtEl>
                                        <p:attrNameLst>
                                          <p:attrName>r</p:attrName>
                                        </p:attrNameLst>
                                      </p:cBhvr>
                                    </p:animRot>
                                  </p:childTnLst>
                                </p:cTn>
                              </p:par>
                              <p:par>
                                <p:cTn id="21" presetID="8" presetClass="emph" presetSubtype="0" decel="60436" fill="hold" nodeType="withEffect">
                                  <p:stCondLst>
                                    <p:cond delay="0"/>
                                  </p:stCondLst>
                                  <p:childTnLst>
                                    <p:animRot by="21600000" from="-1539382" to="0">
                                      <p:cBhvr>
                                        <p:cTn id="22" dur="750" fill="hold"/>
                                        <p:tgtEl>
                                          <p:spTgt spid="2"/>
                                        </p:tgtEl>
                                        <p:attrNameLst>
                                          <p:attrName>r</p:attrName>
                                        </p:attrNameLst>
                                      </p:cBhvr>
                                    </p:animRot>
                                  </p:childTnLst>
                                </p:cTn>
                              </p:par>
                              <p:par>
                                <p:cTn id="23" presetID="53" presetClass="entr" presetSubtype="16" fill="hold" grpId="0" nodeType="withEffect">
                                  <p:stCondLst>
                                    <p:cond delay="500"/>
                                  </p:stCondLst>
                                  <p:childTnLst>
                                    <p:set>
                                      <p:cBhvr>
                                        <p:cTn id="24" dur="1" fill="hold">
                                          <p:stCondLst>
                                            <p:cond delay="0"/>
                                          </p:stCondLst>
                                        </p:cTn>
                                        <p:tgtEl>
                                          <p:spTgt spid="17"/>
                                        </p:tgtEl>
                                        <p:attrNameLst>
                                          <p:attrName>style.visibility</p:attrName>
                                        </p:attrNameLst>
                                      </p:cBhvr>
                                      <p:to>
                                        <p:strVal val="visible"/>
                                      </p:to>
                                    </p:set>
                                    <p:anim calcmode="lin" valueType="num">
                                      <p:cBhvr>
                                        <p:cTn id="25" dur="500" fill="hold"/>
                                        <p:tgtEl>
                                          <p:spTgt spid="17"/>
                                        </p:tgtEl>
                                        <p:attrNameLst>
                                          <p:attrName>ppt_w</p:attrName>
                                        </p:attrNameLst>
                                      </p:cBhvr>
                                      <p:tavLst>
                                        <p:tav tm="0">
                                          <p:val>
                                            <p:fltVal val="0"/>
                                          </p:val>
                                        </p:tav>
                                        <p:tav tm="100000">
                                          <p:val>
                                            <p:strVal val="#ppt_w"/>
                                          </p:val>
                                        </p:tav>
                                      </p:tavLst>
                                    </p:anim>
                                    <p:anim calcmode="lin" valueType="num">
                                      <p:cBhvr>
                                        <p:cTn id="26" dur="500" fill="hold"/>
                                        <p:tgtEl>
                                          <p:spTgt spid="17"/>
                                        </p:tgtEl>
                                        <p:attrNameLst>
                                          <p:attrName>ppt_h</p:attrName>
                                        </p:attrNameLst>
                                      </p:cBhvr>
                                      <p:tavLst>
                                        <p:tav tm="0">
                                          <p:val>
                                            <p:fltVal val="0"/>
                                          </p:val>
                                        </p:tav>
                                        <p:tav tm="100000">
                                          <p:val>
                                            <p:strVal val="#ppt_h"/>
                                          </p:val>
                                        </p:tav>
                                      </p:tavLst>
                                    </p:anim>
                                    <p:animEffect transition="in" filter="fade">
                                      <p:cBhvr>
                                        <p:cTn id="27" dur="500"/>
                                        <p:tgtEl>
                                          <p:spTgt spid="17"/>
                                        </p:tgtEl>
                                      </p:cBhvr>
                                    </p:animEffect>
                                  </p:childTnLst>
                                </p:cTn>
                              </p:par>
                              <p:par>
                                <p:cTn id="28" presetID="53" presetClass="entr" presetSubtype="16" fill="hold" grpId="0" nodeType="withEffect">
                                  <p:stCondLst>
                                    <p:cond delay="650"/>
                                  </p:stCondLst>
                                  <p:childTnLst>
                                    <p:set>
                                      <p:cBhvr>
                                        <p:cTn id="29" dur="1" fill="hold">
                                          <p:stCondLst>
                                            <p:cond delay="0"/>
                                          </p:stCondLst>
                                        </p:cTn>
                                        <p:tgtEl>
                                          <p:spTgt spid="7">
                                            <p:txEl>
                                              <p:pRg st="0" end="0"/>
                                            </p:txEl>
                                          </p:spTgt>
                                        </p:tgtEl>
                                        <p:attrNameLst>
                                          <p:attrName>style.visibility</p:attrName>
                                        </p:attrNameLst>
                                      </p:cBhvr>
                                      <p:to>
                                        <p:strVal val="visible"/>
                                      </p:to>
                                    </p:set>
                                    <p:anim calcmode="lin" valueType="num">
                                      <p:cBhvr>
                                        <p:cTn id="30"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31" dur="5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32" dur="500"/>
                                        <p:tgtEl>
                                          <p:spTgt spid="7">
                                            <p:txEl>
                                              <p:pRg st="0" end="0"/>
                                            </p:txEl>
                                          </p:spTgt>
                                        </p:tgtEl>
                                      </p:cBhvr>
                                    </p:animEffect>
                                  </p:childTnLst>
                                </p:cTn>
                              </p:par>
                              <p:par>
                                <p:cTn id="33" presetID="53" presetClass="entr" presetSubtype="16" fill="hold" grpId="0" nodeType="withEffect">
                                  <p:stCondLst>
                                    <p:cond delay="650"/>
                                  </p:stCondLst>
                                  <p:childTnLst>
                                    <p:set>
                                      <p:cBhvr>
                                        <p:cTn id="34" dur="1" fill="hold">
                                          <p:stCondLst>
                                            <p:cond delay="0"/>
                                          </p:stCondLst>
                                        </p:cTn>
                                        <p:tgtEl>
                                          <p:spTgt spid="5"/>
                                        </p:tgtEl>
                                        <p:attrNameLst>
                                          <p:attrName>style.visibility</p:attrName>
                                        </p:attrNameLst>
                                      </p:cBhvr>
                                      <p:to>
                                        <p:strVal val="visible"/>
                                      </p:to>
                                    </p:set>
                                    <p:anim calcmode="lin" valueType="num">
                                      <p:cBhvr>
                                        <p:cTn id="35" dur="500" fill="hold"/>
                                        <p:tgtEl>
                                          <p:spTgt spid="5"/>
                                        </p:tgtEl>
                                        <p:attrNameLst>
                                          <p:attrName>ppt_w</p:attrName>
                                        </p:attrNameLst>
                                      </p:cBhvr>
                                      <p:tavLst>
                                        <p:tav tm="0">
                                          <p:val>
                                            <p:fltVal val="0"/>
                                          </p:val>
                                        </p:tav>
                                        <p:tav tm="100000">
                                          <p:val>
                                            <p:strVal val="#ppt_w"/>
                                          </p:val>
                                        </p:tav>
                                      </p:tavLst>
                                    </p:anim>
                                    <p:anim calcmode="lin" valueType="num">
                                      <p:cBhvr>
                                        <p:cTn id="36" dur="500" fill="hold"/>
                                        <p:tgtEl>
                                          <p:spTgt spid="5"/>
                                        </p:tgtEl>
                                        <p:attrNameLst>
                                          <p:attrName>ppt_h</p:attrName>
                                        </p:attrNameLst>
                                      </p:cBhvr>
                                      <p:tavLst>
                                        <p:tav tm="0">
                                          <p:val>
                                            <p:fltVal val="0"/>
                                          </p:val>
                                        </p:tav>
                                        <p:tav tm="100000">
                                          <p:val>
                                            <p:strVal val="#ppt_h"/>
                                          </p:val>
                                        </p:tav>
                                      </p:tavLst>
                                    </p:anim>
                                    <p:animEffect transition="in" filter="fade">
                                      <p:cBhvr>
                                        <p:cTn id="37" dur="500"/>
                                        <p:tgtEl>
                                          <p:spTgt spid="5"/>
                                        </p:tgtEl>
                                      </p:cBhvr>
                                    </p:animEffect>
                                  </p:childTnLst>
                                </p:cTn>
                              </p:par>
                              <p:par>
                                <p:cTn id="38" presetID="53" presetClass="entr" presetSubtype="16" fill="hold" grpId="0" nodeType="withEffect">
                                  <p:stCondLst>
                                    <p:cond delay="750"/>
                                  </p:stCondLst>
                                  <p:childTnLst>
                                    <p:set>
                                      <p:cBhvr>
                                        <p:cTn id="39" dur="1" fill="hold">
                                          <p:stCondLst>
                                            <p:cond delay="0"/>
                                          </p:stCondLst>
                                        </p:cTn>
                                        <p:tgtEl>
                                          <p:spTgt spid="3"/>
                                        </p:tgtEl>
                                        <p:attrNameLst>
                                          <p:attrName>style.visibility</p:attrName>
                                        </p:attrNameLst>
                                      </p:cBhvr>
                                      <p:to>
                                        <p:strVal val="visible"/>
                                      </p:to>
                                    </p:set>
                                    <p:anim calcmode="lin" valueType="num">
                                      <p:cBhvr>
                                        <p:cTn id="40" dur="500" fill="hold"/>
                                        <p:tgtEl>
                                          <p:spTgt spid="3"/>
                                        </p:tgtEl>
                                        <p:attrNameLst>
                                          <p:attrName>ppt_w</p:attrName>
                                        </p:attrNameLst>
                                      </p:cBhvr>
                                      <p:tavLst>
                                        <p:tav tm="0">
                                          <p:val>
                                            <p:fltVal val="0"/>
                                          </p:val>
                                        </p:tav>
                                        <p:tav tm="100000">
                                          <p:val>
                                            <p:strVal val="#ppt_w"/>
                                          </p:val>
                                        </p:tav>
                                      </p:tavLst>
                                    </p:anim>
                                    <p:anim calcmode="lin" valueType="num">
                                      <p:cBhvr>
                                        <p:cTn id="41" dur="500" fill="hold"/>
                                        <p:tgtEl>
                                          <p:spTgt spid="3"/>
                                        </p:tgtEl>
                                        <p:attrNameLst>
                                          <p:attrName>ppt_h</p:attrName>
                                        </p:attrNameLst>
                                      </p:cBhvr>
                                      <p:tavLst>
                                        <p:tav tm="0">
                                          <p:val>
                                            <p:fltVal val="0"/>
                                          </p:val>
                                        </p:tav>
                                        <p:tav tm="100000">
                                          <p:val>
                                            <p:strVal val="#ppt_h"/>
                                          </p:val>
                                        </p:tav>
                                      </p:tavLst>
                                    </p:anim>
                                    <p:animEffect transition="in" filter="fade">
                                      <p:cBhvr>
                                        <p:cTn id="42" dur="500"/>
                                        <p:tgtEl>
                                          <p:spTgt spid="3"/>
                                        </p:tgtEl>
                                      </p:cBhvr>
                                    </p:animEffect>
                                  </p:childTnLst>
                                </p:cTn>
                              </p:par>
                              <p:par>
                                <p:cTn id="43" presetID="53" presetClass="entr" presetSubtype="16" fill="hold" grpId="0" nodeType="withEffect">
                                  <p:stCondLst>
                                    <p:cond delay="900"/>
                                  </p:stCondLst>
                                  <p:childTnLst>
                                    <p:set>
                                      <p:cBhvr>
                                        <p:cTn id="44" dur="1" fill="hold">
                                          <p:stCondLst>
                                            <p:cond delay="0"/>
                                          </p:stCondLst>
                                        </p:cTn>
                                        <p:tgtEl>
                                          <p:spTgt spid="8"/>
                                        </p:tgtEl>
                                        <p:attrNameLst>
                                          <p:attrName>style.visibility</p:attrName>
                                        </p:attrNameLst>
                                      </p:cBhvr>
                                      <p:to>
                                        <p:strVal val="visible"/>
                                      </p:to>
                                    </p:set>
                                    <p:anim calcmode="lin" valueType="num">
                                      <p:cBhvr>
                                        <p:cTn id="45" dur="500" fill="hold"/>
                                        <p:tgtEl>
                                          <p:spTgt spid="8"/>
                                        </p:tgtEl>
                                        <p:attrNameLst>
                                          <p:attrName>ppt_w</p:attrName>
                                        </p:attrNameLst>
                                      </p:cBhvr>
                                      <p:tavLst>
                                        <p:tav tm="0">
                                          <p:val>
                                            <p:fltVal val="0"/>
                                          </p:val>
                                        </p:tav>
                                        <p:tav tm="100000">
                                          <p:val>
                                            <p:strVal val="#ppt_w"/>
                                          </p:val>
                                        </p:tav>
                                      </p:tavLst>
                                    </p:anim>
                                    <p:anim calcmode="lin" valueType="num">
                                      <p:cBhvr>
                                        <p:cTn id="46" dur="500" fill="hold"/>
                                        <p:tgtEl>
                                          <p:spTgt spid="8"/>
                                        </p:tgtEl>
                                        <p:attrNameLst>
                                          <p:attrName>ppt_h</p:attrName>
                                        </p:attrNameLst>
                                      </p:cBhvr>
                                      <p:tavLst>
                                        <p:tav tm="0">
                                          <p:val>
                                            <p:fltVal val="0"/>
                                          </p:val>
                                        </p:tav>
                                        <p:tav tm="100000">
                                          <p:val>
                                            <p:strVal val="#ppt_h"/>
                                          </p:val>
                                        </p:tav>
                                      </p:tavLst>
                                    </p:anim>
                                    <p:animEffect transition="in" filter="fade">
                                      <p:cBhvr>
                                        <p:cTn id="47" dur="500"/>
                                        <p:tgtEl>
                                          <p:spTgt spid="8"/>
                                        </p:tgtEl>
                                      </p:cBhvr>
                                    </p:animEffect>
                                  </p:childTnLst>
                                </p:cTn>
                              </p:par>
                              <p:par>
                                <p:cTn id="48" presetID="10" presetClass="entr" presetSubtype="0" fill="hold" grpId="0" nodeType="withEffect">
                                  <p:stCondLst>
                                    <p:cond delay="75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42" presetClass="path" presetSubtype="0" accel="50000" decel="50000" fill="hold" grpId="1" nodeType="withEffect">
                                  <p:stCondLst>
                                    <p:cond delay="750"/>
                                  </p:stCondLst>
                                  <p:childTnLst>
                                    <p:animMotion origin="layout" path="M -4.58333E-6 -1.85185E-6 L 0.0168 0.02986 " pathEditMode="relative" rAng="0" ptsTypes="AA">
                                      <p:cBhvr>
                                        <p:cTn id="52" dur="500" fill="hold"/>
                                        <p:tgtEl>
                                          <p:spTgt spid="19"/>
                                        </p:tgtEl>
                                        <p:attrNameLst>
                                          <p:attrName>ppt_x</p:attrName>
                                          <p:attrName>ppt_y</p:attrName>
                                        </p:attrNameLst>
                                      </p:cBhvr>
                                      <p:rCtr x="833" y="1481"/>
                                    </p:animMotion>
                                  </p:childTnLst>
                                </p:cTn>
                              </p:par>
                              <p:par>
                                <p:cTn id="53" presetID="10" presetClass="entr" presetSubtype="0" decel="100000" fill="hold" grpId="0" nodeType="withEffect">
                                  <p:stCondLst>
                                    <p:cond delay="750"/>
                                  </p:stCondLst>
                                  <p:childTnLst>
                                    <p:set>
                                      <p:cBhvr>
                                        <p:cTn id="54" dur="1" fill="hold">
                                          <p:stCondLst>
                                            <p:cond delay="0"/>
                                          </p:stCondLst>
                                        </p:cTn>
                                        <p:tgtEl>
                                          <p:spTgt spid="4"/>
                                        </p:tgtEl>
                                        <p:attrNameLst>
                                          <p:attrName>style.visibility</p:attrName>
                                        </p:attrNameLst>
                                      </p:cBhvr>
                                      <p:to>
                                        <p:strVal val="visible"/>
                                      </p:to>
                                    </p:set>
                                    <p:animEffect transition="in" filter="fade">
                                      <p:cBhvr>
                                        <p:cTn id="55" dur="500">
                                          <p:stCondLst>
                                            <p:cond delay="0"/>
                                          </p:stCondLst>
                                        </p:cTn>
                                        <p:tgtEl>
                                          <p:spTgt spid="4"/>
                                        </p:tgtEl>
                                      </p:cBhvr>
                                    </p:animEffect>
                                    <p:anim to="0" calcmode="lin" valueType="num">
                                      <p:cBhvr>
                                        <p:cTn id="56" dur="500" fill="hold">
                                          <p:stCondLst>
                                            <p:cond delay="0"/>
                                          </p:stCondLst>
                                        </p:cTn>
                                        <p:tgtEl>
                                          <p:spTgt spid="4"/>
                                        </p:tgtEl>
                                        <p:attrNameLst>
                                          <p:attrName>ppt_x</p:attrName>
                                        </p:attrNameLst>
                                      </p:cBhvr>
                                      <p:tavLst>
                                        <p:tav tm="0">
                                          <p:val>
                                            <p:strVal val="#ppt_x-.05"/>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 grpId="0" animBg="1"/>
      <p:bldP spid="5" grpId="0" animBg="1"/>
      <p:bldP spid="19" grpId="0" animBg="1"/>
      <p:bldP spid="19" grpId="1" animBg="1"/>
      <p:bldP spid="17" grpId="0" animBg="1"/>
      <p:bldP spid="4" grpId="0">
        <p:tmplLst>
          <p:tmpl>
            <p:tnLst>
              <p:par>
                <p:cTn presetID="10" presetClass="entr" presetSubtype="0" decel="100000" fill="hold" nodeType="withEffect">
                  <p:stCondLst>
                    <p:cond delay="750"/>
                  </p:stCondLst>
                  <p:childTnLst>
                    <p:set>
                      <p:cBhvr>
                        <p:cTn dur="1" fill="hold">
                          <p:stCondLst>
                            <p:cond delay="0"/>
                          </p:stCondLst>
                        </p:cTn>
                        <p:tgtEl>
                          <p:spTgt spid="4"/>
                        </p:tgtEl>
                        <p:attrNameLst>
                          <p:attrName>style.visibility</p:attrName>
                        </p:attrNameLst>
                      </p:cBhvr>
                      <p:to>
                        <p:strVal val="visible"/>
                      </p:to>
                    </p:set>
                    <p:animEffect transition="in" filter="fade">
                      <p:cBhvr>
                        <p:cTn dur="500">
                          <p:stCondLst>
                            <p:cond delay="0"/>
                          </p:stCondLst>
                        </p:cTn>
                        <p:tgtEl>
                          <p:spTgt spid="4"/>
                        </p:tgtEl>
                      </p:cBhvr>
                    </p:animEffect>
                    <p:anim to="0" calcmode="lin" valueType="num">
                      <p:cBhvr>
                        <p:cTn dur="500" fill="hold">
                          <p:stCondLst>
                            <p:cond delay="0"/>
                          </p:stCondLst>
                        </p:cTn>
                        <p:tgtEl>
                          <p:spTgt spid="4"/>
                        </p:tgtEl>
                        <p:attrNameLst>
                          <p:attrName>ppt_x</p:attrName>
                        </p:attrNameLst>
                      </p:cBhvr>
                      <p:tavLst>
                        <p:tav tm="0">
                          <p:val>
                            <p:strVal val="#ppt_x-.05"/>
                          </p:val>
                        </p:tav>
                        <p:tav tm="100000">
                          <p:val>
                            <p:strVal val="#ppt_x"/>
                          </p:val>
                        </p:tav>
                      </p:tavLst>
                    </p:anim>
                  </p:childTnLst>
                </p:cTn>
              </p:par>
            </p:tnLst>
          </p:tmpl>
        </p:tmplLst>
      </p:bldP>
      <p:bldP spid="7" grpId="0" build="p">
        <p:tmplLst>
          <p:tmpl lvl="1">
            <p:tnLst>
              <p:par>
                <p:cTn presetID="53" presetClass="entr" presetSubtype="16" fill="hold" nodeType="withEffect">
                  <p:stCondLst>
                    <p:cond delay="650"/>
                  </p:stCondLst>
                  <p:childTnLst>
                    <p:set>
                      <p:cBhvr>
                        <p:cTn dur="1" fill="hold">
                          <p:stCondLst>
                            <p:cond delay="0"/>
                          </p:stCondLst>
                        </p:cTn>
                        <p:tgtEl>
                          <p:spTgt spid="7"/>
                        </p:tgtEl>
                        <p:attrNameLst>
                          <p:attrName>style.visibility</p:attrName>
                        </p:attrNameLst>
                      </p:cBhvr>
                      <p:to>
                        <p:strVal val="visible"/>
                      </p:to>
                    </p:set>
                    <p:anim calcmode="lin" valueType="num">
                      <p:cBhvr>
                        <p:cTn dur="500" fill="hold"/>
                        <p:tgtEl>
                          <p:spTgt spid="7"/>
                        </p:tgtEl>
                        <p:attrNameLst>
                          <p:attrName>ppt_w</p:attrName>
                        </p:attrNameLst>
                      </p:cBhvr>
                      <p:tavLst>
                        <p:tav tm="0">
                          <p:val>
                            <p:fltVal val="0"/>
                          </p:val>
                        </p:tav>
                        <p:tav tm="100000">
                          <p:val>
                            <p:strVal val="#ppt_w"/>
                          </p:val>
                        </p:tav>
                      </p:tavLst>
                    </p:anim>
                    <p:anim calcmode="lin" valueType="num">
                      <p:cBhvr>
                        <p:cTn dur="500" fill="hold"/>
                        <p:tgtEl>
                          <p:spTgt spid="7"/>
                        </p:tgtEl>
                        <p:attrNameLst>
                          <p:attrName>ppt_h</p:attrName>
                        </p:attrNameLst>
                      </p:cBhvr>
                      <p:tavLst>
                        <p:tav tm="0">
                          <p:val>
                            <p:fltVal val="0"/>
                          </p:val>
                        </p:tav>
                        <p:tav tm="100000">
                          <p:val>
                            <p:strVal val="#ppt_h"/>
                          </p:val>
                        </p:tav>
                      </p:tavLst>
                    </p:anim>
                    <p:animEffect transition="in" filter="fade">
                      <p:cBhvr>
                        <p:cTn dur="500"/>
                        <p:tgtEl>
                          <p:spTgt spid="7"/>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带目录章节">
    <p:spTree>
      <p:nvGrpSpPr>
        <p:cNvPr id="1" name=""/>
        <p:cNvGrpSpPr/>
        <p:nvPr/>
      </p:nvGrpSpPr>
      <p:grpSpPr>
        <a:xfrm>
          <a:off x="0" y="0"/>
          <a:ext cx="0" cy="0"/>
          <a:chOff x="0" y="0"/>
          <a:chExt cx="0" cy="0"/>
        </a:xfrm>
      </p:grpSpPr>
      <p:sp>
        <p:nvSpPr>
          <p:cNvPr id="16" name="椭圆 15">
            <a:extLst>
              <a:ext uri="{FF2B5EF4-FFF2-40B4-BE49-F238E27FC236}">
                <a16:creationId xmlns:a16="http://schemas.microsoft.com/office/drawing/2014/main" id="{B46198AC-367B-0D53-9173-FC8CA63C085D}"/>
              </a:ext>
            </a:extLst>
          </p:cNvPr>
          <p:cNvSpPr/>
          <p:nvPr userDrawn="1"/>
        </p:nvSpPr>
        <p:spPr>
          <a:xfrm>
            <a:off x="367090" y="-1714814"/>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5EB1B61C-49CF-BE5E-D897-0E6165887E9C}"/>
              </a:ext>
            </a:extLst>
          </p:cNvPr>
          <p:cNvSpPr/>
          <p:nvPr userDrawn="1"/>
        </p:nvSpPr>
        <p:spPr>
          <a:xfrm>
            <a:off x="1832990" y="-2841"/>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62399A25-BD86-E6C4-1B6C-5E720BE7951F}"/>
              </a:ext>
            </a:extLst>
          </p:cNvPr>
          <p:cNvSpPr/>
          <p:nvPr userDrawn="1"/>
        </p:nvSpPr>
        <p:spPr>
          <a:xfrm>
            <a:off x="3434922" y="1599091"/>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75BB57A5-2F78-87EC-D302-EA186869EBC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741" r="31458"/>
          <a:stretch/>
        </p:blipFill>
        <p:spPr>
          <a:xfrm rot="568416">
            <a:off x="90962" y="381112"/>
            <a:ext cx="4016078" cy="5720226"/>
          </a:xfrm>
          <a:prstGeom prst="rect">
            <a:avLst/>
          </a:prstGeom>
        </p:spPr>
      </p:pic>
      <p:pic>
        <p:nvPicPr>
          <p:cNvPr id="14" name="图片 13">
            <a:extLst>
              <a:ext uri="{FF2B5EF4-FFF2-40B4-BE49-F238E27FC236}">
                <a16:creationId xmlns:a16="http://schemas.microsoft.com/office/drawing/2014/main" id="{956F742F-78A8-9974-FA4F-56396F38C25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741" r="31458"/>
          <a:stretch/>
        </p:blipFill>
        <p:spPr>
          <a:xfrm rot="20629034">
            <a:off x="-3526421" y="-821074"/>
            <a:ext cx="4016077" cy="5720225"/>
          </a:xfrm>
          <a:prstGeom prst="rect">
            <a:avLst/>
          </a:prstGeom>
        </p:spPr>
      </p:pic>
      <p:sp>
        <p:nvSpPr>
          <p:cNvPr id="5" name="文本占位符 3">
            <a:extLst>
              <a:ext uri="{FF2B5EF4-FFF2-40B4-BE49-F238E27FC236}">
                <a16:creationId xmlns:a16="http://schemas.microsoft.com/office/drawing/2014/main" id="{3AF24492-4E99-231B-3CC0-5126876878AA}"/>
              </a:ext>
            </a:extLst>
          </p:cNvPr>
          <p:cNvSpPr>
            <a:spLocks noGrp="1"/>
          </p:cNvSpPr>
          <p:nvPr>
            <p:ph type="body" sz="quarter" idx="11" hasCustomPrompt="1"/>
          </p:nvPr>
        </p:nvSpPr>
        <p:spPr>
          <a:xfrm>
            <a:off x="5837223" y="2203928"/>
            <a:ext cx="3484714" cy="668338"/>
          </a:xfrm>
          <a:prstGeom prst="rect">
            <a:avLst/>
          </a:prstGeom>
          <a:ln>
            <a:noFill/>
          </a:ln>
        </p:spPr>
        <p:txBody>
          <a:bodyPr anchor="ctr"/>
          <a:lstStyle>
            <a:lvl1pPr marL="0" indent="0" algn="l">
              <a:lnSpc>
                <a:spcPct val="100000"/>
              </a:lnSpc>
              <a:buNone/>
              <a:defRPr sz="3600">
                <a:solidFill>
                  <a:schemeClr val="tx1"/>
                </a:solidFill>
                <a:latin typeface="+mj-ea"/>
                <a:ea typeface="+mj-ea"/>
              </a:defRPr>
            </a:lvl1pPr>
          </a:lstStyle>
          <a:p>
            <a:pPr lvl="0"/>
            <a:r>
              <a:rPr lang="zh-CN" altLang="en-US"/>
              <a:t>章节标题</a:t>
            </a:r>
          </a:p>
        </p:txBody>
      </p:sp>
      <p:sp>
        <p:nvSpPr>
          <p:cNvPr id="2" name="文本占位符 25">
            <a:extLst>
              <a:ext uri="{FF2B5EF4-FFF2-40B4-BE49-F238E27FC236}">
                <a16:creationId xmlns:a16="http://schemas.microsoft.com/office/drawing/2014/main" id="{16A7C205-45D1-F79D-939F-C8FE0D7B4EFC}"/>
              </a:ext>
            </a:extLst>
          </p:cNvPr>
          <p:cNvSpPr>
            <a:spLocks noGrp="1"/>
          </p:cNvSpPr>
          <p:nvPr>
            <p:ph type="body" sz="quarter" idx="10" hasCustomPrompt="1"/>
          </p:nvPr>
        </p:nvSpPr>
        <p:spPr>
          <a:xfrm>
            <a:off x="6073412" y="2924828"/>
            <a:ext cx="3692525" cy="2206679"/>
          </a:xfrm>
          <a:prstGeom prst="rect">
            <a:avLst/>
          </a:prstGeom>
        </p:spPr>
        <p:txBody>
          <a:bodyPr anchor="t"/>
          <a:lstStyle>
            <a:lvl1pPr marL="342900" indent="-342900" algn="l">
              <a:lnSpc>
                <a:spcPct val="150000"/>
              </a:lnSpc>
              <a:buFont typeface="Wingdings" panose="05000000000000000000" pitchFamily="2" charset="2"/>
              <a:buChar char="u"/>
              <a:defRPr sz="1800">
                <a:solidFill>
                  <a:schemeClr val="tx1"/>
                </a:solidFill>
                <a:latin typeface="+mn-ea"/>
                <a:ea typeface="+mn-ea"/>
                <a:cs typeface="阿里巴巴普惠体 Medium" panose="00020600040101010101" pitchFamily="18" charset="-122"/>
              </a:defRPr>
            </a:lvl1pPr>
          </a:lstStyle>
          <a:p>
            <a:pPr lvl="0"/>
            <a:r>
              <a:rPr lang="zh-CN" altLang="en-US"/>
              <a:t>目录样式</a:t>
            </a:r>
            <a:endParaRPr lang="en-US" altLang="zh-CN"/>
          </a:p>
          <a:p>
            <a:pPr lvl="0"/>
            <a:r>
              <a:rPr lang="zh-CN" altLang="en-US"/>
              <a:t>目录样式</a:t>
            </a:r>
            <a:endParaRPr lang="en-US" altLang="zh-CN"/>
          </a:p>
          <a:p>
            <a:pPr lvl="0"/>
            <a:r>
              <a:rPr lang="zh-CN" altLang="en-US"/>
              <a:t>目录样式</a:t>
            </a:r>
            <a:endParaRPr lang="en-US" altLang="zh-CN"/>
          </a:p>
        </p:txBody>
      </p:sp>
      <p:sp>
        <p:nvSpPr>
          <p:cNvPr id="4" name="椭圆 3">
            <a:extLst>
              <a:ext uri="{FF2B5EF4-FFF2-40B4-BE49-F238E27FC236}">
                <a16:creationId xmlns:a16="http://schemas.microsoft.com/office/drawing/2014/main" id="{2249AA4E-BDC6-696B-EF7C-D82E9F67C155}"/>
              </a:ext>
            </a:extLst>
          </p:cNvPr>
          <p:cNvSpPr/>
          <p:nvPr userDrawn="1"/>
        </p:nvSpPr>
        <p:spPr>
          <a:xfrm>
            <a:off x="4633274" y="3069963"/>
            <a:ext cx="409736" cy="409736"/>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心">
            <a:extLst>
              <a:ext uri="{FF2B5EF4-FFF2-40B4-BE49-F238E27FC236}">
                <a16:creationId xmlns:a16="http://schemas.microsoft.com/office/drawing/2014/main" id="{187CDF87-71AD-62FA-465E-4563734A654E}"/>
              </a:ext>
            </a:extLst>
          </p:cNvPr>
          <p:cNvSpPr/>
          <p:nvPr userDrawn="1"/>
        </p:nvSpPr>
        <p:spPr>
          <a:xfrm>
            <a:off x="4186995" y="2360165"/>
            <a:ext cx="1119534" cy="111953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latin typeface="+mj-ea"/>
              <a:ea typeface="+mj-ea"/>
            </a:endParaRPr>
          </a:p>
        </p:txBody>
      </p:sp>
      <p:sp>
        <p:nvSpPr>
          <p:cNvPr id="7" name="文本占位符 6">
            <a:extLst>
              <a:ext uri="{FF2B5EF4-FFF2-40B4-BE49-F238E27FC236}">
                <a16:creationId xmlns:a16="http://schemas.microsoft.com/office/drawing/2014/main" id="{0FA4BC60-2E49-93DC-4C3E-CA7B70C33EA7}"/>
              </a:ext>
            </a:extLst>
          </p:cNvPr>
          <p:cNvSpPr>
            <a:spLocks noGrp="1"/>
          </p:cNvSpPr>
          <p:nvPr>
            <p:ph type="body" sz="quarter" idx="14" hasCustomPrompt="1"/>
          </p:nvPr>
        </p:nvSpPr>
        <p:spPr>
          <a:xfrm>
            <a:off x="4304296" y="2679426"/>
            <a:ext cx="884931" cy="481012"/>
          </a:xfrm>
          <a:prstGeom prst="rect">
            <a:avLst/>
          </a:prstGeom>
        </p:spPr>
        <p:txBody>
          <a:bodyPr anchor="ctr"/>
          <a:lstStyle>
            <a:lvl1pPr marL="0" indent="0" algn="ctr">
              <a:lnSpc>
                <a:spcPct val="100000"/>
              </a:lnSpc>
              <a:buNone/>
              <a:defRPr sz="3600">
                <a:solidFill>
                  <a:schemeClr val="bg1"/>
                </a:solidFill>
                <a:latin typeface="+mj-ea"/>
                <a:ea typeface="+mj-ea"/>
              </a:defRPr>
            </a:lvl1pPr>
          </a:lstStyle>
          <a:p>
            <a:pPr lvl="0"/>
            <a:r>
              <a:rPr lang="en-US" altLang="zh-CN"/>
              <a:t>1</a:t>
            </a:r>
            <a:endParaRPr lang="zh-CN" altLang="en-US"/>
          </a:p>
        </p:txBody>
      </p:sp>
    </p:spTree>
    <p:extLst>
      <p:ext uri="{BB962C8B-B14F-4D97-AF65-F5344CB8AC3E}">
        <p14:creationId xmlns:p14="http://schemas.microsoft.com/office/powerpoint/2010/main" val="1178867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decel="60436" fill="hold" nodeType="withEffect">
                                  <p:stCondLst>
                                    <p:cond delay="0"/>
                                  </p:stCondLst>
                                  <p:childTnLst>
                                    <p:animEffect transition="out" filter="fade">
                                      <p:cBhvr>
                                        <p:cTn id="6" dur="750"/>
                                        <p:tgtEl>
                                          <p:spTgt spid="14"/>
                                        </p:tgtEl>
                                      </p:cBhvr>
                                    </p:animEffect>
                                    <p:set>
                                      <p:cBhvr>
                                        <p:cTn id="7" dur="1" fill="hold">
                                          <p:stCondLst>
                                            <p:cond delay="749"/>
                                          </p:stCondLst>
                                        </p:cTn>
                                        <p:tgtEl>
                                          <p:spTgt spid="14"/>
                                        </p:tgtEl>
                                        <p:attrNameLst>
                                          <p:attrName>style.visibility</p:attrName>
                                        </p:attrNameLst>
                                      </p:cBhvr>
                                      <p:to>
                                        <p:strVal val="hidden"/>
                                      </p:to>
                                    </p:set>
                                  </p:childTnLst>
                                </p:cTn>
                              </p:par>
                              <p:par>
                                <p:cTn id="8" presetID="10" presetClass="entr" presetSubtype="0" decel="60436"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750"/>
                                        <p:tgtEl>
                                          <p:spTgt spid="12"/>
                                        </p:tgtEl>
                                      </p:cBhvr>
                                    </p:animEffect>
                                  </p:childTnLst>
                                </p:cTn>
                              </p:par>
                              <p:par>
                                <p:cTn id="11" presetID="63" presetClass="path" presetSubtype="0" decel="60436" fill="hold" nodeType="withEffect">
                                  <p:stCondLst>
                                    <p:cond delay="0"/>
                                  </p:stCondLst>
                                  <p:childTnLst>
                                    <p:animMotion origin="layout" path="M 0 0 L 0.296701 0.175297 E" pathEditMode="relative" ptsTypes="">
                                      <p:cBhvr>
                                        <p:cTn id="12" dur="750" fill="hold"/>
                                        <p:tgtEl>
                                          <p:spTgt spid="14"/>
                                        </p:tgtEl>
                                        <p:attrNameLst>
                                          <p:attrName>ppt_x</p:attrName>
                                          <p:attrName>ppt_y</p:attrName>
                                        </p:attrNameLst>
                                      </p:cBhvr>
                                    </p:animMotion>
                                  </p:childTnLst>
                                </p:cTn>
                              </p:par>
                              <p:par>
                                <p:cTn id="13" presetID="63" presetClass="path" presetSubtype="0" decel="60436" fill="hold" nodeType="withEffect">
                                  <p:stCondLst>
                                    <p:cond delay="0"/>
                                  </p:stCondLst>
                                  <p:childTnLst>
                                    <p:animMotion origin="layout" path="M -0.296701 -0.175297 L 0 0 E" pathEditMode="relative" ptsTypes="">
                                      <p:cBhvr>
                                        <p:cTn id="14" dur="750" fill="hold"/>
                                        <p:tgtEl>
                                          <p:spTgt spid="12"/>
                                        </p:tgtEl>
                                        <p:attrNameLst>
                                          <p:attrName>ppt_x</p:attrName>
                                          <p:attrName>ppt_y</p:attrName>
                                        </p:attrNameLst>
                                      </p:cBhvr>
                                    </p:animMotion>
                                  </p:childTnLst>
                                </p:cTn>
                              </p:par>
                              <p:par>
                                <p:cTn id="15" presetID="6" presetClass="emph" presetSubtype="0" decel="60436" fill="hold" nodeType="withEffect">
                                  <p:stCondLst>
                                    <p:cond delay="0"/>
                                  </p:stCondLst>
                                  <p:childTnLst>
                                    <p:animScale>
                                      <p:cBhvr>
                                        <p:cTn id="16" dur="750" fill="hold"/>
                                        <p:tgtEl>
                                          <p:spTgt spid="14"/>
                                        </p:tgtEl>
                                      </p:cBhvr>
                                      <p:by x="150000" y="150000"/>
                                      <p:from x="100000" y="100000"/>
                                      <p:to x="100000" y="100000"/>
                                    </p:animScale>
                                  </p:childTnLst>
                                </p:cTn>
                              </p:par>
                              <p:par>
                                <p:cTn id="17" presetID="6" presetClass="emph" presetSubtype="0" decel="60436" fill="hold" nodeType="withEffect">
                                  <p:stCondLst>
                                    <p:cond delay="0"/>
                                  </p:stCondLst>
                                  <p:childTnLst>
                                    <p:animScale>
                                      <p:cBhvr>
                                        <p:cTn id="18" dur="750" fill="hold"/>
                                        <p:tgtEl>
                                          <p:spTgt spid="12"/>
                                        </p:tgtEl>
                                      </p:cBhvr>
                                      <p:by x="150000" y="150000"/>
                                      <p:from x="100000" y="100000"/>
                                      <p:to x="100000" y="100000"/>
                                    </p:animScale>
                                  </p:childTnLst>
                                </p:cTn>
                              </p:par>
                              <p:par>
                                <p:cTn id="19" presetID="8" presetClass="emph" presetSubtype="0" decel="60436" fill="hold" nodeType="withEffect">
                                  <p:stCondLst>
                                    <p:cond delay="0"/>
                                  </p:stCondLst>
                                  <p:childTnLst>
                                    <p:animRot by="21600000" from="0" to="1539382">
                                      <p:cBhvr>
                                        <p:cTn id="20" dur="750" fill="hold"/>
                                        <p:tgtEl>
                                          <p:spTgt spid="14"/>
                                        </p:tgtEl>
                                        <p:attrNameLst>
                                          <p:attrName>r</p:attrName>
                                        </p:attrNameLst>
                                      </p:cBhvr>
                                    </p:animRot>
                                  </p:childTnLst>
                                </p:cTn>
                              </p:par>
                              <p:par>
                                <p:cTn id="21" presetID="8" presetClass="emph" presetSubtype="0" decel="60436" fill="hold" nodeType="withEffect">
                                  <p:stCondLst>
                                    <p:cond delay="0"/>
                                  </p:stCondLst>
                                  <p:childTnLst>
                                    <p:animRot by="21600000" from="-1539382" to="0">
                                      <p:cBhvr>
                                        <p:cTn id="22" dur="750" fill="hold"/>
                                        <p:tgtEl>
                                          <p:spTgt spid="12"/>
                                        </p:tgtEl>
                                        <p:attrNameLst>
                                          <p:attrName>r</p:attrName>
                                        </p:attrNameLst>
                                      </p:cBhvr>
                                    </p:animRot>
                                  </p:childTnLst>
                                </p:cTn>
                              </p:par>
                              <p:par>
                                <p:cTn id="23" presetID="53" presetClass="entr" presetSubtype="16" fill="hold" grpId="0" nodeType="withEffect">
                                  <p:stCondLst>
                                    <p:cond delay="50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fltVal val="0"/>
                                          </p:val>
                                        </p:tav>
                                        <p:tav tm="100000">
                                          <p:val>
                                            <p:strVal val="#ppt_h"/>
                                          </p:val>
                                        </p:tav>
                                      </p:tavLst>
                                    </p:anim>
                                    <p:animEffect transition="in" filter="fade">
                                      <p:cBhvr>
                                        <p:cTn id="27" dur="500"/>
                                        <p:tgtEl>
                                          <p:spTgt spid="6"/>
                                        </p:tgtEl>
                                      </p:cBhvr>
                                    </p:animEffect>
                                  </p:childTnLst>
                                </p:cTn>
                              </p:par>
                              <p:par>
                                <p:cTn id="28" presetID="53" presetClass="entr" presetSubtype="16" fill="hold" grpId="0" nodeType="withEffect">
                                  <p:stCondLst>
                                    <p:cond delay="650"/>
                                  </p:stCondLst>
                                  <p:childTnLst>
                                    <p:set>
                                      <p:cBhvr>
                                        <p:cTn id="29" dur="1" fill="hold">
                                          <p:stCondLst>
                                            <p:cond delay="0"/>
                                          </p:stCondLst>
                                        </p:cTn>
                                        <p:tgtEl>
                                          <p:spTgt spid="7">
                                            <p:txEl>
                                              <p:pRg st="0" end="0"/>
                                            </p:txEl>
                                          </p:spTgt>
                                        </p:tgtEl>
                                        <p:attrNameLst>
                                          <p:attrName>style.visibility</p:attrName>
                                        </p:attrNameLst>
                                      </p:cBhvr>
                                      <p:to>
                                        <p:strVal val="visible"/>
                                      </p:to>
                                    </p:set>
                                    <p:anim calcmode="lin" valueType="num">
                                      <p:cBhvr>
                                        <p:cTn id="30"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31" dur="5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32" dur="500"/>
                                        <p:tgtEl>
                                          <p:spTgt spid="7">
                                            <p:txEl>
                                              <p:pRg st="0" end="0"/>
                                            </p:txEl>
                                          </p:spTgt>
                                        </p:tgtEl>
                                      </p:cBhvr>
                                    </p:animEffect>
                                  </p:childTnLst>
                                </p:cTn>
                              </p:par>
                              <p:par>
                                <p:cTn id="33" presetID="53" presetClass="entr" presetSubtype="16" fill="hold" grpId="0" nodeType="withEffect">
                                  <p:stCondLst>
                                    <p:cond delay="650"/>
                                  </p:stCondLst>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ppt_w</p:attrName>
                                        </p:attrNameLst>
                                      </p:cBhvr>
                                      <p:tavLst>
                                        <p:tav tm="0">
                                          <p:val>
                                            <p:fltVal val="0"/>
                                          </p:val>
                                        </p:tav>
                                        <p:tav tm="100000">
                                          <p:val>
                                            <p:strVal val="#ppt_w"/>
                                          </p:val>
                                        </p:tav>
                                      </p:tavLst>
                                    </p:anim>
                                    <p:anim calcmode="lin" valueType="num">
                                      <p:cBhvr>
                                        <p:cTn id="36" dur="500" fill="hold"/>
                                        <p:tgtEl>
                                          <p:spTgt spid="11"/>
                                        </p:tgtEl>
                                        <p:attrNameLst>
                                          <p:attrName>ppt_h</p:attrName>
                                        </p:attrNameLst>
                                      </p:cBhvr>
                                      <p:tavLst>
                                        <p:tav tm="0">
                                          <p:val>
                                            <p:fltVal val="0"/>
                                          </p:val>
                                        </p:tav>
                                        <p:tav tm="100000">
                                          <p:val>
                                            <p:strVal val="#ppt_h"/>
                                          </p:val>
                                        </p:tav>
                                      </p:tavLst>
                                    </p:anim>
                                    <p:animEffect transition="in" filter="fade">
                                      <p:cBhvr>
                                        <p:cTn id="37" dur="500"/>
                                        <p:tgtEl>
                                          <p:spTgt spid="11"/>
                                        </p:tgtEl>
                                      </p:cBhvr>
                                    </p:animEffect>
                                  </p:childTnLst>
                                </p:cTn>
                              </p:par>
                              <p:par>
                                <p:cTn id="38" presetID="53" presetClass="entr" presetSubtype="16" fill="hold" grpId="0" nodeType="withEffect">
                                  <p:stCondLst>
                                    <p:cond delay="800"/>
                                  </p:stCondLst>
                                  <p:childTnLst>
                                    <p:set>
                                      <p:cBhvr>
                                        <p:cTn id="39" dur="1" fill="hold">
                                          <p:stCondLst>
                                            <p:cond delay="0"/>
                                          </p:stCondLst>
                                        </p:cTn>
                                        <p:tgtEl>
                                          <p:spTgt spid="10"/>
                                        </p:tgtEl>
                                        <p:attrNameLst>
                                          <p:attrName>style.visibility</p:attrName>
                                        </p:attrNameLst>
                                      </p:cBhvr>
                                      <p:to>
                                        <p:strVal val="visible"/>
                                      </p:to>
                                    </p:set>
                                    <p:anim calcmode="lin" valueType="num">
                                      <p:cBhvr>
                                        <p:cTn id="40" dur="500" fill="hold"/>
                                        <p:tgtEl>
                                          <p:spTgt spid="10"/>
                                        </p:tgtEl>
                                        <p:attrNameLst>
                                          <p:attrName>ppt_w</p:attrName>
                                        </p:attrNameLst>
                                      </p:cBhvr>
                                      <p:tavLst>
                                        <p:tav tm="0">
                                          <p:val>
                                            <p:fltVal val="0"/>
                                          </p:val>
                                        </p:tav>
                                        <p:tav tm="100000">
                                          <p:val>
                                            <p:strVal val="#ppt_w"/>
                                          </p:val>
                                        </p:tav>
                                      </p:tavLst>
                                    </p:anim>
                                    <p:anim calcmode="lin" valueType="num">
                                      <p:cBhvr>
                                        <p:cTn id="41" dur="500" fill="hold"/>
                                        <p:tgtEl>
                                          <p:spTgt spid="10"/>
                                        </p:tgtEl>
                                        <p:attrNameLst>
                                          <p:attrName>ppt_h</p:attrName>
                                        </p:attrNameLst>
                                      </p:cBhvr>
                                      <p:tavLst>
                                        <p:tav tm="0">
                                          <p:val>
                                            <p:fltVal val="0"/>
                                          </p:val>
                                        </p:tav>
                                        <p:tav tm="100000">
                                          <p:val>
                                            <p:strVal val="#ppt_h"/>
                                          </p:val>
                                        </p:tav>
                                      </p:tavLst>
                                    </p:anim>
                                    <p:animEffect transition="in" filter="fade">
                                      <p:cBhvr>
                                        <p:cTn id="42" dur="500"/>
                                        <p:tgtEl>
                                          <p:spTgt spid="10"/>
                                        </p:tgtEl>
                                      </p:cBhvr>
                                    </p:animEffect>
                                  </p:childTnLst>
                                </p:cTn>
                              </p:par>
                              <p:par>
                                <p:cTn id="43" presetID="53" presetClass="entr" presetSubtype="16" fill="hold" grpId="0" nodeType="withEffect">
                                  <p:stCondLst>
                                    <p:cond delay="900"/>
                                  </p:stCondLst>
                                  <p:childTnLst>
                                    <p:set>
                                      <p:cBhvr>
                                        <p:cTn id="44" dur="1" fill="hold">
                                          <p:stCondLst>
                                            <p:cond delay="0"/>
                                          </p:stCondLst>
                                        </p:cTn>
                                        <p:tgtEl>
                                          <p:spTgt spid="16"/>
                                        </p:tgtEl>
                                        <p:attrNameLst>
                                          <p:attrName>style.visibility</p:attrName>
                                        </p:attrNameLst>
                                      </p:cBhvr>
                                      <p:to>
                                        <p:strVal val="visible"/>
                                      </p:to>
                                    </p:set>
                                    <p:anim calcmode="lin" valueType="num">
                                      <p:cBhvr>
                                        <p:cTn id="45" dur="500" fill="hold"/>
                                        <p:tgtEl>
                                          <p:spTgt spid="16"/>
                                        </p:tgtEl>
                                        <p:attrNameLst>
                                          <p:attrName>ppt_w</p:attrName>
                                        </p:attrNameLst>
                                      </p:cBhvr>
                                      <p:tavLst>
                                        <p:tav tm="0">
                                          <p:val>
                                            <p:fltVal val="0"/>
                                          </p:val>
                                        </p:tav>
                                        <p:tav tm="100000">
                                          <p:val>
                                            <p:strVal val="#ppt_w"/>
                                          </p:val>
                                        </p:tav>
                                      </p:tavLst>
                                    </p:anim>
                                    <p:anim calcmode="lin" valueType="num">
                                      <p:cBhvr>
                                        <p:cTn id="46" dur="500" fill="hold"/>
                                        <p:tgtEl>
                                          <p:spTgt spid="16"/>
                                        </p:tgtEl>
                                        <p:attrNameLst>
                                          <p:attrName>ppt_h</p:attrName>
                                        </p:attrNameLst>
                                      </p:cBhvr>
                                      <p:tavLst>
                                        <p:tav tm="0">
                                          <p:val>
                                            <p:fltVal val="0"/>
                                          </p:val>
                                        </p:tav>
                                        <p:tav tm="100000">
                                          <p:val>
                                            <p:strVal val="#ppt_h"/>
                                          </p:val>
                                        </p:tav>
                                      </p:tavLst>
                                    </p:anim>
                                    <p:animEffect transition="in" filter="fade">
                                      <p:cBhvr>
                                        <p:cTn id="47" dur="500"/>
                                        <p:tgtEl>
                                          <p:spTgt spid="16"/>
                                        </p:tgtEl>
                                      </p:cBhvr>
                                    </p:animEffect>
                                  </p:childTnLst>
                                </p:cTn>
                              </p:par>
                              <p:par>
                                <p:cTn id="48" presetID="10" presetClass="entr" presetSubtype="0" fill="hold" grpId="0" nodeType="withEffect">
                                  <p:stCondLst>
                                    <p:cond delay="750"/>
                                  </p:stCondLst>
                                  <p:childTnLst>
                                    <p:set>
                                      <p:cBhvr>
                                        <p:cTn id="49" dur="1" fill="hold">
                                          <p:stCondLst>
                                            <p:cond delay="0"/>
                                          </p:stCondLst>
                                        </p:cTn>
                                        <p:tgtEl>
                                          <p:spTgt spid="4"/>
                                        </p:tgtEl>
                                        <p:attrNameLst>
                                          <p:attrName>style.visibility</p:attrName>
                                        </p:attrNameLst>
                                      </p:cBhvr>
                                      <p:to>
                                        <p:strVal val="visible"/>
                                      </p:to>
                                    </p:set>
                                    <p:animEffect transition="in" filter="fade">
                                      <p:cBhvr>
                                        <p:cTn id="50" dur="500"/>
                                        <p:tgtEl>
                                          <p:spTgt spid="4"/>
                                        </p:tgtEl>
                                      </p:cBhvr>
                                    </p:animEffect>
                                  </p:childTnLst>
                                </p:cTn>
                              </p:par>
                              <p:par>
                                <p:cTn id="51" presetID="42" presetClass="path" presetSubtype="0" accel="50000" decel="50000" fill="hold" grpId="1" nodeType="withEffect">
                                  <p:stCondLst>
                                    <p:cond delay="750"/>
                                  </p:stCondLst>
                                  <p:childTnLst>
                                    <p:animMotion origin="layout" path="M 5E-6 3.7037E-6 L 0.0168 0.02986 " pathEditMode="relative" rAng="0" ptsTypes="AA">
                                      <p:cBhvr>
                                        <p:cTn id="52" dur="500" fill="hold"/>
                                        <p:tgtEl>
                                          <p:spTgt spid="4"/>
                                        </p:tgtEl>
                                        <p:attrNameLst>
                                          <p:attrName>ppt_x</p:attrName>
                                          <p:attrName>ppt_y</p:attrName>
                                        </p:attrNameLst>
                                      </p:cBhvr>
                                      <p:rCtr x="833" y="1481"/>
                                    </p:animMotion>
                                  </p:childTnLst>
                                </p:cTn>
                              </p:par>
                              <p:par>
                                <p:cTn id="53" presetID="10" presetClass="entr" presetSubtype="0" decel="100000" fill="hold" grpId="0" nodeType="withEffect">
                                  <p:stCondLst>
                                    <p:cond delay="750"/>
                                  </p:stCondLst>
                                  <p:childTnLst>
                                    <p:set>
                                      <p:cBhvr>
                                        <p:cTn id="54" dur="1" fill="hold">
                                          <p:stCondLst>
                                            <p:cond delay="0"/>
                                          </p:stCondLst>
                                        </p:cTn>
                                        <p:tgtEl>
                                          <p:spTgt spid="5"/>
                                        </p:tgtEl>
                                        <p:attrNameLst>
                                          <p:attrName>style.visibility</p:attrName>
                                        </p:attrNameLst>
                                      </p:cBhvr>
                                      <p:to>
                                        <p:strVal val="visible"/>
                                      </p:to>
                                    </p:set>
                                    <p:animEffect transition="in" filter="fade">
                                      <p:cBhvr>
                                        <p:cTn id="55" dur="500">
                                          <p:stCondLst>
                                            <p:cond delay="0"/>
                                          </p:stCondLst>
                                        </p:cTn>
                                        <p:tgtEl>
                                          <p:spTgt spid="5"/>
                                        </p:tgtEl>
                                      </p:cBhvr>
                                    </p:animEffect>
                                    <p:anim to="0" calcmode="lin" valueType="num">
                                      <p:cBhvr>
                                        <p:cTn id="56" dur="500" fill="hold">
                                          <p:stCondLst>
                                            <p:cond delay="0"/>
                                          </p:stCondLst>
                                        </p:cTn>
                                        <p:tgtEl>
                                          <p:spTgt spid="5"/>
                                        </p:tgtEl>
                                        <p:attrNameLst>
                                          <p:attrName>ppt_x</p:attrName>
                                        </p:attrNameLst>
                                      </p:cBhvr>
                                      <p:tavLst>
                                        <p:tav tm="0">
                                          <p:val>
                                            <p:strVal val="#ppt_x-.05"/>
                                          </p:val>
                                        </p:tav>
                                        <p:tav tm="100000">
                                          <p:val>
                                            <p:strVal val="#ppt_x"/>
                                          </p:val>
                                        </p:tav>
                                      </p:tavLst>
                                    </p:anim>
                                  </p:childTnLst>
                                </p:cTn>
                              </p:par>
                              <p:par>
                                <p:cTn id="57" presetID="10" presetClass="entr" presetSubtype="0" decel="100000" fill="hold" grpId="0" nodeType="withEffect">
                                  <p:stCondLst>
                                    <p:cond delay="750"/>
                                  </p:stCondLst>
                                  <p:iterate type="wd">
                                    <p:tmPct val="8000"/>
                                  </p:iterate>
                                  <p:childTnLst>
                                    <p:set>
                                      <p:cBhvr>
                                        <p:cTn id="58" dur="1" fill="hold">
                                          <p:stCondLst>
                                            <p:cond delay="0"/>
                                          </p:stCondLst>
                                        </p:cTn>
                                        <p:tgtEl>
                                          <p:spTgt spid="2"/>
                                        </p:tgtEl>
                                        <p:attrNameLst>
                                          <p:attrName>style.visibility</p:attrName>
                                        </p:attrNameLst>
                                      </p:cBhvr>
                                      <p:to>
                                        <p:strVal val="visible"/>
                                      </p:to>
                                    </p:set>
                                    <p:animEffect transition="in" filter="fade">
                                      <p:cBhvr>
                                        <p:cTn id="59" dur="500">
                                          <p:stCondLst>
                                            <p:cond delay="0"/>
                                          </p:stCondLst>
                                        </p:cTn>
                                        <p:tgtEl>
                                          <p:spTgt spid="2"/>
                                        </p:tgtEl>
                                      </p:cBhvr>
                                    </p:animEffect>
                                    <p:anim to="0" calcmode="lin" valueType="num">
                                      <p:cBhvr>
                                        <p:cTn id="60" dur="500" fill="hold">
                                          <p:stCondLst>
                                            <p:cond delay="0"/>
                                          </p:stCondLst>
                                        </p:cTn>
                                        <p:tgtEl>
                                          <p:spTgt spid="2"/>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0" grpId="0" animBg="1"/>
      <p:bldP spid="11" grpId="0" animBg="1"/>
      <p:bldP spid="5" grpId="0">
        <p:tmplLst>
          <p:tmpl>
            <p:tnLst>
              <p:par>
                <p:cTn presetID="10" presetClass="entr" presetSubtype="0" decel="100000" fill="hold" nodeType="withEffect">
                  <p:stCondLst>
                    <p:cond delay="750"/>
                  </p:stCondLst>
                  <p:childTnLst>
                    <p:set>
                      <p:cBhvr>
                        <p:cTn dur="1" fill="hold">
                          <p:stCondLst>
                            <p:cond delay="0"/>
                          </p:stCondLst>
                        </p:cTn>
                        <p:tgtEl>
                          <p:spTgt spid="5"/>
                        </p:tgtEl>
                        <p:attrNameLst>
                          <p:attrName>style.visibility</p:attrName>
                        </p:attrNameLst>
                      </p:cBhvr>
                      <p:to>
                        <p:strVal val="visible"/>
                      </p:to>
                    </p:set>
                    <p:animEffect transition="in" filter="fade">
                      <p:cBhvr>
                        <p:cTn dur="500">
                          <p:stCondLst>
                            <p:cond delay="0"/>
                          </p:stCondLst>
                        </p:cTn>
                        <p:tgtEl>
                          <p:spTgt spid="5"/>
                        </p:tgtEl>
                      </p:cBhvr>
                    </p:animEffect>
                    <p:anim to="0" calcmode="lin" valueType="num">
                      <p:cBhvr>
                        <p:cTn dur="500" fill="hold">
                          <p:stCondLst>
                            <p:cond delay="0"/>
                          </p:stCondLst>
                        </p:cTn>
                        <p:tgtEl>
                          <p:spTgt spid="5"/>
                        </p:tgtEl>
                        <p:attrNameLst>
                          <p:attrName>ppt_x</p:attrName>
                        </p:attrNameLst>
                      </p:cBhvr>
                      <p:tavLst>
                        <p:tav tm="0">
                          <p:val>
                            <p:strVal val="#ppt_x-.05"/>
                          </p:val>
                        </p:tav>
                        <p:tav tm="100000">
                          <p:val>
                            <p:strVal val="#ppt_x"/>
                          </p:val>
                        </p:tav>
                      </p:tavLst>
                    </p:anim>
                  </p:childTnLst>
                </p:cTn>
              </p:par>
            </p:tnLst>
          </p:tmpl>
        </p:tmplLst>
      </p:bldP>
      <p:bldP spid="2" grpId="0">
        <p:tmplLst>
          <p:tmpl>
            <p:tnLst>
              <p:par>
                <p:cTn presetID="10" presetClass="entr" presetSubtype="0" decel="100000" fill="hold" nodeType="withEffect">
                  <p:stCondLst>
                    <p:cond delay="750"/>
                  </p:stCondLst>
                  <p:iterate type="wd">
                    <p:tmPct val="8000"/>
                  </p:iterate>
                  <p:childTnLst>
                    <p:set>
                      <p:cBhvr>
                        <p:cTn dur="1" fill="hold">
                          <p:stCondLst>
                            <p:cond delay="0"/>
                          </p:stCondLst>
                        </p:cTn>
                        <p:tgtEl>
                          <p:spTgt spid="2"/>
                        </p:tgtEl>
                        <p:attrNameLst>
                          <p:attrName>style.visibility</p:attrName>
                        </p:attrNameLst>
                      </p:cBhvr>
                      <p:to>
                        <p:strVal val="visible"/>
                      </p:to>
                    </p:set>
                    <p:animEffect transition="in" filter="fade">
                      <p:cBhvr>
                        <p:cTn dur="500">
                          <p:stCondLst>
                            <p:cond delay="0"/>
                          </p:stCondLst>
                        </p:cTn>
                        <p:tgtEl>
                          <p:spTgt spid="2"/>
                        </p:tgtEl>
                      </p:cBhvr>
                    </p:animEffect>
                    <p:anim to="0" calcmode="lin" valueType="num">
                      <p:cBhvr>
                        <p:cTn dur="500" fill="hold">
                          <p:stCondLst>
                            <p:cond delay="0"/>
                          </p:stCondLst>
                        </p:cTn>
                        <p:tgtEl>
                          <p:spTgt spid="2"/>
                        </p:tgtEl>
                        <p:attrNameLst>
                          <p:attrName>ppt_y</p:attrName>
                        </p:attrNameLst>
                      </p:cBhvr>
                      <p:tavLst>
                        <p:tav tm="0">
                          <p:val>
                            <p:strVal val="#ppt_y-.05"/>
                          </p:val>
                        </p:tav>
                        <p:tav tm="100000">
                          <p:val>
                            <p:strVal val="#ppt_y"/>
                          </p:val>
                        </p:tav>
                      </p:tavLst>
                    </p:anim>
                  </p:childTnLst>
                </p:cTn>
              </p:par>
            </p:tnLst>
          </p:tmpl>
        </p:tmplLst>
      </p:bldP>
      <p:bldP spid="4" grpId="0" animBg="1"/>
      <p:bldP spid="4" grpId="1" animBg="1"/>
      <p:bldP spid="6" grpId="0" animBg="1"/>
      <p:bldP spid="7" grpId="0" build="p">
        <p:tmplLst>
          <p:tmpl lvl="1">
            <p:tnLst>
              <p:par>
                <p:cTn presetID="53" presetClass="entr" presetSubtype="16" fill="hold" nodeType="withEffect">
                  <p:stCondLst>
                    <p:cond delay="650"/>
                  </p:stCondLst>
                  <p:childTnLst>
                    <p:set>
                      <p:cBhvr>
                        <p:cTn dur="1" fill="hold">
                          <p:stCondLst>
                            <p:cond delay="0"/>
                          </p:stCondLst>
                        </p:cTn>
                        <p:tgtEl>
                          <p:spTgt spid="7"/>
                        </p:tgtEl>
                        <p:attrNameLst>
                          <p:attrName>style.visibility</p:attrName>
                        </p:attrNameLst>
                      </p:cBhvr>
                      <p:to>
                        <p:strVal val="visible"/>
                      </p:to>
                    </p:set>
                    <p:anim calcmode="lin" valueType="num">
                      <p:cBhvr>
                        <p:cTn dur="500" fill="hold"/>
                        <p:tgtEl>
                          <p:spTgt spid="7"/>
                        </p:tgtEl>
                        <p:attrNameLst>
                          <p:attrName>ppt_w</p:attrName>
                        </p:attrNameLst>
                      </p:cBhvr>
                      <p:tavLst>
                        <p:tav tm="0">
                          <p:val>
                            <p:fltVal val="0"/>
                          </p:val>
                        </p:tav>
                        <p:tav tm="100000">
                          <p:val>
                            <p:strVal val="#ppt_w"/>
                          </p:val>
                        </p:tav>
                      </p:tavLst>
                    </p:anim>
                    <p:anim calcmode="lin" valueType="num">
                      <p:cBhvr>
                        <p:cTn dur="500" fill="hold"/>
                        <p:tgtEl>
                          <p:spTgt spid="7"/>
                        </p:tgtEl>
                        <p:attrNameLst>
                          <p:attrName>ppt_h</p:attrName>
                        </p:attrNameLst>
                      </p:cBhvr>
                      <p:tavLst>
                        <p:tav tm="0">
                          <p:val>
                            <p:fltVal val="0"/>
                          </p:val>
                        </p:tav>
                        <p:tav tm="100000">
                          <p:val>
                            <p:strVal val="#ppt_h"/>
                          </p:val>
                        </p:tav>
                      </p:tavLst>
                    </p:anim>
                    <p:animEffect transition="in" filter="fade">
                      <p:cBhvr>
                        <p:cTn dur="500"/>
                        <p:tgtEl>
                          <p:spTgt spid="7"/>
                        </p:tgtEl>
                      </p:cBhvr>
                    </p:animEffect>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12" name="椭圆 11">
            <a:extLst>
              <a:ext uri="{FF2B5EF4-FFF2-40B4-BE49-F238E27FC236}">
                <a16:creationId xmlns:a16="http://schemas.microsoft.com/office/drawing/2014/main" id="{E9A4C940-17A0-EAF5-1288-423099172492}"/>
              </a:ext>
            </a:extLst>
          </p:cNvPr>
          <p:cNvSpPr/>
          <p:nvPr userDrawn="1"/>
        </p:nvSpPr>
        <p:spPr>
          <a:xfrm>
            <a:off x="367090" y="-1714814"/>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0B0CBC4C-0370-FC83-EFE2-A4655072B969}"/>
              </a:ext>
            </a:extLst>
          </p:cNvPr>
          <p:cNvSpPr/>
          <p:nvPr userDrawn="1"/>
        </p:nvSpPr>
        <p:spPr>
          <a:xfrm>
            <a:off x="1832990" y="-2841"/>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448C111F-EC00-73CD-D78D-B90FCF65990B}"/>
              </a:ext>
            </a:extLst>
          </p:cNvPr>
          <p:cNvSpPr/>
          <p:nvPr userDrawn="1"/>
        </p:nvSpPr>
        <p:spPr>
          <a:xfrm>
            <a:off x="3434922" y="1599091"/>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5EF8D094-C09B-FA07-5E8E-6D0A34E8E25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741" r="31458"/>
          <a:stretch/>
        </p:blipFill>
        <p:spPr>
          <a:xfrm rot="568416">
            <a:off x="90962" y="381112"/>
            <a:ext cx="4016078" cy="5720226"/>
          </a:xfrm>
          <a:prstGeom prst="rect">
            <a:avLst/>
          </a:prstGeom>
        </p:spPr>
      </p:pic>
      <p:pic>
        <p:nvPicPr>
          <p:cNvPr id="11" name="图片 10">
            <a:extLst>
              <a:ext uri="{FF2B5EF4-FFF2-40B4-BE49-F238E27FC236}">
                <a16:creationId xmlns:a16="http://schemas.microsoft.com/office/drawing/2014/main" id="{E50503D8-4014-AE09-8F7D-F2C94ED6022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741" r="31458"/>
          <a:stretch/>
        </p:blipFill>
        <p:spPr>
          <a:xfrm rot="20629034">
            <a:off x="-3526421" y="-821074"/>
            <a:ext cx="4016077" cy="5720225"/>
          </a:xfrm>
          <a:prstGeom prst="rect">
            <a:avLst/>
          </a:prstGeom>
        </p:spPr>
      </p:pic>
      <p:sp>
        <p:nvSpPr>
          <p:cNvPr id="29" name="文本框 28">
            <a:extLst>
              <a:ext uri="{FF2B5EF4-FFF2-40B4-BE49-F238E27FC236}">
                <a16:creationId xmlns:a16="http://schemas.microsoft.com/office/drawing/2014/main" id="{06715BF8-0A12-5796-1551-488CA6BA7E8B}"/>
              </a:ext>
            </a:extLst>
          </p:cNvPr>
          <p:cNvSpPr txBox="1"/>
          <p:nvPr userDrawn="1"/>
        </p:nvSpPr>
        <p:spPr>
          <a:xfrm>
            <a:off x="3768481" y="2334719"/>
            <a:ext cx="2167598" cy="523220"/>
          </a:xfrm>
          <a:prstGeom prst="rect">
            <a:avLst/>
          </a:prstGeom>
          <a:noFill/>
        </p:spPr>
        <p:txBody>
          <a:bodyPr wrap="square">
            <a:spAutoFit/>
          </a:bodyPr>
          <a:lstStyle/>
          <a:p>
            <a:pPr algn="l"/>
            <a:r>
              <a:rPr lang="en-US" altLang="zh-CN" sz="2800" b="1" i="0">
                <a:gradFill>
                  <a:gsLst>
                    <a:gs pos="100000">
                      <a:schemeClr val="accent1">
                        <a:alpha val="15000"/>
                      </a:schemeClr>
                    </a:gs>
                    <a:gs pos="0">
                      <a:schemeClr val="accent1">
                        <a:alpha val="0"/>
                      </a:schemeClr>
                    </a:gs>
                  </a:gsLst>
                  <a:lin ang="16200000" scaled="1"/>
                </a:gradFill>
                <a:effectLst/>
                <a:latin typeface="Calisto MT" panose="02040603050505030304" pitchFamily="18" charset="0"/>
              </a:rPr>
              <a:t>CONTENT</a:t>
            </a:r>
          </a:p>
        </p:txBody>
      </p:sp>
      <p:sp>
        <p:nvSpPr>
          <p:cNvPr id="26" name="文本占位符 25">
            <a:extLst>
              <a:ext uri="{FF2B5EF4-FFF2-40B4-BE49-F238E27FC236}">
                <a16:creationId xmlns:a16="http://schemas.microsoft.com/office/drawing/2014/main" id="{6B50EE85-71F0-6A4A-F2C6-2ACBA4D8468C}"/>
              </a:ext>
            </a:extLst>
          </p:cNvPr>
          <p:cNvSpPr>
            <a:spLocks noGrp="1"/>
          </p:cNvSpPr>
          <p:nvPr>
            <p:ph type="body" sz="quarter" idx="10" hasCustomPrompt="1"/>
          </p:nvPr>
        </p:nvSpPr>
        <p:spPr>
          <a:xfrm>
            <a:off x="6258201" y="1662411"/>
            <a:ext cx="3692525" cy="2631150"/>
          </a:xfrm>
          <a:prstGeom prst="rect">
            <a:avLst/>
          </a:prstGeom>
        </p:spPr>
        <p:txBody>
          <a:bodyPr anchor="ctr"/>
          <a:lstStyle>
            <a:lvl1pPr marL="342900" indent="-342900" algn="l">
              <a:lnSpc>
                <a:spcPct val="150000"/>
              </a:lnSpc>
              <a:buFont typeface="Wingdings" panose="05000000000000000000" pitchFamily="2" charset="2"/>
              <a:buChar char="u"/>
              <a:defRPr sz="1800">
                <a:solidFill>
                  <a:schemeClr val="tx1"/>
                </a:solidFill>
                <a:latin typeface="+mn-ea"/>
                <a:ea typeface="+mn-ea"/>
                <a:cs typeface="阿里巴巴普惠体 Medium" panose="00020600040101010101" pitchFamily="18" charset="-122"/>
              </a:defRPr>
            </a:lvl1pPr>
          </a:lstStyle>
          <a:p>
            <a:pPr lvl="0"/>
            <a:r>
              <a:rPr lang="zh-CN" altLang="en-US"/>
              <a:t>目录样式</a:t>
            </a:r>
            <a:endParaRPr lang="en-US" altLang="zh-CN"/>
          </a:p>
          <a:p>
            <a:pPr lvl="0"/>
            <a:r>
              <a:rPr lang="zh-CN" altLang="en-US"/>
              <a:t>目录样式</a:t>
            </a:r>
            <a:endParaRPr lang="en-US" altLang="zh-CN"/>
          </a:p>
          <a:p>
            <a:pPr lvl="0"/>
            <a:r>
              <a:rPr lang="zh-CN" altLang="en-US"/>
              <a:t>目录样式</a:t>
            </a:r>
            <a:endParaRPr lang="en-US" altLang="zh-CN"/>
          </a:p>
        </p:txBody>
      </p:sp>
      <p:sp>
        <p:nvSpPr>
          <p:cNvPr id="27" name="标题文本">
            <a:extLst>
              <a:ext uri="{FF2B5EF4-FFF2-40B4-BE49-F238E27FC236}">
                <a16:creationId xmlns:a16="http://schemas.microsoft.com/office/drawing/2014/main" id="{32B4F824-6998-DCF1-0043-E682C565BE4E}"/>
              </a:ext>
            </a:extLst>
          </p:cNvPr>
          <p:cNvSpPr txBox="1"/>
          <p:nvPr userDrawn="1"/>
        </p:nvSpPr>
        <p:spPr>
          <a:xfrm flipH="1">
            <a:off x="4207329" y="2704247"/>
            <a:ext cx="1098378" cy="646331"/>
          </a:xfrm>
          <a:prstGeom prst="rect">
            <a:avLst/>
          </a:prstGeom>
          <a:noFill/>
        </p:spPr>
        <p:txBody>
          <a:bodyPr wrap="none" rtlCol="0">
            <a:spAutoFit/>
          </a:bodyPr>
          <a:lstStyle/>
          <a:p>
            <a:r>
              <a:rPr lang="zh-CN" altLang="en-US" sz="3600">
                <a:solidFill>
                  <a:schemeClr val="accent1"/>
                </a:solidFill>
                <a:latin typeface="+mj-ea"/>
                <a:ea typeface="+mj-ea"/>
              </a:rPr>
              <a:t>目录</a:t>
            </a:r>
            <a:endParaRPr lang="zh-CN" altLang="en-US" sz="3600" dirty="0">
              <a:solidFill>
                <a:schemeClr val="accent1"/>
              </a:solidFill>
              <a:latin typeface="+mj-ea"/>
              <a:ea typeface="+mj-ea"/>
            </a:endParaRPr>
          </a:p>
        </p:txBody>
      </p:sp>
    </p:spTree>
    <p:extLst>
      <p:ext uri="{BB962C8B-B14F-4D97-AF65-F5344CB8AC3E}">
        <p14:creationId xmlns:p14="http://schemas.microsoft.com/office/powerpoint/2010/main" val="641220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decel="60436" fill="hold" nodeType="withEffect">
                                  <p:stCondLst>
                                    <p:cond delay="0"/>
                                  </p:stCondLst>
                                  <p:childTnLst>
                                    <p:animEffect transition="out" filter="fade">
                                      <p:cBhvr>
                                        <p:cTn id="6" dur="750"/>
                                        <p:tgtEl>
                                          <p:spTgt spid="11"/>
                                        </p:tgtEl>
                                      </p:cBhvr>
                                    </p:animEffect>
                                    <p:set>
                                      <p:cBhvr>
                                        <p:cTn id="7" dur="1" fill="hold">
                                          <p:stCondLst>
                                            <p:cond delay="749"/>
                                          </p:stCondLst>
                                        </p:cTn>
                                        <p:tgtEl>
                                          <p:spTgt spid="11"/>
                                        </p:tgtEl>
                                        <p:attrNameLst>
                                          <p:attrName>style.visibility</p:attrName>
                                        </p:attrNameLst>
                                      </p:cBhvr>
                                      <p:to>
                                        <p:strVal val="hidden"/>
                                      </p:to>
                                    </p:set>
                                  </p:childTnLst>
                                </p:cTn>
                              </p:par>
                              <p:par>
                                <p:cTn id="8" presetID="10" presetClass="entr" presetSubtype="0" decel="60436"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750"/>
                                        <p:tgtEl>
                                          <p:spTgt spid="10"/>
                                        </p:tgtEl>
                                      </p:cBhvr>
                                    </p:animEffect>
                                  </p:childTnLst>
                                </p:cTn>
                              </p:par>
                              <p:par>
                                <p:cTn id="11" presetID="63" presetClass="path" presetSubtype="0" decel="60436" fill="hold" nodeType="withEffect">
                                  <p:stCondLst>
                                    <p:cond delay="0"/>
                                  </p:stCondLst>
                                  <p:childTnLst>
                                    <p:animMotion origin="layout" path="M 0 0 L 0.296701 0.175297 E" pathEditMode="relative" ptsTypes="">
                                      <p:cBhvr>
                                        <p:cTn id="12" dur="750" fill="hold"/>
                                        <p:tgtEl>
                                          <p:spTgt spid="11"/>
                                        </p:tgtEl>
                                        <p:attrNameLst>
                                          <p:attrName>ppt_x</p:attrName>
                                          <p:attrName>ppt_y</p:attrName>
                                        </p:attrNameLst>
                                      </p:cBhvr>
                                    </p:animMotion>
                                  </p:childTnLst>
                                </p:cTn>
                              </p:par>
                              <p:par>
                                <p:cTn id="13" presetID="63" presetClass="path" presetSubtype="0" decel="60436" fill="hold" nodeType="withEffect">
                                  <p:stCondLst>
                                    <p:cond delay="0"/>
                                  </p:stCondLst>
                                  <p:childTnLst>
                                    <p:animMotion origin="layout" path="M -0.296701 -0.175297 L 0 0 E" pathEditMode="relative" ptsTypes="">
                                      <p:cBhvr>
                                        <p:cTn id="14" dur="750" fill="hold"/>
                                        <p:tgtEl>
                                          <p:spTgt spid="10"/>
                                        </p:tgtEl>
                                        <p:attrNameLst>
                                          <p:attrName>ppt_x</p:attrName>
                                          <p:attrName>ppt_y</p:attrName>
                                        </p:attrNameLst>
                                      </p:cBhvr>
                                    </p:animMotion>
                                  </p:childTnLst>
                                </p:cTn>
                              </p:par>
                              <p:par>
                                <p:cTn id="15" presetID="6" presetClass="emph" presetSubtype="0" decel="60436" fill="hold" nodeType="withEffect">
                                  <p:stCondLst>
                                    <p:cond delay="0"/>
                                  </p:stCondLst>
                                  <p:childTnLst>
                                    <p:animScale>
                                      <p:cBhvr>
                                        <p:cTn id="16" dur="750" fill="hold"/>
                                        <p:tgtEl>
                                          <p:spTgt spid="11"/>
                                        </p:tgtEl>
                                      </p:cBhvr>
                                      <p:by x="150000" y="150000"/>
                                      <p:from x="100000" y="100000"/>
                                      <p:to x="100000" y="100000"/>
                                    </p:animScale>
                                  </p:childTnLst>
                                </p:cTn>
                              </p:par>
                              <p:par>
                                <p:cTn id="17" presetID="6" presetClass="emph" presetSubtype="0" decel="60436" fill="hold" nodeType="withEffect">
                                  <p:stCondLst>
                                    <p:cond delay="0"/>
                                  </p:stCondLst>
                                  <p:childTnLst>
                                    <p:animScale>
                                      <p:cBhvr>
                                        <p:cTn id="18" dur="750" fill="hold"/>
                                        <p:tgtEl>
                                          <p:spTgt spid="10"/>
                                        </p:tgtEl>
                                      </p:cBhvr>
                                      <p:by x="150000" y="150000"/>
                                      <p:from x="100000" y="100000"/>
                                      <p:to x="100000" y="100000"/>
                                    </p:animScale>
                                  </p:childTnLst>
                                </p:cTn>
                              </p:par>
                              <p:par>
                                <p:cTn id="19" presetID="8" presetClass="emph" presetSubtype="0" decel="60436" fill="hold" nodeType="withEffect">
                                  <p:stCondLst>
                                    <p:cond delay="0"/>
                                  </p:stCondLst>
                                  <p:childTnLst>
                                    <p:animRot by="21600000" from="0" to="1539382">
                                      <p:cBhvr>
                                        <p:cTn id="20" dur="750" fill="hold"/>
                                        <p:tgtEl>
                                          <p:spTgt spid="11"/>
                                        </p:tgtEl>
                                        <p:attrNameLst>
                                          <p:attrName>r</p:attrName>
                                        </p:attrNameLst>
                                      </p:cBhvr>
                                    </p:animRot>
                                  </p:childTnLst>
                                </p:cTn>
                              </p:par>
                              <p:par>
                                <p:cTn id="21" presetID="8" presetClass="emph" presetSubtype="0" decel="60436" fill="hold" nodeType="withEffect">
                                  <p:stCondLst>
                                    <p:cond delay="0"/>
                                  </p:stCondLst>
                                  <p:childTnLst>
                                    <p:animRot by="21600000" from="-1539382" to="0">
                                      <p:cBhvr>
                                        <p:cTn id="22" dur="750" fill="hold"/>
                                        <p:tgtEl>
                                          <p:spTgt spid="10"/>
                                        </p:tgtEl>
                                        <p:attrNameLst>
                                          <p:attrName>r</p:attrName>
                                        </p:attrNameLst>
                                      </p:cBhvr>
                                    </p:animRot>
                                  </p:childTnLst>
                                </p:cTn>
                              </p:par>
                              <p:par>
                                <p:cTn id="23" presetID="53" presetClass="entr" presetSubtype="16" fill="hold" grpId="0" nodeType="withEffect">
                                  <p:stCondLst>
                                    <p:cond delay="500"/>
                                  </p:stCondLst>
                                  <p:childTnLst>
                                    <p:set>
                                      <p:cBhvr>
                                        <p:cTn id="24" dur="1" fill="hold">
                                          <p:stCondLst>
                                            <p:cond delay="0"/>
                                          </p:stCondLst>
                                        </p:cTn>
                                        <p:tgtEl>
                                          <p:spTgt spid="27"/>
                                        </p:tgtEl>
                                        <p:attrNameLst>
                                          <p:attrName>style.visibility</p:attrName>
                                        </p:attrNameLst>
                                      </p:cBhvr>
                                      <p:to>
                                        <p:strVal val="visible"/>
                                      </p:to>
                                    </p:set>
                                    <p:anim calcmode="lin" valueType="num">
                                      <p:cBhvr>
                                        <p:cTn id="25" dur="500" fill="hold"/>
                                        <p:tgtEl>
                                          <p:spTgt spid="27"/>
                                        </p:tgtEl>
                                        <p:attrNameLst>
                                          <p:attrName>ppt_w</p:attrName>
                                        </p:attrNameLst>
                                      </p:cBhvr>
                                      <p:tavLst>
                                        <p:tav tm="0">
                                          <p:val>
                                            <p:fltVal val="0"/>
                                          </p:val>
                                        </p:tav>
                                        <p:tav tm="100000">
                                          <p:val>
                                            <p:strVal val="#ppt_w"/>
                                          </p:val>
                                        </p:tav>
                                      </p:tavLst>
                                    </p:anim>
                                    <p:anim calcmode="lin" valueType="num">
                                      <p:cBhvr>
                                        <p:cTn id="26" dur="500" fill="hold"/>
                                        <p:tgtEl>
                                          <p:spTgt spid="27"/>
                                        </p:tgtEl>
                                        <p:attrNameLst>
                                          <p:attrName>ppt_h</p:attrName>
                                        </p:attrNameLst>
                                      </p:cBhvr>
                                      <p:tavLst>
                                        <p:tav tm="0">
                                          <p:val>
                                            <p:fltVal val="0"/>
                                          </p:val>
                                        </p:tav>
                                        <p:tav tm="100000">
                                          <p:val>
                                            <p:strVal val="#ppt_h"/>
                                          </p:val>
                                        </p:tav>
                                      </p:tavLst>
                                    </p:anim>
                                    <p:animEffect transition="in" filter="fade">
                                      <p:cBhvr>
                                        <p:cTn id="27" dur="500"/>
                                        <p:tgtEl>
                                          <p:spTgt spid="27"/>
                                        </p:tgtEl>
                                      </p:cBhvr>
                                    </p:animEffect>
                                  </p:childTnLst>
                                </p:cTn>
                              </p:par>
                              <p:par>
                                <p:cTn id="28" presetID="10" presetClass="entr" presetSubtype="0" decel="100000" fill="hold" grpId="0" nodeType="withEffect">
                                  <p:stCondLst>
                                    <p:cond delay="65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500">
                                          <p:stCondLst>
                                            <p:cond delay="0"/>
                                          </p:stCondLst>
                                        </p:cTn>
                                        <p:tgtEl>
                                          <p:spTgt spid="29"/>
                                        </p:tgtEl>
                                      </p:cBhvr>
                                    </p:animEffect>
                                    <p:anim to="0" calcmode="lin" valueType="num">
                                      <p:cBhvr>
                                        <p:cTn id="31" dur="500" fill="hold">
                                          <p:stCondLst>
                                            <p:cond delay="0"/>
                                          </p:stCondLst>
                                        </p:cTn>
                                        <p:tgtEl>
                                          <p:spTgt spid="29"/>
                                        </p:tgtEl>
                                        <p:attrNameLst>
                                          <p:attrName>ppt_y</p:attrName>
                                        </p:attrNameLst>
                                      </p:cBhvr>
                                      <p:tavLst>
                                        <p:tav tm="0">
                                          <p:val>
                                            <p:strVal val="#ppt_y+.05"/>
                                          </p:val>
                                        </p:tav>
                                        <p:tav tm="100000">
                                          <p:val>
                                            <p:strVal val="#ppt_y"/>
                                          </p:val>
                                        </p:tav>
                                      </p:tavLst>
                                    </p:anim>
                                  </p:childTnLst>
                                </p:cTn>
                              </p:par>
                              <p:par>
                                <p:cTn id="32" presetID="53" presetClass="entr" presetSubtype="16" fill="hold" grpId="0" nodeType="withEffect">
                                  <p:stCondLst>
                                    <p:cond delay="700"/>
                                  </p:stCondLst>
                                  <p:childTnLst>
                                    <p:set>
                                      <p:cBhvr>
                                        <p:cTn id="33" dur="1" fill="hold">
                                          <p:stCondLst>
                                            <p:cond delay="0"/>
                                          </p:stCondLst>
                                        </p:cTn>
                                        <p:tgtEl>
                                          <p:spTgt spid="7"/>
                                        </p:tgtEl>
                                        <p:attrNameLst>
                                          <p:attrName>style.visibility</p:attrName>
                                        </p:attrNameLst>
                                      </p:cBhvr>
                                      <p:to>
                                        <p:strVal val="visible"/>
                                      </p:to>
                                    </p:set>
                                    <p:anim calcmode="lin" valueType="num">
                                      <p:cBhvr>
                                        <p:cTn id="34" dur="500" fill="hold"/>
                                        <p:tgtEl>
                                          <p:spTgt spid="7"/>
                                        </p:tgtEl>
                                        <p:attrNameLst>
                                          <p:attrName>ppt_w</p:attrName>
                                        </p:attrNameLst>
                                      </p:cBhvr>
                                      <p:tavLst>
                                        <p:tav tm="0">
                                          <p:val>
                                            <p:fltVal val="0"/>
                                          </p:val>
                                        </p:tav>
                                        <p:tav tm="100000">
                                          <p:val>
                                            <p:strVal val="#ppt_w"/>
                                          </p:val>
                                        </p:tav>
                                      </p:tavLst>
                                    </p:anim>
                                    <p:anim calcmode="lin" valueType="num">
                                      <p:cBhvr>
                                        <p:cTn id="35" dur="500" fill="hold"/>
                                        <p:tgtEl>
                                          <p:spTgt spid="7"/>
                                        </p:tgtEl>
                                        <p:attrNameLst>
                                          <p:attrName>ppt_h</p:attrName>
                                        </p:attrNameLst>
                                      </p:cBhvr>
                                      <p:tavLst>
                                        <p:tav tm="0">
                                          <p:val>
                                            <p:fltVal val="0"/>
                                          </p:val>
                                        </p:tav>
                                        <p:tav tm="100000">
                                          <p:val>
                                            <p:strVal val="#ppt_h"/>
                                          </p:val>
                                        </p:tav>
                                      </p:tavLst>
                                    </p:anim>
                                    <p:animEffect transition="in" filter="fade">
                                      <p:cBhvr>
                                        <p:cTn id="36" dur="500"/>
                                        <p:tgtEl>
                                          <p:spTgt spid="7"/>
                                        </p:tgtEl>
                                      </p:cBhvr>
                                    </p:animEffect>
                                  </p:childTnLst>
                                </p:cTn>
                              </p:par>
                              <p:par>
                                <p:cTn id="37" presetID="53" presetClass="entr" presetSubtype="16" fill="hold" grpId="0" nodeType="withEffect">
                                  <p:stCondLst>
                                    <p:cond delay="850"/>
                                  </p:stCondLst>
                                  <p:childTnLst>
                                    <p:set>
                                      <p:cBhvr>
                                        <p:cTn id="38" dur="1" fill="hold">
                                          <p:stCondLst>
                                            <p:cond delay="0"/>
                                          </p:stCondLst>
                                        </p:cTn>
                                        <p:tgtEl>
                                          <p:spTgt spid="6"/>
                                        </p:tgtEl>
                                        <p:attrNameLst>
                                          <p:attrName>style.visibility</p:attrName>
                                        </p:attrNameLst>
                                      </p:cBhvr>
                                      <p:to>
                                        <p:strVal val="visible"/>
                                      </p:to>
                                    </p:set>
                                    <p:anim calcmode="lin" valueType="num">
                                      <p:cBhvr>
                                        <p:cTn id="39" dur="500" fill="hold"/>
                                        <p:tgtEl>
                                          <p:spTgt spid="6"/>
                                        </p:tgtEl>
                                        <p:attrNameLst>
                                          <p:attrName>ppt_w</p:attrName>
                                        </p:attrNameLst>
                                      </p:cBhvr>
                                      <p:tavLst>
                                        <p:tav tm="0">
                                          <p:val>
                                            <p:fltVal val="0"/>
                                          </p:val>
                                        </p:tav>
                                        <p:tav tm="100000">
                                          <p:val>
                                            <p:strVal val="#ppt_w"/>
                                          </p:val>
                                        </p:tav>
                                      </p:tavLst>
                                    </p:anim>
                                    <p:anim calcmode="lin" valueType="num">
                                      <p:cBhvr>
                                        <p:cTn id="40" dur="500" fill="hold"/>
                                        <p:tgtEl>
                                          <p:spTgt spid="6"/>
                                        </p:tgtEl>
                                        <p:attrNameLst>
                                          <p:attrName>ppt_h</p:attrName>
                                        </p:attrNameLst>
                                      </p:cBhvr>
                                      <p:tavLst>
                                        <p:tav tm="0">
                                          <p:val>
                                            <p:fltVal val="0"/>
                                          </p:val>
                                        </p:tav>
                                        <p:tav tm="100000">
                                          <p:val>
                                            <p:strVal val="#ppt_h"/>
                                          </p:val>
                                        </p:tav>
                                      </p:tavLst>
                                    </p:anim>
                                    <p:animEffect transition="in" filter="fade">
                                      <p:cBhvr>
                                        <p:cTn id="41" dur="500"/>
                                        <p:tgtEl>
                                          <p:spTgt spid="6"/>
                                        </p:tgtEl>
                                      </p:cBhvr>
                                    </p:animEffect>
                                  </p:childTnLst>
                                </p:cTn>
                              </p:par>
                              <p:par>
                                <p:cTn id="42" presetID="10" presetClass="entr" presetSubtype="0" decel="100000" fill="hold" grpId="0" nodeType="withEffect">
                                  <p:stCondLst>
                                    <p:cond delay="850"/>
                                  </p:stCondLst>
                                  <p:iterate type="wd">
                                    <p:tmPct val="10000"/>
                                  </p:iterate>
                                  <p:childTnLst>
                                    <p:set>
                                      <p:cBhvr>
                                        <p:cTn id="43" dur="1" fill="hold">
                                          <p:stCondLst>
                                            <p:cond delay="0"/>
                                          </p:stCondLst>
                                        </p:cTn>
                                        <p:tgtEl>
                                          <p:spTgt spid="26"/>
                                        </p:tgtEl>
                                        <p:attrNameLst>
                                          <p:attrName>style.visibility</p:attrName>
                                        </p:attrNameLst>
                                      </p:cBhvr>
                                      <p:to>
                                        <p:strVal val="visible"/>
                                      </p:to>
                                    </p:set>
                                    <p:animEffect transition="in" filter="fade">
                                      <p:cBhvr>
                                        <p:cTn id="44" dur="500">
                                          <p:stCondLst>
                                            <p:cond delay="0"/>
                                          </p:stCondLst>
                                        </p:cTn>
                                        <p:tgtEl>
                                          <p:spTgt spid="26"/>
                                        </p:tgtEl>
                                      </p:cBhvr>
                                    </p:animEffect>
                                    <p:anim to="0" calcmode="lin" valueType="num">
                                      <p:cBhvr>
                                        <p:cTn id="45" dur="500" fill="hold">
                                          <p:stCondLst>
                                            <p:cond delay="0"/>
                                          </p:stCondLst>
                                        </p:cTn>
                                        <p:tgtEl>
                                          <p:spTgt spid="26"/>
                                        </p:tgtEl>
                                        <p:attrNameLst>
                                          <p:attrName>ppt_x</p:attrName>
                                        </p:attrNameLst>
                                      </p:cBhvr>
                                      <p:tavLst>
                                        <p:tav tm="0">
                                          <p:val>
                                            <p:strVal val="#ppt_x-.05"/>
                                          </p:val>
                                        </p:tav>
                                        <p:tav tm="100000">
                                          <p:val>
                                            <p:strVal val="#ppt_x"/>
                                          </p:val>
                                        </p:tav>
                                      </p:tavLst>
                                    </p:anim>
                                  </p:childTnLst>
                                </p:cTn>
                              </p:par>
                              <p:par>
                                <p:cTn id="46" presetID="53" presetClass="entr" presetSubtype="16" fill="hold" grpId="0" nodeType="withEffect">
                                  <p:stCondLst>
                                    <p:cond delay="900"/>
                                  </p:stCondLst>
                                  <p:childTnLst>
                                    <p:set>
                                      <p:cBhvr>
                                        <p:cTn id="47" dur="1" fill="hold">
                                          <p:stCondLst>
                                            <p:cond delay="0"/>
                                          </p:stCondLst>
                                        </p:cTn>
                                        <p:tgtEl>
                                          <p:spTgt spid="12"/>
                                        </p:tgtEl>
                                        <p:attrNameLst>
                                          <p:attrName>style.visibility</p:attrName>
                                        </p:attrNameLst>
                                      </p:cBhvr>
                                      <p:to>
                                        <p:strVal val="visible"/>
                                      </p:to>
                                    </p:set>
                                    <p:anim calcmode="lin" valueType="num">
                                      <p:cBhvr>
                                        <p:cTn id="48" dur="500" fill="hold"/>
                                        <p:tgtEl>
                                          <p:spTgt spid="12"/>
                                        </p:tgtEl>
                                        <p:attrNameLst>
                                          <p:attrName>ppt_w</p:attrName>
                                        </p:attrNameLst>
                                      </p:cBhvr>
                                      <p:tavLst>
                                        <p:tav tm="0">
                                          <p:val>
                                            <p:fltVal val="0"/>
                                          </p:val>
                                        </p:tav>
                                        <p:tav tm="100000">
                                          <p:val>
                                            <p:strVal val="#ppt_w"/>
                                          </p:val>
                                        </p:tav>
                                      </p:tavLst>
                                    </p:anim>
                                    <p:anim calcmode="lin" valueType="num">
                                      <p:cBhvr>
                                        <p:cTn id="49" dur="500" fill="hold"/>
                                        <p:tgtEl>
                                          <p:spTgt spid="12"/>
                                        </p:tgtEl>
                                        <p:attrNameLst>
                                          <p:attrName>ppt_h</p:attrName>
                                        </p:attrNameLst>
                                      </p:cBhvr>
                                      <p:tavLst>
                                        <p:tav tm="0">
                                          <p:val>
                                            <p:fltVal val="0"/>
                                          </p:val>
                                        </p:tav>
                                        <p:tav tm="100000">
                                          <p:val>
                                            <p:strVal val="#ppt_h"/>
                                          </p:val>
                                        </p:tav>
                                      </p:tavLst>
                                    </p:anim>
                                    <p:animEffect transition="in" filter="fade">
                                      <p:cBhvr>
                                        <p:cTn id="5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6" grpId="0" animBg="1"/>
      <p:bldP spid="7" grpId="0" animBg="1"/>
      <p:bldP spid="29" grpId="0"/>
      <p:bldP spid="26" grpId="0">
        <p:tmplLst>
          <p:tmpl>
            <p:tnLst>
              <p:par>
                <p:cTn presetID="10" presetClass="entr" presetSubtype="0" decel="100000" fill="hold" nodeType="withEffect">
                  <p:stCondLst>
                    <p:cond delay="850"/>
                  </p:stCondLst>
                  <p:iterate type="wd">
                    <p:tmPct val="10000"/>
                  </p:iterate>
                  <p:childTnLst>
                    <p:set>
                      <p:cBhvr>
                        <p:cTn dur="1" fill="hold">
                          <p:stCondLst>
                            <p:cond delay="0"/>
                          </p:stCondLst>
                        </p:cTn>
                        <p:tgtEl>
                          <p:spTgt spid="26"/>
                        </p:tgtEl>
                        <p:attrNameLst>
                          <p:attrName>style.visibility</p:attrName>
                        </p:attrNameLst>
                      </p:cBhvr>
                      <p:to>
                        <p:strVal val="visible"/>
                      </p:to>
                    </p:set>
                    <p:animEffect transition="in" filter="fade">
                      <p:cBhvr>
                        <p:cTn dur="500">
                          <p:stCondLst>
                            <p:cond delay="0"/>
                          </p:stCondLst>
                        </p:cTn>
                        <p:tgtEl>
                          <p:spTgt spid="26"/>
                        </p:tgtEl>
                      </p:cBhvr>
                    </p:animEffect>
                    <p:anim to="0" calcmode="lin" valueType="num">
                      <p:cBhvr>
                        <p:cTn dur="500" fill="hold">
                          <p:stCondLst>
                            <p:cond delay="0"/>
                          </p:stCondLst>
                        </p:cTn>
                        <p:tgtEl>
                          <p:spTgt spid="26"/>
                        </p:tgtEl>
                        <p:attrNameLst>
                          <p:attrName>ppt_x</p:attrName>
                        </p:attrNameLst>
                      </p:cBhvr>
                      <p:tavLst>
                        <p:tav tm="0">
                          <p:val>
                            <p:strVal val="#ppt_x-.05"/>
                          </p:val>
                        </p:tav>
                        <p:tav tm="100000">
                          <p:val>
                            <p:strVal val="#ppt_x"/>
                          </p:val>
                        </p:tav>
                      </p:tavLst>
                    </p:anim>
                  </p:childTnLst>
                </p:cTn>
              </p:par>
            </p:tnLst>
          </p:tmpl>
        </p:tmplLst>
      </p:bldP>
      <p:bldP spid="27" grpId="0"/>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二级标题+正文内容（项目符号）">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052D8D2A-DC76-4246-B7A3-897EC5980424}"/>
              </a:ext>
            </a:extLst>
          </p:cNvPr>
          <p:cNvSpPr>
            <a:spLocks noGrp="1"/>
          </p:cNvSpPr>
          <p:nvPr>
            <p:ph type="body" sz="quarter" idx="11" hasCustomPrompt="1"/>
          </p:nvPr>
        </p:nvSpPr>
        <p:spPr>
          <a:xfrm>
            <a:off x="710881" y="1646133"/>
            <a:ext cx="10749598"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nSpc>
                <a:spcPct val="150000"/>
              </a:lnSpc>
              <a:buFont typeface="Wingdings" pitchFamily="2" charset="2"/>
              <a:buChar char="l"/>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a:extLst>
              <a:ext uri="{FF2B5EF4-FFF2-40B4-BE49-F238E27FC236}">
                <a16:creationId xmlns:a16="http://schemas.microsoft.com/office/drawing/2014/main" id="{49FCFB1A-E1EE-3245-9778-ABB7ACB14FA5}"/>
              </a:ext>
            </a:extLst>
          </p:cNvPr>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a:extLst>
              <a:ext uri="{FF2B5EF4-FFF2-40B4-BE49-F238E27FC236}">
                <a16:creationId xmlns:a16="http://schemas.microsoft.com/office/drawing/2014/main" id="{2DD40269-A2A6-814E-991D-1DBB12873808}"/>
              </a:ext>
            </a:extLst>
          </p:cNvPr>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42934960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38098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二级标题+正文内容（无编号）">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6C2551-88ED-4239-96A2-7F3C49A205FD}"/>
              </a:ext>
            </a:extLst>
          </p:cNvPr>
          <p:cNvSpPr>
            <a:spLocks noGrp="1"/>
          </p:cNvSpPr>
          <p:nvPr>
            <p:ph type="title" hasCustomPrompt="1"/>
          </p:nvPr>
        </p:nvSpPr>
        <p:spPr>
          <a:xfrm>
            <a:off x="710880" y="1002232"/>
            <a:ext cx="1069880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0F12D90F-BB49-421D-A9D1-C25C2A378E5A}"/>
              </a:ext>
            </a:extLst>
          </p:cNvPr>
          <p:cNvSpPr>
            <a:spLocks noGrp="1"/>
          </p:cNvSpPr>
          <p:nvPr>
            <p:ph type="body" sz="quarter" idx="11" hasCustomPrompt="1"/>
          </p:nvPr>
        </p:nvSpPr>
        <p:spPr>
          <a:xfrm>
            <a:off x="710880" y="1624204"/>
            <a:ext cx="10698800" cy="386122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3569567767"/>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标题内容页">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CED916A-3E34-4B9E-8F9F-7A8921A30F99}"/>
              </a:ext>
            </a:extLst>
          </p:cNvPr>
          <p:cNvSpPr>
            <a:spLocks noGrp="1"/>
          </p:cNvSpPr>
          <p:nvPr>
            <p:ph idx="1" hasCustomPrompt="1"/>
          </p:nvPr>
        </p:nvSpPr>
        <p:spPr>
          <a:xfrm>
            <a:off x="576197" y="956241"/>
            <a:ext cx="11060481" cy="5331825"/>
          </a:xfrm>
          <a:prstGeom prst="rect">
            <a:avLst/>
          </a:prstGeom>
        </p:spPr>
        <p:txBody>
          <a:bodyPr/>
          <a:lstStyle>
            <a:lvl1pPr marL="0" indent="0">
              <a:lnSpc>
                <a:spcPct val="150000"/>
              </a:lnSpc>
              <a:buNone/>
              <a:defRPr sz="1600"/>
            </a:lvl1pPr>
          </a:lstStyle>
          <a:p>
            <a:pPr lvl="0"/>
            <a:r>
              <a:rPr lang="zh-CN" altLang="en-US"/>
              <a:t>单击此处编辑内容</a:t>
            </a:r>
            <a:endParaRPr lang="zh-CN" altLang="en-US" dirty="0"/>
          </a:p>
        </p:txBody>
      </p:sp>
      <p:sp>
        <p:nvSpPr>
          <p:cNvPr id="8" name="标题 7">
            <a:extLst>
              <a:ext uri="{FF2B5EF4-FFF2-40B4-BE49-F238E27FC236}">
                <a16:creationId xmlns:a16="http://schemas.microsoft.com/office/drawing/2014/main" id="{E0BD5DE7-58FF-A736-CEC2-C49FBA5469E8}"/>
              </a:ext>
            </a:extLst>
          </p:cNvPr>
          <p:cNvSpPr>
            <a:spLocks noGrp="1"/>
          </p:cNvSpPr>
          <p:nvPr>
            <p:ph type="title"/>
          </p:nvPr>
        </p:nvSpPr>
        <p:spPr>
          <a:xfrm>
            <a:off x="576196" y="336399"/>
            <a:ext cx="10747497" cy="474415"/>
          </a:xfrm>
          <a:prstGeom prst="rect">
            <a:avLst/>
          </a:prstGeom>
        </p:spPr>
        <p:txBody>
          <a:bodyPr/>
          <a:lstStyle>
            <a:lvl1pPr>
              <a:lnSpc>
                <a:spcPct val="100000"/>
              </a:lnSpc>
              <a:defRPr sz="2400">
                <a:solidFill>
                  <a:schemeClr val="accent1"/>
                </a:solidFill>
              </a:defRPr>
            </a:lvl1pPr>
          </a:lstStyle>
          <a:p>
            <a:r>
              <a:rPr lang="zh-CN" altLang="en-US"/>
              <a:t>单击此处编辑母版标题样式</a:t>
            </a:r>
          </a:p>
        </p:txBody>
      </p:sp>
      <p:sp>
        <p:nvSpPr>
          <p:cNvPr id="47" name="椭圆 46">
            <a:extLst>
              <a:ext uri="{FF2B5EF4-FFF2-40B4-BE49-F238E27FC236}">
                <a16:creationId xmlns:a16="http://schemas.microsoft.com/office/drawing/2014/main" id="{2828A69B-715F-4EF1-58FB-A763C01CE99E}"/>
              </a:ext>
            </a:extLst>
          </p:cNvPr>
          <p:cNvSpPr/>
          <p:nvPr userDrawn="1"/>
        </p:nvSpPr>
        <p:spPr>
          <a:xfrm>
            <a:off x="221806" y="190972"/>
            <a:ext cx="144104" cy="14410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a:extLst>
              <a:ext uri="{FF2B5EF4-FFF2-40B4-BE49-F238E27FC236}">
                <a16:creationId xmlns:a16="http://schemas.microsoft.com/office/drawing/2014/main" id="{D09C51A0-F849-48A7-BC23-68B1480BCFBA}"/>
              </a:ext>
            </a:extLst>
          </p:cNvPr>
          <p:cNvSpPr/>
          <p:nvPr userDrawn="1"/>
        </p:nvSpPr>
        <p:spPr>
          <a:xfrm>
            <a:off x="293858" y="224694"/>
            <a:ext cx="220764" cy="22076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98962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二级标题+正文内容（项目符号）">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052D8D2A-DC76-4246-B7A3-897EC5980424}"/>
              </a:ext>
            </a:extLst>
          </p:cNvPr>
          <p:cNvSpPr>
            <a:spLocks noGrp="1"/>
          </p:cNvSpPr>
          <p:nvPr>
            <p:ph type="body" sz="quarter" idx="11" hasCustomPrompt="1"/>
          </p:nvPr>
        </p:nvSpPr>
        <p:spPr>
          <a:xfrm>
            <a:off x="710880" y="1624204"/>
            <a:ext cx="10770239" cy="3850540"/>
          </a:xfrm>
          <a:prstGeom prst="rect">
            <a:avLst/>
          </a:prstGeom>
        </p:spPr>
        <p:txBody>
          <a:bodyPr/>
          <a:lstStyle>
            <a:lvl1pPr marL="360000" indent="-360000">
              <a:lnSpc>
                <a:spcPct val="150000"/>
              </a:lnSpc>
              <a:buClr>
                <a:srgbClr val="404040"/>
              </a:buClr>
              <a:buSzPct val="85000"/>
              <a:buFont typeface="Wingdings" pitchFamily="2" charset="2"/>
              <a:buChar char="l"/>
              <a:tabLst/>
              <a:defRPr lang="en-US" altLang="zh-CN" sz="1600" b="0" i="0" dirty="0">
                <a:solidFill>
                  <a:schemeClr val="tx1">
                    <a:lumMod val="85000"/>
                    <a:lumOff val="15000"/>
                  </a:schemeClr>
                </a:solidFill>
                <a:latin typeface="+mn-ea"/>
                <a:ea typeface="+mn-ea"/>
                <a:cs typeface="苏新诗古印宋简" panose="02010609000101010101" pitchFamily="49" charset="-122"/>
              </a:defRPr>
            </a:lvl1pPr>
            <a:lvl2pPr marL="719138" indent="-358775">
              <a:lnSpc>
                <a:spcPct val="150000"/>
              </a:lnSpc>
              <a:buFont typeface="Wingdings" pitchFamily="2" charset="2"/>
              <a:buChar char="l"/>
              <a:tabLst/>
              <a:defRPr lang="en-US" altLang="zh-CN" sz="1400" b="0" i="0" dirty="0">
                <a:latin typeface="+mn-ea"/>
                <a:ea typeface="+mn-ea"/>
                <a:cs typeface="苏新诗古印宋简" panose="02010609000101010101" pitchFamily="49" charset="-122"/>
              </a:defRPr>
            </a:lvl2pPr>
            <a:lvl3pPr marL="1079500" indent="-358775">
              <a:lnSpc>
                <a:spcPct val="150000"/>
              </a:lnSpc>
              <a:buFont typeface="Arial" panose="020B0604020202020204" pitchFamily="34" charset="0"/>
              <a:buChar char="•"/>
              <a:tabLst/>
              <a:defRPr lang="zh-CN" altLang="en-US" sz="1400" b="0" i="0" dirty="0">
                <a:latin typeface="+mn-ea"/>
                <a:ea typeface="+mn-ea"/>
              </a:defRPr>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a:extLst>
              <a:ext uri="{FF2B5EF4-FFF2-40B4-BE49-F238E27FC236}">
                <a16:creationId xmlns:a16="http://schemas.microsoft.com/office/drawing/2014/main" id="{49FCFB1A-E1EE-3245-9778-ABB7ACB14FA5}"/>
              </a:ext>
            </a:extLst>
          </p:cNvPr>
          <p:cNvSpPr>
            <a:spLocks noGrp="1"/>
          </p:cNvSpPr>
          <p:nvPr>
            <p:ph type="title" hasCustomPrompt="1"/>
          </p:nvPr>
        </p:nvSpPr>
        <p:spPr>
          <a:xfrm>
            <a:off x="710880" y="1002119"/>
            <a:ext cx="10770239" cy="517190"/>
          </a:xfrm>
          <a:prstGeom prst="rect">
            <a:avLst/>
          </a:prstGeom>
        </p:spPr>
        <p:txBody>
          <a:bodyPr anchor="ctr" anchorCtr="0"/>
          <a:lstStyle>
            <a:lvl1pPr>
              <a:defRPr lang="zh-CN" altLang="en-US" sz="2000" b="0" i="0" dirty="0">
                <a:solidFill>
                  <a:srgbClr val="AD2A26"/>
                </a:solidFill>
                <a:latin typeface="阿里巴巴普惠体 3.0 55 Regular" panose="00020600040101010101" pitchFamily="18" charset="-122"/>
                <a:ea typeface="阿里巴巴普惠体 3.0 55 Regular" panose="00020600040101010101" pitchFamily="18" charset="-122"/>
                <a:cs typeface="阿里巴巴普惠体 3.0 55 Regular"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Tree>
    <p:extLst>
      <p:ext uri="{BB962C8B-B14F-4D97-AF65-F5344CB8AC3E}">
        <p14:creationId xmlns:p14="http://schemas.microsoft.com/office/powerpoint/2010/main" val="33482877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60556" y="1720312"/>
            <a:ext cx="711411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
        <p:nvSpPr>
          <p:cNvPr id="11" name="文本框 10">
            <a:extLst>
              <a:ext uri="{FF2B5EF4-FFF2-40B4-BE49-F238E27FC236}">
                <a16:creationId xmlns:a16="http://schemas.microsoft.com/office/drawing/2014/main" id="{382D0547-D899-4028-C68F-1B7E5E17FCC5}"/>
              </a:ext>
            </a:extLst>
          </p:cNvPr>
          <p:cNvSpPr txBox="1"/>
          <p:nvPr userDrawn="1"/>
        </p:nvSpPr>
        <p:spPr>
          <a:xfrm>
            <a:off x="720983" y="2862323"/>
            <a:ext cx="2167598" cy="523220"/>
          </a:xfrm>
          <a:prstGeom prst="rect">
            <a:avLst/>
          </a:prstGeom>
          <a:noFill/>
        </p:spPr>
        <p:txBody>
          <a:bodyPr wrap="square">
            <a:spAutoFit/>
          </a:bodyPr>
          <a:lstStyle>
            <a:defPPr>
              <a:defRPr lang="zh-CN"/>
            </a:defPPr>
            <a:lvl1pPr algn="ctr">
              <a:defRPr sz="2800" b="1" i="0">
                <a:gradFill flip="none" rotWithShape="1">
                  <a:gsLst>
                    <a:gs pos="100000">
                      <a:schemeClr val="bg1">
                        <a:alpha val="15000"/>
                      </a:schemeClr>
                    </a:gs>
                    <a:gs pos="0">
                      <a:schemeClr val="bg1">
                        <a:alpha val="0"/>
                      </a:schemeClr>
                    </a:gs>
                  </a:gsLst>
                  <a:lin ang="16200000" scaled="1"/>
                  <a:tileRect/>
                </a:gradFill>
                <a:effectLst/>
                <a:latin typeface="Calisto MT" panose="02040603050505030304" pitchFamily="18" charset="0"/>
              </a:defRPr>
            </a:lvl1pPr>
          </a:lstStyle>
          <a:p>
            <a:pPr lvl="0"/>
            <a:r>
              <a:rPr lang="en-US" altLang="zh-CN"/>
              <a:t>QUESTION</a:t>
            </a:r>
          </a:p>
        </p:txBody>
      </p:sp>
      <p:sp>
        <p:nvSpPr>
          <p:cNvPr id="12" name="íşľíďe">
            <a:extLst>
              <a:ext uri="{FF2B5EF4-FFF2-40B4-BE49-F238E27FC236}">
                <a16:creationId xmlns:a16="http://schemas.microsoft.com/office/drawing/2014/main" id="{66992E28-34C1-82B0-BBD1-9DB821AEB09B}"/>
              </a:ext>
            </a:extLst>
          </p:cNvPr>
          <p:cNvSpPr txBox="1"/>
          <p:nvPr userDrawn="1"/>
        </p:nvSpPr>
        <p:spPr>
          <a:xfrm flipH="1">
            <a:off x="1204297" y="3113661"/>
            <a:ext cx="1200970" cy="707886"/>
          </a:xfrm>
          <a:prstGeom prst="rect">
            <a:avLst/>
          </a:prstGeom>
          <a:noFill/>
        </p:spPr>
        <p:txBody>
          <a:bodyPr wrap="none" rtlCol="0">
            <a:spAutoFit/>
          </a:bodyPr>
          <a:lstStyle/>
          <a:p>
            <a:pPr algn="ctr"/>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思考</a:t>
            </a:r>
            <a:endParaRPr lang="zh-CN" altLang="en-US" sz="4000" b="1" dirty="0">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Tree>
    <p:extLst>
      <p:ext uri="{BB962C8B-B14F-4D97-AF65-F5344CB8AC3E}">
        <p14:creationId xmlns:p14="http://schemas.microsoft.com/office/powerpoint/2010/main" val="32163038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小结页">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3936569" y="1483864"/>
            <a:ext cx="7402227" cy="3962399"/>
          </a:xfrm>
          <a:prstGeom prst="rect">
            <a:avLst/>
          </a:prstGeom>
        </p:spPr>
        <p:txBody>
          <a:bodyPr anchor="ctr"/>
          <a:lstStyle>
            <a:lvl1pPr marL="0" indent="0">
              <a:lnSpc>
                <a:spcPct val="150000"/>
              </a:lnSpc>
              <a:buNone/>
              <a:defRPr sz="1600"/>
            </a:lvl1pPr>
          </a:lstStyle>
          <a:p>
            <a:pPr lvl="0"/>
            <a:r>
              <a:rPr lang="zh-CN" altLang="en-US"/>
              <a:t>点击输入小结内容</a:t>
            </a:r>
          </a:p>
        </p:txBody>
      </p:sp>
      <p:sp>
        <p:nvSpPr>
          <p:cNvPr id="6" name="文本框 5">
            <a:extLst>
              <a:ext uri="{FF2B5EF4-FFF2-40B4-BE49-F238E27FC236}">
                <a16:creationId xmlns:a16="http://schemas.microsoft.com/office/drawing/2014/main" id="{E2B1B9D1-DEFE-AB9B-7D57-D4044AED1257}"/>
              </a:ext>
            </a:extLst>
          </p:cNvPr>
          <p:cNvSpPr txBox="1"/>
          <p:nvPr userDrawn="1"/>
        </p:nvSpPr>
        <p:spPr>
          <a:xfrm>
            <a:off x="720983" y="2862323"/>
            <a:ext cx="2167598" cy="523220"/>
          </a:xfrm>
          <a:prstGeom prst="rect">
            <a:avLst/>
          </a:prstGeom>
          <a:noFill/>
        </p:spPr>
        <p:txBody>
          <a:bodyPr wrap="square">
            <a:spAutoFit/>
          </a:bodyPr>
          <a:lstStyle>
            <a:defPPr>
              <a:defRPr lang="zh-CN"/>
            </a:defPPr>
            <a:lvl1pPr algn="ctr">
              <a:defRPr sz="2800" b="1" i="0">
                <a:gradFill flip="none" rotWithShape="1">
                  <a:gsLst>
                    <a:gs pos="100000">
                      <a:schemeClr val="bg1">
                        <a:alpha val="15000"/>
                      </a:schemeClr>
                    </a:gs>
                    <a:gs pos="0">
                      <a:schemeClr val="bg1">
                        <a:alpha val="0"/>
                      </a:schemeClr>
                    </a:gs>
                  </a:gsLst>
                  <a:lin ang="16200000" scaled="1"/>
                  <a:tileRect/>
                </a:gradFill>
                <a:effectLst/>
                <a:latin typeface="Calisto MT" panose="02040603050505030304" pitchFamily="18" charset="0"/>
              </a:defRPr>
            </a:lvl1pPr>
          </a:lstStyle>
          <a:p>
            <a:pPr lvl="0"/>
            <a:r>
              <a:rPr lang="en-US" altLang="zh-CN"/>
              <a:t>BRIEF</a:t>
            </a:r>
          </a:p>
        </p:txBody>
      </p:sp>
      <p:sp>
        <p:nvSpPr>
          <p:cNvPr id="8" name="íşľíďe">
            <a:extLst>
              <a:ext uri="{FF2B5EF4-FFF2-40B4-BE49-F238E27FC236}">
                <a16:creationId xmlns:a16="http://schemas.microsoft.com/office/drawing/2014/main" id="{0A58CF2E-C9AD-567D-B72D-E69212797F03}"/>
              </a:ext>
            </a:extLst>
          </p:cNvPr>
          <p:cNvSpPr txBox="1"/>
          <p:nvPr userDrawn="1"/>
        </p:nvSpPr>
        <p:spPr>
          <a:xfrm flipH="1">
            <a:off x="1204297" y="3113661"/>
            <a:ext cx="1200970" cy="707886"/>
          </a:xfrm>
          <a:prstGeom prst="rect">
            <a:avLst/>
          </a:prstGeom>
          <a:noFill/>
        </p:spPr>
        <p:txBody>
          <a:bodyPr wrap="none" rtlCol="0">
            <a:spAutoFit/>
          </a:bodyPr>
          <a:lstStyle/>
          <a:p>
            <a:pPr algn="ctr"/>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小结</a:t>
            </a:r>
            <a:endParaRPr lang="zh-CN" altLang="en-US" sz="4000" b="1" dirty="0">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Tree>
    <p:extLst>
      <p:ext uri="{BB962C8B-B14F-4D97-AF65-F5344CB8AC3E}">
        <p14:creationId xmlns:p14="http://schemas.microsoft.com/office/powerpoint/2010/main" val="11044872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60229" y="1359878"/>
            <a:ext cx="7170081" cy="3962399"/>
          </a:xfrm>
          <a:prstGeom prst="rect">
            <a:avLst/>
          </a:prstGeom>
        </p:spPr>
        <p:txBody>
          <a:bodyPr anchor="ctr"/>
          <a:lstStyle>
            <a:lvl1pPr marL="285750" indent="-285750">
              <a:lnSpc>
                <a:spcPct val="150000"/>
              </a:lnSpc>
              <a:buFont typeface="Wingdings" panose="05000000000000000000" pitchFamily="2" charset="2"/>
              <a:buChar char="l"/>
              <a:defRPr sz="1800" b="1"/>
            </a:lvl1pPr>
          </a:lstStyle>
          <a:p>
            <a:pPr lvl="0"/>
            <a:r>
              <a:rPr lang="zh-CN" altLang="en-US"/>
              <a:t>点击输入学习目标</a:t>
            </a:r>
          </a:p>
        </p:txBody>
      </p:sp>
      <p:sp>
        <p:nvSpPr>
          <p:cNvPr id="6" name="文本框 5">
            <a:extLst>
              <a:ext uri="{FF2B5EF4-FFF2-40B4-BE49-F238E27FC236}">
                <a16:creationId xmlns:a16="http://schemas.microsoft.com/office/drawing/2014/main" id="{D3F17914-8286-2740-0111-F53CC3BDDD9A}"/>
              </a:ext>
            </a:extLst>
          </p:cNvPr>
          <p:cNvSpPr txBox="1"/>
          <p:nvPr userDrawn="1"/>
        </p:nvSpPr>
        <p:spPr>
          <a:xfrm>
            <a:off x="698224" y="2861141"/>
            <a:ext cx="2167598" cy="523220"/>
          </a:xfrm>
          <a:prstGeom prst="rect">
            <a:avLst/>
          </a:prstGeom>
          <a:noFill/>
        </p:spPr>
        <p:txBody>
          <a:bodyPr wrap="square">
            <a:spAutoFit/>
          </a:bodyPr>
          <a:lstStyle>
            <a:defPPr>
              <a:defRPr lang="zh-CN"/>
            </a:defPPr>
            <a:lvl1pPr algn="ctr">
              <a:defRPr sz="2800" b="1" i="0">
                <a:gradFill flip="none" rotWithShape="1">
                  <a:gsLst>
                    <a:gs pos="100000">
                      <a:schemeClr val="bg1">
                        <a:alpha val="15000"/>
                      </a:schemeClr>
                    </a:gs>
                    <a:gs pos="0">
                      <a:schemeClr val="bg1">
                        <a:alpha val="0"/>
                      </a:schemeClr>
                    </a:gs>
                  </a:gsLst>
                  <a:lin ang="16200000" scaled="1"/>
                  <a:tileRect/>
                </a:gradFill>
                <a:effectLst/>
                <a:latin typeface="Calisto MT" panose="02040603050505030304" pitchFamily="18" charset="0"/>
              </a:defRPr>
            </a:lvl1pPr>
          </a:lstStyle>
          <a:p>
            <a:pPr lvl="0"/>
            <a:r>
              <a:rPr lang="en-US" altLang="zh-CN"/>
              <a:t>TARGET</a:t>
            </a:r>
          </a:p>
        </p:txBody>
      </p:sp>
      <p:sp>
        <p:nvSpPr>
          <p:cNvPr id="8" name="íşľíďe">
            <a:extLst>
              <a:ext uri="{FF2B5EF4-FFF2-40B4-BE49-F238E27FC236}">
                <a16:creationId xmlns:a16="http://schemas.microsoft.com/office/drawing/2014/main" id="{FB3F6AA9-BBC1-E326-ABE9-AC067A990D01}"/>
              </a:ext>
            </a:extLst>
          </p:cNvPr>
          <p:cNvSpPr txBox="1"/>
          <p:nvPr userDrawn="1"/>
        </p:nvSpPr>
        <p:spPr>
          <a:xfrm flipH="1">
            <a:off x="1181538" y="3112479"/>
            <a:ext cx="1200970" cy="707886"/>
          </a:xfrm>
          <a:prstGeom prst="rect">
            <a:avLst/>
          </a:prstGeom>
          <a:noFill/>
        </p:spPr>
        <p:txBody>
          <a:bodyPr wrap="none" rtlCol="0">
            <a:spAutoFit/>
          </a:bodyPr>
          <a:lstStyle/>
          <a:p>
            <a:pPr algn="ctr"/>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目标</a:t>
            </a:r>
            <a:endParaRPr lang="zh-CN" altLang="en-US" sz="4000" b="1" dirty="0">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Tree>
    <p:extLst>
      <p:ext uri="{BB962C8B-B14F-4D97-AF65-F5344CB8AC3E}">
        <p14:creationId xmlns:p14="http://schemas.microsoft.com/office/powerpoint/2010/main" val="9565133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418428208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
        <p:nvSpPr>
          <p:cNvPr id="5" name="标题 7">
            <a:extLst>
              <a:ext uri="{FF2B5EF4-FFF2-40B4-BE49-F238E27FC236}">
                <a16:creationId xmlns:a16="http://schemas.microsoft.com/office/drawing/2014/main" id="{FCDA8ECA-5550-1579-68CA-CC29E9FAE4D5}"/>
              </a:ext>
            </a:extLst>
          </p:cNvPr>
          <p:cNvSpPr>
            <a:spLocks noGrp="1"/>
          </p:cNvSpPr>
          <p:nvPr>
            <p:ph type="title"/>
          </p:nvPr>
        </p:nvSpPr>
        <p:spPr>
          <a:xfrm>
            <a:off x="576626" y="335203"/>
            <a:ext cx="10737020"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sp>
        <p:nvSpPr>
          <p:cNvPr id="39" name="椭圆 38">
            <a:extLst>
              <a:ext uri="{FF2B5EF4-FFF2-40B4-BE49-F238E27FC236}">
                <a16:creationId xmlns:a16="http://schemas.microsoft.com/office/drawing/2014/main" id="{0F420230-886B-D4D3-2B3C-23A24A3C217F}"/>
              </a:ext>
            </a:extLst>
          </p:cNvPr>
          <p:cNvSpPr/>
          <p:nvPr userDrawn="1"/>
        </p:nvSpPr>
        <p:spPr>
          <a:xfrm>
            <a:off x="221806" y="190972"/>
            <a:ext cx="144104" cy="14410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0C47F643-5264-44DA-EC51-A1FD97EB2FDA}"/>
              </a:ext>
            </a:extLst>
          </p:cNvPr>
          <p:cNvSpPr/>
          <p:nvPr userDrawn="1"/>
        </p:nvSpPr>
        <p:spPr>
          <a:xfrm>
            <a:off x="293858" y="224694"/>
            <a:ext cx="220764" cy="22076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880940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总结页">
    <p:spTree>
      <p:nvGrpSpPr>
        <p:cNvPr id="1" name=""/>
        <p:cNvGrpSpPr/>
        <p:nvPr/>
      </p:nvGrpSpPr>
      <p:grpSpPr>
        <a:xfrm>
          <a:off x="0" y="0"/>
          <a:ext cx="0" cy="0"/>
          <a:chOff x="0" y="0"/>
          <a:chExt cx="0" cy="0"/>
        </a:xfrm>
      </p:grpSpPr>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p>
          </p:txBody>
        </p:sp>
      </p:grpSp>
    </p:spTree>
    <p:extLst>
      <p:ext uri="{BB962C8B-B14F-4D97-AF65-F5344CB8AC3E}">
        <p14:creationId xmlns:p14="http://schemas.microsoft.com/office/powerpoint/2010/main" val="20802642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案例">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105625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743280"/>
            <a:ext cx="9214230" cy="376237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pic>
        <p:nvPicPr>
          <p:cNvPr id="13" name="图形 12">
            <a:extLst>
              <a:ext uri="{FF2B5EF4-FFF2-40B4-BE49-F238E27FC236}">
                <a16:creationId xmlns:a16="http://schemas.microsoft.com/office/drawing/2014/main" id="{455DD043-453D-F04F-965C-A5E686829A6B}"/>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extLst>
      <p:ext uri="{BB962C8B-B14F-4D97-AF65-F5344CB8AC3E}">
        <p14:creationId xmlns:p14="http://schemas.microsoft.com/office/powerpoint/2010/main" val="960077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44393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二级标题+正文内容（无编号）">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6C2551-88ED-4239-96A2-7F3C49A205FD}"/>
              </a:ext>
            </a:extLst>
          </p:cNvPr>
          <p:cNvSpPr>
            <a:spLocks noGrp="1"/>
          </p:cNvSpPr>
          <p:nvPr>
            <p:ph type="title" hasCustomPrompt="1"/>
          </p:nvPr>
        </p:nvSpPr>
        <p:spPr>
          <a:xfrm>
            <a:off x="710880" y="1002232"/>
            <a:ext cx="1069880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0F12D90F-BB49-421D-A9D1-C25C2A378E5A}"/>
              </a:ext>
            </a:extLst>
          </p:cNvPr>
          <p:cNvSpPr>
            <a:spLocks noGrp="1"/>
          </p:cNvSpPr>
          <p:nvPr>
            <p:ph type="body" sz="quarter" idx="11" hasCustomPrompt="1"/>
          </p:nvPr>
        </p:nvSpPr>
        <p:spPr>
          <a:xfrm>
            <a:off x="710880" y="1624204"/>
            <a:ext cx="10698800" cy="386122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3323423777"/>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思考页2">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FE1FF55-183C-B00F-0654-486C51EE46F8}"/>
              </a:ext>
            </a:extLst>
          </p:cNvPr>
          <p:cNvSpPr txBox="1"/>
          <p:nvPr userDrawn="1"/>
        </p:nvSpPr>
        <p:spPr>
          <a:xfrm>
            <a:off x="788316" y="2901905"/>
            <a:ext cx="2167598" cy="523220"/>
          </a:xfrm>
          <a:prstGeom prst="rect">
            <a:avLst/>
          </a:prstGeom>
          <a:noFill/>
        </p:spPr>
        <p:txBody>
          <a:bodyPr wrap="square">
            <a:spAutoFit/>
          </a:bodyPr>
          <a:lstStyle/>
          <a:p>
            <a:pPr algn="l"/>
            <a:r>
              <a:rPr lang="en-US" altLang="zh-CN" sz="2800" b="1" i="0">
                <a:gradFill>
                  <a:gsLst>
                    <a:gs pos="100000">
                      <a:schemeClr val="tx1">
                        <a:lumMod val="20000"/>
                        <a:lumOff val="80000"/>
                      </a:schemeClr>
                    </a:gs>
                    <a:gs pos="0">
                      <a:schemeClr val="tx1">
                        <a:lumMod val="20000"/>
                        <a:lumOff val="80000"/>
                        <a:alpha val="0"/>
                      </a:schemeClr>
                    </a:gs>
                  </a:gsLst>
                  <a:lin ang="16200000" scaled="1"/>
                </a:gradFill>
                <a:effectLst/>
                <a:latin typeface="Calisto MT" panose="02040603050505030304" pitchFamily="18" charset="0"/>
              </a:rPr>
              <a:t>QUESTION</a:t>
            </a:r>
          </a:p>
        </p:txBody>
      </p:sp>
      <p:sp>
        <p:nvSpPr>
          <p:cNvPr id="5" name="íşľíďe">
            <a:extLst>
              <a:ext uri="{FF2B5EF4-FFF2-40B4-BE49-F238E27FC236}">
                <a16:creationId xmlns:a16="http://schemas.microsoft.com/office/drawing/2014/main" id="{15262CD2-DC49-591E-1FDE-EF5326FA20FD}"/>
              </a:ext>
            </a:extLst>
          </p:cNvPr>
          <p:cNvSpPr txBox="1"/>
          <p:nvPr userDrawn="1"/>
        </p:nvSpPr>
        <p:spPr>
          <a:xfrm flipH="1">
            <a:off x="1271630" y="3071182"/>
            <a:ext cx="1200970" cy="707886"/>
          </a:xfrm>
          <a:prstGeom prst="rect">
            <a:avLst/>
          </a:prstGeom>
          <a:noFill/>
        </p:spPr>
        <p:txBody>
          <a:bodyPr wrap="none" rtlCol="0">
            <a:spAutoFit/>
          </a:bodyPr>
          <a:lstStyle/>
          <a:p>
            <a:pPr algn="ctr"/>
            <a:r>
              <a:rPr lang="zh-CN" altLang="en-US" sz="4000" b="1">
                <a:solidFill>
                  <a:schemeClr val="tx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思考</a:t>
            </a:r>
            <a:endParaRPr lang="zh-CN" altLang="en-US" sz="4000" b="1" dirty="0">
              <a:solidFill>
                <a:schemeClr val="tx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52236" y="1735810"/>
            <a:ext cx="696745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Tree>
    <p:extLst>
      <p:ext uri="{BB962C8B-B14F-4D97-AF65-F5344CB8AC3E}">
        <p14:creationId xmlns:p14="http://schemas.microsoft.com/office/powerpoint/2010/main" val="320834212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小结页2">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FE1FF55-183C-B00F-0654-486C51EE46F8}"/>
              </a:ext>
            </a:extLst>
          </p:cNvPr>
          <p:cNvSpPr txBox="1"/>
          <p:nvPr userDrawn="1"/>
        </p:nvSpPr>
        <p:spPr>
          <a:xfrm>
            <a:off x="788316" y="2901905"/>
            <a:ext cx="2167598" cy="523220"/>
          </a:xfrm>
          <a:prstGeom prst="rect">
            <a:avLst/>
          </a:prstGeom>
          <a:noFill/>
        </p:spPr>
        <p:txBody>
          <a:bodyPr wrap="square">
            <a:spAutoFit/>
          </a:bodyPr>
          <a:lstStyle/>
          <a:p>
            <a:pPr algn="ctr"/>
            <a:r>
              <a:rPr lang="en-US" altLang="zh-CN" sz="2800" b="1" i="0">
                <a:gradFill>
                  <a:gsLst>
                    <a:gs pos="100000">
                      <a:schemeClr val="tx1">
                        <a:lumMod val="20000"/>
                        <a:lumOff val="80000"/>
                      </a:schemeClr>
                    </a:gs>
                    <a:gs pos="0">
                      <a:schemeClr val="tx1">
                        <a:lumMod val="20000"/>
                        <a:lumOff val="80000"/>
                        <a:alpha val="0"/>
                      </a:schemeClr>
                    </a:gs>
                  </a:gsLst>
                  <a:lin ang="16200000" scaled="1"/>
                </a:gradFill>
                <a:effectLst/>
                <a:latin typeface="Calisto MT" panose="02040603050505030304" pitchFamily="18" charset="0"/>
              </a:rPr>
              <a:t>BRIEF</a:t>
            </a:r>
          </a:p>
        </p:txBody>
      </p:sp>
      <p:sp>
        <p:nvSpPr>
          <p:cNvPr id="5" name="íşľíďe">
            <a:extLst>
              <a:ext uri="{FF2B5EF4-FFF2-40B4-BE49-F238E27FC236}">
                <a16:creationId xmlns:a16="http://schemas.microsoft.com/office/drawing/2014/main" id="{15262CD2-DC49-591E-1FDE-EF5326FA20FD}"/>
              </a:ext>
            </a:extLst>
          </p:cNvPr>
          <p:cNvSpPr txBox="1"/>
          <p:nvPr userDrawn="1"/>
        </p:nvSpPr>
        <p:spPr>
          <a:xfrm flipH="1">
            <a:off x="1271630" y="3071182"/>
            <a:ext cx="1200970" cy="707886"/>
          </a:xfrm>
          <a:prstGeom prst="rect">
            <a:avLst/>
          </a:prstGeom>
          <a:noFill/>
        </p:spPr>
        <p:txBody>
          <a:bodyPr wrap="none" rtlCol="0">
            <a:spAutoFit/>
          </a:bodyPr>
          <a:lstStyle/>
          <a:p>
            <a:pPr algn="ctr"/>
            <a:r>
              <a:rPr lang="zh-CN" altLang="en-US" sz="4000" b="1">
                <a:solidFill>
                  <a:schemeClr val="tx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小结</a:t>
            </a:r>
            <a:endParaRPr lang="zh-CN" altLang="en-US" sz="4000" b="1" dirty="0">
              <a:solidFill>
                <a:schemeClr val="tx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52236" y="1735810"/>
            <a:ext cx="696745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Tree>
    <p:extLst>
      <p:ext uri="{BB962C8B-B14F-4D97-AF65-F5344CB8AC3E}">
        <p14:creationId xmlns:p14="http://schemas.microsoft.com/office/powerpoint/2010/main" val="237067137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目标页2">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FE1FF55-183C-B00F-0654-486C51EE46F8}"/>
              </a:ext>
            </a:extLst>
          </p:cNvPr>
          <p:cNvSpPr txBox="1"/>
          <p:nvPr userDrawn="1"/>
        </p:nvSpPr>
        <p:spPr>
          <a:xfrm>
            <a:off x="788316" y="2901905"/>
            <a:ext cx="2167598" cy="523220"/>
          </a:xfrm>
          <a:prstGeom prst="rect">
            <a:avLst/>
          </a:prstGeom>
          <a:noFill/>
        </p:spPr>
        <p:txBody>
          <a:bodyPr wrap="square">
            <a:spAutoFit/>
          </a:bodyPr>
          <a:lstStyle/>
          <a:p>
            <a:pPr algn="ctr"/>
            <a:r>
              <a:rPr lang="en-US" altLang="zh-CN" sz="2800" b="1" i="0">
                <a:gradFill>
                  <a:gsLst>
                    <a:gs pos="100000">
                      <a:schemeClr val="tx1">
                        <a:lumMod val="20000"/>
                        <a:lumOff val="80000"/>
                      </a:schemeClr>
                    </a:gs>
                    <a:gs pos="0">
                      <a:schemeClr val="tx1">
                        <a:lumMod val="20000"/>
                        <a:lumOff val="80000"/>
                        <a:alpha val="0"/>
                      </a:schemeClr>
                    </a:gs>
                  </a:gsLst>
                  <a:lin ang="16200000" scaled="1"/>
                </a:gradFill>
                <a:effectLst/>
                <a:latin typeface="Calisto MT" panose="02040603050505030304" pitchFamily="18" charset="0"/>
              </a:rPr>
              <a:t>TARGET</a:t>
            </a:r>
          </a:p>
        </p:txBody>
      </p:sp>
      <p:sp>
        <p:nvSpPr>
          <p:cNvPr id="5" name="íşľíďe">
            <a:extLst>
              <a:ext uri="{FF2B5EF4-FFF2-40B4-BE49-F238E27FC236}">
                <a16:creationId xmlns:a16="http://schemas.microsoft.com/office/drawing/2014/main" id="{15262CD2-DC49-591E-1FDE-EF5326FA20FD}"/>
              </a:ext>
            </a:extLst>
          </p:cNvPr>
          <p:cNvSpPr txBox="1"/>
          <p:nvPr userDrawn="1"/>
        </p:nvSpPr>
        <p:spPr>
          <a:xfrm flipH="1">
            <a:off x="1271630" y="3071182"/>
            <a:ext cx="1200970" cy="707886"/>
          </a:xfrm>
          <a:prstGeom prst="rect">
            <a:avLst/>
          </a:prstGeom>
          <a:noFill/>
        </p:spPr>
        <p:txBody>
          <a:bodyPr wrap="none" rtlCol="0">
            <a:spAutoFit/>
          </a:bodyPr>
          <a:lstStyle/>
          <a:p>
            <a:pPr algn="ctr"/>
            <a:r>
              <a:rPr lang="zh-CN" altLang="en-US" sz="4000" b="1">
                <a:solidFill>
                  <a:schemeClr val="tx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目标</a:t>
            </a:r>
            <a:endParaRPr lang="zh-CN" altLang="en-US" sz="4000" b="1" dirty="0">
              <a:solidFill>
                <a:schemeClr val="tx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endParaRPr>
          </a:p>
        </p:txBody>
      </p:sp>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52236" y="1735810"/>
            <a:ext cx="696745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Tree>
    <p:extLst>
      <p:ext uri="{BB962C8B-B14F-4D97-AF65-F5344CB8AC3E}">
        <p14:creationId xmlns:p14="http://schemas.microsoft.com/office/powerpoint/2010/main" val="28057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image" Target="../media/image2.svg"/><Relationship Id="rId5" Type="http://schemas.openxmlformats.org/officeDocument/2006/relationships/slideLayout" Target="../slideLayouts/slideLayout27.xml"/><Relationship Id="rId10" Type="http://schemas.openxmlformats.org/officeDocument/2006/relationships/image" Target="../media/image1.png"/><Relationship Id="rId4" Type="http://schemas.openxmlformats.org/officeDocument/2006/relationships/slideLayout" Target="../slideLayouts/slideLayout26.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image" Target="../media/image2.svg"/><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image" Target="../media/image1.png"/><Relationship Id="rId5" Type="http://schemas.openxmlformats.org/officeDocument/2006/relationships/slideLayout" Target="../slideLayouts/slideLayout35.xml"/><Relationship Id="rId10" Type="http://schemas.openxmlformats.org/officeDocument/2006/relationships/theme" Target="../theme/theme4.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42.xml"/><Relationship Id="rId2" Type="http://schemas.openxmlformats.org/officeDocument/2006/relationships/slideLayout" Target="../slideLayouts/slideLayout41.xml"/><Relationship Id="rId1" Type="http://schemas.openxmlformats.org/officeDocument/2006/relationships/slideLayout" Target="../slideLayouts/slideLayout40.xml"/><Relationship Id="rId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形 1">
            <a:extLst>
              <a:ext uri="{FF2B5EF4-FFF2-40B4-BE49-F238E27FC236}">
                <a16:creationId xmlns:a16="http://schemas.microsoft.com/office/drawing/2014/main" id="{2AF40A4C-1FC6-C591-0585-7320B21E306A}"/>
              </a:ext>
            </a:extLst>
          </p:cNvPr>
          <p:cNvPicPr>
            <a:picLocks noChangeAspect="1"/>
          </p:cNvPicPr>
          <p:nvPr userDrawn="1"/>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l="8081" t="21237" r="10346" b="18121"/>
          <a:stretch/>
        </p:blipFill>
        <p:spPr>
          <a:xfrm>
            <a:off x="9956716" y="152244"/>
            <a:ext cx="1848051" cy="605113"/>
          </a:xfrm>
          <a:prstGeom prst="rect">
            <a:avLst/>
          </a:prstGeom>
        </p:spPr>
      </p:pic>
    </p:spTree>
    <p:extLst>
      <p:ext uri="{BB962C8B-B14F-4D97-AF65-F5344CB8AC3E}">
        <p14:creationId xmlns:p14="http://schemas.microsoft.com/office/powerpoint/2010/main" val="1467915953"/>
      </p:ext>
    </p:extLst>
  </p:cSld>
  <p:clrMap bg1="lt1" tx1="dk1" bg2="lt2" tx2="dk2" accent1="accent1" accent2="accent2" accent3="accent3" accent4="accent4" accent5="accent5" accent6="accent6" hlink="hlink" folHlink="folHlink"/>
  <p:sldLayoutIdLst>
    <p:sldLayoutId id="2147483650" r:id="rId1"/>
    <p:sldLayoutId id="2147483654" r:id="rId2"/>
    <p:sldLayoutId id="2147483659" r:id="rId3"/>
    <p:sldLayoutId id="2147483666" r:id="rId4"/>
    <p:sldLayoutId id="2147483677" r:id="rId5"/>
    <p:sldLayoutId id="2147483678" r:id="rId6"/>
    <p:sldLayoutId id="2147483686" r:id="rId7"/>
    <p:sldLayoutId id="2147483687" r:id="rId8"/>
    <p:sldLayoutId id="2147483690" r:id="rId9"/>
    <p:sldLayoutId id="2147483692" r:id="rId10"/>
    <p:sldLayoutId id="2147483693" r:id="rId11"/>
    <p:sldLayoutId id="2147483694" r:id="rId12"/>
    <p:sldLayoutId id="2147483696" r:id="rId13"/>
    <p:sldLayoutId id="2147483699" r:id="rId14"/>
    <p:sldLayoutId id="2147483700" r:id="rId15"/>
    <p:sldLayoutId id="2147483702" r:id="rId16"/>
    <p:sldLayoutId id="2147483706" r:id="rId17"/>
    <p:sldLayoutId id="2147483707" r:id="rId18"/>
    <p:sldLayoutId id="2147483708" r:id="rId19"/>
    <p:sldLayoutId id="2147483713" r:id="rId20"/>
  </p:sldLayoutIdLst>
  <p:hf hdr="0" ftr="0" dt="0"/>
  <p:txStyles>
    <p:titleStyle>
      <a:lvl1pPr algn="l" defTabSz="914400" rtl="0" eaLnBrk="1" latinLnBrk="0" hangingPunct="1">
        <a:lnSpc>
          <a:spcPct val="90000"/>
        </a:lnSpc>
        <a:spcBef>
          <a:spcPct val="0"/>
        </a:spcBef>
        <a:buNone/>
        <a:defRPr lang="zh-CN" altLang="en-US"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7950266"/>
      </p:ext>
    </p:extLst>
  </p:cSld>
  <p:clrMap bg1="lt1" tx1="dk1" bg2="lt2" tx2="dk2" accent1="accent1" accent2="accent2" accent3="accent3" accent4="accent4" accent5="accent5" accent6="accent6" hlink="hlink" folHlink="folHlink"/>
  <p:sldLayoutIdLst>
    <p:sldLayoutId id="2147483649" r:id="rId1"/>
    <p:sldLayoutId id="2147483669"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形 7">
            <a:extLst>
              <a:ext uri="{FF2B5EF4-FFF2-40B4-BE49-F238E27FC236}">
                <a16:creationId xmlns:a16="http://schemas.microsoft.com/office/drawing/2014/main" id="{D5FC8854-8C90-CD00-F013-8034EF541B87}"/>
              </a:ext>
            </a:extLst>
          </p:cNvPr>
          <p:cNvPicPr>
            <a:picLocks noChangeAspect="1"/>
          </p:cNvPicPr>
          <p:nvPr userDrawn="1"/>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8081" t="21237" r="10346" b="18121"/>
          <a:stretch/>
        </p:blipFill>
        <p:spPr>
          <a:xfrm>
            <a:off x="9956716" y="152244"/>
            <a:ext cx="1848051" cy="605113"/>
          </a:xfrm>
          <a:prstGeom prst="rect">
            <a:avLst/>
          </a:prstGeom>
        </p:spPr>
      </p:pic>
    </p:spTree>
    <p:extLst>
      <p:ext uri="{BB962C8B-B14F-4D97-AF65-F5344CB8AC3E}">
        <p14:creationId xmlns:p14="http://schemas.microsoft.com/office/powerpoint/2010/main" val="658307751"/>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51" r:id="rId3"/>
    <p:sldLayoutId id="2147483704" r:id="rId4"/>
    <p:sldLayoutId id="2147483709" r:id="rId5"/>
    <p:sldLayoutId id="2147483711" r:id="rId6"/>
    <p:sldLayoutId id="2147483716" r:id="rId7"/>
    <p:sldLayoutId id="2147483717"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图形 8">
            <a:extLst>
              <a:ext uri="{FF2B5EF4-FFF2-40B4-BE49-F238E27FC236}">
                <a16:creationId xmlns:a16="http://schemas.microsoft.com/office/drawing/2014/main" id="{BCFD639D-1352-0D42-CD8B-502330285495}"/>
              </a:ext>
            </a:extLst>
          </p:cNvPr>
          <p:cNvPicPr>
            <a:picLocks noChangeAspect="1"/>
          </p:cNvPicPr>
          <p:nvPr userDrawn="1"/>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8081" t="21237" r="10346" b="18121"/>
          <a:stretch/>
        </p:blipFill>
        <p:spPr>
          <a:xfrm>
            <a:off x="9956716" y="152244"/>
            <a:ext cx="1848051" cy="605113"/>
          </a:xfrm>
          <a:prstGeom prst="rect">
            <a:avLst/>
          </a:prstGeom>
        </p:spPr>
      </p:pic>
      <p:sp>
        <p:nvSpPr>
          <p:cNvPr id="32" name="椭圆 31">
            <a:extLst>
              <a:ext uri="{FF2B5EF4-FFF2-40B4-BE49-F238E27FC236}">
                <a16:creationId xmlns:a16="http://schemas.microsoft.com/office/drawing/2014/main" id="{3B0EC498-20A1-566B-4915-5207C059B018}"/>
              </a:ext>
            </a:extLst>
          </p:cNvPr>
          <p:cNvSpPr/>
          <p:nvPr userDrawn="1"/>
        </p:nvSpPr>
        <p:spPr>
          <a:xfrm>
            <a:off x="751355" y="2336538"/>
            <a:ext cx="2111502" cy="2111502"/>
          </a:xfrm>
          <a:prstGeom prst="ellipse">
            <a:avLst/>
          </a:prstGeom>
          <a:effectLst/>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558725F1-EF53-00F4-5D5F-187168DD6A01}"/>
              </a:ext>
            </a:extLst>
          </p:cNvPr>
          <p:cNvSpPr/>
          <p:nvPr userDrawn="1"/>
        </p:nvSpPr>
        <p:spPr>
          <a:xfrm>
            <a:off x="-625683" y="959500"/>
            <a:ext cx="4865579" cy="4865579"/>
          </a:xfrm>
          <a:prstGeom prst="ellipse">
            <a:avLst/>
          </a:prstGeom>
          <a:noFill/>
          <a:ln w="12700" cap="flat" cmpd="sng" algn="ctr">
            <a:solidFill>
              <a:schemeClr val="accent1">
                <a:alpha val="500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E0CB1513-F0AF-DFD8-F01B-E3C9C30338CD}"/>
              </a:ext>
            </a:extLst>
          </p:cNvPr>
          <p:cNvSpPr/>
          <p:nvPr userDrawn="1"/>
        </p:nvSpPr>
        <p:spPr>
          <a:xfrm>
            <a:off x="255264" y="1840447"/>
            <a:ext cx="3103685" cy="3103685"/>
          </a:xfrm>
          <a:prstGeom prst="ellipse">
            <a:avLst/>
          </a:prstGeom>
          <a:noFill/>
          <a:ln>
            <a:solidFill>
              <a:schemeClr val="accent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068B7EDE-A4CF-8360-8241-A673D650AA78}"/>
              </a:ext>
            </a:extLst>
          </p:cNvPr>
          <p:cNvSpPr/>
          <p:nvPr userDrawn="1"/>
        </p:nvSpPr>
        <p:spPr>
          <a:xfrm>
            <a:off x="-1544721" y="-114518"/>
            <a:ext cx="7013615" cy="7013615"/>
          </a:xfrm>
          <a:prstGeom prst="ellipse">
            <a:avLst/>
          </a:prstGeom>
          <a:noFill/>
          <a:ln w="12700" cap="flat" cmpd="sng" algn="ctr">
            <a:solidFill>
              <a:schemeClr val="accent1">
                <a:alpha val="3000"/>
              </a:scheme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4D51DB15-8344-2ACA-142F-30B0A0200C56}"/>
              </a:ext>
            </a:extLst>
          </p:cNvPr>
          <p:cNvSpPr/>
          <p:nvPr userDrawn="1"/>
        </p:nvSpPr>
        <p:spPr>
          <a:xfrm>
            <a:off x="3015513" y="0"/>
            <a:ext cx="6784703" cy="6858000"/>
          </a:xfrm>
          <a:prstGeom prst="rect">
            <a:avLst/>
          </a:prstGeom>
          <a:gradFill flip="none" rotWithShape="1">
            <a:gsLst>
              <a:gs pos="27000">
                <a:schemeClr val="bg1"/>
              </a:gs>
              <a:gs pos="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874136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88" r:id="rId4"/>
    <p:sldLayoutId id="2147483701" r:id="rId5"/>
    <p:sldLayoutId id="2147483710" r:id="rId6"/>
    <p:sldLayoutId id="2147483712" r:id="rId7"/>
    <p:sldLayoutId id="2147483714" r:id="rId8"/>
    <p:sldLayoutId id="2147483715"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椭圆 10">
            <a:extLst>
              <a:ext uri="{FF2B5EF4-FFF2-40B4-BE49-F238E27FC236}">
                <a16:creationId xmlns:a16="http://schemas.microsoft.com/office/drawing/2014/main" id="{40922FA6-892F-6E62-25A7-4EFD4311B4B7}"/>
              </a:ext>
            </a:extLst>
          </p:cNvPr>
          <p:cNvSpPr/>
          <p:nvPr userDrawn="1"/>
        </p:nvSpPr>
        <p:spPr>
          <a:xfrm>
            <a:off x="573736" y="474236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589EB921-EFFD-8A13-0578-9909E3F67A28}"/>
              </a:ext>
            </a:extLst>
          </p:cNvPr>
          <p:cNvSpPr/>
          <p:nvPr userDrawn="1"/>
        </p:nvSpPr>
        <p:spPr>
          <a:xfrm>
            <a:off x="2449602" y="4027163"/>
            <a:ext cx="926888" cy="926888"/>
          </a:xfrm>
          <a:prstGeom prst="ellipse">
            <a:avLst/>
          </a:prstGeom>
          <a:solidFill>
            <a:schemeClr val="accent1">
              <a:lumMod val="20000"/>
              <a:lumOff val="80000"/>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0DBB1E70-A6B4-325D-7E84-2D8D403E507E}"/>
              </a:ext>
            </a:extLst>
          </p:cNvPr>
          <p:cNvSpPr/>
          <p:nvPr userDrawn="1"/>
        </p:nvSpPr>
        <p:spPr>
          <a:xfrm>
            <a:off x="2274547" y="2102046"/>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938C16E6-FCD9-2FF6-E0D9-862FBA97E38E}"/>
              </a:ext>
            </a:extLst>
          </p:cNvPr>
          <p:cNvSpPr/>
          <p:nvPr userDrawn="1"/>
        </p:nvSpPr>
        <p:spPr>
          <a:xfrm>
            <a:off x="320390" y="151257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90B5C771-860C-6FE3-9141-296A747F7EC0}"/>
              </a:ext>
            </a:extLst>
          </p:cNvPr>
          <p:cNvSpPr/>
          <p:nvPr userDrawn="1"/>
        </p:nvSpPr>
        <p:spPr>
          <a:xfrm>
            <a:off x="2745115" y="1787721"/>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CC734A62-48DA-F6ED-AF10-0C9224E0A0EE}"/>
              </a:ext>
            </a:extLst>
          </p:cNvPr>
          <p:cNvSpPr/>
          <p:nvPr userDrawn="1"/>
        </p:nvSpPr>
        <p:spPr>
          <a:xfrm>
            <a:off x="594793" y="2155519"/>
            <a:ext cx="2544671" cy="254467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 空心 2">
            <a:extLst>
              <a:ext uri="{FF2B5EF4-FFF2-40B4-BE49-F238E27FC236}">
                <a16:creationId xmlns:a16="http://schemas.microsoft.com/office/drawing/2014/main" id="{D9836D2B-C9DD-3FC5-793A-4907096EF00C}"/>
              </a:ext>
            </a:extLst>
          </p:cNvPr>
          <p:cNvSpPr/>
          <p:nvPr userDrawn="1"/>
        </p:nvSpPr>
        <p:spPr>
          <a:xfrm>
            <a:off x="445476" y="2002997"/>
            <a:ext cx="2852005" cy="2852005"/>
          </a:xfrm>
          <a:prstGeom prst="donut">
            <a:avLst>
              <a:gd name="adj" fmla="val 649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2929827110"/>
      </p:ext>
    </p:extLst>
  </p:cSld>
  <p:clrMap bg1="lt1" tx1="dk1" bg2="lt2" tx2="dk2" accent1="accent1" accent2="accent2" accent3="accent3" accent4="accent4" accent5="accent5" accent6="accent6" hlink="hlink" folHlink="folHlink"/>
  <p:sldLayoutIdLst>
    <p:sldLayoutId id="2147483680" r:id="rId1"/>
    <p:sldLayoutId id="2147483683" r:id="rId2"/>
    <p:sldLayoutId id="2147483684"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9.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9.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9.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20.svg"/><Relationship Id="rId7" Type="http://schemas.openxmlformats.org/officeDocument/2006/relationships/image" Target="../media/image23.png"/><Relationship Id="rId12" Type="http://schemas.openxmlformats.org/officeDocument/2006/relationships/image" Target="../media/image28.sv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12.png"/><Relationship Id="rId9"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jpeg"/></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microsoft.com/office/2007/relationships/hdphoto" Target="../media/hdphoto1.wdp"/></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microsoft.com/office/2007/relationships/hdphoto" Target="../media/hdphoto1.wdp"/></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microsoft.com/office/2007/relationships/hdphoto" Target="../media/hdphoto1.wdp"/></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10" Type="http://schemas.microsoft.com/office/2007/relationships/hdphoto" Target="../media/hdphoto2.wdp"/><Relationship Id="rId4" Type="http://schemas.openxmlformats.org/officeDocument/2006/relationships/image" Target="../media/image41.png"/><Relationship Id="rId9" Type="http://schemas.openxmlformats.org/officeDocument/2006/relationships/image" Target="../media/image4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7.png"/><Relationship Id="rId7"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10" Type="http://schemas.microsoft.com/office/2007/relationships/hdphoto" Target="../media/hdphoto3.wdp"/><Relationship Id="rId4" Type="http://schemas.openxmlformats.org/officeDocument/2006/relationships/image" Target="../media/image40.png"/><Relationship Id="rId9" Type="http://schemas.openxmlformats.org/officeDocument/2006/relationships/image" Target="../media/image48.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5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53.sv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E114D5-9D49-7225-E5E2-41EB2357CF8B}"/>
              </a:ext>
            </a:extLst>
          </p:cNvPr>
          <p:cNvSpPr>
            <a:spLocks noGrp="1"/>
          </p:cNvSpPr>
          <p:nvPr>
            <p:ph type="ctrTitle"/>
          </p:nvPr>
        </p:nvSpPr>
        <p:spPr/>
        <p:txBody>
          <a:bodyPr>
            <a:normAutofit/>
          </a:bodyPr>
          <a:lstStyle/>
          <a:p>
            <a:r>
              <a:rPr lang="zh-CN" altLang="en-US" sz="4000" dirty="0"/>
              <a:t>第十九章：网络编程</a:t>
            </a:r>
          </a:p>
        </p:txBody>
      </p:sp>
      <p:sp>
        <p:nvSpPr>
          <p:cNvPr id="3" name="文本占位符 2">
            <a:extLst>
              <a:ext uri="{FF2B5EF4-FFF2-40B4-BE49-F238E27FC236}">
                <a16:creationId xmlns:a16="http://schemas.microsoft.com/office/drawing/2014/main" id="{88966428-CCB2-BA20-6795-2C913DCE3AAF}"/>
              </a:ext>
            </a:extLst>
          </p:cNvPr>
          <p:cNvSpPr>
            <a:spLocks noGrp="1"/>
          </p:cNvSpPr>
          <p:nvPr>
            <p:ph type="body" sz="quarter" idx="10"/>
          </p:nvPr>
        </p:nvSpPr>
        <p:spPr>
          <a:xfrm>
            <a:off x="660400" y="3586894"/>
            <a:ext cx="5057820" cy="563562"/>
          </a:xfrm>
        </p:spPr>
        <p:txBody>
          <a:bodyPr/>
          <a:lstStyle/>
          <a:p>
            <a:pPr algn="l"/>
            <a:r>
              <a:rPr lang="en-US" altLang="zh-CN" sz="1400" b="0" i="0" dirty="0">
                <a:solidFill>
                  <a:srgbClr val="15171A"/>
                </a:solidFill>
                <a:effectLst/>
                <a:latin typeface="Consolas" panose="020B0609020204030204" pitchFamily="49" charset="0"/>
              </a:rPr>
              <a:t> </a:t>
            </a:r>
            <a:endParaRPr lang="zh-CN" altLang="en-US" sz="1800" b="0" i="0" dirty="0">
              <a:solidFill>
                <a:srgbClr val="222222"/>
              </a:solidFill>
              <a:effectLst/>
              <a:latin typeface="Consolas" panose="020B0609020204030204" pitchFamily="49" charset="0"/>
            </a:endParaRPr>
          </a:p>
        </p:txBody>
      </p:sp>
      <p:sp>
        <p:nvSpPr>
          <p:cNvPr id="4" name="文本占位符 2">
            <a:extLst>
              <a:ext uri="{FF2B5EF4-FFF2-40B4-BE49-F238E27FC236}">
                <a16:creationId xmlns:a16="http://schemas.microsoft.com/office/drawing/2014/main" id="{EC986AFB-0B13-8700-0A72-975541E19CF8}"/>
              </a:ext>
            </a:extLst>
          </p:cNvPr>
          <p:cNvSpPr txBox="1">
            <a:spLocks/>
          </p:cNvSpPr>
          <p:nvPr/>
        </p:nvSpPr>
        <p:spPr>
          <a:xfrm>
            <a:off x="706120" y="3525934"/>
            <a:ext cx="4111441" cy="563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a:t>数据通信方案</a:t>
            </a:r>
            <a:endParaRPr lang="zh-CN" altLang="en-US" sz="1800" dirty="0"/>
          </a:p>
        </p:txBody>
      </p:sp>
    </p:spTree>
    <p:extLst>
      <p:ext uri="{BB962C8B-B14F-4D97-AF65-F5344CB8AC3E}">
        <p14:creationId xmlns:p14="http://schemas.microsoft.com/office/powerpoint/2010/main" val="1535538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7709B9C-2ED4-41E3-43A6-8BB77BF3B450}"/>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EC9D56B0-71F8-ABFD-D98A-8BBC99D479F5}"/>
              </a:ext>
            </a:extLst>
          </p:cNvPr>
          <p:cNvSpPr>
            <a:spLocks noGrp="1"/>
          </p:cNvSpPr>
          <p:nvPr>
            <p:ph type="body" sz="quarter" idx="10"/>
          </p:nvPr>
        </p:nvSpPr>
        <p:spPr>
          <a:xfrm>
            <a:off x="5615472" y="2267199"/>
            <a:ext cx="5634223" cy="2143815"/>
          </a:xfrm>
        </p:spPr>
        <p:txBody>
          <a:bodyPr anchor="t"/>
          <a:lstStyle/>
          <a:p>
            <a:r>
              <a:rPr kumimoji="1" lang="zh-CN" altLang="en-US" dirty="0">
                <a:latin typeface="Consolas" panose="020B0609020204030204" pitchFamily="49" charset="0"/>
              </a:rPr>
              <a:t>网络编程基本概念</a:t>
            </a:r>
            <a:endParaRPr kumimoji="1" lang="en-US" altLang="zh-CN" dirty="0">
              <a:latin typeface="Consolas" panose="020B0609020204030204" pitchFamily="49" charset="0"/>
            </a:endParaRPr>
          </a:p>
          <a:p>
            <a:r>
              <a:rPr kumimoji="1" lang="zh-CN" altLang="en-US" dirty="0">
                <a:latin typeface="Consolas" panose="020B0609020204030204" pitchFamily="49" charset="0"/>
              </a:rPr>
              <a:t>网络编程三要素</a:t>
            </a:r>
            <a:endParaRPr kumimoji="1" lang="en-US" altLang="zh-CN" dirty="0">
              <a:latin typeface="Consolas" panose="020B0609020204030204" pitchFamily="49" charset="0"/>
            </a:endParaRPr>
          </a:p>
          <a:p>
            <a:r>
              <a:rPr kumimoji="1" lang="en-US" altLang="zh-CN" dirty="0">
                <a:latin typeface="Consolas" panose="020B0609020204030204" pitchFamily="49" charset="0"/>
              </a:rPr>
              <a:t>UDP </a:t>
            </a:r>
            <a:r>
              <a:rPr kumimoji="1" lang="zh-CN" altLang="en-US" dirty="0">
                <a:latin typeface="Consolas" panose="020B0609020204030204" pitchFamily="49" charset="0"/>
              </a:rPr>
              <a:t>协议收发数据</a:t>
            </a:r>
            <a:endParaRPr kumimoji="1" lang="en-US" altLang="zh-CN" dirty="0">
              <a:latin typeface="Consolas" panose="020B0609020204030204" pitchFamily="49" charset="0"/>
            </a:endParaRPr>
          </a:p>
          <a:p>
            <a:r>
              <a:rPr kumimoji="1" lang="en-US" altLang="zh-CN" dirty="0">
                <a:latin typeface="Consolas" panose="020B0609020204030204" pitchFamily="49" charset="0"/>
              </a:rPr>
              <a:t>TCP </a:t>
            </a:r>
            <a:r>
              <a:rPr kumimoji="1" lang="zh-CN" altLang="en-US" dirty="0">
                <a:latin typeface="Consolas" panose="020B0609020204030204" pitchFamily="49" charset="0"/>
              </a:rPr>
              <a:t>协议收发数据</a:t>
            </a:r>
            <a:endParaRPr kumimoji="1" lang="en-US" altLang="zh-CN" dirty="0">
              <a:latin typeface="Consolas" panose="020B0609020204030204" pitchFamily="49" charset="0"/>
            </a:endParaRPr>
          </a:p>
        </p:txBody>
      </p:sp>
    </p:spTree>
    <p:extLst>
      <p:ext uri="{BB962C8B-B14F-4D97-AF65-F5344CB8AC3E}">
        <p14:creationId xmlns:p14="http://schemas.microsoft.com/office/powerpoint/2010/main" val="1523025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85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stCondLst>
                                            <p:cond delay="0"/>
                                          </p:stCondLst>
                                        </p:cTn>
                                        <p:tgtEl>
                                          <p:spTgt spid="2"/>
                                        </p:tgtEl>
                                      </p:cBhvr>
                                    </p:animEffect>
                                    <p:anim to="0" calcmode="lin" valueType="num">
                                      <p:cBhvr>
                                        <p:cTn id="8" dur="500" fill="hold">
                                          <p:stCondLst>
                                            <p:cond delay="0"/>
                                          </p:stCondLst>
                                        </p:cTn>
                                        <p:tgtEl>
                                          <p:spTgt spid="2"/>
                                        </p:tgtEl>
                                        <p:attrNameLst>
                                          <p:attrName>ppt_x</p:attrName>
                                        </p:attrNameLst>
                                      </p:cBhvr>
                                      <p:tavLst>
                                        <p:tav tm="0">
                                          <p:val>
                                            <p:strVal val="#ppt_x-.05"/>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71932-CE33-A39F-8B9D-CC273FC7465C}"/>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91D2116D-87DC-8F18-F4A1-76354C871A72}"/>
              </a:ext>
            </a:extLst>
          </p:cNvPr>
          <p:cNvSpPr>
            <a:spLocks noGrp="1"/>
          </p:cNvSpPr>
          <p:nvPr>
            <p:ph type="body" sz="quarter" idx="13"/>
          </p:nvPr>
        </p:nvSpPr>
        <p:spPr>
          <a:xfrm>
            <a:off x="5834080" y="2465278"/>
            <a:ext cx="4831831" cy="901700"/>
          </a:xfrm>
        </p:spPr>
        <p:txBody>
          <a:bodyPr/>
          <a:lstStyle/>
          <a:p>
            <a:r>
              <a:rPr lang="zh-CN" altLang="en-US" dirty="0"/>
              <a:t>网络编程基本概念</a:t>
            </a:r>
          </a:p>
        </p:txBody>
      </p:sp>
      <p:sp>
        <p:nvSpPr>
          <p:cNvPr id="10" name="文本占位符 9">
            <a:extLst>
              <a:ext uri="{FF2B5EF4-FFF2-40B4-BE49-F238E27FC236}">
                <a16:creationId xmlns:a16="http://schemas.microsoft.com/office/drawing/2014/main" id="{B126086B-4DC9-86DA-05FA-E282C17366D4}"/>
              </a:ext>
            </a:extLst>
          </p:cNvPr>
          <p:cNvSpPr>
            <a:spLocks noGrp="1"/>
          </p:cNvSpPr>
          <p:nvPr>
            <p:ph type="body" sz="quarter" idx="14"/>
          </p:nvPr>
        </p:nvSpPr>
        <p:spPr/>
        <p:txBody>
          <a:bodyPr/>
          <a:lstStyle/>
          <a:p>
            <a:r>
              <a:rPr lang="en-US" altLang="zh-CN" dirty="0"/>
              <a:t>1</a:t>
            </a:r>
            <a:endParaRPr lang="zh-CN" altLang="en-US" dirty="0"/>
          </a:p>
        </p:txBody>
      </p:sp>
    </p:spTree>
    <p:extLst>
      <p:ext uri="{BB962C8B-B14F-4D97-AF65-F5344CB8AC3E}">
        <p14:creationId xmlns:p14="http://schemas.microsoft.com/office/powerpoint/2010/main" val="291364398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FA26D-793C-39D4-E013-E2471E5DEA5C}"/>
            </a:ext>
          </a:extLst>
        </p:cNvPr>
        <p:cNvGrpSpPr/>
        <p:nvPr/>
      </p:nvGrpSpPr>
      <p:grpSpPr>
        <a:xfrm>
          <a:off x="0" y="0"/>
          <a:ext cx="0" cy="0"/>
          <a:chOff x="0" y="0"/>
          <a:chExt cx="0" cy="0"/>
        </a:xfrm>
      </p:grpSpPr>
      <p:sp>
        <p:nvSpPr>
          <p:cNvPr id="23" name="文本占位符 22">
            <a:extLst>
              <a:ext uri="{FF2B5EF4-FFF2-40B4-BE49-F238E27FC236}">
                <a16:creationId xmlns:a16="http://schemas.microsoft.com/office/drawing/2014/main" id="{DEAC7552-5B62-E90E-BA38-ABAE003D0259}"/>
              </a:ext>
            </a:extLst>
          </p:cNvPr>
          <p:cNvSpPr>
            <a:spLocks noGrp="1"/>
          </p:cNvSpPr>
          <p:nvPr>
            <p:ph idx="1"/>
          </p:nvPr>
        </p:nvSpPr>
        <p:spPr/>
        <p:txBody>
          <a:bodyPr/>
          <a:lstStyle/>
          <a:p>
            <a:pPr marL="285750" indent="-285750">
              <a:buFont typeface="Wingdings" panose="05000000000000000000" pitchFamily="2" charset="2"/>
              <a:buChar char="l"/>
            </a:pPr>
            <a:r>
              <a:rPr lang="zh-CN" altLang="en-US" dirty="0"/>
              <a:t>可以让设备中的程序与网络上其他设备中的程序进行数据交互的技术（实现网络通信）。</a:t>
            </a:r>
          </a:p>
          <a:p>
            <a:endParaRPr lang="en-US" dirty="0"/>
          </a:p>
        </p:txBody>
      </p:sp>
      <p:sp>
        <p:nvSpPr>
          <p:cNvPr id="18" name="标题 17">
            <a:extLst>
              <a:ext uri="{FF2B5EF4-FFF2-40B4-BE49-F238E27FC236}">
                <a16:creationId xmlns:a16="http://schemas.microsoft.com/office/drawing/2014/main" id="{E2592EDC-E48D-4474-F63D-1167E73FCE3A}"/>
              </a:ext>
            </a:extLst>
          </p:cNvPr>
          <p:cNvSpPr>
            <a:spLocks noGrp="1"/>
          </p:cNvSpPr>
          <p:nvPr>
            <p:ph type="title"/>
          </p:nvPr>
        </p:nvSpPr>
        <p:spPr/>
        <p:txBody>
          <a:bodyPr/>
          <a:lstStyle/>
          <a:p>
            <a:r>
              <a:rPr lang="zh-CN" altLang="en-US" dirty="0"/>
              <a:t>网络编程</a:t>
            </a:r>
            <a:endParaRPr lang="en-US" dirty="0"/>
          </a:p>
        </p:txBody>
      </p:sp>
      <p:pic>
        <p:nvPicPr>
          <p:cNvPr id="2" name="图片 1">
            <a:extLst>
              <a:ext uri="{FF2B5EF4-FFF2-40B4-BE49-F238E27FC236}">
                <a16:creationId xmlns:a16="http://schemas.microsoft.com/office/drawing/2014/main" id="{E85BCC03-6786-6E9E-15B5-26A126C844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9827" y="2625853"/>
            <a:ext cx="1512328" cy="3272509"/>
          </a:xfrm>
          <a:prstGeom prst="rect">
            <a:avLst/>
          </a:prstGeom>
        </p:spPr>
      </p:pic>
      <p:pic>
        <p:nvPicPr>
          <p:cNvPr id="3" name="图片 2">
            <a:extLst>
              <a:ext uri="{FF2B5EF4-FFF2-40B4-BE49-F238E27FC236}">
                <a16:creationId xmlns:a16="http://schemas.microsoft.com/office/drawing/2014/main" id="{B8D791F3-A2BD-D968-FAA9-D4EE53FEBA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8538" y="2610884"/>
            <a:ext cx="1557226" cy="3369665"/>
          </a:xfrm>
          <a:prstGeom prst="rect">
            <a:avLst/>
          </a:prstGeom>
        </p:spPr>
      </p:pic>
      <p:pic>
        <p:nvPicPr>
          <p:cNvPr id="4" name="图片 3">
            <a:extLst>
              <a:ext uri="{FF2B5EF4-FFF2-40B4-BE49-F238E27FC236}">
                <a16:creationId xmlns:a16="http://schemas.microsoft.com/office/drawing/2014/main" id="{CDFADA2A-2045-9896-DC0E-93C61AC89BF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3919" r="23450"/>
          <a:stretch/>
        </p:blipFill>
        <p:spPr>
          <a:xfrm>
            <a:off x="698867" y="2516162"/>
            <a:ext cx="1900993" cy="3601929"/>
          </a:xfrm>
          <a:prstGeom prst="rect">
            <a:avLst/>
          </a:prstGeom>
        </p:spPr>
      </p:pic>
      <p:pic>
        <p:nvPicPr>
          <p:cNvPr id="5" name="图片 4">
            <a:extLst>
              <a:ext uri="{FF2B5EF4-FFF2-40B4-BE49-F238E27FC236}">
                <a16:creationId xmlns:a16="http://schemas.microsoft.com/office/drawing/2014/main" id="{7B41B35E-F374-1F86-FD9F-4C9F6761781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3919" r="23450"/>
          <a:stretch/>
        </p:blipFill>
        <p:spPr>
          <a:xfrm>
            <a:off x="2944994" y="2506831"/>
            <a:ext cx="1900993" cy="3601929"/>
          </a:xfrm>
          <a:prstGeom prst="rect">
            <a:avLst/>
          </a:prstGeom>
        </p:spPr>
      </p:pic>
      <p:pic>
        <p:nvPicPr>
          <p:cNvPr id="6" name="图片 5">
            <a:extLst>
              <a:ext uri="{FF2B5EF4-FFF2-40B4-BE49-F238E27FC236}">
                <a16:creationId xmlns:a16="http://schemas.microsoft.com/office/drawing/2014/main" id="{AAC9305A-E30A-0640-CE39-2C8BD07802AD}"/>
              </a:ext>
            </a:extLst>
          </p:cNvPr>
          <p:cNvPicPr>
            <a:picLocks noChangeAspect="1"/>
          </p:cNvPicPr>
          <p:nvPr/>
        </p:nvPicPr>
        <p:blipFill>
          <a:blip r:embed="rId5"/>
          <a:stretch>
            <a:fillRect/>
          </a:stretch>
        </p:blipFill>
        <p:spPr>
          <a:xfrm>
            <a:off x="5191120" y="2625854"/>
            <a:ext cx="6302013" cy="3387332"/>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E1089CC9-97E2-E559-F0E0-1CAD3CE1C9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1120" y="2625854"/>
            <a:ext cx="6302013" cy="3387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9306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61068EA-C4D0-9B70-D84C-3B6661CC9A3E}"/>
              </a:ext>
            </a:extLst>
          </p:cNvPr>
          <p:cNvSpPr>
            <a:spLocks noGrp="1"/>
          </p:cNvSpPr>
          <p:nvPr>
            <p:ph idx="1"/>
          </p:nvPr>
        </p:nvSpPr>
        <p:spPr/>
        <p:txBody>
          <a:bodyPr/>
          <a:lstStyle/>
          <a:p>
            <a:pPr marL="285750" indent="-285750">
              <a:buFont typeface="Wingdings" panose="05000000000000000000" pitchFamily="2" charset="2"/>
              <a:buChar char="l"/>
            </a:pPr>
            <a:r>
              <a:rPr lang="zh-CN" altLang="en-US" dirty="0">
                <a:latin typeface="+mn-ea"/>
              </a:rPr>
              <a:t>基本的通信架构有</a:t>
            </a:r>
            <a:r>
              <a:rPr lang="en-US" altLang="zh-CN" dirty="0">
                <a:latin typeface="+mn-ea"/>
              </a:rPr>
              <a:t>2</a:t>
            </a:r>
            <a:r>
              <a:rPr lang="zh-CN" altLang="en-US" dirty="0">
                <a:latin typeface="+mn-ea"/>
              </a:rPr>
              <a:t>种形式：</a:t>
            </a:r>
            <a:r>
              <a:rPr lang="en-US" dirty="0">
                <a:latin typeface="+mn-ea"/>
              </a:rPr>
              <a:t>CS</a:t>
            </a:r>
            <a:r>
              <a:rPr lang="zh-CN" altLang="en-US" dirty="0">
                <a:latin typeface="+mn-ea"/>
              </a:rPr>
              <a:t>架构（ </a:t>
            </a:r>
            <a:r>
              <a:rPr lang="en-US" dirty="0">
                <a:latin typeface="+mn-ea"/>
              </a:rPr>
              <a:t>Client</a:t>
            </a:r>
            <a:r>
              <a:rPr lang="zh-CN" altLang="en-US" dirty="0">
                <a:latin typeface="+mn-ea"/>
              </a:rPr>
              <a:t>客户端</a:t>
            </a:r>
            <a:r>
              <a:rPr lang="en-US" altLang="zh-CN" dirty="0">
                <a:latin typeface="+mn-ea"/>
              </a:rPr>
              <a:t>/</a:t>
            </a:r>
            <a:r>
              <a:rPr lang="en-US" dirty="0">
                <a:latin typeface="+mn-ea"/>
              </a:rPr>
              <a:t>Server</a:t>
            </a:r>
            <a:r>
              <a:rPr lang="zh-CN" altLang="en-US" dirty="0">
                <a:latin typeface="+mn-ea"/>
              </a:rPr>
              <a:t>服务端 ） 、 </a:t>
            </a:r>
            <a:r>
              <a:rPr lang="en-US" dirty="0">
                <a:latin typeface="+mn-ea"/>
              </a:rPr>
              <a:t>BS</a:t>
            </a:r>
            <a:r>
              <a:rPr lang="zh-CN" altLang="en-US" dirty="0">
                <a:latin typeface="+mn-ea"/>
              </a:rPr>
              <a:t>架构</a:t>
            </a:r>
            <a:r>
              <a:rPr lang="en-US" altLang="zh-CN" dirty="0">
                <a:latin typeface="+mn-ea"/>
              </a:rPr>
              <a:t>(</a:t>
            </a:r>
            <a:r>
              <a:rPr lang="en-US" dirty="0">
                <a:latin typeface="+mn-ea"/>
              </a:rPr>
              <a:t>Browser</a:t>
            </a:r>
            <a:r>
              <a:rPr lang="zh-CN" altLang="en-US" dirty="0">
                <a:latin typeface="+mn-ea"/>
              </a:rPr>
              <a:t>浏览器</a:t>
            </a:r>
            <a:r>
              <a:rPr lang="en-US" altLang="zh-CN" dirty="0">
                <a:latin typeface="+mn-ea"/>
              </a:rPr>
              <a:t>/</a:t>
            </a:r>
            <a:r>
              <a:rPr lang="en-US" dirty="0">
                <a:latin typeface="+mn-ea"/>
              </a:rPr>
              <a:t>Server</a:t>
            </a:r>
            <a:r>
              <a:rPr lang="zh-CN" altLang="en-US" dirty="0">
                <a:latin typeface="+mn-ea"/>
              </a:rPr>
              <a:t>服务端</a:t>
            </a:r>
            <a:r>
              <a:rPr lang="en-US" altLang="zh-CN" dirty="0">
                <a:latin typeface="+mn-ea"/>
              </a:rPr>
              <a:t>)</a:t>
            </a:r>
            <a:r>
              <a:rPr lang="zh-CN" altLang="en-US" dirty="0">
                <a:latin typeface="+mn-ea"/>
              </a:rPr>
              <a:t>。</a:t>
            </a:r>
          </a:p>
          <a:p>
            <a:pPr marL="0" indent="0">
              <a:buNone/>
            </a:pPr>
            <a:endParaRPr lang="en-US" dirty="0"/>
          </a:p>
        </p:txBody>
      </p:sp>
      <p:sp>
        <p:nvSpPr>
          <p:cNvPr id="3" name="标题 2">
            <a:extLst>
              <a:ext uri="{FF2B5EF4-FFF2-40B4-BE49-F238E27FC236}">
                <a16:creationId xmlns:a16="http://schemas.microsoft.com/office/drawing/2014/main" id="{E2ED57BD-DFF5-DF26-081A-95E8990434E0}"/>
              </a:ext>
            </a:extLst>
          </p:cNvPr>
          <p:cNvSpPr>
            <a:spLocks noGrp="1"/>
          </p:cNvSpPr>
          <p:nvPr>
            <p:ph type="title"/>
          </p:nvPr>
        </p:nvSpPr>
        <p:spPr/>
        <p:txBody>
          <a:bodyPr/>
          <a:lstStyle/>
          <a:p>
            <a:r>
              <a:rPr kumimoji="1" lang="zh-CN" altLang="en-US" dirty="0"/>
              <a:t>基本的通信架构</a:t>
            </a:r>
            <a:endParaRPr lang="en-US" dirty="0"/>
          </a:p>
        </p:txBody>
      </p:sp>
      <p:sp>
        <p:nvSpPr>
          <p:cNvPr id="4" name="文本框 3">
            <a:extLst>
              <a:ext uri="{FF2B5EF4-FFF2-40B4-BE49-F238E27FC236}">
                <a16:creationId xmlns:a16="http://schemas.microsoft.com/office/drawing/2014/main" id="{01C5AC8D-CC4E-027F-BFE3-46B2B2CF2CA1}"/>
              </a:ext>
            </a:extLst>
          </p:cNvPr>
          <p:cNvSpPr txBox="1"/>
          <p:nvPr/>
        </p:nvSpPr>
        <p:spPr>
          <a:xfrm>
            <a:off x="576196" y="1916408"/>
            <a:ext cx="3725700" cy="523220"/>
          </a:xfrm>
          <a:prstGeom prst="rect">
            <a:avLst/>
          </a:prstGeom>
        </p:spPr>
        <p:txBody>
          <a:bodyPr/>
          <a:lstStyle>
            <a:lvl1pPr>
              <a:lnSpc>
                <a:spcPct val="100000"/>
              </a:lnSpc>
              <a:spcBef>
                <a:spcPct val="0"/>
              </a:spcBef>
              <a:buNone/>
              <a:defRPr kumimoji="1" lang="zh-CN" altLang="en-US" sz="2400" b="1">
                <a:solidFill>
                  <a:schemeClr val="accent1"/>
                </a:solidFill>
                <a:latin typeface="+mj-lt"/>
                <a:ea typeface="+mj-ea"/>
                <a:cs typeface="+mj-cs"/>
              </a:defRPr>
            </a:lvl1pPr>
          </a:lstStyle>
          <a:p>
            <a:r>
              <a:rPr lang="en-US" altLang="zh-CN" sz="1800" dirty="0"/>
              <a:t>Client-Server(CS)</a:t>
            </a:r>
            <a:r>
              <a:rPr lang="zh-CN" altLang="en-US" sz="1800" dirty="0"/>
              <a:t>架构</a:t>
            </a:r>
            <a:endParaRPr lang="en-US" sz="1800" dirty="0"/>
          </a:p>
        </p:txBody>
      </p:sp>
      <p:pic>
        <p:nvPicPr>
          <p:cNvPr id="15" name="图片 14">
            <a:extLst>
              <a:ext uri="{FF2B5EF4-FFF2-40B4-BE49-F238E27FC236}">
                <a16:creationId xmlns:a16="http://schemas.microsoft.com/office/drawing/2014/main" id="{E62EB788-BEFD-CD37-2748-D0E8FC14429D}"/>
              </a:ext>
            </a:extLst>
          </p:cNvPr>
          <p:cNvPicPr>
            <a:picLocks noChangeAspect="1"/>
          </p:cNvPicPr>
          <p:nvPr/>
        </p:nvPicPr>
        <p:blipFill>
          <a:blip r:embed="rId2">
            <a:extLst>
              <a:ext uri="{28A0092B-C50C-407E-A947-70E740481C1C}">
                <a14:useLocalDpi xmlns:a14="http://schemas.microsoft.com/office/drawing/2010/main" val="0"/>
              </a:ext>
            </a:extLst>
          </a:blip>
          <a:srcRect l="3868" t="11379" r="3868" b="10429"/>
          <a:stretch>
            <a:fillRect/>
          </a:stretch>
        </p:blipFill>
        <p:spPr>
          <a:xfrm>
            <a:off x="706652" y="3338240"/>
            <a:ext cx="2164098" cy="1834048"/>
          </a:xfrm>
          <a:custGeom>
            <a:avLst/>
            <a:gdLst>
              <a:gd name="connsiteX0" fmla="*/ 0 w 3954624"/>
              <a:gd name="connsiteY0" fmla="*/ 0 h 3351497"/>
              <a:gd name="connsiteX1" fmla="*/ 3954624 w 3954624"/>
              <a:gd name="connsiteY1" fmla="*/ 0 h 3351497"/>
              <a:gd name="connsiteX2" fmla="*/ 3954624 w 3954624"/>
              <a:gd name="connsiteY2" fmla="*/ 3351497 h 3351497"/>
              <a:gd name="connsiteX3" fmla="*/ 0 w 3954624"/>
              <a:gd name="connsiteY3" fmla="*/ 3351497 h 3351497"/>
            </a:gdLst>
            <a:ahLst/>
            <a:cxnLst>
              <a:cxn ang="0">
                <a:pos x="connsiteX0" y="connsiteY0"/>
              </a:cxn>
              <a:cxn ang="0">
                <a:pos x="connsiteX1" y="connsiteY1"/>
              </a:cxn>
              <a:cxn ang="0">
                <a:pos x="connsiteX2" y="connsiteY2"/>
              </a:cxn>
              <a:cxn ang="0">
                <a:pos x="connsiteX3" y="connsiteY3"/>
              </a:cxn>
            </a:cxnLst>
            <a:rect l="l" t="t" r="r" b="b"/>
            <a:pathLst>
              <a:path w="3954624" h="3351497">
                <a:moveTo>
                  <a:pt x="0" y="0"/>
                </a:moveTo>
                <a:lnTo>
                  <a:pt x="3954624" y="0"/>
                </a:lnTo>
                <a:lnTo>
                  <a:pt x="3954624" y="3351497"/>
                </a:lnTo>
                <a:lnTo>
                  <a:pt x="0" y="3351497"/>
                </a:lnTo>
                <a:close/>
              </a:path>
            </a:pathLst>
          </a:custGeom>
          <a:effectLst>
            <a:outerShdw blurRad="76200" dir="18900000" sy="23000" kx="-1200000" algn="bl" rotWithShape="0">
              <a:prstClr val="black">
                <a:alpha val="20000"/>
              </a:prstClr>
            </a:outerShdw>
          </a:effectLst>
        </p:spPr>
      </p:pic>
      <p:pic>
        <p:nvPicPr>
          <p:cNvPr id="10" name="图片 9">
            <a:extLst>
              <a:ext uri="{FF2B5EF4-FFF2-40B4-BE49-F238E27FC236}">
                <a16:creationId xmlns:a16="http://schemas.microsoft.com/office/drawing/2014/main" id="{4F923E32-EAFE-FE9D-AE6B-DCE735605E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6852" y="3101891"/>
            <a:ext cx="2243557" cy="2070397"/>
          </a:xfrm>
          <a:prstGeom prst="rect">
            <a:avLst/>
          </a:prstGeom>
          <a:effectLst>
            <a:outerShdw blurRad="76200" dir="18900000" sy="23000" kx="-1200000" algn="bl" rotWithShape="0">
              <a:prstClr val="black">
                <a:alpha val="20000"/>
              </a:prstClr>
            </a:outerShdw>
          </a:effectLst>
        </p:spPr>
      </p:pic>
      <p:pic>
        <p:nvPicPr>
          <p:cNvPr id="17" name="图片 16">
            <a:extLst>
              <a:ext uri="{FF2B5EF4-FFF2-40B4-BE49-F238E27FC236}">
                <a16:creationId xmlns:a16="http://schemas.microsoft.com/office/drawing/2014/main" id="{57F6A5A8-2D7F-FAC9-6D2B-6027738229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43739" y="2461116"/>
            <a:ext cx="3992939" cy="2822078"/>
          </a:xfrm>
          <a:prstGeom prst="rect">
            <a:avLst/>
          </a:prstGeom>
          <a:effectLst>
            <a:outerShdw blurRad="76200" dir="18900000" sy="23000" kx="-1200000" algn="bl" rotWithShape="0">
              <a:prstClr val="black">
                <a:alpha val="20000"/>
              </a:prstClr>
            </a:outerShdw>
          </a:effectLst>
        </p:spPr>
      </p:pic>
    </p:spTree>
    <p:extLst>
      <p:ext uri="{BB962C8B-B14F-4D97-AF65-F5344CB8AC3E}">
        <p14:creationId xmlns:p14="http://schemas.microsoft.com/office/powerpoint/2010/main" val="3148460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42" presetClass="path" presetSubtype="0" decel="100000" fill="hold" nodeType="withEffect">
                                  <p:stCondLst>
                                    <p:cond delay="0"/>
                                  </p:stCondLst>
                                  <p:childTnLst>
                                    <p:animMotion origin="layout" path="M 2.91667E-6 2.96296E-6 L 2.91667E-6 0.25 " pathEditMode="relative" rAng="0" ptsTypes="AA">
                                      <p:cBhvr>
                                        <p:cTn id="19" dur="1000" spd="-100000" fill="hold"/>
                                        <p:tgtEl>
                                          <p:spTgt spid="15"/>
                                        </p:tgtEl>
                                        <p:attrNameLst>
                                          <p:attrName>ppt_x</p:attrName>
                                          <p:attrName>ppt_y</p:attrName>
                                        </p:attrNameLst>
                                      </p:cBhvr>
                                      <p:rCtr x="0" y="12500"/>
                                    </p:animMotion>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42" presetClass="path" presetSubtype="0" decel="100000" fill="hold" nodeType="withEffect">
                                  <p:stCondLst>
                                    <p:cond delay="0"/>
                                  </p:stCondLst>
                                  <p:childTnLst>
                                    <p:animMotion origin="layout" path="M 2.91667E-6 2.96296E-6 L 2.91667E-6 0.25 " pathEditMode="relative" rAng="0" ptsTypes="AA">
                                      <p:cBhvr>
                                        <p:cTn id="26" dur="1000" spd="-100000" fill="hold"/>
                                        <p:tgtEl>
                                          <p:spTgt spid="10"/>
                                        </p:tgtEl>
                                        <p:attrNameLst>
                                          <p:attrName>ppt_x</p:attrName>
                                          <p:attrName>ppt_y</p:attrName>
                                        </p:attrNameLst>
                                      </p:cBhvr>
                                      <p:rCtr x="0" y="12500"/>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42" presetClass="path" presetSubtype="0" decel="100000" fill="hold" nodeType="withEffect">
                                  <p:stCondLst>
                                    <p:cond delay="0"/>
                                  </p:stCondLst>
                                  <p:childTnLst>
                                    <p:animMotion origin="layout" path="M 2.91667E-6 2.96296E-6 L 2.91667E-6 0.25 " pathEditMode="relative" rAng="0" ptsTypes="AA">
                                      <p:cBhvr>
                                        <p:cTn id="33" dur="1000" spd="-100000" fill="hold"/>
                                        <p:tgtEl>
                                          <p:spTgt spid="17"/>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61068EA-C4D0-9B70-D84C-3B6661CC9A3E}"/>
              </a:ext>
            </a:extLst>
          </p:cNvPr>
          <p:cNvSpPr>
            <a:spLocks noGrp="1"/>
          </p:cNvSpPr>
          <p:nvPr>
            <p:ph idx="1"/>
          </p:nvPr>
        </p:nvSpPr>
        <p:spPr/>
        <p:txBody>
          <a:bodyPr/>
          <a:lstStyle/>
          <a:p>
            <a:pPr marL="285750" indent="-285750">
              <a:buFont typeface="Wingdings" panose="05000000000000000000" pitchFamily="2" charset="2"/>
              <a:buChar char="l"/>
            </a:pPr>
            <a:r>
              <a:rPr lang="zh-CN" altLang="en-US" dirty="0">
                <a:latin typeface="+mn-ea"/>
              </a:rPr>
              <a:t>基本的通信架构有</a:t>
            </a:r>
            <a:r>
              <a:rPr lang="en-US" altLang="zh-CN" dirty="0">
                <a:latin typeface="+mn-ea"/>
              </a:rPr>
              <a:t>2</a:t>
            </a:r>
            <a:r>
              <a:rPr lang="zh-CN" altLang="en-US" dirty="0">
                <a:latin typeface="+mn-ea"/>
              </a:rPr>
              <a:t>种形式：</a:t>
            </a:r>
            <a:r>
              <a:rPr lang="en-US" dirty="0">
                <a:latin typeface="+mn-ea"/>
              </a:rPr>
              <a:t>CS</a:t>
            </a:r>
            <a:r>
              <a:rPr lang="zh-CN" altLang="en-US" dirty="0">
                <a:latin typeface="+mn-ea"/>
              </a:rPr>
              <a:t>架构（ </a:t>
            </a:r>
            <a:r>
              <a:rPr lang="en-US" dirty="0">
                <a:latin typeface="+mn-ea"/>
              </a:rPr>
              <a:t>Client</a:t>
            </a:r>
            <a:r>
              <a:rPr lang="zh-CN" altLang="en-US" dirty="0">
                <a:latin typeface="+mn-ea"/>
              </a:rPr>
              <a:t>客户端</a:t>
            </a:r>
            <a:r>
              <a:rPr lang="en-US" altLang="zh-CN" dirty="0">
                <a:latin typeface="+mn-ea"/>
              </a:rPr>
              <a:t>/</a:t>
            </a:r>
            <a:r>
              <a:rPr lang="en-US" dirty="0">
                <a:latin typeface="+mn-ea"/>
              </a:rPr>
              <a:t>Server</a:t>
            </a:r>
            <a:r>
              <a:rPr lang="zh-CN" altLang="en-US" dirty="0">
                <a:latin typeface="+mn-ea"/>
              </a:rPr>
              <a:t>服务端 ） 、 </a:t>
            </a:r>
            <a:r>
              <a:rPr lang="en-US" dirty="0">
                <a:latin typeface="+mn-ea"/>
              </a:rPr>
              <a:t>BS</a:t>
            </a:r>
            <a:r>
              <a:rPr lang="zh-CN" altLang="en-US" dirty="0">
                <a:latin typeface="+mn-ea"/>
              </a:rPr>
              <a:t>架构</a:t>
            </a:r>
            <a:r>
              <a:rPr lang="en-US" altLang="zh-CN" dirty="0">
                <a:latin typeface="+mn-ea"/>
              </a:rPr>
              <a:t>(</a:t>
            </a:r>
            <a:r>
              <a:rPr lang="en-US" dirty="0">
                <a:latin typeface="+mn-ea"/>
              </a:rPr>
              <a:t>Browser</a:t>
            </a:r>
            <a:r>
              <a:rPr lang="zh-CN" altLang="en-US" dirty="0">
                <a:latin typeface="+mn-ea"/>
              </a:rPr>
              <a:t>浏览器</a:t>
            </a:r>
            <a:r>
              <a:rPr lang="en-US" altLang="zh-CN" dirty="0">
                <a:latin typeface="+mn-ea"/>
              </a:rPr>
              <a:t>/</a:t>
            </a:r>
            <a:r>
              <a:rPr lang="en-US" dirty="0">
                <a:latin typeface="+mn-ea"/>
              </a:rPr>
              <a:t>Server</a:t>
            </a:r>
            <a:r>
              <a:rPr lang="zh-CN" altLang="en-US" dirty="0">
                <a:latin typeface="+mn-ea"/>
              </a:rPr>
              <a:t>服务端</a:t>
            </a:r>
            <a:r>
              <a:rPr lang="en-US" altLang="zh-CN" dirty="0">
                <a:latin typeface="+mn-ea"/>
              </a:rPr>
              <a:t>)</a:t>
            </a:r>
            <a:r>
              <a:rPr lang="zh-CN" altLang="en-US" dirty="0">
                <a:latin typeface="+mn-ea"/>
              </a:rPr>
              <a:t>。</a:t>
            </a:r>
          </a:p>
          <a:p>
            <a:pPr marL="0" indent="0">
              <a:buNone/>
            </a:pPr>
            <a:endParaRPr lang="en-US" dirty="0"/>
          </a:p>
        </p:txBody>
      </p:sp>
      <p:sp>
        <p:nvSpPr>
          <p:cNvPr id="3" name="标题 2">
            <a:extLst>
              <a:ext uri="{FF2B5EF4-FFF2-40B4-BE49-F238E27FC236}">
                <a16:creationId xmlns:a16="http://schemas.microsoft.com/office/drawing/2014/main" id="{E2ED57BD-DFF5-DF26-081A-95E8990434E0}"/>
              </a:ext>
            </a:extLst>
          </p:cNvPr>
          <p:cNvSpPr>
            <a:spLocks noGrp="1"/>
          </p:cNvSpPr>
          <p:nvPr>
            <p:ph type="title"/>
          </p:nvPr>
        </p:nvSpPr>
        <p:spPr/>
        <p:txBody>
          <a:bodyPr/>
          <a:lstStyle/>
          <a:p>
            <a:r>
              <a:rPr kumimoji="1" lang="zh-CN" altLang="en-US" dirty="0"/>
              <a:t>基本的通信架构</a:t>
            </a:r>
            <a:endParaRPr lang="en-US" dirty="0"/>
          </a:p>
        </p:txBody>
      </p:sp>
      <p:sp>
        <p:nvSpPr>
          <p:cNvPr id="4" name="文本框 3">
            <a:extLst>
              <a:ext uri="{FF2B5EF4-FFF2-40B4-BE49-F238E27FC236}">
                <a16:creationId xmlns:a16="http://schemas.microsoft.com/office/drawing/2014/main" id="{01C5AC8D-CC4E-027F-BFE3-46B2B2CF2CA1}"/>
              </a:ext>
            </a:extLst>
          </p:cNvPr>
          <p:cNvSpPr txBox="1"/>
          <p:nvPr/>
        </p:nvSpPr>
        <p:spPr>
          <a:xfrm>
            <a:off x="576196" y="1916408"/>
            <a:ext cx="3725700" cy="523220"/>
          </a:xfrm>
          <a:prstGeom prst="rect">
            <a:avLst/>
          </a:prstGeom>
        </p:spPr>
        <p:txBody>
          <a:bodyPr/>
          <a:lstStyle>
            <a:lvl1pPr>
              <a:lnSpc>
                <a:spcPct val="100000"/>
              </a:lnSpc>
              <a:spcBef>
                <a:spcPct val="0"/>
              </a:spcBef>
              <a:buNone/>
              <a:defRPr kumimoji="1" lang="zh-CN" altLang="en-US" sz="2400" b="1">
                <a:solidFill>
                  <a:schemeClr val="accent1"/>
                </a:solidFill>
                <a:latin typeface="+mj-lt"/>
                <a:ea typeface="+mj-ea"/>
                <a:cs typeface="+mj-cs"/>
              </a:defRPr>
            </a:lvl1pPr>
          </a:lstStyle>
          <a:p>
            <a:r>
              <a:rPr lang="en-US" altLang="zh-CN" sz="1800" dirty="0"/>
              <a:t>Client-Server(CS)</a:t>
            </a:r>
            <a:r>
              <a:rPr lang="zh-CN" altLang="en-US" sz="1800" dirty="0"/>
              <a:t>架构</a:t>
            </a:r>
            <a:endParaRPr lang="en-US" sz="1800" dirty="0"/>
          </a:p>
        </p:txBody>
      </p:sp>
      <p:grpSp>
        <p:nvGrpSpPr>
          <p:cNvPr id="22" name="组合 21">
            <a:extLst>
              <a:ext uri="{FF2B5EF4-FFF2-40B4-BE49-F238E27FC236}">
                <a16:creationId xmlns:a16="http://schemas.microsoft.com/office/drawing/2014/main" id="{2EA4C1F5-141F-653F-2363-1609FC0AA008}"/>
              </a:ext>
            </a:extLst>
          </p:cNvPr>
          <p:cNvGrpSpPr/>
          <p:nvPr/>
        </p:nvGrpSpPr>
        <p:grpSpPr>
          <a:xfrm>
            <a:off x="846239" y="2585055"/>
            <a:ext cx="4452163" cy="3006426"/>
            <a:chOff x="926921" y="3429000"/>
            <a:chExt cx="4452163" cy="3006426"/>
          </a:xfrm>
        </p:grpSpPr>
        <p:grpSp>
          <p:nvGrpSpPr>
            <p:cNvPr id="6" name="组合 5">
              <a:extLst>
                <a:ext uri="{FF2B5EF4-FFF2-40B4-BE49-F238E27FC236}">
                  <a16:creationId xmlns:a16="http://schemas.microsoft.com/office/drawing/2014/main" id="{6FE733F3-81DA-F3C1-9130-AE6C2C6534F6}"/>
                </a:ext>
              </a:extLst>
            </p:cNvPr>
            <p:cNvGrpSpPr/>
            <p:nvPr/>
          </p:nvGrpSpPr>
          <p:grpSpPr>
            <a:xfrm>
              <a:off x="2183851" y="3429000"/>
              <a:ext cx="3195233" cy="3006426"/>
              <a:chOff x="3639391" y="961307"/>
              <a:chExt cx="4728816" cy="5181012"/>
            </a:xfrm>
          </p:grpSpPr>
          <p:sp>
            <p:nvSpPr>
              <p:cNvPr id="8" name="Graphic 18">
                <a:extLst>
                  <a:ext uri="{FF2B5EF4-FFF2-40B4-BE49-F238E27FC236}">
                    <a16:creationId xmlns:a16="http://schemas.microsoft.com/office/drawing/2014/main" id="{30B668D6-9685-E6DF-4BBE-8FE6F505A99E}"/>
                  </a:ext>
                </a:extLst>
              </p:cNvPr>
              <p:cNvSpPr/>
              <p:nvPr/>
            </p:nvSpPr>
            <p:spPr>
              <a:xfrm>
                <a:off x="3823792" y="1193186"/>
                <a:ext cx="4544415" cy="4949133"/>
              </a:xfrm>
              <a:custGeom>
                <a:avLst/>
                <a:gdLst>
                  <a:gd name="connsiteX0" fmla="*/ 1238039 w 3142829"/>
                  <a:gd name="connsiteY0" fmla="*/ 89328 h 3422732"/>
                  <a:gd name="connsiteX1" fmla="*/ 1904789 w 3142829"/>
                  <a:gd name="connsiteY1" fmla="*/ 89328 h 3422732"/>
                  <a:gd name="connsiteX2" fmla="*/ 2809455 w 3142829"/>
                  <a:gd name="connsiteY2" fmla="*/ 611635 h 3422732"/>
                  <a:gd name="connsiteX3" fmla="*/ 3142830 w 3142829"/>
                  <a:gd name="connsiteY3" fmla="*/ 1189063 h 3422732"/>
                  <a:gd name="connsiteX4" fmla="*/ 3142830 w 3142829"/>
                  <a:gd name="connsiteY4" fmla="*/ 2233669 h 3422732"/>
                  <a:gd name="connsiteX5" fmla="*/ 2809455 w 3142829"/>
                  <a:gd name="connsiteY5" fmla="*/ 2811094 h 3422732"/>
                  <a:gd name="connsiteX6" fmla="*/ 1904789 w 3142829"/>
                  <a:gd name="connsiteY6" fmla="*/ 3333407 h 3422732"/>
                  <a:gd name="connsiteX7" fmla="*/ 1238039 w 3142829"/>
                  <a:gd name="connsiteY7" fmla="*/ 3333407 h 3422732"/>
                  <a:gd name="connsiteX8" fmla="*/ 333375 w 3142829"/>
                  <a:gd name="connsiteY8" fmla="*/ 2811094 h 3422732"/>
                  <a:gd name="connsiteX9" fmla="*/ 0 w 3142829"/>
                  <a:gd name="connsiteY9" fmla="*/ 2233669 h 3422732"/>
                  <a:gd name="connsiteX10" fmla="*/ 0 w 3142829"/>
                  <a:gd name="connsiteY10" fmla="*/ 1189063 h 3422732"/>
                  <a:gd name="connsiteX11" fmla="*/ 333375 w 3142829"/>
                  <a:gd name="connsiteY11" fmla="*/ 611635 h 3422732"/>
                  <a:gd name="connsiteX12" fmla="*/ 1238039 w 3142829"/>
                  <a:gd name="connsiteY12" fmla="*/ 89328 h 3422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2829" h="3422732">
                    <a:moveTo>
                      <a:pt x="1238039" y="89328"/>
                    </a:moveTo>
                    <a:cubicBezTo>
                      <a:pt x="1444332" y="-29776"/>
                      <a:pt x="1698497" y="-29776"/>
                      <a:pt x="1904789" y="89328"/>
                    </a:cubicBezTo>
                    <a:lnTo>
                      <a:pt x="2809455" y="611635"/>
                    </a:lnTo>
                    <a:cubicBezTo>
                      <a:pt x="3015747" y="730738"/>
                      <a:pt x="3142830" y="950852"/>
                      <a:pt x="3142830" y="1189063"/>
                    </a:cubicBezTo>
                    <a:lnTo>
                      <a:pt x="3142830" y="2233669"/>
                    </a:lnTo>
                    <a:cubicBezTo>
                      <a:pt x="3142830" y="2471880"/>
                      <a:pt x="3015747" y="2691993"/>
                      <a:pt x="2809455" y="2811094"/>
                    </a:cubicBezTo>
                    <a:lnTo>
                      <a:pt x="1904789" y="3333407"/>
                    </a:lnTo>
                    <a:cubicBezTo>
                      <a:pt x="1698497" y="3452507"/>
                      <a:pt x="1444332" y="3452507"/>
                      <a:pt x="1238039" y="3333407"/>
                    </a:cubicBezTo>
                    <a:lnTo>
                      <a:pt x="333375" y="2811094"/>
                    </a:lnTo>
                    <a:cubicBezTo>
                      <a:pt x="127082" y="2691993"/>
                      <a:pt x="0" y="2471880"/>
                      <a:pt x="0" y="2233669"/>
                    </a:cubicBezTo>
                    <a:lnTo>
                      <a:pt x="0" y="1189063"/>
                    </a:lnTo>
                    <a:cubicBezTo>
                      <a:pt x="0" y="950852"/>
                      <a:pt x="127082" y="730738"/>
                      <a:pt x="333375" y="611635"/>
                    </a:cubicBezTo>
                    <a:lnTo>
                      <a:pt x="1238039" y="89328"/>
                    </a:lnTo>
                    <a:close/>
                  </a:path>
                </a:pathLst>
              </a:custGeom>
              <a:noFill/>
              <a:ln w="28575" cap="rnd">
                <a:solidFill>
                  <a:schemeClr val="bg1"/>
                </a:solidFill>
                <a:prstDash val="sysDot"/>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a:ln>
                    <a:noFill/>
                  </a:ln>
                  <a:solidFill>
                    <a:prstClr val="white"/>
                  </a:solidFill>
                  <a:effectLst/>
                  <a:uLnTx/>
                  <a:uFillTx/>
                  <a:latin typeface="+mn-ea"/>
                  <a:cs typeface="+mn-cs"/>
                </a:endParaRPr>
              </a:p>
            </p:txBody>
          </p:sp>
          <p:sp>
            <p:nvSpPr>
              <p:cNvPr id="9" name="Graphic 18">
                <a:extLst>
                  <a:ext uri="{FF2B5EF4-FFF2-40B4-BE49-F238E27FC236}">
                    <a16:creationId xmlns:a16="http://schemas.microsoft.com/office/drawing/2014/main" id="{7A723B73-8F59-ED4D-6E86-9F15FE754BC6}"/>
                  </a:ext>
                </a:extLst>
              </p:cNvPr>
              <p:cNvSpPr/>
              <p:nvPr/>
            </p:nvSpPr>
            <p:spPr>
              <a:xfrm>
                <a:off x="3639391" y="961307"/>
                <a:ext cx="4585100" cy="4993442"/>
              </a:xfrm>
              <a:custGeom>
                <a:avLst/>
                <a:gdLst>
                  <a:gd name="connsiteX0" fmla="*/ 1238039 w 3142829"/>
                  <a:gd name="connsiteY0" fmla="*/ 89328 h 3422732"/>
                  <a:gd name="connsiteX1" fmla="*/ 1904789 w 3142829"/>
                  <a:gd name="connsiteY1" fmla="*/ 89328 h 3422732"/>
                  <a:gd name="connsiteX2" fmla="*/ 2809455 w 3142829"/>
                  <a:gd name="connsiteY2" fmla="*/ 611635 h 3422732"/>
                  <a:gd name="connsiteX3" fmla="*/ 3142830 w 3142829"/>
                  <a:gd name="connsiteY3" fmla="*/ 1189063 h 3422732"/>
                  <a:gd name="connsiteX4" fmla="*/ 3142830 w 3142829"/>
                  <a:gd name="connsiteY4" fmla="*/ 2233669 h 3422732"/>
                  <a:gd name="connsiteX5" fmla="*/ 2809455 w 3142829"/>
                  <a:gd name="connsiteY5" fmla="*/ 2811094 h 3422732"/>
                  <a:gd name="connsiteX6" fmla="*/ 1904789 w 3142829"/>
                  <a:gd name="connsiteY6" fmla="*/ 3333407 h 3422732"/>
                  <a:gd name="connsiteX7" fmla="*/ 1238039 w 3142829"/>
                  <a:gd name="connsiteY7" fmla="*/ 3333407 h 3422732"/>
                  <a:gd name="connsiteX8" fmla="*/ 333375 w 3142829"/>
                  <a:gd name="connsiteY8" fmla="*/ 2811094 h 3422732"/>
                  <a:gd name="connsiteX9" fmla="*/ 0 w 3142829"/>
                  <a:gd name="connsiteY9" fmla="*/ 2233669 h 3422732"/>
                  <a:gd name="connsiteX10" fmla="*/ 0 w 3142829"/>
                  <a:gd name="connsiteY10" fmla="*/ 1189063 h 3422732"/>
                  <a:gd name="connsiteX11" fmla="*/ 333375 w 3142829"/>
                  <a:gd name="connsiteY11" fmla="*/ 611635 h 3422732"/>
                  <a:gd name="connsiteX12" fmla="*/ 1238039 w 3142829"/>
                  <a:gd name="connsiteY12" fmla="*/ 89328 h 3422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2829" h="3422732">
                    <a:moveTo>
                      <a:pt x="1238039" y="89328"/>
                    </a:moveTo>
                    <a:cubicBezTo>
                      <a:pt x="1444332" y="-29776"/>
                      <a:pt x="1698497" y="-29776"/>
                      <a:pt x="1904789" y="89328"/>
                    </a:cubicBezTo>
                    <a:lnTo>
                      <a:pt x="2809455" y="611635"/>
                    </a:lnTo>
                    <a:cubicBezTo>
                      <a:pt x="3015747" y="730738"/>
                      <a:pt x="3142830" y="950852"/>
                      <a:pt x="3142830" y="1189063"/>
                    </a:cubicBezTo>
                    <a:lnTo>
                      <a:pt x="3142830" y="2233669"/>
                    </a:lnTo>
                    <a:cubicBezTo>
                      <a:pt x="3142830" y="2471880"/>
                      <a:pt x="3015747" y="2691993"/>
                      <a:pt x="2809455" y="2811094"/>
                    </a:cubicBezTo>
                    <a:lnTo>
                      <a:pt x="1904789" y="3333407"/>
                    </a:lnTo>
                    <a:cubicBezTo>
                      <a:pt x="1698497" y="3452507"/>
                      <a:pt x="1444332" y="3452507"/>
                      <a:pt x="1238039" y="3333407"/>
                    </a:cubicBezTo>
                    <a:lnTo>
                      <a:pt x="333375" y="2811094"/>
                    </a:lnTo>
                    <a:cubicBezTo>
                      <a:pt x="127082" y="2691993"/>
                      <a:pt x="0" y="2471880"/>
                      <a:pt x="0" y="2233669"/>
                    </a:cubicBezTo>
                    <a:lnTo>
                      <a:pt x="0" y="1189063"/>
                    </a:lnTo>
                    <a:cubicBezTo>
                      <a:pt x="0" y="950852"/>
                      <a:pt x="127082" y="730738"/>
                      <a:pt x="333375" y="611635"/>
                    </a:cubicBezTo>
                    <a:lnTo>
                      <a:pt x="1238039" y="89328"/>
                    </a:lnTo>
                    <a:close/>
                  </a:path>
                </a:pathLst>
              </a:custGeom>
              <a:solidFill>
                <a:srgbClr val="FAFAFA"/>
              </a:solidFill>
              <a:ln w="19050">
                <a:solidFill>
                  <a:schemeClr val="bg1"/>
                </a:solidFill>
              </a:ln>
              <a:effectLst>
                <a:outerShdw blurRad="330200" dist="292100" dir="5400000" sx="97000" sy="97000" algn="t" rotWithShape="0">
                  <a:schemeClr val="accent1">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a:ln>
                    <a:noFill/>
                  </a:ln>
                  <a:solidFill>
                    <a:prstClr val="white"/>
                  </a:solidFill>
                  <a:effectLst/>
                  <a:uLnTx/>
                  <a:uFillTx/>
                  <a:latin typeface="+mn-ea"/>
                  <a:cs typeface="+mn-cs"/>
                </a:endParaRPr>
              </a:p>
            </p:txBody>
          </p:sp>
          <p:sp>
            <p:nvSpPr>
              <p:cNvPr id="11" name="Graphic 18">
                <a:extLst>
                  <a:ext uri="{FF2B5EF4-FFF2-40B4-BE49-F238E27FC236}">
                    <a16:creationId xmlns:a16="http://schemas.microsoft.com/office/drawing/2014/main" id="{FFA9DDEC-12AE-03A0-AE3E-3BDFAB2CDD57}"/>
                  </a:ext>
                </a:extLst>
              </p:cNvPr>
              <p:cNvSpPr/>
              <p:nvPr/>
            </p:nvSpPr>
            <p:spPr>
              <a:xfrm>
                <a:off x="3639391" y="1002119"/>
                <a:ext cx="4585100" cy="4949133"/>
              </a:xfrm>
              <a:custGeom>
                <a:avLst/>
                <a:gdLst>
                  <a:gd name="connsiteX0" fmla="*/ 1238039 w 3142829"/>
                  <a:gd name="connsiteY0" fmla="*/ 89328 h 3422732"/>
                  <a:gd name="connsiteX1" fmla="*/ 1904789 w 3142829"/>
                  <a:gd name="connsiteY1" fmla="*/ 89328 h 3422732"/>
                  <a:gd name="connsiteX2" fmla="*/ 2809455 w 3142829"/>
                  <a:gd name="connsiteY2" fmla="*/ 611635 h 3422732"/>
                  <a:gd name="connsiteX3" fmla="*/ 3142830 w 3142829"/>
                  <a:gd name="connsiteY3" fmla="*/ 1189063 h 3422732"/>
                  <a:gd name="connsiteX4" fmla="*/ 3142830 w 3142829"/>
                  <a:gd name="connsiteY4" fmla="*/ 2233669 h 3422732"/>
                  <a:gd name="connsiteX5" fmla="*/ 2809455 w 3142829"/>
                  <a:gd name="connsiteY5" fmla="*/ 2811094 h 3422732"/>
                  <a:gd name="connsiteX6" fmla="*/ 1904789 w 3142829"/>
                  <a:gd name="connsiteY6" fmla="*/ 3333407 h 3422732"/>
                  <a:gd name="connsiteX7" fmla="*/ 1238039 w 3142829"/>
                  <a:gd name="connsiteY7" fmla="*/ 3333407 h 3422732"/>
                  <a:gd name="connsiteX8" fmla="*/ 333375 w 3142829"/>
                  <a:gd name="connsiteY8" fmla="*/ 2811094 h 3422732"/>
                  <a:gd name="connsiteX9" fmla="*/ 0 w 3142829"/>
                  <a:gd name="connsiteY9" fmla="*/ 2233669 h 3422732"/>
                  <a:gd name="connsiteX10" fmla="*/ 0 w 3142829"/>
                  <a:gd name="connsiteY10" fmla="*/ 1189063 h 3422732"/>
                  <a:gd name="connsiteX11" fmla="*/ 333375 w 3142829"/>
                  <a:gd name="connsiteY11" fmla="*/ 611635 h 3422732"/>
                  <a:gd name="connsiteX12" fmla="*/ 1238039 w 3142829"/>
                  <a:gd name="connsiteY12" fmla="*/ 89328 h 3422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2829" h="3422732">
                    <a:moveTo>
                      <a:pt x="1238039" y="89328"/>
                    </a:moveTo>
                    <a:cubicBezTo>
                      <a:pt x="1444332" y="-29776"/>
                      <a:pt x="1698497" y="-29776"/>
                      <a:pt x="1904789" y="89328"/>
                    </a:cubicBezTo>
                    <a:lnTo>
                      <a:pt x="2809455" y="611635"/>
                    </a:lnTo>
                    <a:cubicBezTo>
                      <a:pt x="3015747" y="730738"/>
                      <a:pt x="3142830" y="950852"/>
                      <a:pt x="3142830" y="1189063"/>
                    </a:cubicBezTo>
                    <a:lnTo>
                      <a:pt x="3142830" y="2233669"/>
                    </a:lnTo>
                    <a:cubicBezTo>
                      <a:pt x="3142830" y="2471880"/>
                      <a:pt x="3015747" y="2691993"/>
                      <a:pt x="2809455" y="2811094"/>
                    </a:cubicBezTo>
                    <a:lnTo>
                      <a:pt x="1904789" y="3333407"/>
                    </a:lnTo>
                    <a:cubicBezTo>
                      <a:pt x="1698497" y="3452507"/>
                      <a:pt x="1444332" y="3452507"/>
                      <a:pt x="1238039" y="3333407"/>
                    </a:cubicBezTo>
                    <a:lnTo>
                      <a:pt x="333375" y="2811094"/>
                    </a:lnTo>
                    <a:cubicBezTo>
                      <a:pt x="127082" y="2691993"/>
                      <a:pt x="0" y="2471880"/>
                      <a:pt x="0" y="2233669"/>
                    </a:cubicBezTo>
                    <a:lnTo>
                      <a:pt x="0" y="1189063"/>
                    </a:lnTo>
                    <a:cubicBezTo>
                      <a:pt x="0" y="950852"/>
                      <a:pt x="127082" y="730738"/>
                      <a:pt x="333375" y="611635"/>
                    </a:cubicBezTo>
                    <a:lnTo>
                      <a:pt x="1238039" y="89328"/>
                    </a:lnTo>
                    <a:close/>
                  </a:path>
                </a:pathLst>
              </a:custGeom>
              <a:noFill/>
              <a:ln w="28575" cap="rnd">
                <a:solidFill>
                  <a:schemeClr val="accent1"/>
                </a:solidFill>
                <a:prstDash val="sysDot"/>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a:ln>
                    <a:noFill/>
                  </a:ln>
                  <a:solidFill>
                    <a:prstClr val="white"/>
                  </a:solidFill>
                  <a:effectLst/>
                  <a:uLnTx/>
                  <a:uFillTx/>
                  <a:latin typeface="+mn-ea"/>
                  <a:cs typeface="+mn-cs"/>
                </a:endParaRPr>
              </a:p>
            </p:txBody>
          </p:sp>
        </p:grpSp>
        <p:sp>
          <p:nvSpPr>
            <p:cNvPr id="7" name="六边形 6">
              <a:extLst>
                <a:ext uri="{FF2B5EF4-FFF2-40B4-BE49-F238E27FC236}">
                  <a16:creationId xmlns:a16="http://schemas.microsoft.com/office/drawing/2014/main" id="{CD3E46CF-9037-A828-4140-FCF1A76B6652}"/>
                </a:ext>
              </a:extLst>
            </p:cNvPr>
            <p:cNvSpPr/>
            <p:nvPr/>
          </p:nvSpPr>
          <p:spPr>
            <a:xfrm>
              <a:off x="926921" y="4222473"/>
              <a:ext cx="1646598" cy="1419480"/>
            </a:xfrm>
            <a:prstGeom prst="hexagon">
              <a:avLst/>
            </a:prstGeom>
            <a:solidFill>
              <a:sysClr val="window" lastClr="FFFFFF"/>
            </a:solidFill>
            <a:ln w="47625" cap="flat" cmpd="sng" algn="ctr">
              <a:gradFill>
                <a:gsLst>
                  <a:gs pos="0">
                    <a:schemeClr val="accent2"/>
                  </a:gs>
                  <a:gs pos="71000">
                    <a:schemeClr val="accent2"/>
                  </a:gs>
                  <a:gs pos="38000">
                    <a:schemeClr val="accent1"/>
                  </a:gs>
                  <a:gs pos="100000">
                    <a:schemeClr val="accent1"/>
                  </a:gs>
                </a:gsLst>
                <a:lin ang="5400000" scaled="1"/>
              </a:gradFill>
              <a:prstDash val="solid"/>
              <a:miter lim="800000"/>
            </a:ln>
            <a:effectLst>
              <a:outerShdw blurRad="190500" dist="114300" dir="5400000" algn="ctr" rotWithShape="0">
                <a:prstClr val="black">
                  <a:alpha val="1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2000" dirty="0">
                  <a:solidFill>
                    <a:schemeClr val="accent5">
                      <a:lumMod val="50000"/>
                    </a:schemeClr>
                  </a:solidFill>
                  <a:latin typeface="+mn-ea"/>
                </a:rPr>
                <a:t>Client</a:t>
              </a:r>
            </a:p>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000" dirty="0">
                  <a:solidFill>
                    <a:schemeClr val="accent5">
                      <a:lumMod val="50000"/>
                    </a:schemeClr>
                  </a:solidFill>
                  <a:latin typeface="+mn-ea"/>
                </a:rPr>
                <a:t>客户端</a:t>
              </a:r>
            </a:p>
          </p:txBody>
        </p:sp>
      </p:grpSp>
      <p:sp>
        <p:nvSpPr>
          <p:cNvPr id="12" name="文本框 11">
            <a:extLst>
              <a:ext uri="{FF2B5EF4-FFF2-40B4-BE49-F238E27FC236}">
                <a16:creationId xmlns:a16="http://schemas.microsoft.com/office/drawing/2014/main" id="{78671BAE-23A2-6912-A01E-707A29FEFC5F}"/>
              </a:ext>
            </a:extLst>
          </p:cNvPr>
          <p:cNvSpPr txBox="1"/>
          <p:nvPr/>
        </p:nvSpPr>
        <p:spPr>
          <a:xfrm>
            <a:off x="2492837" y="3647205"/>
            <a:ext cx="230063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solidFill>
                  <a:schemeClr val="tx2">
                    <a:lumMod val="50000"/>
                  </a:schemeClr>
                </a:solidFill>
                <a:latin typeface="+mn-ea"/>
              </a:rPr>
              <a:t>需要程序员开发客户端软件</a:t>
            </a:r>
            <a:endParaRPr kumimoji="0" lang="en-US" sz="1400" b="0" i="0" u="none" strike="noStrike" kern="1200" cap="none" spc="0" normalizeH="0" baseline="0" noProof="0" dirty="0">
              <a:ln>
                <a:noFill/>
              </a:ln>
              <a:solidFill>
                <a:schemeClr val="tx2">
                  <a:lumMod val="50000"/>
                </a:schemeClr>
              </a:solidFill>
              <a:effectLst/>
              <a:uLnTx/>
              <a:uFillTx/>
              <a:latin typeface="+mn-ea"/>
            </a:endParaRPr>
          </a:p>
        </p:txBody>
      </p:sp>
      <p:sp>
        <p:nvSpPr>
          <p:cNvPr id="13" name="文本框 12">
            <a:extLst>
              <a:ext uri="{FF2B5EF4-FFF2-40B4-BE49-F238E27FC236}">
                <a16:creationId xmlns:a16="http://schemas.microsoft.com/office/drawing/2014/main" id="{641E3C10-66A7-4898-F7F1-F6969B235744}"/>
              </a:ext>
            </a:extLst>
          </p:cNvPr>
          <p:cNvSpPr txBox="1"/>
          <p:nvPr/>
        </p:nvSpPr>
        <p:spPr>
          <a:xfrm>
            <a:off x="2505860" y="4190687"/>
            <a:ext cx="247696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solidFill>
                  <a:schemeClr val="tx2">
                    <a:lumMod val="50000"/>
                  </a:schemeClr>
                </a:solidFill>
                <a:latin typeface="+mn-ea"/>
              </a:rPr>
              <a:t>需要用户下载安装客户端软件</a:t>
            </a:r>
            <a:endParaRPr kumimoji="0" lang="en-US" sz="1400" b="0" i="0" u="none" strike="noStrike" kern="1200" cap="none" spc="0" normalizeH="0" baseline="0" noProof="0" dirty="0">
              <a:ln>
                <a:noFill/>
              </a:ln>
              <a:solidFill>
                <a:schemeClr val="tx2">
                  <a:lumMod val="50000"/>
                </a:schemeClr>
              </a:solidFill>
              <a:effectLst/>
              <a:uLnTx/>
              <a:uFillTx/>
              <a:latin typeface="+mn-ea"/>
            </a:endParaRPr>
          </a:p>
        </p:txBody>
      </p:sp>
      <p:grpSp>
        <p:nvGrpSpPr>
          <p:cNvPr id="23" name="组合 22">
            <a:extLst>
              <a:ext uri="{FF2B5EF4-FFF2-40B4-BE49-F238E27FC236}">
                <a16:creationId xmlns:a16="http://schemas.microsoft.com/office/drawing/2014/main" id="{DD031C3D-04EB-DD28-A22D-0EA186EBF58D}"/>
              </a:ext>
            </a:extLst>
          </p:cNvPr>
          <p:cNvGrpSpPr/>
          <p:nvPr/>
        </p:nvGrpSpPr>
        <p:grpSpPr>
          <a:xfrm>
            <a:off x="6829344" y="2585055"/>
            <a:ext cx="4355053" cy="3006426"/>
            <a:chOff x="6910026" y="3429000"/>
            <a:chExt cx="4355053" cy="3006426"/>
          </a:xfrm>
        </p:grpSpPr>
        <p:grpSp>
          <p:nvGrpSpPr>
            <p:cNvPr id="16" name="组合 15">
              <a:extLst>
                <a:ext uri="{FF2B5EF4-FFF2-40B4-BE49-F238E27FC236}">
                  <a16:creationId xmlns:a16="http://schemas.microsoft.com/office/drawing/2014/main" id="{590628F7-34F9-2FA4-D6E7-282044DFAECC}"/>
                </a:ext>
              </a:extLst>
            </p:cNvPr>
            <p:cNvGrpSpPr/>
            <p:nvPr/>
          </p:nvGrpSpPr>
          <p:grpSpPr>
            <a:xfrm>
              <a:off x="6910026" y="3429000"/>
              <a:ext cx="3195233" cy="3006426"/>
              <a:chOff x="3639391" y="961307"/>
              <a:chExt cx="4728816" cy="5181012"/>
            </a:xfrm>
          </p:grpSpPr>
          <p:sp>
            <p:nvSpPr>
              <p:cNvPr id="18" name="Graphic 18">
                <a:extLst>
                  <a:ext uri="{FF2B5EF4-FFF2-40B4-BE49-F238E27FC236}">
                    <a16:creationId xmlns:a16="http://schemas.microsoft.com/office/drawing/2014/main" id="{5AE0CDD2-9A02-73F5-437D-4045C3EB8DBB}"/>
                  </a:ext>
                </a:extLst>
              </p:cNvPr>
              <p:cNvSpPr/>
              <p:nvPr/>
            </p:nvSpPr>
            <p:spPr>
              <a:xfrm>
                <a:off x="3823792" y="1193186"/>
                <a:ext cx="4544415" cy="4949133"/>
              </a:xfrm>
              <a:custGeom>
                <a:avLst/>
                <a:gdLst>
                  <a:gd name="connsiteX0" fmla="*/ 1238039 w 3142829"/>
                  <a:gd name="connsiteY0" fmla="*/ 89328 h 3422732"/>
                  <a:gd name="connsiteX1" fmla="*/ 1904789 w 3142829"/>
                  <a:gd name="connsiteY1" fmla="*/ 89328 h 3422732"/>
                  <a:gd name="connsiteX2" fmla="*/ 2809455 w 3142829"/>
                  <a:gd name="connsiteY2" fmla="*/ 611635 h 3422732"/>
                  <a:gd name="connsiteX3" fmla="*/ 3142830 w 3142829"/>
                  <a:gd name="connsiteY3" fmla="*/ 1189063 h 3422732"/>
                  <a:gd name="connsiteX4" fmla="*/ 3142830 w 3142829"/>
                  <a:gd name="connsiteY4" fmla="*/ 2233669 h 3422732"/>
                  <a:gd name="connsiteX5" fmla="*/ 2809455 w 3142829"/>
                  <a:gd name="connsiteY5" fmla="*/ 2811094 h 3422732"/>
                  <a:gd name="connsiteX6" fmla="*/ 1904789 w 3142829"/>
                  <a:gd name="connsiteY6" fmla="*/ 3333407 h 3422732"/>
                  <a:gd name="connsiteX7" fmla="*/ 1238039 w 3142829"/>
                  <a:gd name="connsiteY7" fmla="*/ 3333407 h 3422732"/>
                  <a:gd name="connsiteX8" fmla="*/ 333375 w 3142829"/>
                  <a:gd name="connsiteY8" fmla="*/ 2811094 h 3422732"/>
                  <a:gd name="connsiteX9" fmla="*/ 0 w 3142829"/>
                  <a:gd name="connsiteY9" fmla="*/ 2233669 h 3422732"/>
                  <a:gd name="connsiteX10" fmla="*/ 0 w 3142829"/>
                  <a:gd name="connsiteY10" fmla="*/ 1189063 h 3422732"/>
                  <a:gd name="connsiteX11" fmla="*/ 333375 w 3142829"/>
                  <a:gd name="connsiteY11" fmla="*/ 611635 h 3422732"/>
                  <a:gd name="connsiteX12" fmla="*/ 1238039 w 3142829"/>
                  <a:gd name="connsiteY12" fmla="*/ 89328 h 3422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2829" h="3422732">
                    <a:moveTo>
                      <a:pt x="1238039" y="89328"/>
                    </a:moveTo>
                    <a:cubicBezTo>
                      <a:pt x="1444332" y="-29776"/>
                      <a:pt x="1698497" y="-29776"/>
                      <a:pt x="1904789" y="89328"/>
                    </a:cubicBezTo>
                    <a:lnTo>
                      <a:pt x="2809455" y="611635"/>
                    </a:lnTo>
                    <a:cubicBezTo>
                      <a:pt x="3015747" y="730738"/>
                      <a:pt x="3142830" y="950852"/>
                      <a:pt x="3142830" y="1189063"/>
                    </a:cubicBezTo>
                    <a:lnTo>
                      <a:pt x="3142830" y="2233669"/>
                    </a:lnTo>
                    <a:cubicBezTo>
                      <a:pt x="3142830" y="2471880"/>
                      <a:pt x="3015747" y="2691993"/>
                      <a:pt x="2809455" y="2811094"/>
                    </a:cubicBezTo>
                    <a:lnTo>
                      <a:pt x="1904789" y="3333407"/>
                    </a:lnTo>
                    <a:cubicBezTo>
                      <a:pt x="1698497" y="3452507"/>
                      <a:pt x="1444332" y="3452507"/>
                      <a:pt x="1238039" y="3333407"/>
                    </a:cubicBezTo>
                    <a:lnTo>
                      <a:pt x="333375" y="2811094"/>
                    </a:lnTo>
                    <a:cubicBezTo>
                      <a:pt x="127082" y="2691993"/>
                      <a:pt x="0" y="2471880"/>
                      <a:pt x="0" y="2233669"/>
                    </a:cubicBezTo>
                    <a:lnTo>
                      <a:pt x="0" y="1189063"/>
                    </a:lnTo>
                    <a:cubicBezTo>
                      <a:pt x="0" y="950852"/>
                      <a:pt x="127082" y="730738"/>
                      <a:pt x="333375" y="611635"/>
                    </a:cubicBezTo>
                    <a:lnTo>
                      <a:pt x="1238039" y="89328"/>
                    </a:lnTo>
                    <a:close/>
                  </a:path>
                </a:pathLst>
              </a:custGeom>
              <a:noFill/>
              <a:ln w="28575" cap="rnd">
                <a:solidFill>
                  <a:schemeClr val="bg1"/>
                </a:solidFill>
                <a:prstDash val="sysDot"/>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a:ln>
                    <a:noFill/>
                  </a:ln>
                  <a:solidFill>
                    <a:prstClr val="white"/>
                  </a:solidFill>
                  <a:effectLst/>
                  <a:uLnTx/>
                  <a:uFillTx/>
                  <a:latin typeface="+mn-ea"/>
                  <a:cs typeface="+mn-cs"/>
                </a:endParaRPr>
              </a:p>
            </p:txBody>
          </p:sp>
          <p:sp>
            <p:nvSpPr>
              <p:cNvPr id="19" name="Graphic 18">
                <a:extLst>
                  <a:ext uri="{FF2B5EF4-FFF2-40B4-BE49-F238E27FC236}">
                    <a16:creationId xmlns:a16="http://schemas.microsoft.com/office/drawing/2014/main" id="{0FB039E1-C5E2-7215-3D95-AEA6B27E5929}"/>
                  </a:ext>
                </a:extLst>
              </p:cNvPr>
              <p:cNvSpPr/>
              <p:nvPr/>
            </p:nvSpPr>
            <p:spPr>
              <a:xfrm>
                <a:off x="3639391" y="961307"/>
                <a:ext cx="4585100" cy="4993442"/>
              </a:xfrm>
              <a:custGeom>
                <a:avLst/>
                <a:gdLst>
                  <a:gd name="connsiteX0" fmla="*/ 1238039 w 3142829"/>
                  <a:gd name="connsiteY0" fmla="*/ 89328 h 3422732"/>
                  <a:gd name="connsiteX1" fmla="*/ 1904789 w 3142829"/>
                  <a:gd name="connsiteY1" fmla="*/ 89328 h 3422732"/>
                  <a:gd name="connsiteX2" fmla="*/ 2809455 w 3142829"/>
                  <a:gd name="connsiteY2" fmla="*/ 611635 h 3422732"/>
                  <a:gd name="connsiteX3" fmla="*/ 3142830 w 3142829"/>
                  <a:gd name="connsiteY3" fmla="*/ 1189063 h 3422732"/>
                  <a:gd name="connsiteX4" fmla="*/ 3142830 w 3142829"/>
                  <a:gd name="connsiteY4" fmla="*/ 2233669 h 3422732"/>
                  <a:gd name="connsiteX5" fmla="*/ 2809455 w 3142829"/>
                  <a:gd name="connsiteY5" fmla="*/ 2811094 h 3422732"/>
                  <a:gd name="connsiteX6" fmla="*/ 1904789 w 3142829"/>
                  <a:gd name="connsiteY6" fmla="*/ 3333407 h 3422732"/>
                  <a:gd name="connsiteX7" fmla="*/ 1238039 w 3142829"/>
                  <a:gd name="connsiteY7" fmla="*/ 3333407 h 3422732"/>
                  <a:gd name="connsiteX8" fmla="*/ 333375 w 3142829"/>
                  <a:gd name="connsiteY8" fmla="*/ 2811094 h 3422732"/>
                  <a:gd name="connsiteX9" fmla="*/ 0 w 3142829"/>
                  <a:gd name="connsiteY9" fmla="*/ 2233669 h 3422732"/>
                  <a:gd name="connsiteX10" fmla="*/ 0 w 3142829"/>
                  <a:gd name="connsiteY10" fmla="*/ 1189063 h 3422732"/>
                  <a:gd name="connsiteX11" fmla="*/ 333375 w 3142829"/>
                  <a:gd name="connsiteY11" fmla="*/ 611635 h 3422732"/>
                  <a:gd name="connsiteX12" fmla="*/ 1238039 w 3142829"/>
                  <a:gd name="connsiteY12" fmla="*/ 89328 h 3422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2829" h="3422732">
                    <a:moveTo>
                      <a:pt x="1238039" y="89328"/>
                    </a:moveTo>
                    <a:cubicBezTo>
                      <a:pt x="1444332" y="-29776"/>
                      <a:pt x="1698497" y="-29776"/>
                      <a:pt x="1904789" y="89328"/>
                    </a:cubicBezTo>
                    <a:lnTo>
                      <a:pt x="2809455" y="611635"/>
                    </a:lnTo>
                    <a:cubicBezTo>
                      <a:pt x="3015747" y="730738"/>
                      <a:pt x="3142830" y="950852"/>
                      <a:pt x="3142830" y="1189063"/>
                    </a:cubicBezTo>
                    <a:lnTo>
                      <a:pt x="3142830" y="2233669"/>
                    </a:lnTo>
                    <a:cubicBezTo>
                      <a:pt x="3142830" y="2471880"/>
                      <a:pt x="3015747" y="2691993"/>
                      <a:pt x="2809455" y="2811094"/>
                    </a:cubicBezTo>
                    <a:lnTo>
                      <a:pt x="1904789" y="3333407"/>
                    </a:lnTo>
                    <a:cubicBezTo>
                      <a:pt x="1698497" y="3452507"/>
                      <a:pt x="1444332" y="3452507"/>
                      <a:pt x="1238039" y="3333407"/>
                    </a:cubicBezTo>
                    <a:lnTo>
                      <a:pt x="333375" y="2811094"/>
                    </a:lnTo>
                    <a:cubicBezTo>
                      <a:pt x="127082" y="2691993"/>
                      <a:pt x="0" y="2471880"/>
                      <a:pt x="0" y="2233669"/>
                    </a:cubicBezTo>
                    <a:lnTo>
                      <a:pt x="0" y="1189063"/>
                    </a:lnTo>
                    <a:cubicBezTo>
                      <a:pt x="0" y="950852"/>
                      <a:pt x="127082" y="730738"/>
                      <a:pt x="333375" y="611635"/>
                    </a:cubicBezTo>
                    <a:lnTo>
                      <a:pt x="1238039" y="89328"/>
                    </a:lnTo>
                    <a:close/>
                  </a:path>
                </a:pathLst>
              </a:custGeom>
              <a:solidFill>
                <a:srgbClr val="FAFAFA"/>
              </a:solidFill>
              <a:ln w="19050">
                <a:solidFill>
                  <a:schemeClr val="bg1"/>
                </a:solidFill>
              </a:ln>
              <a:effectLst>
                <a:outerShdw blurRad="330200" dist="292100" dir="5400000" sx="97000" sy="97000" algn="t" rotWithShape="0">
                  <a:schemeClr val="accent1">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a:ln>
                    <a:noFill/>
                  </a:ln>
                  <a:solidFill>
                    <a:prstClr val="white"/>
                  </a:solidFill>
                  <a:effectLst/>
                  <a:uLnTx/>
                  <a:uFillTx/>
                  <a:latin typeface="+mn-ea"/>
                  <a:cs typeface="+mn-cs"/>
                </a:endParaRPr>
              </a:p>
            </p:txBody>
          </p:sp>
          <p:sp>
            <p:nvSpPr>
              <p:cNvPr id="20" name="Graphic 18">
                <a:extLst>
                  <a:ext uri="{FF2B5EF4-FFF2-40B4-BE49-F238E27FC236}">
                    <a16:creationId xmlns:a16="http://schemas.microsoft.com/office/drawing/2014/main" id="{BF61F5ED-7DA6-1684-0DCE-8CFB579F0D0F}"/>
                  </a:ext>
                </a:extLst>
              </p:cNvPr>
              <p:cNvSpPr/>
              <p:nvPr/>
            </p:nvSpPr>
            <p:spPr>
              <a:xfrm>
                <a:off x="3639391" y="1002119"/>
                <a:ext cx="4585100" cy="4949133"/>
              </a:xfrm>
              <a:custGeom>
                <a:avLst/>
                <a:gdLst>
                  <a:gd name="connsiteX0" fmla="*/ 1238039 w 3142829"/>
                  <a:gd name="connsiteY0" fmla="*/ 89328 h 3422732"/>
                  <a:gd name="connsiteX1" fmla="*/ 1904789 w 3142829"/>
                  <a:gd name="connsiteY1" fmla="*/ 89328 h 3422732"/>
                  <a:gd name="connsiteX2" fmla="*/ 2809455 w 3142829"/>
                  <a:gd name="connsiteY2" fmla="*/ 611635 h 3422732"/>
                  <a:gd name="connsiteX3" fmla="*/ 3142830 w 3142829"/>
                  <a:gd name="connsiteY3" fmla="*/ 1189063 h 3422732"/>
                  <a:gd name="connsiteX4" fmla="*/ 3142830 w 3142829"/>
                  <a:gd name="connsiteY4" fmla="*/ 2233669 h 3422732"/>
                  <a:gd name="connsiteX5" fmla="*/ 2809455 w 3142829"/>
                  <a:gd name="connsiteY5" fmla="*/ 2811094 h 3422732"/>
                  <a:gd name="connsiteX6" fmla="*/ 1904789 w 3142829"/>
                  <a:gd name="connsiteY6" fmla="*/ 3333407 h 3422732"/>
                  <a:gd name="connsiteX7" fmla="*/ 1238039 w 3142829"/>
                  <a:gd name="connsiteY7" fmla="*/ 3333407 h 3422732"/>
                  <a:gd name="connsiteX8" fmla="*/ 333375 w 3142829"/>
                  <a:gd name="connsiteY8" fmla="*/ 2811094 h 3422732"/>
                  <a:gd name="connsiteX9" fmla="*/ 0 w 3142829"/>
                  <a:gd name="connsiteY9" fmla="*/ 2233669 h 3422732"/>
                  <a:gd name="connsiteX10" fmla="*/ 0 w 3142829"/>
                  <a:gd name="connsiteY10" fmla="*/ 1189063 h 3422732"/>
                  <a:gd name="connsiteX11" fmla="*/ 333375 w 3142829"/>
                  <a:gd name="connsiteY11" fmla="*/ 611635 h 3422732"/>
                  <a:gd name="connsiteX12" fmla="*/ 1238039 w 3142829"/>
                  <a:gd name="connsiteY12" fmla="*/ 89328 h 3422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2829" h="3422732">
                    <a:moveTo>
                      <a:pt x="1238039" y="89328"/>
                    </a:moveTo>
                    <a:cubicBezTo>
                      <a:pt x="1444332" y="-29776"/>
                      <a:pt x="1698497" y="-29776"/>
                      <a:pt x="1904789" y="89328"/>
                    </a:cubicBezTo>
                    <a:lnTo>
                      <a:pt x="2809455" y="611635"/>
                    </a:lnTo>
                    <a:cubicBezTo>
                      <a:pt x="3015747" y="730738"/>
                      <a:pt x="3142830" y="950852"/>
                      <a:pt x="3142830" y="1189063"/>
                    </a:cubicBezTo>
                    <a:lnTo>
                      <a:pt x="3142830" y="2233669"/>
                    </a:lnTo>
                    <a:cubicBezTo>
                      <a:pt x="3142830" y="2471880"/>
                      <a:pt x="3015747" y="2691993"/>
                      <a:pt x="2809455" y="2811094"/>
                    </a:cubicBezTo>
                    <a:lnTo>
                      <a:pt x="1904789" y="3333407"/>
                    </a:lnTo>
                    <a:cubicBezTo>
                      <a:pt x="1698497" y="3452507"/>
                      <a:pt x="1444332" y="3452507"/>
                      <a:pt x="1238039" y="3333407"/>
                    </a:cubicBezTo>
                    <a:lnTo>
                      <a:pt x="333375" y="2811094"/>
                    </a:lnTo>
                    <a:cubicBezTo>
                      <a:pt x="127082" y="2691993"/>
                      <a:pt x="0" y="2471880"/>
                      <a:pt x="0" y="2233669"/>
                    </a:cubicBezTo>
                    <a:lnTo>
                      <a:pt x="0" y="1189063"/>
                    </a:lnTo>
                    <a:cubicBezTo>
                      <a:pt x="0" y="950852"/>
                      <a:pt x="127082" y="730738"/>
                      <a:pt x="333375" y="611635"/>
                    </a:cubicBezTo>
                    <a:lnTo>
                      <a:pt x="1238039" y="89328"/>
                    </a:lnTo>
                    <a:close/>
                  </a:path>
                </a:pathLst>
              </a:custGeom>
              <a:noFill/>
              <a:ln w="28575" cap="rnd">
                <a:solidFill>
                  <a:schemeClr val="accent1"/>
                </a:solidFill>
                <a:prstDash val="sysDot"/>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a:ln>
                    <a:noFill/>
                  </a:ln>
                  <a:solidFill>
                    <a:prstClr val="white"/>
                  </a:solidFill>
                  <a:effectLst/>
                  <a:uLnTx/>
                  <a:uFillTx/>
                  <a:latin typeface="+mn-ea"/>
                  <a:cs typeface="+mn-cs"/>
                </a:endParaRPr>
              </a:p>
            </p:txBody>
          </p:sp>
        </p:grpSp>
        <p:sp>
          <p:nvSpPr>
            <p:cNvPr id="14" name="六边形 13">
              <a:extLst>
                <a:ext uri="{FF2B5EF4-FFF2-40B4-BE49-F238E27FC236}">
                  <a16:creationId xmlns:a16="http://schemas.microsoft.com/office/drawing/2014/main" id="{8F103771-FC57-F917-E1F3-0DB5C6B3E577}"/>
                </a:ext>
              </a:extLst>
            </p:cNvPr>
            <p:cNvSpPr/>
            <p:nvPr/>
          </p:nvSpPr>
          <p:spPr>
            <a:xfrm>
              <a:off x="9618481" y="4222471"/>
              <a:ext cx="1646598" cy="1419480"/>
            </a:xfrm>
            <a:prstGeom prst="hexagon">
              <a:avLst/>
            </a:prstGeom>
            <a:solidFill>
              <a:sysClr val="window" lastClr="FFFFFF"/>
            </a:solidFill>
            <a:ln w="47625" cap="flat" cmpd="sng" algn="ctr">
              <a:gradFill>
                <a:gsLst>
                  <a:gs pos="0">
                    <a:schemeClr val="accent2"/>
                  </a:gs>
                  <a:gs pos="71000">
                    <a:schemeClr val="accent2"/>
                  </a:gs>
                  <a:gs pos="38000">
                    <a:schemeClr val="accent1"/>
                  </a:gs>
                  <a:gs pos="100000">
                    <a:schemeClr val="accent1"/>
                  </a:gs>
                </a:gsLst>
                <a:lin ang="5400000" scaled="1"/>
              </a:gradFill>
              <a:prstDash val="solid"/>
              <a:miter lim="800000"/>
            </a:ln>
            <a:effectLst>
              <a:outerShdw blurRad="190500" dist="114300" dir="5400000" algn="ctr" rotWithShape="0">
                <a:prstClr val="black">
                  <a:alpha val="1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2000" dirty="0">
                  <a:solidFill>
                    <a:schemeClr val="accent5">
                      <a:lumMod val="50000"/>
                    </a:schemeClr>
                  </a:solidFill>
                  <a:latin typeface="+mn-ea"/>
                </a:rPr>
                <a:t>Server</a:t>
              </a:r>
            </a:p>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000" dirty="0">
                  <a:solidFill>
                    <a:schemeClr val="accent5">
                      <a:lumMod val="50000"/>
                    </a:schemeClr>
                  </a:solidFill>
                  <a:latin typeface="+mn-ea"/>
                </a:rPr>
                <a:t>服务端</a:t>
              </a:r>
            </a:p>
          </p:txBody>
        </p:sp>
      </p:grpSp>
      <p:sp>
        <p:nvSpPr>
          <p:cNvPr id="21" name="文本框 20">
            <a:extLst>
              <a:ext uri="{FF2B5EF4-FFF2-40B4-BE49-F238E27FC236}">
                <a16:creationId xmlns:a16="http://schemas.microsoft.com/office/drawing/2014/main" id="{35BB2905-5B4B-8C27-14ED-749F6DBBE8E4}"/>
              </a:ext>
            </a:extLst>
          </p:cNvPr>
          <p:cNvSpPr txBox="1"/>
          <p:nvPr/>
        </p:nvSpPr>
        <p:spPr>
          <a:xfrm>
            <a:off x="7085961" y="3890784"/>
            <a:ext cx="230063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solidFill>
                  <a:schemeClr val="tx2">
                    <a:lumMod val="50000"/>
                  </a:schemeClr>
                </a:solidFill>
                <a:latin typeface="+mn-ea"/>
              </a:rPr>
              <a:t>需要程序员开发服务端程序</a:t>
            </a:r>
            <a:endParaRPr kumimoji="0" lang="en-US" sz="1400" b="0" i="0" u="none" strike="noStrike" kern="1200" cap="none" spc="0" normalizeH="0" baseline="0" noProof="0" dirty="0">
              <a:ln>
                <a:noFill/>
              </a:ln>
              <a:solidFill>
                <a:schemeClr val="tx2">
                  <a:lumMod val="50000"/>
                </a:schemeClr>
              </a:solidFill>
              <a:effectLst/>
              <a:uLnTx/>
              <a:uFillTx/>
              <a:latin typeface="+mn-ea"/>
            </a:endParaRPr>
          </a:p>
        </p:txBody>
      </p:sp>
      <p:sp>
        <p:nvSpPr>
          <p:cNvPr id="24" name="箭头: 右 23">
            <a:extLst>
              <a:ext uri="{FF2B5EF4-FFF2-40B4-BE49-F238E27FC236}">
                <a16:creationId xmlns:a16="http://schemas.microsoft.com/office/drawing/2014/main" id="{D4C6E08A-38DC-27DF-61A3-BAFCEE0B4039}"/>
              </a:ext>
            </a:extLst>
          </p:cNvPr>
          <p:cNvSpPr/>
          <p:nvPr/>
        </p:nvSpPr>
        <p:spPr>
          <a:xfrm>
            <a:off x="5201292" y="3731036"/>
            <a:ext cx="1628051" cy="297836"/>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endParaRPr lang="zh-CN" altLang="en-US" sz="1600">
              <a:latin typeface="+mn-ea"/>
              <a:cs typeface="阿里巴巴普惠体" panose="00020600040101010101" pitchFamily="18" charset="-122"/>
            </a:endParaRPr>
          </a:p>
        </p:txBody>
      </p:sp>
      <p:sp>
        <p:nvSpPr>
          <p:cNvPr id="25" name="箭头: 右 24">
            <a:extLst>
              <a:ext uri="{FF2B5EF4-FFF2-40B4-BE49-F238E27FC236}">
                <a16:creationId xmlns:a16="http://schemas.microsoft.com/office/drawing/2014/main" id="{69CF5CFF-8F72-7458-FDBB-F67E2EF94F1F}"/>
              </a:ext>
            </a:extLst>
          </p:cNvPr>
          <p:cNvSpPr/>
          <p:nvPr/>
        </p:nvSpPr>
        <p:spPr>
          <a:xfrm flipH="1">
            <a:off x="5214317" y="4130720"/>
            <a:ext cx="1608516" cy="313249"/>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endParaRPr lang="zh-CN" altLang="en-US" sz="1600">
              <a:latin typeface="+mn-ea"/>
              <a:cs typeface="阿里巴巴普惠体" panose="00020600040101010101" pitchFamily="18" charset="-122"/>
            </a:endParaRPr>
          </a:p>
        </p:txBody>
      </p:sp>
    </p:spTree>
    <p:extLst>
      <p:ext uri="{BB962C8B-B14F-4D97-AF65-F5344CB8AC3E}">
        <p14:creationId xmlns:p14="http://schemas.microsoft.com/office/powerpoint/2010/main" val="29416790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35" presetClass="path" presetSubtype="0" decel="100000" fill="hold" nodeType="withEffect">
                                  <p:stCondLst>
                                    <p:cond delay="0"/>
                                  </p:stCondLst>
                                  <p:childTnLst>
                                    <p:animMotion origin="layout" path="M 8.33333E-7 2.96296E-6 L -0.25 2.96296E-6 " pathEditMode="relative" rAng="0" ptsTypes="AA">
                                      <p:cBhvr>
                                        <p:cTn id="9" dur="1000" spd="-100000" fill="hold"/>
                                        <p:tgtEl>
                                          <p:spTgt spid="22"/>
                                        </p:tgtEl>
                                        <p:attrNameLst>
                                          <p:attrName>ppt_x</p:attrName>
                                          <p:attrName>ppt_y</p:attrName>
                                        </p:attrNameLst>
                                      </p:cBhvr>
                                      <p:rCtr x="-12500" y="0"/>
                                    </p:animMotion>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left)">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childTnLst>
                                </p:cTn>
                              </p:par>
                              <p:par>
                                <p:cTn id="25" presetID="63" presetClass="path" presetSubtype="0" decel="100000" fill="hold" nodeType="withEffect">
                                  <p:stCondLst>
                                    <p:cond delay="0"/>
                                  </p:stCondLst>
                                  <p:childTnLst>
                                    <p:animMotion origin="layout" path="M 0 0 L 0.25 0 E" pathEditMode="relative" ptsTypes="">
                                      <p:cBhvr>
                                        <p:cTn id="26" dur="1000" spd="-100000" fill="hold"/>
                                        <p:tgtEl>
                                          <p:spTgt spid="23"/>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left)">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wipe(left)">
                                      <p:cBhvr>
                                        <p:cTn id="36" dur="500"/>
                                        <p:tgtEl>
                                          <p:spTgt spid="2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2"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wipe(right)">
                                      <p:cBhvr>
                                        <p:cTn id="4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21" grpId="0"/>
      <p:bldP spid="24" grpId="0" animBg="1"/>
      <p:bldP spid="2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61068EA-C4D0-9B70-D84C-3B6661CC9A3E}"/>
              </a:ext>
            </a:extLst>
          </p:cNvPr>
          <p:cNvSpPr>
            <a:spLocks noGrp="1"/>
          </p:cNvSpPr>
          <p:nvPr>
            <p:ph idx="1"/>
          </p:nvPr>
        </p:nvSpPr>
        <p:spPr/>
        <p:txBody>
          <a:bodyPr/>
          <a:lstStyle/>
          <a:p>
            <a:pPr marL="285750" indent="-285750">
              <a:buFont typeface="Wingdings" panose="05000000000000000000" pitchFamily="2" charset="2"/>
              <a:buChar char="l"/>
            </a:pPr>
            <a:r>
              <a:rPr lang="zh-CN" altLang="en-US" dirty="0">
                <a:latin typeface="+mn-ea"/>
              </a:rPr>
              <a:t>基本的通信架构有</a:t>
            </a:r>
            <a:r>
              <a:rPr lang="en-US" altLang="zh-CN" dirty="0">
                <a:latin typeface="+mn-ea"/>
              </a:rPr>
              <a:t>2</a:t>
            </a:r>
            <a:r>
              <a:rPr lang="zh-CN" altLang="en-US" dirty="0">
                <a:latin typeface="+mn-ea"/>
              </a:rPr>
              <a:t>种形式：</a:t>
            </a:r>
            <a:r>
              <a:rPr lang="en-US" dirty="0">
                <a:latin typeface="+mn-ea"/>
              </a:rPr>
              <a:t>CS</a:t>
            </a:r>
            <a:r>
              <a:rPr lang="zh-CN" altLang="en-US" dirty="0">
                <a:latin typeface="+mn-ea"/>
              </a:rPr>
              <a:t>架构（ </a:t>
            </a:r>
            <a:r>
              <a:rPr lang="en-US" dirty="0">
                <a:latin typeface="+mn-ea"/>
              </a:rPr>
              <a:t>Client</a:t>
            </a:r>
            <a:r>
              <a:rPr lang="zh-CN" altLang="en-US" dirty="0">
                <a:latin typeface="+mn-ea"/>
              </a:rPr>
              <a:t>客户端</a:t>
            </a:r>
            <a:r>
              <a:rPr lang="en-US" altLang="zh-CN" dirty="0">
                <a:latin typeface="+mn-ea"/>
              </a:rPr>
              <a:t>/</a:t>
            </a:r>
            <a:r>
              <a:rPr lang="en-US" dirty="0">
                <a:latin typeface="+mn-ea"/>
              </a:rPr>
              <a:t>Server</a:t>
            </a:r>
            <a:r>
              <a:rPr lang="zh-CN" altLang="en-US" dirty="0">
                <a:latin typeface="+mn-ea"/>
              </a:rPr>
              <a:t>服务端 ） 、 </a:t>
            </a:r>
            <a:r>
              <a:rPr lang="en-US" dirty="0">
                <a:latin typeface="+mn-ea"/>
              </a:rPr>
              <a:t>BS</a:t>
            </a:r>
            <a:r>
              <a:rPr lang="zh-CN" altLang="en-US" dirty="0">
                <a:latin typeface="+mn-ea"/>
              </a:rPr>
              <a:t>架构</a:t>
            </a:r>
            <a:r>
              <a:rPr lang="en-US" altLang="zh-CN" dirty="0">
                <a:latin typeface="+mn-ea"/>
              </a:rPr>
              <a:t>(</a:t>
            </a:r>
            <a:r>
              <a:rPr lang="en-US" dirty="0">
                <a:latin typeface="+mn-ea"/>
              </a:rPr>
              <a:t>Browser</a:t>
            </a:r>
            <a:r>
              <a:rPr lang="zh-CN" altLang="en-US" dirty="0">
                <a:latin typeface="+mn-ea"/>
              </a:rPr>
              <a:t>浏览器</a:t>
            </a:r>
            <a:r>
              <a:rPr lang="en-US" altLang="zh-CN" dirty="0">
                <a:latin typeface="+mn-ea"/>
              </a:rPr>
              <a:t>/</a:t>
            </a:r>
            <a:r>
              <a:rPr lang="en-US" dirty="0">
                <a:latin typeface="+mn-ea"/>
              </a:rPr>
              <a:t>Server</a:t>
            </a:r>
            <a:r>
              <a:rPr lang="zh-CN" altLang="en-US" dirty="0">
                <a:latin typeface="+mn-ea"/>
              </a:rPr>
              <a:t>服务端</a:t>
            </a:r>
            <a:r>
              <a:rPr lang="en-US" altLang="zh-CN" dirty="0">
                <a:latin typeface="+mn-ea"/>
              </a:rPr>
              <a:t>)</a:t>
            </a:r>
            <a:r>
              <a:rPr lang="zh-CN" altLang="en-US" dirty="0">
                <a:latin typeface="+mn-ea"/>
              </a:rPr>
              <a:t>。</a:t>
            </a:r>
          </a:p>
          <a:p>
            <a:pPr marL="0" indent="0">
              <a:buNone/>
            </a:pPr>
            <a:endParaRPr lang="en-US" dirty="0"/>
          </a:p>
        </p:txBody>
      </p:sp>
      <p:sp>
        <p:nvSpPr>
          <p:cNvPr id="3" name="标题 2">
            <a:extLst>
              <a:ext uri="{FF2B5EF4-FFF2-40B4-BE49-F238E27FC236}">
                <a16:creationId xmlns:a16="http://schemas.microsoft.com/office/drawing/2014/main" id="{E2ED57BD-DFF5-DF26-081A-95E8990434E0}"/>
              </a:ext>
            </a:extLst>
          </p:cNvPr>
          <p:cNvSpPr>
            <a:spLocks noGrp="1"/>
          </p:cNvSpPr>
          <p:nvPr>
            <p:ph type="title"/>
          </p:nvPr>
        </p:nvSpPr>
        <p:spPr/>
        <p:txBody>
          <a:bodyPr/>
          <a:lstStyle/>
          <a:p>
            <a:r>
              <a:rPr kumimoji="1" lang="zh-CN" altLang="en-US" dirty="0"/>
              <a:t>基本的通信架构</a:t>
            </a:r>
            <a:endParaRPr lang="en-US" dirty="0"/>
          </a:p>
        </p:txBody>
      </p:sp>
      <p:sp>
        <p:nvSpPr>
          <p:cNvPr id="4" name="文本框 3">
            <a:extLst>
              <a:ext uri="{FF2B5EF4-FFF2-40B4-BE49-F238E27FC236}">
                <a16:creationId xmlns:a16="http://schemas.microsoft.com/office/drawing/2014/main" id="{01C5AC8D-CC4E-027F-BFE3-46B2B2CF2CA1}"/>
              </a:ext>
            </a:extLst>
          </p:cNvPr>
          <p:cNvSpPr txBox="1"/>
          <p:nvPr/>
        </p:nvSpPr>
        <p:spPr>
          <a:xfrm>
            <a:off x="576196" y="1916408"/>
            <a:ext cx="3725700" cy="523220"/>
          </a:xfrm>
          <a:prstGeom prst="rect">
            <a:avLst/>
          </a:prstGeom>
        </p:spPr>
        <p:txBody>
          <a:bodyPr/>
          <a:lstStyle>
            <a:lvl1pPr>
              <a:lnSpc>
                <a:spcPct val="100000"/>
              </a:lnSpc>
              <a:spcBef>
                <a:spcPct val="0"/>
              </a:spcBef>
              <a:buNone/>
              <a:defRPr kumimoji="1" lang="zh-CN" altLang="en-US" sz="2400" b="1">
                <a:solidFill>
                  <a:schemeClr val="accent1"/>
                </a:solidFill>
                <a:latin typeface="+mj-lt"/>
                <a:ea typeface="+mj-ea"/>
                <a:cs typeface="+mj-cs"/>
              </a:defRPr>
            </a:lvl1pPr>
          </a:lstStyle>
          <a:p>
            <a:r>
              <a:rPr lang="en-US" altLang="zh-CN" sz="1800" dirty="0"/>
              <a:t>Browser-Server(BS)</a:t>
            </a:r>
            <a:r>
              <a:rPr lang="zh-CN" altLang="en-US" sz="1800" dirty="0"/>
              <a:t>架构</a:t>
            </a:r>
            <a:endParaRPr lang="en-US" sz="1800" dirty="0"/>
          </a:p>
        </p:txBody>
      </p:sp>
      <p:pic>
        <p:nvPicPr>
          <p:cNvPr id="5" name="图片 4">
            <a:extLst>
              <a:ext uri="{FF2B5EF4-FFF2-40B4-BE49-F238E27FC236}">
                <a16:creationId xmlns:a16="http://schemas.microsoft.com/office/drawing/2014/main" id="{3D47040A-2A4A-A382-98F2-05D18DE1DC17}"/>
              </a:ext>
            </a:extLst>
          </p:cNvPr>
          <p:cNvPicPr>
            <a:picLocks noChangeAspect="1"/>
          </p:cNvPicPr>
          <p:nvPr/>
        </p:nvPicPr>
        <p:blipFill>
          <a:blip r:embed="rId2"/>
          <a:stretch>
            <a:fillRect/>
          </a:stretch>
        </p:blipFill>
        <p:spPr>
          <a:xfrm>
            <a:off x="710880" y="3908550"/>
            <a:ext cx="2041651" cy="1291043"/>
          </a:xfrm>
          <a:prstGeom prst="rect">
            <a:avLst/>
          </a:prstGeom>
        </p:spPr>
      </p:pic>
      <p:pic>
        <p:nvPicPr>
          <p:cNvPr id="10" name="图片 9">
            <a:extLst>
              <a:ext uri="{FF2B5EF4-FFF2-40B4-BE49-F238E27FC236}">
                <a16:creationId xmlns:a16="http://schemas.microsoft.com/office/drawing/2014/main" id="{53D92E7F-1A7C-FD64-BF11-080C8C8315F0}"/>
              </a:ext>
            </a:extLst>
          </p:cNvPr>
          <p:cNvPicPr>
            <a:picLocks noChangeAspect="1"/>
          </p:cNvPicPr>
          <p:nvPr/>
        </p:nvPicPr>
        <p:blipFill>
          <a:blip r:embed="rId3"/>
          <a:stretch>
            <a:fillRect/>
          </a:stretch>
        </p:blipFill>
        <p:spPr>
          <a:xfrm>
            <a:off x="2830310" y="2837882"/>
            <a:ext cx="5370411" cy="2958803"/>
          </a:xfrm>
          <a:prstGeom prst="rect">
            <a:avLst/>
          </a:prstGeom>
          <a:effectLst>
            <a:outerShdw blurRad="76200" dir="13500000" sy="23000" kx="1200000" algn="br" rotWithShape="0">
              <a:prstClr val="black">
                <a:alpha val="20000"/>
              </a:prstClr>
            </a:outerShdw>
          </a:effectLst>
        </p:spPr>
      </p:pic>
      <p:pic>
        <p:nvPicPr>
          <p:cNvPr id="15" name="图片 14">
            <a:extLst>
              <a:ext uri="{FF2B5EF4-FFF2-40B4-BE49-F238E27FC236}">
                <a16:creationId xmlns:a16="http://schemas.microsoft.com/office/drawing/2014/main" id="{A79211C6-E98F-FEFA-DD27-51C092F7F56E}"/>
              </a:ext>
            </a:extLst>
          </p:cNvPr>
          <p:cNvPicPr>
            <a:picLocks noChangeAspect="1"/>
          </p:cNvPicPr>
          <p:nvPr/>
        </p:nvPicPr>
        <p:blipFill>
          <a:blip r:embed="rId4"/>
          <a:stretch>
            <a:fillRect/>
          </a:stretch>
        </p:blipFill>
        <p:spPr>
          <a:xfrm>
            <a:off x="4270577" y="3266142"/>
            <a:ext cx="5745639" cy="3001286"/>
          </a:xfrm>
          <a:prstGeom prst="rect">
            <a:avLst/>
          </a:prstGeom>
          <a:effectLst>
            <a:outerShdw blurRad="76200" dir="13500000" sy="23000" kx="1200000" algn="br" rotWithShape="0">
              <a:prstClr val="black">
                <a:alpha val="20000"/>
              </a:prstClr>
            </a:outerShdw>
          </a:effectLst>
        </p:spPr>
      </p:pic>
      <p:pic>
        <p:nvPicPr>
          <p:cNvPr id="17" name="图片 16">
            <a:extLst>
              <a:ext uri="{FF2B5EF4-FFF2-40B4-BE49-F238E27FC236}">
                <a16:creationId xmlns:a16="http://schemas.microsoft.com/office/drawing/2014/main" id="{DD944997-53B5-F56A-139A-F86B16902A4E}"/>
              </a:ext>
            </a:extLst>
          </p:cNvPr>
          <p:cNvPicPr>
            <a:picLocks noChangeAspect="1"/>
          </p:cNvPicPr>
          <p:nvPr/>
        </p:nvPicPr>
        <p:blipFill>
          <a:blip r:embed="rId5"/>
          <a:stretch>
            <a:fillRect/>
          </a:stretch>
        </p:blipFill>
        <p:spPr>
          <a:xfrm>
            <a:off x="6086073" y="3545222"/>
            <a:ext cx="5472825" cy="2858780"/>
          </a:xfrm>
          <a:prstGeom prst="rect">
            <a:avLst/>
          </a:prstGeom>
          <a:effectLst>
            <a:outerShdw blurRad="76200" dir="13500000" sy="23000" kx="1200000" algn="br" rotWithShape="0">
              <a:prstClr val="black">
                <a:alpha val="20000"/>
              </a:prstClr>
            </a:outerShdw>
          </a:effectLst>
        </p:spPr>
      </p:pic>
    </p:spTree>
    <p:extLst>
      <p:ext uri="{BB962C8B-B14F-4D97-AF65-F5344CB8AC3E}">
        <p14:creationId xmlns:p14="http://schemas.microsoft.com/office/powerpoint/2010/main" val="145735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randombar(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randombar(horizont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randombar(horizontal)">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61068EA-C4D0-9B70-D84C-3B6661CC9A3E}"/>
              </a:ext>
            </a:extLst>
          </p:cNvPr>
          <p:cNvSpPr>
            <a:spLocks noGrp="1"/>
          </p:cNvSpPr>
          <p:nvPr>
            <p:ph idx="1"/>
          </p:nvPr>
        </p:nvSpPr>
        <p:spPr/>
        <p:txBody>
          <a:bodyPr/>
          <a:lstStyle/>
          <a:p>
            <a:pPr marL="285750" indent="-285750">
              <a:buFont typeface="Wingdings" panose="05000000000000000000" pitchFamily="2" charset="2"/>
              <a:buChar char="l"/>
            </a:pPr>
            <a:r>
              <a:rPr lang="zh-CN" altLang="en-US" dirty="0">
                <a:latin typeface="+mn-ea"/>
              </a:rPr>
              <a:t>基本的通信架构有</a:t>
            </a:r>
            <a:r>
              <a:rPr lang="en-US" altLang="zh-CN" dirty="0">
                <a:latin typeface="+mn-ea"/>
              </a:rPr>
              <a:t>2</a:t>
            </a:r>
            <a:r>
              <a:rPr lang="zh-CN" altLang="en-US" dirty="0">
                <a:latin typeface="+mn-ea"/>
              </a:rPr>
              <a:t>种形式：</a:t>
            </a:r>
            <a:r>
              <a:rPr lang="en-US" dirty="0">
                <a:latin typeface="+mn-ea"/>
              </a:rPr>
              <a:t>CS</a:t>
            </a:r>
            <a:r>
              <a:rPr lang="zh-CN" altLang="en-US" dirty="0">
                <a:latin typeface="+mn-ea"/>
              </a:rPr>
              <a:t>架构（ </a:t>
            </a:r>
            <a:r>
              <a:rPr lang="en-US" dirty="0">
                <a:latin typeface="+mn-ea"/>
              </a:rPr>
              <a:t>Client</a:t>
            </a:r>
            <a:r>
              <a:rPr lang="zh-CN" altLang="en-US" dirty="0">
                <a:latin typeface="+mn-ea"/>
              </a:rPr>
              <a:t>客户端</a:t>
            </a:r>
            <a:r>
              <a:rPr lang="en-US" altLang="zh-CN" dirty="0">
                <a:latin typeface="+mn-ea"/>
              </a:rPr>
              <a:t>/</a:t>
            </a:r>
            <a:r>
              <a:rPr lang="en-US" dirty="0">
                <a:latin typeface="+mn-ea"/>
              </a:rPr>
              <a:t>Server</a:t>
            </a:r>
            <a:r>
              <a:rPr lang="zh-CN" altLang="en-US" dirty="0">
                <a:latin typeface="+mn-ea"/>
              </a:rPr>
              <a:t>服务端 ） 、 </a:t>
            </a:r>
            <a:r>
              <a:rPr lang="en-US" dirty="0">
                <a:latin typeface="+mn-ea"/>
              </a:rPr>
              <a:t>BS</a:t>
            </a:r>
            <a:r>
              <a:rPr lang="zh-CN" altLang="en-US" dirty="0">
                <a:latin typeface="+mn-ea"/>
              </a:rPr>
              <a:t>架构</a:t>
            </a:r>
            <a:r>
              <a:rPr lang="en-US" altLang="zh-CN" dirty="0">
                <a:latin typeface="+mn-ea"/>
              </a:rPr>
              <a:t>(</a:t>
            </a:r>
            <a:r>
              <a:rPr lang="en-US" dirty="0">
                <a:latin typeface="+mn-ea"/>
              </a:rPr>
              <a:t>Browser</a:t>
            </a:r>
            <a:r>
              <a:rPr lang="zh-CN" altLang="en-US" dirty="0">
                <a:latin typeface="+mn-ea"/>
              </a:rPr>
              <a:t>浏览器</a:t>
            </a:r>
            <a:r>
              <a:rPr lang="en-US" altLang="zh-CN" dirty="0">
                <a:latin typeface="+mn-ea"/>
              </a:rPr>
              <a:t>/</a:t>
            </a:r>
            <a:r>
              <a:rPr lang="en-US" dirty="0">
                <a:latin typeface="+mn-ea"/>
              </a:rPr>
              <a:t>Server</a:t>
            </a:r>
            <a:r>
              <a:rPr lang="zh-CN" altLang="en-US" dirty="0">
                <a:latin typeface="+mn-ea"/>
              </a:rPr>
              <a:t>服务端</a:t>
            </a:r>
            <a:r>
              <a:rPr lang="en-US" altLang="zh-CN" dirty="0">
                <a:latin typeface="+mn-ea"/>
              </a:rPr>
              <a:t>)</a:t>
            </a:r>
            <a:r>
              <a:rPr lang="zh-CN" altLang="en-US" dirty="0">
                <a:latin typeface="+mn-ea"/>
              </a:rPr>
              <a:t>。</a:t>
            </a:r>
          </a:p>
          <a:p>
            <a:pPr marL="0" indent="0">
              <a:buNone/>
            </a:pPr>
            <a:endParaRPr lang="en-US" dirty="0"/>
          </a:p>
        </p:txBody>
      </p:sp>
      <p:sp>
        <p:nvSpPr>
          <p:cNvPr id="3" name="标题 2">
            <a:extLst>
              <a:ext uri="{FF2B5EF4-FFF2-40B4-BE49-F238E27FC236}">
                <a16:creationId xmlns:a16="http://schemas.microsoft.com/office/drawing/2014/main" id="{E2ED57BD-DFF5-DF26-081A-95E8990434E0}"/>
              </a:ext>
            </a:extLst>
          </p:cNvPr>
          <p:cNvSpPr>
            <a:spLocks noGrp="1"/>
          </p:cNvSpPr>
          <p:nvPr>
            <p:ph type="title"/>
          </p:nvPr>
        </p:nvSpPr>
        <p:spPr/>
        <p:txBody>
          <a:bodyPr/>
          <a:lstStyle/>
          <a:p>
            <a:r>
              <a:rPr kumimoji="1" lang="zh-CN" altLang="en-US" dirty="0"/>
              <a:t>基本的通信架构</a:t>
            </a:r>
            <a:endParaRPr lang="en-US" dirty="0"/>
          </a:p>
        </p:txBody>
      </p:sp>
      <p:sp>
        <p:nvSpPr>
          <p:cNvPr id="4" name="文本框 3">
            <a:extLst>
              <a:ext uri="{FF2B5EF4-FFF2-40B4-BE49-F238E27FC236}">
                <a16:creationId xmlns:a16="http://schemas.microsoft.com/office/drawing/2014/main" id="{01C5AC8D-CC4E-027F-BFE3-46B2B2CF2CA1}"/>
              </a:ext>
            </a:extLst>
          </p:cNvPr>
          <p:cNvSpPr txBox="1"/>
          <p:nvPr/>
        </p:nvSpPr>
        <p:spPr>
          <a:xfrm>
            <a:off x="576196" y="1916408"/>
            <a:ext cx="3725700" cy="523220"/>
          </a:xfrm>
          <a:prstGeom prst="rect">
            <a:avLst/>
          </a:prstGeom>
        </p:spPr>
        <p:txBody>
          <a:bodyPr/>
          <a:lstStyle>
            <a:lvl1pPr>
              <a:lnSpc>
                <a:spcPct val="100000"/>
              </a:lnSpc>
              <a:spcBef>
                <a:spcPct val="0"/>
              </a:spcBef>
              <a:buNone/>
              <a:defRPr kumimoji="1" lang="zh-CN" altLang="en-US" sz="2400" b="1">
                <a:solidFill>
                  <a:schemeClr val="accent1"/>
                </a:solidFill>
                <a:latin typeface="+mj-lt"/>
                <a:ea typeface="+mj-ea"/>
                <a:cs typeface="+mj-cs"/>
              </a:defRPr>
            </a:lvl1pPr>
          </a:lstStyle>
          <a:p>
            <a:r>
              <a:rPr lang="en-US" altLang="zh-CN" sz="1800" dirty="0"/>
              <a:t>Browser-Server(BS)</a:t>
            </a:r>
            <a:r>
              <a:rPr lang="zh-CN" altLang="en-US" sz="1800" dirty="0"/>
              <a:t>架构</a:t>
            </a:r>
            <a:endParaRPr lang="en-US" sz="1800" dirty="0"/>
          </a:p>
        </p:txBody>
      </p:sp>
      <p:grpSp>
        <p:nvGrpSpPr>
          <p:cNvPr id="9" name="组合 8">
            <a:extLst>
              <a:ext uri="{FF2B5EF4-FFF2-40B4-BE49-F238E27FC236}">
                <a16:creationId xmlns:a16="http://schemas.microsoft.com/office/drawing/2014/main" id="{6349468F-8B0E-59D0-8ACD-FE4420A314E9}"/>
              </a:ext>
            </a:extLst>
          </p:cNvPr>
          <p:cNvGrpSpPr/>
          <p:nvPr/>
        </p:nvGrpSpPr>
        <p:grpSpPr>
          <a:xfrm>
            <a:off x="809963" y="2915160"/>
            <a:ext cx="4452163" cy="3006426"/>
            <a:chOff x="926921" y="3429000"/>
            <a:chExt cx="4452163" cy="3006426"/>
          </a:xfrm>
        </p:grpSpPr>
        <p:grpSp>
          <p:nvGrpSpPr>
            <p:cNvPr id="6" name="组合 5">
              <a:extLst>
                <a:ext uri="{FF2B5EF4-FFF2-40B4-BE49-F238E27FC236}">
                  <a16:creationId xmlns:a16="http://schemas.microsoft.com/office/drawing/2014/main" id="{19BEC658-6BBF-BBBA-0D04-21174EF88949}"/>
                </a:ext>
              </a:extLst>
            </p:cNvPr>
            <p:cNvGrpSpPr/>
            <p:nvPr/>
          </p:nvGrpSpPr>
          <p:grpSpPr>
            <a:xfrm>
              <a:off x="2183851" y="3429000"/>
              <a:ext cx="3195233" cy="3006426"/>
              <a:chOff x="3639391" y="961307"/>
              <a:chExt cx="4728816" cy="5181012"/>
            </a:xfrm>
          </p:grpSpPr>
          <p:sp>
            <p:nvSpPr>
              <p:cNvPr id="12" name="Graphic 18">
                <a:extLst>
                  <a:ext uri="{FF2B5EF4-FFF2-40B4-BE49-F238E27FC236}">
                    <a16:creationId xmlns:a16="http://schemas.microsoft.com/office/drawing/2014/main" id="{1340479E-1967-D0C5-A0E6-E564863945B4}"/>
                  </a:ext>
                </a:extLst>
              </p:cNvPr>
              <p:cNvSpPr/>
              <p:nvPr/>
            </p:nvSpPr>
            <p:spPr>
              <a:xfrm>
                <a:off x="3823792" y="1193186"/>
                <a:ext cx="4544415" cy="4949133"/>
              </a:xfrm>
              <a:custGeom>
                <a:avLst/>
                <a:gdLst>
                  <a:gd name="connsiteX0" fmla="*/ 1238039 w 3142829"/>
                  <a:gd name="connsiteY0" fmla="*/ 89328 h 3422732"/>
                  <a:gd name="connsiteX1" fmla="*/ 1904789 w 3142829"/>
                  <a:gd name="connsiteY1" fmla="*/ 89328 h 3422732"/>
                  <a:gd name="connsiteX2" fmla="*/ 2809455 w 3142829"/>
                  <a:gd name="connsiteY2" fmla="*/ 611635 h 3422732"/>
                  <a:gd name="connsiteX3" fmla="*/ 3142830 w 3142829"/>
                  <a:gd name="connsiteY3" fmla="*/ 1189063 h 3422732"/>
                  <a:gd name="connsiteX4" fmla="*/ 3142830 w 3142829"/>
                  <a:gd name="connsiteY4" fmla="*/ 2233669 h 3422732"/>
                  <a:gd name="connsiteX5" fmla="*/ 2809455 w 3142829"/>
                  <a:gd name="connsiteY5" fmla="*/ 2811094 h 3422732"/>
                  <a:gd name="connsiteX6" fmla="*/ 1904789 w 3142829"/>
                  <a:gd name="connsiteY6" fmla="*/ 3333407 h 3422732"/>
                  <a:gd name="connsiteX7" fmla="*/ 1238039 w 3142829"/>
                  <a:gd name="connsiteY7" fmla="*/ 3333407 h 3422732"/>
                  <a:gd name="connsiteX8" fmla="*/ 333375 w 3142829"/>
                  <a:gd name="connsiteY8" fmla="*/ 2811094 h 3422732"/>
                  <a:gd name="connsiteX9" fmla="*/ 0 w 3142829"/>
                  <a:gd name="connsiteY9" fmla="*/ 2233669 h 3422732"/>
                  <a:gd name="connsiteX10" fmla="*/ 0 w 3142829"/>
                  <a:gd name="connsiteY10" fmla="*/ 1189063 h 3422732"/>
                  <a:gd name="connsiteX11" fmla="*/ 333375 w 3142829"/>
                  <a:gd name="connsiteY11" fmla="*/ 611635 h 3422732"/>
                  <a:gd name="connsiteX12" fmla="*/ 1238039 w 3142829"/>
                  <a:gd name="connsiteY12" fmla="*/ 89328 h 3422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2829" h="3422732">
                    <a:moveTo>
                      <a:pt x="1238039" y="89328"/>
                    </a:moveTo>
                    <a:cubicBezTo>
                      <a:pt x="1444332" y="-29776"/>
                      <a:pt x="1698497" y="-29776"/>
                      <a:pt x="1904789" y="89328"/>
                    </a:cubicBezTo>
                    <a:lnTo>
                      <a:pt x="2809455" y="611635"/>
                    </a:lnTo>
                    <a:cubicBezTo>
                      <a:pt x="3015747" y="730738"/>
                      <a:pt x="3142830" y="950852"/>
                      <a:pt x="3142830" y="1189063"/>
                    </a:cubicBezTo>
                    <a:lnTo>
                      <a:pt x="3142830" y="2233669"/>
                    </a:lnTo>
                    <a:cubicBezTo>
                      <a:pt x="3142830" y="2471880"/>
                      <a:pt x="3015747" y="2691993"/>
                      <a:pt x="2809455" y="2811094"/>
                    </a:cubicBezTo>
                    <a:lnTo>
                      <a:pt x="1904789" y="3333407"/>
                    </a:lnTo>
                    <a:cubicBezTo>
                      <a:pt x="1698497" y="3452507"/>
                      <a:pt x="1444332" y="3452507"/>
                      <a:pt x="1238039" y="3333407"/>
                    </a:cubicBezTo>
                    <a:lnTo>
                      <a:pt x="333375" y="2811094"/>
                    </a:lnTo>
                    <a:cubicBezTo>
                      <a:pt x="127082" y="2691993"/>
                      <a:pt x="0" y="2471880"/>
                      <a:pt x="0" y="2233669"/>
                    </a:cubicBezTo>
                    <a:lnTo>
                      <a:pt x="0" y="1189063"/>
                    </a:lnTo>
                    <a:cubicBezTo>
                      <a:pt x="0" y="950852"/>
                      <a:pt x="127082" y="730738"/>
                      <a:pt x="333375" y="611635"/>
                    </a:cubicBezTo>
                    <a:lnTo>
                      <a:pt x="1238039" y="89328"/>
                    </a:lnTo>
                    <a:close/>
                  </a:path>
                </a:pathLst>
              </a:custGeom>
              <a:noFill/>
              <a:ln w="28575" cap="rnd">
                <a:solidFill>
                  <a:schemeClr val="bg1"/>
                </a:solidFill>
                <a:prstDash val="sysDot"/>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a:ln>
                    <a:noFill/>
                  </a:ln>
                  <a:solidFill>
                    <a:prstClr val="white"/>
                  </a:solidFill>
                  <a:effectLst/>
                  <a:uLnTx/>
                  <a:uFillTx/>
                  <a:latin typeface="+mn-ea"/>
                  <a:cs typeface="+mn-cs"/>
                </a:endParaRPr>
              </a:p>
            </p:txBody>
          </p:sp>
          <p:sp>
            <p:nvSpPr>
              <p:cNvPr id="13" name="Graphic 18">
                <a:extLst>
                  <a:ext uri="{FF2B5EF4-FFF2-40B4-BE49-F238E27FC236}">
                    <a16:creationId xmlns:a16="http://schemas.microsoft.com/office/drawing/2014/main" id="{E9B866A1-F3EA-A51B-1C7C-CAF37F447B82}"/>
                  </a:ext>
                </a:extLst>
              </p:cNvPr>
              <p:cNvSpPr/>
              <p:nvPr/>
            </p:nvSpPr>
            <p:spPr>
              <a:xfrm>
                <a:off x="3639391" y="961307"/>
                <a:ext cx="4585100" cy="4993442"/>
              </a:xfrm>
              <a:custGeom>
                <a:avLst/>
                <a:gdLst>
                  <a:gd name="connsiteX0" fmla="*/ 1238039 w 3142829"/>
                  <a:gd name="connsiteY0" fmla="*/ 89328 h 3422732"/>
                  <a:gd name="connsiteX1" fmla="*/ 1904789 w 3142829"/>
                  <a:gd name="connsiteY1" fmla="*/ 89328 h 3422732"/>
                  <a:gd name="connsiteX2" fmla="*/ 2809455 w 3142829"/>
                  <a:gd name="connsiteY2" fmla="*/ 611635 h 3422732"/>
                  <a:gd name="connsiteX3" fmla="*/ 3142830 w 3142829"/>
                  <a:gd name="connsiteY3" fmla="*/ 1189063 h 3422732"/>
                  <a:gd name="connsiteX4" fmla="*/ 3142830 w 3142829"/>
                  <a:gd name="connsiteY4" fmla="*/ 2233669 h 3422732"/>
                  <a:gd name="connsiteX5" fmla="*/ 2809455 w 3142829"/>
                  <a:gd name="connsiteY5" fmla="*/ 2811094 h 3422732"/>
                  <a:gd name="connsiteX6" fmla="*/ 1904789 w 3142829"/>
                  <a:gd name="connsiteY6" fmla="*/ 3333407 h 3422732"/>
                  <a:gd name="connsiteX7" fmla="*/ 1238039 w 3142829"/>
                  <a:gd name="connsiteY7" fmla="*/ 3333407 h 3422732"/>
                  <a:gd name="connsiteX8" fmla="*/ 333375 w 3142829"/>
                  <a:gd name="connsiteY8" fmla="*/ 2811094 h 3422732"/>
                  <a:gd name="connsiteX9" fmla="*/ 0 w 3142829"/>
                  <a:gd name="connsiteY9" fmla="*/ 2233669 h 3422732"/>
                  <a:gd name="connsiteX10" fmla="*/ 0 w 3142829"/>
                  <a:gd name="connsiteY10" fmla="*/ 1189063 h 3422732"/>
                  <a:gd name="connsiteX11" fmla="*/ 333375 w 3142829"/>
                  <a:gd name="connsiteY11" fmla="*/ 611635 h 3422732"/>
                  <a:gd name="connsiteX12" fmla="*/ 1238039 w 3142829"/>
                  <a:gd name="connsiteY12" fmla="*/ 89328 h 3422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2829" h="3422732">
                    <a:moveTo>
                      <a:pt x="1238039" y="89328"/>
                    </a:moveTo>
                    <a:cubicBezTo>
                      <a:pt x="1444332" y="-29776"/>
                      <a:pt x="1698497" y="-29776"/>
                      <a:pt x="1904789" y="89328"/>
                    </a:cubicBezTo>
                    <a:lnTo>
                      <a:pt x="2809455" y="611635"/>
                    </a:lnTo>
                    <a:cubicBezTo>
                      <a:pt x="3015747" y="730738"/>
                      <a:pt x="3142830" y="950852"/>
                      <a:pt x="3142830" y="1189063"/>
                    </a:cubicBezTo>
                    <a:lnTo>
                      <a:pt x="3142830" y="2233669"/>
                    </a:lnTo>
                    <a:cubicBezTo>
                      <a:pt x="3142830" y="2471880"/>
                      <a:pt x="3015747" y="2691993"/>
                      <a:pt x="2809455" y="2811094"/>
                    </a:cubicBezTo>
                    <a:lnTo>
                      <a:pt x="1904789" y="3333407"/>
                    </a:lnTo>
                    <a:cubicBezTo>
                      <a:pt x="1698497" y="3452507"/>
                      <a:pt x="1444332" y="3452507"/>
                      <a:pt x="1238039" y="3333407"/>
                    </a:cubicBezTo>
                    <a:lnTo>
                      <a:pt x="333375" y="2811094"/>
                    </a:lnTo>
                    <a:cubicBezTo>
                      <a:pt x="127082" y="2691993"/>
                      <a:pt x="0" y="2471880"/>
                      <a:pt x="0" y="2233669"/>
                    </a:cubicBezTo>
                    <a:lnTo>
                      <a:pt x="0" y="1189063"/>
                    </a:lnTo>
                    <a:cubicBezTo>
                      <a:pt x="0" y="950852"/>
                      <a:pt x="127082" y="730738"/>
                      <a:pt x="333375" y="611635"/>
                    </a:cubicBezTo>
                    <a:lnTo>
                      <a:pt x="1238039" y="89328"/>
                    </a:lnTo>
                    <a:close/>
                  </a:path>
                </a:pathLst>
              </a:custGeom>
              <a:solidFill>
                <a:srgbClr val="FAFAFA"/>
              </a:solidFill>
              <a:ln w="19050">
                <a:solidFill>
                  <a:schemeClr val="bg1"/>
                </a:solidFill>
              </a:ln>
              <a:effectLst>
                <a:outerShdw blurRad="330200" dist="292100" dir="5400000" sx="97000" sy="97000" algn="t" rotWithShape="0">
                  <a:schemeClr val="accent1">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a:ln>
                    <a:noFill/>
                  </a:ln>
                  <a:solidFill>
                    <a:prstClr val="white"/>
                  </a:solidFill>
                  <a:effectLst/>
                  <a:uLnTx/>
                  <a:uFillTx/>
                  <a:latin typeface="+mn-ea"/>
                  <a:cs typeface="+mn-cs"/>
                </a:endParaRPr>
              </a:p>
            </p:txBody>
          </p:sp>
          <p:sp>
            <p:nvSpPr>
              <p:cNvPr id="14" name="Graphic 18">
                <a:extLst>
                  <a:ext uri="{FF2B5EF4-FFF2-40B4-BE49-F238E27FC236}">
                    <a16:creationId xmlns:a16="http://schemas.microsoft.com/office/drawing/2014/main" id="{6092C7FB-FF7B-80EF-E365-26B1BC8A95E6}"/>
                  </a:ext>
                </a:extLst>
              </p:cNvPr>
              <p:cNvSpPr/>
              <p:nvPr/>
            </p:nvSpPr>
            <p:spPr>
              <a:xfrm>
                <a:off x="3639391" y="1002119"/>
                <a:ext cx="4585100" cy="4949133"/>
              </a:xfrm>
              <a:custGeom>
                <a:avLst/>
                <a:gdLst>
                  <a:gd name="connsiteX0" fmla="*/ 1238039 w 3142829"/>
                  <a:gd name="connsiteY0" fmla="*/ 89328 h 3422732"/>
                  <a:gd name="connsiteX1" fmla="*/ 1904789 w 3142829"/>
                  <a:gd name="connsiteY1" fmla="*/ 89328 h 3422732"/>
                  <a:gd name="connsiteX2" fmla="*/ 2809455 w 3142829"/>
                  <a:gd name="connsiteY2" fmla="*/ 611635 h 3422732"/>
                  <a:gd name="connsiteX3" fmla="*/ 3142830 w 3142829"/>
                  <a:gd name="connsiteY3" fmla="*/ 1189063 h 3422732"/>
                  <a:gd name="connsiteX4" fmla="*/ 3142830 w 3142829"/>
                  <a:gd name="connsiteY4" fmla="*/ 2233669 h 3422732"/>
                  <a:gd name="connsiteX5" fmla="*/ 2809455 w 3142829"/>
                  <a:gd name="connsiteY5" fmla="*/ 2811094 h 3422732"/>
                  <a:gd name="connsiteX6" fmla="*/ 1904789 w 3142829"/>
                  <a:gd name="connsiteY6" fmla="*/ 3333407 h 3422732"/>
                  <a:gd name="connsiteX7" fmla="*/ 1238039 w 3142829"/>
                  <a:gd name="connsiteY7" fmla="*/ 3333407 h 3422732"/>
                  <a:gd name="connsiteX8" fmla="*/ 333375 w 3142829"/>
                  <a:gd name="connsiteY8" fmla="*/ 2811094 h 3422732"/>
                  <a:gd name="connsiteX9" fmla="*/ 0 w 3142829"/>
                  <a:gd name="connsiteY9" fmla="*/ 2233669 h 3422732"/>
                  <a:gd name="connsiteX10" fmla="*/ 0 w 3142829"/>
                  <a:gd name="connsiteY10" fmla="*/ 1189063 h 3422732"/>
                  <a:gd name="connsiteX11" fmla="*/ 333375 w 3142829"/>
                  <a:gd name="connsiteY11" fmla="*/ 611635 h 3422732"/>
                  <a:gd name="connsiteX12" fmla="*/ 1238039 w 3142829"/>
                  <a:gd name="connsiteY12" fmla="*/ 89328 h 3422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2829" h="3422732">
                    <a:moveTo>
                      <a:pt x="1238039" y="89328"/>
                    </a:moveTo>
                    <a:cubicBezTo>
                      <a:pt x="1444332" y="-29776"/>
                      <a:pt x="1698497" y="-29776"/>
                      <a:pt x="1904789" y="89328"/>
                    </a:cubicBezTo>
                    <a:lnTo>
                      <a:pt x="2809455" y="611635"/>
                    </a:lnTo>
                    <a:cubicBezTo>
                      <a:pt x="3015747" y="730738"/>
                      <a:pt x="3142830" y="950852"/>
                      <a:pt x="3142830" y="1189063"/>
                    </a:cubicBezTo>
                    <a:lnTo>
                      <a:pt x="3142830" y="2233669"/>
                    </a:lnTo>
                    <a:cubicBezTo>
                      <a:pt x="3142830" y="2471880"/>
                      <a:pt x="3015747" y="2691993"/>
                      <a:pt x="2809455" y="2811094"/>
                    </a:cubicBezTo>
                    <a:lnTo>
                      <a:pt x="1904789" y="3333407"/>
                    </a:lnTo>
                    <a:cubicBezTo>
                      <a:pt x="1698497" y="3452507"/>
                      <a:pt x="1444332" y="3452507"/>
                      <a:pt x="1238039" y="3333407"/>
                    </a:cubicBezTo>
                    <a:lnTo>
                      <a:pt x="333375" y="2811094"/>
                    </a:lnTo>
                    <a:cubicBezTo>
                      <a:pt x="127082" y="2691993"/>
                      <a:pt x="0" y="2471880"/>
                      <a:pt x="0" y="2233669"/>
                    </a:cubicBezTo>
                    <a:lnTo>
                      <a:pt x="0" y="1189063"/>
                    </a:lnTo>
                    <a:cubicBezTo>
                      <a:pt x="0" y="950852"/>
                      <a:pt x="127082" y="730738"/>
                      <a:pt x="333375" y="611635"/>
                    </a:cubicBezTo>
                    <a:lnTo>
                      <a:pt x="1238039" y="89328"/>
                    </a:lnTo>
                    <a:close/>
                  </a:path>
                </a:pathLst>
              </a:custGeom>
              <a:noFill/>
              <a:ln w="28575" cap="rnd">
                <a:solidFill>
                  <a:schemeClr val="accent1"/>
                </a:solidFill>
                <a:prstDash val="sysDot"/>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a:ln>
                    <a:noFill/>
                  </a:ln>
                  <a:solidFill>
                    <a:prstClr val="white"/>
                  </a:solidFill>
                  <a:effectLst/>
                  <a:uLnTx/>
                  <a:uFillTx/>
                  <a:latin typeface="+mn-ea"/>
                  <a:cs typeface="+mn-cs"/>
                </a:endParaRPr>
              </a:p>
            </p:txBody>
          </p:sp>
        </p:grpSp>
        <p:sp>
          <p:nvSpPr>
            <p:cNvPr id="11" name="六边形 10">
              <a:extLst>
                <a:ext uri="{FF2B5EF4-FFF2-40B4-BE49-F238E27FC236}">
                  <a16:creationId xmlns:a16="http://schemas.microsoft.com/office/drawing/2014/main" id="{5C61B5D4-EFD7-34C1-00A2-E5612B9D75D6}"/>
                </a:ext>
              </a:extLst>
            </p:cNvPr>
            <p:cNvSpPr/>
            <p:nvPr/>
          </p:nvSpPr>
          <p:spPr>
            <a:xfrm>
              <a:off x="926921" y="4222473"/>
              <a:ext cx="1646598" cy="1419480"/>
            </a:xfrm>
            <a:prstGeom prst="hexagon">
              <a:avLst/>
            </a:prstGeom>
            <a:solidFill>
              <a:sysClr val="window" lastClr="FFFFFF"/>
            </a:solidFill>
            <a:ln w="47625" cap="flat" cmpd="sng" algn="ctr">
              <a:gradFill>
                <a:gsLst>
                  <a:gs pos="0">
                    <a:schemeClr val="accent2"/>
                  </a:gs>
                  <a:gs pos="71000">
                    <a:schemeClr val="accent2"/>
                  </a:gs>
                  <a:gs pos="38000">
                    <a:schemeClr val="accent1"/>
                  </a:gs>
                  <a:gs pos="100000">
                    <a:schemeClr val="accent1"/>
                  </a:gs>
                </a:gsLst>
                <a:lin ang="5400000" scaled="1"/>
              </a:gradFill>
              <a:prstDash val="solid"/>
              <a:miter lim="800000"/>
            </a:ln>
            <a:effectLst>
              <a:outerShdw blurRad="190500" dist="114300" dir="5400000" algn="ctr" rotWithShape="0">
                <a:prstClr val="black">
                  <a:alpha val="1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dirty="0">
                  <a:solidFill>
                    <a:schemeClr val="accent5">
                      <a:lumMod val="50000"/>
                    </a:schemeClr>
                  </a:solidFill>
                  <a:latin typeface="+mn-ea"/>
                </a:rPr>
                <a:t>Browser</a:t>
              </a:r>
            </a:p>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000" dirty="0">
                  <a:solidFill>
                    <a:schemeClr val="accent5">
                      <a:lumMod val="50000"/>
                    </a:schemeClr>
                  </a:solidFill>
                  <a:latin typeface="+mn-ea"/>
                </a:rPr>
                <a:t>浏览器</a:t>
              </a:r>
            </a:p>
          </p:txBody>
        </p:sp>
      </p:grpSp>
      <p:sp>
        <p:nvSpPr>
          <p:cNvPr id="7" name="文本框 6">
            <a:extLst>
              <a:ext uri="{FF2B5EF4-FFF2-40B4-BE49-F238E27FC236}">
                <a16:creationId xmlns:a16="http://schemas.microsoft.com/office/drawing/2014/main" id="{FABA198F-89CE-AACC-9AD4-BC5B8F54FB1F}"/>
              </a:ext>
            </a:extLst>
          </p:cNvPr>
          <p:cNvSpPr txBox="1"/>
          <p:nvPr/>
        </p:nvSpPr>
        <p:spPr>
          <a:xfrm>
            <a:off x="2596404" y="3977310"/>
            <a:ext cx="159530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solidFill>
                  <a:schemeClr val="tx2">
                    <a:lumMod val="50000"/>
                  </a:schemeClr>
                </a:solidFill>
                <a:latin typeface="+mn-ea"/>
              </a:rPr>
              <a:t>不需要程序员开发</a:t>
            </a:r>
            <a:endParaRPr kumimoji="0" lang="en-US" sz="1400" b="0" i="0" u="none" strike="noStrike" kern="1200" cap="none" spc="0" normalizeH="0" baseline="0" noProof="0" dirty="0">
              <a:ln>
                <a:noFill/>
              </a:ln>
              <a:solidFill>
                <a:schemeClr val="tx2">
                  <a:lumMod val="50000"/>
                </a:schemeClr>
              </a:solidFill>
              <a:effectLst/>
              <a:uLnTx/>
              <a:uFillTx/>
              <a:latin typeface="+mn-ea"/>
            </a:endParaRPr>
          </a:p>
        </p:txBody>
      </p:sp>
      <p:sp>
        <p:nvSpPr>
          <p:cNvPr id="16" name="文本框 15">
            <a:extLst>
              <a:ext uri="{FF2B5EF4-FFF2-40B4-BE49-F238E27FC236}">
                <a16:creationId xmlns:a16="http://schemas.microsoft.com/office/drawing/2014/main" id="{71B8A0BA-95FD-BE8C-9399-B692386ACE26}"/>
              </a:ext>
            </a:extLst>
          </p:cNvPr>
          <p:cNvSpPr txBox="1"/>
          <p:nvPr/>
        </p:nvSpPr>
        <p:spPr>
          <a:xfrm>
            <a:off x="2609427" y="4520882"/>
            <a:ext cx="21242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solidFill>
                  <a:schemeClr val="tx2">
                    <a:lumMod val="50000"/>
                  </a:schemeClr>
                </a:solidFill>
                <a:latin typeface="+mn-ea"/>
              </a:rPr>
              <a:t>需要用户下载安装浏览器</a:t>
            </a:r>
            <a:endParaRPr kumimoji="0" lang="en-US" sz="1400" b="0" i="0" u="none" strike="noStrike" kern="1200" cap="none" spc="0" normalizeH="0" baseline="0" noProof="0" dirty="0">
              <a:ln>
                <a:noFill/>
              </a:ln>
              <a:solidFill>
                <a:schemeClr val="tx2">
                  <a:lumMod val="50000"/>
                </a:schemeClr>
              </a:solidFill>
              <a:effectLst/>
              <a:uLnTx/>
              <a:uFillTx/>
              <a:latin typeface="+mn-ea"/>
            </a:endParaRPr>
          </a:p>
        </p:txBody>
      </p:sp>
      <p:grpSp>
        <p:nvGrpSpPr>
          <p:cNvPr id="8" name="组合 7">
            <a:extLst>
              <a:ext uri="{FF2B5EF4-FFF2-40B4-BE49-F238E27FC236}">
                <a16:creationId xmlns:a16="http://schemas.microsoft.com/office/drawing/2014/main" id="{24F7DE98-21F5-0CDA-EF2D-2FD63692D57C}"/>
              </a:ext>
            </a:extLst>
          </p:cNvPr>
          <p:cNvGrpSpPr/>
          <p:nvPr/>
        </p:nvGrpSpPr>
        <p:grpSpPr>
          <a:xfrm>
            <a:off x="6793068" y="2915160"/>
            <a:ext cx="4355053" cy="3006426"/>
            <a:chOff x="6910026" y="3429000"/>
            <a:chExt cx="4355053" cy="3006426"/>
          </a:xfrm>
        </p:grpSpPr>
        <p:grpSp>
          <p:nvGrpSpPr>
            <p:cNvPr id="18" name="组合 17">
              <a:extLst>
                <a:ext uri="{FF2B5EF4-FFF2-40B4-BE49-F238E27FC236}">
                  <a16:creationId xmlns:a16="http://schemas.microsoft.com/office/drawing/2014/main" id="{5DB90099-9E2E-1FD4-CF78-0C4413640E2B}"/>
                </a:ext>
              </a:extLst>
            </p:cNvPr>
            <p:cNvGrpSpPr/>
            <p:nvPr/>
          </p:nvGrpSpPr>
          <p:grpSpPr>
            <a:xfrm>
              <a:off x="6910026" y="3429000"/>
              <a:ext cx="3195233" cy="3006426"/>
              <a:chOff x="3639391" y="961307"/>
              <a:chExt cx="4728816" cy="5181012"/>
            </a:xfrm>
          </p:grpSpPr>
          <p:sp>
            <p:nvSpPr>
              <p:cNvPr id="20" name="Graphic 18">
                <a:extLst>
                  <a:ext uri="{FF2B5EF4-FFF2-40B4-BE49-F238E27FC236}">
                    <a16:creationId xmlns:a16="http://schemas.microsoft.com/office/drawing/2014/main" id="{57E9FC14-92B2-5A34-F54A-547399537E09}"/>
                  </a:ext>
                </a:extLst>
              </p:cNvPr>
              <p:cNvSpPr/>
              <p:nvPr/>
            </p:nvSpPr>
            <p:spPr>
              <a:xfrm>
                <a:off x="3823792" y="1193186"/>
                <a:ext cx="4544415" cy="4949133"/>
              </a:xfrm>
              <a:custGeom>
                <a:avLst/>
                <a:gdLst>
                  <a:gd name="connsiteX0" fmla="*/ 1238039 w 3142829"/>
                  <a:gd name="connsiteY0" fmla="*/ 89328 h 3422732"/>
                  <a:gd name="connsiteX1" fmla="*/ 1904789 w 3142829"/>
                  <a:gd name="connsiteY1" fmla="*/ 89328 h 3422732"/>
                  <a:gd name="connsiteX2" fmla="*/ 2809455 w 3142829"/>
                  <a:gd name="connsiteY2" fmla="*/ 611635 h 3422732"/>
                  <a:gd name="connsiteX3" fmla="*/ 3142830 w 3142829"/>
                  <a:gd name="connsiteY3" fmla="*/ 1189063 h 3422732"/>
                  <a:gd name="connsiteX4" fmla="*/ 3142830 w 3142829"/>
                  <a:gd name="connsiteY4" fmla="*/ 2233669 h 3422732"/>
                  <a:gd name="connsiteX5" fmla="*/ 2809455 w 3142829"/>
                  <a:gd name="connsiteY5" fmla="*/ 2811094 h 3422732"/>
                  <a:gd name="connsiteX6" fmla="*/ 1904789 w 3142829"/>
                  <a:gd name="connsiteY6" fmla="*/ 3333407 h 3422732"/>
                  <a:gd name="connsiteX7" fmla="*/ 1238039 w 3142829"/>
                  <a:gd name="connsiteY7" fmla="*/ 3333407 h 3422732"/>
                  <a:gd name="connsiteX8" fmla="*/ 333375 w 3142829"/>
                  <a:gd name="connsiteY8" fmla="*/ 2811094 h 3422732"/>
                  <a:gd name="connsiteX9" fmla="*/ 0 w 3142829"/>
                  <a:gd name="connsiteY9" fmla="*/ 2233669 h 3422732"/>
                  <a:gd name="connsiteX10" fmla="*/ 0 w 3142829"/>
                  <a:gd name="connsiteY10" fmla="*/ 1189063 h 3422732"/>
                  <a:gd name="connsiteX11" fmla="*/ 333375 w 3142829"/>
                  <a:gd name="connsiteY11" fmla="*/ 611635 h 3422732"/>
                  <a:gd name="connsiteX12" fmla="*/ 1238039 w 3142829"/>
                  <a:gd name="connsiteY12" fmla="*/ 89328 h 3422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2829" h="3422732">
                    <a:moveTo>
                      <a:pt x="1238039" y="89328"/>
                    </a:moveTo>
                    <a:cubicBezTo>
                      <a:pt x="1444332" y="-29776"/>
                      <a:pt x="1698497" y="-29776"/>
                      <a:pt x="1904789" y="89328"/>
                    </a:cubicBezTo>
                    <a:lnTo>
                      <a:pt x="2809455" y="611635"/>
                    </a:lnTo>
                    <a:cubicBezTo>
                      <a:pt x="3015747" y="730738"/>
                      <a:pt x="3142830" y="950852"/>
                      <a:pt x="3142830" y="1189063"/>
                    </a:cubicBezTo>
                    <a:lnTo>
                      <a:pt x="3142830" y="2233669"/>
                    </a:lnTo>
                    <a:cubicBezTo>
                      <a:pt x="3142830" y="2471880"/>
                      <a:pt x="3015747" y="2691993"/>
                      <a:pt x="2809455" y="2811094"/>
                    </a:cubicBezTo>
                    <a:lnTo>
                      <a:pt x="1904789" y="3333407"/>
                    </a:lnTo>
                    <a:cubicBezTo>
                      <a:pt x="1698497" y="3452507"/>
                      <a:pt x="1444332" y="3452507"/>
                      <a:pt x="1238039" y="3333407"/>
                    </a:cubicBezTo>
                    <a:lnTo>
                      <a:pt x="333375" y="2811094"/>
                    </a:lnTo>
                    <a:cubicBezTo>
                      <a:pt x="127082" y="2691993"/>
                      <a:pt x="0" y="2471880"/>
                      <a:pt x="0" y="2233669"/>
                    </a:cubicBezTo>
                    <a:lnTo>
                      <a:pt x="0" y="1189063"/>
                    </a:lnTo>
                    <a:cubicBezTo>
                      <a:pt x="0" y="950852"/>
                      <a:pt x="127082" y="730738"/>
                      <a:pt x="333375" y="611635"/>
                    </a:cubicBezTo>
                    <a:lnTo>
                      <a:pt x="1238039" y="89328"/>
                    </a:lnTo>
                    <a:close/>
                  </a:path>
                </a:pathLst>
              </a:custGeom>
              <a:noFill/>
              <a:ln w="28575" cap="rnd">
                <a:solidFill>
                  <a:schemeClr val="bg1"/>
                </a:solidFill>
                <a:prstDash val="sysDot"/>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a:ln>
                    <a:noFill/>
                  </a:ln>
                  <a:solidFill>
                    <a:prstClr val="white"/>
                  </a:solidFill>
                  <a:effectLst/>
                  <a:uLnTx/>
                  <a:uFillTx/>
                  <a:latin typeface="+mn-ea"/>
                  <a:cs typeface="+mn-cs"/>
                </a:endParaRPr>
              </a:p>
            </p:txBody>
          </p:sp>
          <p:sp>
            <p:nvSpPr>
              <p:cNvPr id="21" name="Graphic 18">
                <a:extLst>
                  <a:ext uri="{FF2B5EF4-FFF2-40B4-BE49-F238E27FC236}">
                    <a16:creationId xmlns:a16="http://schemas.microsoft.com/office/drawing/2014/main" id="{BF60B53B-24E6-C2D5-F33E-230407275D56}"/>
                  </a:ext>
                </a:extLst>
              </p:cNvPr>
              <p:cNvSpPr/>
              <p:nvPr/>
            </p:nvSpPr>
            <p:spPr>
              <a:xfrm>
                <a:off x="3639391" y="961307"/>
                <a:ext cx="4585100" cy="4993442"/>
              </a:xfrm>
              <a:custGeom>
                <a:avLst/>
                <a:gdLst>
                  <a:gd name="connsiteX0" fmla="*/ 1238039 w 3142829"/>
                  <a:gd name="connsiteY0" fmla="*/ 89328 h 3422732"/>
                  <a:gd name="connsiteX1" fmla="*/ 1904789 w 3142829"/>
                  <a:gd name="connsiteY1" fmla="*/ 89328 h 3422732"/>
                  <a:gd name="connsiteX2" fmla="*/ 2809455 w 3142829"/>
                  <a:gd name="connsiteY2" fmla="*/ 611635 h 3422732"/>
                  <a:gd name="connsiteX3" fmla="*/ 3142830 w 3142829"/>
                  <a:gd name="connsiteY3" fmla="*/ 1189063 h 3422732"/>
                  <a:gd name="connsiteX4" fmla="*/ 3142830 w 3142829"/>
                  <a:gd name="connsiteY4" fmla="*/ 2233669 h 3422732"/>
                  <a:gd name="connsiteX5" fmla="*/ 2809455 w 3142829"/>
                  <a:gd name="connsiteY5" fmla="*/ 2811094 h 3422732"/>
                  <a:gd name="connsiteX6" fmla="*/ 1904789 w 3142829"/>
                  <a:gd name="connsiteY6" fmla="*/ 3333407 h 3422732"/>
                  <a:gd name="connsiteX7" fmla="*/ 1238039 w 3142829"/>
                  <a:gd name="connsiteY7" fmla="*/ 3333407 h 3422732"/>
                  <a:gd name="connsiteX8" fmla="*/ 333375 w 3142829"/>
                  <a:gd name="connsiteY8" fmla="*/ 2811094 h 3422732"/>
                  <a:gd name="connsiteX9" fmla="*/ 0 w 3142829"/>
                  <a:gd name="connsiteY9" fmla="*/ 2233669 h 3422732"/>
                  <a:gd name="connsiteX10" fmla="*/ 0 w 3142829"/>
                  <a:gd name="connsiteY10" fmla="*/ 1189063 h 3422732"/>
                  <a:gd name="connsiteX11" fmla="*/ 333375 w 3142829"/>
                  <a:gd name="connsiteY11" fmla="*/ 611635 h 3422732"/>
                  <a:gd name="connsiteX12" fmla="*/ 1238039 w 3142829"/>
                  <a:gd name="connsiteY12" fmla="*/ 89328 h 3422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2829" h="3422732">
                    <a:moveTo>
                      <a:pt x="1238039" y="89328"/>
                    </a:moveTo>
                    <a:cubicBezTo>
                      <a:pt x="1444332" y="-29776"/>
                      <a:pt x="1698497" y="-29776"/>
                      <a:pt x="1904789" y="89328"/>
                    </a:cubicBezTo>
                    <a:lnTo>
                      <a:pt x="2809455" y="611635"/>
                    </a:lnTo>
                    <a:cubicBezTo>
                      <a:pt x="3015747" y="730738"/>
                      <a:pt x="3142830" y="950852"/>
                      <a:pt x="3142830" y="1189063"/>
                    </a:cubicBezTo>
                    <a:lnTo>
                      <a:pt x="3142830" y="2233669"/>
                    </a:lnTo>
                    <a:cubicBezTo>
                      <a:pt x="3142830" y="2471880"/>
                      <a:pt x="3015747" y="2691993"/>
                      <a:pt x="2809455" y="2811094"/>
                    </a:cubicBezTo>
                    <a:lnTo>
                      <a:pt x="1904789" y="3333407"/>
                    </a:lnTo>
                    <a:cubicBezTo>
                      <a:pt x="1698497" y="3452507"/>
                      <a:pt x="1444332" y="3452507"/>
                      <a:pt x="1238039" y="3333407"/>
                    </a:cubicBezTo>
                    <a:lnTo>
                      <a:pt x="333375" y="2811094"/>
                    </a:lnTo>
                    <a:cubicBezTo>
                      <a:pt x="127082" y="2691993"/>
                      <a:pt x="0" y="2471880"/>
                      <a:pt x="0" y="2233669"/>
                    </a:cubicBezTo>
                    <a:lnTo>
                      <a:pt x="0" y="1189063"/>
                    </a:lnTo>
                    <a:cubicBezTo>
                      <a:pt x="0" y="950852"/>
                      <a:pt x="127082" y="730738"/>
                      <a:pt x="333375" y="611635"/>
                    </a:cubicBezTo>
                    <a:lnTo>
                      <a:pt x="1238039" y="89328"/>
                    </a:lnTo>
                    <a:close/>
                  </a:path>
                </a:pathLst>
              </a:custGeom>
              <a:solidFill>
                <a:srgbClr val="FAFAFA"/>
              </a:solidFill>
              <a:ln w="19050">
                <a:solidFill>
                  <a:schemeClr val="bg1"/>
                </a:solidFill>
              </a:ln>
              <a:effectLst>
                <a:outerShdw blurRad="330200" dist="292100" dir="5400000" sx="97000" sy="97000" algn="t" rotWithShape="0">
                  <a:schemeClr val="accent1">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a:ln>
                    <a:noFill/>
                  </a:ln>
                  <a:solidFill>
                    <a:prstClr val="white"/>
                  </a:solidFill>
                  <a:effectLst/>
                  <a:uLnTx/>
                  <a:uFillTx/>
                  <a:latin typeface="+mn-ea"/>
                  <a:cs typeface="+mn-cs"/>
                </a:endParaRPr>
              </a:p>
            </p:txBody>
          </p:sp>
          <p:sp>
            <p:nvSpPr>
              <p:cNvPr id="22" name="Graphic 18">
                <a:extLst>
                  <a:ext uri="{FF2B5EF4-FFF2-40B4-BE49-F238E27FC236}">
                    <a16:creationId xmlns:a16="http://schemas.microsoft.com/office/drawing/2014/main" id="{1DB97EEB-C73F-CD22-F1C1-AD5CFEF8079B}"/>
                  </a:ext>
                </a:extLst>
              </p:cNvPr>
              <p:cNvSpPr/>
              <p:nvPr/>
            </p:nvSpPr>
            <p:spPr>
              <a:xfrm>
                <a:off x="3639391" y="1002119"/>
                <a:ext cx="4585100" cy="4949133"/>
              </a:xfrm>
              <a:custGeom>
                <a:avLst/>
                <a:gdLst>
                  <a:gd name="connsiteX0" fmla="*/ 1238039 w 3142829"/>
                  <a:gd name="connsiteY0" fmla="*/ 89328 h 3422732"/>
                  <a:gd name="connsiteX1" fmla="*/ 1904789 w 3142829"/>
                  <a:gd name="connsiteY1" fmla="*/ 89328 h 3422732"/>
                  <a:gd name="connsiteX2" fmla="*/ 2809455 w 3142829"/>
                  <a:gd name="connsiteY2" fmla="*/ 611635 h 3422732"/>
                  <a:gd name="connsiteX3" fmla="*/ 3142830 w 3142829"/>
                  <a:gd name="connsiteY3" fmla="*/ 1189063 h 3422732"/>
                  <a:gd name="connsiteX4" fmla="*/ 3142830 w 3142829"/>
                  <a:gd name="connsiteY4" fmla="*/ 2233669 h 3422732"/>
                  <a:gd name="connsiteX5" fmla="*/ 2809455 w 3142829"/>
                  <a:gd name="connsiteY5" fmla="*/ 2811094 h 3422732"/>
                  <a:gd name="connsiteX6" fmla="*/ 1904789 w 3142829"/>
                  <a:gd name="connsiteY6" fmla="*/ 3333407 h 3422732"/>
                  <a:gd name="connsiteX7" fmla="*/ 1238039 w 3142829"/>
                  <a:gd name="connsiteY7" fmla="*/ 3333407 h 3422732"/>
                  <a:gd name="connsiteX8" fmla="*/ 333375 w 3142829"/>
                  <a:gd name="connsiteY8" fmla="*/ 2811094 h 3422732"/>
                  <a:gd name="connsiteX9" fmla="*/ 0 w 3142829"/>
                  <a:gd name="connsiteY9" fmla="*/ 2233669 h 3422732"/>
                  <a:gd name="connsiteX10" fmla="*/ 0 w 3142829"/>
                  <a:gd name="connsiteY10" fmla="*/ 1189063 h 3422732"/>
                  <a:gd name="connsiteX11" fmla="*/ 333375 w 3142829"/>
                  <a:gd name="connsiteY11" fmla="*/ 611635 h 3422732"/>
                  <a:gd name="connsiteX12" fmla="*/ 1238039 w 3142829"/>
                  <a:gd name="connsiteY12" fmla="*/ 89328 h 3422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2829" h="3422732">
                    <a:moveTo>
                      <a:pt x="1238039" y="89328"/>
                    </a:moveTo>
                    <a:cubicBezTo>
                      <a:pt x="1444332" y="-29776"/>
                      <a:pt x="1698497" y="-29776"/>
                      <a:pt x="1904789" y="89328"/>
                    </a:cubicBezTo>
                    <a:lnTo>
                      <a:pt x="2809455" y="611635"/>
                    </a:lnTo>
                    <a:cubicBezTo>
                      <a:pt x="3015747" y="730738"/>
                      <a:pt x="3142830" y="950852"/>
                      <a:pt x="3142830" y="1189063"/>
                    </a:cubicBezTo>
                    <a:lnTo>
                      <a:pt x="3142830" y="2233669"/>
                    </a:lnTo>
                    <a:cubicBezTo>
                      <a:pt x="3142830" y="2471880"/>
                      <a:pt x="3015747" y="2691993"/>
                      <a:pt x="2809455" y="2811094"/>
                    </a:cubicBezTo>
                    <a:lnTo>
                      <a:pt x="1904789" y="3333407"/>
                    </a:lnTo>
                    <a:cubicBezTo>
                      <a:pt x="1698497" y="3452507"/>
                      <a:pt x="1444332" y="3452507"/>
                      <a:pt x="1238039" y="3333407"/>
                    </a:cubicBezTo>
                    <a:lnTo>
                      <a:pt x="333375" y="2811094"/>
                    </a:lnTo>
                    <a:cubicBezTo>
                      <a:pt x="127082" y="2691993"/>
                      <a:pt x="0" y="2471880"/>
                      <a:pt x="0" y="2233669"/>
                    </a:cubicBezTo>
                    <a:lnTo>
                      <a:pt x="0" y="1189063"/>
                    </a:lnTo>
                    <a:cubicBezTo>
                      <a:pt x="0" y="950852"/>
                      <a:pt x="127082" y="730738"/>
                      <a:pt x="333375" y="611635"/>
                    </a:cubicBezTo>
                    <a:lnTo>
                      <a:pt x="1238039" y="89328"/>
                    </a:lnTo>
                    <a:close/>
                  </a:path>
                </a:pathLst>
              </a:custGeom>
              <a:noFill/>
              <a:ln w="28575" cap="rnd">
                <a:solidFill>
                  <a:schemeClr val="accent1"/>
                </a:solidFill>
                <a:prstDash val="sysDot"/>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a:ln>
                    <a:noFill/>
                  </a:ln>
                  <a:solidFill>
                    <a:prstClr val="white"/>
                  </a:solidFill>
                  <a:effectLst/>
                  <a:uLnTx/>
                  <a:uFillTx/>
                  <a:latin typeface="+mn-ea"/>
                  <a:cs typeface="+mn-cs"/>
                </a:endParaRPr>
              </a:p>
            </p:txBody>
          </p:sp>
        </p:grpSp>
        <p:sp>
          <p:nvSpPr>
            <p:cNvPr id="19" name="六边形 18">
              <a:extLst>
                <a:ext uri="{FF2B5EF4-FFF2-40B4-BE49-F238E27FC236}">
                  <a16:creationId xmlns:a16="http://schemas.microsoft.com/office/drawing/2014/main" id="{BE5FBCCC-0B34-076A-D61D-6615EF86AD83}"/>
                </a:ext>
              </a:extLst>
            </p:cNvPr>
            <p:cNvSpPr/>
            <p:nvPr/>
          </p:nvSpPr>
          <p:spPr>
            <a:xfrm>
              <a:off x="9618481" y="4222471"/>
              <a:ext cx="1646598" cy="1419480"/>
            </a:xfrm>
            <a:prstGeom prst="hexagon">
              <a:avLst/>
            </a:prstGeom>
            <a:solidFill>
              <a:sysClr val="window" lastClr="FFFFFF"/>
            </a:solidFill>
            <a:ln w="47625" cap="flat" cmpd="sng" algn="ctr">
              <a:gradFill>
                <a:gsLst>
                  <a:gs pos="0">
                    <a:schemeClr val="accent2"/>
                  </a:gs>
                  <a:gs pos="71000">
                    <a:schemeClr val="accent2"/>
                  </a:gs>
                  <a:gs pos="38000">
                    <a:schemeClr val="accent1"/>
                  </a:gs>
                  <a:gs pos="100000">
                    <a:schemeClr val="accent1"/>
                  </a:gs>
                </a:gsLst>
                <a:lin ang="5400000" scaled="1"/>
              </a:gradFill>
              <a:prstDash val="solid"/>
              <a:miter lim="800000"/>
            </a:ln>
            <a:effectLst>
              <a:outerShdw blurRad="190500" dist="114300" dir="5400000" algn="ctr" rotWithShape="0">
                <a:prstClr val="black">
                  <a:alpha val="1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2000" dirty="0">
                  <a:solidFill>
                    <a:schemeClr val="accent5">
                      <a:lumMod val="50000"/>
                    </a:schemeClr>
                  </a:solidFill>
                  <a:latin typeface="+mn-ea"/>
                </a:rPr>
                <a:t>Server</a:t>
              </a:r>
            </a:p>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000" dirty="0">
                  <a:solidFill>
                    <a:schemeClr val="accent5">
                      <a:lumMod val="50000"/>
                    </a:schemeClr>
                  </a:solidFill>
                  <a:latin typeface="+mn-ea"/>
                </a:rPr>
                <a:t>服务端</a:t>
              </a:r>
            </a:p>
          </p:txBody>
        </p:sp>
      </p:grpSp>
      <p:sp>
        <p:nvSpPr>
          <p:cNvPr id="23" name="文本框 22">
            <a:extLst>
              <a:ext uri="{FF2B5EF4-FFF2-40B4-BE49-F238E27FC236}">
                <a16:creationId xmlns:a16="http://schemas.microsoft.com/office/drawing/2014/main" id="{6D44B99C-1E3C-9996-74B7-BD84EBF6CE7A}"/>
              </a:ext>
            </a:extLst>
          </p:cNvPr>
          <p:cNvSpPr txBox="1"/>
          <p:nvPr/>
        </p:nvSpPr>
        <p:spPr>
          <a:xfrm>
            <a:off x="6841622" y="4205501"/>
            <a:ext cx="230063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solidFill>
                  <a:schemeClr val="tx2">
                    <a:lumMod val="50000"/>
                  </a:schemeClr>
                </a:solidFill>
                <a:latin typeface="+mn-ea"/>
              </a:rPr>
              <a:t>需要程序员开发服务端程序</a:t>
            </a:r>
            <a:endParaRPr kumimoji="0" lang="en-US" sz="1400" b="0" i="0" u="none" strike="noStrike" kern="1200" cap="none" spc="0" normalizeH="0" baseline="0" noProof="0" dirty="0">
              <a:ln>
                <a:noFill/>
              </a:ln>
              <a:solidFill>
                <a:schemeClr val="tx2">
                  <a:lumMod val="50000"/>
                </a:schemeClr>
              </a:solidFill>
              <a:effectLst/>
              <a:uLnTx/>
              <a:uFillTx/>
              <a:latin typeface="+mn-ea"/>
            </a:endParaRPr>
          </a:p>
        </p:txBody>
      </p:sp>
      <p:sp>
        <p:nvSpPr>
          <p:cNvPr id="24" name="箭头: 右 23">
            <a:extLst>
              <a:ext uri="{FF2B5EF4-FFF2-40B4-BE49-F238E27FC236}">
                <a16:creationId xmlns:a16="http://schemas.microsoft.com/office/drawing/2014/main" id="{1CC03CCE-76A9-B6AE-74BA-C61475891A41}"/>
              </a:ext>
            </a:extLst>
          </p:cNvPr>
          <p:cNvSpPr/>
          <p:nvPr/>
        </p:nvSpPr>
        <p:spPr>
          <a:xfrm>
            <a:off x="5165016" y="4061141"/>
            <a:ext cx="1628051" cy="297836"/>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endParaRPr lang="zh-CN" altLang="en-US" sz="1600">
              <a:latin typeface="+mn-ea"/>
              <a:cs typeface="阿里巴巴普惠体" panose="00020600040101010101" pitchFamily="18" charset="-122"/>
            </a:endParaRPr>
          </a:p>
        </p:txBody>
      </p:sp>
      <p:sp>
        <p:nvSpPr>
          <p:cNvPr id="25" name="箭头: 右 24">
            <a:extLst>
              <a:ext uri="{FF2B5EF4-FFF2-40B4-BE49-F238E27FC236}">
                <a16:creationId xmlns:a16="http://schemas.microsoft.com/office/drawing/2014/main" id="{85069B4B-FDA1-199F-7547-8A7BB7640651}"/>
              </a:ext>
            </a:extLst>
          </p:cNvPr>
          <p:cNvSpPr/>
          <p:nvPr/>
        </p:nvSpPr>
        <p:spPr>
          <a:xfrm flipH="1">
            <a:off x="5178041" y="4460825"/>
            <a:ext cx="1608516" cy="313249"/>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endParaRPr lang="zh-CN" altLang="en-US" sz="1600">
              <a:latin typeface="+mn-ea"/>
              <a:cs typeface="阿里巴巴普惠体" panose="00020600040101010101" pitchFamily="18" charset="-122"/>
            </a:endParaRPr>
          </a:p>
        </p:txBody>
      </p:sp>
    </p:spTree>
    <p:extLst>
      <p:ext uri="{BB962C8B-B14F-4D97-AF65-F5344CB8AC3E}">
        <p14:creationId xmlns:p14="http://schemas.microsoft.com/office/powerpoint/2010/main" val="30606425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35" presetClass="path" presetSubtype="0" decel="100000" fill="hold" nodeType="withEffect">
                                  <p:stCondLst>
                                    <p:cond delay="0"/>
                                  </p:stCondLst>
                                  <p:childTnLst>
                                    <p:animMotion origin="layout" path="M 1.66667E-6 -2.96296E-6 L -0.25 -2.96296E-6 " pathEditMode="relative" rAng="0" ptsTypes="AA">
                                      <p:cBhvr>
                                        <p:cTn id="9" dur="1000" spd="-100000" fill="hold"/>
                                        <p:tgtEl>
                                          <p:spTgt spid="9"/>
                                        </p:tgtEl>
                                        <p:attrNameLst>
                                          <p:attrName>ppt_x</p:attrName>
                                          <p:attrName>ppt_y</p:attrName>
                                        </p:attrNameLst>
                                      </p:cBhvr>
                                      <p:rCtr x="-12500" y="0"/>
                                    </p:animMotion>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left)">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63" presetClass="path" presetSubtype="0" decel="100000" fill="hold" nodeType="withEffect">
                                  <p:stCondLst>
                                    <p:cond delay="0"/>
                                  </p:stCondLst>
                                  <p:childTnLst>
                                    <p:animMotion origin="layout" path="M 2.91667E-6 -2.96296E-6 L 0.25 -2.96296E-6 " pathEditMode="relative" rAng="0" ptsTypes="AA">
                                      <p:cBhvr>
                                        <p:cTn id="26" dur="1000" spd="-100000" fill="hold"/>
                                        <p:tgtEl>
                                          <p:spTgt spid="8"/>
                                        </p:tgtEl>
                                        <p:attrNameLst>
                                          <p:attrName>ppt_x</p:attrName>
                                          <p:attrName>ppt_y</p:attrName>
                                        </p:attrNameLst>
                                      </p:cBhvr>
                                      <p:rCtr x="12500" y="0"/>
                                    </p:animMotion>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ipe(left)">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wipe(left)">
                                      <p:cBhvr>
                                        <p:cTn id="36" dur="500"/>
                                        <p:tgtEl>
                                          <p:spTgt spid="2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2"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wipe(right)">
                                      <p:cBhvr>
                                        <p:cTn id="4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6" grpId="0"/>
      <p:bldP spid="23" grpId="0"/>
      <p:bldP spid="24" grpId="0" animBg="1"/>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F0BB179B-CF47-347D-6D5B-78900CD30905}"/>
              </a:ext>
            </a:extLst>
          </p:cNvPr>
          <p:cNvGrpSpPr/>
          <p:nvPr/>
        </p:nvGrpSpPr>
        <p:grpSpPr>
          <a:xfrm>
            <a:off x="2758013" y="1745353"/>
            <a:ext cx="6675973" cy="594560"/>
            <a:chOff x="3353164" y="5731266"/>
            <a:chExt cx="3377803" cy="594560"/>
          </a:xfrm>
        </p:grpSpPr>
        <p:grpSp>
          <p:nvGrpSpPr>
            <p:cNvPr id="5" name="组合 4">
              <a:extLst>
                <a:ext uri="{FF2B5EF4-FFF2-40B4-BE49-F238E27FC236}">
                  <a16:creationId xmlns:a16="http://schemas.microsoft.com/office/drawing/2014/main" id="{CEDE6DBB-C18C-50B3-1620-4262742EEE4D}"/>
                </a:ext>
              </a:extLst>
            </p:cNvPr>
            <p:cNvGrpSpPr/>
            <p:nvPr/>
          </p:nvGrpSpPr>
          <p:grpSpPr>
            <a:xfrm>
              <a:off x="3353164" y="5731266"/>
              <a:ext cx="3377803" cy="594560"/>
              <a:chOff x="4304043" y="1286668"/>
              <a:chExt cx="4936372" cy="2757793"/>
            </a:xfrm>
            <a:effectLst>
              <a:outerShdw blurRad="381000" dist="254000" dir="8100000" algn="tr" rotWithShape="0">
                <a:prstClr val="black">
                  <a:alpha val="40000"/>
                </a:prstClr>
              </a:outerShdw>
            </a:effectLst>
          </p:grpSpPr>
          <p:sp>
            <p:nvSpPr>
              <p:cNvPr id="7" name="圆角矩形 70">
                <a:extLst>
                  <a:ext uri="{FF2B5EF4-FFF2-40B4-BE49-F238E27FC236}">
                    <a16:creationId xmlns:a16="http://schemas.microsoft.com/office/drawing/2014/main" id="{F8721241-C6E0-FDBB-3843-AC66843F2A5A}"/>
                  </a:ext>
                </a:extLst>
              </p:cNvPr>
              <p:cNvSpPr/>
              <p:nvPr/>
            </p:nvSpPr>
            <p:spPr>
              <a:xfrm>
                <a:off x="4304043" y="1286668"/>
                <a:ext cx="3978026"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阿里巴巴普惠体 3.0 95 ExtraBold" panose="00020600040101010101" pitchFamily="18" charset="-122"/>
                  <a:ea typeface="阿里巴巴普惠体 3.0 95 ExtraBold" panose="00020600040101010101" pitchFamily="18" charset="-122"/>
                  <a:cs typeface="阿里巴巴普惠体 3.0 95 ExtraBold" panose="00020600040101010101" pitchFamily="18" charset="-122"/>
                </a:endParaRPr>
              </a:p>
            </p:txBody>
          </p:sp>
          <p:sp>
            <p:nvSpPr>
              <p:cNvPr id="8" name="圆角矩形 71">
                <a:extLst>
                  <a:ext uri="{FF2B5EF4-FFF2-40B4-BE49-F238E27FC236}">
                    <a16:creationId xmlns:a16="http://schemas.microsoft.com/office/drawing/2014/main" id="{32320EF9-6963-3323-339D-A088D04CBFD3}"/>
                  </a:ext>
                </a:extLst>
              </p:cNvPr>
              <p:cNvSpPr/>
              <p:nvPr/>
            </p:nvSpPr>
            <p:spPr>
              <a:xfrm>
                <a:off x="4304043" y="1286668"/>
                <a:ext cx="4936372" cy="2757793"/>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阿里巴巴普惠体 3.0 95 ExtraBold" panose="00020600040101010101" pitchFamily="18" charset="-122"/>
                  <a:ea typeface="阿里巴巴普惠体 3.0 95 ExtraBold" panose="00020600040101010101" pitchFamily="18" charset="-122"/>
                  <a:cs typeface="阿里巴巴普惠体 3.0 95 ExtraBold" panose="00020600040101010101" pitchFamily="18" charset="-122"/>
                </a:endParaRPr>
              </a:p>
            </p:txBody>
          </p:sp>
        </p:grpSp>
        <p:sp>
          <p:nvSpPr>
            <p:cNvPr id="6" name="TextBox 69">
              <a:extLst>
                <a:ext uri="{FF2B5EF4-FFF2-40B4-BE49-F238E27FC236}">
                  <a16:creationId xmlns:a16="http://schemas.microsoft.com/office/drawing/2014/main" id="{0D42A650-7B35-F565-4A85-ADDFB5A412B9}"/>
                </a:ext>
              </a:extLst>
            </p:cNvPr>
            <p:cNvSpPr txBox="1"/>
            <p:nvPr/>
          </p:nvSpPr>
          <p:spPr>
            <a:xfrm>
              <a:off x="3482685" y="5752532"/>
              <a:ext cx="3144087" cy="468975"/>
            </a:xfrm>
            <a:prstGeom prst="rect">
              <a:avLst/>
            </a:prstGeom>
            <a:noFill/>
          </p:spPr>
          <p:txBody>
            <a:bodyPr wrap="square" rtlCol="0">
              <a:spAutoFit/>
            </a:bodyPr>
            <a:lstStyle/>
            <a:p>
              <a:pPr>
                <a:lnSpc>
                  <a:spcPct val="150000"/>
                </a:lnSpc>
                <a:defRPr/>
              </a:pPr>
              <a:r>
                <a:rPr lang="zh-CN" altLang="en-US" b="1" dirty="0">
                  <a:solidFill>
                    <a:srgbClr val="C00000"/>
                  </a:solidFill>
                  <a:latin typeface="+mn-ea"/>
                  <a:cs typeface="阿里巴巴普惠体 3.0 95 ExtraBold" panose="00020600040101010101" pitchFamily="18" charset="-122"/>
                </a:rPr>
                <a:t>无论是</a:t>
              </a:r>
              <a:r>
                <a:rPr lang="en-US" altLang="zh-CN" b="1" dirty="0">
                  <a:solidFill>
                    <a:srgbClr val="C00000"/>
                  </a:solidFill>
                  <a:latin typeface="+mn-ea"/>
                  <a:cs typeface="阿里巴巴普惠体 3.0 95 ExtraBold" panose="00020600040101010101" pitchFamily="18" charset="-122"/>
                </a:rPr>
                <a:t>CS</a:t>
              </a:r>
              <a:r>
                <a:rPr lang="zh-CN" altLang="en-US" b="1" dirty="0">
                  <a:solidFill>
                    <a:srgbClr val="C00000"/>
                  </a:solidFill>
                  <a:latin typeface="+mn-ea"/>
                  <a:cs typeface="阿里巴巴普惠体 3.0 95 ExtraBold" panose="00020600040101010101" pitchFamily="18" charset="-122"/>
                </a:rPr>
                <a:t>架构，还是</a:t>
              </a:r>
              <a:r>
                <a:rPr lang="en-US" altLang="zh-CN" b="1" dirty="0">
                  <a:solidFill>
                    <a:srgbClr val="C00000"/>
                  </a:solidFill>
                  <a:latin typeface="+mn-ea"/>
                  <a:cs typeface="阿里巴巴普惠体 3.0 95 ExtraBold" panose="00020600040101010101" pitchFamily="18" charset="-122"/>
                </a:rPr>
                <a:t>BS</a:t>
              </a:r>
              <a:r>
                <a:rPr lang="zh-CN" altLang="en-US" b="1" dirty="0">
                  <a:solidFill>
                    <a:srgbClr val="C00000"/>
                  </a:solidFill>
                  <a:latin typeface="+mn-ea"/>
                  <a:cs typeface="阿里巴巴普惠体 3.0 95 ExtraBold" panose="00020600040101010101" pitchFamily="18" charset="-122"/>
                </a:rPr>
                <a:t>架构的软件都必须依赖网络编程！</a:t>
              </a:r>
              <a:endParaRPr lang="zh-CN" altLang="en-US" sz="1800" b="1" dirty="0">
                <a:solidFill>
                  <a:srgbClr val="C00000"/>
                </a:solidFill>
                <a:latin typeface="+mn-ea"/>
                <a:cs typeface="阿里巴巴普惠体 3.0 95 ExtraBold" panose="00020600040101010101" pitchFamily="18" charset="-122"/>
              </a:endParaRPr>
            </a:p>
          </p:txBody>
        </p:sp>
      </p:grpSp>
      <p:sp>
        <p:nvSpPr>
          <p:cNvPr id="2" name="文本框 1">
            <a:extLst>
              <a:ext uri="{FF2B5EF4-FFF2-40B4-BE49-F238E27FC236}">
                <a16:creationId xmlns:a16="http://schemas.microsoft.com/office/drawing/2014/main" id="{E71B11E6-8AB8-79C4-CE05-9E0A2C5AFC67}"/>
              </a:ext>
            </a:extLst>
          </p:cNvPr>
          <p:cNvSpPr txBox="1"/>
          <p:nvPr/>
        </p:nvSpPr>
        <p:spPr>
          <a:xfrm>
            <a:off x="2758013" y="2933069"/>
            <a:ext cx="425148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chemeClr val="tx2">
                    <a:lumMod val="50000"/>
                  </a:schemeClr>
                </a:solidFill>
                <a:effectLst/>
                <a:uLnTx/>
                <a:uFillTx/>
                <a:latin typeface="+mn-ea"/>
                <a:cs typeface="+mn-cs"/>
              </a:rPr>
              <a:t>Java</a:t>
            </a:r>
            <a:r>
              <a:rPr kumimoji="0" lang="zh-CN" altLang="en-US" sz="2000" b="1" i="0" u="none" strike="noStrike" kern="1200" cap="none" spc="0" normalizeH="0" baseline="0" noProof="0" dirty="0">
                <a:ln>
                  <a:noFill/>
                </a:ln>
                <a:solidFill>
                  <a:schemeClr val="tx2">
                    <a:lumMod val="50000"/>
                  </a:schemeClr>
                </a:solidFill>
                <a:effectLst/>
                <a:uLnTx/>
                <a:uFillTx/>
                <a:latin typeface="+mn-ea"/>
                <a:cs typeface="+mn-cs"/>
              </a:rPr>
              <a:t>提供了哪些网络编程解决方案？</a:t>
            </a:r>
            <a:endParaRPr kumimoji="0" lang="en-US" sz="2000" b="1" i="0" u="none" strike="noStrike" kern="1200" cap="none" spc="0" normalizeH="0" baseline="0" noProof="0" dirty="0">
              <a:ln>
                <a:noFill/>
              </a:ln>
              <a:solidFill>
                <a:schemeClr val="tx2">
                  <a:lumMod val="50000"/>
                </a:schemeClr>
              </a:solidFill>
              <a:effectLst/>
              <a:uLnTx/>
              <a:uFillTx/>
              <a:latin typeface="+mn-ea"/>
              <a:cs typeface="+mn-cs"/>
            </a:endParaRPr>
          </a:p>
        </p:txBody>
      </p:sp>
      <p:grpSp>
        <p:nvGrpSpPr>
          <p:cNvPr id="3" name="组合 2">
            <a:extLst>
              <a:ext uri="{FF2B5EF4-FFF2-40B4-BE49-F238E27FC236}">
                <a16:creationId xmlns:a16="http://schemas.microsoft.com/office/drawing/2014/main" id="{3D4E8564-2A16-3396-D661-920F2A0A08E6}"/>
              </a:ext>
            </a:extLst>
          </p:cNvPr>
          <p:cNvGrpSpPr/>
          <p:nvPr/>
        </p:nvGrpSpPr>
        <p:grpSpPr>
          <a:xfrm>
            <a:off x="2758013" y="3924931"/>
            <a:ext cx="5085184" cy="594560"/>
            <a:chOff x="3353164" y="5731266"/>
            <a:chExt cx="3377803" cy="594560"/>
          </a:xfrm>
        </p:grpSpPr>
        <p:grpSp>
          <p:nvGrpSpPr>
            <p:cNvPr id="9" name="组合 8">
              <a:extLst>
                <a:ext uri="{FF2B5EF4-FFF2-40B4-BE49-F238E27FC236}">
                  <a16:creationId xmlns:a16="http://schemas.microsoft.com/office/drawing/2014/main" id="{0C0A89F9-09B8-F896-C366-9CA733C6A6E8}"/>
                </a:ext>
              </a:extLst>
            </p:cNvPr>
            <p:cNvGrpSpPr/>
            <p:nvPr/>
          </p:nvGrpSpPr>
          <p:grpSpPr>
            <a:xfrm>
              <a:off x="3353164" y="5731266"/>
              <a:ext cx="3377803" cy="594560"/>
              <a:chOff x="4304043" y="1286668"/>
              <a:chExt cx="4936372" cy="2757793"/>
            </a:xfrm>
            <a:effectLst>
              <a:outerShdw blurRad="381000" dist="254000" dir="8100000" algn="tr" rotWithShape="0">
                <a:prstClr val="black">
                  <a:alpha val="40000"/>
                </a:prstClr>
              </a:outerShdw>
            </a:effectLst>
          </p:grpSpPr>
          <p:sp>
            <p:nvSpPr>
              <p:cNvPr id="11" name="圆角矩形 70">
                <a:extLst>
                  <a:ext uri="{FF2B5EF4-FFF2-40B4-BE49-F238E27FC236}">
                    <a16:creationId xmlns:a16="http://schemas.microsoft.com/office/drawing/2014/main" id="{E5E96550-9675-B8C8-3FE6-F15185681E86}"/>
                  </a:ext>
                </a:extLst>
              </p:cNvPr>
              <p:cNvSpPr/>
              <p:nvPr/>
            </p:nvSpPr>
            <p:spPr>
              <a:xfrm>
                <a:off x="4304043" y="1286668"/>
                <a:ext cx="3978026"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Arial"/>
                  <a:ea typeface="微软雅黑"/>
                  <a:cs typeface="+mn-cs"/>
                </a:endParaRPr>
              </a:p>
            </p:txBody>
          </p:sp>
          <p:sp>
            <p:nvSpPr>
              <p:cNvPr id="12" name="圆角矩形 71">
                <a:extLst>
                  <a:ext uri="{FF2B5EF4-FFF2-40B4-BE49-F238E27FC236}">
                    <a16:creationId xmlns:a16="http://schemas.microsoft.com/office/drawing/2014/main" id="{B4790777-4205-F861-5B0B-0918B45BFCB2}"/>
                  </a:ext>
                </a:extLst>
              </p:cNvPr>
              <p:cNvSpPr/>
              <p:nvPr/>
            </p:nvSpPr>
            <p:spPr>
              <a:xfrm>
                <a:off x="4304043" y="1286668"/>
                <a:ext cx="4936372" cy="2757793"/>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Arial"/>
                  <a:ea typeface="微软雅黑"/>
                  <a:cs typeface="+mn-cs"/>
                </a:endParaRPr>
              </a:p>
            </p:txBody>
          </p:sp>
        </p:grpSp>
        <p:sp>
          <p:nvSpPr>
            <p:cNvPr id="10" name="TextBox 69">
              <a:extLst>
                <a:ext uri="{FF2B5EF4-FFF2-40B4-BE49-F238E27FC236}">
                  <a16:creationId xmlns:a16="http://schemas.microsoft.com/office/drawing/2014/main" id="{BB52BC24-33C3-EB8C-7532-EC96D95C17C0}"/>
                </a:ext>
              </a:extLst>
            </p:cNvPr>
            <p:cNvSpPr txBox="1"/>
            <p:nvPr/>
          </p:nvSpPr>
          <p:spPr>
            <a:xfrm>
              <a:off x="3544392" y="5737297"/>
              <a:ext cx="3144087" cy="440890"/>
            </a:xfrm>
            <a:prstGeom prst="rect">
              <a:avLst/>
            </a:prstGeom>
            <a:noFill/>
          </p:spPr>
          <p:txBody>
            <a:bodyPr wrap="square" rtlCol="0">
              <a:spAutoFit/>
            </a:bodyPr>
            <a:lstStyle>
              <a:defPPr>
                <a:defRPr lang="zh-CN"/>
              </a:defPPr>
              <a:lvl1pPr>
                <a:lnSpc>
                  <a:spcPct val="150000"/>
                </a:lnSpc>
                <a:defRPr b="1">
                  <a:solidFill>
                    <a:srgbClr val="C00000"/>
                  </a:solidFill>
                  <a:latin typeface="+mn-ea"/>
                  <a:cs typeface="阿里巴巴普惠体 3.0 95 ExtraBold" panose="00020600040101010101" pitchFamily="18" charset="-122"/>
                </a:defRPr>
              </a:lvl1pPr>
            </a:lstStyle>
            <a:p>
              <a:r>
                <a:rPr lang="en-US" altLang="zh-CN" dirty="0"/>
                <a:t>java.net.*</a:t>
              </a:r>
              <a:r>
                <a:rPr lang="zh-CN" altLang="en-US" dirty="0"/>
                <a:t>包下提供了网络编程的解决方案！</a:t>
              </a:r>
            </a:p>
          </p:txBody>
        </p:sp>
      </p:grpSp>
    </p:spTree>
    <p:extLst>
      <p:ext uri="{BB962C8B-B14F-4D97-AF65-F5344CB8AC3E}">
        <p14:creationId xmlns:p14="http://schemas.microsoft.com/office/powerpoint/2010/main" val="2806985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900" decel="100000" fill="hold"/>
                                        <p:tgtEl>
                                          <p:spTgt spid="4"/>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37"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1000"/>
                                        <p:tgtEl>
                                          <p:spTgt spid="3"/>
                                        </p:tgtEl>
                                      </p:cBhvr>
                                    </p:animEffect>
                                    <p:anim calcmode="lin" valueType="num">
                                      <p:cBhvr>
                                        <p:cTn id="21" dur="1000" fill="hold"/>
                                        <p:tgtEl>
                                          <p:spTgt spid="3"/>
                                        </p:tgtEl>
                                        <p:attrNameLst>
                                          <p:attrName>ppt_x</p:attrName>
                                        </p:attrNameLst>
                                      </p:cBhvr>
                                      <p:tavLst>
                                        <p:tav tm="0">
                                          <p:val>
                                            <p:strVal val="#ppt_x"/>
                                          </p:val>
                                        </p:tav>
                                        <p:tav tm="100000">
                                          <p:val>
                                            <p:strVal val="#ppt_x"/>
                                          </p:val>
                                        </p:tav>
                                      </p:tavLst>
                                    </p:anim>
                                    <p:anim calcmode="lin" valueType="num">
                                      <p:cBhvr>
                                        <p:cTn id="22" dur="900" decel="100000" fill="hold"/>
                                        <p:tgtEl>
                                          <p:spTgt spid="3"/>
                                        </p:tgtEl>
                                        <p:attrNameLst>
                                          <p:attrName>ppt_y</p:attrName>
                                        </p:attrNameLst>
                                      </p:cBhvr>
                                      <p:tavLst>
                                        <p:tav tm="0">
                                          <p:val>
                                            <p:strVal val="#ppt_y+1"/>
                                          </p:val>
                                        </p:tav>
                                        <p:tav tm="100000">
                                          <p:val>
                                            <p:strVal val="#ppt_y-.03"/>
                                          </p:val>
                                        </p:tav>
                                      </p:tavLst>
                                    </p:anim>
                                    <p:anim calcmode="lin" valueType="num">
                                      <p:cBhvr>
                                        <p:cTn id="23" dur="100" accel="100000" fill="hold">
                                          <p:stCondLst>
                                            <p:cond delay="900"/>
                                          </p:stCondLst>
                                        </p:cTn>
                                        <p:tgtEl>
                                          <p:spTgt spid="3"/>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BB058F8C-E1CF-C0B6-DFD6-333C35EDF5EA}"/>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6B0FD54F-106D-3030-CF35-C0D76276A7C5}"/>
              </a:ext>
            </a:extLst>
          </p:cNvPr>
          <p:cNvSpPr>
            <a:spLocks noGrp="1"/>
          </p:cNvSpPr>
          <p:nvPr>
            <p:ph type="body" sz="quarter" idx="10"/>
          </p:nvPr>
        </p:nvSpPr>
        <p:spPr>
          <a:xfrm>
            <a:off x="5615472" y="2267199"/>
            <a:ext cx="5634223" cy="2143815"/>
          </a:xfrm>
        </p:spPr>
        <p:txBody>
          <a:bodyPr anchor="t"/>
          <a:lstStyle/>
          <a:p>
            <a:r>
              <a:rPr kumimoji="1" lang="zh-CN" altLang="en-US" dirty="0">
                <a:latin typeface="Consolas" panose="020B0609020204030204" pitchFamily="49" charset="0"/>
              </a:rPr>
              <a:t>网络编程基本概念</a:t>
            </a:r>
            <a:endParaRPr kumimoji="1" lang="en-US" altLang="zh-CN" dirty="0">
              <a:latin typeface="Consolas" panose="020B0609020204030204" pitchFamily="49" charset="0"/>
            </a:endParaRPr>
          </a:p>
          <a:p>
            <a:r>
              <a:rPr kumimoji="1" lang="zh-CN" altLang="en-US" dirty="0">
                <a:latin typeface="Consolas" panose="020B0609020204030204" pitchFamily="49" charset="0"/>
              </a:rPr>
              <a:t>网络编程三要素</a:t>
            </a:r>
            <a:endParaRPr kumimoji="1" lang="en-US" altLang="zh-CN" dirty="0">
              <a:latin typeface="Consolas" panose="020B0609020204030204" pitchFamily="49" charset="0"/>
            </a:endParaRPr>
          </a:p>
          <a:p>
            <a:r>
              <a:rPr kumimoji="1" lang="en-US" altLang="zh-CN" dirty="0">
                <a:latin typeface="Consolas" panose="020B0609020204030204" pitchFamily="49" charset="0"/>
              </a:rPr>
              <a:t>UDP </a:t>
            </a:r>
            <a:r>
              <a:rPr kumimoji="1" lang="zh-CN" altLang="en-US" dirty="0">
                <a:latin typeface="Consolas" panose="020B0609020204030204" pitchFamily="49" charset="0"/>
              </a:rPr>
              <a:t>协议收发数据</a:t>
            </a:r>
            <a:endParaRPr kumimoji="1" lang="en-US" altLang="zh-CN" dirty="0">
              <a:latin typeface="Consolas" panose="020B0609020204030204" pitchFamily="49" charset="0"/>
            </a:endParaRPr>
          </a:p>
          <a:p>
            <a:r>
              <a:rPr kumimoji="1" lang="en-US" altLang="zh-CN" dirty="0">
                <a:latin typeface="Consolas" panose="020B0609020204030204" pitchFamily="49" charset="0"/>
              </a:rPr>
              <a:t>TCP </a:t>
            </a:r>
            <a:r>
              <a:rPr kumimoji="1" lang="zh-CN" altLang="en-US" dirty="0">
                <a:latin typeface="Consolas" panose="020B0609020204030204" pitchFamily="49" charset="0"/>
              </a:rPr>
              <a:t>协议收发数据</a:t>
            </a:r>
            <a:endParaRPr kumimoji="1" lang="en-US" altLang="zh-CN" dirty="0">
              <a:latin typeface="Consolas" panose="020B0609020204030204" pitchFamily="49" charset="0"/>
            </a:endParaRPr>
          </a:p>
        </p:txBody>
      </p:sp>
    </p:spTree>
    <p:extLst>
      <p:ext uri="{BB962C8B-B14F-4D97-AF65-F5344CB8AC3E}">
        <p14:creationId xmlns:p14="http://schemas.microsoft.com/office/powerpoint/2010/main" val="1719915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85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stCondLst>
                                            <p:cond delay="0"/>
                                          </p:stCondLst>
                                        </p:cTn>
                                        <p:tgtEl>
                                          <p:spTgt spid="2"/>
                                        </p:tgtEl>
                                      </p:cBhvr>
                                    </p:animEffect>
                                    <p:anim to="0" calcmode="lin" valueType="num">
                                      <p:cBhvr>
                                        <p:cTn id="8" dur="500" fill="hold">
                                          <p:stCondLst>
                                            <p:cond delay="0"/>
                                          </p:stCondLst>
                                        </p:cTn>
                                        <p:tgtEl>
                                          <p:spTgt spid="2"/>
                                        </p:tgtEl>
                                        <p:attrNameLst>
                                          <p:attrName>ppt_x</p:attrName>
                                        </p:attrNameLst>
                                      </p:cBhvr>
                                      <p:tavLst>
                                        <p:tav tm="0">
                                          <p:val>
                                            <p:strVal val="#ppt_x-.05"/>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C1303-35B9-560C-5CEB-8A4F07E4008A}"/>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8FEF52B0-FFC2-2FDD-5304-C24E8D4ADBC1}"/>
              </a:ext>
            </a:extLst>
          </p:cNvPr>
          <p:cNvSpPr>
            <a:spLocks noGrp="1"/>
          </p:cNvSpPr>
          <p:nvPr>
            <p:ph type="body" sz="quarter" idx="13"/>
          </p:nvPr>
        </p:nvSpPr>
        <p:spPr>
          <a:xfrm>
            <a:off x="5834080" y="2465278"/>
            <a:ext cx="4831831" cy="901700"/>
          </a:xfrm>
        </p:spPr>
        <p:txBody>
          <a:bodyPr/>
          <a:lstStyle/>
          <a:p>
            <a:r>
              <a:rPr lang="zh-CN" altLang="en-US" dirty="0"/>
              <a:t>网络编程三要素</a:t>
            </a:r>
          </a:p>
        </p:txBody>
      </p:sp>
      <p:sp>
        <p:nvSpPr>
          <p:cNvPr id="10" name="文本占位符 9">
            <a:extLst>
              <a:ext uri="{FF2B5EF4-FFF2-40B4-BE49-F238E27FC236}">
                <a16:creationId xmlns:a16="http://schemas.microsoft.com/office/drawing/2014/main" id="{F433C294-0A89-968D-D1D9-BBBE58DF93DD}"/>
              </a:ext>
            </a:extLst>
          </p:cNvPr>
          <p:cNvSpPr>
            <a:spLocks noGrp="1"/>
          </p:cNvSpPr>
          <p:nvPr>
            <p:ph type="body" sz="quarter" idx="14"/>
          </p:nvPr>
        </p:nvSpPr>
        <p:spPr/>
        <p:txBody>
          <a:bodyPr/>
          <a:lstStyle/>
          <a:p>
            <a:r>
              <a:rPr lang="en-US" altLang="zh-CN" dirty="0"/>
              <a:t>2</a:t>
            </a:r>
            <a:endParaRPr lang="zh-CN" altLang="en-US" dirty="0"/>
          </a:p>
        </p:txBody>
      </p:sp>
    </p:spTree>
    <p:extLst>
      <p:ext uri="{BB962C8B-B14F-4D97-AF65-F5344CB8AC3E}">
        <p14:creationId xmlns:p14="http://schemas.microsoft.com/office/powerpoint/2010/main" val="61180382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FA26D-793C-39D4-E013-E2471E5DEA5C}"/>
            </a:ext>
          </a:extLst>
        </p:cNvPr>
        <p:cNvGrpSpPr/>
        <p:nvPr/>
      </p:nvGrpSpPr>
      <p:grpSpPr>
        <a:xfrm>
          <a:off x="0" y="0"/>
          <a:ext cx="0" cy="0"/>
          <a:chOff x="0" y="0"/>
          <a:chExt cx="0" cy="0"/>
        </a:xfrm>
      </p:grpSpPr>
      <p:sp>
        <p:nvSpPr>
          <p:cNvPr id="18" name="标题 17">
            <a:extLst>
              <a:ext uri="{FF2B5EF4-FFF2-40B4-BE49-F238E27FC236}">
                <a16:creationId xmlns:a16="http://schemas.microsoft.com/office/drawing/2014/main" id="{E2592EDC-E48D-4474-F63D-1167E73FCE3A}"/>
              </a:ext>
            </a:extLst>
          </p:cNvPr>
          <p:cNvSpPr>
            <a:spLocks noGrp="1"/>
          </p:cNvSpPr>
          <p:nvPr>
            <p:ph type="title"/>
          </p:nvPr>
        </p:nvSpPr>
        <p:spPr/>
        <p:txBody>
          <a:bodyPr/>
          <a:lstStyle/>
          <a:p>
            <a:r>
              <a:rPr lang="zh-CN" altLang="en-US" dirty="0"/>
              <a:t>网络通信三要素</a:t>
            </a:r>
            <a:endParaRPr lang="en-US" dirty="0"/>
          </a:p>
        </p:txBody>
      </p:sp>
      <p:grpSp>
        <p:nvGrpSpPr>
          <p:cNvPr id="14" name="组合 13">
            <a:extLst>
              <a:ext uri="{FF2B5EF4-FFF2-40B4-BE49-F238E27FC236}">
                <a16:creationId xmlns:a16="http://schemas.microsoft.com/office/drawing/2014/main" id="{5D9D2E1E-B702-EEAB-5D2B-ED30BF7CABB9}"/>
              </a:ext>
            </a:extLst>
          </p:cNvPr>
          <p:cNvGrpSpPr/>
          <p:nvPr/>
        </p:nvGrpSpPr>
        <p:grpSpPr>
          <a:xfrm>
            <a:off x="1373694" y="2347907"/>
            <a:ext cx="2463800" cy="2743858"/>
            <a:chOff x="1373694" y="1741515"/>
            <a:chExt cx="2463800" cy="2743858"/>
          </a:xfrm>
          <a:effectLst>
            <a:outerShdw blurRad="76200" dir="18900000" sy="23000" kx="-1200000" algn="bl" rotWithShape="0">
              <a:prstClr val="black">
                <a:alpha val="20000"/>
              </a:prstClr>
            </a:outerShdw>
          </a:effectLst>
        </p:grpSpPr>
        <p:sp>
          <p:nvSpPr>
            <p:cNvPr id="3" name="Rounded Rectangle 2">
              <a:extLst>
                <a:ext uri="{FF2B5EF4-FFF2-40B4-BE49-F238E27FC236}">
                  <a16:creationId xmlns:a16="http://schemas.microsoft.com/office/drawing/2014/main" id="{0F3FBFDC-B3F8-0C38-9430-FED7AA55814C}"/>
                </a:ext>
              </a:extLst>
            </p:cNvPr>
            <p:cNvSpPr/>
            <p:nvPr/>
          </p:nvSpPr>
          <p:spPr>
            <a:xfrm>
              <a:off x="1373694" y="1741515"/>
              <a:ext cx="2463800" cy="2743858"/>
            </a:xfrm>
            <a:prstGeom prst="roundRect">
              <a:avLst>
                <a:gd name="adj" fmla="val 48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mn-ea"/>
                <a:cs typeface="阿里巴巴普惠体" panose="00020600040101010101" pitchFamily="18" charset="-122"/>
                <a:sym typeface="Arial" panose="020B060402020209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lang="en-US" altLang="zh-CN" sz="1600" dirty="0">
                <a:solidFill>
                  <a:prstClr val="black">
                    <a:lumMod val="85000"/>
                    <a:lumOff val="15000"/>
                  </a:prstClr>
                </a:solidFill>
                <a:latin typeface="+mn-ea"/>
                <a:cs typeface="阿里巴巴普惠体" panose="00020600040101010101" pitchFamily="18" charset="-122"/>
                <a:sym typeface="Arial" panose="020B060402020209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mn-ea"/>
                  <a:cs typeface="阿里巴巴普惠体" panose="00020600040101010101" pitchFamily="18" charset="-122"/>
                  <a:sym typeface="Arial" panose="020B0604020202090204" pitchFamily="34" charset="0"/>
                </a:rPr>
                <a:t>设备在网络中的地址，是设备在网络中的唯一标识</a:t>
              </a: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mn-ea"/>
                <a:cs typeface="阿里巴巴普惠体" panose="00020600040101010101" pitchFamily="18" charset="-122"/>
                <a:sym typeface="Arial" panose="020B0604020202090204" pitchFamily="34" charset="0"/>
              </a:endParaRPr>
            </a:p>
          </p:txBody>
        </p:sp>
        <p:sp>
          <p:nvSpPr>
            <p:cNvPr id="4" name="Round Same Side Corner Rectangle 3">
              <a:extLst>
                <a:ext uri="{FF2B5EF4-FFF2-40B4-BE49-F238E27FC236}">
                  <a16:creationId xmlns:a16="http://schemas.microsoft.com/office/drawing/2014/main" id="{FA0FFEF4-1BBF-009A-3FDA-9114AD8F8C36}"/>
                </a:ext>
              </a:extLst>
            </p:cNvPr>
            <p:cNvSpPr/>
            <p:nvPr/>
          </p:nvSpPr>
          <p:spPr>
            <a:xfrm>
              <a:off x="1373694" y="1741515"/>
              <a:ext cx="2463800" cy="1113825"/>
            </a:xfrm>
            <a:prstGeom prst="round2SameRect">
              <a:avLst>
                <a:gd name="adj1" fmla="val 10686"/>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prstClr val="white"/>
                </a:solidFill>
                <a:effectLst/>
                <a:uLnTx/>
                <a:uFillTx/>
                <a:latin typeface="+mn-ea"/>
                <a:cs typeface="阿里巴巴普惠体" panose="00020600040101010101" pitchFamily="18" charset="-122"/>
                <a:sym typeface="Arial" panose="020B0604020202090204" pitchFamily="34" charset="0"/>
              </a:endParaRPr>
            </a:p>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prstClr val="white"/>
                </a:solidFill>
                <a:effectLst/>
                <a:uLnTx/>
                <a:uFillTx/>
                <a:latin typeface="+mn-ea"/>
                <a:cs typeface="阿里巴巴普惠体" panose="00020600040101010101" pitchFamily="18" charset="-122"/>
                <a:sym typeface="Arial" panose="020B0604020202090204" pitchFamily="34" charset="0"/>
              </a:endParaRPr>
            </a:p>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mn-ea"/>
                  <a:cs typeface="阿里巴巴普惠体 3.0 75 SemiBold" panose="00020600040101010101" pitchFamily="18" charset="-122"/>
                  <a:sym typeface="Arial" panose="020B0604020202090204" pitchFamily="34" charset="0"/>
                </a:rPr>
                <a:t>IP</a:t>
              </a:r>
              <a:r>
                <a:rPr kumimoji="0" lang="zh-CN" altLang="en-US" sz="1800" b="1" i="0" u="none" strike="noStrike" kern="1200" cap="none" spc="0" normalizeH="0" baseline="0" noProof="0" dirty="0">
                  <a:ln>
                    <a:noFill/>
                  </a:ln>
                  <a:solidFill>
                    <a:prstClr val="white"/>
                  </a:solidFill>
                  <a:effectLst/>
                  <a:uLnTx/>
                  <a:uFillTx/>
                  <a:latin typeface="+mn-ea"/>
                  <a:cs typeface="阿里巴巴普惠体 3.0 75 SemiBold" panose="00020600040101010101" pitchFamily="18" charset="-122"/>
                  <a:sym typeface="Arial" panose="020B0604020202090204" pitchFamily="34" charset="0"/>
                </a:rPr>
                <a:t>地址</a:t>
              </a:r>
            </a:p>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n-ea"/>
                <a:cs typeface="阿里巴巴普惠体" panose="00020600040101010101" pitchFamily="18" charset="-122"/>
              </a:endParaRPr>
            </a:p>
          </p:txBody>
        </p:sp>
        <p:sp>
          <p:nvSpPr>
            <p:cNvPr id="11" name="Inhaltsplatzhalter 4">
              <a:extLst>
                <a:ext uri="{FF2B5EF4-FFF2-40B4-BE49-F238E27FC236}">
                  <a16:creationId xmlns:a16="http://schemas.microsoft.com/office/drawing/2014/main" id="{FCD95C0D-31A1-7AE2-2C4D-E5517963F5B1}"/>
                </a:ext>
              </a:extLst>
            </p:cNvPr>
            <p:cNvSpPr txBox="1">
              <a:spLocks/>
            </p:cNvSpPr>
            <p:nvPr/>
          </p:nvSpPr>
          <p:spPr>
            <a:xfrm>
              <a:off x="1921535" y="1876881"/>
              <a:ext cx="1368118" cy="41908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127" rtl="0" eaLnBrk="1" fontAlgn="auto" latinLnBrk="0" hangingPunct="1">
                <a:lnSpc>
                  <a:spcPct val="120000"/>
                </a:lnSpc>
                <a:spcBef>
                  <a:spcPts val="0"/>
                </a:spcBef>
                <a:spcAft>
                  <a:spcPts val="0"/>
                </a:spcAft>
                <a:buClrTx/>
                <a:buSzTx/>
                <a:buFont typeface="Wingdings" panose="05000000000000000000" pitchFamily="2" charset="2"/>
                <a:buNone/>
                <a:tabLst/>
                <a:defRPr/>
              </a:pPr>
              <a:r>
                <a:rPr kumimoji="0" lang="en-US" sz="2400" b="1" i="0" u="none" strike="noStrike" kern="1200" cap="none" spc="0" normalizeH="0" baseline="0" noProof="0" dirty="0">
                  <a:ln>
                    <a:noFill/>
                  </a:ln>
                  <a:solidFill>
                    <a:prstClr val="white"/>
                  </a:solidFill>
                  <a:effectLst/>
                  <a:uLnTx/>
                  <a:uFillTx/>
                  <a:latin typeface="+mn-ea"/>
                  <a:cs typeface="阿里巴巴普惠体 3.0 75 SemiBold" panose="00020600040101010101" pitchFamily="18" charset="-122"/>
                </a:rPr>
                <a:t>01</a:t>
              </a:r>
              <a:endParaRPr kumimoji="0" lang="en-US" sz="1800" b="0" i="0" u="none" strike="noStrike" kern="1200" cap="none" spc="0" normalizeH="0" baseline="0" noProof="0" dirty="0">
                <a:ln>
                  <a:noFill/>
                </a:ln>
                <a:solidFill>
                  <a:prstClr val="white"/>
                </a:solidFill>
                <a:effectLst/>
                <a:uLnTx/>
                <a:uFillTx/>
                <a:latin typeface="+mn-ea"/>
                <a:cs typeface="阿里巴巴普惠体 3.0 75 SemiBold" panose="00020600040101010101" pitchFamily="18" charset="-122"/>
              </a:endParaRPr>
            </a:p>
          </p:txBody>
        </p:sp>
      </p:grpSp>
      <p:grpSp>
        <p:nvGrpSpPr>
          <p:cNvPr id="15" name="组合 14">
            <a:extLst>
              <a:ext uri="{FF2B5EF4-FFF2-40B4-BE49-F238E27FC236}">
                <a16:creationId xmlns:a16="http://schemas.microsoft.com/office/drawing/2014/main" id="{1ABDBA38-FA8D-782C-735E-B13D8D6B4880}"/>
              </a:ext>
            </a:extLst>
          </p:cNvPr>
          <p:cNvGrpSpPr/>
          <p:nvPr/>
        </p:nvGrpSpPr>
        <p:grpSpPr>
          <a:xfrm>
            <a:off x="5063848" y="2360377"/>
            <a:ext cx="2463800" cy="2718919"/>
            <a:chOff x="5063848" y="1766454"/>
            <a:chExt cx="2463800" cy="2718919"/>
          </a:xfrm>
          <a:effectLst>
            <a:outerShdw blurRad="76200" dir="18900000" sy="23000" kx="-1200000" algn="bl" rotWithShape="0">
              <a:prstClr val="black">
                <a:alpha val="20000"/>
              </a:prstClr>
            </a:outerShdw>
          </a:effectLst>
        </p:grpSpPr>
        <p:sp>
          <p:nvSpPr>
            <p:cNvPr id="6" name="Rounded Rectangle 13">
              <a:extLst>
                <a:ext uri="{FF2B5EF4-FFF2-40B4-BE49-F238E27FC236}">
                  <a16:creationId xmlns:a16="http://schemas.microsoft.com/office/drawing/2014/main" id="{38638662-4211-076B-5EC4-3CBA6B1D1677}"/>
                </a:ext>
              </a:extLst>
            </p:cNvPr>
            <p:cNvSpPr/>
            <p:nvPr/>
          </p:nvSpPr>
          <p:spPr>
            <a:xfrm>
              <a:off x="5063848" y="1766454"/>
              <a:ext cx="2463800" cy="2718919"/>
            </a:xfrm>
            <a:prstGeom prst="roundRect">
              <a:avLst>
                <a:gd name="adj" fmla="val 48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lang="en-US" altLang="zh-CN" sz="1600" dirty="0">
                <a:solidFill>
                  <a:prstClr val="black">
                    <a:lumMod val="75000"/>
                    <a:lumOff val="25000"/>
                  </a:prstClr>
                </a:solidFill>
                <a:latin typeface="+mn-ea"/>
                <a:cs typeface="阿里巴巴普惠体" panose="00020600040101010101" pitchFamily="18" charset="-122"/>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lang="en-US" altLang="zh-CN" sz="1600" dirty="0">
                <a:solidFill>
                  <a:prstClr val="black">
                    <a:lumMod val="75000"/>
                    <a:lumOff val="25000"/>
                  </a:prstClr>
                </a:solidFill>
                <a:latin typeface="+mn-ea"/>
                <a:cs typeface="阿里巴巴普惠体" panose="00020600040101010101" pitchFamily="18" charset="-122"/>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rPr>
                <a:t>应用程序在设备中的唯一标识</a:t>
              </a: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endParaRPr>
            </a:p>
          </p:txBody>
        </p:sp>
        <p:sp>
          <p:nvSpPr>
            <p:cNvPr id="7" name="Round Same Side Corner Rectangle 14">
              <a:extLst>
                <a:ext uri="{FF2B5EF4-FFF2-40B4-BE49-F238E27FC236}">
                  <a16:creationId xmlns:a16="http://schemas.microsoft.com/office/drawing/2014/main" id="{6F21EE0B-C15F-DCA1-A6BD-691466A86236}"/>
                </a:ext>
              </a:extLst>
            </p:cNvPr>
            <p:cNvSpPr/>
            <p:nvPr/>
          </p:nvSpPr>
          <p:spPr>
            <a:xfrm>
              <a:off x="5063848" y="1766454"/>
              <a:ext cx="2463800" cy="1113825"/>
            </a:xfrm>
            <a:prstGeom prst="round2SameRect">
              <a:avLst>
                <a:gd name="adj1" fmla="val 10686"/>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prstClr val="white"/>
                </a:solidFill>
                <a:effectLst/>
                <a:uLnTx/>
                <a:uFillTx/>
                <a:latin typeface="+mn-ea"/>
                <a:cs typeface="阿里巴巴普惠体" panose="00020600040101010101" pitchFamily="18" charset="-122"/>
                <a:sym typeface="Arial" panose="020B0604020202090204" pitchFamily="34" charset="0"/>
              </a:endParaRPr>
            </a:p>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mn-ea"/>
                  <a:cs typeface="阿里巴巴普惠体 3.0 75 SemiBold" panose="00020600040101010101" pitchFamily="18" charset="-122"/>
                  <a:sym typeface="Arial" panose="020B0604020202090204" pitchFamily="34" charset="0"/>
                </a:rPr>
                <a:t>端口</a:t>
              </a:r>
              <a:endParaRPr kumimoji="0" lang="en-US" sz="1800" b="0" i="0" u="none" strike="noStrike" kern="1200" cap="none" spc="0" normalizeH="0" baseline="0" noProof="0" dirty="0">
                <a:ln>
                  <a:noFill/>
                </a:ln>
                <a:solidFill>
                  <a:prstClr val="white"/>
                </a:solidFill>
                <a:effectLst/>
                <a:uLnTx/>
                <a:uFillTx/>
                <a:latin typeface="+mn-ea"/>
                <a:cs typeface="阿里巴巴普惠体" panose="00020600040101010101" pitchFamily="18" charset="-122"/>
              </a:endParaRPr>
            </a:p>
          </p:txBody>
        </p:sp>
        <p:sp>
          <p:nvSpPr>
            <p:cNvPr id="12" name="Inhaltsplatzhalter 4">
              <a:extLst>
                <a:ext uri="{FF2B5EF4-FFF2-40B4-BE49-F238E27FC236}">
                  <a16:creationId xmlns:a16="http://schemas.microsoft.com/office/drawing/2014/main" id="{0F93DDC6-88EE-9ECB-24E7-03F29EEF0992}"/>
                </a:ext>
              </a:extLst>
            </p:cNvPr>
            <p:cNvSpPr txBox="1">
              <a:spLocks/>
            </p:cNvSpPr>
            <p:nvPr/>
          </p:nvSpPr>
          <p:spPr>
            <a:xfrm>
              <a:off x="5611689" y="1876881"/>
              <a:ext cx="1368118" cy="41908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127" rtl="0" eaLnBrk="1" fontAlgn="auto" latinLnBrk="0" hangingPunct="1">
                <a:lnSpc>
                  <a:spcPct val="120000"/>
                </a:lnSpc>
                <a:spcBef>
                  <a:spcPts val="0"/>
                </a:spcBef>
                <a:spcAft>
                  <a:spcPts val="0"/>
                </a:spcAft>
                <a:buClrTx/>
                <a:buSzTx/>
                <a:buFont typeface="Wingdings" panose="05000000000000000000" pitchFamily="2" charset="2"/>
                <a:buNone/>
                <a:tabLst/>
                <a:defRPr/>
              </a:pPr>
              <a:r>
                <a:rPr kumimoji="0" lang="en-US" sz="2400" b="1" i="0" u="none" strike="noStrike" kern="1200" cap="none" spc="0" normalizeH="0" baseline="0" noProof="0" dirty="0">
                  <a:ln>
                    <a:noFill/>
                  </a:ln>
                  <a:solidFill>
                    <a:prstClr val="white"/>
                  </a:solidFill>
                  <a:effectLst/>
                  <a:uLnTx/>
                  <a:uFillTx/>
                  <a:latin typeface="+mn-ea"/>
                  <a:cs typeface="阿里巴巴普惠体 3.0 75 SemiBold" panose="00020600040101010101" pitchFamily="18" charset="-122"/>
                </a:rPr>
                <a:t>02</a:t>
              </a:r>
              <a:endParaRPr kumimoji="0" lang="en-US" sz="1800" b="0" i="0" u="none" strike="noStrike" kern="1200" cap="none" spc="0" normalizeH="0" baseline="0" noProof="0" dirty="0">
                <a:ln>
                  <a:noFill/>
                </a:ln>
                <a:solidFill>
                  <a:prstClr val="white"/>
                </a:solidFill>
                <a:effectLst/>
                <a:uLnTx/>
                <a:uFillTx/>
                <a:latin typeface="+mn-ea"/>
                <a:cs typeface="阿里巴巴普惠体 3.0 75 SemiBold" panose="00020600040101010101" pitchFamily="18" charset="-122"/>
              </a:endParaRPr>
            </a:p>
          </p:txBody>
        </p:sp>
      </p:grpSp>
      <p:grpSp>
        <p:nvGrpSpPr>
          <p:cNvPr id="16" name="组合 15">
            <a:extLst>
              <a:ext uri="{FF2B5EF4-FFF2-40B4-BE49-F238E27FC236}">
                <a16:creationId xmlns:a16="http://schemas.microsoft.com/office/drawing/2014/main" id="{6CCA284E-72B4-3E6F-6013-E6583C2029C8}"/>
              </a:ext>
            </a:extLst>
          </p:cNvPr>
          <p:cNvGrpSpPr/>
          <p:nvPr/>
        </p:nvGrpSpPr>
        <p:grpSpPr>
          <a:xfrm>
            <a:off x="8612239" y="2360377"/>
            <a:ext cx="2463800" cy="2718919"/>
            <a:chOff x="8612239" y="1766454"/>
            <a:chExt cx="2463800" cy="2718919"/>
          </a:xfrm>
          <a:effectLst>
            <a:outerShdw blurRad="76200" dir="18900000" sy="23000" kx="-1200000" algn="bl" rotWithShape="0">
              <a:prstClr val="black">
                <a:alpha val="20000"/>
              </a:prstClr>
            </a:outerShdw>
          </a:effectLst>
        </p:grpSpPr>
        <p:sp>
          <p:nvSpPr>
            <p:cNvPr id="9" name="Rounded Rectangle 18">
              <a:extLst>
                <a:ext uri="{FF2B5EF4-FFF2-40B4-BE49-F238E27FC236}">
                  <a16:creationId xmlns:a16="http://schemas.microsoft.com/office/drawing/2014/main" id="{27696373-CBDA-E9E3-8778-D244F8ED19FB}"/>
                </a:ext>
              </a:extLst>
            </p:cNvPr>
            <p:cNvSpPr/>
            <p:nvPr/>
          </p:nvSpPr>
          <p:spPr>
            <a:xfrm>
              <a:off x="8612239" y="1766454"/>
              <a:ext cx="2463800" cy="2718919"/>
            </a:xfrm>
            <a:prstGeom prst="roundRect">
              <a:avLst>
                <a:gd name="adj" fmla="val 48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sym typeface="Arial" panose="020B060402020209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sym typeface="Arial" panose="020B060402020209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lang="en-US" altLang="zh-CN" sz="1600" dirty="0">
                <a:solidFill>
                  <a:prstClr val="black">
                    <a:lumMod val="75000"/>
                    <a:lumOff val="25000"/>
                  </a:prstClr>
                </a:solidFill>
                <a:latin typeface="+mn-ea"/>
                <a:cs typeface="阿里巴巴普惠体" panose="00020600040101010101" pitchFamily="18" charset="-122"/>
                <a:sym typeface="Arial" panose="020B060402020209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sym typeface="Arial" panose="020B060402020209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lang="en-US" altLang="zh-CN" sz="1600" dirty="0">
                <a:solidFill>
                  <a:prstClr val="black">
                    <a:lumMod val="75000"/>
                    <a:lumOff val="25000"/>
                  </a:prstClr>
                </a:solidFill>
                <a:latin typeface="+mn-ea"/>
                <a:cs typeface="阿里巴巴普惠体" panose="00020600040101010101" pitchFamily="18" charset="-122"/>
                <a:sym typeface="Arial" panose="020B060402020209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sym typeface="Arial" panose="020B0604020202090204" pitchFamily="34" charset="0"/>
                </a:rPr>
                <a:t>连接和数据在网络中传输的规则。</a:t>
              </a: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sym typeface="Arial" panose="020B0604020202090204" pitchFamily="34" charset="0"/>
              </a:endParaRPr>
            </a:p>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n-ea"/>
                <a:cs typeface="阿里巴巴普惠体" panose="00020600040101010101" pitchFamily="18" charset="-122"/>
              </a:endParaRPr>
            </a:p>
          </p:txBody>
        </p:sp>
        <p:sp>
          <p:nvSpPr>
            <p:cNvPr id="10" name="Round Same Side Corner Rectangle 19">
              <a:extLst>
                <a:ext uri="{FF2B5EF4-FFF2-40B4-BE49-F238E27FC236}">
                  <a16:creationId xmlns:a16="http://schemas.microsoft.com/office/drawing/2014/main" id="{82C9CC60-4814-A49B-AF90-D8F5A74DC5FD}"/>
                </a:ext>
              </a:extLst>
            </p:cNvPr>
            <p:cNvSpPr/>
            <p:nvPr/>
          </p:nvSpPr>
          <p:spPr>
            <a:xfrm>
              <a:off x="8612239" y="1766454"/>
              <a:ext cx="2463800" cy="1113825"/>
            </a:xfrm>
            <a:prstGeom prst="round2SameRect">
              <a:avLst>
                <a:gd name="adj1" fmla="val 10686"/>
                <a:gd name="adj2" fmla="val 0"/>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prstClr val="white"/>
                </a:solidFill>
                <a:effectLst/>
                <a:uLnTx/>
                <a:uFillTx/>
                <a:latin typeface="+mn-ea"/>
                <a:cs typeface="阿里巴巴普惠体" panose="00020600040101010101" pitchFamily="18" charset="-122"/>
                <a:sym typeface="Arial" panose="020B0604020202090204" pitchFamily="34" charset="0"/>
              </a:endParaRPr>
            </a:p>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prstClr val="white"/>
                </a:solidFill>
                <a:effectLst/>
                <a:uLnTx/>
                <a:uFillTx/>
                <a:latin typeface="+mn-ea"/>
                <a:cs typeface="阿里巴巴普惠体" panose="00020600040101010101" pitchFamily="18" charset="-122"/>
                <a:sym typeface="Arial" panose="020B0604020202090204" pitchFamily="34" charset="0"/>
              </a:endParaRPr>
            </a:p>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mn-ea"/>
                  <a:cs typeface="阿里巴巴普惠体 3.0 75 SemiBold" panose="00020600040101010101" pitchFamily="18" charset="-122"/>
                  <a:sym typeface="Arial" panose="020B0604020202090204" pitchFamily="34" charset="0"/>
                </a:rPr>
                <a:t>协议</a:t>
              </a:r>
            </a:p>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n-ea"/>
                <a:cs typeface="阿里巴巴普惠体" panose="00020600040101010101" pitchFamily="18" charset="-122"/>
              </a:endParaRPr>
            </a:p>
          </p:txBody>
        </p:sp>
        <p:sp>
          <p:nvSpPr>
            <p:cNvPr id="13" name="Inhaltsplatzhalter 4">
              <a:extLst>
                <a:ext uri="{FF2B5EF4-FFF2-40B4-BE49-F238E27FC236}">
                  <a16:creationId xmlns:a16="http://schemas.microsoft.com/office/drawing/2014/main" id="{E44B7FCC-E738-F582-C617-9C5B14F402A5}"/>
                </a:ext>
              </a:extLst>
            </p:cNvPr>
            <p:cNvSpPr txBox="1">
              <a:spLocks/>
            </p:cNvSpPr>
            <p:nvPr/>
          </p:nvSpPr>
          <p:spPr>
            <a:xfrm>
              <a:off x="9160080" y="1876881"/>
              <a:ext cx="1368118" cy="41908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127" rtl="0" eaLnBrk="1" fontAlgn="auto" latinLnBrk="0" hangingPunct="1">
                <a:lnSpc>
                  <a:spcPct val="120000"/>
                </a:lnSpc>
                <a:spcBef>
                  <a:spcPts val="0"/>
                </a:spcBef>
                <a:spcAft>
                  <a:spcPts val="0"/>
                </a:spcAft>
                <a:buClrTx/>
                <a:buSzTx/>
                <a:buFont typeface="Wingdings" panose="05000000000000000000" pitchFamily="2" charset="2"/>
                <a:buNone/>
                <a:tabLst/>
                <a:defRPr/>
              </a:pPr>
              <a:r>
                <a:rPr kumimoji="0" lang="en-US" sz="2400" b="1" i="0" u="none" strike="noStrike" kern="1200" cap="none" spc="0" normalizeH="0" baseline="0" noProof="0" dirty="0">
                  <a:ln>
                    <a:noFill/>
                  </a:ln>
                  <a:solidFill>
                    <a:prstClr val="white"/>
                  </a:solidFill>
                  <a:effectLst/>
                  <a:uLnTx/>
                  <a:uFillTx/>
                  <a:latin typeface="+mn-ea"/>
                  <a:cs typeface="阿里巴巴普惠体 3.0 75 SemiBold" panose="00020600040101010101" pitchFamily="18" charset="-122"/>
                </a:rPr>
                <a:t>03</a:t>
              </a:r>
              <a:endParaRPr kumimoji="0" lang="en-US" sz="1800" b="0" i="0" u="none" strike="noStrike" kern="1200" cap="none" spc="0" normalizeH="0" baseline="0" noProof="0" dirty="0">
                <a:ln>
                  <a:noFill/>
                </a:ln>
                <a:solidFill>
                  <a:prstClr val="white"/>
                </a:solidFill>
                <a:effectLst/>
                <a:uLnTx/>
                <a:uFillTx/>
                <a:latin typeface="+mn-ea"/>
                <a:cs typeface="阿里巴巴普惠体 3.0 75 SemiBold" panose="00020600040101010101" pitchFamily="18" charset="-122"/>
              </a:endParaRPr>
            </a:p>
          </p:txBody>
        </p:sp>
      </p:grpSp>
    </p:spTree>
    <p:extLst>
      <p:ext uri="{BB962C8B-B14F-4D97-AF65-F5344CB8AC3E}">
        <p14:creationId xmlns:p14="http://schemas.microsoft.com/office/powerpoint/2010/main" val="659680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组合 44">
            <a:extLst>
              <a:ext uri="{FF2B5EF4-FFF2-40B4-BE49-F238E27FC236}">
                <a16:creationId xmlns:a16="http://schemas.microsoft.com/office/drawing/2014/main" id="{82C9C941-40BE-A068-8386-BD014D564AF0}"/>
              </a:ext>
            </a:extLst>
          </p:cNvPr>
          <p:cNvGrpSpPr/>
          <p:nvPr/>
        </p:nvGrpSpPr>
        <p:grpSpPr>
          <a:xfrm>
            <a:off x="7322491" y="3180372"/>
            <a:ext cx="1116141" cy="1314082"/>
            <a:chOff x="8077402" y="3307963"/>
            <a:chExt cx="1116141" cy="1314082"/>
          </a:xfrm>
        </p:grpSpPr>
        <p:pic>
          <p:nvPicPr>
            <p:cNvPr id="34" name="图形 33">
              <a:extLst>
                <a:ext uri="{FF2B5EF4-FFF2-40B4-BE49-F238E27FC236}">
                  <a16:creationId xmlns:a16="http://schemas.microsoft.com/office/drawing/2014/main" id="{2F6F6A8F-5C01-2F5E-A13E-14FA4DC796D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71850" y="3307963"/>
              <a:ext cx="1021693" cy="1021693"/>
            </a:xfrm>
            <a:prstGeom prst="rect">
              <a:avLst/>
            </a:prstGeom>
          </p:spPr>
        </p:pic>
        <p:sp>
          <p:nvSpPr>
            <p:cNvPr id="36" name="文本框 35">
              <a:extLst>
                <a:ext uri="{FF2B5EF4-FFF2-40B4-BE49-F238E27FC236}">
                  <a16:creationId xmlns:a16="http://schemas.microsoft.com/office/drawing/2014/main" id="{A4A1EDF9-1D3B-CAE9-417D-91752E5A62C3}"/>
                </a:ext>
              </a:extLst>
            </p:cNvPr>
            <p:cNvSpPr txBox="1"/>
            <p:nvPr/>
          </p:nvSpPr>
          <p:spPr>
            <a:xfrm>
              <a:off x="8077402" y="4252713"/>
              <a:ext cx="11079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chemeClr val="tx1">
                      <a:lumMod val="50000"/>
                      <a:lumOff val="50000"/>
                    </a:schemeClr>
                  </a:solidFill>
                  <a:latin typeface="+mn-ea"/>
                </a:rPr>
                <a:t>唔西迪西</a:t>
              </a:r>
              <a:endParaRPr kumimoji="0" lang="en-US" b="0" i="0" u="none" strike="noStrike" kern="1200" cap="none" spc="0" normalizeH="0" baseline="0" noProof="0" dirty="0">
                <a:ln>
                  <a:noFill/>
                </a:ln>
                <a:solidFill>
                  <a:schemeClr val="tx1">
                    <a:lumMod val="50000"/>
                    <a:lumOff val="50000"/>
                  </a:schemeClr>
                </a:solidFill>
                <a:effectLst/>
                <a:uLnTx/>
                <a:uFillTx/>
                <a:latin typeface="+mn-ea"/>
              </a:endParaRPr>
            </a:p>
          </p:txBody>
        </p:sp>
      </p:grpSp>
      <p:sp>
        <p:nvSpPr>
          <p:cNvPr id="3" name="标题 2">
            <a:extLst>
              <a:ext uri="{FF2B5EF4-FFF2-40B4-BE49-F238E27FC236}">
                <a16:creationId xmlns:a16="http://schemas.microsoft.com/office/drawing/2014/main" id="{11FE7404-D78D-5724-1F7B-4BF88CF03C4E}"/>
              </a:ext>
            </a:extLst>
          </p:cNvPr>
          <p:cNvSpPr>
            <a:spLocks noGrp="1"/>
          </p:cNvSpPr>
          <p:nvPr>
            <p:ph type="title"/>
          </p:nvPr>
        </p:nvSpPr>
        <p:spPr/>
        <p:txBody>
          <a:bodyPr/>
          <a:lstStyle/>
          <a:p>
            <a:r>
              <a:rPr lang="zh-CN" altLang="en-US" dirty="0"/>
              <a:t>网络通信三要素</a:t>
            </a:r>
            <a:endParaRPr lang="en-US" dirty="0"/>
          </a:p>
        </p:txBody>
      </p:sp>
      <p:grpSp>
        <p:nvGrpSpPr>
          <p:cNvPr id="4" name="组合 3">
            <a:extLst>
              <a:ext uri="{FF2B5EF4-FFF2-40B4-BE49-F238E27FC236}">
                <a16:creationId xmlns:a16="http://schemas.microsoft.com/office/drawing/2014/main" id="{4BA5C8C9-84CB-1A2F-0651-A191C91FB65E}"/>
              </a:ext>
            </a:extLst>
          </p:cNvPr>
          <p:cNvGrpSpPr/>
          <p:nvPr/>
        </p:nvGrpSpPr>
        <p:grpSpPr>
          <a:xfrm>
            <a:off x="8852652" y="918115"/>
            <a:ext cx="504584" cy="1563256"/>
            <a:chOff x="1920239" y="991601"/>
            <a:chExt cx="1774487" cy="5497547"/>
          </a:xfrm>
        </p:grpSpPr>
        <p:pic>
          <p:nvPicPr>
            <p:cNvPr id="5" name="图片 4">
              <a:extLst>
                <a:ext uri="{FF2B5EF4-FFF2-40B4-BE49-F238E27FC236}">
                  <a16:creationId xmlns:a16="http://schemas.microsoft.com/office/drawing/2014/main" id="{3E81B51D-DA12-A896-0AE3-1369A1D206A3}"/>
                </a:ext>
              </a:extLst>
            </p:cNvPr>
            <p:cNvPicPr>
              <a:picLocks noChangeAspect="1"/>
            </p:cNvPicPr>
            <p:nvPr/>
          </p:nvPicPr>
          <p:blipFill>
            <a:blip r:embed="rId4">
              <a:extLst>
                <a:ext uri="{28A0092B-C50C-407E-A947-70E740481C1C}">
                  <a14:useLocalDpi xmlns:a14="http://schemas.microsoft.com/office/drawing/2010/main" val="0"/>
                </a:ext>
              </a:extLst>
            </a:blip>
            <a:srcRect l="3868" t="11379" r="3868" b="10429"/>
            <a:stretch>
              <a:fillRect/>
            </a:stretch>
          </p:blipFill>
          <p:spPr>
            <a:xfrm>
              <a:off x="1922168" y="4988560"/>
              <a:ext cx="1770629" cy="1500588"/>
            </a:xfrm>
            <a:custGeom>
              <a:avLst/>
              <a:gdLst>
                <a:gd name="connsiteX0" fmla="*/ 0 w 3954624"/>
                <a:gd name="connsiteY0" fmla="*/ 0 h 3351497"/>
                <a:gd name="connsiteX1" fmla="*/ 3954624 w 3954624"/>
                <a:gd name="connsiteY1" fmla="*/ 0 h 3351497"/>
                <a:gd name="connsiteX2" fmla="*/ 3954624 w 3954624"/>
                <a:gd name="connsiteY2" fmla="*/ 3351497 h 3351497"/>
                <a:gd name="connsiteX3" fmla="*/ 0 w 3954624"/>
                <a:gd name="connsiteY3" fmla="*/ 3351497 h 3351497"/>
              </a:gdLst>
              <a:ahLst/>
              <a:cxnLst>
                <a:cxn ang="0">
                  <a:pos x="connsiteX0" y="connsiteY0"/>
                </a:cxn>
                <a:cxn ang="0">
                  <a:pos x="connsiteX1" y="connsiteY1"/>
                </a:cxn>
                <a:cxn ang="0">
                  <a:pos x="connsiteX2" y="connsiteY2"/>
                </a:cxn>
                <a:cxn ang="0">
                  <a:pos x="connsiteX3" y="connsiteY3"/>
                </a:cxn>
              </a:cxnLst>
              <a:rect l="l" t="t" r="r" b="b"/>
              <a:pathLst>
                <a:path w="3954624" h="3351497">
                  <a:moveTo>
                    <a:pt x="0" y="0"/>
                  </a:moveTo>
                  <a:lnTo>
                    <a:pt x="3954624" y="0"/>
                  </a:lnTo>
                  <a:lnTo>
                    <a:pt x="3954624" y="3351497"/>
                  </a:lnTo>
                  <a:lnTo>
                    <a:pt x="0" y="3351497"/>
                  </a:lnTo>
                  <a:close/>
                </a:path>
              </a:pathLst>
            </a:custGeom>
          </p:spPr>
        </p:pic>
        <p:pic>
          <p:nvPicPr>
            <p:cNvPr id="6" name="图片 5">
              <a:extLst>
                <a:ext uri="{FF2B5EF4-FFF2-40B4-BE49-F238E27FC236}">
                  <a16:creationId xmlns:a16="http://schemas.microsoft.com/office/drawing/2014/main" id="{CE538D6B-DE07-BDD6-B30F-55DB0F29069B}"/>
                </a:ext>
              </a:extLst>
            </p:cNvPr>
            <p:cNvPicPr>
              <a:picLocks noChangeAspect="1"/>
            </p:cNvPicPr>
            <p:nvPr/>
          </p:nvPicPr>
          <p:blipFill>
            <a:blip r:embed="rId5">
              <a:extLst>
                <a:ext uri="{28A0092B-C50C-407E-A947-70E740481C1C}">
                  <a14:useLocalDpi xmlns:a14="http://schemas.microsoft.com/office/drawing/2010/main" val="0"/>
                </a:ext>
              </a:extLst>
            </a:blip>
            <a:srcRect l="13571" t="6663" r="12808" b="8085"/>
            <a:stretch>
              <a:fillRect/>
            </a:stretch>
          </p:blipFill>
          <p:spPr>
            <a:xfrm>
              <a:off x="1920239" y="2761689"/>
              <a:ext cx="1774487" cy="2054804"/>
            </a:xfrm>
            <a:custGeom>
              <a:avLst/>
              <a:gdLst>
                <a:gd name="connsiteX0" fmla="*/ 0 w 3155612"/>
                <a:gd name="connsiteY0" fmla="*/ 0 h 3654106"/>
                <a:gd name="connsiteX1" fmla="*/ 3155612 w 3155612"/>
                <a:gd name="connsiteY1" fmla="*/ 0 h 3654106"/>
                <a:gd name="connsiteX2" fmla="*/ 3155612 w 3155612"/>
                <a:gd name="connsiteY2" fmla="*/ 3654106 h 3654106"/>
                <a:gd name="connsiteX3" fmla="*/ 0 w 3155612"/>
                <a:gd name="connsiteY3" fmla="*/ 3654106 h 3654106"/>
              </a:gdLst>
              <a:ahLst/>
              <a:cxnLst>
                <a:cxn ang="0">
                  <a:pos x="connsiteX0" y="connsiteY0"/>
                </a:cxn>
                <a:cxn ang="0">
                  <a:pos x="connsiteX1" y="connsiteY1"/>
                </a:cxn>
                <a:cxn ang="0">
                  <a:pos x="connsiteX2" y="connsiteY2"/>
                </a:cxn>
                <a:cxn ang="0">
                  <a:pos x="connsiteX3" y="connsiteY3"/>
                </a:cxn>
              </a:cxnLst>
              <a:rect l="l" t="t" r="r" b="b"/>
              <a:pathLst>
                <a:path w="3155612" h="3654106">
                  <a:moveTo>
                    <a:pt x="0" y="0"/>
                  </a:moveTo>
                  <a:lnTo>
                    <a:pt x="3155612" y="0"/>
                  </a:lnTo>
                  <a:lnTo>
                    <a:pt x="3155612" y="3654106"/>
                  </a:lnTo>
                  <a:lnTo>
                    <a:pt x="0" y="3654106"/>
                  </a:lnTo>
                  <a:close/>
                </a:path>
              </a:pathLst>
            </a:custGeom>
          </p:spPr>
        </p:pic>
        <p:pic>
          <p:nvPicPr>
            <p:cNvPr id="7" name="图片 6">
              <a:extLst>
                <a:ext uri="{FF2B5EF4-FFF2-40B4-BE49-F238E27FC236}">
                  <a16:creationId xmlns:a16="http://schemas.microsoft.com/office/drawing/2014/main" id="{FE840370-2B6F-A661-A5D6-772956141FB0}"/>
                </a:ext>
              </a:extLst>
            </p:cNvPr>
            <p:cNvPicPr>
              <a:picLocks noChangeAspect="1"/>
            </p:cNvPicPr>
            <p:nvPr/>
          </p:nvPicPr>
          <p:blipFill>
            <a:blip r:embed="rId6">
              <a:extLst>
                <a:ext uri="{28A0092B-C50C-407E-A947-70E740481C1C}">
                  <a14:useLocalDpi xmlns:a14="http://schemas.microsoft.com/office/drawing/2010/main" val="0"/>
                </a:ext>
              </a:extLst>
            </a:blip>
            <a:srcRect l="12829" t="18707" r="9458" b="18930"/>
            <a:stretch>
              <a:fillRect/>
            </a:stretch>
          </p:blipFill>
          <p:spPr>
            <a:xfrm>
              <a:off x="1923133" y="991601"/>
              <a:ext cx="1770629" cy="1598021"/>
            </a:xfrm>
            <a:custGeom>
              <a:avLst/>
              <a:gdLst>
                <a:gd name="connsiteX0" fmla="*/ 0 w 4817434"/>
                <a:gd name="connsiteY0" fmla="*/ 0 h 3865879"/>
                <a:gd name="connsiteX1" fmla="*/ 4817434 w 4817434"/>
                <a:gd name="connsiteY1" fmla="*/ 0 h 3865879"/>
                <a:gd name="connsiteX2" fmla="*/ 4817434 w 4817434"/>
                <a:gd name="connsiteY2" fmla="*/ 3865879 h 3865879"/>
                <a:gd name="connsiteX3" fmla="*/ 0 w 4817434"/>
                <a:gd name="connsiteY3" fmla="*/ 3865879 h 3865879"/>
              </a:gdLst>
              <a:ahLst/>
              <a:cxnLst>
                <a:cxn ang="0">
                  <a:pos x="connsiteX0" y="connsiteY0"/>
                </a:cxn>
                <a:cxn ang="0">
                  <a:pos x="connsiteX1" y="connsiteY1"/>
                </a:cxn>
                <a:cxn ang="0">
                  <a:pos x="connsiteX2" y="connsiteY2"/>
                </a:cxn>
                <a:cxn ang="0">
                  <a:pos x="connsiteX3" y="connsiteY3"/>
                </a:cxn>
              </a:cxnLst>
              <a:rect l="l" t="t" r="r" b="b"/>
              <a:pathLst>
                <a:path w="4817434" h="3865879">
                  <a:moveTo>
                    <a:pt x="0" y="0"/>
                  </a:moveTo>
                  <a:lnTo>
                    <a:pt x="4817434" y="0"/>
                  </a:lnTo>
                  <a:lnTo>
                    <a:pt x="4817434" y="3865879"/>
                  </a:lnTo>
                  <a:lnTo>
                    <a:pt x="0" y="3865879"/>
                  </a:lnTo>
                  <a:close/>
                </a:path>
              </a:pathLst>
            </a:custGeom>
          </p:spPr>
        </p:pic>
      </p:grpSp>
      <p:pic>
        <p:nvPicPr>
          <p:cNvPr id="14" name="图片 13">
            <a:extLst>
              <a:ext uri="{FF2B5EF4-FFF2-40B4-BE49-F238E27FC236}">
                <a16:creationId xmlns:a16="http://schemas.microsoft.com/office/drawing/2014/main" id="{5AB8B766-9CCF-2D02-11B8-D7C2F38FECC3}"/>
              </a:ext>
            </a:extLst>
          </p:cNvPr>
          <p:cNvPicPr>
            <a:picLocks noChangeAspect="1"/>
          </p:cNvPicPr>
          <p:nvPr/>
        </p:nvPicPr>
        <p:blipFill>
          <a:blip r:embed="rId4">
            <a:extLst>
              <a:ext uri="{28A0092B-C50C-407E-A947-70E740481C1C}">
                <a14:useLocalDpi xmlns:a14="http://schemas.microsoft.com/office/drawing/2010/main" val="0"/>
              </a:ext>
            </a:extLst>
          </a:blip>
          <a:srcRect l="3868" t="11379" r="3868" b="10429"/>
          <a:stretch>
            <a:fillRect/>
          </a:stretch>
        </p:blipFill>
        <p:spPr>
          <a:xfrm>
            <a:off x="725432" y="2312382"/>
            <a:ext cx="882873" cy="748225"/>
          </a:xfrm>
          <a:custGeom>
            <a:avLst/>
            <a:gdLst>
              <a:gd name="connsiteX0" fmla="*/ 0 w 3954624"/>
              <a:gd name="connsiteY0" fmla="*/ 0 h 3351497"/>
              <a:gd name="connsiteX1" fmla="*/ 3954624 w 3954624"/>
              <a:gd name="connsiteY1" fmla="*/ 0 h 3351497"/>
              <a:gd name="connsiteX2" fmla="*/ 3954624 w 3954624"/>
              <a:gd name="connsiteY2" fmla="*/ 3351497 h 3351497"/>
              <a:gd name="connsiteX3" fmla="*/ 0 w 3954624"/>
              <a:gd name="connsiteY3" fmla="*/ 3351497 h 3351497"/>
            </a:gdLst>
            <a:ahLst/>
            <a:cxnLst>
              <a:cxn ang="0">
                <a:pos x="connsiteX0" y="connsiteY0"/>
              </a:cxn>
              <a:cxn ang="0">
                <a:pos x="connsiteX1" y="connsiteY1"/>
              </a:cxn>
              <a:cxn ang="0">
                <a:pos x="connsiteX2" y="connsiteY2"/>
              </a:cxn>
              <a:cxn ang="0">
                <a:pos x="connsiteX3" y="connsiteY3"/>
              </a:cxn>
            </a:cxnLst>
            <a:rect l="l" t="t" r="r" b="b"/>
            <a:pathLst>
              <a:path w="3954624" h="3351497">
                <a:moveTo>
                  <a:pt x="0" y="0"/>
                </a:moveTo>
                <a:lnTo>
                  <a:pt x="3954624" y="0"/>
                </a:lnTo>
                <a:lnTo>
                  <a:pt x="3954624" y="3351497"/>
                </a:lnTo>
                <a:lnTo>
                  <a:pt x="0" y="3351497"/>
                </a:lnTo>
                <a:close/>
              </a:path>
            </a:pathLst>
          </a:custGeom>
        </p:spPr>
      </p:pic>
      <p:sp>
        <p:nvSpPr>
          <p:cNvPr id="15" name="文本框 14">
            <a:extLst>
              <a:ext uri="{FF2B5EF4-FFF2-40B4-BE49-F238E27FC236}">
                <a16:creationId xmlns:a16="http://schemas.microsoft.com/office/drawing/2014/main" id="{1D770E7F-2AEF-59DB-C3C9-B25B2E877DF0}"/>
              </a:ext>
            </a:extLst>
          </p:cNvPr>
          <p:cNvSpPr txBox="1"/>
          <p:nvPr/>
        </p:nvSpPr>
        <p:spPr>
          <a:xfrm>
            <a:off x="1732441" y="2502137"/>
            <a:ext cx="87716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b="0" i="0" u="none" strike="noStrike" kern="1200" cap="none" spc="0" normalizeH="0" baseline="0" noProof="0" dirty="0">
                <a:ln>
                  <a:noFill/>
                </a:ln>
                <a:effectLst/>
                <a:uLnTx/>
                <a:uFillTx/>
                <a:latin typeface="+mn-ea"/>
                <a:cs typeface="+mn-cs"/>
              </a:rPr>
              <a:t>爱你哟</a:t>
            </a:r>
            <a:endParaRPr kumimoji="0" lang="en-US" b="0" i="0" u="none" strike="noStrike" kern="1200" cap="none" spc="0" normalizeH="0" baseline="0" noProof="0" dirty="0">
              <a:ln>
                <a:noFill/>
              </a:ln>
              <a:effectLst/>
              <a:uLnTx/>
              <a:uFillTx/>
              <a:latin typeface="+mn-ea"/>
              <a:cs typeface="+mn-cs"/>
            </a:endParaRPr>
          </a:p>
        </p:txBody>
      </p:sp>
      <p:grpSp>
        <p:nvGrpSpPr>
          <p:cNvPr id="17" name="组合 16">
            <a:extLst>
              <a:ext uri="{FF2B5EF4-FFF2-40B4-BE49-F238E27FC236}">
                <a16:creationId xmlns:a16="http://schemas.microsoft.com/office/drawing/2014/main" id="{A7DCE347-544F-D094-D266-1154C70F7CA1}"/>
              </a:ext>
            </a:extLst>
          </p:cNvPr>
          <p:cNvGrpSpPr/>
          <p:nvPr/>
        </p:nvGrpSpPr>
        <p:grpSpPr>
          <a:xfrm>
            <a:off x="8852652" y="2856932"/>
            <a:ext cx="504584" cy="1563256"/>
            <a:chOff x="1920239" y="991601"/>
            <a:chExt cx="1774487" cy="5497547"/>
          </a:xfrm>
        </p:grpSpPr>
        <p:pic>
          <p:nvPicPr>
            <p:cNvPr id="18" name="图片 17">
              <a:extLst>
                <a:ext uri="{FF2B5EF4-FFF2-40B4-BE49-F238E27FC236}">
                  <a16:creationId xmlns:a16="http://schemas.microsoft.com/office/drawing/2014/main" id="{3DC200ED-3518-AFFC-7857-C8C51305CC23}"/>
                </a:ext>
              </a:extLst>
            </p:cNvPr>
            <p:cNvPicPr>
              <a:picLocks noChangeAspect="1"/>
            </p:cNvPicPr>
            <p:nvPr/>
          </p:nvPicPr>
          <p:blipFill>
            <a:blip r:embed="rId4">
              <a:extLst>
                <a:ext uri="{28A0092B-C50C-407E-A947-70E740481C1C}">
                  <a14:useLocalDpi xmlns:a14="http://schemas.microsoft.com/office/drawing/2010/main" val="0"/>
                </a:ext>
              </a:extLst>
            </a:blip>
            <a:srcRect l="3868" t="11379" r="3868" b="10429"/>
            <a:stretch>
              <a:fillRect/>
            </a:stretch>
          </p:blipFill>
          <p:spPr>
            <a:xfrm>
              <a:off x="1922168" y="4988560"/>
              <a:ext cx="1770629" cy="1500588"/>
            </a:xfrm>
            <a:custGeom>
              <a:avLst/>
              <a:gdLst>
                <a:gd name="connsiteX0" fmla="*/ 0 w 3954624"/>
                <a:gd name="connsiteY0" fmla="*/ 0 h 3351497"/>
                <a:gd name="connsiteX1" fmla="*/ 3954624 w 3954624"/>
                <a:gd name="connsiteY1" fmla="*/ 0 h 3351497"/>
                <a:gd name="connsiteX2" fmla="*/ 3954624 w 3954624"/>
                <a:gd name="connsiteY2" fmla="*/ 3351497 h 3351497"/>
                <a:gd name="connsiteX3" fmla="*/ 0 w 3954624"/>
                <a:gd name="connsiteY3" fmla="*/ 3351497 h 3351497"/>
              </a:gdLst>
              <a:ahLst/>
              <a:cxnLst>
                <a:cxn ang="0">
                  <a:pos x="connsiteX0" y="connsiteY0"/>
                </a:cxn>
                <a:cxn ang="0">
                  <a:pos x="connsiteX1" y="connsiteY1"/>
                </a:cxn>
                <a:cxn ang="0">
                  <a:pos x="connsiteX2" y="connsiteY2"/>
                </a:cxn>
                <a:cxn ang="0">
                  <a:pos x="connsiteX3" y="connsiteY3"/>
                </a:cxn>
              </a:cxnLst>
              <a:rect l="l" t="t" r="r" b="b"/>
              <a:pathLst>
                <a:path w="3954624" h="3351497">
                  <a:moveTo>
                    <a:pt x="0" y="0"/>
                  </a:moveTo>
                  <a:lnTo>
                    <a:pt x="3954624" y="0"/>
                  </a:lnTo>
                  <a:lnTo>
                    <a:pt x="3954624" y="3351497"/>
                  </a:lnTo>
                  <a:lnTo>
                    <a:pt x="0" y="3351497"/>
                  </a:lnTo>
                  <a:close/>
                </a:path>
              </a:pathLst>
            </a:custGeom>
          </p:spPr>
        </p:pic>
        <p:pic>
          <p:nvPicPr>
            <p:cNvPr id="19" name="图片 18">
              <a:extLst>
                <a:ext uri="{FF2B5EF4-FFF2-40B4-BE49-F238E27FC236}">
                  <a16:creationId xmlns:a16="http://schemas.microsoft.com/office/drawing/2014/main" id="{4139ABCE-CD1F-FEC7-187A-0F0984C4374F}"/>
                </a:ext>
              </a:extLst>
            </p:cNvPr>
            <p:cNvPicPr>
              <a:picLocks noChangeAspect="1"/>
            </p:cNvPicPr>
            <p:nvPr/>
          </p:nvPicPr>
          <p:blipFill>
            <a:blip r:embed="rId5">
              <a:extLst>
                <a:ext uri="{28A0092B-C50C-407E-A947-70E740481C1C}">
                  <a14:useLocalDpi xmlns:a14="http://schemas.microsoft.com/office/drawing/2010/main" val="0"/>
                </a:ext>
              </a:extLst>
            </a:blip>
            <a:srcRect l="13571" t="6663" r="12808" b="8085"/>
            <a:stretch>
              <a:fillRect/>
            </a:stretch>
          </p:blipFill>
          <p:spPr>
            <a:xfrm>
              <a:off x="1920239" y="2761689"/>
              <a:ext cx="1774487" cy="2054804"/>
            </a:xfrm>
            <a:custGeom>
              <a:avLst/>
              <a:gdLst>
                <a:gd name="connsiteX0" fmla="*/ 0 w 3155612"/>
                <a:gd name="connsiteY0" fmla="*/ 0 h 3654106"/>
                <a:gd name="connsiteX1" fmla="*/ 3155612 w 3155612"/>
                <a:gd name="connsiteY1" fmla="*/ 0 h 3654106"/>
                <a:gd name="connsiteX2" fmla="*/ 3155612 w 3155612"/>
                <a:gd name="connsiteY2" fmla="*/ 3654106 h 3654106"/>
                <a:gd name="connsiteX3" fmla="*/ 0 w 3155612"/>
                <a:gd name="connsiteY3" fmla="*/ 3654106 h 3654106"/>
              </a:gdLst>
              <a:ahLst/>
              <a:cxnLst>
                <a:cxn ang="0">
                  <a:pos x="connsiteX0" y="connsiteY0"/>
                </a:cxn>
                <a:cxn ang="0">
                  <a:pos x="connsiteX1" y="connsiteY1"/>
                </a:cxn>
                <a:cxn ang="0">
                  <a:pos x="connsiteX2" y="connsiteY2"/>
                </a:cxn>
                <a:cxn ang="0">
                  <a:pos x="connsiteX3" y="connsiteY3"/>
                </a:cxn>
              </a:cxnLst>
              <a:rect l="l" t="t" r="r" b="b"/>
              <a:pathLst>
                <a:path w="3155612" h="3654106">
                  <a:moveTo>
                    <a:pt x="0" y="0"/>
                  </a:moveTo>
                  <a:lnTo>
                    <a:pt x="3155612" y="0"/>
                  </a:lnTo>
                  <a:lnTo>
                    <a:pt x="3155612" y="3654106"/>
                  </a:lnTo>
                  <a:lnTo>
                    <a:pt x="0" y="3654106"/>
                  </a:lnTo>
                  <a:close/>
                </a:path>
              </a:pathLst>
            </a:custGeom>
          </p:spPr>
        </p:pic>
        <p:pic>
          <p:nvPicPr>
            <p:cNvPr id="20" name="图片 19">
              <a:extLst>
                <a:ext uri="{FF2B5EF4-FFF2-40B4-BE49-F238E27FC236}">
                  <a16:creationId xmlns:a16="http://schemas.microsoft.com/office/drawing/2014/main" id="{B7907354-A297-AC06-21DD-0208C0EB302C}"/>
                </a:ext>
              </a:extLst>
            </p:cNvPr>
            <p:cNvPicPr>
              <a:picLocks noChangeAspect="1"/>
            </p:cNvPicPr>
            <p:nvPr/>
          </p:nvPicPr>
          <p:blipFill>
            <a:blip r:embed="rId6">
              <a:extLst>
                <a:ext uri="{28A0092B-C50C-407E-A947-70E740481C1C}">
                  <a14:useLocalDpi xmlns:a14="http://schemas.microsoft.com/office/drawing/2010/main" val="0"/>
                </a:ext>
              </a:extLst>
            </a:blip>
            <a:srcRect l="12829" t="18707" r="9458" b="18930"/>
            <a:stretch>
              <a:fillRect/>
            </a:stretch>
          </p:blipFill>
          <p:spPr>
            <a:xfrm>
              <a:off x="1923133" y="991601"/>
              <a:ext cx="1770629" cy="1598021"/>
            </a:xfrm>
            <a:custGeom>
              <a:avLst/>
              <a:gdLst>
                <a:gd name="connsiteX0" fmla="*/ 0 w 4817434"/>
                <a:gd name="connsiteY0" fmla="*/ 0 h 3865879"/>
                <a:gd name="connsiteX1" fmla="*/ 4817434 w 4817434"/>
                <a:gd name="connsiteY1" fmla="*/ 0 h 3865879"/>
                <a:gd name="connsiteX2" fmla="*/ 4817434 w 4817434"/>
                <a:gd name="connsiteY2" fmla="*/ 3865879 h 3865879"/>
                <a:gd name="connsiteX3" fmla="*/ 0 w 4817434"/>
                <a:gd name="connsiteY3" fmla="*/ 3865879 h 3865879"/>
              </a:gdLst>
              <a:ahLst/>
              <a:cxnLst>
                <a:cxn ang="0">
                  <a:pos x="connsiteX0" y="connsiteY0"/>
                </a:cxn>
                <a:cxn ang="0">
                  <a:pos x="connsiteX1" y="connsiteY1"/>
                </a:cxn>
                <a:cxn ang="0">
                  <a:pos x="connsiteX2" y="connsiteY2"/>
                </a:cxn>
                <a:cxn ang="0">
                  <a:pos x="connsiteX3" y="connsiteY3"/>
                </a:cxn>
              </a:cxnLst>
              <a:rect l="l" t="t" r="r" b="b"/>
              <a:pathLst>
                <a:path w="4817434" h="3865879">
                  <a:moveTo>
                    <a:pt x="0" y="0"/>
                  </a:moveTo>
                  <a:lnTo>
                    <a:pt x="4817434" y="0"/>
                  </a:lnTo>
                  <a:lnTo>
                    <a:pt x="4817434" y="3865879"/>
                  </a:lnTo>
                  <a:lnTo>
                    <a:pt x="0" y="3865879"/>
                  </a:lnTo>
                  <a:close/>
                </a:path>
              </a:pathLst>
            </a:custGeom>
          </p:spPr>
        </p:pic>
      </p:grpSp>
      <p:sp>
        <p:nvSpPr>
          <p:cNvPr id="22" name="文本框 21">
            <a:extLst>
              <a:ext uri="{FF2B5EF4-FFF2-40B4-BE49-F238E27FC236}">
                <a16:creationId xmlns:a16="http://schemas.microsoft.com/office/drawing/2014/main" id="{3EEA32F9-5EAF-2139-7D48-12F9DB958823}"/>
              </a:ext>
            </a:extLst>
          </p:cNvPr>
          <p:cNvSpPr txBox="1"/>
          <p:nvPr/>
        </p:nvSpPr>
        <p:spPr>
          <a:xfrm>
            <a:off x="9509972" y="2913985"/>
            <a:ext cx="755335" cy="1477328"/>
          </a:xfrm>
          <a:prstGeom prst="rect">
            <a:avLst/>
          </a:prstGeom>
          <a:noFill/>
        </p:spPr>
        <p:txBody>
          <a:bodyPr wrap="none">
            <a:spAutoFit/>
          </a:bodyPr>
          <a:lstStyle/>
          <a:p>
            <a:r>
              <a:rPr lang="en-US" altLang="zh-CN" b="1" dirty="0">
                <a:solidFill>
                  <a:srgbClr val="B60004"/>
                </a:solidFill>
                <a:latin typeface="+mn-ea"/>
                <a:cs typeface="阿里巴巴普惠体" panose="00020600040101010101" pitchFamily="18" charset="-122"/>
              </a:rPr>
              <a:t>6666</a:t>
            </a:r>
          </a:p>
          <a:p>
            <a:endParaRPr lang="en-US" altLang="zh-CN" b="1" dirty="0">
              <a:solidFill>
                <a:srgbClr val="B60004"/>
              </a:solidFill>
              <a:latin typeface="+mn-ea"/>
              <a:cs typeface="阿里巴巴普惠体" panose="00020600040101010101" pitchFamily="18" charset="-122"/>
            </a:endParaRPr>
          </a:p>
          <a:p>
            <a:r>
              <a:rPr lang="en-US" altLang="zh-CN" b="1" dirty="0">
                <a:solidFill>
                  <a:srgbClr val="B60004"/>
                </a:solidFill>
                <a:latin typeface="+mn-ea"/>
                <a:cs typeface="阿里巴巴普惠体" panose="00020600040101010101" pitchFamily="18" charset="-122"/>
              </a:rPr>
              <a:t>7777</a:t>
            </a:r>
          </a:p>
          <a:p>
            <a:endParaRPr lang="en-US" altLang="zh-CN" b="1" dirty="0">
              <a:solidFill>
                <a:srgbClr val="B60004"/>
              </a:solidFill>
              <a:latin typeface="+mn-ea"/>
              <a:cs typeface="阿里巴巴普惠体" panose="00020600040101010101" pitchFamily="18" charset="-122"/>
            </a:endParaRPr>
          </a:p>
          <a:p>
            <a:r>
              <a:rPr lang="en-US" altLang="zh-CN" b="1" dirty="0">
                <a:solidFill>
                  <a:srgbClr val="B60004"/>
                </a:solidFill>
                <a:latin typeface="+mn-ea"/>
                <a:cs typeface="阿里巴巴普惠体" panose="00020600040101010101" pitchFamily="18" charset="-122"/>
              </a:rPr>
              <a:t>8888</a:t>
            </a:r>
            <a:endParaRPr lang="en-US" altLang="zh-CN" b="1" dirty="0">
              <a:solidFill>
                <a:srgbClr val="C00000"/>
              </a:solidFill>
              <a:latin typeface="+mn-ea"/>
              <a:cs typeface="阿里巴巴普惠体" panose="00020600040101010101" pitchFamily="18" charset="-122"/>
            </a:endParaRPr>
          </a:p>
        </p:txBody>
      </p:sp>
      <p:grpSp>
        <p:nvGrpSpPr>
          <p:cNvPr id="23" name="组合 22">
            <a:extLst>
              <a:ext uri="{FF2B5EF4-FFF2-40B4-BE49-F238E27FC236}">
                <a16:creationId xmlns:a16="http://schemas.microsoft.com/office/drawing/2014/main" id="{198440F9-7CF3-1D76-A5FC-E59923812D6F}"/>
              </a:ext>
            </a:extLst>
          </p:cNvPr>
          <p:cNvGrpSpPr/>
          <p:nvPr/>
        </p:nvGrpSpPr>
        <p:grpSpPr>
          <a:xfrm>
            <a:off x="8852652" y="4810804"/>
            <a:ext cx="504584" cy="1563256"/>
            <a:chOff x="1920239" y="991601"/>
            <a:chExt cx="1774487" cy="5497547"/>
          </a:xfrm>
        </p:grpSpPr>
        <p:pic>
          <p:nvPicPr>
            <p:cNvPr id="24" name="图片 23">
              <a:extLst>
                <a:ext uri="{FF2B5EF4-FFF2-40B4-BE49-F238E27FC236}">
                  <a16:creationId xmlns:a16="http://schemas.microsoft.com/office/drawing/2014/main" id="{314A7E81-26BE-785B-0AA9-39474AFC018A}"/>
                </a:ext>
              </a:extLst>
            </p:cNvPr>
            <p:cNvPicPr>
              <a:picLocks noChangeAspect="1"/>
            </p:cNvPicPr>
            <p:nvPr/>
          </p:nvPicPr>
          <p:blipFill>
            <a:blip r:embed="rId4">
              <a:extLst>
                <a:ext uri="{28A0092B-C50C-407E-A947-70E740481C1C}">
                  <a14:useLocalDpi xmlns:a14="http://schemas.microsoft.com/office/drawing/2010/main" val="0"/>
                </a:ext>
              </a:extLst>
            </a:blip>
            <a:srcRect l="3868" t="11379" r="3868" b="10429"/>
            <a:stretch>
              <a:fillRect/>
            </a:stretch>
          </p:blipFill>
          <p:spPr>
            <a:xfrm>
              <a:off x="1922168" y="4988560"/>
              <a:ext cx="1770629" cy="1500588"/>
            </a:xfrm>
            <a:custGeom>
              <a:avLst/>
              <a:gdLst>
                <a:gd name="connsiteX0" fmla="*/ 0 w 3954624"/>
                <a:gd name="connsiteY0" fmla="*/ 0 h 3351497"/>
                <a:gd name="connsiteX1" fmla="*/ 3954624 w 3954624"/>
                <a:gd name="connsiteY1" fmla="*/ 0 h 3351497"/>
                <a:gd name="connsiteX2" fmla="*/ 3954624 w 3954624"/>
                <a:gd name="connsiteY2" fmla="*/ 3351497 h 3351497"/>
                <a:gd name="connsiteX3" fmla="*/ 0 w 3954624"/>
                <a:gd name="connsiteY3" fmla="*/ 3351497 h 3351497"/>
              </a:gdLst>
              <a:ahLst/>
              <a:cxnLst>
                <a:cxn ang="0">
                  <a:pos x="connsiteX0" y="connsiteY0"/>
                </a:cxn>
                <a:cxn ang="0">
                  <a:pos x="connsiteX1" y="connsiteY1"/>
                </a:cxn>
                <a:cxn ang="0">
                  <a:pos x="connsiteX2" y="connsiteY2"/>
                </a:cxn>
                <a:cxn ang="0">
                  <a:pos x="connsiteX3" y="connsiteY3"/>
                </a:cxn>
              </a:cxnLst>
              <a:rect l="l" t="t" r="r" b="b"/>
              <a:pathLst>
                <a:path w="3954624" h="3351497">
                  <a:moveTo>
                    <a:pt x="0" y="0"/>
                  </a:moveTo>
                  <a:lnTo>
                    <a:pt x="3954624" y="0"/>
                  </a:lnTo>
                  <a:lnTo>
                    <a:pt x="3954624" y="3351497"/>
                  </a:lnTo>
                  <a:lnTo>
                    <a:pt x="0" y="3351497"/>
                  </a:lnTo>
                  <a:close/>
                </a:path>
              </a:pathLst>
            </a:custGeom>
          </p:spPr>
        </p:pic>
        <p:pic>
          <p:nvPicPr>
            <p:cNvPr id="25" name="图片 24">
              <a:extLst>
                <a:ext uri="{FF2B5EF4-FFF2-40B4-BE49-F238E27FC236}">
                  <a16:creationId xmlns:a16="http://schemas.microsoft.com/office/drawing/2014/main" id="{CC26329E-43DA-2387-3E04-8A52B3863629}"/>
                </a:ext>
              </a:extLst>
            </p:cNvPr>
            <p:cNvPicPr>
              <a:picLocks noChangeAspect="1"/>
            </p:cNvPicPr>
            <p:nvPr/>
          </p:nvPicPr>
          <p:blipFill>
            <a:blip r:embed="rId5">
              <a:extLst>
                <a:ext uri="{28A0092B-C50C-407E-A947-70E740481C1C}">
                  <a14:useLocalDpi xmlns:a14="http://schemas.microsoft.com/office/drawing/2010/main" val="0"/>
                </a:ext>
              </a:extLst>
            </a:blip>
            <a:srcRect l="13571" t="6663" r="12808" b="8085"/>
            <a:stretch>
              <a:fillRect/>
            </a:stretch>
          </p:blipFill>
          <p:spPr>
            <a:xfrm>
              <a:off x="1920239" y="2761689"/>
              <a:ext cx="1774487" cy="2054804"/>
            </a:xfrm>
            <a:custGeom>
              <a:avLst/>
              <a:gdLst>
                <a:gd name="connsiteX0" fmla="*/ 0 w 3155612"/>
                <a:gd name="connsiteY0" fmla="*/ 0 h 3654106"/>
                <a:gd name="connsiteX1" fmla="*/ 3155612 w 3155612"/>
                <a:gd name="connsiteY1" fmla="*/ 0 h 3654106"/>
                <a:gd name="connsiteX2" fmla="*/ 3155612 w 3155612"/>
                <a:gd name="connsiteY2" fmla="*/ 3654106 h 3654106"/>
                <a:gd name="connsiteX3" fmla="*/ 0 w 3155612"/>
                <a:gd name="connsiteY3" fmla="*/ 3654106 h 3654106"/>
              </a:gdLst>
              <a:ahLst/>
              <a:cxnLst>
                <a:cxn ang="0">
                  <a:pos x="connsiteX0" y="connsiteY0"/>
                </a:cxn>
                <a:cxn ang="0">
                  <a:pos x="connsiteX1" y="connsiteY1"/>
                </a:cxn>
                <a:cxn ang="0">
                  <a:pos x="connsiteX2" y="connsiteY2"/>
                </a:cxn>
                <a:cxn ang="0">
                  <a:pos x="connsiteX3" y="connsiteY3"/>
                </a:cxn>
              </a:cxnLst>
              <a:rect l="l" t="t" r="r" b="b"/>
              <a:pathLst>
                <a:path w="3155612" h="3654106">
                  <a:moveTo>
                    <a:pt x="0" y="0"/>
                  </a:moveTo>
                  <a:lnTo>
                    <a:pt x="3155612" y="0"/>
                  </a:lnTo>
                  <a:lnTo>
                    <a:pt x="3155612" y="3654106"/>
                  </a:lnTo>
                  <a:lnTo>
                    <a:pt x="0" y="3654106"/>
                  </a:lnTo>
                  <a:close/>
                </a:path>
              </a:pathLst>
            </a:custGeom>
          </p:spPr>
        </p:pic>
        <p:pic>
          <p:nvPicPr>
            <p:cNvPr id="26" name="图片 25">
              <a:extLst>
                <a:ext uri="{FF2B5EF4-FFF2-40B4-BE49-F238E27FC236}">
                  <a16:creationId xmlns:a16="http://schemas.microsoft.com/office/drawing/2014/main" id="{9C1D1131-9068-0F1E-039B-6D72A7A07E8B}"/>
                </a:ext>
              </a:extLst>
            </p:cNvPr>
            <p:cNvPicPr>
              <a:picLocks noChangeAspect="1"/>
            </p:cNvPicPr>
            <p:nvPr/>
          </p:nvPicPr>
          <p:blipFill>
            <a:blip r:embed="rId6">
              <a:extLst>
                <a:ext uri="{28A0092B-C50C-407E-A947-70E740481C1C}">
                  <a14:useLocalDpi xmlns:a14="http://schemas.microsoft.com/office/drawing/2010/main" val="0"/>
                </a:ext>
              </a:extLst>
            </a:blip>
            <a:srcRect l="12829" t="18707" r="9458" b="18930"/>
            <a:stretch>
              <a:fillRect/>
            </a:stretch>
          </p:blipFill>
          <p:spPr>
            <a:xfrm>
              <a:off x="1923133" y="991601"/>
              <a:ext cx="1770629" cy="1598021"/>
            </a:xfrm>
            <a:custGeom>
              <a:avLst/>
              <a:gdLst>
                <a:gd name="connsiteX0" fmla="*/ 0 w 4817434"/>
                <a:gd name="connsiteY0" fmla="*/ 0 h 3865879"/>
                <a:gd name="connsiteX1" fmla="*/ 4817434 w 4817434"/>
                <a:gd name="connsiteY1" fmla="*/ 0 h 3865879"/>
                <a:gd name="connsiteX2" fmla="*/ 4817434 w 4817434"/>
                <a:gd name="connsiteY2" fmla="*/ 3865879 h 3865879"/>
                <a:gd name="connsiteX3" fmla="*/ 0 w 4817434"/>
                <a:gd name="connsiteY3" fmla="*/ 3865879 h 3865879"/>
              </a:gdLst>
              <a:ahLst/>
              <a:cxnLst>
                <a:cxn ang="0">
                  <a:pos x="connsiteX0" y="connsiteY0"/>
                </a:cxn>
                <a:cxn ang="0">
                  <a:pos x="connsiteX1" y="connsiteY1"/>
                </a:cxn>
                <a:cxn ang="0">
                  <a:pos x="connsiteX2" y="connsiteY2"/>
                </a:cxn>
                <a:cxn ang="0">
                  <a:pos x="connsiteX3" y="connsiteY3"/>
                </a:cxn>
              </a:cxnLst>
              <a:rect l="l" t="t" r="r" b="b"/>
              <a:pathLst>
                <a:path w="4817434" h="3865879">
                  <a:moveTo>
                    <a:pt x="0" y="0"/>
                  </a:moveTo>
                  <a:lnTo>
                    <a:pt x="4817434" y="0"/>
                  </a:lnTo>
                  <a:lnTo>
                    <a:pt x="4817434" y="3865879"/>
                  </a:lnTo>
                  <a:lnTo>
                    <a:pt x="0" y="3865879"/>
                  </a:lnTo>
                  <a:close/>
                </a:path>
              </a:pathLst>
            </a:custGeom>
          </p:spPr>
        </p:pic>
      </p:grpSp>
      <p:grpSp>
        <p:nvGrpSpPr>
          <p:cNvPr id="44" name="组合 43">
            <a:extLst>
              <a:ext uri="{FF2B5EF4-FFF2-40B4-BE49-F238E27FC236}">
                <a16:creationId xmlns:a16="http://schemas.microsoft.com/office/drawing/2014/main" id="{E3FC3A67-EEEE-1273-CCD1-7A2CBA3BFD40}"/>
              </a:ext>
            </a:extLst>
          </p:cNvPr>
          <p:cNvGrpSpPr/>
          <p:nvPr/>
        </p:nvGrpSpPr>
        <p:grpSpPr>
          <a:xfrm>
            <a:off x="7322491" y="1460795"/>
            <a:ext cx="1107996" cy="1084474"/>
            <a:chOff x="8077402" y="1588386"/>
            <a:chExt cx="1107996" cy="1084474"/>
          </a:xfrm>
        </p:grpSpPr>
        <p:pic>
          <p:nvPicPr>
            <p:cNvPr id="13" name="图形 12">
              <a:extLst>
                <a:ext uri="{FF2B5EF4-FFF2-40B4-BE49-F238E27FC236}">
                  <a16:creationId xmlns:a16="http://schemas.microsoft.com/office/drawing/2014/main" id="{8536F22F-6858-9B92-B89B-E77B1CCAEF8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02396" y="1588386"/>
              <a:ext cx="960600" cy="720449"/>
            </a:xfrm>
            <a:prstGeom prst="rect">
              <a:avLst/>
            </a:prstGeom>
          </p:spPr>
        </p:pic>
        <p:sp>
          <p:nvSpPr>
            <p:cNvPr id="35" name="文本框 34">
              <a:extLst>
                <a:ext uri="{FF2B5EF4-FFF2-40B4-BE49-F238E27FC236}">
                  <a16:creationId xmlns:a16="http://schemas.microsoft.com/office/drawing/2014/main" id="{FD535CD7-CCA7-5E23-BB53-818448F75535}"/>
                </a:ext>
              </a:extLst>
            </p:cNvPr>
            <p:cNvSpPr txBox="1"/>
            <p:nvPr/>
          </p:nvSpPr>
          <p:spPr>
            <a:xfrm>
              <a:off x="8077402" y="2303528"/>
              <a:ext cx="11079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b="0" i="0" u="none" strike="noStrike" kern="1200" cap="none" spc="0" normalizeH="0" baseline="0" noProof="0" dirty="0">
                  <a:ln>
                    <a:noFill/>
                  </a:ln>
                  <a:solidFill>
                    <a:schemeClr val="tx1">
                      <a:lumMod val="50000"/>
                      <a:lumOff val="50000"/>
                    </a:schemeClr>
                  </a:solidFill>
                  <a:effectLst/>
                  <a:uLnTx/>
                  <a:uFillTx/>
                  <a:latin typeface="+mn-ea"/>
                  <a:cs typeface="+mn-cs"/>
                </a:rPr>
                <a:t>玛卡巴卡</a:t>
              </a:r>
              <a:endParaRPr kumimoji="0" lang="en-US" b="0" i="0" u="none" strike="noStrike" kern="1200" cap="none" spc="0" normalizeH="0" baseline="0" noProof="0" dirty="0">
                <a:ln>
                  <a:noFill/>
                </a:ln>
                <a:solidFill>
                  <a:schemeClr val="tx1">
                    <a:lumMod val="50000"/>
                    <a:lumOff val="50000"/>
                  </a:schemeClr>
                </a:solidFill>
                <a:effectLst/>
                <a:uLnTx/>
                <a:uFillTx/>
                <a:latin typeface="+mn-ea"/>
                <a:cs typeface="+mn-cs"/>
              </a:endParaRPr>
            </a:p>
          </p:txBody>
        </p:sp>
      </p:grpSp>
      <p:grpSp>
        <p:nvGrpSpPr>
          <p:cNvPr id="46" name="组合 45">
            <a:extLst>
              <a:ext uri="{FF2B5EF4-FFF2-40B4-BE49-F238E27FC236}">
                <a16:creationId xmlns:a16="http://schemas.microsoft.com/office/drawing/2014/main" id="{19880E46-0398-CB14-DF0E-25E6E5B84666}"/>
              </a:ext>
            </a:extLst>
          </p:cNvPr>
          <p:cNvGrpSpPr/>
          <p:nvPr/>
        </p:nvGrpSpPr>
        <p:grpSpPr>
          <a:xfrm>
            <a:off x="7416939" y="5139017"/>
            <a:ext cx="1107996" cy="1304622"/>
            <a:chOff x="8171850" y="5266608"/>
            <a:chExt cx="1107996" cy="1304622"/>
          </a:xfrm>
        </p:grpSpPr>
        <p:pic>
          <p:nvPicPr>
            <p:cNvPr id="30" name="图形 29">
              <a:extLst>
                <a:ext uri="{FF2B5EF4-FFF2-40B4-BE49-F238E27FC236}">
                  <a16:creationId xmlns:a16="http://schemas.microsoft.com/office/drawing/2014/main" id="{CF5BED27-507D-5E76-DBEC-AB9607164F5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171850" y="5266608"/>
              <a:ext cx="1021693" cy="1021693"/>
            </a:xfrm>
            <a:prstGeom prst="rect">
              <a:avLst/>
            </a:prstGeom>
          </p:spPr>
        </p:pic>
        <p:sp>
          <p:nvSpPr>
            <p:cNvPr id="37" name="文本框 36">
              <a:extLst>
                <a:ext uri="{FF2B5EF4-FFF2-40B4-BE49-F238E27FC236}">
                  <a16:creationId xmlns:a16="http://schemas.microsoft.com/office/drawing/2014/main" id="{4BB84C1E-6733-767F-E6D1-F9D85FC83D11}"/>
                </a:ext>
              </a:extLst>
            </p:cNvPr>
            <p:cNvSpPr txBox="1"/>
            <p:nvPr/>
          </p:nvSpPr>
          <p:spPr>
            <a:xfrm>
              <a:off x="8171850" y="6201898"/>
              <a:ext cx="11079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b="0" i="0" u="none" strike="noStrike" kern="1200" cap="none" spc="0" normalizeH="0" baseline="0" noProof="0" dirty="0">
                  <a:ln>
                    <a:noFill/>
                  </a:ln>
                  <a:solidFill>
                    <a:schemeClr val="tx1">
                      <a:lumMod val="50000"/>
                      <a:lumOff val="50000"/>
                    </a:schemeClr>
                  </a:solidFill>
                  <a:effectLst/>
                  <a:uLnTx/>
                  <a:uFillTx/>
                  <a:latin typeface="+mn-ea"/>
                  <a:cs typeface="+mn-cs"/>
                </a:rPr>
                <a:t>依古比古</a:t>
              </a:r>
              <a:endParaRPr kumimoji="0" lang="en-US" b="0" i="0" u="none" strike="noStrike" kern="1200" cap="none" spc="0" normalizeH="0" baseline="0" noProof="0" dirty="0">
                <a:ln>
                  <a:noFill/>
                </a:ln>
                <a:solidFill>
                  <a:schemeClr val="tx1">
                    <a:lumMod val="50000"/>
                    <a:lumOff val="50000"/>
                  </a:schemeClr>
                </a:solidFill>
                <a:effectLst/>
                <a:uLnTx/>
                <a:uFillTx/>
                <a:latin typeface="+mn-ea"/>
                <a:cs typeface="+mn-cs"/>
              </a:endParaRPr>
            </a:p>
          </p:txBody>
        </p:sp>
      </p:grpSp>
      <p:sp>
        <p:nvSpPr>
          <p:cNvPr id="38" name="文本框 37">
            <a:extLst>
              <a:ext uri="{FF2B5EF4-FFF2-40B4-BE49-F238E27FC236}">
                <a16:creationId xmlns:a16="http://schemas.microsoft.com/office/drawing/2014/main" id="{97763DA7-053A-5F61-7A71-18B62DBE1512}"/>
              </a:ext>
            </a:extLst>
          </p:cNvPr>
          <p:cNvSpPr txBox="1"/>
          <p:nvPr/>
        </p:nvSpPr>
        <p:spPr>
          <a:xfrm>
            <a:off x="5910041" y="1623202"/>
            <a:ext cx="98937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b="0" i="0" u="none" strike="noStrike" kern="1200" cap="none" spc="0" normalizeH="0" baseline="0" noProof="0" dirty="0">
                <a:ln>
                  <a:noFill/>
                </a:ln>
                <a:solidFill>
                  <a:schemeClr val="tx2">
                    <a:lumMod val="50000"/>
                  </a:schemeClr>
                </a:solidFill>
                <a:effectLst/>
                <a:uLnTx/>
                <a:uFillTx/>
                <a:latin typeface="+mn-ea"/>
                <a:cs typeface="+mn-cs"/>
              </a:rPr>
              <a:t>IP</a:t>
            </a:r>
            <a:r>
              <a:rPr kumimoji="0" lang="zh-CN" altLang="en-US" b="0" i="0" u="none" strike="noStrike" kern="1200" cap="none" spc="0" normalizeH="0" baseline="0" noProof="0" dirty="0">
                <a:ln>
                  <a:noFill/>
                </a:ln>
                <a:solidFill>
                  <a:schemeClr val="tx2">
                    <a:lumMod val="50000"/>
                  </a:schemeClr>
                </a:solidFill>
                <a:effectLst/>
                <a:uLnTx/>
                <a:uFillTx/>
                <a:latin typeface="+mn-ea"/>
                <a:cs typeface="+mn-cs"/>
              </a:rPr>
              <a:t>地址</a:t>
            </a:r>
            <a:r>
              <a:rPr kumimoji="0" lang="en-US" altLang="zh-CN" b="0" i="0" u="none" strike="noStrike" kern="1200" cap="none" spc="0" normalizeH="0" baseline="0" noProof="0" dirty="0">
                <a:ln>
                  <a:noFill/>
                </a:ln>
                <a:solidFill>
                  <a:schemeClr val="tx2">
                    <a:lumMod val="50000"/>
                  </a:schemeClr>
                </a:solidFill>
                <a:effectLst/>
                <a:uLnTx/>
                <a:uFillTx/>
                <a:latin typeface="+mn-ea"/>
                <a:cs typeface="+mn-cs"/>
              </a:rPr>
              <a:t>1</a:t>
            </a:r>
            <a:endParaRPr kumimoji="0" lang="en-US" b="0" i="0" u="none" strike="noStrike" kern="1200" cap="none" spc="0" normalizeH="0" baseline="0" noProof="0" dirty="0">
              <a:ln>
                <a:noFill/>
              </a:ln>
              <a:solidFill>
                <a:schemeClr val="tx2">
                  <a:lumMod val="50000"/>
                </a:schemeClr>
              </a:solidFill>
              <a:effectLst/>
              <a:uLnTx/>
              <a:uFillTx/>
              <a:latin typeface="+mn-ea"/>
              <a:cs typeface="+mn-cs"/>
            </a:endParaRPr>
          </a:p>
        </p:txBody>
      </p:sp>
      <p:sp>
        <p:nvSpPr>
          <p:cNvPr id="39" name="文本框 38">
            <a:extLst>
              <a:ext uri="{FF2B5EF4-FFF2-40B4-BE49-F238E27FC236}">
                <a16:creationId xmlns:a16="http://schemas.microsoft.com/office/drawing/2014/main" id="{C5A532D4-CE4D-7080-A2C1-FE3B967F9A43}"/>
              </a:ext>
            </a:extLst>
          </p:cNvPr>
          <p:cNvSpPr txBox="1"/>
          <p:nvPr/>
        </p:nvSpPr>
        <p:spPr>
          <a:xfrm>
            <a:off x="5971045" y="3593378"/>
            <a:ext cx="98937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b="0" i="0" u="none" strike="noStrike" kern="1200" cap="none" spc="0" normalizeH="0" baseline="0" noProof="0" dirty="0">
                <a:ln>
                  <a:noFill/>
                </a:ln>
                <a:solidFill>
                  <a:schemeClr val="tx2">
                    <a:lumMod val="50000"/>
                  </a:schemeClr>
                </a:solidFill>
                <a:effectLst/>
                <a:uLnTx/>
                <a:uFillTx/>
                <a:latin typeface="+mn-ea"/>
                <a:cs typeface="+mn-cs"/>
              </a:rPr>
              <a:t>IP</a:t>
            </a:r>
            <a:r>
              <a:rPr kumimoji="0" lang="zh-CN" altLang="en-US" b="0" i="0" u="none" strike="noStrike" kern="1200" cap="none" spc="0" normalizeH="0" baseline="0" noProof="0" dirty="0">
                <a:ln>
                  <a:noFill/>
                </a:ln>
                <a:solidFill>
                  <a:schemeClr val="tx2">
                    <a:lumMod val="50000"/>
                  </a:schemeClr>
                </a:solidFill>
                <a:effectLst/>
                <a:uLnTx/>
                <a:uFillTx/>
                <a:latin typeface="+mn-ea"/>
                <a:cs typeface="+mn-cs"/>
              </a:rPr>
              <a:t>地址</a:t>
            </a:r>
            <a:r>
              <a:rPr kumimoji="0" lang="en-US" altLang="zh-CN" b="0" i="0" u="none" strike="noStrike" kern="1200" cap="none" spc="0" normalizeH="0" baseline="0" noProof="0" dirty="0">
                <a:ln>
                  <a:noFill/>
                </a:ln>
                <a:solidFill>
                  <a:schemeClr val="tx2">
                    <a:lumMod val="50000"/>
                  </a:schemeClr>
                </a:solidFill>
                <a:effectLst/>
                <a:uLnTx/>
                <a:uFillTx/>
                <a:latin typeface="+mn-ea"/>
                <a:cs typeface="+mn-cs"/>
              </a:rPr>
              <a:t>2</a:t>
            </a:r>
            <a:endParaRPr kumimoji="0" lang="en-US" b="0" i="0" u="none" strike="noStrike" kern="1200" cap="none" spc="0" normalizeH="0" baseline="0" noProof="0" dirty="0">
              <a:ln>
                <a:noFill/>
              </a:ln>
              <a:solidFill>
                <a:schemeClr val="tx2">
                  <a:lumMod val="50000"/>
                </a:schemeClr>
              </a:solidFill>
              <a:effectLst/>
              <a:uLnTx/>
              <a:uFillTx/>
              <a:latin typeface="+mn-ea"/>
              <a:cs typeface="+mn-cs"/>
            </a:endParaRPr>
          </a:p>
        </p:txBody>
      </p:sp>
      <p:sp>
        <p:nvSpPr>
          <p:cNvPr id="40" name="文本框 39">
            <a:extLst>
              <a:ext uri="{FF2B5EF4-FFF2-40B4-BE49-F238E27FC236}">
                <a16:creationId xmlns:a16="http://schemas.microsoft.com/office/drawing/2014/main" id="{A9096F86-87AB-C99C-AF97-628251E34337}"/>
              </a:ext>
            </a:extLst>
          </p:cNvPr>
          <p:cNvSpPr txBox="1"/>
          <p:nvPr/>
        </p:nvSpPr>
        <p:spPr>
          <a:xfrm>
            <a:off x="5971044" y="5449808"/>
            <a:ext cx="98937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b="0" i="0" u="none" strike="noStrike" kern="1200" cap="none" spc="0" normalizeH="0" baseline="0" noProof="0" dirty="0">
                <a:ln>
                  <a:noFill/>
                </a:ln>
                <a:solidFill>
                  <a:schemeClr val="tx2">
                    <a:lumMod val="50000"/>
                  </a:schemeClr>
                </a:solidFill>
                <a:effectLst/>
                <a:uLnTx/>
                <a:uFillTx/>
                <a:latin typeface="+mn-ea"/>
                <a:cs typeface="+mn-cs"/>
              </a:rPr>
              <a:t>IP</a:t>
            </a:r>
            <a:r>
              <a:rPr kumimoji="0" lang="zh-CN" altLang="en-US" b="0" i="0" u="none" strike="noStrike" kern="1200" cap="none" spc="0" normalizeH="0" baseline="0" noProof="0" dirty="0">
                <a:ln>
                  <a:noFill/>
                </a:ln>
                <a:solidFill>
                  <a:schemeClr val="tx2">
                    <a:lumMod val="50000"/>
                  </a:schemeClr>
                </a:solidFill>
                <a:effectLst/>
                <a:uLnTx/>
                <a:uFillTx/>
                <a:latin typeface="+mn-ea"/>
                <a:cs typeface="+mn-cs"/>
              </a:rPr>
              <a:t>地址</a:t>
            </a:r>
            <a:r>
              <a:rPr kumimoji="0" lang="en-US" altLang="zh-CN" b="0" i="0" u="none" strike="noStrike" kern="1200" cap="none" spc="0" normalizeH="0" baseline="0" noProof="0" dirty="0">
                <a:ln>
                  <a:noFill/>
                </a:ln>
                <a:solidFill>
                  <a:schemeClr val="tx2">
                    <a:lumMod val="50000"/>
                  </a:schemeClr>
                </a:solidFill>
                <a:effectLst/>
                <a:uLnTx/>
                <a:uFillTx/>
                <a:latin typeface="+mn-ea"/>
                <a:cs typeface="+mn-cs"/>
              </a:rPr>
              <a:t>3</a:t>
            </a:r>
            <a:endParaRPr kumimoji="0" lang="en-US" b="0" i="0" u="none" strike="noStrike" kern="1200" cap="none" spc="0" normalizeH="0" baseline="0" noProof="0" dirty="0">
              <a:ln>
                <a:noFill/>
              </a:ln>
              <a:solidFill>
                <a:schemeClr val="tx2">
                  <a:lumMod val="50000"/>
                </a:schemeClr>
              </a:solidFill>
              <a:effectLst/>
              <a:uLnTx/>
              <a:uFillTx/>
              <a:latin typeface="+mn-ea"/>
              <a:cs typeface="+mn-cs"/>
            </a:endParaRPr>
          </a:p>
        </p:txBody>
      </p:sp>
      <p:sp>
        <p:nvSpPr>
          <p:cNvPr id="41" name="文本框 40">
            <a:extLst>
              <a:ext uri="{FF2B5EF4-FFF2-40B4-BE49-F238E27FC236}">
                <a16:creationId xmlns:a16="http://schemas.microsoft.com/office/drawing/2014/main" id="{2D8B8C66-4A8E-DE69-0F90-290C9CA99329}"/>
              </a:ext>
            </a:extLst>
          </p:cNvPr>
          <p:cNvSpPr txBox="1"/>
          <p:nvPr/>
        </p:nvSpPr>
        <p:spPr>
          <a:xfrm>
            <a:off x="2208874" y="3224345"/>
            <a:ext cx="98937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b="0" i="0" u="none" strike="noStrike" kern="1200" cap="none" spc="0" normalizeH="0" baseline="0" noProof="0" dirty="0">
                <a:ln>
                  <a:noFill/>
                </a:ln>
                <a:solidFill>
                  <a:schemeClr val="tx2">
                    <a:lumMod val="50000"/>
                  </a:schemeClr>
                </a:solidFill>
                <a:effectLst/>
                <a:uLnTx/>
                <a:uFillTx/>
                <a:latin typeface="+mn-ea"/>
                <a:cs typeface="+mn-cs"/>
              </a:rPr>
              <a:t>IP</a:t>
            </a:r>
            <a:r>
              <a:rPr kumimoji="0" lang="zh-CN" altLang="en-US" b="0" i="0" u="none" strike="noStrike" kern="1200" cap="none" spc="0" normalizeH="0" baseline="0" noProof="0" dirty="0">
                <a:ln>
                  <a:noFill/>
                </a:ln>
                <a:solidFill>
                  <a:schemeClr val="tx2">
                    <a:lumMod val="50000"/>
                  </a:schemeClr>
                </a:solidFill>
                <a:effectLst/>
                <a:uLnTx/>
                <a:uFillTx/>
                <a:latin typeface="+mn-ea"/>
                <a:cs typeface="+mn-cs"/>
              </a:rPr>
              <a:t>地址</a:t>
            </a:r>
            <a:r>
              <a:rPr kumimoji="0" lang="en-US" altLang="zh-CN" b="0" i="0" u="none" strike="noStrike" kern="1200" cap="none" spc="0" normalizeH="0" baseline="0" noProof="0" dirty="0">
                <a:ln>
                  <a:noFill/>
                </a:ln>
                <a:solidFill>
                  <a:schemeClr val="tx2">
                    <a:lumMod val="50000"/>
                  </a:schemeClr>
                </a:solidFill>
                <a:effectLst/>
                <a:uLnTx/>
                <a:uFillTx/>
                <a:latin typeface="+mn-ea"/>
                <a:cs typeface="+mn-cs"/>
              </a:rPr>
              <a:t>2</a:t>
            </a:r>
            <a:endParaRPr kumimoji="0" lang="en-US" b="0" i="0" u="none" strike="noStrike" kern="1200" cap="none" spc="0" normalizeH="0" baseline="0" noProof="0" dirty="0">
              <a:ln>
                <a:noFill/>
              </a:ln>
              <a:solidFill>
                <a:schemeClr val="tx2">
                  <a:lumMod val="50000"/>
                </a:schemeClr>
              </a:solidFill>
              <a:effectLst/>
              <a:uLnTx/>
              <a:uFillTx/>
              <a:latin typeface="+mn-ea"/>
              <a:cs typeface="+mn-cs"/>
            </a:endParaRPr>
          </a:p>
        </p:txBody>
      </p:sp>
      <p:grpSp>
        <p:nvGrpSpPr>
          <p:cNvPr id="43" name="组合 42">
            <a:extLst>
              <a:ext uri="{FF2B5EF4-FFF2-40B4-BE49-F238E27FC236}">
                <a16:creationId xmlns:a16="http://schemas.microsoft.com/office/drawing/2014/main" id="{FB789FAA-EECB-F4CC-595D-86D6B830AEFC}"/>
              </a:ext>
            </a:extLst>
          </p:cNvPr>
          <p:cNvGrpSpPr/>
          <p:nvPr/>
        </p:nvGrpSpPr>
        <p:grpSpPr>
          <a:xfrm>
            <a:off x="725432" y="3060607"/>
            <a:ext cx="1330706" cy="1510790"/>
            <a:chOff x="1480343" y="3188198"/>
            <a:chExt cx="1330706" cy="1510790"/>
          </a:xfrm>
        </p:grpSpPr>
        <p:pic>
          <p:nvPicPr>
            <p:cNvPr id="9" name="图形 8">
              <a:extLst>
                <a:ext uri="{FF2B5EF4-FFF2-40B4-BE49-F238E27FC236}">
                  <a16:creationId xmlns:a16="http://schemas.microsoft.com/office/drawing/2014/main" id="{883AE777-2F4D-D227-B9A1-A315B86F57C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480343" y="3188198"/>
              <a:ext cx="1330706" cy="1330706"/>
            </a:xfrm>
            <a:prstGeom prst="rect">
              <a:avLst/>
            </a:prstGeom>
          </p:spPr>
        </p:pic>
        <p:sp>
          <p:nvSpPr>
            <p:cNvPr id="42" name="文本框 41">
              <a:extLst>
                <a:ext uri="{FF2B5EF4-FFF2-40B4-BE49-F238E27FC236}">
                  <a16:creationId xmlns:a16="http://schemas.microsoft.com/office/drawing/2014/main" id="{81B96A54-8D6E-7C5F-04EE-D2F177687060}"/>
                </a:ext>
              </a:extLst>
            </p:cNvPr>
            <p:cNvSpPr txBox="1"/>
            <p:nvPr/>
          </p:nvSpPr>
          <p:spPr>
            <a:xfrm>
              <a:off x="1925123" y="4329656"/>
              <a:ext cx="41549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b="0" i="0" u="none" strike="noStrike" kern="1200" cap="none" spc="0" normalizeH="0" baseline="0" noProof="0" dirty="0">
                  <a:ln>
                    <a:noFill/>
                  </a:ln>
                  <a:solidFill>
                    <a:schemeClr val="tx1">
                      <a:lumMod val="50000"/>
                      <a:lumOff val="50000"/>
                    </a:schemeClr>
                  </a:solidFill>
                  <a:effectLst/>
                  <a:uLnTx/>
                  <a:uFillTx/>
                  <a:latin typeface="+mn-ea"/>
                  <a:cs typeface="+mn-cs"/>
                </a:rPr>
                <a:t>我</a:t>
              </a:r>
              <a:endParaRPr kumimoji="0" lang="en-US" b="0" i="0" u="none" strike="noStrike" kern="1200" cap="none" spc="0" normalizeH="0" baseline="0" noProof="0" dirty="0">
                <a:ln>
                  <a:noFill/>
                </a:ln>
                <a:solidFill>
                  <a:schemeClr val="tx1">
                    <a:lumMod val="50000"/>
                    <a:lumOff val="50000"/>
                  </a:schemeClr>
                </a:solidFill>
                <a:effectLst/>
                <a:uLnTx/>
                <a:uFillTx/>
                <a:latin typeface="+mn-ea"/>
                <a:cs typeface="+mn-cs"/>
              </a:endParaRPr>
            </a:p>
          </p:txBody>
        </p:sp>
      </p:grpSp>
      <p:sp>
        <p:nvSpPr>
          <p:cNvPr id="47" name="文本框 46">
            <a:extLst>
              <a:ext uri="{FF2B5EF4-FFF2-40B4-BE49-F238E27FC236}">
                <a16:creationId xmlns:a16="http://schemas.microsoft.com/office/drawing/2014/main" id="{0F06AF8F-21C8-9EAB-05BE-15813715775D}"/>
              </a:ext>
            </a:extLst>
          </p:cNvPr>
          <p:cNvSpPr txBox="1"/>
          <p:nvPr/>
        </p:nvSpPr>
        <p:spPr>
          <a:xfrm>
            <a:off x="725432" y="1620964"/>
            <a:ext cx="387798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b="0" i="0" u="none" strike="noStrike" kern="1200" cap="none" spc="0" normalizeH="0" baseline="0" noProof="0" dirty="0">
                <a:ln>
                  <a:noFill/>
                </a:ln>
                <a:effectLst/>
                <a:uLnTx/>
                <a:uFillTx/>
                <a:latin typeface="+mn-ea"/>
                <a:cs typeface="+mn-cs"/>
              </a:rPr>
              <a:t>需求：用微信给唔西迪西发送爱你哟</a:t>
            </a:r>
            <a:endParaRPr kumimoji="0" lang="en-US" b="0" i="0" u="none" strike="noStrike" kern="1200" cap="none" spc="0" normalizeH="0" baseline="0" noProof="0" dirty="0">
              <a:ln>
                <a:noFill/>
              </a:ln>
              <a:effectLst/>
              <a:uLnTx/>
              <a:uFillTx/>
              <a:latin typeface="+mn-ea"/>
              <a:cs typeface="+mn-cs"/>
            </a:endParaRPr>
          </a:p>
        </p:txBody>
      </p:sp>
      <p:sp>
        <p:nvSpPr>
          <p:cNvPr id="48" name="文本框 47">
            <a:extLst>
              <a:ext uri="{FF2B5EF4-FFF2-40B4-BE49-F238E27FC236}">
                <a16:creationId xmlns:a16="http://schemas.microsoft.com/office/drawing/2014/main" id="{309516A2-6558-59BB-FC96-2EEE4194D509}"/>
              </a:ext>
            </a:extLst>
          </p:cNvPr>
          <p:cNvSpPr txBox="1"/>
          <p:nvPr/>
        </p:nvSpPr>
        <p:spPr>
          <a:xfrm>
            <a:off x="2208874" y="3636406"/>
            <a:ext cx="164660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b="0" i="0" u="none" strike="noStrike" kern="1200" cap="none" spc="0" normalizeH="0" baseline="0" noProof="0" dirty="0">
                <a:ln>
                  <a:noFill/>
                </a:ln>
                <a:solidFill>
                  <a:schemeClr val="tx2">
                    <a:lumMod val="50000"/>
                  </a:schemeClr>
                </a:solidFill>
                <a:effectLst/>
                <a:uLnTx/>
                <a:uFillTx/>
                <a:latin typeface="+mn-ea"/>
                <a:cs typeface="+mn-cs"/>
              </a:rPr>
              <a:t>端口号：</a:t>
            </a:r>
            <a:r>
              <a:rPr kumimoji="0" lang="en-US" altLang="zh-CN" b="0" i="0" u="none" strike="noStrike" kern="1200" cap="none" spc="0" normalizeH="0" baseline="0" noProof="0" dirty="0">
                <a:ln>
                  <a:noFill/>
                </a:ln>
                <a:solidFill>
                  <a:schemeClr val="tx2">
                    <a:lumMod val="50000"/>
                  </a:schemeClr>
                </a:solidFill>
                <a:effectLst/>
                <a:uLnTx/>
                <a:uFillTx/>
                <a:latin typeface="+mn-ea"/>
                <a:cs typeface="+mn-cs"/>
              </a:rPr>
              <a:t>8888</a:t>
            </a:r>
            <a:endParaRPr kumimoji="0" lang="en-US" b="0" i="0" u="none" strike="noStrike" kern="1200" cap="none" spc="0" normalizeH="0" baseline="0" noProof="0" dirty="0">
              <a:ln>
                <a:noFill/>
              </a:ln>
              <a:solidFill>
                <a:schemeClr val="tx2">
                  <a:lumMod val="50000"/>
                </a:schemeClr>
              </a:solidFill>
              <a:effectLst/>
              <a:uLnTx/>
              <a:uFillTx/>
              <a:latin typeface="+mn-ea"/>
              <a:cs typeface="+mn-cs"/>
            </a:endParaRPr>
          </a:p>
        </p:txBody>
      </p:sp>
      <p:sp>
        <p:nvSpPr>
          <p:cNvPr id="49" name="文本框 48">
            <a:extLst>
              <a:ext uri="{FF2B5EF4-FFF2-40B4-BE49-F238E27FC236}">
                <a16:creationId xmlns:a16="http://schemas.microsoft.com/office/drawing/2014/main" id="{6D7AE18E-A175-45C7-D975-731EFA23C14C}"/>
              </a:ext>
            </a:extLst>
          </p:cNvPr>
          <p:cNvSpPr txBox="1"/>
          <p:nvPr/>
        </p:nvSpPr>
        <p:spPr>
          <a:xfrm>
            <a:off x="2208874" y="4125122"/>
            <a:ext cx="11079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b="0" i="0" u="none" strike="noStrike" kern="1200" cap="none" spc="0" normalizeH="0" baseline="0" noProof="0" dirty="0">
                <a:ln>
                  <a:noFill/>
                </a:ln>
                <a:solidFill>
                  <a:schemeClr val="tx2">
                    <a:lumMod val="50000"/>
                  </a:schemeClr>
                </a:solidFill>
                <a:effectLst/>
                <a:uLnTx/>
                <a:uFillTx/>
                <a:latin typeface="+mn-ea"/>
                <a:cs typeface="+mn-cs"/>
              </a:rPr>
              <a:t>传输协议</a:t>
            </a:r>
            <a:endParaRPr kumimoji="0" lang="en-US" b="0" i="0" u="none" strike="noStrike" kern="1200" cap="none" spc="0" normalizeH="0" baseline="0" noProof="0" dirty="0">
              <a:ln>
                <a:noFill/>
              </a:ln>
              <a:solidFill>
                <a:schemeClr val="tx2">
                  <a:lumMod val="50000"/>
                </a:schemeClr>
              </a:solidFill>
              <a:effectLst/>
              <a:uLnTx/>
              <a:uFillTx/>
              <a:latin typeface="+mn-ea"/>
              <a:cs typeface="+mn-cs"/>
            </a:endParaRPr>
          </a:p>
        </p:txBody>
      </p:sp>
    </p:spTree>
    <p:extLst>
      <p:ext uri="{BB962C8B-B14F-4D97-AF65-F5344CB8AC3E}">
        <p14:creationId xmlns:p14="http://schemas.microsoft.com/office/powerpoint/2010/main" val="77038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decel="10000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p:cTn id="7" dur="500" fill="hold"/>
                                        <p:tgtEl>
                                          <p:spTgt spid="43"/>
                                        </p:tgtEl>
                                        <p:attrNameLst>
                                          <p:attrName>ppt_w</p:attrName>
                                        </p:attrNameLst>
                                      </p:cBhvr>
                                      <p:tavLst>
                                        <p:tav tm="0">
                                          <p:val>
                                            <p:fltVal val="0"/>
                                          </p:val>
                                        </p:tav>
                                        <p:tav tm="100000">
                                          <p:val>
                                            <p:strVal val="#ppt_w"/>
                                          </p:val>
                                        </p:tav>
                                      </p:tavLst>
                                    </p:anim>
                                    <p:anim calcmode="lin" valueType="num">
                                      <p:cBhvr>
                                        <p:cTn id="8" dur="500" fill="hold"/>
                                        <p:tgtEl>
                                          <p:spTgt spid="43"/>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3" presetClass="entr" presetSubtype="16" decel="100000" fill="hold"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ppt_w</p:attrName>
                                        </p:attrNameLst>
                                      </p:cBhvr>
                                      <p:tavLst>
                                        <p:tav tm="0">
                                          <p:val>
                                            <p:fltVal val="0"/>
                                          </p:val>
                                        </p:tav>
                                        <p:tav tm="100000">
                                          <p:val>
                                            <p:strVal val="#ppt_w"/>
                                          </p:val>
                                        </p:tav>
                                      </p:tavLst>
                                    </p:anim>
                                    <p:anim calcmode="lin" valueType="num">
                                      <p:cBhvr>
                                        <p:cTn id="13" dur="500" fill="hold"/>
                                        <p:tgtEl>
                                          <p:spTgt spid="44"/>
                                        </p:tgtEl>
                                        <p:attrNameLst>
                                          <p:attrName>ppt_h</p:attrName>
                                        </p:attrNameLst>
                                      </p:cBhvr>
                                      <p:tavLst>
                                        <p:tav tm="0">
                                          <p:val>
                                            <p:fltVal val="0"/>
                                          </p:val>
                                        </p:tav>
                                        <p:tav tm="100000">
                                          <p:val>
                                            <p:strVal val="#ppt_h"/>
                                          </p:val>
                                        </p:tav>
                                      </p:tavLst>
                                    </p:anim>
                                  </p:childTnLst>
                                </p:cTn>
                              </p:par>
                            </p:childTnLst>
                          </p:cTn>
                        </p:par>
                        <p:par>
                          <p:cTn id="14" fill="hold">
                            <p:stCondLst>
                              <p:cond delay="1000"/>
                            </p:stCondLst>
                            <p:childTnLst>
                              <p:par>
                                <p:cTn id="15" presetID="23" presetClass="entr" presetSubtype="16" decel="100000" fill="hold" nodeType="afterEffect">
                                  <p:stCondLst>
                                    <p:cond delay="0"/>
                                  </p:stCondLst>
                                  <p:childTnLst>
                                    <p:set>
                                      <p:cBhvr>
                                        <p:cTn id="16" dur="1" fill="hold">
                                          <p:stCondLst>
                                            <p:cond delay="0"/>
                                          </p:stCondLst>
                                        </p:cTn>
                                        <p:tgtEl>
                                          <p:spTgt spid="45"/>
                                        </p:tgtEl>
                                        <p:attrNameLst>
                                          <p:attrName>style.visibility</p:attrName>
                                        </p:attrNameLst>
                                      </p:cBhvr>
                                      <p:to>
                                        <p:strVal val="visible"/>
                                      </p:to>
                                    </p:set>
                                    <p:anim calcmode="lin" valueType="num">
                                      <p:cBhvr>
                                        <p:cTn id="17" dur="500" fill="hold"/>
                                        <p:tgtEl>
                                          <p:spTgt spid="45"/>
                                        </p:tgtEl>
                                        <p:attrNameLst>
                                          <p:attrName>ppt_w</p:attrName>
                                        </p:attrNameLst>
                                      </p:cBhvr>
                                      <p:tavLst>
                                        <p:tav tm="0">
                                          <p:val>
                                            <p:fltVal val="0"/>
                                          </p:val>
                                        </p:tav>
                                        <p:tav tm="100000">
                                          <p:val>
                                            <p:strVal val="#ppt_w"/>
                                          </p:val>
                                        </p:tav>
                                      </p:tavLst>
                                    </p:anim>
                                    <p:anim calcmode="lin" valueType="num">
                                      <p:cBhvr>
                                        <p:cTn id="18" dur="500" fill="hold"/>
                                        <p:tgtEl>
                                          <p:spTgt spid="45"/>
                                        </p:tgtEl>
                                        <p:attrNameLst>
                                          <p:attrName>ppt_h</p:attrName>
                                        </p:attrNameLst>
                                      </p:cBhvr>
                                      <p:tavLst>
                                        <p:tav tm="0">
                                          <p:val>
                                            <p:fltVal val="0"/>
                                          </p:val>
                                        </p:tav>
                                        <p:tav tm="100000">
                                          <p:val>
                                            <p:strVal val="#ppt_h"/>
                                          </p:val>
                                        </p:tav>
                                      </p:tavLst>
                                    </p:anim>
                                  </p:childTnLst>
                                </p:cTn>
                              </p:par>
                            </p:childTnLst>
                          </p:cTn>
                        </p:par>
                        <p:par>
                          <p:cTn id="19" fill="hold">
                            <p:stCondLst>
                              <p:cond delay="1500"/>
                            </p:stCondLst>
                            <p:childTnLst>
                              <p:par>
                                <p:cTn id="20" presetID="23" presetClass="entr" presetSubtype="16" decel="100000" fill="hold" nodeType="afterEffect">
                                  <p:stCondLst>
                                    <p:cond delay="0"/>
                                  </p:stCondLst>
                                  <p:childTnLst>
                                    <p:set>
                                      <p:cBhvr>
                                        <p:cTn id="21" dur="1" fill="hold">
                                          <p:stCondLst>
                                            <p:cond delay="0"/>
                                          </p:stCondLst>
                                        </p:cTn>
                                        <p:tgtEl>
                                          <p:spTgt spid="46"/>
                                        </p:tgtEl>
                                        <p:attrNameLst>
                                          <p:attrName>style.visibility</p:attrName>
                                        </p:attrNameLst>
                                      </p:cBhvr>
                                      <p:to>
                                        <p:strVal val="visible"/>
                                      </p:to>
                                    </p:set>
                                    <p:anim calcmode="lin" valueType="num">
                                      <p:cBhvr>
                                        <p:cTn id="22" dur="500" fill="hold"/>
                                        <p:tgtEl>
                                          <p:spTgt spid="46"/>
                                        </p:tgtEl>
                                        <p:attrNameLst>
                                          <p:attrName>ppt_w</p:attrName>
                                        </p:attrNameLst>
                                      </p:cBhvr>
                                      <p:tavLst>
                                        <p:tav tm="0">
                                          <p:val>
                                            <p:fltVal val="0"/>
                                          </p:val>
                                        </p:tav>
                                        <p:tav tm="100000">
                                          <p:val>
                                            <p:strVal val="#ppt_w"/>
                                          </p:val>
                                        </p:tav>
                                      </p:tavLst>
                                    </p:anim>
                                    <p:anim calcmode="lin" valueType="num">
                                      <p:cBhvr>
                                        <p:cTn id="23" dur="500" fill="hold"/>
                                        <p:tgtEl>
                                          <p:spTgt spid="46"/>
                                        </p:tgtEl>
                                        <p:attrNameLst>
                                          <p:attrName>ppt_h</p:attrName>
                                        </p:attrNameLst>
                                      </p:cBhvr>
                                      <p:tavLst>
                                        <p:tav tm="0">
                                          <p:val>
                                            <p:flt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3" presetClass="entr" presetSubtype="16" decel="10000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500" fill="hold"/>
                                        <p:tgtEl>
                                          <p:spTgt spid="14"/>
                                        </p:tgtEl>
                                        <p:attrNameLst>
                                          <p:attrName>ppt_w</p:attrName>
                                        </p:attrNameLst>
                                      </p:cBhvr>
                                      <p:tavLst>
                                        <p:tav tm="0">
                                          <p:val>
                                            <p:fltVal val="0"/>
                                          </p:val>
                                        </p:tav>
                                        <p:tav tm="100000">
                                          <p:val>
                                            <p:strVal val="#ppt_w"/>
                                          </p:val>
                                        </p:tav>
                                      </p:tavLst>
                                    </p:anim>
                                    <p:anim calcmode="lin" valueType="num">
                                      <p:cBhvr>
                                        <p:cTn id="29" dur="500" fill="hold"/>
                                        <p:tgtEl>
                                          <p:spTgt spid="14"/>
                                        </p:tgtEl>
                                        <p:attrNameLst>
                                          <p:attrName>ppt_h</p:attrName>
                                        </p:attrNameLst>
                                      </p:cBhvr>
                                      <p:tavLst>
                                        <p:tav tm="0">
                                          <p:val>
                                            <p:fltVal val="0"/>
                                          </p:val>
                                        </p:tav>
                                        <p:tav tm="100000">
                                          <p:val>
                                            <p:strVal val="#ppt_h"/>
                                          </p:val>
                                        </p:tav>
                                      </p:tavLst>
                                    </p:anim>
                                  </p:childTnLst>
                                </p:cTn>
                              </p:par>
                            </p:childTnLst>
                          </p:cTn>
                        </p:par>
                        <p:par>
                          <p:cTn id="30" fill="hold">
                            <p:stCondLst>
                              <p:cond delay="500"/>
                            </p:stCondLst>
                            <p:childTnLst>
                              <p:par>
                                <p:cTn id="31" presetID="23" presetClass="entr" presetSubtype="16" decel="100000" fill="hold" nodeType="after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p:cTn id="33" dur="500" fill="hold"/>
                                        <p:tgtEl>
                                          <p:spTgt spid="4"/>
                                        </p:tgtEl>
                                        <p:attrNameLst>
                                          <p:attrName>ppt_w</p:attrName>
                                        </p:attrNameLst>
                                      </p:cBhvr>
                                      <p:tavLst>
                                        <p:tav tm="0">
                                          <p:val>
                                            <p:fltVal val="0"/>
                                          </p:val>
                                        </p:tav>
                                        <p:tav tm="100000">
                                          <p:val>
                                            <p:strVal val="#ppt_w"/>
                                          </p:val>
                                        </p:tav>
                                      </p:tavLst>
                                    </p:anim>
                                    <p:anim calcmode="lin" valueType="num">
                                      <p:cBhvr>
                                        <p:cTn id="34" dur="500" fill="hold"/>
                                        <p:tgtEl>
                                          <p:spTgt spid="4"/>
                                        </p:tgtEl>
                                        <p:attrNameLst>
                                          <p:attrName>ppt_h</p:attrName>
                                        </p:attrNameLst>
                                      </p:cBhvr>
                                      <p:tavLst>
                                        <p:tav tm="0">
                                          <p:val>
                                            <p:fltVal val="0"/>
                                          </p:val>
                                        </p:tav>
                                        <p:tav tm="100000">
                                          <p:val>
                                            <p:strVal val="#ppt_h"/>
                                          </p:val>
                                        </p:tav>
                                      </p:tavLst>
                                    </p:anim>
                                  </p:childTnLst>
                                </p:cTn>
                              </p:par>
                            </p:childTnLst>
                          </p:cTn>
                        </p:par>
                        <p:par>
                          <p:cTn id="35" fill="hold">
                            <p:stCondLst>
                              <p:cond delay="1000"/>
                            </p:stCondLst>
                            <p:childTnLst>
                              <p:par>
                                <p:cTn id="36" presetID="23" presetClass="entr" presetSubtype="16" decel="100000" fill="hold" nodeType="after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p:cTn id="38" dur="500" fill="hold"/>
                                        <p:tgtEl>
                                          <p:spTgt spid="17"/>
                                        </p:tgtEl>
                                        <p:attrNameLst>
                                          <p:attrName>ppt_w</p:attrName>
                                        </p:attrNameLst>
                                      </p:cBhvr>
                                      <p:tavLst>
                                        <p:tav tm="0">
                                          <p:val>
                                            <p:fltVal val="0"/>
                                          </p:val>
                                        </p:tav>
                                        <p:tav tm="100000">
                                          <p:val>
                                            <p:strVal val="#ppt_w"/>
                                          </p:val>
                                        </p:tav>
                                      </p:tavLst>
                                    </p:anim>
                                    <p:anim calcmode="lin" valueType="num">
                                      <p:cBhvr>
                                        <p:cTn id="39" dur="500" fill="hold"/>
                                        <p:tgtEl>
                                          <p:spTgt spid="17"/>
                                        </p:tgtEl>
                                        <p:attrNameLst>
                                          <p:attrName>ppt_h</p:attrName>
                                        </p:attrNameLst>
                                      </p:cBhvr>
                                      <p:tavLst>
                                        <p:tav tm="0">
                                          <p:val>
                                            <p:fltVal val="0"/>
                                          </p:val>
                                        </p:tav>
                                        <p:tav tm="100000">
                                          <p:val>
                                            <p:strVal val="#ppt_h"/>
                                          </p:val>
                                        </p:tav>
                                      </p:tavLst>
                                    </p:anim>
                                  </p:childTnLst>
                                </p:cTn>
                              </p:par>
                            </p:childTnLst>
                          </p:cTn>
                        </p:par>
                        <p:par>
                          <p:cTn id="40" fill="hold">
                            <p:stCondLst>
                              <p:cond delay="1500"/>
                            </p:stCondLst>
                            <p:childTnLst>
                              <p:par>
                                <p:cTn id="41" presetID="23" presetClass="entr" presetSubtype="16" decel="100000" fill="hold" nodeType="after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p:cTn id="43" dur="500" fill="hold"/>
                                        <p:tgtEl>
                                          <p:spTgt spid="23"/>
                                        </p:tgtEl>
                                        <p:attrNameLst>
                                          <p:attrName>ppt_w</p:attrName>
                                        </p:attrNameLst>
                                      </p:cBhvr>
                                      <p:tavLst>
                                        <p:tav tm="0">
                                          <p:val>
                                            <p:fltVal val="0"/>
                                          </p:val>
                                        </p:tav>
                                        <p:tav tm="100000">
                                          <p:val>
                                            <p:strVal val="#ppt_w"/>
                                          </p:val>
                                        </p:tav>
                                      </p:tavLst>
                                    </p:anim>
                                    <p:anim calcmode="lin" valueType="num">
                                      <p:cBhvr>
                                        <p:cTn id="44" dur="500" fill="hold"/>
                                        <p:tgtEl>
                                          <p:spTgt spid="23"/>
                                        </p:tgtEl>
                                        <p:attrNameLst>
                                          <p:attrName>ppt_h</p:attrName>
                                        </p:attrNameLst>
                                      </p:cBhvr>
                                      <p:tavLst>
                                        <p:tav tm="0">
                                          <p:val>
                                            <p:flt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7"/>
                                        </p:tgtEl>
                                        <p:attrNameLst>
                                          <p:attrName>style.visibility</p:attrName>
                                        </p:attrNameLst>
                                      </p:cBhvr>
                                      <p:to>
                                        <p:strVal val="visible"/>
                                      </p:to>
                                    </p:set>
                                    <p:animEffect transition="in" filter="wipe(left)">
                                      <p:cBhvr>
                                        <p:cTn id="49" dur="500"/>
                                        <p:tgtEl>
                                          <p:spTgt spid="4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wipe(left)">
                                      <p:cBhvr>
                                        <p:cTn id="54" dur="500"/>
                                        <p:tgtEl>
                                          <p:spTgt spid="1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wipe(left)">
                                      <p:cBhvr>
                                        <p:cTn id="59" dur="500"/>
                                        <p:tgtEl>
                                          <p:spTgt spid="38"/>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wipe(left)">
                                      <p:cBhvr>
                                        <p:cTn id="62" dur="500"/>
                                        <p:tgtEl>
                                          <p:spTgt spid="39"/>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wipe(left)">
                                      <p:cBhvr>
                                        <p:cTn id="65" dur="500"/>
                                        <p:tgtEl>
                                          <p:spTgt spid="40"/>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41"/>
                                        </p:tgtEl>
                                        <p:attrNameLst>
                                          <p:attrName>style.visibility</p:attrName>
                                        </p:attrNameLst>
                                      </p:cBhvr>
                                      <p:to>
                                        <p:strVal val="visible"/>
                                      </p:to>
                                    </p:set>
                                    <p:animEffect transition="in" filter="wipe(left)">
                                      <p:cBhvr>
                                        <p:cTn id="70" dur="500"/>
                                        <p:tgtEl>
                                          <p:spTgt spid="41"/>
                                        </p:tgtEl>
                                      </p:cBhvr>
                                    </p:animEffect>
                                  </p:childTnLst>
                                </p:cTn>
                              </p:par>
                            </p:childTnLst>
                          </p:cTn>
                        </p:par>
                      </p:childTnLst>
                    </p:cTn>
                  </p:par>
                  <p:par>
                    <p:cTn id="71" fill="hold">
                      <p:stCondLst>
                        <p:cond delay="indefinite"/>
                      </p:stCondLst>
                      <p:childTnLst>
                        <p:par>
                          <p:cTn id="72" fill="hold">
                            <p:stCondLst>
                              <p:cond delay="0"/>
                            </p:stCondLst>
                            <p:childTnLst>
                              <p:par>
                                <p:cTn id="73" presetID="42" presetClass="path" presetSubtype="0" accel="50000" decel="50000" fill="hold" grpId="1" nodeType="clickEffect">
                                  <p:stCondLst>
                                    <p:cond delay="0"/>
                                  </p:stCondLst>
                                  <p:childTnLst>
                                    <p:animMotion origin="layout" path="M -4.79167E-6 3.33333E-6 L 0.46667 0.04444 " pathEditMode="relative" rAng="0" ptsTypes="AA">
                                      <p:cBhvr>
                                        <p:cTn id="74" dur="2000" fill="hold"/>
                                        <p:tgtEl>
                                          <p:spTgt spid="15"/>
                                        </p:tgtEl>
                                        <p:attrNameLst>
                                          <p:attrName>ppt_x</p:attrName>
                                          <p:attrName>ppt_y</p:attrName>
                                        </p:attrNameLst>
                                      </p:cBhvr>
                                      <p:rCtr x="23333" y="2222"/>
                                    </p:animMotion>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22">
                                            <p:txEl>
                                              <p:pRg st="0" end="0"/>
                                            </p:txEl>
                                          </p:spTgt>
                                        </p:tgtEl>
                                        <p:attrNameLst>
                                          <p:attrName>style.visibility</p:attrName>
                                        </p:attrNameLst>
                                      </p:cBhvr>
                                      <p:to>
                                        <p:strVal val="visible"/>
                                      </p:to>
                                    </p:set>
                                    <p:animEffect transition="in" filter="wipe(left)">
                                      <p:cBhvr>
                                        <p:cTn id="79" dur="500"/>
                                        <p:tgtEl>
                                          <p:spTgt spid="22">
                                            <p:txEl>
                                              <p:pRg st="0" end="0"/>
                                            </p:txEl>
                                          </p:spTgt>
                                        </p:tgtEl>
                                      </p:cBhvr>
                                    </p:animEffect>
                                  </p:childTnLst>
                                </p:cTn>
                              </p:par>
                            </p:childTnLst>
                          </p:cTn>
                        </p:par>
                        <p:par>
                          <p:cTn id="80" fill="hold">
                            <p:stCondLst>
                              <p:cond delay="500"/>
                            </p:stCondLst>
                            <p:childTnLst>
                              <p:par>
                                <p:cTn id="81" presetID="22" presetClass="entr" presetSubtype="8" fill="hold" nodeType="afterEffect">
                                  <p:stCondLst>
                                    <p:cond delay="0"/>
                                  </p:stCondLst>
                                  <p:childTnLst>
                                    <p:set>
                                      <p:cBhvr>
                                        <p:cTn id="82" dur="1" fill="hold">
                                          <p:stCondLst>
                                            <p:cond delay="0"/>
                                          </p:stCondLst>
                                        </p:cTn>
                                        <p:tgtEl>
                                          <p:spTgt spid="22">
                                            <p:txEl>
                                              <p:pRg st="2" end="2"/>
                                            </p:txEl>
                                          </p:spTgt>
                                        </p:tgtEl>
                                        <p:attrNameLst>
                                          <p:attrName>style.visibility</p:attrName>
                                        </p:attrNameLst>
                                      </p:cBhvr>
                                      <p:to>
                                        <p:strVal val="visible"/>
                                      </p:to>
                                    </p:set>
                                    <p:animEffect transition="in" filter="wipe(left)">
                                      <p:cBhvr>
                                        <p:cTn id="83" dur="500"/>
                                        <p:tgtEl>
                                          <p:spTgt spid="22">
                                            <p:txEl>
                                              <p:pRg st="2" end="2"/>
                                            </p:txEl>
                                          </p:spTgt>
                                        </p:tgtEl>
                                      </p:cBhvr>
                                    </p:animEffect>
                                  </p:childTnLst>
                                </p:cTn>
                              </p:par>
                            </p:childTnLst>
                          </p:cTn>
                        </p:par>
                        <p:par>
                          <p:cTn id="84" fill="hold">
                            <p:stCondLst>
                              <p:cond delay="1000"/>
                            </p:stCondLst>
                            <p:childTnLst>
                              <p:par>
                                <p:cTn id="85" presetID="22" presetClass="entr" presetSubtype="8" fill="hold" nodeType="afterEffect">
                                  <p:stCondLst>
                                    <p:cond delay="0"/>
                                  </p:stCondLst>
                                  <p:childTnLst>
                                    <p:set>
                                      <p:cBhvr>
                                        <p:cTn id="86" dur="1" fill="hold">
                                          <p:stCondLst>
                                            <p:cond delay="0"/>
                                          </p:stCondLst>
                                        </p:cTn>
                                        <p:tgtEl>
                                          <p:spTgt spid="22">
                                            <p:txEl>
                                              <p:pRg st="4" end="4"/>
                                            </p:txEl>
                                          </p:spTgt>
                                        </p:tgtEl>
                                        <p:attrNameLst>
                                          <p:attrName>style.visibility</p:attrName>
                                        </p:attrNameLst>
                                      </p:cBhvr>
                                      <p:to>
                                        <p:strVal val="visible"/>
                                      </p:to>
                                    </p:set>
                                    <p:animEffect transition="in" filter="wipe(left)">
                                      <p:cBhvr>
                                        <p:cTn id="87" dur="500"/>
                                        <p:tgtEl>
                                          <p:spTgt spid="22">
                                            <p:txEl>
                                              <p:pRg st="4" end="4"/>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48"/>
                                        </p:tgtEl>
                                        <p:attrNameLst>
                                          <p:attrName>style.visibility</p:attrName>
                                        </p:attrNameLst>
                                      </p:cBhvr>
                                      <p:to>
                                        <p:strVal val="visible"/>
                                      </p:to>
                                    </p:set>
                                    <p:animEffect transition="in" filter="wipe(left)">
                                      <p:cBhvr>
                                        <p:cTn id="92" dur="500"/>
                                        <p:tgtEl>
                                          <p:spTgt spid="48"/>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49"/>
                                        </p:tgtEl>
                                        <p:attrNameLst>
                                          <p:attrName>style.visibility</p:attrName>
                                        </p:attrNameLst>
                                      </p:cBhvr>
                                      <p:to>
                                        <p:strVal val="visible"/>
                                      </p:to>
                                    </p:set>
                                    <p:animEffect transition="in" filter="wipe(left)">
                                      <p:cBhvr>
                                        <p:cTn id="97" dur="500"/>
                                        <p:tgtEl>
                                          <p:spTgt spid="49"/>
                                        </p:tgtEl>
                                      </p:cBhvr>
                                    </p:animEffect>
                                  </p:childTnLst>
                                </p:cTn>
                              </p:par>
                            </p:childTnLst>
                          </p:cTn>
                        </p:par>
                      </p:childTnLst>
                    </p:cTn>
                  </p:par>
                  <p:par>
                    <p:cTn id="98" fill="hold">
                      <p:stCondLst>
                        <p:cond delay="indefinite"/>
                      </p:stCondLst>
                      <p:childTnLst>
                        <p:par>
                          <p:cTn id="99" fill="hold">
                            <p:stCondLst>
                              <p:cond delay="0"/>
                            </p:stCondLst>
                            <p:childTnLst>
                              <p:par>
                                <p:cTn id="100" presetID="42" presetClass="path" presetSubtype="0" accel="50000" decel="50000" fill="hold" grpId="2" nodeType="clickEffect">
                                  <p:stCondLst>
                                    <p:cond delay="0"/>
                                  </p:stCondLst>
                                  <p:childTnLst>
                                    <p:animMotion origin="layout" path="M 0.46667 0.04444 L 0.46823 0.11782 " pathEditMode="relative" rAng="0" ptsTypes="AA">
                                      <p:cBhvr>
                                        <p:cTn id="101" dur="2000" fill="hold"/>
                                        <p:tgtEl>
                                          <p:spTgt spid="15"/>
                                        </p:tgtEl>
                                        <p:attrNameLst>
                                          <p:attrName>ppt_x</p:attrName>
                                          <p:attrName>ppt_y</p:attrName>
                                        </p:attrNameLst>
                                      </p:cBhvr>
                                      <p:rCtr x="78" y="365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P spid="15" grpId="2"/>
      <p:bldP spid="38" grpId="0"/>
      <p:bldP spid="39" grpId="0"/>
      <p:bldP spid="40" grpId="0"/>
      <p:bldP spid="41" grpId="0"/>
      <p:bldP spid="47" grpId="0"/>
      <p:bldP spid="48" grpId="0"/>
      <p:bldP spid="4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C331916-85E6-5A66-FEF0-D211E79D0A37}"/>
              </a:ext>
            </a:extLst>
          </p:cNvPr>
          <p:cNvSpPr>
            <a:spLocks noGrp="1"/>
          </p:cNvSpPr>
          <p:nvPr>
            <p:ph idx="1"/>
          </p:nvPr>
        </p:nvSpPr>
        <p:spPr/>
        <p:txBody>
          <a:bodyPr/>
          <a:lstStyle/>
          <a:p>
            <a:pPr marL="285750" indent="-285750">
              <a:buFont typeface="Wingdings" panose="05000000000000000000" pitchFamily="2" charset="2"/>
              <a:buChar char="l"/>
            </a:pPr>
            <a:r>
              <a:rPr lang="en-US" altLang="zh-CN" dirty="0">
                <a:latin typeface="+mn-ea"/>
              </a:rPr>
              <a:t>IP</a:t>
            </a:r>
            <a:r>
              <a:rPr lang="zh-CN" altLang="en-US" dirty="0">
                <a:latin typeface="+mn-ea"/>
              </a:rPr>
              <a:t>（</a:t>
            </a:r>
            <a:r>
              <a:rPr lang="en-US" altLang="zh-CN" dirty="0">
                <a:latin typeface="+mn-ea"/>
              </a:rPr>
              <a:t>Internet Protocol</a:t>
            </a:r>
            <a:r>
              <a:rPr lang="zh-CN" altLang="en-US" dirty="0">
                <a:latin typeface="+mn-ea"/>
              </a:rPr>
              <a:t>）：全称”互联网协议地址”，是分配给上网设备的唯一标识。</a:t>
            </a:r>
            <a:endParaRPr lang="en-US" altLang="zh-CN" dirty="0">
              <a:latin typeface="+mn-ea"/>
            </a:endParaRPr>
          </a:p>
          <a:p>
            <a:pPr marL="285750" indent="-285750">
              <a:buFont typeface="Wingdings" panose="05000000000000000000" pitchFamily="2" charset="2"/>
              <a:buChar char="l"/>
            </a:pPr>
            <a:r>
              <a:rPr lang="zh-CN" altLang="en-US" dirty="0">
                <a:latin typeface="+mn-ea"/>
              </a:rPr>
              <a:t>目前，被广泛采用的</a:t>
            </a:r>
            <a:r>
              <a:rPr lang="en-US" altLang="zh-CN" dirty="0">
                <a:latin typeface="+mn-ea"/>
              </a:rPr>
              <a:t>IP</a:t>
            </a:r>
            <a:r>
              <a:rPr lang="zh-CN" altLang="en-US" dirty="0">
                <a:latin typeface="+mn-ea"/>
              </a:rPr>
              <a:t>地址形式有两种：</a:t>
            </a:r>
            <a:r>
              <a:rPr lang="en-US" altLang="zh-CN" dirty="0">
                <a:latin typeface="+mn-ea"/>
              </a:rPr>
              <a:t>IPv4</a:t>
            </a:r>
            <a:r>
              <a:rPr lang="zh-CN" altLang="en-US" dirty="0">
                <a:latin typeface="+mn-ea"/>
              </a:rPr>
              <a:t>、</a:t>
            </a:r>
            <a:r>
              <a:rPr lang="en-US" altLang="zh-CN" dirty="0">
                <a:latin typeface="+mn-ea"/>
              </a:rPr>
              <a:t>IPv6</a:t>
            </a:r>
            <a:r>
              <a:rPr lang="zh-CN" altLang="en-US" dirty="0">
                <a:latin typeface="+mn-ea"/>
              </a:rPr>
              <a:t>。</a:t>
            </a:r>
            <a:endParaRPr lang="en-US" altLang="zh-CN" dirty="0">
              <a:latin typeface="+mn-ea"/>
            </a:endParaRPr>
          </a:p>
        </p:txBody>
      </p:sp>
      <p:sp>
        <p:nvSpPr>
          <p:cNvPr id="3" name="标题 2">
            <a:extLst>
              <a:ext uri="{FF2B5EF4-FFF2-40B4-BE49-F238E27FC236}">
                <a16:creationId xmlns:a16="http://schemas.microsoft.com/office/drawing/2014/main" id="{11FE7404-D78D-5724-1F7B-4BF88CF03C4E}"/>
              </a:ext>
            </a:extLst>
          </p:cNvPr>
          <p:cNvSpPr>
            <a:spLocks noGrp="1"/>
          </p:cNvSpPr>
          <p:nvPr>
            <p:ph type="title"/>
          </p:nvPr>
        </p:nvSpPr>
        <p:spPr/>
        <p:txBody>
          <a:bodyPr/>
          <a:lstStyle/>
          <a:p>
            <a:r>
              <a:rPr lang="en-US" dirty="0"/>
              <a:t>IP</a:t>
            </a:r>
            <a:r>
              <a:rPr lang="zh-CN" altLang="en-US" dirty="0"/>
              <a:t>地址</a:t>
            </a:r>
            <a:endParaRPr lang="en-US" dirty="0"/>
          </a:p>
        </p:txBody>
      </p:sp>
      <p:sp>
        <p:nvSpPr>
          <p:cNvPr id="4" name="标题 2">
            <a:extLst>
              <a:ext uri="{FF2B5EF4-FFF2-40B4-BE49-F238E27FC236}">
                <a16:creationId xmlns:a16="http://schemas.microsoft.com/office/drawing/2014/main" id="{47A66158-90AA-436B-CCE4-5AEDD992DE26}"/>
              </a:ext>
            </a:extLst>
          </p:cNvPr>
          <p:cNvSpPr txBox="1">
            <a:spLocks/>
          </p:cNvSpPr>
          <p:nvPr/>
        </p:nvSpPr>
        <p:spPr>
          <a:xfrm>
            <a:off x="695325" y="2621852"/>
            <a:ext cx="10770239" cy="517190"/>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阿里巴巴普惠体 3.0 55 Regular" panose="00020600040101010101" pitchFamily="18" charset="-122"/>
                <a:ea typeface="阿里巴巴普惠体 3.0 55 Regular" panose="00020600040101010101" pitchFamily="18" charset="-122"/>
                <a:cs typeface="阿里巴巴普惠体 3.0 55 Regular" panose="00020600040101010101"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dirty="0">
                <a:latin typeface="+mn-ea"/>
                <a:ea typeface="+mn-ea"/>
              </a:rPr>
              <a:t>IP</a:t>
            </a:r>
            <a:r>
              <a:rPr lang="en-US" altLang="zh-CN" dirty="0">
                <a:latin typeface="+mn-ea"/>
                <a:ea typeface="+mn-ea"/>
              </a:rPr>
              <a:t>v4</a:t>
            </a:r>
            <a:endParaRPr lang="zh-CN" altLang="en-US" dirty="0">
              <a:latin typeface="+mn-ea"/>
              <a:ea typeface="+mn-ea"/>
            </a:endParaRPr>
          </a:p>
        </p:txBody>
      </p:sp>
      <p:sp>
        <p:nvSpPr>
          <p:cNvPr id="5" name="文本占位符 1">
            <a:extLst>
              <a:ext uri="{FF2B5EF4-FFF2-40B4-BE49-F238E27FC236}">
                <a16:creationId xmlns:a16="http://schemas.microsoft.com/office/drawing/2014/main" id="{3654926E-F854-69D9-D76F-F1600F3C314E}"/>
              </a:ext>
            </a:extLst>
          </p:cNvPr>
          <p:cNvSpPr txBox="1">
            <a:spLocks/>
          </p:cNvSpPr>
          <p:nvPr/>
        </p:nvSpPr>
        <p:spPr>
          <a:xfrm>
            <a:off x="695324" y="3243938"/>
            <a:ext cx="10770239" cy="475022"/>
          </a:xfrm>
          <a:prstGeom prst="rect">
            <a:avLst/>
          </a:prstGeom>
        </p:spPr>
        <p:txBody>
          <a:bodyPr/>
          <a:lstStyle>
            <a:lvl1pPr marL="360000" indent="-360000" algn="l" rtl="0" eaLnBrk="0" fontAlgn="base" hangingPunct="0">
              <a:lnSpc>
                <a:spcPct val="150000"/>
              </a:lnSpc>
              <a:spcBef>
                <a:spcPct val="20000"/>
              </a:spcBef>
              <a:spcAft>
                <a:spcPct val="0"/>
              </a:spcAft>
              <a:buClr>
                <a:srgbClr val="404040"/>
              </a:buClr>
              <a:buSzPct val="85000"/>
              <a:buFont typeface="Wingdings" pitchFamily="2" charset="2"/>
              <a:buChar char="l"/>
              <a:tabLst/>
              <a:defRPr lang="en-US" altLang="zh-CN" sz="1600" b="0" i="0" kern="1200" dirty="0">
                <a:solidFill>
                  <a:schemeClr val="tx1">
                    <a:lumMod val="85000"/>
                    <a:lumOff val="15000"/>
                  </a:schemeClr>
                </a:solidFill>
                <a:latin typeface="+mn-ea"/>
                <a:ea typeface="+mn-ea"/>
                <a:cs typeface="苏新诗古印宋简" panose="02010609000101010101" pitchFamily="49" charset="-122"/>
              </a:defRPr>
            </a:lvl1pPr>
            <a:lvl2pPr marL="719138" indent="-358775" algn="l" rtl="0" eaLnBrk="0" fontAlgn="base" hangingPunct="0">
              <a:lnSpc>
                <a:spcPct val="150000"/>
              </a:lnSpc>
              <a:spcBef>
                <a:spcPct val="20000"/>
              </a:spcBef>
              <a:spcAft>
                <a:spcPct val="0"/>
              </a:spcAft>
              <a:buFont typeface="Wingdings" pitchFamily="2" charset="2"/>
              <a:buChar char="l"/>
              <a:tabLst/>
              <a:defRPr lang="en-US" altLang="zh-CN" sz="1400" b="0" i="0" kern="1200" dirty="0">
                <a:solidFill>
                  <a:schemeClr val="tx1"/>
                </a:solidFill>
                <a:latin typeface="+mn-ea"/>
                <a:ea typeface="+mn-ea"/>
                <a:cs typeface="苏新诗古印宋简" panose="02010609000101010101" pitchFamily="49"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tabLst/>
              <a:defRPr lang="zh-CN" altLang="en-US" sz="1400" b="0" i="0" kern="1200" dirty="0">
                <a:solidFill>
                  <a:schemeClr val="tx1"/>
                </a:solidFill>
                <a:latin typeface="+mn-ea"/>
                <a:ea typeface="+mn-ea"/>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IPv4</a:t>
            </a:r>
            <a:r>
              <a:rPr lang="zh-CN" altLang="en-US" dirty="0"/>
              <a:t>是</a:t>
            </a:r>
            <a:r>
              <a:rPr lang="en-US" altLang="zh-CN" dirty="0">
                <a:solidFill>
                  <a:srgbClr val="AD2B26"/>
                </a:solidFill>
              </a:rPr>
              <a:t>Internet Protocol version 4</a:t>
            </a:r>
            <a:r>
              <a:rPr lang="zh-CN" altLang="en-US" dirty="0"/>
              <a:t>的缩写，它使用</a:t>
            </a:r>
            <a:r>
              <a:rPr lang="en-US" altLang="zh-CN" dirty="0"/>
              <a:t>32</a:t>
            </a:r>
            <a:r>
              <a:rPr lang="zh-CN" altLang="en-US" dirty="0"/>
              <a:t>位地址，通常以</a:t>
            </a:r>
            <a:r>
              <a:rPr lang="zh-CN" altLang="en-US" dirty="0">
                <a:solidFill>
                  <a:srgbClr val="AD2B26"/>
                </a:solidFill>
              </a:rPr>
              <a:t>点分十进制</a:t>
            </a:r>
            <a:r>
              <a:rPr lang="zh-CN" altLang="en-US" dirty="0"/>
              <a:t>表示。</a:t>
            </a:r>
          </a:p>
        </p:txBody>
      </p:sp>
      <p:sp>
        <p:nvSpPr>
          <p:cNvPr id="8" name="圆角矩形 10">
            <a:extLst>
              <a:ext uri="{FF2B5EF4-FFF2-40B4-BE49-F238E27FC236}">
                <a16:creationId xmlns:a16="http://schemas.microsoft.com/office/drawing/2014/main" id="{122CD5F6-CFE6-2DD5-4E76-83105F0D09E5}"/>
              </a:ext>
            </a:extLst>
          </p:cNvPr>
          <p:cNvSpPr/>
          <p:nvPr/>
        </p:nvSpPr>
        <p:spPr>
          <a:xfrm>
            <a:off x="764299" y="4410144"/>
            <a:ext cx="3960283" cy="624416"/>
          </a:xfrm>
          <a:prstGeom prst="roundRect">
            <a:avLst/>
          </a:prstGeom>
          <a:noFill/>
          <a:ln w="28575">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solidFill>
                <a:latin typeface="+mn-ea"/>
                <a:cs typeface="阿里巴巴普惠体" panose="00020600040101010101" pitchFamily="18" charset="-122"/>
              </a:rPr>
              <a:t>11000000 10101000 00000001 01000010</a:t>
            </a:r>
            <a:endParaRPr lang="zh-CN" altLang="en-US" sz="1400" dirty="0">
              <a:solidFill>
                <a:schemeClr val="tx1"/>
              </a:solidFill>
              <a:latin typeface="+mn-ea"/>
              <a:cs typeface="阿里巴巴普惠体" panose="00020600040101010101" pitchFamily="18" charset="-122"/>
            </a:endParaRPr>
          </a:p>
        </p:txBody>
      </p:sp>
      <p:sp>
        <p:nvSpPr>
          <p:cNvPr id="10" name="圆角矩形 16">
            <a:extLst>
              <a:ext uri="{FF2B5EF4-FFF2-40B4-BE49-F238E27FC236}">
                <a16:creationId xmlns:a16="http://schemas.microsoft.com/office/drawing/2014/main" id="{161F8258-1258-8CFA-10F1-2FD2A59BDA7A}"/>
              </a:ext>
            </a:extLst>
          </p:cNvPr>
          <p:cNvSpPr/>
          <p:nvPr/>
        </p:nvSpPr>
        <p:spPr>
          <a:xfrm>
            <a:off x="8568965" y="4410144"/>
            <a:ext cx="2574377" cy="624416"/>
          </a:xfrm>
          <a:prstGeom prst="roundRect">
            <a:avLst/>
          </a:prstGeom>
          <a:noFill/>
          <a:ln w="28575">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solidFill>
                <a:latin typeface="+mn-ea"/>
                <a:cs typeface="阿里巴巴普惠体" panose="00020600040101010101" pitchFamily="18" charset="-122"/>
              </a:rPr>
              <a:t>192.168.1.66</a:t>
            </a:r>
            <a:endParaRPr lang="zh-CN" altLang="en-US" sz="1400" dirty="0">
              <a:solidFill>
                <a:schemeClr val="tx1"/>
              </a:solidFill>
              <a:latin typeface="+mn-ea"/>
              <a:cs typeface="阿里巴巴普惠体" panose="00020600040101010101" pitchFamily="18" charset="-122"/>
            </a:endParaRPr>
          </a:p>
        </p:txBody>
      </p:sp>
      <p:sp>
        <p:nvSpPr>
          <p:cNvPr id="11" name="文本框 10">
            <a:extLst>
              <a:ext uri="{FF2B5EF4-FFF2-40B4-BE49-F238E27FC236}">
                <a16:creationId xmlns:a16="http://schemas.microsoft.com/office/drawing/2014/main" id="{D95EEC86-3237-9DB1-8CE5-89B6BC55C6E0}"/>
              </a:ext>
            </a:extLst>
          </p:cNvPr>
          <p:cNvSpPr txBox="1"/>
          <p:nvPr/>
        </p:nvSpPr>
        <p:spPr>
          <a:xfrm>
            <a:off x="5528518" y="4210089"/>
            <a:ext cx="22365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chemeClr val="tx2">
                    <a:lumMod val="50000"/>
                  </a:schemeClr>
                </a:solidFill>
                <a:effectLst/>
                <a:uLnTx/>
                <a:uFillTx/>
                <a:latin typeface="+mn-ea"/>
                <a:cs typeface="+mn-cs"/>
              </a:rPr>
              <a:t>点分十进制表示法</a:t>
            </a:r>
            <a:endParaRPr kumimoji="0" lang="en-US" sz="2000" b="0" i="0" u="none" strike="noStrike" kern="1200" cap="none" spc="0" normalizeH="0" baseline="0" noProof="0" dirty="0">
              <a:ln>
                <a:noFill/>
              </a:ln>
              <a:solidFill>
                <a:schemeClr val="tx2">
                  <a:lumMod val="50000"/>
                </a:schemeClr>
              </a:solidFill>
              <a:effectLst/>
              <a:uLnTx/>
              <a:uFillTx/>
              <a:latin typeface="+mn-ea"/>
              <a:cs typeface="+mn-cs"/>
            </a:endParaRPr>
          </a:p>
        </p:txBody>
      </p:sp>
      <p:cxnSp>
        <p:nvCxnSpPr>
          <p:cNvPr id="13" name="直接箭头连接符 12">
            <a:extLst>
              <a:ext uri="{FF2B5EF4-FFF2-40B4-BE49-F238E27FC236}">
                <a16:creationId xmlns:a16="http://schemas.microsoft.com/office/drawing/2014/main" id="{0CC0A5FF-EDCF-231A-7DCD-2D6E285D1E00}"/>
              </a:ext>
            </a:extLst>
          </p:cNvPr>
          <p:cNvCxnSpPr>
            <a:cxnSpLocks/>
          </p:cNvCxnSpPr>
          <p:nvPr/>
        </p:nvCxnSpPr>
        <p:spPr>
          <a:xfrm>
            <a:off x="4724582" y="4722352"/>
            <a:ext cx="3844383" cy="0"/>
          </a:xfrm>
          <a:prstGeom prst="straightConnector1">
            <a:avLst/>
          </a:prstGeom>
          <a:noFill/>
          <a:ln w="28575">
            <a:solidFill>
              <a:schemeClr val="bg2">
                <a:lumMod val="50000"/>
              </a:schemeClr>
            </a:solidFill>
            <a:tailEnd type="arrow"/>
          </a:ln>
        </p:spPr>
        <p:style>
          <a:lnRef idx="2">
            <a:schemeClr val="accent1">
              <a:shade val="50000"/>
            </a:schemeClr>
          </a:lnRef>
          <a:fillRef idx="1">
            <a:schemeClr val="accent1"/>
          </a:fillRef>
          <a:effectRef idx="0">
            <a:schemeClr val="accent1"/>
          </a:effectRef>
          <a:fontRef idx="minor">
            <a:schemeClr val="lt1"/>
          </a:fontRef>
        </p:style>
      </p:cxnSp>
      <p:sp>
        <p:nvSpPr>
          <p:cNvPr id="14" name="文本框 13">
            <a:extLst>
              <a:ext uri="{FF2B5EF4-FFF2-40B4-BE49-F238E27FC236}">
                <a16:creationId xmlns:a16="http://schemas.microsoft.com/office/drawing/2014/main" id="{AAC83AC2-684E-4799-74A8-4D606FFF7079}"/>
              </a:ext>
            </a:extLst>
          </p:cNvPr>
          <p:cNvSpPr txBox="1"/>
          <p:nvPr/>
        </p:nvSpPr>
        <p:spPr>
          <a:xfrm>
            <a:off x="1918818" y="4010034"/>
            <a:ext cx="187904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chemeClr val="tx2">
                    <a:lumMod val="50000"/>
                  </a:schemeClr>
                </a:solidFill>
                <a:effectLst/>
                <a:uLnTx/>
                <a:uFillTx/>
                <a:latin typeface="+mn-ea"/>
                <a:cs typeface="+mn-cs"/>
              </a:rPr>
              <a:t>32</a:t>
            </a:r>
            <a:r>
              <a:rPr kumimoji="0" lang="zh-CN" altLang="en-US" sz="2000" b="0" i="0" u="none" strike="noStrike" kern="1200" cap="none" spc="0" normalizeH="0" baseline="0" noProof="0" dirty="0">
                <a:ln>
                  <a:noFill/>
                </a:ln>
                <a:solidFill>
                  <a:schemeClr val="tx2">
                    <a:lumMod val="50000"/>
                  </a:schemeClr>
                </a:solidFill>
                <a:effectLst/>
                <a:uLnTx/>
                <a:uFillTx/>
                <a:latin typeface="+mn-ea"/>
                <a:cs typeface="+mn-cs"/>
              </a:rPr>
              <a:t>位，</a:t>
            </a:r>
            <a:r>
              <a:rPr kumimoji="0" lang="en-US" altLang="zh-CN" sz="2000" b="0" i="0" u="none" strike="noStrike" kern="1200" cap="none" spc="0" normalizeH="0" baseline="0" noProof="0" dirty="0">
                <a:ln>
                  <a:noFill/>
                </a:ln>
                <a:solidFill>
                  <a:schemeClr val="tx2">
                    <a:lumMod val="50000"/>
                  </a:schemeClr>
                </a:solidFill>
                <a:effectLst/>
                <a:uLnTx/>
                <a:uFillTx/>
                <a:latin typeface="+mn-ea"/>
                <a:cs typeface="+mn-cs"/>
              </a:rPr>
              <a:t>4</a:t>
            </a:r>
            <a:r>
              <a:rPr kumimoji="0" lang="zh-CN" altLang="en-US" sz="2000" b="0" i="0" u="none" strike="noStrike" kern="1200" cap="none" spc="0" normalizeH="0" baseline="0" noProof="0" dirty="0">
                <a:ln>
                  <a:noFill/>
                </a:ln>
                <a:solidFill>
                  <a:schemeClr val="tx2">
                    <a:lumMod val="50000"/>
                  </a:schemeClr>
                </a:solidFill>
                <a:effectLst/>
                <a:uLnTx/>
                <a:uFillTx/>
                <a:latin typeface="+mn-ea"/>
                <a:cs typeface="+mn-cs"/>
              </a:rPr>
              <a:t>个字节</a:t>
            </a:r>
            <a:endParaRPr kumimoji="0" lang="en-US" sz="2000" b="0" i="0" u="none" strike="noStrike" kern="1200" cap="none" spc="0" normalizeH="0" baseline="0" noProof="0" dirty="0">
              <a:ln>
                <a:noFill/>
              </a:ln>
              <a:solidFill>
                <a:schemeClr val="tx2">
                  <a:lumMod val="50000"/>
                </a:schemeClr>
              </a:solidFill>
              <a:effectLst/>
              <a:uLnTx/>
              <a:uFillTx/>
              <a:latin typeface="+mn-ea"/>
              <a:cs typeface="+mn-cs"/>
            </a:endParaRPr>
          </a:p>
        </p:txBody>
      </p:sp>
    </p:spTree>
    <p:extLst>
      <p:ext uri="{BB962C8B-B14F-4D97-AF65-F5344CB8AC3E}">
        <p14:creationId xmlns:p14="http://schemas.microsoft.com/office/powerpoint/2010/main" val="424339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C331916-85E6-5A66-FEF0-D211E79D0A37}"/>
              </a:ext>
            </a:extLst>
          </p:cNvPr>
          <p:cNvSpPr>
            <a:spLocks noGrp="1"/>
          </p:cNvSpPr>
          <p:nvPr>
            <p:ph idx="1"/>
          </p:nvPr>
        </p:nvSpPr>
        <p:spPr/>
        <p:txBody>
          <a:bodyPr/>
          <a:lstStyle/>
          <a:p>
            <a:pPr marL="0" indent="0">
              <a:buNone/>
            </a:pPr>
            <a:r>
              <a:rPr lang="en-US" altLang="zh-CN" dirty="0"/>
              <a:t>IPv6</a:t>
            </a:r>
            <a:r>
              <a:rPr lang="zh-CN" altLang="en-US" dirty="0"/>
              <a:t>是</a:t>
            </a:r>
            <a:r>
              <a:rPr lang="en-US" altLang="zh-CN" dirty="0">
                <a:solidFill>
                  <a:srgbClr val="AD2B26"/>
                </a:solidFill>
              </a:rPr>
              <a:t>Internet Protocol version 6</a:t>
            </a:r>
            <a:r>
              <a:rPr lang="zh-CN" altLang="en-US" dirty="0"/>
              <a:t>的缩写，它使用</a:t>
            </a:r>
            <a:r>
              <a:rPr lang="en-US" altLang="zh-CN" dirty="0"/>
              <a:t>128</a:t>
            </a:r>
            <a:r>
              <a:rPr lang="zh-CN" altLang="en-US" dirty="0"/>
              <a:t>位地址，号称可以为地球上的每一粒沙子编号。</a:t>
            </a:r>
            <a:endParaRPr lang="en-US" altLang="zh-CN" dirty="0"/>
          </a:p>
          <a:p>
            <a:pPr marL="0" indent="0">
              <a:buNone/>
            </a:pPr>
            <a:r>
              <a:rPr lang="en-US" altLang="zh-CN" dirty="0"/>
              <a:t>IPv6</a:t>
            </a:r>
            <a:r>
              <a:rPr lang="zh-CN" altLang="en-US" dirty="0"/>
              <a:t>分成</a:t>
            </a:r>
            <a:r>
              <a:rPr lang="en-US" altLang="zh-CN" dirty="0"/>
              <a:t>8</a:t>
            </a:r>
            <a:r>
              <a:rPr lang="zh-CN" altLang="en-US" dirty="0"/>
              <a:t>段，每段每四位编码成一个十六进制位表示， 每段之间用冒号（</a:t>
            </a:r>
            <a:r>
              <a:rPr lang="en-US" altLang="zh-CN" dirty="0"/>
              <a:t>:</a:t>
            </a:r>
            <a:r>
              <a:rPr lang="zh-CN" altLang="en-US" dirty="0"/>
              <a:t>）分开，将这种方式称为</a:t>
            </a:r>
            <a:r>
              <a:rPr lang="zh-CN" altLang="en-US" dirty="0">
                <a:solidFill>
                  <a:srgbClr val="AD2B26"/>
                </a:solidFill>
              </a:rPr>
              <a:t>冒分十六进制</a:t>
            </a:r>
            <a:r>
              <a:rPr lang="zh-CN" altLang="en-US" dirty="0"/>
              <a:t>。</a:t>
            </a:r>
          </a:p>
        </p:txBody>
      </p:sp>
      <p:sp>
        <p:nvSpPr>
          <p:cNvPr id="3" name="标题 2">
            <a:extLst>
              <a:ext uri="{FF2B5EF4-FFF2-40B4-BE49-F238E27FC236}">
                <a16:creationId xmlns:a16="http://schemas.microsoft.com/office/drawing/2014/main" id="{11FE7404-D78D-5724-1F7B-4BF88CF03C4E}"/>
              </a:ext>
            </a:extLst>
          </p:cNvPr>
          <p:cNvSpPr>
            <a:spLocks noGrp="1"/>
          </p:cNvSpPr>
          <p:nvPr>
            <p:ph type="title"/>
          </p:nvPr>
        </p:nvSpPr>
        <p:spPr/>
        <p:txBody>
          <a:bodyPr/>
          <a:lstStyle/>
          <a:p>
            <a:r>
              <a:rPr lang="en-US" altLang="zh-CN" dirty="0"/>
              <a:t>IPv6</a:t>
            </a:r>
            <a:endParaRPr lang="en-US" dirty="0"/>
          </a:p>
        </p:txBody>
      </p:sp>
      <p:sp>
        <p:nvSpPr>
          <p:cNvPr id="5" name="圆角矩形 16">
            <a:extLst>
              <a:ext uri="{FF2B5EF4-FFF2-40B4-BE49-F238E27FC236}">
                <a16:creationId xmlns:a16="http://schemas.microsoft.com/office/drawing/2014/main" id="{56DD1210-6A2D-FEFE-226B-C56AE3BC0F28}"/>
              </a:ext>
            </a:extLst>
          </p:cNvPr>
          <p:cNvSpPr/>
          <p:nvPr/>
        </p:nvSpPr>
        <p:spPr>
          <a:xfrm>
            <a:off x="2778125" y="5353544"/>
            <a:ext cx="4169832" cy="624416"/>
          </a:xfrm>
          <a:prstGeom prst="roundRect">
            <a:avLst/>
          </a:prstGeom>
          <a:noFill/>
          <a:ln w="28575">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dirty="0">
                <a:solidFill>
                  <a:schemeClr val="tx1"/>
                </a:solidFill>
                <a:latin typeface="+mn-ea"/>
                <a:cs typeface="阿里巴巴普惠体" panose="00020600040101010101" pitchFamily="18" charset="-122"/>
              </a:rPr>
              <a:t>2001:0db8:0000:0023:0008:0800:200c:417a</a:t>
            </a:r>
          </a:p>
        </p:txBody>
      </p:sp>
      <p:sp>
        <p:nvSpPr>
          <p:cNvPr id="6" name="文本框 5">
            <a:extLst>
              <a:ext uri="{FF2B5EF4-FFF2-40B4-BE49-F238E27FC236}">
                <a16:creationId xmlns:a16="http://schemas.microsoft.com/office/drawing/2014/main" id="{548069A6-8CCB-6573-A583-6668EC06B9E3}"/>
              </a:ext>
            </a:extLst>
          </p:cNvPr>
          <p:cNvSpPr txBox="1"/>
          <p:nvPr/>
        </p:nvSpPr>
        <p:spPr>
          <a:xfrm>
            <a:off x="5076031" y="4732053"/>
            <a:ext cx="249299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chemeClr val="tx2">
                    <a:lumMod val="50000"/>
                  </a:schemeClr>
                </a:solidFill>
                <a:effectLst/>
                <a:uLnTx/>
                <a:uFillTx/>
                <a:latin typeface="Alimama DongFangDaKai" pitchFamily="2" charset="-122"/>
                <a:ea typeface="Alimama DongFangDaKai" pitchFamily="2" charset="-122"/>
                <a:cs typeface="+mn-cs"/>
              </a:rPr>
              <a:t>冒分十六进制表示法</a:t>
            </a:r>
            <a:endParaRPr kumimoji="0" lang="en-US" sz="2000" b="0" i="0" u="none" strike="noStrike" kern="1200" cap="none" spc="0" normalizeH="0" baseline="0" noProof="0" dirty="0">
              <a:ln>
                <a:noFill/>
              </a:ln>
              <a:solidFill>
                <a:schemeClr val="tx2">
                  <a:lumMod val="50000"/>
                </a:schemeClr>
              </a:solidFill>
              <a:effectLst/>
              <a:uLnTx/>
              <a:uFillTx/>
              <a:latin typeface="Alimama DongFangDaKai" pitchFamily="2" charset="-122"/>
              <a:ea typeface="Alimama DongFangDaKai" pitchFamily="2" charset="-122"/>
              <a:cs typeface="+mn-cs"/>
            </a:endParaRPr>
          </a:p>
        </p:txBody>
      </p:sp>
      <p:cxnSp>
        <p:nvCxnSpPr>
          <p:cNvPr id="7" name="直接箭头连接符 6">
            <a:extLst>
              <a:ext uri="{FF2B5EF4-FFF2-40B4-BE49-F238E27FC236}">
                <a16:creationId xmlns:a16="http://schemas.microsoft.com/office/drawing/2014/main" id="{E669BADA-B730-A838-5FA9-529AA75D56CA}"/>
              </a:ext>
            </a:extLst>
          </p:cNvPr>
          <p:cNvCxnSpPr>
            <a:cxnSpLocks/>
            <a:stCxn id="16" idx="1"/>
            <a:endCxn id="5" idx="0"/>
          </p:cNvCxnSpPr>
          <p:nvPr/>
        </p:nvCxnSpPr>
        <p:spPr>
          <a:xfrm flipH="1">
            <a:off x="4863041" y="4197871"/>
            <a:ext cx="1" cy="1155673"/>
          </a:xfrm>
          <a:prstGeom prst="straightConnector1">
            <a:avLst/>
          </a:prstGeom>
          <a:noFill/>
          <a:ln w="28575">
            <a:solidFill>
              <a:schemeClr val="bg2">
                <a:lumMod val="50000"/>
              </a:schemeClr>
            </a:solidFill>
            <a:tailEnd type="arrow"/>
          </a:ln>
        </p:spPr>
        <p:style>
          <a:lnRef idx="2">
            <a:schemeClr val="accent1">
              <a:shade val="50000"/>
            </a:schemeClr>
          </a:lnRef>
          <a:fillRef idx="1">
            <a:schemeClr val="accent1"/>
          </a:fillRef>
          <a:effectRef idx="0">
            <a:schemeClr val="accent1"/>
          </a:effectRef>
          <a:fontRef idx="minor">
            <a:schemeClr val="lt1"/>
          </a:fontRef>
        </p:style>
      </p:cxnSp>
      <p:sp>
        <p:nvSpPr>
          <p:cNvPr id="8" name="文本框 7">
            <a:extLst>
              <a:ext uri="{FF2B5EF4-FFF2-40B4-BE49-F238E27FC236}">
                <a16:creationId xmlns:a16="http://schemas.microsoft.com/office/drawing/2014/main" id="{E13D6F1C-50F4-A081-30FE-6B4FF300C51A}"/>
              </a:ext>
            </a:extLst>
          </p:cNvPr>
          <p:cNvSpPr txBox="1"/>
          <p:nvPr/>
        </p:nvSpPr>
        <p:spPr>
          <a:xfrm>
            <a:off x="764298" y="2717954"/>
            <a:ext cx="20938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chemeClr val="tx2">
                    <a:lumMod val="50000"/>
                  </a:schemeClr>
                </a:solidFill>
                <a:effectLst/>
                <a:uLnTx/>
                <a:uFillTx/>
                <a:latin typeface="Alimama DongFangDaKai" pitchFamily="2" charset="-122"/>
                <a:ea typeface="Alimama DongFangDaKai" pitchFamily="2" charset="-122"/>
                <a:cs typeface="+mn-cs"/>
              </a:rPr>
              <a:t>128</a:t>
            </a:r>
            <a:r>
              <a:rPr kumimoji="0" lang="zh-CN" altLang="en-US" sz="2000" b="0" i="0" u="none" strike="noStrike" kern="1200" cap="none" spc="0" normalizeH="0" baseline="0" noProof="0" dirty="0">
                <a:ln>
                  <a:noFill/>
                </a:ln>
                <a:solidFill>
                  <a:schemeClr val="tx2">
                    <a:lumMod val="50000"/>
                  </a:schemeClr>
                </a:solidFill>
                <a:effectLst/>
                <a:uLnTx/>
                <a:uFillTx/>
                <a:latin typeface="Alimama DongFangDaKai" pitchFamily="2" charset="-122"/>
                <a:ea typeface="Alimama DongFangDaKai" pitchFamily="2" charset="-122"/>
                <a:cs typeface="+mn-cs"/>
              </a:rPr>
              <a:t>位，</a:t>
            </a:r>
            <a:r>
              <a:rPr kumimoji="0" lang="en-US" altLang="zh-CN" sz="2000" b="0" i="0" u="none" strike="noStrike" kern="1200" cap="none" spc="0" normalizeH="0" baseline="0" noProof="0" dirty="0">
                <a:ln>
                  <a:noFill/>
                </a:ln>
                <a:solidFill>
                  <a:schemeClr val="tx2">
                    <a:lumMod val="50000"/>
                  </a:schemeClr>
                </a:solidFill>
                <a:effectLst/>
                <a:uLnTx/>
                <a:uFillTx/>
                <a:latin typeface="Alimama DongFangDaKai" pitchFamily="2" charset="-122"/>
                <a:ea typeface="Alimama DongFangDaKai" pitchFamily="2" charset="-122"/>
                <a:cs typeface="+mn-cs"/>
              </a:rPr>
              <a:t>16</a:t>
            </a:r>
            <a:r>
              <a:rPr kumimoji="0" lang="zh-CN" altLang="en-US" sz="2000" b="0" i="0" u="none" strike="noStrike" kern="1200" cap="none" spc="0" normalizeH="0" baseline="0" noProof="0" dirty="0">
                <a:ln>
                  <a:noFill/>
                </a:ln>
                <a:solidFill>
                  <a:schemeClr val="tx2">
                    <a:lumMod val="50000"/>
                  </a:schemeClr>
                </a:solidFill>
                <a:effectLst/>
                <a:uLnTx/>
                <a:uFillTx/>
                <a:latin typeface="Alimama DongFangDaKai" pitchFamily="2" charset="-122"/>
                <a:ea typeface="Alimama DongFangDaKai" pitchFamily="2" charset="-122"/>
                <a:cs typeface="+mn-cs"/>
              </a:rPr>
              <a:t>个字节</a:t>
            </a:r>
            <a:endParaRPr kumimoji="0" lang="en-US" sz="2000" b="0" i="0" u="none" strike="noStrike" kern="1200" cap="none" spc="0" normalizeH="0" baseline="0" noProof="0" dirty="0">
              <a:ln>
                <a:noFill/>
              </a:ln>
              <a:solidFill>
                <a:schemeClr val="tx2">
                  <a:lumMod val="50000"/>
                </a:schemeClr>
              </a:solidFill>
              <a:effectLst/>
              <a:uLnTx/>
              <a:uFillTx/>
              <a:latin typeface="Alimama DongFangDaKai" pitchFamily="2" charset="-122"/>
              <a:ea typeface="Alimama DongFangDaKai" pitchFamily="2" charset="-122"/>
              <a:cs typeface="+mn-cs"/>
            </a:endParaRPr>
          </a:p>
        </p:txBody>
      </p:sp>
      <p:grpSp>
        <p:nvGrpSpPr>
          <p:cNvPr id="9" name="组合 8">
            <a:extLst>
              <a:ext uri="{FF2B5EF4-FFF2-40B4-BE49-F238E27FC236}">
                <a16:creationId xmlns:a16="http://schemas.microsoft.com/office/drawing/2014/main" id="{372AACBB-D6AD-5583-5CE4-5CD6430AFAAB}"/>
              </a:ext>
            </a:extLst>
          </p:cNvPr>
          <p:cNvGrpSpPr>
            <a:grpSpLocks/>
          </p:cNvGrpSpPr>
          <p:nvPr/>
        </p:nvGrpSpPr>
        <p:grpSpPr bwMode="auto">
          <a:xfrm>
            <a:off x="695325" y="3261245"/>
            <a:ext cx="8333316" cy="1248833"/>
            <a:chOff x="633077" y="2261651"/>
            <a:chExt cx="6250636" cy="936624"/>
          </a:xfrm>
        </p:grpSpPr>
        <p:sp>
          <p:nvSpPr>
            <p:cNvPr id="10" name="圆角矩形 11">
              <a:extLst>
                <a:ext uri="{FF2B5EF4-FFF2-40B4-BE49-F238E27FC236}">
                  <a16:creationId xmlns:a16="http://schemas.microsoft.com/office/drawing/2014/main" id="{9AF16E7E-D9AB-35BF-3B69-0B0C24D70CB9}"/>
                </a:ext>
              </a:extLst>
            </p:cNvPr>
            <p:cNvSpPr/>
            <p:nvPr/>
          </p:nvSpPr>
          <p:spPr>
            <a:xfrm>
              <a:off x="633077" y="2261651"/>
              <a:ext cx="1562262" cy="468312"/>
            </a:xfrm>
            <a:prstGeom prst="roundRect">
              <a:avLst/>
            </a:prstGeom>
            <a:noFill/>
            <a:ln w="28575">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sz="1400" dirty="0">
                  <a:solidFill>
                    <a:schemeClr val="tx1"/>
                  </a:solidFill>
                  <a:latin typeface="+mn-ea"/>
                </a:rPr>
                <a:t>0010 0000 0000 0001</a:t>
              </a:r>
              <a:endParaRPr lang="zh-CN" altLang="en-US" sz="1400" dirty="0">
                <a:solidFill>
                  <a:schemeClr val="tx1"/>
                </a:solidFill>
                <a:latin typeface="+mn-ea"/>
              </a:endParaRPr>
            </a:p>
          </p:txBody>
        </p:sp>
        <p:sp>
          <p:nvSpPr>
            <p:cNvPr id="11" name="圆角矩形 20">
              <a:extLst>
                <a:ext uri="{FF2B5EF4-FFF2-40B4-BE49-F238E27FC236}">
                  <a16:creationId xmlns:a16="http://schemas.microsoft.com/office/drawing/2014/main" id="{C88A96DE-A09C-9FCC-9EDD-FCC7870088BA}"/>
                </a:ext>
              </a:extLst>
            </p:cNvPr>
            <p:cNvSpPr/>
            <p:nvPr/>
          </p:nvSpPr>
          <p:spPr>
            <a:xfrm>
              <a:off x="2195339" y="2261651"/>
              <a:ext cx="1563849" cy="468312"/>
            </a:xfrm>
            <a:prstGeom prst="roundRect">
              <a:avLst/>
            </a:prstGeom>
            <a:noFill/>
            <a:ln w="28575">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sz="1400" dirty="0">
                  <a:solidFill>
                    <a:schemeClr val="tx1"/>
                  </a:solidFill>
                  <a:latin typeface="+mn-ea"/>
                </a:rPr>
                <a:t>0000 1101 1011 1000</a:t>
              </a:r>
              <a:endParaRPr lang="zh-CN" altLang="en-US" sz="1400" dirty="0">
                <a:solidFill>
                  <a:schemeClr val="tx1"/>
                </a:solidFill>
                <a:latin typeface="+mn-ea"/>
              </a:endParaRPr>
            </a:p>
          </p:txBody>
        </p:sp>
        <p:sp>
          <p:nvSpPr>
            <p:cNvPr id="12" name="圆角矩形 23">
              <a:extLst>
                <a:ext uri="{FF2B5EF4-FFF2-40B4-BE49-F238E27FC236}">
                  <a16:creationId xmlns:a16="http://schemas.microsoft.com/office/drawing/2014/main" id="{E45FEA8E-C01C-044F-3F99-C51830B68CE8}"/>
                </a:ext>
              </a:extLst>
            </p:cNvPr>
            <p:cNvSpPr/>
            <p:nvPr/>
          </p:nvSpPr>
          <p:spPr>
            <a:xfrm>
              <a:off x="3759189" y="2261651"/>
              <a:ext cx="1562262" cy="468312"/>
            </a:xfrm>
            <a:prstGeom prst="roundRect">
              <a:avLst/>
            </a:prstGeom>
            <a:noFill/>
            <a:ln w="28575">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sz="1400" dirty="0">
                  <a:solidFill>
                    <a:schemeClr val="tx1"/>
                  </a:solidFill>
                  <a:latin typeface="+mn-ea"/>
                </a:rPr>
                <a:t>0000 0000 0000 0000‬</a:t>
              </a:r>
              <a:endParaRPr lang="zh-CN" altLang="en-US" sz="1400" dirty="0">
                <a:solidFill>
                  <a:schemeClr val="tx1"/>
                </a:solidFill>
                <a:latin typeface="+mn-ea"/>
              </a:endParaRPr>
            </a:p>
          </p:txBody>
        </p:sp>
        <p:sp>
          <p:nvSpPr>
            <p:cNvPr id="13" name="圆角矩形 24">
              <a:extLst>
                <a:ext uri="{FF2B5EF4-FFF2-40B4-BE49-F238E27FC236}">
                  <a16:creationId xmlns:a16="http://schemas.microsoft.com/office/drawing/2014/main" id="{BCF05C04-206A-F880-AC8D-10C181E29982}"/>
                </a:ext>
              </a:extLst>
            </p:cNvPr>
            <p:cNvSpPr/>
            <p:nvPr/>
          </p:nvSpPr>
          <p:spPr>
            <a:xfrm>
              <a:off x="5321451" y="2261651"/>
              <a:ext cx="1562262" cy="468312"/>
            </a:xfrm>
            <a:prstGeom prst="roundRect">
              <a:avLst/>
            </a:prstGeom>
            <a:noFill/>
            <a:ln w="28575">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sz="1400" dirty="0">
                  <a:solidFill>
                    <a:schemeClr val="tx1"/>
                  </a:solidFill>
                  <a:latin typeface="+mn-ea"/>
                </a:rPr>
                <a:t>0000 0000 0010 0011</a:t>
              </a:r>
              <a:endParaRPr lang="zh-CN" altLang="en-US" sz="1400" dirty="0">
                <a:solidFill>
                  <a:schemeClr val="tx1"/>
                </a:solidFill>
                <a:latin typeface="+mn-ea"/>
              </a:endParaRPr>
            </a:p>
          </p:txBody>
        </p:sp>
        <p:sp>
          <p:nvSpPr>
            <p:cNvPr id="14" name="圆角矩形 25">
              <a:extLst>
                <a:ext uri="{FF2B5EF4-FFF2-40B4-BE49-F238E27FC236}">
                  <a16:creationId xmlns:a16="http://schemas.microsoft.com/office/drawing/2014/main" id="{F8A59BFC-E0B7-DB68-D580-E79E581AEDCA}"/>
                </a:ext>
              </a:extLst>
            </p:cNvPr>
            <p:cNvSpPr/>
            <p:nvPr/>
          </p:nvSpPr>
          <p:spPr>
            <a:xfrm>
              <a:off x="633077" y="2729963"/>
              <a:ext cx="1562262" cy="468312"/>
            </a:xfrm>
            <a:prstGeom prst="roundRect">
              <a:avLst/>
            </a:prstGeom>
            <a:noFill/>
            <a:ln w="28575">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sz="1400" dirty="0">
                  <a:solidFill>
                    <a:schemeClr val="tx1"/>
                  </a:solidFill>
                  <a:latin typeface="+mn-ea"/>
                </a:rPr>
                <a:t>0000 0000 0000 1000</a:t>
              </a:r>
              <a:endParaRPr lang="zh-CN" altLang="en-US" sz="1400" dirty="0">
                <a:solidFill>
                  <a:schemeClr val="tx1"/>
                </a:solidFill>
                <a:latin typeface="+mn-ea"/>
              </a:endParaRPr>
            </a:p>
          </p:txBody>
        </p:sp>
        <p:sp>
          <p:nvSpPr>
            <p:cNvPr id="15" name="圆角矩形 26">
              <a:extLst>
                <a:ext uri="{FF2B5EF4-FFF2-40B4-BE49-F238E27FC236}">
                  <a16:creationId xmlns:a16="http://schemas.microsoft.com/office/drawing/2014/main" id="{94AC2683-9654-1736-53CE-FC4A4C21542E}"/>
                </a:ext>
              </a:extLst>
            </p:cNvPr>
            <p:cNvSpPr/>
            <p:nvPr/>
          </p:nvSpPr>
          <p:spPr>
            <a:xfrm>
              <a:off x="2195339" y="2729963"/>
              <a:ext cx="1563849" cy="468312"/>
            </a:xfrm>
            <a:prstGeom prst="roundRect">
              <a:avLst/>
            </a:prstGeom>
            <a:noFill/>
            <a:ln w="28575">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sz="1400" dirty="0">
                  <a:solidFill>
                    <a:schemeClr val="tx1"/>
                  </a:solidFill>
                  <a:latin typeface="+mn-ea"/>
                </a:rPr>
                <a:t>0000 1000 0000 0000</a:t>
              </a:r>
              <a:endParaRPr lang="zh-CN" altLang="en-US" sz="1400" dirty="0">
                <a:solidFill>
                  <a:schemeClr val="tx1"/>
                </a:solidFill>
                <a:latin typeface="+mn-ea"/>
              </a:endParaRPr>
            </a:p>
          </p:txBody>
        </p:sp>
        <p:sp>
          <p:nvSpPr>
            <p:cNvPr id="16" name="圆角矩形 27">
              <a:extLst>
                <a:ext uri="{FF2B5EF4-FFF2-40B4-BE49-F238E27FC236}">
                  <a16:creationId xmlns:a16="http://schemas.microsoft.com/office/drawing/2014/main" id="{44836683-37C8-3E53-85CC-BB5267DCA554}"/>
                </a:ext>
              </a:extLst>
            </p:cNvPr>
            <p:cNvSpPr/>
            <p:nvPr/>
          </p:nvSpPr>
          <p:spPr>
            <a:xfrm>
              <a:off x="3759189" y="2729963"/>
              <a:ext cx="1562262" cy="468312"/>
            </a:xfrm>
            <a:prstGeom prst="roundRect">
              <a:avLst/>
            </a:prstGeom>
            <a:noFill/>
            <a:ln w="28575">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sz="1400" dirty="0">
                  <a:solidFill>
                    <a:schemeClr val="tx1"/>
                  </a:solidFill>
                  <a:latin typeface="+mn-ea"/>
                </a:rPr>
                <a:t>0010 0000 0000 1100‬</a:t>
              </a:r>
              <a:endParaRPr lang="zh-CN" altLang="en-US" sz="1400" dirty="0">
                <a:solidFill>
                  <a:schemeClr val="tx1"/>
                </a:solidFill>
                <a:latin typeface="+mn-ea"/>
              </a:endParaRPr>
            </a:p>
          </p:txBody>
        </p:sp>
        <p:sp>
          <p:nvSpPr>
            <p:cNvPr id="17" name="圆角矩形 28">
              <a:extLst>
                <a:ext uri="{FF2B5EF4-FFF2-40B4-BE49-F238E27FC236}">
                  <a16:creationId xmlns:a16="http://schemas.microsoft.com/office/drawing/2014/main" id="{4B9BAF75-7F6B-1F39-5B3E-BF6EE64E80B2}"/>
                </a:ext>
              </a:extLst>
            </p:cNvPr>
            <p:cNvSpPr/>
            <p:nvPr/>
          </p:nvSpPr>
          <p:spPr>
            <a:xfrm>
              <a:off x="5321451" y="2729963"/>
              <a:ext cx="1562262" cy="468312"/>
            </a:xfrm>
            <a:prstGeom prst="roundRect">
              <a:avLst/>
            </a:prstGeom>
            <a:noFill/>
            <a:ln w="28575">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sz="1400" dirty="0">
                  <a:solidFill>
                    <a:schemeClr val="tx1"/>
                  </a:solidFill>
                  <a:latin typeface="+mn-ea"/>
                </a:rPr>
                <a:t>0100 0001 0111 1010‬</a:t>
              </a:r>
              <a:endParaRPr lang="zh-CN" altLang="en-US" sz="1400" dirty="0">
                <a:solidFill>
                  <a:schemeClr val="tx1"/>
                </a:solidFill>
                <a:latin typeface="+mn-ea"/>
              </a:endParaRPr>
            </a:p>
          </p:txBody>
        </p:sp>
      </p:grpSp>
    </p:spTree>
    <p:extLst>
      <p:ext uri="{BB962C8B-B14F-4D97-AF65-F5344CB8AC3E}">
        <p14:creationId xmlns:p14="http://schemas.microsoft.com/office/powerpoint/2010/main" val="1027096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961A7FC0-04E2-E10B-CF79-E9E0F3FC9740}"/>
              </a:ext>
            </a:extLst>
          </p:cNvPr>
          <p:cNvSpPr>
            <a:spLocks noGrp="1"/>
          </p:cNvSpPr>
          <p:nvPr>
            <p:ph type="body" sz="quarter" idx="10"/>
          </p:nvPr>
        </p:nvSpPr>
        <p:spPr/>
        <p:txBody>
          <a:bodyPr/>
          <a:lstStyle/>
          <a:p>
            <a:r>
              <a:rPr lang="en-US" altLang="zh-CN" dirty="0">
                <a:latin typeface="+mn-ea"/>
              </a:rPr>
              <a:t>IP </a:t>
            </a:r>
            <a:r>
              <a:rPr lang="zh-CN" altLang="en-US" dirty="0">
                <a:latin typeface="+mn-ea"/>
              </a:rPr>
              <a:t>的作用</a:t>
            </a:r>
            <a:endParaRPr lang="en-US" altLang="zh-CN" dirty="0">
              <a:latin typeface="+mn-ea"/>
            </a:endParaRPr>
          </a:p>
          <a:p>
            <a:pPr marL="457200" lvl="1" indent="0">
              <a:buNone/>
            </a:pPr>
            <a:r>
              <a:rPr lang="zh-CN" altLang="en-US" sz="1600" dirty="0">
                <a:solidFill>
                  <a:srgbClr val="C00000"/>
                </a:solidFill>
                <a:latin typeface="+mn-ea"/>
                <a:cs typeface="阿里巴巴普惠体" panose="00020600040101010101" pitchFamily="18" charset="-122"/>
              </a:rPr>
              <a:t>设备在网络中的地址，是唯一的标识</a:t>
            </a:r>
            <a:endParaRPr lang="en-US" altLang="zh-CN" sz="1600" dirty="0">
              <a:latin typeface="+mn-ea"/>
            </a:endParaRPr>
          </a:p>
          <a:p>
            <a:r>
              <a:rPr lang="en-US" altLang="zh-CN" dirty="0">
                <a:latin typeface="+mn-ea"/>
              </a:rPr>
              <a:t>IPv4 </a:t>
            </a:r>
            <a:r>
              <a:rPr lang="zh-CN" altLang="en-US" dirty="0">
                <a:latin typeface="+mn-ea"/>
              </a:rPr>
              <a:t>有什么特点</a:t>
            </a:r>
            <a:endParaRPr lang="en-US" altLang="zh-CN" dirty="0">
              <a:latin typeface="+mn-ea"/>
            </a:endParaRPr>
          </a:p>
          <a:p>
            <a:pPr marL="457200" lvl="1" indent="0">
              <a:buNone/>
            </a:pPr>
            <a:r>
              <a:rPr lang="zh-CN" altLang="en-US" sz="1600" dirty="0">
                <a:solidFill>
                  <a:srgbClr val="C00000"/>
                </a:solidFill>
                <a:latin typeface="+mn-ea"/>
                <a:cs typeface="阿里巴巴普惠体" panose="00020600040101010101" pitchFamily="18" charset="-122"/>
              </a:rPr>
              <a:t>目前的主流方案</a:t>
            </a:r>
            <a:endParaRPr lang="en-US" altLang="zh-CN" sz="1600" dirty="0">
              <a:solidFill>
                <a:srgbClr val="C00000"/>
              </a:solidFill>
              <a:latin typeface="+mn-ea"/>
              <a:cs typeface="阿里巴巴普惠体" panose="00020600040101010101" pitchFamily="18" charset="-122"/>
            </a:endParaRPr>
          </a:p>
          <a:p>
            <a:pPr marL="457200" lvl="1" indent="0">
              <a:buNone/>
            </a:pPr>
            <a:r>
              <a:rPr lang="zh-CN" altLang="en-US" sz="1600" dirty="0">
                <a:solidFill>
                  <a:srgbClr val="C00000"/>
                </a:solidFill>
                <a:latin typeface="+mn-ea"/>
                <a:cs typeface="阿里巴巴普惠体" panose="00020600040101010101" pitchFamily="18" charset="-122"/>
              </a:rPr>
              <a:t>最多只有</a:t>
            </a:r>
            <a:r>
              <a:rPr lang="en-US" altLang="zh-CN" sz="1600" dirty="0">
                <a:solidFill>
                  <a:srgbClr val="C00000"/>
                </a:solidFill>
                <a:latin typeface="+mn-ea"/>
                <a:cs typeface="阿里巴巴普惠体" panose="00020600040101010101" pitchFamily="18" charset="-122"/>
              </a:rPr>
              <a:t>2^32</a:t>
            </a:r>
            <a:r>
              <a:rPr lang="zh-CN" altLang="en-US" sz="1600" dirty="0">
                <a:solidFill>
                  <a:srgbClr val="C00000"/>
                </a:solidFill>
                <a:latin typeface="+mn-ea"/>
                <a:cs typeface="阿里巴巴普惠体" panose="00020600040101010101" pitchFamily="18" charset="-122"/>
              </a:rPr>
              <a:t>次方个</a:t>
            </a:r>
            <a:r>
              <a:rPr lang="en-US" altLang="zh-CN" sz="1600" dirty="0" err="1">
                <a:solidFill>
                  <a:srgbClr val="C00000"/>
                </a:solidFill>
                <a:latin typeface="+mn-ea"/>
                <a:cs typeface="阿里巴巴普惠体" panose="00020600040101010101" pitchFamily="18" charset="-122"/>
              </a:rPr>
              <a:t>ip</a:t>
            </a:r>
            <a:r>
              <a:rPr lang="zh-CN" altLang="en-US" sz="1600" dirty="0">
                <a:solidFill>
                  <a:srgbClr val="C00000"/>
                </a:solidFill>
                <a:latin typeface="+mn-ea"/>
                <a:cs typeface="阿里巴巴普惠体" panose="00020600040101010101" pitchFamily="18" charset="-122"/>
              </a:rPr>
              <a:t>，目前已经用完了</a:t>
            </a:r>
            <a:endParaRPr lang="en-US" altLang="zh-CN" sz="1600" dirty="0">
              <a:latin typeface="+mn-ea"/>
            </a:endParaRPr>
          </a:p>
          <a:p>
            <a:r>
              <a:rPr lang="en-US" altLang="zh-CN" dirty="0">
                <a:latin typeface="+mn-ea"/>
              </a:rPr>
              <a:t>IPv6</a:t>
            </a:r>
            <a:r>
              <a:rPr lang="zh-CN" altLang="en-US" dirty="0">
                <a:latin typeface="+mn-ea"/>
              </a:rPr>
              <a:t>有什么特点</a:t>
            </a:r>
            <a:endParaRPr lang="en-US" altLang="zh-CN" dirty="0">
              <a:latin typeface="+mn-ea"/>
            </a:endParaRPr>
          </a:p>
          <a:p>
            <a:pPr marL="457200" lvl="1" indent="0">
              <a:buNone/>
            </a:pPr>
            <a:r>
              <a:rPr lang="zh-CN" altLang="en-US" sz="1600" dirty="0">
                <a:solidFill>
                  <a:srgbClr val="C00000"/>
                </a:solidFill>
                <a:latin typeface="+mn-ea"/>
                <a:cs typeface="阿里巴巴普惠体" panose="00020600040101010101" pitchFamily="18" charset="-122"/>
              </a:rPr>
              <a:t>为了解决</a:t>
            </a:r>
            <a:r>
              <a:rPr lang="en-US" altLang="zh-CN" sz="1600" dirty="0">
                <a:solidFill>
                  <a:srgbClr val="C00000"/>
                </a:solidFill>
                <a:latin typeface="+mn-ea"/>
                <a:cs typeface="阿里巴巴普惠体" panose="00020600040101010101" pitchFamily="18" charset="-122"/>
              </a:rPr>
              <a:t>IPv4</a:t>
            </a:r>
            <a:r>
              <a:rPr lang="zh-CN" altLang="en-US" sz="1600" dirty="0">
                <a:solidFill>
                  <a:srgbClr val="C00000"/>
                </a:solidFill>
                <a:latin typeface="+mn-ea"/>
                <a:cs typeface="阿里巴巴普惠体" panose="00020600040101010101" pitchFamily="18" charset="-122"/>
              </a:rPr>
              <a:t>不够用而出现的</a:t>
            </a:r>
            <a:endParaRPr lang="en-US" altLang="zh-CN" sz="1600" dirty="0">
              <a:solidFill>
                <a:srgbClr val="C00000"/>
              </a:solidFill>
              <a:latin typeface="+mn-ea"/>
              <a:cs typeface="阿里巴巴普惠体" panose="00020600040101010101" pitchFamily="18" charset="-122"/>
            </a:endParaRPr>
          </a:p>
          <a:p>
            <a:pPr marL="457200" lvl="1" indent="0">
              <a:buNone/>
            </a:pPr>
            <a:r>
              <a:rPr lang="zh-CN" altLang="en-US" sz="1600" dirty="0">
                <a:solidFill>
                  <a:srgbClr val="C00000"/>
                </a:solidFill>
                <a:latin typeface="+mn-ea"/>
                <a:cs typeface="阿里巴巴普惠体" panose="00020600040101010101" pitchFamily="18" charset="-122"/>
              </a:rPr>
              <a:t>最多有</a:t>
            </a:r>
            <a:r>
              <a:rPr lang="en-US" altLang="zh-CN" sz="1600" dirty="0">
                <a:solidFill>
                  <a:srgbClr val="C00000"/>
                </a:solidFill>
                <a:latin typeface="+mn-ea"/>
                <a:cs typeface="阿里巴巴普惠体" panose="00020600040101010101" pitchFamily="18" charset="-122"/>
              </a:rPr>
              <a:t>2^128</a:t>
            </a:r>
            <a:r>
              <a:rPr lang="zh-CN" altLang="en-US" sz="1600" dirty="0">
                <a:solidFill>
                  <a:srgbClr val="C00000"/>
                </a:solidFill>
                <a:latin typeface="+mn-ea"/>
                <a:cs typeface="阿里巴巴普惠体" panose="00020600040101010101" pitchFamily="18" charset="-122"/>
              </a:rPr>
              <a:t>次方个</a:t>
            </a:r>
            <a:r>
              <a:rPr lang="en-US" altLang="zh-CN" sz="1600" dirty="0" err="1">
                <a:solidFill>
                  <a:srgbClr val="C00000"/>
                </a:solidFill>
                <a:latin typeface="+mn-ea"/>
                <a:cs typeface="阿里巴巴普惠体" panose="00020600040101010101" pitchFamily="18" charset="-122"/>
              </a:rPr>
              <a:t>ip</a:t>
            </a:r>
            <a:endParaRPr lang="en-US" altLang="zh-CN" sz="1600" dirty="0">
              <a:solidFill>
                <a:srgbClr val="C00000"/>
              </a:solidFill>
              <a:latin typeface="+mn-ea"/>
              <a:cs typeface="阿里巴巴普惠体" panose="00020600040101010101" pitchFamily="18" charset="-122"/>
            </a:endParaRPr>
          </a:p>
          <a:p>
            <a:pPr marL="457200" lvl="1" indent="0">
              <a:buNone/>
            </a:pPr>
            <a:r>
              <a:rPr lang="zh-CN" altLang="en-US" sz="1600" dirty="0">
                <a:solidFill>
                  <a:srgbClr val="C00000"/>
                </a:solidFill>
                <a:latin typeface="+mn-ea"/>
                <a:cs typeface="阿里巴巴普惠体" panose="00020600040101010101" pitchFamily="18" charset="-122"/>
              </a:rPr>
              <a:t>可以为地球上的每一粒沙子都设定</a:t>
            </a:r>
            <a:r>
              <a:rPr lang="en-US" altLang="zh-CN" sz="1600" dirty="0" err="1">
                <a:solidFill>
                  <a:srgbClr val="C00000"/>
                </a:solidFill>
                <a:latin typeface="+mn-ea"/>
                <a:cs typeface="阿里巴巴普惠体" panose="00020600040101010101" pitchFamily="18" charset="-122"/>
              </a:rPr>
              <a:t>ip</a:t>
            </a:r>
            <a:endParaRPr lang="en-US" altLang="zh-CN" sz="1600" dirty="0">
              <a:latin typeface="+mn-ea"/>
            </a:endParaRPr>
          </a:p>
        </p:txBody>
      </p:sp>
    </p:spTree>
    <p:extLst>
      <p:ext uri="{BB962C8B-B14F-4D97-AF65-F5344CB8AC3E}">
        <p14:creationId xmlns:p14="http://schemas.microsoft.com/office/powerpoint/2010/main" val="12772705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0E61EA9D-A673-922B-865B-59B355B7A69B}"/>
              </a:ext>
            </a:extLst>
          </p:cNvPr>
          <p:cNvSpPr txBox="1"/>
          <p:nvPr/>
        </p:nvSpPr>
        <p:spPr>
          <a:xfrm>
            <a:off x="576626" y="1069752"/>
            <a:ext cx="10881360" cy="1160767"/>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公网地址</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万维网使用</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和私有地址</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局域网使用</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85750" indent="-285750">
              <a:lnSpc>
                <a:spcPct val="150000"/>
              </a:lnSpc>
              <a:buFont typeface="Wingdings" panose="05000000000000000000" pitchFamily="2" charset="2"/>
              <a:buChar char="l"/>
            </a:pP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192.168. </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开头的就是私有地址，范围即为</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192.168.0.0--192.168.255.255</a:t>
            </a:r>
          </a:p>
          <a:p>
            <a:pPr lvl="1">
              <a:lnSpc>
                <a:spcPct val="150000"/>
              </a:lnSpc>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专门为组织机构内部使用，以此节省</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IP</a:t>
            </a:r>
            <a:endPar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pic>
        <p:nvPicPr>
          <p:cNvPr id="40" name="图片 39">
            <a:extLst>
              <a:ext uri="{FF2B5EF4-FFF2-40B4-BE49-F238E27FC236}">
                <a16:creationId xmlns:a16="http://schemas.microsoft.com/office/drawing/2014/main" id="{03B9971E-F297-E8B0-52F8-765C86F86BE4}"/>
              </a:ext>
            </a:extLst>
          </p:cNvPr>
          <p:cNvPicPr>
            <a:picLocks noChangeAspect="1"/>
          </p:cNvPicPr>
          <p:nvPr/>
        </p:nvPicPr>
        <p:blipFill rotWithShape="1">
          <a:blip r:embed="rId3"/>
          <a:srcRect t="35508"/>
          <a:stretch/>
        </p:blipFill>
        <p:spPr>
          <a:xfrm>
            <a:off x="0" y="2583173"/>
            <a:ext cx="12197424" cy="4293877"/>
          </a:xfrm>
          <a:prstGeom prst="rect">
            <a:avLst/>
          </a:prstGeom>
        </p:spPr>
      </p:pic>
      <p:sp>
        <p:nvSpPr>
          <p:cNvPr id="42" name="文本框 41">
            <a:extLst>
              <a:ext uri="{FF2B5EF4-FFF2-40B4-BE49-F238E27FC236}">
                <a16:creationId xmlns:a16="http://schemas.microsoft.com/office/drawing/2014/main" id="{867B105D-25A2-B01B-D699-13303931B290}"/>
              </a:ext>
            </a:extLst>
          </p:cNvPr>
          <p:cNvSpPr txBox="1"/>
          <p:nvPr/>
        </p:nvSpPr>
        <p:spPr>
          <a:xfrm>
            <a:off x="264319" y="4196834"/>
            <a:ext cx="669131" cy="369332"/>
          </a:xfrm>
          <a:prstGeom prst="rect">
            <a:avLst/>
          </a:prstGeom>
          <a:noFill/>
        </p:spPr>
        <p:txBody>
          <a:bodyPr wrap="square">
            <a:spAutoFit/>
          </a:bodyPr>
          <a:lstStyle/>
          <a:p>
            <a:r>
              <a:rPr lang="zh-CN" altLang="en-US" b="1" dirty="0">
                <a:solidFill>
                  <a:schemeClr val="bg1"/>
                </a:solidFill>
                <a:latin typeface="Consolas" panose="020B0609020204030204" pitchFamily="49" charset="0"/>
              </a:rPr>
              <a:t>网吧</a:t>
            </a:r>
          </a:p>
        </p:txBody>
      </p:sp>
      <p:sp>
        <p:nvSpPr>
          <p:cNvPr id="43" name="文本框 42">
            <a:extLst>
              <a:ext uri="{FF2B5EF4-FFF2-40B4-BE49-F238E27FC236}">
                <a16:creationId xmlns:a16="http://schemas.microsoft.com/office/drawing/2014/main" id="{5C692EEB-AB64-C0ED-983D-F70EBC830C7D}"/>
              </a:ext>
            </a:extLst>
          </p:cNvPr>
          <p:cNvSpPr txBox="1"/>
          <p:nvPr/>
        </p:nvSpPr>
        <p:spPr>
          <a:xfrm>
            <a:off x="2921794" y="2977369"/>
            <a:ext cx="669131" cy="369332"/>
          </a:xfrm>
          <a:prstGeom prst="rect">
            <a:avLst/>
          </a:prstGeom>
          <a:noFill/>
        </p:spPr>
        <p:txBody>
          <a:bodyPr wrap="square">
            <a:spAutoFit/>
          </a:bodyPr>
          <a:lstStyle/>
          <a:p>
            <a:r>
              <a:rPr lang="zh-CN" altLang="en-US" b="1" dirty="0">
                <a:solidFill>
                  <a:schemeClr val="bg1"/>
                </a:solidFill>
                <a:latin typeface="Consolas" panose="020B0609020204030204" pitchFamily="49" charset="0"/>
              </a:rPr>
              <a:t>公寓</a:t>
            </a:r>
          </a:p>
        </p:txBody>
      </p:sp>
      <p:sp>
        <p:nvSpPr>
          <p:cNvPr id="44" name="文本框 43">
            <a:extLst>
              <a:ext uri="{FF2B5EF4-FFF2-40B4-BE49-F238E27FC236}">
                <a16:creationId xmlns:a16="http://schemas.microsoft.com/office/drawing/2014/main" id="{2230FE26-F372-DE76-1633-C521EB8312AE}"/>
              </a:ext>
            </a:extLst>
          </p:cNvPr>
          <p:cNvSpPr txBox="1"/>
          <p:nvPr/>
        </p:nvSpPr>
        <p:spPr>
          <a:xfrm>
            <a:off x="4741069" y="4347829"/>
            <a:ext cx="669131" cy="369332"/>
          </a:xfrm>
          <a:prstGeom prst="rect">
            <a:avLst/>
          </a:prstGeom>
          <a:noFill/>
        </p:spPr>
        <p:txBody>
          <a:bodyPr wrap="square">
            <a:spAutoFit/>
          </a:bodyPr>
          <a:lstStyle/>
          <a:p>
            <a:r>
              <a:rPr lang="zh-CN" altLang="en-US" b="1" dirty="0">
                <a:solidFill>
                  <a:schemeClr val="bg1"/>
                </a:solidFill>
                <a:latin typeface="Consolas" panose="020B0609020204030204" pitchFamily="49" charset="0"/>
              </a:rPr>
              <a:t>商场</a:t>
            </a:r>
          </a:p>
        </p:txBody>
      </p:sp>
      <p:sp>
        <p:nvSpPr>
          <p:cNvPr id="45" name="文本框 44">
            <a:extLst>
              <a:ext uri="{FF2B5EF4-FFF2-40B4-BE49-F238E27FC236}">
                <a16:creationId xmlns:a16="http://schemas.microsoft.com/office/drawing/2014/main" id="{673E4F8D-9FE3-C2E6-A27C-86177862B4FC}"/>
              </a:ext>
            </a:extLst>
          </p:cNvPr>
          <p:cNvSpPr txBox="1"/>
          <p:nvPr/>
        </p:nvSpPr>
        <p:spPr>
          <a:xfrm>
            <a:off x="6998494" y="3973401"/>
            <a:ext cx="916781" cy="369332"/>
          </a:xfrm>
          <a:prstGeom prst="rect">
            <a:avLst/>
          </a:prstGeom>
          <a:noFill/>
        </p:spPr>
        <p:txBody>
          <a:bodyPr wrap="square">
            <a:spAutoFit/>
          </a:bodyPr>
          <a:lstStyle/>
          <a:p>
            <a:r>
              <a:rPr lang="zh-CN" altLang="en-US" b="1" dirty="0">
                <a:solidFill>
                  <a:schemeClr val="bg1"/>
                </a:solidFill>
                <a:latin typeface="Consolas" panose="020B0609020204030204" pitchFamily="49" charset="0"/>
              </a:rPr>
              <a:t>办公楼</a:t>
            </a:r>
          </a:p>
        </p:txBody>
      </p:sp>
      <p:sp>
        <p:nvSpPr>
          <p:cNvPr id="46" name="文本框 45">
            <a:extLst>
              <a:ext uri="{FF2B5EF4-FFF2-40B4-BE49-F238E27FC236}">
                <a16:creationId xmlns:a16="http://schemas.microsoft.com/office/drawing/2014/main" id="{94F5A13A-C24F-781A-2C14-446159507C94}"/>
              </a:ext>
            </a:extLst>
          </p:cNvPr>
          <p:cNvSpPr txBox="1"/>
          <p:nvPr/>
        </p:nvSpPr>
        <p:spPr>
          <a:xfrm>
            <a:off x="9875044" y="3604069"/>
            <a:ext cx="916781" cy="369332"/>
          </a:xfrm>
          <a:prstGeom prst="rect">
            <a:avLst/>
          </a:prstGeom>
          <a:noFill/>
        </p:spPr>
        <p:txBody>
          <a:bodyPr wrap="square">
            <a:spAutoFit/>
          </a:bodyPr>
          <a:lstStyle/>
          <a:p>
            <a:r>
              <a:rPr lang="zh-CN" altLang="en-US" b="1" dirty="0">
                <a:solidFill>
                  <a:srgbClr val="C00000"/>
                </a:solidFill>
                <a:latin typeface="Consolas" panose="020B0609020204030204" pitchFamily="49" charset="0"/>
              </a:rPr>
              <a:t>办公楼</a:t>
            </a:r>
          </a:p>
        </p:txBody>
      </p:sp>
      <p:sp>
        <p:nvSpPr>
          <p:cNvPr id="47" name="!!!三要素">
            <a:extLst>
              <a:ext uri="{FF2B5EF4-FFF2-40B4-BE49-F238E27FC236}">
                <a16:creationId xmlns:a16="http://schemas.microsoft.com/office/drawing/2014/main" id="{563E0947-4555-6AF7-79F7-8F7B54215ADB}"/>
              </a:ext>
            </a:extLst>
          </p:cNvPr>
          <p:cNvSpPr txBox="1">
            <a:spLocks/>
          </p:cNvSpPr>
          <p:nvPr/>
        </p:nvSpPr>
        <p:spPr>
          <a:xfrm>
            <a:off x="-3899221" y="997654"/>
            <a:ext cx="3432496"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dirty="0">
                <a:latin typeface="Consolas" panose="020B0609020204030204" pitchFamily="49" charset="0"/>
              </a:rPr>
              <a:t>特殊</a:t>
            </a:r>
            <a:r>
              <a:rPr lang="en-US" altLang="zh-CN" dirty="0">
                <a:latin typeface="Consolas" panose="020B0609020204030204" pitchFamily="49" charset="0"/>
              </a:rPr>
              <a:t>IP</a:t>
            </a:r>
            <a:r>
              <a:rPr lang="zh-CN" altLang="en-US" dirty="0">
                <a:latin typeface="Consolas" panose="020B0609020204030204" pitchFamily="49" charset="0"/>
              </a:rPr>
              <a:t>地址</a:t>
            </a:r>
          </a:p>
        </p:txBody>
      </p:sp>
      <p:sp>
        <p:nvSpPr>
          <p:cNvPr id="3" name="标题 2">
            <a:extLst>
              <a:ext uri="{FF2B5EF4-FFF2-40B4-BE49-F238E27FC236}">
                <a16:creationId xmlns:a16="http://schemas.microsoft.com/office/drawing/2014/main" id="{6FCB7799-B2A1-4A7C-79FF-80F6EF8AA8AC}"/>
              </a:ext>
            </a:extLst>
          </p:cNvPr>
          <p:cNvSpPr>
            <a:spLocks noGrp="1"/>
          </p:cNvSpPr>
          <p:nvPr>
            <p:ph type="title"/>
          </p:nvPr>
        </p:nvSpPr>
        <p:spPr/>
        <p:txBody>
          <a:bodyPr/>
          <a:lstStyle/>
          <a:p>
            <a:r>
              <a:rPr lang="en-US" altLang="zh-CN" dirty="0"/>
              <a:t>IPv4 </a:t>
            </a:r>
            <a:r>
              <a:rPr lang="zh-CN" altLang="en-US" dirty="0"/>
              <a:t>的地址分类形式</a:t>
            </a:r>
          </a:p>
        </p:txBody>
      </p:sp>
    </p:spTree>
    <p:extLst>
      <p:ext uri="{BB962C8B-B14F-4D97-AF65-F5344CB8AC3E}">
        <p14:creationId xmlns:p14="http://schemas.microsoft.com/office/powerpoint/2010/main" val="14482202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left)">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wipe(left)">
                                      <p:cBhvr>
                                        <p:cTn id="22" dur="500"/>
                                        <p:tgtEl>
                                          <p:spTgt spid="40"/>
                                        </p:tgtEl>
                                      </p:cBhvr>
                                    </p:animEffect>
                                  </p:childTnLst>
                                </p:cTn>
                              </p:par>
                            </p:childTnLst>
                          </p:cTn>
                        </p:par>
                        <p:par>
                          <p:cTn id="23" fill="hold">
                            <p:stCondLst>
                              <p:cond delay="500"/>
                            </p:stCondLst>
                            <p:childTnLst>
                              <p:par>
                                <p:cTn id="24" presetID="9" presetClass="entr" presetSubtype="0" fill="hold" grpId="0" nodeType="after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dissolve">
                                      <p:cBhvr>
                                        <p:cTn id="26" dur="500"/>
                                        <p:tgtEl>
                                          <p:spTgt spid="42"/>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dissolve">
                                      <p:cBhvr>
                                        <p:cTn id="29" dur="500"/>
                                        <p:tgtEl>
                                          <p:spTgt spid="43"/>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dissolve">
                                      <p:cBhvr>
                                        <p:cTn id="32" dur="500"/>
                                        <p:tgtEl>
                                          <p:spTgt spid="44"/>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dissolve">
                                      <p:cBhvr>
                                        <p:cTn id="35" dur="500"/>
                                        <p:tgtEl>
                                          <p:spTgt spid="45"/>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46"/>
                                        </p:tgtEl>
                                        <p:attrNameLst>
                                          <p:attrName>style.visibility</p:attrName>
                                        </p:attrNameLst>
                                      </p:cBhvr>
                                      <p:to>
                                        <p:strVal val="visible"/>
                                      </p:to>
                                    </p:set>
                                    <p:animEffect transition="in" filter="dissolve">
                                      <p:cBhvr>
                                        <p:cTn id="38"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44" grpId="0"/>
      <p:bldP spid="45" grpId="0"/>
      <p:bldP spid="4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AAF0892-3D4D-0D78-0A85-9CA86E293CF2}"/>
              </a:ext>
            </a:extLst>
          </p:cNvPr>
          <p:cNvPicPr>
            <a:picLocks noChangeAspect="1"/>
          </p:cNvPicPr>
          <p:nvPr/>
        </p:nvPicPr>
        <p:blipFill rotWithShape="1">
          <a:blip r:embed="rId3"/>
          <a:srcRect t="22857" b="20762"/>
          <a:stretch/>
        </p:blipFill>
        <p:spPr>
          <a:xfrm>
            <a:off x="744582" y="1331291"/>
            <a:ext cx="2541610" cy="1432985"/>
          </a:xfrm>
          <a:prstGeom prst="rect">
            <a:avLst/>
          </a:prstGeom>
        </p:spPr>
      </p:pic>
      <p:pic>
        <p:nvPicPr>
          <p:cNvPr id="5" name="图片 4">
            <a:extLst>
              <a:ext uri="{FF2B5EF4-FFF2-40B4-BE49-F238E27FC236}">
                <a16:creationId xmlns:a16="http://schemas.microsoft.com/office/drawing/2014/main" id="{EC4243E2-04C1-B94F-D99A-3085940F9334}"/>
              </a:ext>
            </a:extLst>
          </p:cNvPr>
          <p:cNvPicPr>
            <a:picLocks noChangeAspect="1"/>
          </p:cNvPicPr>
          <p:nvPr/>
        </p:nvPicPr>
        <p:blipFill rotWithShape="1">
          <a:blip r:embed="rId3"/>
          <a:srcRect t="22857" b="20762"/>
          <a:stretch/>
        </p:blipFill>
        <p:spPr>
          <a:xfrm>
            <a:off x="3537560" y="1331291"/>
            <a:ext cx="2541610" cy="1432985"/>
          </a:xfrm>
          <a:prstGeom prst="rect">
            <a:avLst/>
          </a:prstGeom>
        </p:spPr>
      </p:pic>
      <p:pic>
        <p:nvPicPr>
          <p:cNvPr id="6" name="图片 5">
            <a:extLst>
              <a:ext uri="{FF2B5EF4-FFF2-40B4-BE49-F238E27FC236}">
                <a16:creationId xmlns:a16="http://schemas.microsoft.com/office/drawing/2014/main" id="{E08F9AFE-9CA9-A2A7-6B24-3F3083BA74E9}"/>
              </a:ext>
            </a:extLst>
          </p:cNvPr>
          <p:cNvPicPr>
            <a:picLocks noChangeAspect="1"/>
          </p:cNvPicPr>
          <p:nvPr/>
        </p:nvPicPr>
        <p:blipFill rotWithShape="1">
          <a:blip r:embed="rId3"/>
          <a:srcRect t="22857" b="20762"/>
          <a:stretch/>
        </p:blipFill>
        <p:spPr>
          <a:xfrm>
            <a:off x="6330538" y="1331291"/>
            <a:ext cx="2541610" cy="1432985"/>
          </a:xfrm>
          <a:prstGeom prst="rect">
            <a:avLst/>
          </a:prstGeom>
        </p:spPr>
      </p:pic>
      <p:pic>
        <p:nvPicPr>
          <p:cNvPr id="7" name="图片 6">
            <a:extLst>
              <a:ext uri="{FF2B5EF4-FFF2-40B4-BE49-F238E27FC236}">
                <a16:creationId xmlns:a16="http://schemas.microsoft.com/office/drawing/2014/main" id="{F3514B6F-E50B-EB64-8D77-1E3557CEF476}"/>
              </a:ext>
            </a:extLst>
          </p:cNvPr>
          <p:cNvPicPr>
            <a:picLocks noChangeAspect="1"/>
          </p:cNvPicPr>
          <p:nvPr/>
        </p:nvPicPr>
        <p:blipFill rotWithShape="1">
          <a:blip r:embed="rId3"/>
          <a:srcRect t="22857" b="20762"/>
          <a:stretch/>
        </p:blipFill>
        <p:spPr>
          <a:xfrm>
            <a:off x="9123516" y="1331291"/>
            <a:ext cx="2541610" cy="1432985"/>
          </a:xfrm>
          <a:prstGeom prst="rect">
            <a:avLst/>
          </a:prstGeom>
        </p:spPr>
      </p:pic>
      <p:pic>
        <p:nvPicPr>
          <p:cNvPr id="8" name="图片 7">
            <a:extLst>
              <a:ext uri="{FF2B5EF4-FFF2-40B4-BE49-F238E27FC236}">
                <a16:creationId xmlns:a16="http://schemas.microsoft.com/office/drawing/2014/main" id="{F19CD2D1-3191-D493-36DC-7F4303A62092}"/>
              </a:ext>
            </a:extLst>
          </p:cNvPr>
          <p:cNvPicPr>
            <a:picLocks noChangeAspect="1"/>
          </p:cNvPicPr>
          <p:nvPr/>
        </p:nvPicPr>
        <p:blipFill rotWithShape="1">
          <a:blip r:embed="rId3"/>
          <a:srcRect t="22857" b="20762"/>
          <a:stretch/>
        </p:blipFill>
        <p:spPr>
          <a:xfrm>
            <a:off x="744582" y="2953241"/>
            <a:ext cx="2541610" cy="1432985"/>
          </a:xfrm>
          <a:prstGeom prst="rect">
            <a:avLst/>
          </a:prstGeom>
        </p:spPr>
      </p:pic>
      <p:pic>
        <p:nvPicPr>
          <p:cNvPr id="9" name="图片 8">
            <a:extLst>
              <a:ext uri="{FF2B5EF4-FFF2-40B4-BE49-F238E27FC236}">
                <a16:creationId xmlns:a16="http://schemas.microsoft.com/office/drawing/2014/main" id="{59B5DD50-DB5F-5842-5189-D450D1403ED8}"/>
              </a:ext>
            </a:extLst>
          </p:cNvPr>
          <p:cNvPicPr>
            <a:picLocks noChangeAspect="1"/>
          </p:cNvPicPr>
          <p:nvPr/>
        </p:nvPicPr>
        <p:blipFill rotWithShape="1">
          <a:blip r:embed="rId3"/>
          <a:srcRect t="22857" b="20762"/>
          <a:stretch/>
        </p:blipFill>
        <p:spPr>
          <a:xfrm>
            <a:off x="3537560" y="2953241"/>
            <a:ext cx="2541610" cy="1432985"/>
          </a:xfrm>
          <a:prstGeom prst="rect">
            <a:avLst/>
          </a:prstGeom>
        </p:spPr>
      </p:pic>
      <p:pic>
        <p:nvPicPr>
          <p:cNvPr id="10" name="图片 9">
            <a:extLst>
              <a:ext uri="{FF2B5EF4-FFF2-40B4-BE49-F238E27FC236}">
                <a16:creationId xmlns:a16="http://schemas.microsoft.com/office/drawing/2014/main" id="{CEC96321-C8A5-49A1-E447-469352DD7D8C}"/>
              </a:ext>
            </a:extLst>
          </p:cNvPr>
          <p:cNvPicPr>
            <a:picLocks noChangeAspect="1"/>
          </p:cNvPicPr>
          <p:nvPr/>
        </p:nvPicPr>
        <p:blipFill rotWithShape="1">
          <a:blip r:embed="rId3"/>
          <a:srcRect t="22857" b="20762"/>
          <a:stretch/>
        </p:blipFill>
        <p:spPr>
          <a:xfrm>
            <a:off x="6330538" y="2953241"/>
            <a:ext cx="2541610" cy="1432985"/>
          </a:xfrm>
          <a:prstGeom prst="rect">
            <a:avLst/>
          </a:prstGeom>
        </p:spPr>
      </p:pic>
      <p:pic>
        <p:nvPicPr>
          <p:cNvPr id="11" name="图片 10">
            <a:extLst>
              <a:ext uri="{FF2B5EF4-FFF2-40B4-BE49-F238E27FC236}">
                <a16:creationId xmlns:a16="http://schemas.microsoft.com/office/drawing/2014/main" id="{C9784AE4-720E-26EA-5E80-C74DD1F08716}"/>
              </a:ext>
            </a:extLst>
          </p:cNvPr>
          <p:cNvPicPr>
            <a:picLocks noChangeAspect="1"/>
          </p:cNvPicPr>
          <p:nvPr/>
        </p:nvPicPr>
        <p:blipFill rotWithShape="1">
          <a:blip r:embed="rId3"/>
          <a:srcRect t="22857" b="20762"/>
          <a:stretch/>
        </p:blipFill>
        <p:spPr>
          <a:xfrm>
            <a:off x="9123516" y="2953241"/>
            <a:ext cx="2541610" cy="1432985"/>
          </a:xfrm>
          <a:prstGeom prst="rect">
            <a:avLst/>
          </a:prstGeom>
        </p:spPr>
      </p:pic>
      <p:pic>
        <p:nvPicPr>
          <p:cNvPr id="13" name="图片 12">
            <a:extLst>
              <a:ext uri="{FF2B5EF4-FFF2-40B4-BE49-F238E27FC236}">
                <a16:creationId xmlns:a16="http://schemas.microsoft.com/office/drawing/2014/main" id="{04B8333C-7123-7951-F4D1-EA11D04BEEA0}"/>
              </a:ext>
            </a:extLst>
          </p:cNvPr>
          <p:cNvPicPr>
            <a:picLocks noChangeAspect="1"/>
          </p:cNvPicPr>
          <p:nvPr/>
        </p:nvPicPr>
        <p:blipFill rotWithShape="1">
          <a:blip r:embed="rId3"/>
          <a:srcRect t="22857" b="20762"/>
          <a:stretch/>
        </p:blipFill>
        <p:spPr>
          <a:xfrm>
            <a:off x="744582" y="4575191"/>
            <a:ext cx="2541610" cy="1432985"/>
          </a:xfrm>
          <a:prstGeom prst="rect">
            <a:avLst/>
          </a:prstGeom>
        </p:spPr>
      </p:pic>
      <p:pic>
        <p:nvPicPr>
          <p:cNvPr id="14" name="图片 13">
            <a:extLst>
              <a:ext uri="{FF2B5EF4-FFF2-40B4-BE49-F238E27FC236}">
                <a16:creationId xmlns:a16="http://schemas.microsoft.com/office/drawing/2014/main" id="{3CF3E1C2-9BAE-5399-DA0B-B9047F2079E1}"/>
              </a:ext>
            </a:extLst>
          </p:cNvPr>
          <p:cNvPicPr>
            <a:picLocks noChangeAspect="1"/>
          </p:cNvPicPr>
          <p:nvPr/>
        </p:nvPicPr>
        <p:blipFill rotWithShape="1">
          <a:blip r:embed="rId3"/>
          <a:srcRect t="22857" b="20762"/>
          <a:stretch/>
        </p:blipFill>
        <p:spPr>
          <a:xfrm>
            <a:off x="3537560" y="4575191"/>
            <a:ext cx="2541610" cy="1432985"/>
          </a:xfrm>
          <a:prstGeom prst="rect">
            <a:avLst/>
          </a:prstGeom>
        </p:spPr>
      </p:pic>
      <p:pic>
        <p:nvPicPr>
          <p:cNvPr id="15" name="图片 14">
            <a:extLst>
              <a:ext uri="{FF2B5EF4-FFF2-40B4-BE49-F238E27FC236}">
                <a16:creationId xmlns:a16="http://schemas.microsoft.com/office/drawing/2014/main" id="{89A4AB3A-2A2A-3911-4090-FF76A311C622}"/>
              </a:ext>
            </a:extLst>
          </p:cNvPr>
          <p:cNvPicPr>
            <a:picLocks noChangeAspect="1"/>
          </p:cNvPicPr>
          <p:nvPr/>
        </p:nvPicPr>
        <p:blipFill rotWithShape="1">
          <a:blip r:embed="rId3"/>
          <a:srcRect t="22857" b="20762"/>
          <a:stretch/>
        </p:blipFill>
        <p:spPr>
          <a:xfrm>
            <a:off x="6330538" y="4575191"/>
            <a:ext cx="2541610" cy="1432985"/>
          </a:xfrm>
          <a:prstGeom prst="rect">
            <a:avLst/>
          </a:prstGeom>
        </p:spPr>
      </p:pic>
      <p:pic>
        <p:nvPicPr>
          <p:cNvPr id="16" name="图片 15">
            <a:extLst>
              <a:ext uri="{FF2B5EF4-FFF2-40B4-BE49-F238E27FC236}">
                <a16:creationId xmlns:a16="http://schemas.microsoft.com/office/drawing/2014/main" id="{E8A8F0DC-72D9-4BF6-D351-AF9E13AB87B4}"/>
              </a:ext>
            </a:extLst>
          </p:cNvPr>
          <p:cNvPicPr>
            <a:picLocks noChangeAspect="1"/>
          </p:cNvPicPr>
          <p:nvPr/>
        </p:nvPicPr>
        <p:blipFill rotWithShape="1">
          <a:blip r:embed="rId3"/>
          <a:srcRect t="22857" b="20762"/>
          <a:stretch/>
        </p:blipFill>
        <p:spPr>
          <a:xfrm>
            <a:off x="9123516" y="4575191"/>
            <a:ext cx="2541610" cy="1432985"/>
          </a:xfrm>
          <a:prstGeom prst="rect">
            <a:avLst/>
          </a:prstGeom>
        </p:spPr>
      </p:pic>
      <p:pic>
        <p:nvPicPr>
          <p:cNvPr id="19" name="图片 18">
            <a:extLst>
              <a:ext uri="{FF2B5EF4-FFF2-40B4-BE49-F238E27FC236}">
                <a16:creationId xmlns:a16="http://schemas.microsoft.com/office/drawing/2014/main" id="{E9A26C7A-EB90-D454-CB32-1897A3C659D6}"/>
              </a:ext>
            </a:extLst>
          </p:cNvPr>
          <p:cNvPicPr>
            <a:picLocks noChangeAspect="1"/>
          </p:cNvPicPr>
          <p:nvPr/>
        </p:nvPicPr>
        <p:blipFill rotWithShape="1">
          <a:blip r:embed="rId4"/>
          <a:srcRect l="8159" t="27619" r="8413" b="29714"/>
          <a:stretch/>
        </p:blipFill>
        <p:spPr>
          <a:xfrm>
            <a:off x="4692626" y="-1455437"/>
            <a:ext cx="2112849" cy="1080544"/>
          </a:xfrm>
          <a:prstGeom prst="rect">
            <a:avLst/>
          </a:prstGeom>
        </p:spPr>
      </p:pic>
      <p:sp>
        <p:nvSpPr>
          <p:cNvPr id="2" name="标题 1">
            <a:extLst>
              <a:ext uri="{FF2B5EF4-FFF2-40B4-BE49-F238E27FC236}">
                <a16:creationId xmlns:a16="http://schemas.microsoft.com/office/drawing/2014/main" id="{23E9B689-7695-0137-956D-6AC04E8FD8ED}"/>
              </a:ext>
            </a:extLst>
          </p:cNvPr>
          <p:cNvSpPr>
            <a:spLocks noGrp="1"/>
          </p:cNvSpPr>
          <p:nvPr>
            <p:ph type="title"/>
          </p:nvPr>
        </p:nvSpPr>
        <p:spPr/>
        <p:txBody>
          <a:bodyPr/>
          <a:lstStyle/>
          <a:p>
            <a:r>
              <a:rPr lang="en-US" altLang="zh-CN" dirty="0"/>
              <a:t>IPv4 </a:t>
            </a:r>
            <a:r>
              <a:rPr lang="zh-CN" altLang="en-US" dirty="0"/>
              <a:t>的地址分类形式</a:t>
            </a:r>
          </a:p>
        </p:txBody>
      </p:sp>
    </p:spTree>
    <p:extLst>
      <p:ext uri="{BB962C8B-B14F-4D97-AF65-F5344CB8AC3E}">
        <p14:creationId xmlns:p14="http://schemas.microsoft.com/office/powerpoint/2010/main" val="3042873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AAF0892-3D4D-0D78-0A85-9CA86E293CF2}"/>
              </a:ext>
            </a:extLst>
          </p:cNvPr>
          <p:cNvPicPr>
            <a:picLocks noChangeAspect="1"/>
          </p:cNvPicPr>
          <p:nvPr/>
        </p:nvPicPr>
        <p:blipFill rotWithShape="1">
          <a:blip r:embed="rId3"/>
          <a:srcRect t="22857" b="20762"/>
          <a:stretch/>
        </p:blipFill>
        <p:spPr>
          <a:xfrm>
            <a:off x="1761173" y="2717073"/>
            <a:ext cx="2112849" cy="1191245"/>
          </a:xfrm>
          <a:prstGeom prst="rect">
            <a:avLst/>
          </a:prstGeom>
        </p:spPr>
      </p:pic>
      <p:pic>
        <p:nvPicPr>
          <p:cNvPr id="5" name="图片 4">
            <a:extLst>
              <a:ext uri="{FF2B5EF4-FFF2-40B4-BE49-F238E27FC236}">
                <a16:creationId xmlns:a16="http://schemas.microsoft.com/office/drawing/2014/main" id="{EC4243E2-04C1-B94F-D99A-3085940F9334}"/>
              </a:ext>
            </a:extLst>
          </p:cNvPr>
          <p:cNvPicPr>
            <a:picLocks noChangeAspect="1"/>
          </p:cNvPicPr>
          <p:nvPr/>
        </p:nvPicPr>
        <p:blipFill rotWithShape="1">
          <a:blip r:embed="rId3"/>
          <a:srcRect t="22857" b="20762"/>
          <a:stretch/>
        </p:blipFill>
        <p:spPr>
          <a:xfrm>
            <a:off x="3874022" y="2717073"/>
            <a:ext cx="2112849" cy="1191245"/>
          </a:xfrm>
          <a:prstGeom prst="rect">
            <a:avLst/>
          </a:prstGeom>
        </p:spPr>
      </p:pic>
      <p:pic>
        <p:nvPicPr>
          <p:cNvPr id="6" name="图片 5">
            <a:extLst>
              <a:ext uri="{FF2B5EF4-FFF2-40B4-BE49-F238E27FC236}">
                <a16:creationId xmlns:a16="http://schemas.microsoft.com/office/drawing/2014/main" id="{E08F9AFE-9CA9-A2A7-6B24-3F3083BA74E9}"/>
              </a:ext>
            </a:extLst>
          </p:cNvPr>
          <p:cNvPicPr>
            <a:picLocks noChangeAspect="1"/>
          </p:cNvPicPr>
          <p:nvPr/>
        </p:nvPicPr>
        <p:blipFill rotWithShape="1">
          <a:blip r:embed="rId3"/>
          <a:srcRect t="22857" b="20762"/>
          <a:stretch/>
        </p:blipFill>
        <p:spPr>
          <a:xfrm>
            <a:off x="5986871" y="2717073"/>
            <a:ext cx="2112849" cy="1191245"/>
          </a:xfrm>
          <a:prstGeom prst="rect">
            <a:avLst/>
          </a:prstGeom>
        </p:spPr>
      </p:pic>
      <p:pic>
        <p:nvPicPr>
          <p:cNvPr id="7" name="图片 6">
            <a:extLst>
              <a:ext uri="{FF2B5EF4-FFF2-40B4-BE49-F238E27FC236}">
                <a16:creationId xmlns:a16="http://schemas.microsoft.com/office/drawing/2014/main" id="{F3514B6F-E50B-EB64-8D77-1E3557CEF476}"/>
              </a:ext>
            </a:extLst>
          </p:cNvPr>
          <p:cNvPicPr>
            <a:picLocks noChangeAspect="1"/>
          </p:cNvPicPr>
          <p:nvPr/>
        </p:nvPicPr>
        <p:blipFill rotWithShape="1">
          <a:blip r:embed="rId3"/>
          <a:srcRect t="22857" b="20762"/>
          <a:stretch/>
        </p:blipFill>
        <p:spPr>
          <a:xfrm>
            <a:off x="8099720" y="2717073"/>
            <a:ext cx="2112849" cy="1191245"/>
          </a:xfrm>
          <a:prstGeom prst="rect">
            <a:avLst/>
          </a:prstGeom>
        </p:spPr>
      </p:pic>
      <p:pic>
        <p:nvPicPr>
          <p:cNvPr id="8" name="图片 7">
            <a:extLst>
              <a:ext uri="{FF2B5EF4-FFF2-40B4-BE49-F238E27FC236}">
                <a16:creationId xmlns:a16="http://schemas.microsoft.com/office/drawing/2014/main" id="{F19CD2D1-3191-D493-36DC-7F4303A62092}"/>
              </a:ext>
            </a:extLst>
          </p:cNvPr>
          <p:cNvPicPr>
            <a:picLocks noChangeAspect="1"/>
          </p:cNvPicPr>
          <p:nvPr/>
        </p:nvPicPr>
        <p:blipFill rotWithShape="1">
          <a:blip r:embed="rId3"/>
          <a:srcRect t="22857" b="20762"/>
          <a:stretch/>
        </p:blipFill>
        <p:spPr>
          <a:xfrm>
            <a:off x="1761173" y="3908318"/>
            <a:ext cx="2112849" cy="1191245"/>
          </a:xfrm>
          <a:prstGeom prst="rect">
            <a:avLst/>
          </a:prstGeom>
        </p:spPr>
      </p:pic>
      <p:pic>
        <p:nvPicPr>
          <p:cNvPr id="9" name="图片 8">
            <a:extLst>
              <a:ext uri="{FF2B5EF4-FFF2-40B4-BE49-F238E27FC236}">
                <a16:creationId xmlns:a16="http://schemas.microsoft.com/office/drawing/2014/main" id="{59B5DD50-DB5F-5842-5189-D450D1403ED8}"/>
              </a:ext>
            </a:extLst>
          </p:cNvPr>
          <p:cNvPicPr>
            <a:picLocks noChangeAspect="1"/>
          </p:cNvPicPr>
          <p:nvPr/>
        </p:nvPicPr>
        <p:blipFill rotWithShape="1">
          <a:blip r:embed="rId3"/>
          <a:srcRect t="22857" b="20762"/>
          <a:stretch/>
        </p:blipFill>
        <p:spPr>
          <a:xfrm>
            <a:off x="3874022" y="3908318"/>
            <a:ext cx="2112849" cy="1191245"/>
          </a:xfrm>
          <a:prstGeom prst="rect">
            <a:avLst/>
          </a:prstGeom>
        </p:spPr>
      </p:pic>
      <p:pic>
        <p:nvPicPr>
          <p:cNvPr id="10" name="图片 9">
            <a:extLst>
              <a:ext uri="{FF2B5EF4-FFF2-40B4-BE49-F238E27FC236}">
                <a16:creationId xmlns:a16="http://schemas.microsoft.com/office/drawing/2014/main" id="{CEC96321-C8A5-49A1-E447-469352DD7D8C}"/>
              </a:ext>
            </a:extLst>
          </p:cNvPr>
          <p:cNvPicPr>
            <a:picLocks noChangeAspect="1"/>
          </p:cNvPicPr>
          <p:nvPr/>
        </p:nvPicPr>
        <p:blipFill rotWithShape="1">
          <a:blip r:embed="rId3"/>
          <a:srcRect t="22857" b="20762"/>
          <a:stretch/>
        </p:blipFill>
        <p:spPr>
          <a:xfrm>
            <a:off x="5986871" y="3908318"/>
            <a:ext cx="2112849" cy="1191245"/>
          </a:xfrm>
          <a:prstGeom prst="rect">
            <a:avLst/>
          </a:prstGeom>
        </p:spPr>
      </p:pic>
      <p:pic>
        <p:nvPicPr>
          <p:cNvPr id="11" name="图片 10">
            <a:extLst>
              <a:ext uri="{FF2B5EF4-FFF2-40B4-BE49-F238E27FC236}">
                <a16:creationId xmlns:a16="http://schemas.microsoft.com/office/drawing/2014/main" id="{C9784AE4-720E-26EA-5E80-C74DD1F08716}"/>
              </a:ext>
            </a:extLst>
          </p:cNvPr>
          <p:cNvPicPr>
            <a:picLocks noChangeAspect="1"/>
          </p:cNvPicPr>
          <p:nvPr/>
        </p:nvPicPr>
        <p:blipFill rotWithShape="1">
          <a:blip r:embed="rId3"/>
          <a:srcRect t="22857" b="20762"/>
          <a:stretch/>
        </p:blipFill>
        <p:spPr>
          <a:xfrm>
            <a:off x="8099720" y="3908318"/>
            <a:ext cx="2112849" cy="1191245"/>
          </a:xfrm>
          <a:prstGeom prst="rect">
            <a:avLst/>
          </a:prstGeom>
        </p:spPr>
      </p:pic>
      <p:pic>
        <p:nvPicPr>
          <p:cNvPr id="13" name="图片 12">
            <a:extLst>
              <a:ext uri="{FF2B5EF4-FFF2-40B4-BE49-F238E27FC236}">
                <a16:creationId xmlns:a16="http://schemas.microsoft.com/office/drawing/2014/main" id="{04B8333C-7123-7951-F4D1-EA11D04BEEA0}"/>
              </a:ext>
            </a:extLst>
          </p:cNvPr>
          <p:cNvPicPr>
            <a:picLocks noChangeAspect="1"/>
          </p:cNvPicPr>
          <p:nvPr/>
        </p:nvPicPr>
        <p:blipFill rotWithShape="1">
          <a:blip r:embed="rId3"/>
          <a:srcRect t="22857" b="20762"/>
          <a:stretch/>
        </p:blipFill>
        <p:spPr>
          <a:xfrm>
            <a:off x="1761173" y="5099563"/>
            <a:ext cx="2112849" cy="1191245"/>
          </a:xfrm>
          <a:prstGeom prst="rect">
            <a:avLst/>
          </a:prstGeom>
        </p:spPr>
      </p:pic>
      <p:pic>
        <p:nvPicPr>
          <p:cNvPr id="14" name="图片 13">
            <a:extLst>
              <a:ext uri="{FF2B5EF4-FFF2-40B4-BE49-F238E27FC236}">
                <a16:creationId xmlns:a16="http://schemas.microsoft.com/office/drawing/2014/main" id="{3CF3E1C2-9BAE-5399-DA0B-B9047F2079E1}"/>
              </a:ext>
            </a:extLst>
          </p:cNvPr>
          <p:cNvPicPr>
            <a:picLocks noChangeAspect="1"/>
          </p:cNvPicPr>
          <p:nvPr/>
        </p:nvPicPr>
        <p:blipFill rotWithShape="1">
          <a:blip r:embed="rId3"/>
          <a:srcRect t="22857" b="20762"/>
          <a:stretch/>
        </p:blipFill>
        <p:spPr>
          <a:xfrm>
            <a:off x="3874022" y="5099563"/>
            <a:ext cx="2112849" cy="1191245"/>
          </a:xfrm>
          <a:prstGeom prst="rect">
            <a:avLst/>
          </a:prstGeom>
        </p:spPr>
      </p:pic>
      <p:pic>
        <p:nvPicPr>
          <p:cNvPr id="15" name="图片 14">
            <a:extLst>
              <a:ext uri="{FF2B5EF4-FFF2-40B4-BE49-F238E27FC236}">
                <a16:creationId xmlns:a16="http://schemas.microsoft.com/office/drawing/2014/main" id="{89A4AB3A-2A2A-3911-4090-FF76A311C622}"/>
              </a:ext>
            </a:extLst>
          </p:cNvPr>
          <p:cNvPicPr>
            <a:picLocks noChangeAspect="1"/>
          </p:cNvPicPr>
          <p:nvPr/>
        </p:nvPicPr>
        <p:blipFill rotWithShape="1">
          <a:blip r:embed="rId3"/>
          <a:srcRect t="22857" b="20762"/>
          <a:stretch/>
        </p:blipFill>
        <p:spPr>
          <a:xfrm>
            <a:off x="5986871" y="5099563"/>
            <a:ext cx="2112849" cy="1191245"/>
          </a:xfrm>
          <a:prstGeom prst="rect">
            <a:avLst/>
          </a:prstGeom>
        </p:spPr>
      </p:pic>
      <p:pic>
        <p:nvPicPr>
          <p:cNvPr id="16" name="图片 15">
            <a:extLst>
              <a:ext uri="{FF2B5EF4-FFF2-40B4-BE49-F238E27FC236}">
                <a16:creationId xmlns:a16="http://schemas.microsoft.com/office/drawing/2014/main" id="{E8A8F0DC-72D9-4BF6-D351-AF9E13AB87B4}"/>
              </a:ext>
            </a:extLst>
          </p:cNvPr>
          <p:cNvPicPr>
            <a:picLocks noChangeAspect="1"/>
          </p:cNvPicPr>
          <p:nvPr/>
        </p:nvPicPr>
        <p:blipFill rotWithShape="1">
          <a:blip r:embed="rId3"/>
          <a:srcRect t="22857" b="20762"/>
          <a:stretch/>
        </p:blipFill>
        <p:spPr>
          <a:xfrm>
            <a:off x="8099720" y="5099563"/>
            <a:ext cx="2112849" cy="1191245"/>
          </a:xfrm>
          <a:prstGeom prst="rect">
            <a:avLst/>
          </a:prstGeom>
        </p:spPr>
      </p:pic>
      <p:pic>
        <p:nvPicPr>
          <p:cNvPr id="19" name="图片 18">
            <a:extLst>
              <a:ext uri="{FF2B5EF4-FFF2-40B4-BE49-F238E27FC236}">
                <a16:creationId xmlns:a16="http://schemas.microsoft.com/office/drawing/2014/main" id="{E9A26C7A-EB90-D454-CB32-1897A3C659D6}"/>
              </a:ext>
            </a:extLst>
          </p:cNvPr>
          <p:cNvPicPr>
            <a:picLocks noChangeAspect="1"/>
          </p:cNvPicPr>
          <p:nvPr/>
        </p:nvPicPr>
        <p:blipFill rotWithShape="1">
          <a:blip r:embed="rId4"/>
          <a:srcRect l="8159" t="27619" r="8413" b="29714"/>
          <a:stretch/>
        </p:blipFill>
        <p:spPr>
          <a:xfrm>
            <a:off x="4692626" y="1170197"/>
            <a:ext cx="2112849" cy="1080544"/>
          </a:xfrm>
          <a:prstGeom prst="rect">
            <a:avLst/>
          </a:prstGeom>
        </p:spPr>
      </p:pic>
      <p:sp>
        <p:nvSpPr>
          <p:cNvPr id="3" name="文本框 2">
            <a:extLst>
              <a:ext uri="{FF2B5EF4-FFF2-40B4-BE49-F238E27FC236}">
                <a16:creationId xmlns:a16="http://schemas.microsoft.com/office/drawing/2014/main" id="{E7196D08-CF89-1862-23FD-9796DB93BCB5}"/>
              </a:ext>
            </a:extLst>
          </p:cNvPr>
          <p:cNvSpPr txBox="1"/>
          <p:nvPr/>
        </p:nvSpPr>
        <p:spPr>
          <a:xfrm>
            <a:off x="1761173" y="3613759"/>
            <a:ext cx="1808091" cy="369332"/>
          </a:xfrm>
          <a:prstGeom prst="rect">
            <a:avLst/>
          </a:prstGeom>
          <a:noFill/>
        </p:spPr>
        <p:txBody>
          <a:bodyPr wrap="square">
            <a:spAutoFit/>
          </a:bodyPr>
          <a:lstStyle/>
          <a:p>
            <a:r>
              <a:rPr lang="en-US" altLang="zh-CN" b="1" dirty="0">
                <a:solidFill>
                  <a:schemeClr val="accent6">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192.168.1.10</a:t>
            </a:r>
            <a:endParaRPr lang="zh-CN" altLang="en-US" dirty="0">
              <a:solidFill>
                <a:schemeClr val="accent6">
                  <a:lumMod val="75000"/>
                </a:schemeClr>
              </a:solidFill>
              <a:latin typeface="Consolas" panose="020B0609020204030204" pitchFamily="49" charset="0"/>
            </a:endParaRPr>
          </a:p>
        </p:txBody>
      </p:sp>
      <p:sp>
        <p:nvSpPr>
          <p:cNvPr id="12" name="文本框 11">
            <a:extLst>
              <a:ext uri="{FF2B5EF4-FFF2-40B4-BE49-F238E27FC236}">
                <a16:creationId xmlns:a16="http://schemas.microsoft.com/office/drawing/2014/main" id="{49968BEA-2D3B-82BB-84B0-A4D11BD81F1B}"/>
              </a:ext>
            </a:extLst>
          </p:cNvPr>
          <p:cNvSpPr txBox="1"/>
          <p:nvPr/>
        </p:nvSpPr>
        <p:spPr>
          <a:xfrm>
            <a:off x="3874022" y="3613759"/>
            <a:ext cx="1808091" cy="369332"/>
          </a:xfrm>
          <a:prstGeom prst="rect">
            <a:avLst/>
          </a:prstGeom>
          <a:noFill/>
        </p:spPr>
        <p:txBody>
          <a:bodyPr wrap="square">
            <a:spAutoFit/>
          </a:bodyPr>
          <a:lstStyle/>
          <a:p>
            <a:r>
              <a:rPr lang="en-US" altLang="zh-CN" b="1" dirty="0">
                <a:solidFill>
                  <a:schemeClr val="accent6">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192.168.1.21</a:t>
            </a:r>
            <a:endParaRPr lang="zh-CN" altLang="en-US" dirty="0">
              <a:solidFill>
                <a:schemeClr val="accent6">
                  <a:lumMod val="75000"/>
                </a:schemeClr>
              </a:solidFill>
              <a:latin typeface="Consolas" panose="020B0609020204030204" pitchFamily="49" charset="0"/>
            </a:endParaRPr>
          </a:p>
        </p:txBody>
      </p:sp>
      <p:sp>
        <p:nvSpPr>
          <p:cNvPr id="17" name="文本框 16">
            <a:extLst>
              <a:ext uri="{FF2B5EF4-FFF2-40B4-BE49-F238E27FC236}">
                <a16:creationId xmlns:a16="http://schemas.microsoft.com/office/drawing/2014/main" id="{BBBFAF18-FFBB-A925-C992-7D27EBFE1427}"/>
              </a:ext>
            </a:extLst>
          </p:cNvPr>
          <p:cNvSpPr txBox="1"/>
          <p:nvPr/>
        </p:nvSpPr>
        <p:spPr>
          <a:xfrm>
            <a:off x="5978202" y="3613759"/>
            <a:ext cx="1808091" cy="369332"/>
          </a:xfrm>
          <a:prstGeom prst="rect">
            <a:avLst/>
          </a:prstGeom>
          <a:noFill/>
        </p:spPr>
        <p:txBody>
          <a:bodyPr wrap="square">
            <a:spAutoFit/>
          </a:bodyPr>
          <a:lstStyle/>
          <a:p>
            <a:r>
              <a:rPr lang="en-US" altLang="zh-CN" b="1" dirty="0">
                <a:solidFill>
                  <a:schemeClr val="accent6">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192.168.1.32</a:t>
            </a:r>
            <a:endParaRPr lang="zh-CN" altLang="en-US" dirty="0">
              <a:solidFill>
                <a:schemeClr val="accent6">
                  <a:lumMod val="75000"/>
                </a:schemeClr>
              </a:solidFill>
              <a:latin typeface="Consolas" panose="020B0609020204030204" pitchFamily="49" charset="0"/>
            </a:endParaRPr>
          </a:p>
        </p:txBody>
      </p:sp>
      <p:sp>
        <p:nvSpPr>
          <p:cNvPr id="22" name="文本框 21">
            <a:extLst>
              <a:ext uri="{FF2B5EF4-FFF2-40B4-BE49-F238E27FC236}">
                <a16:creationId xmlns:a16="http://schemas.microsoft.com/office/drawing/2014/main" id="{35D49159-1B8F-3BC1-4E37-B4C9ECCF5D76}"/>
              </a:ext>
            </a:extLst>
          </p:cNvPr>
          <p:cNvSpPr txBox="1"/>
          <p:nvPr/>
        </p:nvSpPr>
        <p:spPr>
          <a:xfrm>
            <a:off x="8099720" y="3613759"/>
            <a:ext cx="1808091" cy="369332"/>
          </a:xfrm>
          <a:prstGeom prst="rect">
            <a:avLst/>
          </a:prstGeom>
          <a:noFill/>
        </p:spPr>
        <p:txBody>
          <a:bodyPr wrap="square">
            <a:spAutoFit/>
          </a:bodyPr>
          <a:lstStyle/>
          <a:p>
            <a:r>
              <a:rPr lang="en-US" altLang="zh-CN" b="1" dirty="0">
                <a:solidFill>
                  <a:schemeClr val="accent6">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192.168.1.33</a:t>
            </a:r>
            <a:endParaRPr lang="zh-CN" altLang="en-US" dirty="0">
              <a:solidFill>
                <a:schemeClr val="accent6">
                  <a:lumMod val="75000"/>
                </a:schemeClr>
              </a:solidFill>
              <a:latin typeface="Consolas" panose="020B0609020204030204" pitchFamily="49" charset="0"/>
            </a:endParaRPr>
          </a:p>
        </p:txBody>
      </p:sp>
      <p:sp>
        <p:nvSpPr>
          <p:cNvPr id="23" name="文本框 22">
            <a:extLst>
              <a:ext uri="{FF2B5EF4-FFF2-40B4-BE49-F238E27FC236}">
                <a16:creationId xmlns:a16="http://schemas.microsoft.com/office/drawing/2014/main" id="{FD5F51C5-7543-C258-CEE6-ABF4ABCD47CC}"/>
              </a:ext>
            </a:extLst>
          </p:cNvPr>
          <p:cNvSpPr txBox="1"/>
          <p:nvPr/>
        </p:nvSpPr>
        <p:spPr>
          <a:xfrm>
            <a:off x="1736300" y="4805004"/>
            <a:ext cx="1808091" cy="369332"/>
          </a:xfrm>
          <a:prstGeom prst="rect">
            <a:avLst/>
          </a:prstGeom>
          <a:noFill/>
        </p:spPr>
        <p:txBody>
          <a:bodyPr wrap="square">
            <a:spAutoFit/>
          </a:bodyPr>
          <a:lstStyle/>
          <a:p>
            <a:r>
              <a:rPr lang="en-US" altLang="zh-CN" b="1" dirty="0">
                <a:solidFill>
                  <a:schemeClr val="accent6">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192.168.1.20</a:t>
            </a:r>
            <a:endParaRPr lang="zh-CN" altLang="en-US" dirty="0">
              <a:solidFill>
                <a:schemeClr val="accent6">
                  <a:lumMod val="75000"/>
                </a:schemeClr>
              </a:solidFill>
              <a:latin typeface="Consolas" panose="020B0609020204030204" pitchFamily="49" charset="0"/>
            </a:endParaRPr>
          </a:p>
        </p:txBody>
      </p:sp>
      <p:sp>
        <p:nvSpPr>
          <p:cNvPr id="24" name="文本框 23">
            <a:extLst>
              <a:ext uri="{FF2B5EF4-FFF2-40B4-BE49-F238E27FC236}">
                <a16:creationId xmlns:a16="http://schemas.microsoft.com/office/drawing/2014/main" id="{8E1F39F6-94AC-39B3-C8B5-A1319A876001}"/>
              </a:ext>
            </a:extLst>
          </p:cNvPr>
          <p:cNvSpPr txBox="1"/>
          <p:nvPr/>
        </p:nvSpPr>
        <p:spPr>
          <a:xfrm>
            <a:off x="3849149" y="4805004"/>
            <a:ext cx="1808091" cy="369332"/>
          </a:xfrm>
          <a:prstGeom prst="rect">
            <a:avLst/>
          </a:prstGeom>
          <a:noFill/>
        </p:spPr>
        <p:txBody>
          <a:bodyPr wrap="square">
            <a:spAutoFit/>
          </a:bodyPr>
          <a:lstStyle/>
          <a:p>
            <a:r>
              <a:rPr lang="en-US" altLang="zh-CN" b="1" dirty="0">
                <a:solidFill>
                  <a:schemeClr val="accent6">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192.168.1.31</a:t>
            </a:r>
            <a:endParaRPr lang="zh-CN" altLang="en-US" dirty="0">
              <a:solidFill>
                <a:schemeClr val="accent6">
                  <a:lumMod val="75000"/>
                </a:schemeClr>
              </a:solidFill>
              <a:latin typeface="Consolas" panose="020B0609020204030204" pitchFamily="49" charset="0"/>
            </a:endParaRPr>
          </a:p>
        </p:txBody>
      </p:sp>
      <p:sp>
        <p:nvSpPr>
          <p:cNvPr id="25" name="文本框 24">
            <a:extLst>
              <a:ext uri="{FF2B5EF4-FFF2-40B4-BE49-F238E27FC236}">
                <a16:creationId xmlns:a16="http://schemas.microsoft.com/office/drawing/2014/main" id="{7CCEC4D1-EDA9-ADB0-F6C1-D92C48453BE6}"/>
              </a:ext>
            </a:extLst>
          </p:cNvPr>
          <p:cNvSpPr txBox="1"/>
          <p:nvPr/>
        </p:nvSpPr>
        <p:spPr>
          <a:xfrm>
            <a:off x="5953329" y="4805004"/>
            <a:ext cx="1808091" cy="369332"/>
          </a:xfrm>
          <a:prstGeom prst="rect">
            <a:avLst/>
          </a:prstGeom>
          <a:noFill/>
        </p:spPr>
        <p:txBody>
          <a:bodyPr wrap="square">
            <a:spAutoFit/>
          </a:bodyPr>
          <a:lstStyle/>
          <a:p>
            <a:r>
              <a:rPr lang="en-US" altLang="zh-CN" b="1" dirty="0">
                <a:solidFill>
                  <a:schemeClr val="accent6">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192.168.1.42</a:t>
            </a:r>
            <a:endParaRPr lang="zh-CN" altLang="en-US" dirty="0">
              <a:solidFill>
                <a:schemeClr val="accent6">
                  <a:lumMod val="75000"/>
                </a:schemeClr>
              </a:solidFill>
              <a:latin typeface="Consolas" panose="020B0609020204030204" pitchFamily="49" charset="0"/>
            </a:endParaRPr>
          </a:p>
        </p:txBody>
      </p:sp>
      <p:sp>
        <p:nvSpPr>
          <p:cNvPr id="26" name="文本框 25">
            <a:extLst>
              <a:ext uri="{FF2B5EF4-FFF2-40B4-BE49-F238E27FC236}">
                <a16:creationId xmlns:a16="http://schemas.microsoft.com/office/drawing/2014/main" id="{F202504C-F064-A1C8-A0D5-0BFB72B6D6C6}"/>
              </a:ext>
            </a:extLst>
          </p:cNvPr>
          <p:cNvSpPr txBox="1"/>
          <p:nvPr/>
        </p:nvSpPr>
        <p:spPr>
          <a:xfrm>
            <a:off x="8074847" y="4805004"/>
            <a:ext cx="1808091" cy="369332"/>
          </a:xfrm>
          <a:prstGeom prst="rect">
            <a:avLst/>
          </a:prstGeom>
          <a:noFill/>
        </p:spPr>
        <p:txBody>
          <a:bodyPr wrap="square">
            <a:spAutoFit/>
          </a:bodyPr>
          <a:lstStyle/>
          <a:p>
            <a:r>
              <a:rPr lang="en-US" altLang="zh-CN" b="1" dirty="0">
                <a:solidFill>
                  <a:schemeClr val="accent6">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192.168.1.53</a:t>
            </a:r>
            <a:endParaRPr lang="zh-CN" altLang="en-US" dirty="0">
              <a:solidFill>
                <a:schemeClr val="accent6">
                  <a:lumMod val="75000"/>
                </a:schemeClr>
              </a:solidFill>
              <a:latin typeface="Consolas" panose="020B0609020204030204" pitchFamily="49" charset="0"/>
            </a:endParaRPr>
          </a:p>
        </p:txBody>
      </p:sp>
      <p:sp>
        <p:nvSpPr>
          <p:cNvPr id="27" name="文本框 26">
            <a:extLst>
              <a:ext uri="{FF2B5EF4-FFF2-40B4-BE49-F238E27FC236}">
                <a16:creationId xmlns:a16="http://schemas.microsoft.com/office/drawing/2014/main" id="{E21FA48C-8D60-1961-657B-5505C6809FBA}"/>
              </a:ext>
            </a:extLst>
          </p:cNvPr>
          <p:cNvSpPr txBox="1"/>
          <p:nvPr/>
        </p:nvSpPr>
        <p:spPr>
          <a:xfrm>
            <a:off x="1761173" y="6045074"/>
            <a:ext cx="1808091" cy="369332"/>
          </a:xfrm>
          <a:prstGeom prst="rect">
            <a:avLst/>
          </a:prstGeom>
          <a:noFill/>
        </p:spPr>
        <p:txBody>
          <a:bodyPr wrap="square">
            <a:spAutoFit/>
          </a:bodyPr>
          <a:lstStyle/>
          <a:p>
            <a:r>
              <a:rPr lang="en-US" altLang="zh-CN" b="1" dirty="0">
                <a:solidFill>
                  <a:schemeClr val="accent6">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192.168.1.30</a:t>
            </a:r>
            <a:endParaRPr lang="zh-CN" altLang="en-US" dirty="0">
              <a:solidFill>
                <a:schemeClr val="accent6">
                  <a:lumMod val="75000"/>
                </a:schemeClr>
              </a:solidFill>
              <a:latin typeface="Consolas" panose="020B0609020204030204" pitchFamily="49" charset="0"/>
            </a:endParaRPr>
          </a:p>
        </p:txBody>
      </p:sp>
      <p:sp>
        <p:nvSpPr>
          <p:cNvPr id="28" name="文本框 27">
            <a:extLst>
              <a:ext uri="{FF2B5EF4-FFF2-40B4-BE49-F238E27FC236}">
                <a16:creationId xmlns:a16="http://schemas.microsoft.com/office/drawing/2014/main" id="{01EED41E-196F-0944-D594-9F2A615C4CAD}"/>
              </a:ext>
            </a:extLst>
          </p:cNvPr>
          <p:cNvSpPr txBox="1"/>
          <p:nvPr/>
        </p:nvSpPr>
        <p:spPr>
          <a:xfrm>
            <a:off x="3874022" y="6045074"/>
            <a:ext cx="1808091" cy="369332"/>
          </a:xfrm>
          <a:prstGeom prst="rect">
            <a:avLst/>
          </a:prstGeom>
          <a:noFill/>
        </p:spPr>
        <p:txBody>
          <a:bodyPr wrap="square">
            <a:spAutoFit/>
          </a:bodyPr>
          <a:lstStyle/>
          <a:p>
            <a:r>
              <a:rPr lang="en-US" altLang="zh-CN" b="1" dirty="0">
                <a:solidFill>
                  <a:schemeClr val="accent6">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192.168.1.41</a:t>
            </a:r>
            <a:endParaRPr lang="zh-CN" altLang="en-US" dirty="0">
              <a:solidFill>
                <a:schemeClr val="accent6">
                  <a:lumMod val="75000"/>
                </a:schemeClr>
              </a:solidFill>
              <a:latin typeface="Consolas" panose="020B0609020204030204" pitchFamily="49" charset="0"/>
            </a:endParaRPr>
          </a:p>
        </p:txBody>
      </p:sp>
      <p:sp>
        <p:nvSpPr>
          <p:cNvPr id="29" name="文本框 28">
            <a:extLst>
              <a:ext uri="{FF2B5EF4-FFF2-40B4-BE49-F238E27FC236}">
                <a16:creationId xmlns:a16="http://schemas.microsoft.com/office/drawing/2014/main" id="{F19CCF01-9AFD-BEE9-4F24-FB84BBBAF85B}"/>
              </a:ext>
            </a:extLst>
          </p:cNvPr>
          <p:cNvSpPr txBox="1"/>
          <p:nvPr/>
        </p:nvSpPr>
        <p:spPr>
          <a:xfrm>
            <a:off x="5978202" y="6045074"/>
            <a:ext cx="1808091" cy="369332"/>
          </a:xfrm>
          <a:prstGeom prst="rect">
            <a:avLst/>
          </a:prstGeom>
          <a:noFill/>
        </p:spPr>
        <p:txBody>
          <a:bodyPr wrap="square">
            <a:spAutoFit/>
          </a:bodyPr>
          <a:lstStyle/>
          <a:p>
            <a:r>
              <a:rPr lang="en-US" altLang="zh-CN" b="1" dirty="0">
                <a:solidFill>
                  <a:schemeClr val="accent6">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192.168.1.52</a:t>
            </a:r>
            <a:endParaRPr lang="zh-CN" altLang="en-US" dirty="0">
              <a:solidFill>
                <a:schemeClr val="accent6">
                  <a:lumMod val="75000"/>
                </a:schemeClr>
              </a:solidFill>
              <a:latin typeface="Consolas" panose="020B0609020204030204" pitchFamily="49" charset="0"/>
            </a:endParaRPr>
          </a:p>
        </p:txBody>
      </p:sp>
      <p:sp>
        <p:nvSpPr>
          <p:cNvPr id="30" name="文本框 29">
            <a:extLst>
              <a:ext uri="{FF2B5EF4-FFF2-40B4-BE49-F238E27FC236}">
                <a16:creationId xmlns:a16="http://schemas.microsoft.com/office/drawing/2014/main" id="{0B2DB699-8C05-D37F-836D-3E7D2866BB22}"/>
              </a:ext>
            </a:extLst>
          </p:cNvPr>
          <p:cNvSpPr txBox="1"/>
          <p:nvPr/>
        </p:nvSpPr>
        <p:spPr>
          <a:xfrm>
            <a:off x="8099720" y="6045074"/>
            <a:ext cx="1808091" cy="369332"/>
          </a:xfrm>
          <a:prstGeom prst="rect">
            <a:avLst/>
          </a:prstGeom>
          <a:noFill/>
        </p:spPr>
        <p:txBody>
          <a:bodyPr wrap="square">
            <a:spAutoFit/>
          </a:bodyPr>
          <a:lstStyle/>
          <a:p>
            <a:r>
              <a:rPr lang="en-US" altLang="zh-CN" b="1" dirty="0">
                <a:solidFill>
                  <a:schemeClr val="accent6">
                    <a:lumMod val="75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192.168.1.63</a:t>
            </a:r>
            <a:endParaRPr lang="zh-CN" altLang="en-US" dirty="0">
              <a:solidFill>
                <a:schemeClr val="accent6">
                  <a:lumMod val="75000"/>
                </a:schemeClr>
              </a:solidFill>
              <a:latin typeface="Consolas" panose="020B0609020204030204" pitchFamily="49" charset="0"/>
            </a:endParaRPr>
          </a:p>
        </p:txBody>
      </p:sp>
      <p:sp>
        <p:nvSpPr>
          <p:cNvPr id="31" name="文本框 30">
            <a:extLst>
              <a:ext uri="{FF2B5EF4-FFF2-40B4-BE49-F238E27FC236}">
                <a16:creationId xmlns:a16="http://schemas.microsoft.com/office/drawing/2014/main" id="{0CE756CB-A51B-703A-A813-3C833F5CE96F}"/>
              </a:ext>
            </a:extLst>
          </p:cNvPr>
          <p:cNvSpPr txBox="1"/>
          <p:nvPr/>
        </p:nvSpPr>
        <p:spPr>
          <a:xfrm>
            <a:off x="6857374" y="1314332"/>
            <a:ext cx="1808091" cy="369332"/>
          </a:xfrm>
          <a:prstGeom prst="rect">
            <a:avLst/>
          </a:prstGeom>
          <a:noFill/>
        </p:spPr>
        <p:txBody>
          <a:bodyPr wrap="square">
            <a:spAutoFit/>
          </a:bodyPr>
          <a:lstStyle/>
          <a:p>
            <a:r>
              <a:rPr lang="zh-CN" altLang="en-US"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公网 </a:t>
            </a:r>
            <a:r>
              <a:rPr lang="en-US" altLang="zh-CN"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IP</a:t>
            </a:r>
            <a:endParaRPr lang="zh-CN" altLang="en-US" dirty="0">
              <a:solidFill>
                <a:srgbClr val="C00000"/>
              </a:solidFill>
              <a:latin typeface="Consolas" panose="020B0609020204030204" pitchFamily="49" charset="0"/>
            </a:endParaRPr>
          </a:p>
        </p:txBody>
      </p:sp>
      <p:sp>
        <p:nvSpPr>
          <p:cNvPr id="2" name="标题 1">
            <a:extLst>
              <a:ext uri="{FF2B5EF4-FFF2-40B4-BE49-F238E27FC236}">
                <a16:creationId xmlns:a16="http://schemas.microsoft.com/office/drawing/2014/main" id="{53853B02-9509-B01B-5B20-A0B4AB5C1D12}"/>
              </a:ext>
            </a:extLst>
          </p:cNvPr>
          <p:cNvSpPr>
            <a:spLocks noGrp="1"/>
          </p:cNvSpPr>
          <p:nvPr>
            <p:ph type="title"/>
          </p:nvPr>
        </p:nvSpPr>
        <p:spPr/>
        <p:txBody>
          <a:bodyPr/>
          <a:lstStyle/>
          <a:p>
            <a:r>
              <a:rPr lang="en-US" altLang="zh-CN" dirty="0"/>
              <a:t>IPv4 </a:t>
            </a:r>
            <a:r>
              <a:rPr lang="zh-CN" altLang="en-US" dirty="0"/>
              <a:t>的地址分类形式</a:t>
            </a:r>
          </a:p>
        </p:txBody>
      </p:sp>
    </p:spTree>
    <p:extLst>
      <p:ext uri="{BB962C8B-B14F-4D97-AF65-F5344CB8AC3E}">
        <p14:creationId xmlns:p14="http://schemas.microsoft.com/office/powerpoint/2010/main" val="246555782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p:tgtEl>
                                          <p:spTgt spid="31"/>
                                        </p:tgtEl>
                                        <p:attrNameLst>
                                          <p:attrName>ppt_x</p:attrName>
                                        </p:attrNameLst>
                                      </p:cBhvr>
                                      <p:tavLst>
                                        <p:tav tm="0">
                                          <p:val>
                                            <p:strVal val="#ppt_x-#ppt_w*1.125000"/>
                                          </p:val>
                                        </p:tav>
                                        <p:tav tm="100000">
                                          <p:val>
                                            <p:strVal val="#ppt_x"/>
                                          </p:val>
                                        </p:tav>
                                      </p:tavLst>
                                    </p:anim>
                                    <p:animEffect transition="in" filter="wipe(right)">
                                      <p:cBhvr>
                                        <p:cTn id="8" dur="500"/>
                                        <p:tgtEl>
                                          <p:spTgt spid="31"/>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1"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p:tgtEl>
                                          <p:spTgt spid="3"/>
                                        </p:tgtEl>
                                        <p:attrNameLst>
                                          <p:attrName>ppt_y</p:attrName>
                                        </p:attrNameLst>
                                      </p:cBhvr>
                                      <p:tavLst>
                                        <p:tav tm="0">
                                          <p:val>
                                            <p:strVal val="#ppt_y-#ppt_h*1.125000"/>
                                          </p:val>
                                        </p:tav>
                                        <p:tav tm="100000">
                                          <p:val>
                                            <p:strVal val="#ppt_y"/>
                                          </p:val>
                                        </p:tav>
                                      </p:tavLst>
                                    </p:anim>
                                    <p:animEffect transition="in" filter="wipe(down)">
                                      <p:cBhvr>
                                        <p:cTn id="14" dur="500"/>
                                        <p:tgtEl>
                                          <p:spTgt spid="3"/>
                                        </p:tgtEl>
                                      </p:cBhvr>
                                    </p:animEffect>
                                  </p:childTnLst>
                                </p:cTn>
                              </p:par>
                              <p:par>
                                <p:cTn id="15" presetID="12" presetClass="entr" presetSubtype="1"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p:tgtEl>
                                          <p:spTgt spid="12"/>
                                        </p:tgtEl>
                                        <p:attrNameLst>
                                          <p:attrName>ppt_y</p:attrName>
                                        </p:attrNameLst>
                                      </p:cBhvr>
                                      <p:tavLst>
                                        <p:tav tm="0">
                                          <p:val>
                                            <p:strVal val="#ppt_y-#ppt_h*1.125000"/>
                                          </p:val>
                                        </p:tav>
                                        <p:tav tm="100000">
                                          <p:val>
                                            <p:strVal val="#ppt_y"/>
                                          </p:val>
                                        </p:tav>
                                      </p:tavLst>
                                    </p:anim>
                                    <p:animEffect transition="in" filter="wipe(down)">
                                      <p:cBhvr>
                                        <p:cTn id="18" dur="500"/>
                                        <p:tgtEl>
                                          <p:spTgt spid="12"/>
                                        </p:tgtEl>
                                      </p:cBhvr>
                                    </p:animEffect>
                                  </p:childTnLst>
                                </p:cTn>
                              </p:par>
                              <p:par>
                                <p:cTn id="19" presetID="12" presetClass="entr" presetSubtype="1"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p:tgtEl>
                                          <p:spTgt spid="17"/>
                                        </p:tgtEl>
                                        <p:attrNameLst>
                                          <p:attrName>ppt_y</p:attrName>
                                        </p:attrNameLst>
                                      </p:cBhvr>
                                      <p:tavLst>
                                        <p:tav tm="0">
                                          <p:val>
                                            <p:strVal val="#ppt_y-#ppt_h*1.125000"/>
                                          </p:val>
                                        </p:tav>
                                        <p:tav tm="100000">
                                          <p:val>
                                            <p:strVal val="#ppt_y"/>
                                          </p:val>
                                        </p:tav>
                                      </p:tavLst>
                                    </p:anim>
                                    <p:animEffect transition="in" filter="wipe(down)">
                                      <p:cBhvr>
                                        <p:cTn id="22" dur="500"/>
                                        <p:tgtEl>
                                          <p:spTgt spid="17"/>
                                        </p:tgtEl>
                                      </p:cBhvr>
                                    </p:animEffect>
                                  </p:childTnLst>
                                </p:cTn>
                              </p:par>
                              <p:par>
                                <p:cTn id="23" presetID="12" presetClass="entr" presetSubtype="1"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p:tgtEl>
                                          <p:spTgt spid="22"/>
                                        </p:tgtEl>
                                        <p:attrNameLst>
                                          <p:attrName>ppt_y</p:attrName>
                                        </p:attrNameLst>
                                      </p:cBhvr>
                                      <p:tavLst>
                                        <p:tav tm="0">
                                          <p:val>
                                            <p:strVal val="#ppt_y-#ppt_h*1.125000"/>
                                          </p:val>
                                        </p:tav>
                                        <p:tav tm="100000">
                                          <p:val>
                                            <p:strVal val="#ppt_y"/>
                                          </p:val>
                                        </p:tav>
                                      </p:tavLst>
                                    </p:anim>
                                    <p:animEffect transition="in" filter="wipe(down)">
                                      <p:cBhvr>
                                        <p:cTn id="26" dur="500"/>
                                        <p:tgtEl>
                                          <p:spTgt spid="22"/>
                                        </p:tgtEl>
                                      </p:cBhvr>
                                    </p:animEffect>
                                  </p:childTnLst>
                                </p:cTn>
                              </p:par>
                              <p:par>
                                <p:cTn id="27" presetID="12" presetClass="entr" presetSubtype="1"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p:tgtEl>
                                          <p:spTgt spid="23"/>
                                        </p:tgtEl>
                                        <p:attrNameLst>
                                          <p:attrName>ppt_y</p:attrName>
                                        </p:attrNameLst>
                                      </p:cBhvr>
                                      <p:tavLst>
                                        <p:tav tm="0">
                                          <p:val>
                                            <p:strVal val="#ppt_y-#ppt_h*1.125000"/>
                                          </p:val>
                                        </p:tav>
                                        <p:tav tm="100000">
                                          <p:val>
                                            <p:strVal val="#ppt_y"/>
                                          </p:val>
                                        </p:tav>
                                      </p:tavLst>
                                    </p:anim>
                                    <p:animEffect transition="in" filter="wipe(down)">
                                      <p:cBhvr>
                                        <p:cTn id="30" dur="500"/>
                                        <p:tgtEl>
                                          <p:spTgt spid="23"/>
                                        </p:tgtEl>
                                      </p:cBhvr>
                                    </p:animEffect>
                                  </p:childTnLst>
                                </p:cTn>
                              </p:par>
                              <p:par>
                                <p:cTn id="31" presetID="12" presetClass="entr" presetSubtype="1"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500"/>
                                        <p:tgtEl>
                                          <p:spTgt spid="24"/>
                                        </p:tgtEl>
                                        <p:attrNameLst>
                                          <p:attrName>ppt_y</p:attrName>
                                        </p:attrNameLst>
                                      </p:cBhvr>
                                      <p:tavLst>
                                        <p:tav tm="0">
                                          <p:val>
                                            <p:strVal val="#ppt_y-#ppt_h*1.125000"/>
                                          </p:val>
                                        </p:tav>
                                        <p:tav tm="100000">
                                          <p:val>
                                            <p:strVal val="#ppt_y"/>
                                          </p:val>
                                        </p:tav>
                                      </p:tavLst>
                                    </p:anim>
                                    <p:animEffect transition="in" filter="wipe(down)">
                                      <p:cBhvr>
                                        <p:cTn id="34" dur="500"/>
                                        <p:tgtEl>
                                          <p:spTgt spid="24"/>
                                        </p:tgtEl>
                                      </p:cBhvr>
                                    </p:animEffect>
                                  </p:childTnLst>
                                </p:cTn>
                              </p:par>
                              <p:par>
                                <p:cTn id="35" presetID="12" presetClass="entr" presetSubtype="1"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additive="base">
                                        <p:cTn id="37" dur="500"/>
                                        <p:tgtEl>
                                          <p:spTgt spid="25"/>
                                        </p:tgtEl>
                                        <p:attrNameLst>
                                          <p:attrName>ppt_y</p:attrName>
                                        </p:attrNameLst>
                                      </p:cBhvr>
                                      <p:tavLst>
                                        <p:tav tm="0">
                                          <p:val>
                                            <p:strVal val="#ppt_y-#ppt_h*1.125000"/>
                                          </p:val>
                                        </p:tav>
                                        <p:tav tm="100000">
                                          <p:val>
                                            <p:strVal val="#ppt_y"/>
                                          </p:val>
                                        </p:tav>
                                      </p:tavLst>
                                    </p:anim>
                                    <p:animEffect transition="in" filter="wipe(down)">
                                      <p:cBhvr>
                                        <p:cTn id="38" dur="500"/>
                                        <p:tgtEl>
                                          <p:spTgt spid="25"/>
                                        </p:tgtEl>
                                      </p:cBhvr>
                                    </p:animEffect>
                                  </p:childTnLst>
                                </p:cTn>
                              </p:par>
                              <p:par>
                                <p:cTn id="39" presetID="12" presetClass="entr" presetSubtype="1"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anim calcmode="lin" valueType="num">
                                      <p:cBhvr additive="base">
                                        <p:cTn id="41" dur="500"/>
                                        <p:tgtEl>
                                          <p:spTgt spid="26"/>
                                        </p:tgtEl>
                                        <p:attrNameLst>
                                          <p:attrName>ppt_y</p:attrName>
                                        </p:attrNameLst>
                                      </p:cBhvr>
                                      <p:tavLst>
                                        <p:tav tm="0">
                                          <p:val>
                                            <p:strVal val="#ppt_y-#ppt_h*1.125000"/>
                                          </p:val>
                                        </p:tav>
                                        <p:tav tm="100000">
                                          <p:val>
                                            <p:strVal val="#ppt_y"/>
                                          </p:val>
                                        </p:tav>
                                      </p:tavLst>
                                    </p:anim>
                                    <p:animEffect transition="in" filter="wipe(down)">
                                      <p:cBhvr>
                                        <p:cTn id="42" dur="500"/>
                                        <p:tgtEl>
                                          <p:spTgt spid="26"/>
                                        </p:tgtEl>
                                      </p:cBhvr>
                                    </p:animEffect>
                                  </p:childTnLst>
                                </p:cTn>
                              </p:par>
                              <p:par>
                                <p:cTn id="43" presetID="12" presetClass="entr" presetSubtype="1"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anim calcmode="lin" valueType="num">
                                      <p:cBhvr additive="base">
                                        <p:cTn id="45" dur="500"/>
                                        <p:tgtEl>
                                          <p:spTgt spid="27"/>
                                        </p:tgtEl>
                                        <p:attrNameLst>
                                          <p:attrName>ppt_y</p:attrName>
                                        </p:attrNameLst>
                                      </p:cBhvr>
                                      <p:tavLst>
                                        <p:tav tm="0">
                                          <p:val>
                                            <p:strVal val="#ppt_y-#ppt_h*1.125000"/>
                                          </p:val>
                                        </p:tav>
                                        <p:tav tm="100000">
                                          <p:val>
                                            <p:strVal val="#ppt_y"/>
                                          </p:val>
                                        </p:tav>
                                      </p:tavLst>
                                    </p:anim>
                                    <p:animEffect transition="in" filter="wipe(down)">
                                      <p:cBhvr>
                                        <p:cTn id="46" dur="500"/>
                                        <p:tgtEl>
                                          <p:spTgt spid="27"/>
                                        </p:tgtEl>
                                      </p:cBhvr>
                                    </p:animEffect>
                                  </p:childTnLst>
                                </p:cTn>
                              </p:par>
                              <p:par>
                                <p:cTn id="47" presetID="12" presetClass="entr" presetSubtype="1"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anim calcmode="lin" valueType="num">
                                      <p:cBhvr additive="base">
                                        <p:cTn id="49" dur="500"/>
                                        <p:tgtEl>
                                          <p:spTgt spid="28"/>
                                        </p:tgtEl>
                                        <p:attrNameLst>
                                          <p:attrName>ppt_y</p:attrName>
                                        </p:attrNameLst>
                                      </p:cBhvr>
                                      <p:tavLst>
                                        <p:tav tm="0">
                                          <p:val>
                                            <p:strVal val="#ppt_y-#ppt_h*1.125000"/>
                                          </p:val>
                                        </p:tav>
                                        <p:tav tm="100000">
                                          <p:val>
                                            <p:strVal val="#ppt_y"/>
                                          </p:val>
                                        </p:tav>
                                      </p:tavLst>
                                    </p:anim>
                                    <p:animEffect transition="in" filter="wipe(down)">
                                      <p:cBhvr>
                                        <p:cTn id="50" dur="500"/>
                                        <p:tgtEl>
                                          <p:spTgt spid="28"/>
                                        </p:tgtEl>
                                      </p:cBhvr>
                                    </p:animEffect>
                                  </p:childTnLst>
                                </p:cTn>
                              </p:par>
                              <p:par>
                                <p:cTn id="51" presetID="12" presetClass="entr" presetSubtype="1"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 calcmode="lin" valueType="num">
                                      <p:cBhvr additive="base">
                                        <p:cTn id="53" dur="500"/>
                                        <p:tgtEl>
                                          <p:spTgt spid="29"/>
                                        </p:tgtEl>
                                        <p:attrNameLst>
                                          <p:attrName>ppt_y</p:attrName>
                                        </p:attrNameLst>
                                      </p:cBhvr>
                                      <p:tavLst>
                                        <p:tav tm="0">
                                          <p:val>
                                            <p:strVal val="#ppt_y-#ppt_h*1.125000"/>
                                          </p:val>
                                        </p:tav>
                                        <p:tav tm="100000">
                                          <p:val>
                                            <p:strVal val="#ppt_y"/>
                                          </p:val>
                                        </p:tav>
                                      </p:tavLst>
                                    </p:anim>
                                    <p:animEffect transition="in" filter="wipe(down)">
                                      <p:cBhvr>
                                        <p:cTn id="54" dur="500"/>
                                        <p:tgtEl>
                                          <p:spTgt spid="29"/>
                                        </p:tgtEl>
                                      </p:cBhvr>
                                    </p:animEffect>
                                  </p:childTnLst>
                                </p:cTn>
                              </p:par>
                              <p:par>
                                <p:cTn id="55" presetID="12" presetClass="entr" presetSubtype="1" fill="hold" grpId="0" nodeType="withEffect">
                                  <p:stCondLst>
                                    <p:cond delay="0"/>
                                  </p:stCondLst>
                                  <p:childTnLst>
                                    <p:set>
                                      <p:cBhvr>
                                        <p:cTn id="56" dur="1" fill="hold">
                                          <p:stCondLst>
                                            <p:cond delay="0"/>
                                          </p:stCondLst>
                                        </p:cTn>
                                        <p:tgtEl>
                                          <p:spTgt spid="30"/>
                                        </p:tgtEl>
                                        <p:attrNameLst>
                                          <p:attrName>style.visibility</p:attrName>
                                        </p:attrNameLst>
                                      </p:cBhvr>
                                      <p:to>
                                        <p:strVal val="visible"/>
                                      </p:to>
                                    </p:set>
                                    <p:anim calcmode="lin" valueType="num">
                                      <p:cBhvr additive="base">
                                        <p:cTn id="57" dur="500"/>
                                        <p:tgtEl>
                                          <p:spTgt spid="30"/>
                                        </p:tgtEl>
                                        <p:attrNameLst>
                                          <p:attrName>ppt_y</p:attrName>
                                        </p:attrNameLst>
                                      </p:cBhvr>
                                      <p:tavLst>
                                        <p:tav tm="0">
                                          <p:val>
                                            <p:strVal val="#ppt_y-#ppt_h*1.125000"/>
                                          </p:val>
                                        </p:tav>
                                        <p:tav tm="100000">
                                          <p:val>
                                            <p:strVal val="#ppt_y"/>
                                          </p:val>
                                        </p:tav>
                                      </p:tavLst>
                                    </p:anim>
                                    <p:animEffect transition="in" filter="wipe(down)">
                                      <p:cBhvr>
                                        <p:cTn id="5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p:bldP spid="17" grpId="0"/>
      <p:bldP spid="22" grpId="0"/>
      <p:bldP spid="23" grpId="0"/>
      <p:bldP spid="24" grpId="0"/>
      <p:bldP spid="25" grpId="0"/>
      <p:bldP spid="26" grpId="0"/>
      <p:bldP spid="27" grpId="0"/>
      <p:bldP spid="28" grpId="0"/>
      <p:bldP spid="29" grpId="0"/>
      <p:bldP spid="30" grpId="0"/>
      <p:bldP spid="3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图片 39">
            <a:extLst>
              <a:ext uri="{FF2B5EF4-FFF2-40B4-BE49-F238E27FC236}">
                <a16:creationId xmlns:a16="http://schemas.microsoft.com/office/drawing/2014/main" id="{03B9971E-F297-E8B0-52F8-765C86F86BE4}"/>
              </a:ext>
            </a:extLst>
          </p:cNvPr>
          <p:cNvPicPr>
            <a:picLocks noChangeAspect="1"/>
          </p:cNvPicPr>
          <p:nvPr/>
        </p:nvPicPr>
        <p:blipFill rotWithShape="1">
          <a:blip r:embed="rId3"/>
          <a:srcRect t="35508"/>
          <a:stretch/>
        </p:blipFill>
        <p:spPr>
          <a:xfrm>
            <a:off x="0" y="2583173"/>
            <a:ext cx="12197424" cy="4293877"/>
          </a:xfrm>
          <a:prstGeom prst="rect">
            <a:avLst/>
          </a:prstGeom>
        </p:spPr>
      </p:pic>
      <p:sp>
        <p:nvSpPr>
          <p:cNvPr id="42" name="文本框 41">
            <a:extLst>
              <a:ext uri="{FF2B5EF4-FFF2-40B4-BE49-F238E27FC236}">
                <a16:creationId xmlns:a16="http://schemas.microsoft.com/office/drawing/2014/main" id="{867B105D-25A2-B01B-D699-13303931B290}"/>
              </a:ext>
            </a:extLst>
          </p:cNvPr>
          <p:cNvSpPr txBox="1"/>
          <p:nvPr/>
        </p:nvSpPr>
        <p:spPr>
          <a:xfrm>
            <a:off x="264319" y="4196834"/>
            <a:ext cx="669131" cy="369332"/>
          </a:xfrm>
          <a:prstGeom prst="rect">
            <a:avLst/>
          </a:prstGeom>
          <a:noFill/>
        </p:spPr>
        <p:txBody>
          <a:bodyPr wrap="square">
            <a:spAutoFit/>
          </a:bodyPr>
          <a:lstStyle/>
          <a:p>
            <a:r>
              <a:rPr lang="zh-CN" altLang="en-US" b="1" dirty="0">
                <a:solidFill>
                  <a:schemeClr val="bg1"/>
                </a:solidFill>
              </a:rPr>
              <a:t>网吧</a:t>
            </a:r>
          </a:p>
        </p:txBody>
      </p:sp>
      <p:sp>
        <p:nvSpPr>
          <p:cNvPr id="43" name="文本框 42">
            <a:extLst>
              <a:ext uri="{FF2B5EF4-FFF2-40B4-BE49-F238E27FC236}">
                <a16:creationId xmlns:a16="http://schemas.microsoft.com/office/drawing/2014/main" id="{5C692EEB-AB64-C0ED-983D-F70EBC830C7D}"/>
              </a:ext>
            </a:extLst>
          </p:cNvPr>
          <p:cNvSpPr txBox="1"/>
          <p:nvPr/>
        </p:nvSpPr>
        <p:spPr>
          <a:xfrm>
            <a:off x="2921794" y="2977369"/>
            <a:ext cx="669131" cy="369332"/>
          </a:xfrm>
          <a:prstGeom prst="rect">
            <a:avLst/>
          </a:prstGeom>
          <a:noFill/>
        </p:spPr>
        <p:txBody>
          <a:bodyPr wrap="square">
            <a:spAutoFit/>
          </a:bodyPr>
          <a:lstStyle/>
          <a:p>
            <a:r>
              <a:rPr lang="zh-CN" altLang="en-US" b="1" dirty="0">
                <a:solidFill>
                  <a:schemeClr val="bg1"/>
                </a:solidFill>
              </a:rPr>
              <a:t>公寓</a:t>
            </a:r>
          </a:p>
        </p:txBody>
      </p:sp>
      <p:sp>
        <p:nvSpPr>
          <p:cNvPr id="44" name="文本框 43">
            <a:extLst>
              <a:ext uri="{FF2B5EF4-FFF2-40B4-BE49-F238E27FC236}">
                <a16:creationId xmlns:a16="http://schemas.microsoft.com/office/drawing/2014/main" id="{2230FE26-F372-DE76-1633-C521EB8312AE}"/>
              </a:ext>
            </a:extLst>
          </p:cNvPr>
          <p:cNvSpPr txBox="1"/>
          <p:nvPr/>
        </p:nvSpPr>
        <p:spPr>
          <a:xfrm>
            <a:off x="4741069" y="4347829"/>
            <a:ext cx="669131" cy="369332"/>
          </a:xfrm>
          <a:prstGeom prst="rect">
            <a:avLst/>
          </a:prstGeom>
          <a:noFill/>
        </p:spPr>
        <p:txBody>
          <a:bodyPr wrap="square">
            <a:spAutoFit/>
          </a:bodyPr>
          <a:lstStyle/>
          <a:p>
            <a:r>
              <a:rPr lang="zh-CN" altLang="en-US" b="1" dirty="0">
                <a:solidFill>
                  <a:schemeClr val="bg1"/>
                </a:solidFill>
              </a:rPr>
              <a:t>商场</a:t>
            </a:r>
          </a:p>
        </p:txBody>
      </p:sp>
      <p:sp>
        <p:nvSpPr>
          <p:cNvPr id="45" name="文本框 44">
            <a:extLst>
              <a:ext uri="{FF2B5EF4-FFF2-40B4-BE49-F238E27FC236}">
                <a16:creationId xmlns:a16="http://schemas.microsoft.com/office/drawing/2014/main" id="{673E4F8D-9FE3-C2E6-A27C-86177862B4FC}"/>
              </a:ext>
            </a:extLst>
          </p:cNvPr>
          <p:cNvSpPr txBox="1"/>
          <p:nvPr/>
        </p:nvSpPr>
        <p:spPr>
          <a:xfrm>
            <a:off x="6998494" y="3973401"/>
            <a:ext cx="916781" cy="369332"/>
          </a:xfrm>
          <a:prstGeom prst="rect">
            <a:avLst/>
          </a:prstGeom>
          <a:noFill/>
        </p:spPr>
        <p:txBody>
          <a:bodyPr wrap="square">
            <a:spAutoFit/>
          </a:bodyPr>
          <a:lstStyle/>
          <a:p>
            <a:r>
              <a:rPr lang="zh-CN" altLang="en-US" b="1" dirty="0">
                <a:solidFill>
                  <a:schemeClr val="bg1"/>
                </a:solidFill>
              </a:rPr>
              <a:t>办公楼</a:t>
            </a:r>
          </a:p>
        </p:txBody>
      </p:sp>
      <p:sp>
        <p:nvSpPr>
          <p:cNvPr id="46" name="文本框 45">
            <a:extLst>
              <a:ext uri="{FF2B5EF4-FFF2-40B4-BE49-F238E27FC236}">
                <a16:creationId xmlns:a16="http://schemas.microsoft.com/office/drawing/2014/main" id="{94F5A13A-C24F-781A-2C14-446159507C94}"/>
              </a:ext>
            </a:extLst>
          </p:cNvPr>
          <p:cNvSpPr txBox="1"/>
          <p:nvPr/>
        </p:nvSpPr>
        <p:spPr>
          <a:xfrm>
            <a:off x="9875044" y="3604069"/>
            <a:ext cx="916781" cy="369332"/>
          </a:xfrm>
          <a:prstGeom prst="rect">
            <a:avLst/>
          </a:prstGeom>
          <a:noFill/>
        </p:spPr>
        <p:txBody>
          <a:bodyPr wrap="square">
            <a:spAutoFit/>
          </a:bodyPr>
          <a:lstStyle/>
          <a:p>
            <a:r>
              <a:rPr lang="zh-CN" altLang="en-US" b="1" dirty="0">
                <a:solidFill>
                  <a:srgbClr val="C00000"/>
                </a:solidFill>
              </a:rPr>
              <a:t>办公楼</a:t>
            </a:r>
          </a:p>
        </p:txBody>
      </p:sp>
      <p:sp>
        <p:nvSpPr>
          <p:cNvPr id="47" name="!!!三要素">
            <a:extLst>
              <a:ext uri="{FF2B5EF4-FFF2-40B4-BE49-F238E27FC236}">
                <a16:creationId xmlns:a16="http://schemas.microsoft.com/office/drawing/2014/main" id="{563E0947-4555-6AF7-79F7-8F7B54215ADB}"/>
              </a:ext>
            </a:extLst>
          </p:cNvPr>
          <p:cNvSpPr txBox="1">
            <a:spLocks/>
          </p:cNvSpPr>
          <p:nvPr/>
        </p:nvSpPr>
        <p:spPr>
          <a:xfrm>
            <a:off x="-3899221" y="997654"/>
            <a:ext cx="3432496"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dirty="0"/>
              <a:t>特殊</a:t>
            </a:r>
            <a:r>
              <a:rPr lang="en-US" altLang="zh-CN" dirty="0"/>
              <a:t>IP</a:t>
            </a:r>
            <a:r>
              <a:rPr lang="zh-CN" altLang="en-US" dirty="0"/>
              <a:t>地址</a:t>
            </a:r>
          </a:p>
        </p:txBody>
      </p:sp>
      <p:sp>
        <p:nvSpPr>
          <p:cNvPr id="3" name="标题 2">
            <a:extLst>
              <a:ext uri="{FF2B5EF4-FFF2-40B4-BE49-F238E27FC236}">
                <a16:creationId xmlns:a16="http://schemas.microsoft.com/office/drawing/2014/main" id="{E9B6353C-082C-4EAF-AD64-6103E71E9601}"/>
              </a:ext>
            </a:extLst>
          </p:cNvPr>
          <p:cNvSpPr>
            <a:spLocks noGrp="1"/>
          </p:cNvSpPr>
          <p:nvPr>
            <p:ph type="title"/>
          </p:nvPr>
        </p:nvSpPr>
        <p:spPr/>
        <p:txBody>
          <a:bodyPr/>
          <a:lstStyle/>
          <a:p>
            <a:r>
              <a:rPr lang="en-US" altLang="zh-CN" dirty="0"/>
              <a:t>IPv4 </a:t>
            </a:r>
            <a:r>
              <a:rPr lang="zh-CN" altLang="en-US" dirty="0"/>
              <a:t>的地址分类形式</a:t>
            </a:r>
          </a:p>
        </p:txBody>
      </p:sp>
      <p:sp>
        <p:nvSpPr>
          <p:cNvPr id="4" name="文本框 3">
            <a:extLst>
              <a:ext uri="{FF2B5EF4-FFF2-40B4-BE49-F238E27FC236}">
                <a16:creationId xmlns:a16="http://schemas.microsoft.com/office/drawing/2014/main" id="{E4B3D4A9-E9D3-FC21-447D-AE9A548C4C87}"/>
              </a:ext>
            </a:extLst>
          </p:cNvPr>
          <p:cNvSpPr txBox="1"/>
          <p:nvPr/>
        </p:nvSpPr>
        <p:spPr>
          <a:xfrm>
            <a:off x="576626" y="1069752"/>
            <a:ext cx="10881360" cy="1160767"/>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公网地址</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万维网使用</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和私有地址</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局域网使用</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85750" indent="-285750">
              <a:lnSpc>
                <a:spcPct val="150000"/>
              </a:lnSpc>
              <a:buFont typeface="Wingdings" panose="05000000000000000000" pitchFamily="2" charset="2"/>
              <a:buChar char="l"/>
            </a:pP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192.168. </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开头的就是私有地址，范围即为</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192.168.0.0--192.168.255.255</a:t>
            </a:r>
          </a:p>
          <a:p>
            <a:pPr lvl="1">
              <a:lnSpc>
                <a:spcPct val="150000"/>
              </a:lnSpc>
            </a:pP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专门为组织机构内部使用，以此节省</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IP</a:t>
            </a:r>
            <a:endPar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336175511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a:extLst>
              <a:ext uri="{FF2B5EF4-FFF2-40B4-BE49-F238E27FC236}">
                <a16:creationId xmlns:a16="http://schemas.microsoft.com/office/drawing/2014/main" id="{712B84FB-7706-974F-537D-0BC92D9A0B6C}"/>
              </a:ext>
            </a:extLst>
          </p:cNvPr>
          <p:cNvSpPr/>
          <p:nvPr/>
        </p:nvSpPr>
        <p:spPr>
          <a:xfrm>
            <a:off x="576626" y="1106473"/>
            <a:ext cx="10005060" cy="427105"/>
          </a:xfrm>
          <a:prstGeom prst="rect">
            <a:avLst/>
          </a:prstGeom>
        </p:spPr>
        <p:txBody>
          <a:bodyPr wrap="square">
            <a:spAutoFit/>
          </a:bodyPr>
          <a:lstStyle/>
          <a:p>
            <a:pPr>
              <a:lnSpc>
                <a:spcPct val="150000"/>
              </a:lnSpc>
              <a:defRPr/>
            </a:pP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127.0.0.1</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，也可以是</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localhost</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：是回送地址也称本地回环地址，也称本机</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IP</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，永远只会寻找当前所在本机。</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3" name="!!!三要素">
            <a:extLst>
              <a:ext uri="{FF2B5EF4-FFF2-40B4-BE49-F238E27FC236}">
                <a16:creationId xmlns:a16="http://schemas.microsoft.com/office/drawing/2014/main" id="{3A486E8B-0AD9-758B-C051-45139A4DB04A}"/>
              </a:ext>
            </a:extLst>
          </p:cNvPr>
          <p:cNvSpPr txBox="1">
            <a:spLocks/>
          </p:cNvSpPr>
          <p:nvPr/>
        </p:nvSpPr>
        <p:spPr>
          <a:xfrm>
            <a:off x="710879" y="-728888"/>
            <a:ext cx="3432496"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dirty="0">
                <a:latin typeface="Consolas" panose="020B0609020204030204" pitchFamily="49" charset="0"/>
              </a:rPr>
              <a:t>IPv4</a:t>
            </a:r>
            <a:r>
              <a:rPr lang="zh-CN" altLang="en-US" dirty="0">
                <a:latin typeface="Consolas" panose="020B0609020204030204" pitchFamily="49" charset="0"/>
              </a:rPr>
              <a:t>的地址分类形式</a:t>
            </a:r>
          </a:p>
        </p:txBody>
      </p:sp>
      <p:pic>
        <p:nvPicPr>
          <p:cNvPr id="4" name="图片 3">
            <a:extLst>
              <a:ext uri="{FF2B5EF4-FFF2-40B4-BE49-F238E27FC236}">
                <a16:creationId xmlns:a16="http://schemas.microsoft.com/office/drawing/2014/main" id="{C9923372-A2ED-0D1D-8926-94F56794E6FA}"/>
              </a:ext>
            </a:extLst>
          </p:cNvPr>
          <p:cNvPicPr>
            <a:picLocks noChangeAspect="1"/>
          </p:cNvPicPr>
          <p:nvPr/>
        </p:nvPicPr>
        <p:blipFill rotWithShape="1">
          <a:blip r:embed="rId3"/>
          <a:srcRect t="35508"/>
          <a:stretch/>
        </p:blipFill>
        <p:spPr>
          <a:xfrm>
            <a:off x="0" y="7041166"/>
            <a:ext cx="12197424" cy="4293877"/>
          </a:xfrm>
          <a:prstGeom prst="rect">
            <a:avLst/>
          </a:prstGeom>
        </p:spPr>
      </p:pic>
      <p:sp>
        <p:nvSpPr>
          <p:cNvPr id="6" name="!!!三要素">
            <a:extLst>
              <a:ext uri="{FF2B5EF4-FFF2-40B4-BE49-F238E27FC236}">
                <a16:creationId xmlns:a16="http://schemas.microsoft.com/office/drawing/2014/main" id="{C0A9DEE1-00D5-2621-ECC7-09468FEDA55F}"/>
              </a:ext>
            </a:extLst>
          </p:cNvPr>
          <p:cNvSpPr txBox="1">
            <a:spLocks/>
          </p:cNvSpPr>
          <p:nvPr/>
        </p:nvSpPr>
        <p:spPr>
          <a:xfrm>
            <a:off x="-3554609" y="997654"/>
            <a:ext cx="3432496"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dirty="0">
                <a:latin typeface="Consolas" panose="020B0609020204030204" pitchFamily="49" charset="0"/>
              </a:rPr>
              <a:t>常用的</a:t>
            </a:r>
            <a:r>
              <a:rPr lang="en-US" altLang="zh-CN" dirty="0">
                <a:latin typeface="Consolas" panose="020B0609020204030204" pitchFamily="49" charset="0"/>
              </a:rPr>
              <a:t>CMD</a:t>
            </a:r>
            <a:r>
              <a:rPr lang="zh-CN" altLang="en-US" dirty="0">
                <a:latin typeface="Consolas" panose="020B0609020204030204" pitchFamily="49" charset="0"/>
              </a:rPr>
              <a:t>命令</a:t>
            </a:r>
          </a:p>
        </p:txBody>
      </p:sp>
      <p:grpSp>
        <p:nvGrpSpPr>
          <p:cNvPr id="16" name="组合 15">
            <a:extLst>
              <a:ext uri="{FF2B5EF4-FFF2-40B4-BE49-F238E27FC236}">
                <a16:creationId xmlns:a16="http://schemas.microsoft.com/office/drawing/2014/main" id="{7FB99E9B-A10F-B475-757D-2CF8FF398926}"/>
              </a:ext>
            </a:extLst>
          </p:cNvPr>
          <p:cNvGrpSpPr/>
          <p:nvPr/>
        </p:nvGrpSpPr>
        <p:grpSpPr>
          <a:xfrm>
            <a:off x="1182492" y="2227444"/>
            <a:ext cx="9525288" cy="744356"/>
            <a:chOff x="2457241" y="5184645"/>
            <a:chExt cx="8831112" cy="760570"/>
          </a:xfrm>
        </p:grpSpPr>
        <p:grpSp>
          <p:nvGrpSpPr>
            <p:cNvPr id="17" name="组合 16">
              <a:extLst>
                <a:ext uri="{FF2B5EF4-FFF2-40B4-BE49-F238E27FC236}">
                  <a16:creationId xmlns:a16="http://schemas.microsoft.com/office/drawing/2014/main" id="{6D8C2FB4-80E7-E569-0253-A0C365EA0D4B}"/>
                </a:ext>
              </a:extLst>
            </p:cNvPr>
            <p:cNvGrpSpPr/>
            <p:nvPr/>
          </p:nvGrpSpPr>
          <p:grpSpPr>
            <a:xfrm>
              <a:off x="2457241" y="5184645"/>
              <a:ext cx="8831112" cy="594560"/>
              <a:chOff x="4304042" y="1286668"/>
              <a:chExt cx="6930132" cy="2757793"/>
            </a:xfrm>
            <a:effectLst>
              <a:outerShdw blurRad="381000" dist="254000" dir="8100000" algn="tr" rotWithShape="0">
                <a:prstClr val="black">
                  <a:alpha val="40000"/>
                </a:prstClr>
              </a:outerShdw>
            </a:effectLst>
          </p:grpSpPr>
          <p:sp>
            <p:nvSpPr>
              <p:cNvPr id="19" name="圆角矩形 70">
                <a:extLst>
                  <a:ext uri="{FF2B5EF4-FFF2-40B4-BE49-F238E27FC236}">
                    <a16:creationId xmlns:a16="http://schemas.microsoft.com/office/drawing/2014/main" id="{EAE64745-CF29-7A03-4F7B-4603DF8991EA}"/>
                  </a:ext>
                </a:extLst>
              </p:cNvPr>
              <p:cNvSpPr/>
              <p:nvPr/>
            </p:nvSpPr>
            <p:spPr>
              <a:xfrm>
                <a:off x="4304044" y="1286668"/>
                <a:ext cx="6930130"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Consolas" panose="020B0609020204030204" pitchFamily="49" charset="0"/>
                  <a:ea typeface="微软雅黑"/>
                </a:endParaRPr>
              </a:p>
            </p:txBody>
          </p:sp>
          <p:sp>
            <p:nvSpPr>
              <p:cNvPr id="20" name="圆角矩形 71">
                <a:extLst>
                  <a:ext uri="{FF2B5EF4-FFF2-40B4-BE49-F238E27FC236}">
                    <a16:creationId xmlns:a16="http://schemas.microsoft.com/office/drawing/2014/main" id="{611C787A-C349-8A70-F5CB-F2DDEDBC4AE4}"/>
                  </a:ext>
                </a:extLst>
              </p:cNvPr>
              <p:cNvSpPr/>
              <p:nvPr/>
            </p:nvSpPr>
            <p:spPr>
              <a:xfrm>
                <a:off x="4304042" y="1286668"/>
                <a:ext cx="6930129" cy="2757793"/>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Consolas" panose="020B0609020204030204" pitchFamily="49" charset="0"/>
                  <a:ea typeface="微软雅黑"/>
                </a:endParaRPr>
              </a:p>
            </p:txBody>
          </p:sp>
        </p:grpSp>
        <p:sp>
          <p:nvSpPr>
            <p:cNvPr id="18" name="TextBox 69">
              <a:extLst>
                <a:ext uri="{FF2B5EF4-FFF2-40B4-BE49-F238E27FC236}">
                  <a16:creationId xmlns:a16="http://schemas.microsoft.com/office/drawing/2014/main" id="{18A49CB0-34DC-B2DB-0603-23DFE6F3A583}"/>
                </a:ext>
              </a:extLst>
            </p:cNvPr>
            <p:cNvSpPr txBox="1"/>
            <p:nvPr/>
          </p:nvSpPr>
          <p:spPr>
            <a:xfrm>
              <a:off x="2705919" y="5298884"/>
              <a:ext cx="8212563" cy="646331"/>
            </a:xfrm>
            <a:prstGeom prst="rect">
              <a:avLst/>
            </a:prstGeom>
            <a:noFill/>
          </p:spPr>
          <p:txBody>
            <a:bodyPr wrap="square" rtlCol="0">
              <a:spAutoFit/>
            </a:bodyPr>
            <a:lstStyle/>
            <a:p>
              <a:pPr fontAlgn="auto">
                <a:spcBef>
                  <a:spcPts val="0"/>
                </a:spcBef>
                <a:spcAft>
                  <a:spcPts val="0"/>
                </a:spcAft>
              </a:pPr>
              <a:r>
                <a:rPr lang="zh-CN" altLang="en-US"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疑问：</a:t>
              </a:r>
              <a:r>
                <a:rPr lang="zh-CN" altLang="en-US"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假设</a:t>
              </a:r>
              <a:r>
                <a:rPr lang="en-US" altLang="zh-CN"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192.168.1.100 </a:t>
              </a:r>
              <a:r>
                <a:rPr lang="zh-CN" altLang="en-US"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是我电脑的</a:t>
              </a:r>
              <a:r>
                <a:rPr lang="en-US" altLang="zh-CN"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IP</a:t>
              </a:r>
              <a:r>
                <a:rPr lang="zh-CN" altLang="en-US"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，那么这个</a:t>
              </a:r>
              <a:r>
                <a:rPr lang="en-US" altLang="zh-CN"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IP</a:t>
              </a:r>
              <a:r>
                <a:rPr lang="zh-CN" altLang="en-US"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跟</a:t>
              </a:r>
              <a:r>
                <a:rPr lang="en-US" altLang="zh-CN"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127.0.0.1</a:t>
              </a:r>
              <a:r>
                <a:rPr lang="zh-CN" altLang="en-US"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是一样的吗？</a:t>
              </a:r>
            </a:p>
          </p:txBody>
        </p:sp>
      </p:grpSp>
      <p:sp>
        <p:nvSpPr>
          <p:cNvPr id="5" name="标题 4">
            <a:extLst>
              <a:ext uri="{FF2B5EF4-FFF2-40B4-BE49-F238E27FC236}">
                <a16:creationId xmlns:a16="http://schemas.microsoft.com/office/drawing/2014/main" id="{A566E3FF-8C07-D8A3-F3D3-04699B6D2599}"/>
              </a:ext>
            </a:extLst>
          </p:cNvPr>
          <p:cNvSpPr>
            <a:spLocks noGrp="1"/>
          </p:cNvSpPr>
          <p:nvPr>
            <p:ph type="title"/>
          </p:nvPr>
        </p:nvSpPr>
        <p:spPr/>
        <p:txBody>
          <a:bodyPr/>
          <a:lstStyle/>
          <a:p>
            <a:r>
              <a:rPr lang="zh-CN" altLang="en-US" dirty="0"/>
              <a:t>特殊</a:t>
            </a:r>
            <a:r>
              <a:rPr lang="en-US" altLang="zh-CN" dirty="0"/>
              <a:t>IP</a:t>
            </a:r>
            <a:r>
              <a:rPr lang="zh-CN" altLang="en-US" dirty="0"/>
              <a:t>地址</a:t>
            </a:r>
          </a:p>
        </p:txBody>
      </p:sp>
    </p:spTree>
    <p:extLst>
      <p:ext uri="{BB962C8B-B14F-4D97-AF65-F5344CB8AC3E}">
        <p14:creationId xmlns:p14="http://schemas.microsoft.com/office/powerpoint/2010/main" val="27782478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37"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900" decel="100000" fill="hold"/>
                                        <p:tgtEl>
                                          <p:spTgt spid="16"/>
                                        </p:tgtEl>
                                        <p:attrNameLst>
                                          <p:attrName>ppt_y</p:attrName>
                                        </p:attrNameLst>
                                      </p:cBhvr>
                                      <p:tavLst>
                                        <p:tav tm="0">
                                          <p:val>
                                            <p:strVal val="#ppt_y+1"/>
                                          </p:val>
                                        </p:tav>
                                        <p:tav tm="100000">
                                          <p:val>
                                            <p:strVal val="#ppt_y-.03"/>
                                          </p:val>
                                        </p:tav>
                                      </p:tavLst>
                                    </p:anim>
                                    <p:anim calcmode="lin" valueType="num">
                                      <p:cBhvr>
                                        <p:cTn id="15" dur="100" accel="100000" fill="hold">
                                          <p:stCondLst>
                                            <p:cond delay="900"/>
                                          </p:stCondLst>
                                        </p:cTn>
                                        <p:tgtEl>
                                          <p:spTgt spid="1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三要素">
            <a:extLst>
              <a:ext uri="{FF2B5EF4-FFF2-40B4-BE49-F238E27FC236}">
                <a16:creationId xmlns:a16="http://schemas.microsoft.com/office/drawing/2014/main" id="{3A486E8B-0AD9-758B-C051-45139A4DB04A}"/>
              </a:ext>
            </a:extLst>
          </p:cNvPr>
          <p:cNvSpPr txBox="1">
            <a:spLocks/>
          </p:cNvSpPr>
          <p:nvPr/>
        </p:nvSpPr>
        <p:spPr>
          <a:xfrm>
            <a:off x="710879" y="-728888"/>
            <a:ext cx="3432496"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dirty="0">
                <a:latin typeface="Consolas" panose="020B0609020204030204" pitchFamily="49" charset="0"/>
              </a:rPr>
              <a:t>IPv4</a:t>
            </a:r>
            <a:r>
              <a:rPr lang="zh-CN" altLang="en-US" dirty="0">
                <a:latin typeface="Consolas" panose="020B0609020204030204" pitchFamily="49" charset="0"/>
              </a:rPr>
              <a:t>的地址分类形式</a:t>
            </a:r>
          </a:p>
        </p:txBody>
      </p:sp>
      <p:sp>
        <p:nvSpPr>
          <p:cNvPr id="6" name="!!!三要素">
            <a:extLst>
              <a:ext uri="{FF2B5EF4-FFF2-40B4-BE49-F238E27FC236}">
                <a16:creationId xmlns:a16="http://schemas.microsoft.com/office/drawing/2014/main" id="{C0A9DEE1-00D5-2621-ECC7-09468FEDA55F}"/>
              </a:ext>
            </a:extLst>
          </p:cNvPr>
          <p:cNvSpPr txBox="1">
            <a:spLocks/>
          </p:cNvSpPr>
          <p:nvPr/>
        </p:nvSpPr>
        <p:spPr>
          <a:xfrm>
            <a:off x="-3554609" y="997654"/>
            <a:ext cx="3432496"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dirty="0">
                <a:latin typeface="Consolas" panose="020B0609020204030204" pitchFamily="49" charset="0"/>
              </a:rPr>
              <a:t>常用的</a:t>
            </a:r>
            <a:r>
              <a:rPr lang="en-US" altLang="zh-CN" dirty="0">
                <a:latin typeface="Consolas" panose="020B0609020204030204" pitchFamily="49" charset="0"/>
              </a:rPr>
              <a:t>CMD</a:t>
            </a:r>
            <a:r>
              <a:rPr lang="zh-CN" altLang="en-US" dirty="0">
                <a:latin typeface="Consolas" panose="020B0609020204030204" pitchFamily="49" charset="0"/>
              </a:rPr>
              <a:t>命令</a:t>
            </a:r>
          </a:p>
        </p:txBody>
      </p:sp>
      <p:pic>
        <p:nvPicPr>
          <p:cNvPr id="7" name="图片 6">
            <a:extLst>
              <a:ext uri="{FF2B5EF4-FFF2-40B4-BE49-F238E27FC236}">
                <a16:creationId xmlns:a16="http://schemas.microsoft.com/office/drawing/2014/main" id="{201C8B96-5308-B4E1-33C2-77E7661C443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63104" y="2522011"/>
            <a:ext cx="1951567" cy="1627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电脑1">
            <a:extLst>
              <a:ext uri="{FF2B5EF4-FFF2-40B4-BE49-F238E27FC236}">
                <a16:creationId xmlns:a16="http://schemas.microsoft.com/office/drawing/2014/main" id="{FFAA5FB2-E739-EE9E-2DF9-FCD0B277D15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31777" y="2522011"/>
            <a:ext cx="1951567" cy="1627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a:extLst>
              <a:ext uri="{FF2B5EF4-FFF2-40B4-BE49-F238E27FC236}">
                <a16:creationId xmlns:a16="http://schemas.microsoft.com/office/drawing/2014/main" id="{0C94BC2F-8D6C-BDFC-1A14-AA6F825992C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94430" y="2522011"/>
            <a:ext cx="1951567" cy="1627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电脑">
            <a:extLst>
              <a:ext uri="{FF2B5EF4-FFF2-40B4-BE49-F238E27FC236}">
                <a16:creationId xmlns:a16="http://schemas.microsoft.com/office/drawing/2014/main" id="{80B204BE-A743-CF2B-09D6-52E367E1E3C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63104" y="4471693"/>
            <a:ext cx="1951567" cy="1627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a:extLst>
              <a:ext uri="{FF2B5EF4-FFF2-40B4-BE49-F238E27FC236}">
                <a16:creationId xmlns:a16="http://schemas.microsoft.com/office/drawing/2014/main" id="{104338BB-E2AF-19C8-8315-3ACF727BA82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31777" y="4471693"/>
            <a:ext cx="1951567" cy="1627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12">
            <a:extLst>
              <a:ext uri="{FF2B5EF4-FFF2-40B4-BE49-F238E27FC236}">
                <a16:creationId xmlns:a16="http://schemas.microsoft.com/office/drawing/2014/main" id="{6644B77B-C3B0-2130-12F8-C79DCE78EC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94430" y="4471693"/>
            <a:ext cx="1951567" cy="1627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a:extLst>
              <a:ext uri="{FF2B5EF4-FFF2-40B4-BE49-F238E27FC236}">
                <a16:creationId xmlns:a16="http://schemas.microsoft.com/office/drawing/2014/main" id="{7143AD30-78AF-3BF3-33D6-4FFA949872A0}"/>
              </a:ext>
            </a:extLst>
          </p:cNvPr>
          <p:cNvGrpSpPr/>
          <p:nvPr/>
        </p:nvGrpSpPr>
        <p:grpSpPr>
          <a:xfrm rot="2656159">
            <a:off x="8754056" y="-1050891"/>
            <a:ext cx="8831112" cy="646331"/>
            <a:chOff x="2457241" y="5160385"/>
            <a:chExt cx="8831112" cy="646331"/>
          </a:xfrm>
        </p:grpSpPr>
        <p:grpSp>
          <p:nvGrpSpPr>
            <p:cNvPr id="12" name="组合 11">
              <a:extLst>
                <a:ext uri="{FF2B5EF4-FFF2-40B4-BE49-F238E27FC236}">
                  <a16:creationId xmlns:a16="http://schemas.microsoft.com/office/drawing/2014/main" id="{2B46D451-4C79-53EF-2A58-7C2AC75D8F98}"/>
                </a:ext>
              </a:extLst>
            </p:cNvPr>
            <p:cNvGrpSpPr/>
            <p:nvPr/>
          </p:nvGrpSpPr>
          <p:grpSpPr>
            <a:xfrm>
              <a:off x="2457241" y="5184645"/>
              <a:ext cx="8831112" cy="594560"/>
              <a:chOff x="4304042" y="1286668"/>
              <a:chExt cx="6930132" cy="2757793"/>
            </a:xfrm>
            <a:effectLst>
              <a:outerShdw blurRad="381000" dist="254000" dir="8100000" algn="tr" rotWithShape="0">
                <a:prstClr val="black">
                  <a:alpha val="40000"/>
                </a:prstClr>
              </a:outerShdw>
            </a:effectLst>
          </p:grpSpPr>
          <p:sp>
            <p:nvSpPr>
              <p:cNvPr id="15" name="圆角矩形 70">
                <a:extLst>
                  <a:ext uri="{FF2B5EF4-FFF2-40B4-BE49-F238E27FC236}">
                    <a16:creationId xmlns:a16="http://schemas.microsoft.com/office/drawing/2014/main" id="{172F7318-A8B5-2C6F-CCFF-089C1526690E}"/>
                  </a:ext>
                </a:extLst>
              </p:cNvPr>
              <p:cNvSpPr/>
              <p:nvPr/>
            </p:nvSpPr>
            <p:spPr>
              <a:xfrm>
                <a:off x="4304044" y="1286668"/>
                <a:ext cx="6930130"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Consolas" panose="020B0609020204030204" pitchFamily="49" charset="0"/>
                  <a:ea typeface="微软雅黑"/>
                </a:endParaRPr>
              </a:p>
            </p:txBody>
          </p:sp>
          <p:sp>
            <p:nvSpPr>
              <p:cNvPr id="16" name="圆角矩形 71">
                <a:extLst>
                  <a:ext uri="{FF2B5EF4-FFF2-40B4-BE49-F238E27FC236}">
                    <a16:creationId xmlns:a16="http://schemas.microsoft.com/office/drawing/2014/main" id="{DE14C17F-E1DC-82B9-8872-0F3184C55CD7}"/>
                  </a:ext>
                </a:extLst>
              </p:cNvPr>
              <p:cNvSpPr/>
              <p:nvPr/>
            </p:nvSpPr>
            <p:spPr>
              <a:xfrm>
                <a:off x="4304042" y="1286668"/>
                <a:ext cx="6930129" cy="2757793"/>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Consolas" panose="020B0609020204030204" pitchFamily="49" charset="0"/>
                  <a:ea typeface="微软雅黑"/>
                </a:endParaRPr>
              </a:p>
            </p:txBody>
          </p:sp>
        </p:grpSp>
        <p:sp>
          <p:nvSpPr>
            <p:cNvPr id="14" name="TextBox 69">
              <a:extLst>
                <a:ext uri="{FF2B5EF4-FFF2-40B4-BE49-F238E27FC236}">
                  <a16:creationId xmlns:a16="http://schemas.microsoft.com/office/drawing/2014/main" id="{E8283BC2-7602-FB6C-3378-FD89F62AB141}"/>
                </a:ext>
              </a:extLst>
            </p:cNvPr>
            <p:cNvSpPr txBox="1"/>
            <p:nvPr/>
          </p:nvSpPr>
          <p:spPr>
            <a:xfrm>
              <a:off x="2705919" y="5160385"/>
              <a:ext cx="8212563" cy="646331"/>
            </a:xfrm>
            <a:prstGeom prst="rect">
              <a:avLst/>
            </a:prstGeom>
            <a:noFill/>
          </p:spPr>
          <p:txBody>
            <a:bodyPr wrap="square" rtlCol="0">
              <a:spAutoFit/>
            </a:bodyPr>
            <a:lstStyle/>
            <a:p>
              <a:pPr fontAlgn="auto">
                <a:spcBef>
                  <a:spcPts val="0"/>
                </a:spcBef>
                <a:spcAft>
                  <a:spcPts val="0"/>
                </a:spcAft>
              </a:pPr>
              <a:r>
                <a:rPr lang="zh-CN" altLang="en-US"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疑问：</a:t>
              </a:r>
              <a:r>
                <a:rPr lang="zh-CN" altLang="en-US"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假设</a:t>
              </a:r>
              <a:r>
                <a:rPr lang="en-US" altLang="zh-CN"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192.168.1.100 </a:t>
              </a:r>
              <a:r>
                <a:rPr lang="zh-CN" altLang="en-US"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是我电脑的</a:t>
              </a:r>
              <a:r>
                <a:rPr lang="en-US" altLang="zh-CN"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IP</a:t>
              </a:r>
              <a:r>
                <a:rPr lang="zh-CN" altLang="en-US"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，那么这个</a:t>
              </a:r>
              <a:r>
                <a:rPr lang="en-US" altLang="zh-CN"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IP</a:t>
              </a:r>
              <a:r>
                <a:rPr lang="zh-CN" altLang="en-US"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跟</a:t>
              </a:r>
              <a:r>
                <a:rPr lang="en-US" altLang="zh-CN"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127.0.0.1</a:t>
              </a:r>
              <a:r>
                <a:rPr lang="zh-CN" altLang="en-US"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是一样的吗？</a:t>
              </a:r>
            </a:p>
          </p:txBody>
        </p:sp>
      </p:grpSp>
      <p:pic>
        <p:nvPicPr>
          <p:cNvPr id="22" name="图片 21">
            <a:extLst>
              <a:ext uri="{FF2B5EF4-FFF2-40B4-BE49-F238E27FC236}">
                <a16:creationId xmlns:a16="http://schemas.microsoft.com/office/drawing/2014/main" id="{D2D214B6-BEBB-6840-6898-6958077FBF74}"/>
              </a:ext>
            </a:extLst>
          </p:cNvPr>
          <p:cNvPicPr>
            <a:picLocks noChangeAspect="1"/>
          </p:cNvPicPr>
          <p:nvPr/>
        </p:nvPicPr>
        <p:blipFill>
          <a:blip r:embed="rId4"/>
          <a:stretch>
            <a:fillRect/>
          </a:stretch>
        </p:blipFill>
        <p:spPr>
          <a:xfrm>
            <a:off x="-2382268" y="3004027"/>
            <a:ext cx="1808091" cy="2124042"/>
          </a:xfrm>
          <a:prstGeom prst="rect">
            <a:avLst/>
          </a:prstGeom>
        </p:spPr>
      </p:pic>
      <p:sp>
        <p:nvSpPr>
          <p:cNvPr id="24" name="文本框 23">
            <a:extLst>
              <a:ext uri="{FF2B5EF4-FFF2-40B4-BE49-F238E27FC236}">
                <a16:creationId xmlns:a16="http://schemas.microsoft.com/office/drawing/2014/main" id="{2F1AD6A5-16F3-87BF-2E9E-FCA78651B23B}"/>
              </a:ext>
            </a:extLst>
          </p:cNvPr>
          <p:cNvSpPr txBox="1"/>
          <p:nvPr/>
        </p:nvSpPr>
        <p:spPr>
          <a:xfrm>
            <a:off x="1618823" y="3974586"/>
            <a:ext cx="1808091" cy="369332"/>
          </a:xfrm>
          <a:prstGeom prst="rect">
            <a:avLst/>
          </a:prstGeom>
          <a:noFill/>
        </p:spPr>
        <p:txBody>
          <a:bodyPr wrap="square">
            <a:spAutoFit/>
          </a:bodyPr>
          <a:lstStyle/>
          <a:p>
            <a:r>
              <a:rPr lang="en-US" altLang="zh-CN"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192.168.1.10</a:t>
            </a:r>
            <a:endParaRPr lang="zh-CN" altLang="en-US" dirty="0">
              <a:solidFill>
                <a:srgbClr val="0070C0"/>
              </a:solidFill>
              <a:latin typeface="Consolas" panose="020B0609020204030204" pitchFamily="49" charset="0"/>
            </a:endParaRPr>
          </a:p>
        </p:txBody>
      </p:sp>
      <p:sp>
        <p:nvSpPr>
          <p:cNvPr id="25" name="文本框 24">
            <a:extLst>
              <a:ext uri="{FF2B5EF4-FFF2-40B4-BE49-F238E27FC236}">
                <a16:creationId xmlns:a16="http://schemas.microsoft.com/office/drawing/2014/main" id="{0F01DECD-524E-FE27-EC86-2912FB2A2CC9}"/>
              </a:ext>
            </a:extLst>
          </p:cNvPr>
          <p:cNvSpPr txBox="1"/>
          <p:nvPr/>
        </p:nvSpPr>
        <p:spPr>
          <a:xfrm>
            <a:off x="5006626" y="3974586"/>
            <a:ext cx="1808091" cy="369332"/>
          </a:xfrm>
          <a:prstGeom prst="rect">
            <a:avLst/>
          </a:prstGeom>
          <a:noFill/>
        </p:spPr>
        <p:txBody>
          <a:bodyPr wrap="square">
            <a:spAutoFit/>
          </a:bodyPr>
          <a:lstStyle/>
          <a:p>
            <a:r>
              <a:rPr lang="en-US" altLang="zh-CN"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192.168.1.21</a:t>
            </a:r>
            <a:endParaRPr lang="zh-CN" altLang="en-US" dirty="0">
              <a:solidFill>
                <a:srgbClr val="0070C0"/>
              </a:solidFill>
              <a:latin typeface="Consolas" panose="020B0609020204030204" pitchFamily="49" charset="0"/>
            </a:endParaRPr>
          </a:p>
        </p:txBody>
      </p:sp>
      <p:sp>
        <p:nvSpPr>
          <p:cNvPr id="26" name="文本框 25">
            <a:extLst>
              <a:ext uri="{FF2B5EF4-FFF2-40B4-BE49-F238E27FC236}">
                <a16:creationId xmlns:a16="http://schemas.microsoft.com/office/drawing/2014/main" id="{0B164953-0B41-165E-395B-4F657BA001AA}"/>
              </a:ext>
            </a:extLst>
          </p:cNvPr>
          <p:cNvSpPr txBox="1"/>
          <p:nvPr/>
        </p:nvSpPr>
        <p:spPr>
          <a:xfrm>
            <a:off x="8437953" y="3974586"/>
            <a:ext cx="1808091" cy="369332"/>
          </a:xfrm>
          <a:prstGeom prst="rect">
            <a:avLst/>
          </a:prstGeom>
          <a:noFill/>
        </p:spPr>
        <p:txBody>
          <a:bodyPr wrap="square">
            <a:spAutoFit/>
          </a:bodyPr>
          <a:lstStyle/>
          <a:p>
            <a:r>
              <a:rPr lang="en-US" altLang="zh-CN"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192.168.1.32</a:t>
            </a:r>
            <a:endParaRPr lang="zh-CN" altLang="en-US" dirty="0">
              <a:solidFill>
                <a:srgbClr val="0070C0"/>
              </a:solidFill>
              <a:latin typeface="Consolas" panose="020B0609020204030204" pitchFamily="49" charset="0"/>
            </a:endParaRPr>
          </a:p>
        </p:txBody>
      </p:sp>
      <p:sp>
        <p:nvSpPr>
          <p:cNvPr id="27" name="文本框 26">
            <a:extLst>
              <a:ext uri="{FF2B5EF4-FFF2-40B4-BE49-F238E27FC236}">
                <a16:creationId xmlns:a16="http://schemas.microsoft.com/office/drawing/2014/main" id="{A2A8726A-EC38-3903-5880-5BDEA7446F3D}"/>
              </a:ext>
            </a:extLst>
          </p:cNvPr>
          <p:cNvSpPr txBox="1"/>
          <p:nvPr/>
        </p:nvSpPr>
        <p:spPr>
          <a:xfrm>
            <a:off x="1618823" y="6036570"/>
            <a:ext cx="1808091" cy="369332"/>
          </a:xfrm>
          <a:prstGeom prst="rect">
            <a:avLst/>
          </a:prstGeom>
          <a:noFill/>
        </p:spPr>
        <p:txBody>
          <a:bodyPr wrap="square">
            <a:spAutoFit/>
          </a:bodyPr>
          <a:lstStyle/>
          <a:p>
            <a:r>
              <a:rPr lang="en-US" altLang="zh-CN"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192.168.1.50</a:t>
            </a:r>
            <a:endParaRPr lang="zh-CN" altLang="en-US" dirty="0">
              <a:solidFill>
                <a:srgbClr val="0070C0"/>
              </a:solidFill>
              <a:latin typeface="Consolas" panose="020B0609020204030204" pitchFamily="49" charset="0"/>
            </a:endParaRPr>
          </a:p>
        </p:txBody>
      </p:sp>
      <p:sp>
        <p:nvSpPr>
          <p:cNvPr id="28" name="文本框 27">
            <a:extLst>
              <a:ext uri="{FF2B5EF4-FFF2-40B4-BE49-F238E27FC236}">
                <a16:creationId xmlns:a16="http://schemas.microsoft.com/office/drawing/2014/main" id="{89210630-2B86-E0B7-F23B-66EB7BDCC982}"/>
              </a:ext>
            </a:extLst>
          </p:cNvPr>
          <p:cNvSpPr txBox="1"/>
          <p:nvPr/>
        </p:nvSpPr>
        <p:spPr>
          <a:xfrm>
            <a:off x="5006626" y="6036570"/>
            <a:ext cx="1951567" cy="369332"/>
          </a:xfrm>
          <a:prstGeom prst="rect">
            <a:avLst/>
          </a:prstGeom>
          <a:noFill/>
        </p:spPr>
        <p:txBody>
          <a:bodyPr wrap="square">
            <a:spAutoFit/>
          </a:bodyPr>
          <a:lstStyle/>
          <a:p>
            <a:r>
              <a:rPr lang="en-US" altLang="zh-CN"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192.168.1.100</a:t>
            </a:r>
            <a:endParaRPr lang="zh-CN" altLang="en-US" dirty="0">
              <a:solidFill>
                <a:srgbClr val="C00000"/>
              </a:solidFill>
              <a:latin typeface="Consolas" panose="020B0609020204030204" pitchFamily="49" charset="0"/>
            </a:endParaRPr>
          </a:p>
        </p:txBody>
      </p:sp>
      <p:sp>
        <p:nvSpPr>
          <p:cNvPr id="29" name="文本框 28">
            <a:extLst>
              <a:ext uri="{FF2B5EF4-FFF2-40B4-BE49-F238E27FC236}">
                <a16:creationId xmlns:a16="http://schemas.microsoft.com/office/drawing/2014/main" id="{18CB4E6F-A690-D060-EE72-130EA38F0599}"/>
              </a:ext>
            </a:extLst>
          </p:cNvPr>
          <p:cNvSpPr txBox="1"/>
          <p:nvPr/>
        </p:nvSpPr>
        <p:spPr>
          <a:xfrm>
            <a:off x="8437953" y="6036570"/>
            <a:ext cx="1808091" cy="369332"/>
          </a:xfrm>
          <a:prstGeom prst="rect">
            <a:avLst/>
          </a:prstGeom>
          <a:noFill/>
        </p:spPr>
        <p:txBody>
          <a:bodyPr wrap="square">
            <a:spAutoFit/>
          </a:bodyPr>
          <a:lstStyle/>
          <a:p>
            <a:r>
              <a:rPr lang="en-US" altLang="zh-CN"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192.168.1.87</a:t>
            </a:r>
            <a:endParaRPr lang="zh-CN" altLang="en-US" dirty="0">
              <a:solidFill>
                <a:srgbClr val="0070C0"/>
              </a:solidFill>
              <a:latin typeface="Consolas" panose="020B0609020204030204" pitchFamily="49" charset="0"/>
            </a:endParaRPr>
          </a:p>
        </p:txBody>
      </p:sp>
      <p:sp>
        <p:nvSpPr>
          <p:cNvPr id="4" name="标题 3">
            <a:extLst>
              <a:ext uri="{FF2B5EF4-FFF2-40B4-BE49-F238E27FC236}">
                <a16:creationId xmlns:a16="http://schemas.microsoft.com/office/drawing/2014/main" id="{4CD2B5B3-33D0-A4A1-20F0-525FC0EE9CA0}"/>
              </a:ext>
            </a:extLst>
          </p:cNvPr>
          <p:cNvSpPr>
            <a:spLocks noGrp="1"/>
          </p:cNvSpPr>
          <p:nvPr>
            <p:ph type="title"/>
          </p:nvPr>
        </p:nvSpPr>
        <p:spPr/>
        <p:txBody>
          <a:bodyPr/>
          <a:lstStyle/>
          <a:p>
            <a:r>
              <a:rPr lang="zh-CN" altLang="en-US" dirty="0"/>
              <a:t>特殊</a:t>
            </a:r>
            <a:r>
              <a:rPr lang="en-US" altLang="zh-CN" dirty="0"/>
              <a:t>IP</a:t>
            </a:r>
            <a:r>
              <a:rPr lang="zh-CN" altLang="en-US" dirty="0"/>
              <a:t>地址</a:t>
            </a:r>
          </a:p>
        </p:txBody>
      </p:sp>
      <p:sp>
        <p:nvSpPr>
          <p:cNvPr id="21" name="矩形 20">
            <a:extLst>
              <a:ext uri="{FF2B5EF4-FFF2-40B4-BE49-F238E27FC236}">
                <a16:creationId xmlns:a16="http://schemas.microsoft.com/office/drawing/2014/main" id="{AAC00044-B047-2578-86F4-832DD0FDA42E}"/>
              </a:ext>
            </a:extLst>
          </p:cNvPr>
          <p:cNvSpPr/>
          <p:nvPr/>
        </p:nvSpPr>
        <p:spPr>
          <a:xfrm>
            <a:off x="576626" y="1106473"/>
            <a:ext cx="10005060" cy="427105"/>
          </a:xfrm>
          <a:prstGeom prst="rect">
            <a:avLst/>
          </a:prstGeom>
        </p:spPr>
        <p:txBody>
          <a:bodyPr wrap="square">
            <a:spAutoFit/>
          </a:bodyPr>
          <a:lstStyle/>
          <a:p>
            <a:pPr>
              <a:lnSpc>
                <a:spcPct val="150000"/>
              </a:lnSpc>
              <a:defRPr/>
            </a:pP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127.0.0.1</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，也可以是</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localhost</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：是回送地址也称本地回环地址，也称本机</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IP</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，永远只会寻找当前所在本机。</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24710898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350" fill="hold"/>
                                        <p:tgtEl>
                                          <p:spTgt spid="8"/>
                                        </p:tgtEl>
                                        <p:attrNameLst>
                                          <p:attrName>ppt_w</p:attrName>
                                        </p:attrNameLst>
                                      </p:cBhvr>
                                      <p:tavLst>
                                        <p:tav tm="0">
                                          <p:val>
                                            <p:fltVal val="0"/>
                                          </p:val>
                                        </p:tav>
                                        <p:tav tm="100000">
                                          <p:val>
                                            <p:strVal val="#ppt_w"/>
                                          </p:val>
                                        </p:tav>
                                      </p:tavLst>
                                    </p:anim>
                                    <p:anim calcmode="lin" valueType="num">
                                      <p:cBhvr>
                                        <p:cTn id="8" dur="350" fill="hold"/>
                                        <p:tgtEl>
                                          <p:spTgt spid="8"/>
                                        </p:tgtEl>
                                        <p:attrNameLst>
                                          <p:attrName>ppt_h</p:attrName>
                                        </p:attrNameLst>
                                      </p:cBhvr>
                                      <p:tavLst>
                                        <p:tav tm="0">
                                          <p:val>
                                            <p:fltVal val="0"/>
                                          </p:val>
                                        </p:tav>
                                        <p:tav tm="100000">
                                          <p:val>
                                            <p:strVal val="#ppt_h"/>
                                          </p:val>
                                        </p:tav>
                                      </p:tavLst>
                                    </p:anim>
                                    <p:anim calcmode="lin" valueType="num">
                                      <p:cBhvr>
                                        <p:cTn id="9" dur="350" fill="hold"/>
                                        <p:tgtEl>
                                          <p:spTgt spid="8"/>
                                        </p:tgtEl>
                                        <p:attrNameLst>
                                          <p:attrName>style.rotation</p:attrName>
                                        </p:attrNameLst>
                                      </p:cBhvr>
                                      <p:tavLst>
                                        <p:tav tm="0">
                                          <p:val>
                                            <p:fltVal val="360"/>
                                          </p:val>
                                        </p:tav>
                                        <p:tav tm="100000">
                                          <p:val>
                                            <p:fltVal val="0"/>
                                          </p:val>
                                        </p:tav>
                                      </p:tavLst>
                                    </p:anim>
                                    <p:animEffect transition="in" filter="fade">
                                      <p:cBhvr>
                                        <p:cTn id="10" dur="350"/>
                                        <p:tgtEl>
                                          <p:spTgt spid="8"/>
                                        </p:tgtEl>
                                      </p:cBhvr>
                                    </p:animEffect>
                                  </p:childTnLst>
                                </p:cTn>
                              </p:par>
                              <p:par>
                                <p:cTn id="11" presetID="6" presetClass="emph" presetSubtype="0" accel="82000" decel="18000" autoRev="1" fill="hold" nodeType="withEffect">
                                  <p:stCondLst>
                                    <p:cond delay="0"/>
                                  </p:stCondLst>
                                  <p:childTnLst>
                                    <p:animScale>
                                      <p:cBhvr>
                                        <p:cTn id="12" dur="350" fill="hold"/>
                                        <p:tgtEl>
                                          <p:spTgt spid="8"/>
                                        </p:tgtEl>
                                      </p:cBhvr>
                                      <p:by x="110000" y="110000"/>
                                    </p:animScale>
                                  </p:childTnLst>
                                </p:cTn>
                              </p:par>
                              <p:par>
                                <p:cTn id="13" presetID="49" presetClass="entr" presetSubtype="0" decel="100000" fill="hold" nodeType="withEffect">
                                  <p:stCondLst>
                                    <p:cond delay="400"/>
                                  </p:stCondLst>
                                  <p:childTnLst>
                                    <p:set>
                                      <p:cBhvr>
                                        <p:cTn id="14" dur="1" fill="hold">
                                          <p:stCondLst>
                                            <p:cond delay="0"/>
                                          </p:stCondLst>
                                        </p:cTn>
                                        <p:tgtEl>
                                          <p:spTgt spid="7"/>
                                        </p:tgtEl>
                                        <p:attrNameLst>
                                          <p:attrName>style.visibility</p:attrName>
                                        </p:attrNameLst>
                                      </p:cBhvr>
                                      <p:to>
                                        <p:strVal val="visible"/>
                                      </p:to>
                                    </p:set>
                                    <p:anim calcmode="lin" valueType="num">
                                      <p:cBhvr>
                                        <p:cTn id="15" dur="350" fill="hold"/>
                                        <p:tgtEl>
                                          <p:spTgt spid="7"/>
                                        </p:tgtEl>
                                        <p:attrNameLst>
                                          <p:attrName>ppt_w</p:attrName>
                                        </p:attrNameLst>
                                      </p:cBhvr>
                                      <p:tavLst>
                                        <p:tav tm="0">
                                          <p:val>
                                            <p:fltVal val="0"/>
                                          </p:val>
                                        </p:tav>
                                        <p:tav tm="100000">
                                          <p:val>
                                            <p:strVal val="#ppt_w"/>
                                          </p:val>
                                        </p:tav>
                                      </p:tavLst>
                                    </p:anim>
                                    <p:anim calcmode="lin" valueType="num">
                                      <p:cBhvr>
                                        <p:cTn id="16" dur="350" fill="hold"/>
                                        <p:tgtEl>
                                          <p:spTgt spid="7"/>
                                        </p:tgtEl>
                                        <p:attrNameLst>
                                          <p:attrName>ppt_h</p:attrName>
                                        </p:attrNameLst>
                                      </p:cBhvr>
                                      <p:tavLst>
                                        <p:tav tm="0">
                                          <p:val>
                                            <p:fltVal val="0"/>
                                          </p:val>
                                        </p:tav>
                                        <p:tav tm="100000">
                                          <p:val>
                                            <p:strVal val="#ppt_h"/>
                                          </p:val>
                                        </p:tav>
                                      </p:tavLst>
                                    </p:anim>
                                    <p:anim calcmode="lin" valueType="num">
                                      <p:cBhvr>
                                        <p:cTn id="17" dur="350" fill="hold"/>
                                        <p:tgtEl>
                                          <p:spTgt spid="7"/>
                                        </p:tgtEl>
                                        <p:attrNameLst>
                                          <p:attrName>style.rotation</p:attrName>
                                        </p:attrNameLst>
                                      </p:cBhvr>
                                      <p:tavLst>
                                        <p:tav tm="0">
                                          <p:val>
                                            <p:fltVal val="360"/>
                                          </p:val>
                                        </p:tav>
                                        <p:tav tm="100000">
                                          <p:val>
                                            <p:fltVal val="0"/>
                                          </p:val>
                                        </p:tav>
                                      </p:tavLst>
                                    </p:anim>
                                    <p:animEffect transition="in" filter="fade">
                                      <p:cBhvr>
                                        <p:cTn id="18" dur="350"/>
                                        <p:tgtEl>
                                          <p:spTgt spid="7"/>
                                        </p:tgtEl>
                                      </p:cBhvr>
                                    </p:animEffect>
                                  </p:childTnLst>
                                </p:cTn>
                              </p:par>
                              <p:par>
                                <p:cTn id="19" presetID="6" presetClass="emph" presetSubtype="0" accel="82000" decel="18000" autoRev="1" fill="hold" nodeType="withEffect">
                                  <p:stCondLst>
                                    <p:cond delay="400"/>
                                  </p:stCondLst>
                                  <p:childTnLst>
                                    <p:animScale>
                                      <p:cBhvr>
                                        <p:cTn id="20" dur="350" fill="hold"/>
                                        <p:tgtEl>
                                          <p:spTgt spid="7"/>
                                        </p:tgtEl>
                                      </p:cBhvr>
                                      <p:by x="110000" y="110000"/>
                                    </p:animScale>
                                  </p:childTnLst>
                                </p:cTn>
                              </p:par>
                              <p:par>
                                <p:cTn id="21" presetID="49" presetClass="entr" presetSubtype="0" decel="100000" fill="hold" nodeType="withEffect">
                                  <p:stCondLst>
                                    <p:cond delay="200"/>
                                  </p:stCondLst>
                                  <p:childTnLst>
                                    <p:set>
                                      <p:cBhvr>
                                        <p:cTn id="22" dur="1" fill="hold">
                                          <p:stCondLst>
                                            <p:cond delay="0"/>
                                          </p:stCondLst>
                                        </p:cTn>
                                        <p:tgtEl>
                                          <p:spTgt spid="9"/>
                                        </p:tgtEl>
                                        <p:attrNameLst>
                                          <p:attrName>style.visibility</p:attrName>
                                        </p:attrNameLst>
                                      </p:cBhvr>
                                      <p:to>
                                        <p:strVal val="visible"/>
                                      </p:to>
                                    </p:set>
                                    <p:anim calcmode="lin" valueType="num">
                                      <p:cBhvr>
                                        <p:cTn id="23" dur="350" fill="hold"/>
                                        <p:tgtEl>
                                          <p:spTgt spid="9"/>
                                        </p:tgtEl>
                                        <p:attrNameLst>
                                          <p:attrName>ppt_w</p:attrName>
                                        </p:attrNameLst>
                                      </p:cBhvr>
                                      <p:tavLst>
                                        <p:tav tm="0">
                                          <p:val>
                                            <p:fltVal val="0"/>
                                          </p:val>
                                        </p:tav>
                                        <p:tav tm="100000">
                                          <p:val>
                                            <p:strVal val="#ppt_w"/>
                                          </p:val>
                                        </p:tav>
                                      </p:tavLst>
                                    </p:anim>
                                    <p:anim calcmode="lin" valueType="num">
                                      <p:cBhvr>
                                        <p:cTn id="24" dur="350" fill="hold"/>
                                        <p:tgtEl>
                                          <p:spTgt spid="9"/>
                                        </p:tgtEl>
                                        <p:attrNameLst>
                                          <p:attrName>ppt_h</p:attrName>
                                        </p:attrNameLst>
                                      </p:cBhvr>
                                      <p:tavLst>
                                        <p:tav tm="0">
                                          <p:val>
                                            <p:fltVal val="0"/>
                                          </p:val>
                                        </p:tav>
                                        <p:tav tm="100000">
                                          <p:val>
                                            <p:strVal val="#ppt_h"/>
                                          </p:val>
                                        </p:tav>
                                      </p:tavLst>
                                    </p:anim>
                                    <p:anim calcmode="lin" valueType="num">
                                      <p:cBhvr>
                                        <p:cTn id="25" dur="350" fill="hold"/>
                                        <p:tgtEl>
                                          <p:spTgt spid="9"/>
                                        </p:tgtEl>
                                        <p:attrNameLst>
                                          <p:attrName>style.rotation</p:attrName>
                                        </p:attrNameLst>
                                      </p:cBhvr>
                                      <p:tavLst>
                                        <p:tav tm="0">
                                          <p:val>
                                            <p:fltVal val="360"/>
                                          </p:val>
                                        </p:tav>
                                        <p:tav tm="100000">
                                          <p:val>
                                            <p:fltVal val="0"/>
                                          </p:val>
                                        </p:tav>
                                      </p:tavLst>
                                    </p:anim>
                                    <p:animEffect transition="in" filter="fade">
                                      <p:cBhvr>
                                        <p:cTn id="26" dur="350"/>
                                        <p:tgtEl>
                                          <p:spTgt spid="9"/>
                                        </p:tgtEl>
                                      </p:cBhvr>
                                    </p:animEffect>
                                  </p:childTnLst>
                                </p:cTn>
                              </p:par>
                              <p:par>
                                <p:cTn id="27" presetID="6" presetClass="emph" presetSubtype="0" accel="82000" decel="18000" autoRev="1" fill="hold" nodeType="withEffect">
                                  <p:stCondLst>
                                    <p:cond delay="200"/>
                                  </p:stCondLst>
                                  <p:childTnLst>
                                    <p:animScale>
                                      <p:cBhvr>
                                        <p:cTn id="28" dur="350" fill="hold"/>
                                        <p:tgtEl>
                                          <p:spTgt spid="9"/>
                                        </p:tgtEl>
                                      </p:cBhvr>
                                      <p:by x="110000" y="110000"/>
                                    </p:animScale>
                                  </p:childTnLst>
                                </p:cTn>
                              </p:par>
                              <p:par>
                                <p:cTn id="29" presetID="49" presetClass="entr" presetSubtype="0" decel="100000" fill="hold" nodeType="withEffect">
                                  <p:stCondLst>
                                    <p:cond delay="200"/>
                                  </p:stCondLst>
                                  <p:childTnLst>
                                    <p:set>
                                      <p:cBhvr>
                                        <p:cTn id="30" dur="1" fill="hold">
                                          <p:stCondLst>
                                            <p:cond delay="0"/>
                                          </p:stCondLst>
                                        </p:cTn>
                                        <p:tgtEl>
                                          <p:spTgt spid="11"/>
                                        </p:tgtEl>
                                        <p:attrNameLst>
                                          <p:attrName>style.visibility</p:attrName>
                                        </p:attrNameLst>
                                      </p:cBhvr>
                                      <p:to>
                                        <p:strVal val="visible"/>
                                      </p:to>
                                    </p:set>
                                    <p:anim calcmode="lin" valueType="num">
                                      <p:cBhvr>
                                        <p:cTn id="31" dur="350" fill="hold"/>
                                        <p:tgtEl>
                                          <p:spTgt spid="11"/>
                                        </p:tgtEl>
                                        <p:attrNameLst>
                                          <p:attrName>ppt_w</p:attrName>
                                        </p:attrNameLst>
                                      </p:cBhvr>
                                      <p:tavLst>
                                        <p:tav tm="0">
                                          <p:val>
                                            <p:fltVal val="0"/>
                                          </p:val>
                                        </p:tav>
                                        <p:tav tm="100000">
                                          <p:val>
                                            <p:strVal val="#ppt_w"/>
                                          </p:val>
                                        </p:tav>
                                      </p:tavLst>
                                    </p:anim>
                                    <p:anim calcmode="lin" valueType="num">
                                      <p:cBhvr>
                                        <p:cTn id="32" dur="350" fill="hold"/>
                                        <p:tgtEl>
                                          <p:spTgt spid="11"/>
                                        </p:tgtEl>
                                        <p:attrNameLst>
                                          <p:attrName>ppt_h</p:attrName>
                                        </p:attrNameLst>
                                      </p:cBhvr>
                                      <p:tavLst>
                                        <p:tav tm="0">
                                          <p:val>
                                            <p:fltVal val="0"/>
                                          </p:val>
                                        </p:tav>
                                        <p:tav tm="100000">
                                          <p:val>
                                            <p:strVal val="#ppt_h"/>
                                          </p:val>
                                        </p:tav>
                                      </p:tavLst>
                                    </p:anim>
                                    <p:anim calcmode="lin" valueType="num">
                                      <p:cBhvr>
                                        <p:cTn id="33" dur="350" fill="hold"/>
                                        <p:tgtEl>
                                          <p:spTgt spid="11"/>
                                        </p:tgtEl>
                                        <p:attrNameLst>
                                          <p:attrName>style.rotation</p:attrName>
                                        </p:attrNameLst>
                                      </p:cBhvr>
                                      <p:tavLst>
                                        <p:tav tm="0">
                                          <p:val>
                                            <p:fltVal val="360"/>
                                          </p:val>
                                        </p:tav>
                                        <p:tav tm="100000">
                                          <p:val>
                                            <p:fltVal val="0"/>
                                          </p:val>
                                        </p:tav>
                                      </p:tavLst>
                                    </p:anim>
                                    <p:animEffect transition="in" filter="fade">
                                      <p:cBhvr>
                                        <p:cTn id="34" dur="350"/>
                                        <p:tgtEl>
                                          <p:spTgt spid="11"/>
                                        </p:tgtEl>
                                      </p:cBhvr>
                                    </p:animEffect>
                                  </p:childTnLst>
                                </p:cTn>
                              </p:par>
                              <p:par>
                                <p:cTn id="35" presetID="6" presetClass="emph" presetSubtype="0" accel="82000" decel="18000" autoRev="1" fill="hold" nodeType="withEffect">
                                  <p:stCondLst>
                                    <p:cond delay="200"/>
                                  </p:stCondLst>
                                  <p:childTnLst>
                                    <p:animScale>
                                      <p:cBhvr>
                                        <p:cTn id="36" dur="350" fill="hold"/>
                                        <p:tgtEl>
                                          <p:spTgt spid="11"/>
                                        </p:tgtEl>
                                      </p:cBhvr>
                                      <p:by x="110000" y="110000"/>
                                    </p:animScale>
                                  </p:childTnLst>
                                </p:cTn>
                              </p:par>
                              <p:par>
                                <p:cTn id="37" presetID="49" presetClass="entr" presetSubtype="0" decel="10000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350" fill="hold"/>
                                        <p:tgtEl>
                                          <p:spTgt spid="10"/>
                                        </p:tgtEl>
                                        <p:attrNameLst>
                                          <p:attrName>ppt_w</p:attrName>
                                        </p:attrNameLst>
                                      </p:cBhvr>
                                      <p:tavLst>
                                        <p:tav tm="0">
                                          <p:val>
                                            <p:fltVal val="0"/>
                                          </p:val>
                                        </p:tav>
                                        <p:tav tm="100000">
                                          <p:val>
                                            <p:strVal val="#ppt_w"/>
                                          </p:val>
                                        </p:tav>
                                      </p:tavLst>
                                    </p:anim>
                                    <p:anim calcmode="lin" valueType="num">
                                      <p:cBhvr>
                                        <p:cTn id="40" dur="350" fill="hold"/>
                                        <p:tgtEl>
                                          <p:spTgt spid="10"/>
                                        </p:tgtEl>
                                        <p:attrNameLst>
                                          <p:attrName>ppt_h</p:attrName>
                                        </p:attrNameLst>
                                      </p:cBhvr>
                                      <p:tavLst>
                                        <p:tav tm="0">
                                          <p:val>
                                            <p:fltVal val="0"/>
                                          </p:val>
                                        </p:tav>
                                        <p:tav tm="100000">
                                          <p:val>
                                            <p:strVal val="#ppt_h"/>
                                          </p:val>
                                        </p:tav>
                                      </p:tavLst>
                                    </p:anim>
                                    <p:anim calcmode="lin" valueType="num">
                                      <p:cBhvr>
                                        <p:cTn id="41" dur="350" fill="hold"/>
                                        <p:tgtEl>
                                          <p:spTgt spid="10"/>
                                        </p:tgtEl>
                                        <p:attrNameLst>
                                          <p:attrName>style.rotation</p:attrName>
                                        </p:attrNameLst>
                                      </p:cBhvr>
                                      <p:tavLst>
                                        <p:tav tm="0">
                                          <p:val>
                                            <p:fltVal val="360"/>
                                          </p:val>
                                        </p:tav>
                                        <p:tav tm="100000">
                                          <p:val>
                                            <p:fltVal val="0"/>
                                          </p:val>
                                        </p:tav>
                                      </p:tavLst>
                                    </p:anim>
                                    <p:animEffect transition="in" filter="fade">
                                      <p:cBhvr>
                                        <p:cTn id="42" dur="350"/>
                                        <p:tgtEl>
                                          <p:spTgt spid="10"/>
                                        </p:tgtEl>
                                      </p:cBhvr>
                                    </p:animEffect>
                                  </p:childTnLst>
                                </p:cTn>
                              </p:par>
                              <p:par>
                                <p:cTn id="43" presetID="6" presetClass="emph" presetSubtype="0" accel="82000" decel="18000" autoRev="1" fill="hold" nodeType="withEffect">
                                  <p:stCondLst>
                                    <p:cond delay="0"/>
                                  </p:stCondLst>
                                  <p:childTnLst>
                                    <p:animScale>
                                      <p:cBhvr>
                                        <p:cTn id="44" dur="350" fill="hold"/>
                                        <p:tgtEl>
                                          <p:spTgt spid="10"/>
                                        </p:tgtEl>
                                      </p:cBhvr>
                                      <p:by x="110000" y="110000"/>
                                    </p:animScale>
                                  </p:childTnLst>
                                </p:cTn>
                              </p:par>
                              <p:par>
                                <p:cTn id="45" presetID="49" presetClass="entr" presetSubtype="0" decel="100000" fill="hold" nodeType="withEffect">
                                  <p:stCondLst>
                                    <p:cond delay="600"/>
                                  </p:stCondLst>
                                  <p:childTnLst>
                                    <p:set>
                                      <p:cBhvr>
                                        <p:cTn id="46" dur="1" fill="hold">
                                          <p:stCondLst>
                                            <p:cond delay="0"/>
                                          </p:stCondLst>
                                        </p:cTn>
                                        <p:tgtEl>
                                          <p:spTgt spid="13"/>
                                        </p:tgtEl>
                                        <p:attrNameLst>
                                          <p:attrName>style.visibility</p:attrName>
                                        </p:attrNameLst>
                                      </p:cBhvr>
                                      <p:to>
                                        <p:strVal val="visible"/>
                                      </p:to>
                                    </p:set>
                                    <p:anim calcmode="lin" valueType="num">
                                      <p:cBhvr>
                                        <p:cTn id="47" dur="350" fill="hold"/>
                                        <p:tgtEl>
                                          <p:spTgt spid="13"/>
                                        </p:tgtEl>
                                        <p:attrNameLst>
                                          <p:attrName>ppt_w</p:attrName>
                                        </p:attrNameLst>
                                      </p:cBhvr>
                                      <p:tavLst>
                                        <p:tav tm="0">
                                          <p:val>
                                            <p:fltVal val="0"/>
                                          </p:val>
                                        </p:tav>
                                        <p:tav tm="100000">
                                          <p:val>
                                            <p:strVal val="#ppt_w"/>
                                          </p:val>
                                        </p:tav>
                                      </p:tavLst>
                                    </p:anim>
                                    <p:anim calcmode="lin" valueType="num">
                                      <p:cBhvr>
                                        <p:cTn id="48" dur="350" fill="hold"/>
                                        <p:tgtEl>
                                          <p:spTgt spid="13"/>
                                        </p:tgtEl>
                                        <p:attrNameLst>
                                          <p:attrName>ppt_h</p:attrName>
                                        </p:attrNameLst>
                                      </p:cBhvr>
                                      <p:tavLst>
                                        <p:tav tm="0">
                                          <p:val>
                                            <p:fltVal val="0"/>
                                          </p:val>
                                        </p:tav>
                                        <p:tav tm="100000">
                                          <p:val>
                                            <p:strVal val="#ppt_h"/>
                                          </p:val>
                                        </p:tav>
                                      </p:tavLst>
                                    </p:anim>
                                    <p:anim calcmode="lin" valueType="num">
                                      <p:cBhvr>
                                        <p:cTn id="49" dur="350" fill="hold"/>
                                        <p:tgtEl>
                                          <p:spTgt spid="13"/>
                                        </p:tgtEl>
                                        <p:attrNameLst>
                                          <p:attrName>style.rotation</p:attrName>
                                        </p:attrNameLst>
                                      </p:cBhvr>
                                      <p:tavLst>
                                        <p:tav tm="0">
                                          <p:val>
                                            <p:fltVal val="360"/>
                                          </p:val>
                                        </p:tav>
                                        <p:tav tm="100000">
                                          <p:val>
                                            <p:fltVal val="0"/>
                                          </p:val>
                                        </p:tav>
                                      </p:tavLst>
                                    </p:anim>
                                    <p:animEffect transition="in" filter="fade">
                                      <p:cBhvr>
                                        <p:cTn id="50" dur="350"/>
                                        <p:tgtEl>
                                          <p:spTgt spid="13"/>
                                        </p:tgtEl>
                                      </p:cBhvr>
                                    </p:animEffect>
                                  </p:childTnLst>
                                </p:cTn>
                              </p:par>
                              <p:par>
                                <p:cTn id="51" presetID="6" presetClass="emph" presetSubtype="0" accel="82000" decel="18000" autoRev="1" fill="hold" nodeType="withEffect">
                                  <p:stCondLst>
                                    <p:cond delay="600"/>
                                  </p:stCondLst>
                                  <p:childTnLst>
                                    <p:animScale>
                                      <p:cBhvr>
                                        <p:cTn id="52" dur="350" fill="hold"/>
                                        <p:tgtEl>
                                          <p:spTgt spid="13"/>
                                        </p:tgtEl>
                                      </p:cBhvr>
                                      <p:by x="110000" y="110000"/>
                                    </p:animScale>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barn(inVertical)">
                                      <p:cBhvr>
                                        <p:cTn id="57" dur="500"/>
                                        <p:tgtEl>
                                          <p:spTgt spid="24"/>
                                        </p:tgtEl>
                                      </p:cBhvr>
                                    </p:animEffect>
                                  </p:childTnLst>
                                </p:cTn>
                              </p:par>
                              <p:par>
                                <p:cTn id="58" presetID="16" presetClass="entr" presetSubtype="21" fill="hold" grpId="0" nodeType="with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barn(inVertical)">
                                      <p:cBhvr>
                                        <p:cTn id="60" dur="500"/>
                                        <p:tgtEl>
                                          <p:spTgt spid="25"/>
                                        </p:tgtEl>
                                      </p:cBhvr>
                                    </p:animEffect>
                                  </p:childTnLst>
                                </p:cTn>
                              </p:par>
                              <p:par>
                                <p:cTn id="61" presetID="16" presetClass="entr" presetSubtype="21"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barn(inVertical)">
                                      <p:cBhvr>
                                        <p:cTn id="63" dur="500"/>
                                        <p:tgtEl>
                                          <p:spTgt spid="26"/>
                                        </p:tgtEl>
                                      </p:cBhvr>
                                    </p:animEffect>
                                  </p:childTnLst>
                                </p:cTn>
                              </p:par>
                              <p:par>
                                <p:cTn id="64" presetID="16" presetClass="entr" presetSubtype="21" fill="hold" grpId="0"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barn(inVertical)">
                                      <p:cBhvr>
                                        <p:cTn id="66" dur="500"/>
                                        <p:tgtEl>
                                          <p:spTgt spid="27"/>
                                        </p:tgtEl>
                                      </p:cBhvr>
                                    </p:animEffect>
                                  </p:childTnLst>
                                </p:cTn>
                              </p:par>
                              <p:par>
                                <p:cTn id="67" presetID="16" presetClass="entr" presetSubtype="21"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barn(inVertical)">
                                      <p:cBhvr>
                                        <p:cTn id="69" dur="500"/>
                                        <p:tgtEl>
                                          <p:spTgt spid="28"/>
                                        </p:tgtEl>
                                      </p:cBhvr>
                                    </p:animEffect>
                                  </p:childTnLst>
                                </p:cTn>
                              </p:par>
                              <p:par>
                                <p:cTn id="70" presetID="16" presetClass="entr" presetSubtype="21" fill="hold" grpId="0" nodeType="with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barn(inVertical)">
                                      <p:cBhvr>
                                        <p:cTn id="7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28" grpId="0"/>
      <p:bldP spid="2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三要素">
            <a:extLst>
              <a:ext uri="{FF2B5EF4-FFF2-40B4-BE49-F238E27FC236}">
                <a16:creationId xmlns:a16="http://schemas.microsoft.com/office/drawing/2014/main" id="{3A486E8B-0AD9-758B-C051-45139A4DB04A}"/>
              </a:ext>
            </a:extLst>
          </p:cNvPr>
          <p:cNvSpPr txBox="1">
            <a:spLocks/>
          </p:cNvSpPr>
          <p:nvPr/>
        </p:nvSpPr>
        <p:spPr>
          <a:xfrm>
            <a:off x="710879" y="-728888"/>
            <a:ext cx="3432496"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dirty="0">
                <a:latin typeface="Consolas" panose="020B0609020204030204" pitchFamily="49" charset="0"/>
              </a:rPr>
              <a:t>IPv4</a:t>
            </a:r>
            <a:r>
              <a:rPr lang="zh-CN" altLang="en-US" dirty="0">
                <a:latin typeface="Consolas" panose="020B0609020204030204" pitchFamily="49" charset="0"/>
              </a:rPr>
              <a:t>的地址分类形式</a:t>
            </a:r>
          </a:p>
        </p:txBody>
      </p:sp>
      <p:sp>
        <p:nvSpPr>
          <p:cNvPr id="6" name="!!!三要素">
            <a:extLst>
              <a:ext uri="{FF2B5EF4-FFF2-40B4-BE49-F238E27FC236}">
                <a16:creationId xmlns:a16="http://schemas.microsoft.com/office/drawing/2014/main" id="{C0A9DEE1-00D5-2621-ECC7-09468FEDA55F}"/>
              </a:ext>
            </a:extLst>
          </p:cNvPr>
          <p:cNvSpPr txBox="1">
            <a:spLocks/>
          </p:cNvSpPr>
          <p:nvPr/>
        </p:nvSpPr>
        <p:spPr>
          <a:xfrm>
            <a:off x="-3554609" y="997654"/>
            <a:ext cx="3432496"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dirty="0">
                <a:latin typeface="Consolas" panose="020B0609020204030204" pitchFamily="49" charset="0"/>
              </a:rPr>
              <a:t>常用的</a:t>
            </a:r>
            <a:r>
              <a:rPr lang="en-US" altLang="zh-CN" dirty="0">
                <a:latin typeface="Consolas" panose="020B0609020204030204" pitchFamily="49" charset="0"/>
              </a:rPr>
              <a:t>CMD</a:t>
            </a:r>
            <a:r>
              <a:rPr lang="zh-CN" altLang="en-US" dirty="0">
                <a:latin typeface="Consolas" panose="020B0609020204030204" pitchFamily="49" charset="0"/>
              </a:rPr>
              <a:t>命令</a:t>
            </a:r>
          </a:p>
        </p:txBody>
      </p:sp>
      <p:pic>
        <p:nvPicPr>
          <p:cNvPr id="7" name="图片 6">
            <a:extLst>
              <a:ext uri="{FF2B5EF4-FFF2-40B4-BE49-F238E27FC236}">
                <a16:creationId xmlns:a16="http://schemas.microsoft.com/office/drawing/2014/main" id="{201C8B96-5308-B4E1-33C2-77E7661C443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91829" y="2522011"/>
            <a:ext cx="1951567" cy="1627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电脑1">
            <a:extLst>
              <a:ext uri="{FF2B5EF4-FFF2-40B4-BE49-F238E27FC236}">
                <a16:creationId xmlns:a16="http://schemas.microsoft.com/office/drawing/2014/main" id="{FFAA5FB2-E739-EE9E-2DF9-FCD0B277D15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27278" y="2522011"/>
            <a:ext cx="1951567" cy="1627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a:extLst>
              <a:ext uri="{FF2B5EF4-FFF2-40B4-BE49-F238E27FC236}">
                <a16:creationId xmlns:a16="http://schemas.microsoft.com/office/drawing/2014/main" id="{0C94BC2F-8D6C-BDFC-1A14-AA6F825992C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756380" y="2522011"/>
            <a:ext cx="1951567" cy="1627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电脑">
            <a:extLst>
              <a:ext uri="{FF2B5EF4-FFF2-40B4-BE49-F238E27FC236}">
                <a16:creationId xmlns:a16="http://schemas.microsoft.com/office/drawing/2014/main" id="{80B204BE-A743-CF2B-09D6-52E367E1E3C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91828" y="4471693"/>
            <a:ext cx="1951567" cy="1627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a:extLst>
              <a:ext uri="{FF2B5EF4-FFF2-40B4-BE49-F238E27FC236}">
                <a16:creationId xmlns:a16="http://schemas.microsoft.com/office/drawing/2014/main" id="{104338BB-E2AF-19C8-8315-3ACF727BA82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27278" y="4471693"/>
            <a:ext cx="1951567" cy="1627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12">
            <a:extLst>
              <a:ext uri="{FF2B5EF4-FFF2-40B4-BE49-F238E27FC236}">
                <a16:creationId xmlns:a16="http://schemas.microsoft.com/office/drawing/2014/main" id="{6644B77B-C3B0-2130-12F8-C79DCE78EC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756380" y="4471693"/>
            <a:ext cx="1951567" cy="1627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a:extLst>
              <a:ext uri="{FF2B5EF4-FFF2-40B4-BE49-F238E27FC236}">
                <a16:creationId xmlns:a16="http://schemas.microsoft.com/office/drawing/2014/main" id="{7143AD30-78AF-3BF3-33D6-4FFA949872A0}"/>
              </a:ext>
            </a:extLst>
          </p:cNvPr>
          <p:cNvGrpSpPr/>
          <p:nvPr/>
        </p:nvGrpSpPr>
        <p:grpSpPr>
          <a:xfrm rot="2656159">
            <a:off x="8754056" y="-1050891"/>
            <a:ext cx="8831112" cy="646331"/>
            <a:chOff x="2457241" y="5160385"/>
            <a:chExt cx="8831112" cy="646331"/>
          </a:xfrm>
        </p:grpSpPr>
        <p:grpSp>
          <p:nvGrpSpPr>
            <p:cNvPr id="12" name="组合 11">
              <a:extLst>
                <a:ext uri="{FF2B5EF4-FFF2-40B4-BE49-F238E27FC236}">
                  <a16:creationId xmlns:a16="http://schemas.microsoft.com/office/drawing/2014/main" id="{2B46D451-4C79-53EF-2A58-7C2AC75D8F98}"/>
                </a:ext>
              </a:extLst>
            </p:cNvPr>
            <p:cNvGrpSpPr/>
            <p:nvPr/>
          </p:nvGrpSpPr>
          <p:grpSpPr>
            <a:xfrm>
              <a:off x="2457241" y="5184645"/>
              <a:ext cx="8831112" cy="594560"/>
              <a:chOff x="4304042" y="1286668"/>
              <a:chExt cx="6930132" cy="2757793"/>
            </a:xfrm>
            <a:effectLst>
              <a:outerShdw blurRad="381000" dist="254000" dir="8100000" algn="tr" rotWithShape="0">
                <a:prstClr val="black">
                  <a:alpha val="40000"/>
                </a:prstClr>
              </a:outerShdw>
            </a:effectLst>
          </p:grpSpPr>
          <p:sp>
            <p:nvSpPr>
              <p:cNvPr id="15" name="圆角矩形 70">
                <a:extLst>
                  <a:ext uri="{FF2B5EF4-FFF2-40B4-BE49-F238E27FC236}">
                    <a16:creationId xmlns:a16="http://schemas.microsoft.com/office/drawing/2014/main" id="{172F7318-A8B5-2C6F-CCFF-089C1526690E}"/>
                  </a:ext>
                </a:extLst>
              </p:cNvPr>
              <p:cNvSpPr/>
              <p:nvPr/>
            </p:nvSpPr>
            <p:spPr>
              <a:xfrm>
                <a:off x="4304044" y="1286668"/>
                <a:ext cx="6930130"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Consolas" panose="020B0609020204030204" pitchFamily="49" charset="0"/>
                  <a:ea typeface="微软雅黑"/>
                </a:endParaRPr>
              </a:p>
            </p:txBody>
          </p:sp>
          <p:sp>
            <p:nvSpPr>
              <p:cNvPr id="16" name="圆角矩形 71">
                <a:extLst>
                  <a:ext uri="{FF2B5EF4-FFF2-40B4-BE49-F238E27FC236}">
                    <a16:creationId xmlns:a16="http://schemas.microsoft.com/office/drawing/2014/main" id="{DE14C17F-E1DC-82B9-8872-0F3184C55CD7}"/>
                  </a:ext>
                </a:extLst>
              </p:cNvPr>
              <p:cNvSpPr/>
              <p:nvPr/>
            </p:nvSpPr>
            <p:spPr>
              <a:xfrm>
                <a:off x="4304042" y="1286668"/>
                <a:ext cx="6930129" cy="2757793"/>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Consolas" panose="020B0609020204030204" pitchFamily="49" charset="0"/>
                  <a:ea typeface="微软雅黑"/>
                </a:endParaRPr>
              </a:p>
            </p:txBody>
          </p:sp>
        </p:grpSp>
        <p:sp>
          <p:nvSpPr>
            <p:cNvPr id="14" name="TextBox 69">
              <a:extLst>
                <a:ext uri="{FF2B5EF4-FFF2-40B4-BE49-F238E27FC236}">
                  <a16:creationId xmlns:a16="http://schemas.microsoft.com/office/drawing/2014/main" id="{E8283BC2-7602-FB6C-3378-FD89F62AB141}"/>
                </a:ext>
              </a:extLst>
            </p:cNvPr>
            <p:cNvSpPr txBox="1"/>
            <p:nvPr/>
          </p:nvSpPr>
          <p:spPr>
            <a:xfrm>
              <a:off x="2705919" y="5160385"/>
              <a:ext cx="8212563" cy="646331"/>
            </a:xfrm>
            <a:prstGeom prst="rect">
              <a:avLst/>
            </a:prstGeom>
            <a:noFill/>
          </p:spPr>
          <p:txBody>
            <a:bodyPr wrap="square" rtlCol="0">
              <a:spAutoFit/>
            </a:bodyPr>
            <a:lstStyle/>
            <a:p>
              <a:pPr fontAlgn="auto">
                <a:spcBef>
                  <a:spcPts val="0"/>
                </a:spcBef>
                <a:spcAft>
                  <a:spcPts val="0"/>
                </a:spcAft>
              </a:pPr>
              <a:r>
                <a:rPr lang="zh-CN" altLang="en-US"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疑问：</a:t>
              </a:r>
              <a:r>
                <a:rPr lang="zh-CN" altLang="en-US"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假设</a:t>
              </a:r>
              <a:r>
                <a:rPr lang="en-US" altLang="zh-CN"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192.168.1.100 </a:t>
              </a:r>
              <a:r>
                <a:rPr lang="zh-CN" altLang="en-US"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是我电脑的</a:t>
              </a:r>
              <a:r>
                <a:rPr lang="en-US" altLang="zh-CN"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IP</a:t>
              </a:r>
              <a:r>
                <a:rPr lang="zh-CN" altLang="en-US"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，那么这个</a:t>
              </a:r>
              <a:r>
                <a:rPr lang="en-US" altLang="zh-CN"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IP</a:t>
              </a:r>
              <a:r>
                <a:rPr lang="zh-CN" altLang="en-US"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跟</a:t>
              </a:r>
              <a:r>
                <a:rPr lang="en-US" altLang="zh-CN"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127.0.0.1</a:t>
              </a:r>
              <a:r>
                <a:rPr lang="zh-CN" altLang="en-US"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是一样的吗？</a:t>
              </a:r>
            </a:p>
          </p:txBody>
        </p:sp>
      </p:grpSp>
      <p:pic>
        <p:nvPicPr>
          <p:cNvPr id="18" name="图片 17">
            <a:extLst>
              <a:ext uri="{FF2B5EF4-FFF2-40B4-BE49-F238E27FC236}">
                <a16:creationId xmlns:a16="http://schemas.microsoft.com/office/drawing/2014/main" id="{C4D148DE-AA4C-7D1F-7F70-AC0CE980F5F4}"/>
              </a:ext>
            </a:extLst>
          </p:cNvPr>
          <p:cNvPicPr>
            <a:picLocks noChangeAspect="1"/>
          </p:cNvPicPr>
          <p:nvPr/>
        </p:nvPicPr>
        <p:blipFill>
          <a:blip r:embed="rId4"/>
          <a:stretch>
            <a:fillRect/>
          </a:stretch>
        </p:blipFill>
        <p:spPr>
          <a:xfrm>
            <a:off x="580007" y="3004027"/>
            <a:ext cx="1808091" cy="2124042"/>
          </a:xfrm>
          <a:prstGeom prst="rect">
            <a:avLst/>
          </a:prstGeom>
        </p:spPr>
      </p:pic>
      <p:sp>
        <p:nvSpPr>
          <p:cNvPr id="19" name="文本框 18">
            <a:extLst>
              <a:ext uri="{FF2B5EF4-FFF2-40B4-BE49-F238E27FC236}">
                <a16:creationId xmlns:a16="http://schemas.microsoft.com/office/drawing/2014/main" id="{93866DEF-89E0-73DE-B017-3B740990514E}"/>
              </a:ext>
            </a:extLst>
          </p:cNvPr>
          <p:cNvSpPr txBox="1"/>
          <p:nvPr/>
        </p:nvSpPr>
        <p:spPr>
          <a:xfrm>
            <a:off x="3770754" y="3974586"/>
            <a:ext cx="1808091" cy="369332"/>
          </a:xfrm>
          <a:prstGeom prst="rect">
            <a:avLst/>
          </a:prstGeom>
          <a:noFill/>
        </p:spPr>
        <p:txBody>
          <a:bodyPr wrap="square">
            <a:spAutoFit/>
          </a:bodyPr>
          <a:lstStyle/>
          <a:p>
            <a:r>
              <a:rPr lang="en-US" altLang="zh-CN"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192.168.1.10</a:t>
            </a:r>
            <a:endParaRPr lang="zh-CN" altLang="en-US" dirty="0">
              <a:solidFill>
                <a:srgbClr val="0070C0"/>
              </a:solidFill>
              <a:latin typeface="Consolas" panose="020B0609020204030204" pitchFamily="49" charset="0"/>
            </a:endParaRPr>
          </a:p>
        </p:txBody>
      </p:sp>
      <p:sp>
        <p:nvSpPr>
          <p:cNvPr id="20" name="文本框 19">
            <a:extLst>
              <a:ext uri="{FF2B5EF4-FFF2-40B4-BE49-F238E27FC236}">
                <a16:creationId xmlns:a16="http://schemas.microsoft.com/office/drawing/2014/main" id="{E727C0CE-205E-5148-4993-4F8879918105}"/>
              </a:ext>
            </a:extLst>
          </p:cNvPr>
          <p:cNvSpPr txBox="1"/>
          <p:nvPr/>
        </p:nvSpPr>
        <p:spPr>
          <a:xfrm>
            <a:off x="6335304" y="3974586"/>
            <a:ext cx="1808091" cy="369332"/>
          </a:xfrm>
          <a:prstGeom prst="rect">
            <a:avLst/>
          </a:prstGeom>
          <a:noFill/>
        </p:spPr>
        <p:txBody>
          <a:bodyPr wrap="square">
            <a:spAutoFit/>
          </a:bodyPr>
          <a:lstStyle/>
          <a:p>
            <a:r>
              <a:rPr lang="en-US" altLang="zh-CN"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192.168.1.21</a:t>
            </a:r>
            <a:endParaRPr lang="zh-CN" altLang="en-US" dirty="0">
              <a:solidFill>
                <a:srgbClr val="0070C0"/>
              </a:solidFill>
              <a:latin typeface="Consolas" panose="020B0609020204030204" pitchFamily="49" charset="0"/>
            </a:endParaRPr>
          </a:p>
        </p:txBody>
      </p:sp>
      <p:sp>
        <p:nvSpPr>
          <p:cNvPr id="21" name="文本框 20">
            <a:extLst>
              <a:ext uri="{FF2B5EF4-FFF2-40B4-BE49-F238E27FC236}">
                <a16:creationId xmlns:a16="http://schemas.microsoft.com/office/drawing/2014/main" id="{68DD6191-61C0-950E-16CC-380D35A3BC88}"/>
              </a:ext>
            </a:extLst>
          </p:cNvPr>
          <p:cNvSpPr txBox="1"/>
          <p:nvPr/>
        </p:nvSpPr>
        <p:spPr>
          <a:xfrm>
            <a:off x="8899856" y="3974586"/>
            <a:ext cx="1808091" cy="369332"/>
          </a:xfrm>
          <a:prstGeom prst="rect">
            <a:avLst/>
          </a:prstGeom>
          <a:noFill/>
        </p:spPr>
        <p:txBody>
          <a:bodyPr wrap="square">
            <a:spAutoFit/>
          </a:bodyPr>
          <a:lstStyle/>
          <a:p>
            <a:r>
              <a:rPr lang="en-US" altLang="zh-CN"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192.168.1.32</a:t>
            </a:r>
            <a:endParaRPr lang="zh-CN" altLang="en-US" dirty="0">
              <a:solidFill>
                <a:srgbClr val="0070C0"/>
              </a:solidFill>
              <a:latin typeface="Consolas" panose="020B0609020204030204" pitchFamily="49" charset="0"/>
            </a:endParaRPr>
          </a:p>
        </p:txBody>
      </p:sp>
      <p:sp>
        <p:nvSpPr>
          <p:cNvPr id="22" name="文本框 21">
            <a:extLst>
              <a:ext uri="{FF2B5EF4-FFF2-40B4-BE49-F238E27FC236}">
                <a16:creationId xmlns:a16="http://schemas.microsoft.com/office/drawing/2014/main" id="{E47A12CB-D673-64C8-89C2-5DE46E2BA50A}"/>
              </a:ext>
            </a:extLst>
          </p:cNvPr>
          <p:cNvSpPr txBox="1"/>
          <p:nvPr/>
        </p:nvSpPr>
        <p:spPr>
          <a:xfrm>
            <a:off x="3770754" y="6036570"/>
            <a:ext cx="1808091" cy="369332"/>
          </a:xfrm>
          <a:prstGeom prst="rect">
            <a:avLst/>
          </a:prstGeom>
          <a:noFill/>
        </p:spPr>
        <p:txBody>
          <a:bodyPr wrap="square">
            <a:spAutoFit/>
          </a:bodyPr>
          <a:lstStyle/>
          <a:p>
            <a:r>
              <a:rPr lang="en-US" altLang="zh-CN"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192.168.1.50</a:t>
            </a:r>
            <a:endParaRPr lang="zh-CN" altLang="en-US" dirty="0">
              <a:solidFill>
                <a:srgbClr val="0070C0"/>
              </a:solidFill>
              <a:latin typeface="Consolas" panose="020B0609020204030204" pitchFamily="49" charset="0"/>
            </a:endParaRPr>
          </a:p>
        </p:txBody>
      </p:sp>
      <p:sp>
        <p:nvSpPr>
          <p:cNvPr id="23" name="文本框 22">
            <a:extLst>
              <a:ext uri="{FF2B5EF4-FFF2-40B4-BE49-F238E27FC236}">
                <a16:creationId xmlns:a16="http://schemas.microsoft.com/office/drawing/2014/main" id="{17DE6A10-C5CB-AAE6-6844-6B90B7582AF0}"/>
              </a:ext>
            </a:extLst>
          </p:cNvPr>
          <p:cNvSpPr txBox="1"/>
          <p:nvPr/>
        </p:nvSpPr>
        <p:spPr>
          <a:xfrm>
            <a:off x="6335304" y="6036570"/>
            <a:ext cx="2068032" cy="369332"/>
          </a:xfrm>
          <a:prstGeom prst="rect">
            <a:avLst/>
          </a:prstGeom>
          <a:noFill/>
        </p:spPr>
        <p:txBody>
          <a:bodyPr wrap="square">
            <a:spAutoFit/>
          </a:bodyPr>
          <a:lstStyle/>
          <a:p>
            <a:r>
              <a:rPr lang="en-US" altLang="zh-CN"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192.168.1.100</a:t>
            </a:r>
            <a:endParaRPr lang="zh-CN" altLang="en-US" dirty="0">
              <a:solidFill>
                <a:srgbClr val="C00000"/>
              </a:solidFill>
              <a:latin typeface="Consolas" panose="020B0609020204030204" pitchFamily="49" charset="0"/>
            </a:endParaRPr>
          </a:p>
        </p:txBody>
      </p:sp>
      <p:sp>
        <p:nvSpPr>
          <p:cNvPr id="24" name="文本框 23">
            <a:extLst>
              <a:ext uri="{FF2B5EF4-FFF2-40B4-BE49-F238E27FC236}">
                <a16:creationId xmlns:a16="http://schemas.microsoft.com/office/drawing/2014/main" id="{3C41F90A-F9D9-7229-3887-27FFA7318261}"/>
              </a:ext>
            </a:extLst>
          </p:cNvPr>
          <p:cNvSpPr txBox="1"/>
          <p:nvPr/>
        </p:nvSpPr>
        <p:spPr>
          <a:xfrm>
            <a:off x="8899856" y="6036570"/>
            <a:ext cx="1808091" cy="369332"/>
          </a:xfrm>
          <a:prstGeom prst="rect">
            <a:avLst/>
          </a:prstGeom>
          <a:noFill/>
        </p:spPr>
        <p:txBody>
          <a:bodyPr wrap="square">
            <a:spAutoFit/>
          </a:bodyPr>
          <a:lstStyle/>
          <a:p>
            <a:r>
              <a:rPr lang="en-US" altLang="zh-CN"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192.168.1.87</a:t>
            </a:r>
            <a:endParaRPr lang="zh-CN" altLang="en-US" dirty="0">
              <a:solidFill>
                <a:srgbClr val="0070C0"/>
              </a:solidFill>
              <a:latin typeface="Consolas" panose="020B0609020204030204" pitchFamily="49" charset="0"/>
            </a:endParaRPr>
          </a:p>
        </p:txBody>
      </p:sp>
      <p:sp>
        <p:nvSpPr>
          <p:cNvPr id="4" name="标题 3">
            <a:extLst>
              <a:ext uri="{FF2B5EF4-FFF2-40B4-BE49-F238E27FC236}">
                <a16:creationId xmlns:a16="http://schemas.microsoft.com/office/drawing/2014/main" id="{AED88815-9ED1-33DD-66DB-3B470083929B}"/>
              </a:ext>
            </a:extLst>
          </p:cNvPr>
          <p:cNvSpPr>
            <a:spLocks noGrp="1"/>
          </p:cNvSpPr>
          <p:nvPr>
            <p:ph type="title"/>
          </p:nvPr>
        </p:nvSpPr>
        <p:spPr/>
        <p:txBody>
          <a:bodyPr/>
          <a:lstStyle/>
          <a:p>
            <a:r>
              <a:rPr lang="zh-CN" altLang="en-US" dirty="0"/>
              <a:t>特殊</a:t>
            </a:r>
            <a:r>
              <a:rPr lang="en-US" altLang="zh-CN" dirty="0"/>
              <a:t>IP</a:t>
            </a:r>
            <a:r>
              <a:rPr lang="zh-CN" altLang="en-US" dirty="0"/>
              <a:t>地址</a:t>
            </a:r>
          </a:p>
        </p:txBody>
      </p:sp>
      <p:sp>
        <p:nvSpPr>
          <p:cNvPr id="17" name="矩形 16">
            <a:extLst>
              <a:ext uri="{FF2B5EF4-FFF2-40B4-BE49-F238E27FC236}">
                <a16:creationId xmlns:a16="http://schemas.microsoft.com/office/drawing/2014/main" id="{BF570F01-A1F5-BECB-2AB6-D31647B8DB96}"/>
              </a:ext>
            </a:extLst>
          </p:cNvPr>
          <p:cNvSpPr/>
          <p:nvPr/>
        </p:nvSpPr>
        <p:spPr>
          <a:xfrm>
            <a:off x="576626" y="1106473"/>
            <a:ext cx="10005060" cy="427105"/>
          </a:xfrm>
          <a:prstGeom prst="rect">
            <a:avLst/>
          </a:prstGeom>
        </p:spPr>
        <p:txBody>
          <a:bodyPr wrap="square">
            <a:spAutoFit/>
          </a:bodyPr>
          <a:lstStyle/>
          <a:p>
            <a:pPr>
              <a:lnSpc>
                <a:spcPct val="150000"/>
              </a:lnSpc>
              <a:defRPr/>
            </a:pP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127.0.0.1</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，也可以是</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localhost</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：是回送地址也称本地回环地址，也称本机</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IP</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，永远只会寻找当前所在本机。</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1004020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3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三要素">
            <a:extLst>
              <a:ext uri="{FF2B5EF4-FFF2-40B4-BE49-F238E27FC236}">
                <a16:creationId xmlns:a16="http://schemas.microsoft.com/office/drawing/2014/main" id="{3A486E8B-0AD9-758B-C051-45139A4DB04A}"/>
              </a:ext>
            </a:extLst>
          </p:cNvPr>
          <p:cNvSpPr txBox="1">
            <a:spLocks/>
          </p:cNvSpPr>
          <p:nvPr/>
        </p:nvSpPr>
        <p:spPr>
          <a:xfrm>
            <a:off x="710879" y="-728888"/>
            <a:ext cx="3432496"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dirty="0">
                <a:latin typeface="Consolas" panose="020B0609020204030204" pitchFamily="49" charset="0"/>
              </a:rPr>
              <a:t>IPv4</a:t>
            </a:r>
            <a:r>
              <a:rPr lang="zh-CN" altLang="en-US" dirty="0">
                <a:latin typeface="Consolas" panose="020B0609020204030204" pitchFamily="49" charset="0"/>
              </a:rPr>
              <a:t>的地址分类形式</a:t>
            </a:r>
          </a:p>
        </p:txBody>
      </p:sp>
      <p:sp>
        <p:nvSpPr>
          <p:cNvPr id="6" name="!!!三要素">
            <a:extLst>
              <a:ext uri="{FF2B5EF4-FFF2-40B4-BE49-F238E27FC236}">
                <a16:creationId xmlns:a16="http://schemas.microsoft.com/office/drawing/2014/main" id="{C0A9DEE1-00D5-2621-ECC7-09468FEDA55F}"/>
              </a:ext>
            </a:extLst>
          </p:cNvPr>
          <p:cNvSpPr txBox="1">
            <a:spLocks/>
          </p:cNvSpPr>
          <p:nvPr/>
        </p:nvSpPr>
        <p:spPr>
          <a:xfrm>
            <a:off x="-3554609" y="997654"/>
            <a:ext cx="3432496"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dirty="0">
                <a:latin typeface="Consolas" panose="020B0609020204030204" pitchFamily="49" charset="0"/>
              </a:rPr>
              <a:t>常用的</a:t>
            </a:r>
            <a:r>
              <a:rPr lang="en-US" altLang="zh-CN" dirty="0">
                <a:latin typeface="Consolas" panose="020B0609020204030204" pitchFamily="49" charset="0"/>
              </a:rPr>
              <a:t>CMD</a:t>
            </a:r>
            <a:r>
              <a:rPr lang="zh-CN" altLang="en-US" dirty="0">
                <a:latin typeface="Consolas" panose="020B0609020204030204" pitchFamily="49" charset="0"/>
              </a:rPr>
              <a:t>命令</a:t>
            </a:r>
          </a:p>
        </p:txBody>
      </p:sp>
      <p:pic>
        <p:nvPicPr>
          <p:cNvPr id="7" name="图片 6">
            <a:extLst>
              <a:ext uri="{FF2B5EF4-FFF2-40B4-BE49-F238E27FC236}">
                <a16:creationId xmlns:a16="http://schemas.microsoft.com/office/drawing/2014/main" id="{201C8B96-5308-B4E1-33C2-77E7661C443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854813" y="2522011"/>
            <a:ext cx="1951567" cy="1627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电脑1">
            <a:extLst>
              <a:ext uri="{FF2B5EF4-FFF2-40B4-BE49-F238E27FC236}">
                <a16:creationId xmlns:a16="http://schemas.microsoft.com/office/drawing/2014/main" id="{FFAA5FB2-E739-EE9E-2DF9-FCD0B277D15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290262" y="2522011"/>
            <a:ext cx="1951567" cy="1627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a:extLst>
              <a:ext uri="{FF2B5EF4-FFF2-40B4-BE49-F238E27FC236}">
                <a16:creationId xmlns:a16="http://schemas.microsoft.com/office/drawing/2014/main" id="{0C94BC2F-8D6C-BDFC-1A14-AA6F825992C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419364" y="2522011"/>
            <a:ext cx="1951567" cy="1627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电脑">
            <a:extLst>
              <a:ext uri="{FF2B5EF4-FFF2-40B4-BE49-F238E27FC236}">
                <a16:creationId xmlns:a16="http://schemas.microsoft.com/office/drawing/2014/main" id="{80B204BE-A743-CF2B-09D6-52E367E1E3C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75505" y="2829492"/>
            <a:ext cx="2783875" cy="2321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a:extLst>
              <a:ext uri="{FF2B5EF4-FFF2-40B4-BE49-F238E27FC236}">
                <a16:creationId xmlns:a16="http://schemas.microsoft.com/office/drawing/2014/main" id="{104338BB-E2AF-19C8-8315-3ACF727BA82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27278" y="7718815"/>
            <a:ext cx="1951567" cy="1627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12">
            <a:extLst>
              <a:ext uri="{FF2B5EF4-FFF2-40B4-BE49-F238E27FC236}">
                <a16:creationId xmlns:a16="http://schemas.microsoft.com/office/drawing/2014/main" id="{6644B77B-C3B0-2130-12F8-C79DCE78EC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756380" y="7718815"/>
            <a:ext cx="1951567" cy="1627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17">
            <a:extLst>
              <a:ext uri="{FF2B5EF4-FFF2-40B4-BE49-F238E27FC236}">
                <a16:creationId xmlns:a16="http://schemas.microsoft.com/office/drawing/2014/main" id="{C4D148DE-AA4C-7D1F-7F70-AC0CE980F5F4}"/>
              </a:ext>
            </a:extLst>
          </p:cNvPr>
          <p:cNvPicPr>
            <a:picLocks noChangeAspect="1"/>
          </p:cNvPicPr>
          <p:nvPr/>
        </p:nvPicPr>
        <p:blipFill>
          <a:blip r:embed="rId4"/>
          <a:stretch>
            <a:fillRect/>
          </a:stretch>
        </p:blipFill>
        <p:spPr>
          <a:xfrm>
            <a:off x="580007" y="3004027"/>
            <a:ext cx="1808091" cy="2124042"/>
          </a:xfrm>
          <a:prstGeom prst="rect">
            <a:avLst/>
          </a:prstGeom>
        </p:spPr>
      </p:pic>
      <p:sp>
        <p:nvSpPr>
          <p:cNvPr id="19" name="文本框 18">
            <a:extLst>
              <a:ext uri="{FF2B5EF4-FFF2-40B4-BE49-F238E27FC236}">
                <a16:creationId xmlns:a16="http://schemas.microsoft.com/office/drawing/2014/main" id="{93866DEF-89E0-73DE-B017-3B740990514E}"/>
              </a:ext>
            </a:extLst>
          </p:cNvPr>
          <p:cNvSpPr txBox="1"/>
          <p:nvPr/>
        </p:nvSpPr>
        <p:spPr>
          <a:xfrm>
            <a:off x="13433738" y="3974586"/>
            <a:ext cx="1808091" cy="369332"/>
          </a:xfrm>
          <a:prstGeom prst="rect">
            <a:avLst/>
          </a:prstGeom>
          <a:noFill/>
        </p:spPr>
        <p:txBody>
          <a:bodyPr wrap="square">
            <a:spAutoFit/>
          </a:bodyPr>
          <a:lstStyle/>
          <a:p>
            <a:r>
              <a:rPr lang="en-US" altLang="zh-CN"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192.168.1.10</a:t>
            </a:r>
            <a:endParaRPr lang="zh-CN" altLang="en-US" dirty="0">
              <a:solidFill>
                <a:srgbClr val="0070C0"/>
              </a:solidFill>
              <a:latin typeface="Consolas" panose="020B0609020204030204" pitchFamily="49" charset="0"/>
            </a:endParaRPr>
          </a:p>
        </p:txBody>
      </p:sp>
      <p:sp>
        <p:nvSpPr>
          <p:cNvPr id="20" name="文本框 19">
            <a:extLst>
              <a:ext uri="{FF2B5EF4-FFF2-40B4-BE49-F238E27FC236}">
                <a16:creationId xmlns:a16="http://schemas.microsoft.com/office/drawing/2014/main" id="{E727C0CE-205E-5148-4993-4F8879918105}"/>
              </a:ext>
            </a:extLst>
          </p:cNvPr>
          <p:cNvSpPr txBox="1"/>
          <p:nvPr/>
        </p:nvSpPr>
        <p:spPr>
          <a:xfrm>
            <a:off x="15998288" y="3974586"/>
            <a:ext cx="1808091" cy="369332"/>
          </a:xfrm>
          <a:prstGeom prst="rect">
            <a:avLst/>
          </a:prstGeom>
          <a:noFill/>
        </p:spPr>
        <p:txBody>
          <a:bodyPr wrap="square">
            <a:spAutoFit/>
          </a:bodyPr>
          <a:lstStyle/>
          <a:p>
            <a:r>
              <a:rPr lang="en-US" altLang="zh-CN"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192.168.1.21</a:t>
            </a:r>
            <a:endParaRPr lang="zh-CN" altLang="en-US" dirty="0">
              <a:solidFill>
                <a:srgbClr val="0070C0"/>
              </a:solidFill>
              <a:latin typeface="Consolas" panose="020B0609020204030204" pitchFamily="49" charset="0"/>
            </a:endParaRPr>
          </a:p>
        </p:txBody>
      </p:sp>
      <p:sp>
        <p:nvSpPr>
          <p:cNvPr id="21" name="文本框 20">
            <a:extLst>
              <a:ext uri="{FF2B5EF4-FFF2-40B4-BE49-F238E27FC236}">
                <a16:creationId xmlns:a16="http://schemas.microsoft.com/office/drawing/2014/main" id="{68DD6191-61C0-950E-16CC-380D35A3BC88}"/>
              </a:ext>
            </a:extLst>
          </p:cNvPr>
          <p:cNvSpPr txBox="1"/>
          <p:nvPr/>
        </p:nvSpPr>
        <p:spPr>
          <a:xfrm>
            <a:off x="18562840" y="3974586"/>
            <a:ext cx="1808091" cy="369332"/>
          </a:xfrm>
          <a:prstGeom prst="rect">
            <a:avLst/>
          </a:prstGeom>
          <a:noFill/>
        </p:spPr>
        <p:txBody>
          <a:bodyPr wrap="square">
            <a:spAutoFit/>
          </a:bodyPr>
          <a:lstStyle/>
          <a:p>
            <a:r>
              <a:rPr lang="en-US" altLang="zh-CN"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192.168.1.32</a:t>
            </a:r>
            <a:endParaRPr lang="zh-CN" altLang="en-US" dirty="0">
              <a:solidFill>
                <a:srgbClr val="0070C0"/>
              </a:solidFill>
              <a:latin typeface="Consolas" panose="020B0609020204030204" pitchFamily="49" charset="0"/>
            </a:endParaRPr>
          </a:p>
        </p:txBody>
      </p:sp>
      <p:sp>
        <p:nvSpPr>
          <p:cNvPr id="22" name="文本框 21">
            <a:extLst>
              <a:ext uri="{FF2B5EF4-FFF2-40B4-BE49-F238E27FC236}">
                <a16:creationId xmlns:a16="http://schemas.microsoft.com/office/drawing/2014/main" id="{E47A12CB-D673-64C8-89C2-5DE46E2BA50A}"/>
              </a:ext>
            </a:extLst>
          </p:cNvPr>
          <p:cNvSpPr txBox="1"/>
          <p:nvPr/>
        </p:nvSpPr>
        <p:spPr>
          <a:xfrm>
            <a:off x="3770754" y="9283692"/>
            <a:ext cx="1808091" cy="369332"/>
          </a:xfrm>
          <a:prstGeom prst="rect">
            <a:avLst/>
          </a:prstGeom>
          <a:noFill/>
        </p:spPr>
        <p:txBody>
          <a:bodyPr wrap="square">
            <a:spAutoFit/>
          </a:bodyPr>
          <a:lstStyle/>
          <a:p>
            <a:r>
              <a:rPr lang="en-US" altLang="zh-CN"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192.168.1.50</a:t>
            </a:r>
            <a:endParaRPr lang="zh-CN" altLang="en-US" dirty="0">
              <a:solidFill>
                <a:srgbClr val="0070C0"/>
              </a:solidFill>
              <a:latin typeface="Consolas" panose="020B0609020204030204" pitchFamily="49" charset="0"/>
            </a:endParaRPr>
          </a:p>
        </p:txBody>
      </p:sp>
      <p:sp>
        <p:nvSpPr>
          <p:cNvPr id="23" name="文本框 22">
            <a:extLst>
              <a:ext uri="{FF2B5EF4-FFF2-40B4-BE49-F238E27FC236}">
                <a16:creationId xmlns:a16="http://schemas.microsoft.com/office/drawing/2014/main" id="{17DE6A10-C5CB-AAE6-6844-6B90B7582AF0}"/>
              </a:ext>
            </a:extLst>
          </p:cNvPr>
          <p:cNvSpPr txBox="1"/>
          <p:nvPr/>
        </p:nvSpPr>
        <p:spPr>
          <a:xfrm>
            <a:off x="6863396" y="5303695"/>
            <a:ext cx="2036460" cy="369332"/>
          </a:xfrm>
          <a:prstGeom prst="rect">
            <a:avLst/>
          </a:prstGeom>
          <a:noFill/>
        </p:spPr>
        <p:txBody>
          <a:bodyPr wrap="square">
            <a:spAutoFit/>
          </a:bodyPr>
          <a:lstStyle/>
          <a:p>
            <a:r>
              <a:rPr lang="en-US" altLang="zh-CN"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192.168.1.100</a:t>
            </a:r>
            <a:endParaRPr lang="zh-CN" altLang="en-US" dirty="0">
              <a:solidFill>
                <a:srgbClr val="C00000"/>
              </a:solidFill>
              <a:latin typeface="Consolas" panose="020B0609020204030204" pitchFamily="49" charset="0"/>
            </a:endParaRPr>
          </a:p>
        </p:txBody>
      </p:sp>
      <p:sp>
        <p:nvSpPr>
          <p:cNvPr id="24" name="文本框 23">
            <a:extLst>
              <a:ext uri="{FF2B5EF4-FFF2-40B4-BE49-F238E27FC236}">
                <a16:creationId xmlns:a16="http://schemas.microsoft.com/office/drawing/2014/main" id="{3C41F90A-F9D9-7229-3887-27FFA7318261}"/>
              </a:ext>
            </a:extLst>
          </p:cNvPr>
          <p:cNvSpPr txBox="1"/>
          <p:nvPr/>
        </p:nvSpPr>
        <p:spPr>
          <a:xfrm>
            <a:off x="8899856" y="9283692"/>
            <a:ext cx="1808091" cy="369332"/>
          </a:xfrm>
          <a:prstGeom prst="rect">
            <a:avLst/>
          </a:prstGeom>
          <a:noFill/>
        </p:spPr>
        <p:txBody>
          <a:bodyPr wrap="square">
            <a:spAutoFit/>
          </a:bodyPr>
          <a:lstStyle/>
          <a:p>
            <a:r>
              <a:rPr lang="en-US" altLang="zh-CN" b="1" dirty="0">
                <a:solidFill>
                  <a:srgbClr val="0070C0"/>
                </a:solidFill>
                <a:latin typeface="Consolas" panose="020B0609020204030204" pitchFamily="49" charset="0"/>
                <a:ea typeface="阿里巴巴普惠体" panose="00020600040101010101" pitchFamily="18" charset="-122"/>
                <a:cs typeface="阿里巴巴普惠体" panose="00020600040101010101" pitchFamily="18" charset="-122"/>
              </a:rPr>
              <a:t>192.168.1.87</a:t>
            </a:r>
            <a:endParaRPr lang="zh-CN" altLang="en-US" dirty="0">
              <a:solidFill>
                <a:srgbClr val="0070C0"/>
              </a:solidFill>
              <a:latin typeface="Consolas" panose="020B0609020204030204" pitchFamily="49" charset="0"/>
            </a:endParaRPr>
          </a:p>
        </p:txBody>
      </p:sp>
      <p:cxnSp>
        <p:nvCxnSpPr>
          <p:cNvPr id="27" name="直接箭头连接符 26">
            <a:extLst>
              <a:ext uri="{FF2B5EF4-FFF2-40B4-BE49-F238E27FC236}">
                <a16:creationId xmlns:a16="http://schemas.microsoft.com/office/drawing/2014/main" id="{B7AAE616-33D5-0820-C547-F06D7B72B1F2}"/>
              </a:ext>
            </a:extLst>
          </p:cNvPr>
          <p:cNvCxnSpPr/>
          <p:nvPr/>
        </p:nvCxnSpPr>
        <p:spPr>
          <a:xfrm flipH="1">
            <a:off x="2066925" y="3181350"/>
            <a:ext cx="4796471" cy="884698"/>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B8C65EF8-E340-34B6-E04B-43FDECBADC5D}"/>
              </a:ext>
            </a:extLst>
          </p:cNvPr>
          <p:cNvCxnSpPr>
            <a:cxnSpLocks/>
          </p:cNvCxnSpPr>
          <p:nvPr/>
        </p:nvCxnSpPr>
        <p:spPr>
          <a:xfrm>
            <a:off x="2127041" y="4438073"/>
            <a:ext cx="4635709" cy="215013"/>
          </a:xfrm>
          <a:prstGeom prst="straightConnector1">
            <a:avLst/>
          </a:prstGeom>
          <a:ln w="38100">
            <a:solidFill>
              <a:srgbClr val="00A29A"/>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BE8DE0C3-D79B-6B2E-2F20-ED85BD12B5DD}"/>
              </a:ext>
            </a:extLst>
          </p:cNvPr>
          <p:cNvSpPr txBox="1"/>
          <p:nvPr/>
        </p:nvSpPr>
        <p:spPr>
          <a:xfrm>
            <a:off x="7231258" y="7132495"/>
            <a:ext cx="1808091" cy="369332"/>
          </a:xfrm>
          <a:prstGeom prst="rect">
            <a:avLst/>
          </a:prstGeom>
          <a:noFill/>
        </p:spPr>
        <p:txBody>
          <a:bodyPr wrap="square">
            <a:spAutoFit/>
          </a:bodyPr>
          <a:lstStyle/>
          <a:p>
            <a:r>
              <a:rPr lang="en-US" altLang="zh-CN"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127.0.0.1</a:t>
            </a:r>
            <a:endParaRPr lang="zh-CN" altLang="en-US" dirty="0">
              <a:solidFill>
                <a:srgbClr val="C00000"/>
              </a:solidFill>
              <a:latin typeface="Consolas" panose="020B0609020204030204" pitchFamily="49" charset="0"/>
            </a:endParaRPr>
          </a:p>
        </p:txBody>
      </p:sp>
      <p:sp>
        <p:nvSpPr>
          <p:cNvPr id="5" name="标题 3">
            <a:extLst>
              <a:ext uri="{FF2B5EF4-FFF2-40B4-BE49-F238E27FC236}">
                <a16:creationId xmlns:a16="http://schemas.microsoft.com/office/drawing/2014/main" id="{1ABE82A8-A149-0BB0-1037-C32912B8E9BD}"/>
              </a:ext>
            </a:extLst>
          </p:cNvPr>
          <p:cNvSpPr>
            <a:spLocks noGrp="1"/>
          </p:cNvSpPr>
          <p:nvPr>
            <p:ph type="title"/>
          </p:nvPr>
        </p:nvSpPr>
        <p:spPr>
          <a:xfrm>
            <a:off x="576626" y="335203"/>
            <a:ext cx="10737020" cy="474415"/>
          </a:xfrm>
        </p:spPr>
        <p:txBody>
          <a:bodyPr/>
          <a:lstStyle/>
          <a:p>
            <a:r>
              <a:rPr lang="zh-CN" altLang="en-US" dirty="0"/>
              <a:t>特殊</a:t>
            </a:r>
            <a:r>
              <a:rPr lang="en-US" altLang="zh-CN" dirty="0"/>
              <a:t>IP</a:t>
            </a:r>
            <a:r>
              <a:rPr lang="zh-CN" altLang="en-US" dirty="0"/>
              <a:t>地址</a:t>
            </a:r>
          </a:p>
        </p:txBody>
      </p:sp>
      <p:sp>
        <p:nvSpPr>
          <p:cNvPr id="12" name="矩形 11">
            <a:extLst>
              <a:ext uri="{FF2B5EF4-FFF2-40B4-BE49-F238E27FC236}">
                <a16:creationId xmlns:a16="http://schemas.microsoft.com/office/drawing/2014/main" id="{D5952AC2-B58D-B639-4D6C-0ACADFAC99BE}"/>
              </a:ext>
            </a:extLst>
          </p:cNvPr>
          <p:cNvSpPr/>
          <p:nvPr/>
        </p:nvSpPr>
        <p:spPr>
          <a:xfrm>
            <a:off x="576626" y="1106473"/>
            <a:ext cx="10005060" cy="427105"/>
          </a:xfrm>
          <a:prstGeom prst="rect">
            <a:avLst/>
          </a:prstGeom>
        </p:spPr>
        <p:txBody>
          <a:bodyPr wrap="square">
            <a:spAutoFit/>
          </a:bodyPr>
          <a:lstStyle/>
          <a:p>
            <a:pPr>
              <a:lnSpc>
                <a:spcPct val="150000"/>
              </a:lnSpc>
              <a:defRPr/>
            </a:pP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127.0.0.1</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，也可以是</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localhost</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：是回送地址也称本地回环地址，也称本机</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IP</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，永远只会寻找当前所在本机。</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31028290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left)">
                                      <p:cBhvr>
                                        <p:cTn id="1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三要素">
            <a:extLst>
              <a:ext uri="{FF2B5EF4-FFF2-40B4-BE49-F238E27FC236}">
                <a16:creationId xmlns:a16="http://schemas.microsoft.com/office/drawing/2014/main" id="{3A486E8B-0AD9-758B-C051-45139A4DB04A}"/>
              </a:ext>
            </a:extLst>
          </p:cNvPr>
          <p:cNvSpPr txBox="1">
            <a:spLocks/>
          </p:cNvSpPr>
          <p:nvPr/>
        </p:nvSpPr>
        <p:spPr>
          <a:xfrm>
            <a:off x="710879" y="-728888"/>
            <a:ext cx="3432496"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dirty="0">
                <a:latin typeface="Consolas" panose="020B0609020204030204" pitchFamily="49" charset="0"/>
              </a:rPr>
              <a:t>IPv4</a:t>
            </a:r>
            <a:r>
              <a:rPr lang="zh-CN" altLang="en-US" dirty="0">
                <a:latin typeface="Consolas" panose="020B0609020204030204" pitchFamily="49" charset="0"/>
              </a:rPr>
              <a:t>的地址分类形式</a:t>
            </a:r>
          </a:p>
        </p:txBody>
      </p:sp>
      <p:sp>
        <p:nvSpPr>
          <p:cNvPr id="6" name="!!!三要素">
            <a:extLst>
              <a:ext uri="{FF2B5EF4-FFF2-40B4-BE49-F238E27FC236}">
                <a16:creationId xmlns:a16="http://schemas.microsoft.com/office/drawing/2014/main" id="{C0A9DEE1-00D5-2621-ECC7-09468FEDA55F}"/>
              </a:ext>
            </a:extLst>
          </p:cNvPr>
          <p:cNvSpPr txBox="1">
            <a:spLocks/>
          </p:cNvSpPr>
          <p:nvPr/>
        </p:nvSpPr>
        <p:spPr>
          <a:xfrm>
            <a:off x="-3554609" y="997654"/>
            <a:ext cx="3432496"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dirty="0">
                <a:latin typeface="Consolas" panose="020B0609020204030204" pitchFamily="49" charset="0"/>
              </a:rPr>
              <a:t>常用的</a:t>
            </a:r>
            <a:r>
              <a:rPr lang="en-US" altLang="zh-CN" dirty="0">
                <a:latin typeface="Consolas" panose="020B0609020204030204" pitchFamily="49" charset="0"/>
              </a:rPr>
              <a:t>CMD</a:t>
            </a:r>
            <a:r>
              <a:rPr lang="zh-CN" altLang="en-US" dirty="0">
                <a:latin typeface="Consolas" panose="020B0609020204030204" pitchFamily="49" charset="0"/>
              </a:rPr>
              <a:t>命令</a:t>
            </a:r>
          </a:p>
        </p:txBody>
      </p:sp>
      <p:pic>
        <p:nvPicPr>
          <p:cNvPr id="10" name="!!!电脑">
            <a:extLst>
              <a:ext uri="{FF2B5EF4-FFF2-40B4-BE49-F238E27FC236}">
                <a16:creationId xmlns:a16="http://schemas.microsoft.com/office/drawing/2014/main" id="{80B204BE-A743-CF2B-09D6-52E367E1E3C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75505" y="2829492"/>
            <a:ext cx="2783875" cy="2321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17">
            <a:extLst>
              <a:ext uri="{FF2B5EF4-FFF2-40B4-BE49-F238E27FC236}">
                <a16:creationId xmlns:a16="http://schemas.microsoft.com/office/drawing/2014/main" id="{C4D148DE-AA4C-7D1F-7F70-AC0CE980F5F4}"/>
              </a:ext>
            </a:extLst>
          </p:cNvPr>
          <p:cNvPicPr>
            <a:picLocks noChangeAspect="1"/>
          </p:cNvPicPr>
          <p:nvPr/>
        </p:nvPicPr>
        <p:blipFill>
          <a:blip r:embed="rId4"/>
          <a:stretch>
            <a:fillRect/>
          </a:stretch>
        </p:blipFill>
        <p:spPr>
          <a:xfrm>
            <a:off x="580007" y="3004027"/>
            <a:ext cx="1808091" cy="2124042"/>
          </a:xfrm>
          <a:prstGeom prst="rect">
            <a:avLst/>
          </a:prstGeom>
        </p:spPr>
      </p:pic>
      <p:sp>
        <p:nvSpPr>
          <p:cNvPr id="23" name="文本框 22">
            <a:extLst>
              <a:ext uri="{FF2B5EF4-FFF2-40B4-BE49-F238E27FC236}">
                <a16:creationId xmlns:a16="http://schemas.microsoft.com/office/drawing/2014/main" id="{17DE6A10-C5CB-AAE6-6844-6B90B7582AF0}"/>
              </a:ext>
            </a:extLst>
          </p:cNvPr>
          <p:cNvSpPr txBox="1"/>
          <p:nvPr/>
        </p:nvSpPr>
        <p:spPr>
          <a:xfrm>
            <a:off x="12611053" y="5303695"/>
            <a:ext cx="1808091" cy="646331"/>
          </a:xfrm>
          <a:prstGeom prst="rect">
            <a:avLst/>
          </a:prstGeom>
          <a:noFill/>
        </p:spPr>
        <p:txBody>
          <a:bodyPr wrap="square">
            <a:spAutoFit/>
          </a:bodyPr>
          <a:lstStyle/>
          <a:p>
            <a:r>
              <a:rPr lang="en-US" altLang="zh-CN"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192.168.1.100</a:t>
            </a:r>
            <a:endParaRPr lang="zh-CN" altLang="en-US" dirty="0">
              <a:solidFill>
                <a:srgbClr val="C00000"/>
              </a:solidFill>
              <a:latin typeface="Consolas" panose="020B0609020204030204" pitchFamily="49" charset="0"/>
            </a:endParaRPr>
          </a:p>
        </p:txBody>
      </p:sp>
      <p:cxnSp>
        <p:nvCxnSpPr>
          <p:cNvPr id="27" name="直接箭头连接符 26">
            <a:extLst>
              <a:ext uri="{FF2B5EF4-FFF2-40B4-BE49-F238E27FC236}">
                <a16:creationId xmlns:a16="http://schemas.microsoft.com/office/drawing/2014/main" id="{B7AAE616-33D5-0820-C547-F06D7B72B1F2}"/>
              </a:ext>
            </a:extLst>
          </p:cNvPr>
          <p:cNvCxnSpPr>
            <a:cxnSpLocks/>
          </p:cNvCxnSpPr>
          <p:nvPr/>
        </p:nvCxnSpPr>
        <p:spPr>
          <a:xfrm flipH="1">
            <a:off x="6762750" y="3888828"/>
            <a:ext cx="1109498" cy="136634"/>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B8C65EF8-E340-34B6-E04B-43FDECBADC5D}"/>
              </a:ext>
            </a:extLst>
          </p:cNvPr>
          <p:cNvCxnSpPr>
            <a:cxnSpLocks/>
          </p:cNvCxnSpPr>
          <p:nvPr/>
        </p:nvCxnSpPr>
        <p:spPr>
          <a:xfrm flipV="1">
            <a:off x="6873766" y="4025462"/>
            <a:ext cx="1030013" cy="115614"/>
          </a:xfrm>
          <a:prstGeom prst="straightConnector1">
            <a:avLst/>
          </a:prstGeom>
          <a:ln w="38100">
            <a:solidFill>
              <a:srgbClr val="00A29A"/>
            </a:solidFill>
            <a:tailEnd type="triangle"/>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446F01E2-B780-0DC1-ACB6-B9CC3CF805D4}"/>
              </a:ext>
            </a:extLst>
          </p:cNvPr>
          <p:cNvSpPr txBox="1"/>
          <p:nvPr/>
        </p:nvSpPr>
        <p:spPr>
          <a:xfrm>
            <a:off x="7231258" y="5303695"/>
            <a:ext cx="1808091" cy="369332"/>
          </a:xfrm>
          <a:prstGeom prst="rect">
            <a:avLst/>
          </a:prstGeom>
          <a:noFill/>
        </p:spPr>
        <p:txBody>
          <a:bodyPr wrap="square">
            <a:spAutoFit/>
          </a:bodyPr>
          <a:lstStyle/>
          <a:p>
            <a:r>
              <a:rPr lang="en-US" altLang="zh-CN"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127.0.0.1</a:t>
            </a:r>
            <a:endParaRPr lang="zh-CN" altLang="en-US" dirty="0">
              <a:solidFill>
                <a:srgbClr val="C00000"/>
              </a:solidFill>
              <a:latin typeface="Consolas" panose="020B0609020204030204" pitchFamily="49" charset="0"/>
            </a:endParaRPr>
          </a:p>
        </p:txBody>
      </p:sp>
      <p:grpSp>
        <p:nvGrpSpPr>
          <p:cNvPr id="26" name="组合 25">
            <a:extLst>
              <a:ext uri="{FF2B5EF4-FFF2-40B4-BE49-F238E27FC236}">
                <a16:creationId xmlns:a16="http://schemas.microsoft.com/office/drawing/2014/main" id="{DCC7AE68-E704-771F-B35C-78B31037B83E}"/>
              </a:ext>
            </a:extLst>
          </p:cNvPr>
          <p:cNvGrpSpPr/>
          <p:nvPr/>
        </p:nvGrpSpPr>
        <p:grpSpPr>
          <a:xfrm>
            <a:off x="2509047" y="3888828"/>
            <a:ext cx="3994183" cy="594560"/>
            <a:chOff x="2457241" y="5184645"/>
            <a:chExt cx="3994183" cy="594560"/>
          </a:xfrm>
        </p:grpSpPr>
        <p:grpSp>
          <p:nvGrpSpPr>
            <p:cNvPr id="28" name="组合 27">
              <a:extLst>
                <a:ext uri="{FF2B5EF4-FFF2-40B4-BE49-F238E27FC236}">
                  <a16:creationId xmlns:a16="http://schemas.microsoft.com/office/drawing/2014/main" id="{898C88EC-08FA-0C66-20C4-6116E2433FAC}"/>
                </a:ext>
              </a:extLst>
            </p:cNvPr>
            <p:cNvGrpSpPr/>
            <p:nvPr/>
          </p:nvGrpSpPr>
          <p:grpSpPr>
            <a:xfrm>
              <a:off x="2457241" y="5184645"/>
              <a:ext cx="3745508" cy="594560"/>
              <a:chOff x="4304042" y="1286668"/>
              <a:chExt cx="2939252" cy="2757793"/>
            </a:xfrm>
            <a:effectLst>
              <a:outerShdw blurRad="381000" dist="254000" dir="8100000" algn="tr" rotWithShape="0">
                <a:prstClr val="black">
                  <a:alpha val="40000"/>
                </a:prstClr>
              </a:outerShdw>
            </a:effectLst>
          </p:grpSpPr>
          <p:sp>
            <p:nvSpPr>
              <p:cNvPr id="31" name="圆角矩形 70">
                <a:extLst>
                  <a:ext uri="{FF2B5EF4-FFF2-40B4-BE49-F238E27FC236}">
                    <a16:creationId xmlns:a16="http://schemas.microsoft.com/office/drawing/2014/main" id="{0DD64E93-C18B-37EE-A38B-7329FEB44E0C}"/>
                  </a:ext>
                </a:extLst>
              </p:cNvPr>
              <p:cNvSpPr/>
              <p:nvPr/>
            </p:nvSpPr>
            <p:spPr>
              <a:xfrm>
                <a:off x="4304045" y="1286668"/>
                <a:ext cx="2939249"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Consolas" panose="020B0609020204030204" pitchFamily="49" charset="0"/>
                  <a:ea typeface="微软雅黑"/>
                </a:endParaRPr>
              </a:p>
            </p:txBody>
          </p:sp>
          <p:sp>
            <p:nvSpPr>
              <p:cNvPr id="32" name="圆角矩形 71">
                <a:extLst>
                  <a:ext uri="{FF2B5EF4-FFF2-40B4-BE49-F238E27FC236}">
                    <a16:creationId xmlns:a16="http://schemas.microsoft.com/office/drawing/2014/main" id="{E1E05858-9260-E3D4-24D4-3B756F9CB22F}"/>
                  </a:ext>
                </a:extLst>
              </p:cNvPr>
              <p:cNvSpPr/>
              <p:nvPr/>
            </p:nvSpPr>
            <p:spPr>
              <a:xfrm>
                <a:off x="4304042" y="1286668"/>
                <a:ext cx="2939251" cy="2757793"/>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Consolas" panose="020B0609020204030204" pitchFamily="49" charset="0"/>
                  <a:ea typeface="微软雅黑"/>
                </a:endParaRPr>
              </a:p>
            </p:txBody>
          </p:sp>
        </p:grpSp>
        <p:sp>
          <p:nvSpPr>
            <p:cNvPr id="30" name="TextBox 69">
              <a:extLst>
                <a:ext uri="{FF2B5EF4-FFF2-40B4-BE49-F238E27FC236}">
                  <a16:creationId xmlns:a16="http://schemas.microsoft.com/office/drawing/2014/main" id="{E915624E-C868-81D6-2DD4-FCAF52E493E5}"/>
                </a:ext>
              </a:extLst>
            </p:cNvPr>
            <p:cNvSpPr txBox="1"/>
            <p:nvPr/>
          </p:nvSpPr>
          <p:spPr>
            <a:xfrm>
              <a:off x="2705920" y="5298884"/>
              <a:ext cx="3745504" cy="369332"/>
            </a:xfrm>
            <a:prstGeom prst="rect">
              <a:avLst/>
            </a:prstGeom>
            <a:noFill/>
          </p:spPr>
          <p:txBody>
            <a:bodyPr wrap="square" rtlCol="0">
              <a:spAutoFit/>
            </a:bodyPr>
            <a:lstStyle/>
            <a:p>
              <a:pPr fontAlgn="auto">
                <a:spcBef>
                  <a:spcPts val="0"/>
                </a:spcBef>
                <a:spcAft>
                  <a:spcPts val="0"/>
                </a:spcAft>
              </a:pPr>
              <a:r>
                <a:rPr lang="zh-CN" altLang="en-US"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建议：</a:t>
              </a:r>
              <a:r>
                <a:rPr lang="zh-CN" altLang="en-US"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自己练习就写</a:t>
              </a:r>
              <a:r>
                <a:rPr lang="en-US" altLang="zh-CN"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rPr>
                <a:t>127.0.0.1</a:t>
              </a:r>
              <a:endParaRPr lang="zh-CN" altLang="en-US" b="1" dirty="0">
                <a:solidFill>
                  <a:prstClr val="black">
                    <a:lumMod val="85000"/>
                    <a:lumOff val="15000"/>
                  </a:prst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grpSp>
      <p:sp>
        <p:nvSpPr>
          <p:cNvPr id="7" name="标题 3">
            <a:extLst>
              <a:ext uri="{FF2B5EF4-FFF2-40B4-BE49-F238E27FC236}">
                <a16:creationId xmlns:a16="http://schemas.microsoft.com/office/drawing/2014/main" id="{FFE175EE-6185-05D4-BDAF-F883BC68C928}"/>
              </a:ext>
            </a:extLst>
          </p:cNvPr>
          <p:cNvSpPr>
            <a:spLocks noGrp="1"/>
          </p:cNvSpPr>
          <p:nvPr>
            <p:ph type="title"/>
          </p:nvPr>
        </p:nvSpPr>
        <p:spPr>
          <a:xfrm>
            <a:off x="576626" y="335203"/>
            <a:ext cx="10737020" cy="474415"/>
          </a:xfrm>
        </p:spPr>
        <p:txBody>
          <a:bodyPr/>
          <a:lstStyle/>
          <a:p>
            <a:r>
              <a:rPr lang="zh-CN" altLang="en-US" dirty="0"/>
              <a:t>特殊</a:t>
            </a:r>
            <a:r>
              <a:rPr lang="en-US" altLang="zh-CN" dirty="0"/>
              <a:t>IP</a:t>
            </a:r>
            <a:r>
              <a:rPr lang="zh-CN" altLang="en-US" dirty="0"/>
              <a:t>地址</a:t>
            </a:r>
          </a:p>
        </p:txBody>
      </p:sp>
      <p:sp>
        <p:nvSpPr>
          <p:cNvPr id="8" name="矩形 7">
            <a:extLst>
              <a:ext uri="{FF2B5EF4-FFF2-40B4-BE49-F238E27FC236}">
                <a16:creationId xmlns:a16="http://schemas.microsoft.com/office/drawing/2014/main" id="{C03FCC51-4061-FD89-6A59-C9D0BE443B2E}"/>
              </a:ext>
            </a:extLst>
          </p:cNvPr>
          <p:cNvSpPr/>
          <p:nvPr/>
        </p:nvSpPr>
        <p:spPr>
          <a:xfrm>
            <a:off x="576626" y="1106473"/>
            <a:ext cx="10005060" cy="427105"/>
          </a:xfrm>
          <a:prstGeom prst="rect">
            <a:avLst/>
          </a:prstGeom>
        </p:spPr>
        <p:txBody>
          <a:bodyPr wrap="square">
            <a:spAutoFit/>
          </a:bodyPr>
          <a:lstStyle/>
          <a:p>
            <a:pPr>
              <a:lnSpc>
                <a:spcPct val="150000"/>
              </a:lnSpc>
              <a:defRPr/>
            </a:pP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127.0.0.1</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，也可以是</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localhost</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：是回送地址也称本地回环地址，也称本机</a:t>
            </a:r>
            <a:r>
              <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IP</a:t>
            </a:r>
            <a:r>
              <a:rPr lang="zh-CN" altLang="en-US"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，永远只会寻找当前所在本机。</a:t>
            </a:r>
            <a:endParaRPr lang="en-US" altLang="zh-CN" sz="1600"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511916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left)">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37"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1000"/>
                                        <p:tgtEl>
                                          <p:spTgt spid="26"/>
                                        </p:tgtEl>
                                      </p:cBhvr>
                                    </p:animEffect>
                                    <p:anim calcmode="lin" valueType="num">
                                      <p:cBhvr>
                                        <p:cTn id="18" dur="1000" fill="hold"/>
                                        <p:tgtEl>
                                          <p:spTgt spid="26"/>
                                        </p:tgtEl>
                                        <p:attrNameLst>
                                          <p:attrName>ppt_x</p:attrName>
                                        </p:attrNameLst>
                                      </p:cBhvr>
                                      <p:tavLst>
                                        <p:tav tm="0">
                                          <p:val>
                                            <p:strVal val="#ppt_x"/>
                                          </p:val>
                                        </p:tav>
                                        <p:tav tm="100000">
                                          <p:val>
                                            <p:strVal val="#ppt_x"/>
                                          </p:val>
                                        </p:tav>
                                      </p:tavLst>
                                    </p:anim>
                                    <p:anim calcmode="lin" valueType="num">
                                      <p:cBhvr>
                                        <p:cTn id="19" dur="900" decel="100000" fill="hold"/>
                                        <p:tgtEl>
                                          <p:spTgt spid="26"/>
                                        </p:tgtEl>
                                        <p:attrNameLst>
                                          <p:attrName>ppt_y</p:attrName>
                                        </p:attrNameLst>
                                      </p:cBhvr>
                                      <p:tavLst>
                                        <p:tav tm="0">
                                          <p:val>
                                            <p:strVal val="#ppt_y+1"/>
                                          </p:val>
                                        </p:tav>
                                        <p:tav tm="100000">
                                          <p:val>
                                            <p:strVal val="#ppt_y-.03"/>
                                          </p:val>
                                        </p:tav>
                                      </p:tavLst>
                                    </p:anim>
                                    <p:anim calcmode="lin" valueType="num">
                                      <p:cBhvr>
                                        <p:cTn id="20" dur="100" accel="100000" fill="hold">
                                          <p:stCondLst>
                                            <p:cond delay="900"/>
                                          </p:stCondLst>
                                        </p:cTn>
                                        <p:tgtEl>
                                          <p:spTgt spid="2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73C7A053-908F-695C-0E54-1B62A7E84B5A}"/>
              </a:ext>
            </a:extLst>
          </p:cNvPr>
          <p:cNvSpPr/>
          <p:nvPr/>
        </p:nvSpPr>
        <p:spPr>
          <a:xfrm>
            <a:off x="576626" y="1019009"/>
            <a:ext cx="6096000" cy="883190"/>
          </a:xfrm>
          <a:prstGeom prst="rect">
            <a:avLst/>
          </a:prstGeom>
        </p:spPr>
        <p:txBody>
          <a:bodyPr>
            <a:spAutoFit/>
          </a:bodyPr>
          <a:lstStyle/>
          <a:p>
            <a:pPr marL="285750" indent="-285750">
              <a:lnSpc>
                <a:spcPct val="150000"/>
              </a:lnSpc>
              <a:buClr>
                <a:schemeClr val="tx1">
                  <a:lumMod val="50000"/>
                </a:schemeClr>
              </a:buClr>
              <a:buFont typeface="Wingdings" panose="05000000000000000000" pitchFamily="2" charset="2"/>
              <a:buChar char="l"/>
              <a:defRPr/>
            </a:pP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ipconfig</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：查看本机</a:t>
            </a: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IP</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地址</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a:p>
            <a:pPr marL="285750" indent="-285750">
              <a:lnSpc>
                <a:spcPct val="150000"/>
              </a:lnSpc>
              <a:buClr>
                <a:schemeClr val="tx1">
                  <a:lumMod val="50000"/>
                </a:schemeClr>
              </a:buClr>
              <a:buFont typeface="Wingdings" panose="05000000000000000000" pitchFamily="2" charset="2"/>
              <a:buChar char="l"/>
              <a:defRPr/>
            </a:pPr>
            <a:r>
              <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ping</a:t>
            </a:r>
            <a:r>
              <a:rPr lang="zh-CN" altLang="en-US"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：检查网络是否连通</a:t>
            </a:r>
            <a:endParaRPr lang="en-US" altLang="zh-CN"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3" name="!!!三要素">
            <a:extLst>
              <a:ext uri="{FF2B5EF4-FFF2-40B4-BE49-F238E27FC236}">
                <a16:creationId xmlns:a16="http://schemas.microsoft.com/office/drawing/2014/main" id="{3A486E8B-0AD9-758B-C051-45139A4DB04A}"/>
              </a:ext>
            </a:extLst>
          </p:cNvPr>
          <p:cNvSpPr txBox="1">
            <a:spLocks/>
          </p:cNvSpPr>
          <p:nvPr/>
        </p:nvSpPr>
        <p:spPr>
          <a:xfrm>
            <a:off x="710879" y="-728888"/>
            <a:ext cx="3432496"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dirty="0">
                <a:latin typeface="Consolas" panose="020B0609020204030204" pitchFamily="49" charset="0"/>
              </a:rPr>
              <a:t>特殊</a:t>
            </a:r>
            <a:r>
              <a:rPr lang="en-US" altLang="zh-CN" dirty="0">
                <a:latin typeface="Consolas" panose="020B0609020204030204" pitchFamily="49" charset="0"/>
              </a:rPr>
              <a:t>IP</a:t>
            </a:r>
            <a:r>
              <a:rPr lang="zh-CN" altLang="en-US" dirty="0">
                <a:latin typeface="Consolas" panose="020B0609020204030204" pitchFamily="49" charset="0"/>
              </a:rPr>
              <a:t>地址</a:t>
            </a:r>
          </a:p>
        </p:txBody>
      </p:sp>
      <p:pic>
        <p:nvPicPr>
          <p:cNvPr id="4" name="图片 3">
            <a:extLst>
              <a:ext uri="{FF2B5EF4-FFF2-40B4-BE49-F238E27FC236}">
                <a16:creationId xmlns:a16="http://schemas.microsoft.com/office/drawing/2014/main" id="{C9923372-A2ED-0D1D-8926-94F56794E6FA}"/>
              </a:ext>
            </a:extLst>
          </p:cNvPr>
          <p:cNvPicPr>
            <a:picLocks noChangeAspect="1"/>
          </p:cNvPicPr>
          <p:nvPr/>
        </p:nvPicPr>
        <p:blipFill rotWithShape="1">
          <a:blip r:embed="rId3"/>
          <a:srcRect t="35508"/>
          <a:stretch/>
        </p:blipFill>
        <p:spPr>
          <a:xfrm>
            <a:off x="0" y="7041166"/>
            <a:ext cx="12197424" cy="4293877"/>
          </a:xfrm>
          <a:prstGeom prst="rect">
            <a:avLst/>
          </a:prstGeom>
        </p:spPr>
      </p:pic>
      <p:sp>
        <p:nvSpPr>
          <p:cNvPr id="5" name="标题 4">
            <a:extLst>
              <a:ext uri="{FF2B5EF4-FFF2-40B4-BE49-F238E27FC236}">
                <a16:creationId xmlns:a16="http://schemas.microsoft.com/office/drawing/2014/main" id="{68871B3B-0444-C76B-D544-E9226BB1E2BF}"/>
              </a:ext>
            </a:extLst>
          </p:cNvPr>
          <p:cNvSpPr>
            <a:spLocks noGrp="1"/>
          </p:cNvSpPr>
          <p:nvPr>
            <p:ph type="title"/>
          </p:nvPr>
        </p:nvSpPr>
        <p:spPr/>
        <p:txBody>
          <a:bodyPr/>
          <a:lstStyle/>
          <a:p>
            <a:r>
              <a:rPr lang="zh-CN" altLang="en-US" dirty="0"/>
              <a:t>常用的</a:t>
            </a:r>
            <a:r>
              <a:rPr lang="en-US" altLang="zh-CN" dirty="0"/>
              <a:t>CMD</a:t>
            </a:r>
            <a:r>
              <a:rPr lang="zh-CN" altLang="en-US" dirty="0"/>
              <a:t>命令</a:t>
            </a:r>
          </a:p>
        </p:txBody>
      </p:sp>
    </p:spTree>
    <p:extLst>
      <p:ext uri="{BB962C8B-B14F-4D97-AF65-F5344CB8AC3E}">
        <p14:creationId xmlns:p14="http://schemas.microsoft.com/office/powerpoint/2010/main" val="27014332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0">
                                            <p:txEl>
                                              <p:pRg st="1" end="1"/>
                                            </p:txEl>
                                          </p:spTgt>
                                        </p:tgtEl>
                                        <p:attrNameLst>
                                          <p:attrName>style.visibility</p:attrName>
                                        </p:attrNameLst>
                                      </p:cBhvr>
                                      <p:to>
                                        <p:strVal val="visible"/>
                                      </p:to>
                                    </p:set>
                                    <p:animEffect transition="in" filter="wipe(left)">
                                      <p:cBhvr>
                                        <p:cTn id="11" dur="500"/>
                                        <p:tgtEl>
                                          <p:spTgt spid="3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文本占位符 56">
            <a:extLst>
              <a:ext uri="{FF2B5EF4-FFF2-40B4-BE49-F238E27FC236}">
                <a16:creationId xmlns:a16="http://schemas.microsoft.com/office/drawing/2014/main" id="{46C6B023-AC61-6F45-9DA2-37B4D405D5CC}"/>
              </a:ext>
            </a:extLst>
          </p:cNvPr>
          <p:cNvSpPr>
            <a:spLocks noGrp="1"/>
          </p:cNvSpPr>
          <p:nvPr>
            <p:ph type="body" sz="quarter" idx="10"/>
          </p:nvPr>
        </p:nvSpPr>
        <p:spPr/>
        <p:txBody>
          <a:bodyPr/>
          <a:lstStyle/>
          <a:p>
            <a:r>
              <a:rPr lang="zh-CN" altLang="en-US" dirty="0">
                <a:latin typeface="Consolas" panose="020B0609020204030204" pitchFamily="49" charset="0"/>
              </a:rPr>
              <a:t>现在如何解决</a:t>
            </a:r>
            <a:r>
              <a:rPr lang="en-US" altLang="zh-CN" dirty="0">
                <a:latin typeface="Consolas" panose="020B0609020204030204" pitchFamily="49" charset="0"/>
              </a:rPr>
              <a:t>IPv4</a:t>
            </a:r>
            <a:r>
              <a:rPr lang="zh-CN" altLang="en-US" dirty="0">
                <a:latin typeface="Consolas" panose="020B0609020204030204" pitchFamily="49" charset="0"/>
              </a:rPr>
              <a:t>不够的问题？</a:t>
            </a:r>
            <a:endParaRPr lang="en-US" altLang="zh-CN" dirty="0">
              <a:latin typeface="Consolas" panose="020B0609020204030204" pitchFamily="49" charset="0"/>
            </a:endParaRPr>
          </a:p>
          <a:p>
            <a:pPr marL="609585" lvl="1"/>
            <a:r>
              <a:rPr lang="zh-CN" altLang="en-US" sz="18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利用局域网</a:t>
            </a:r>
            <a:r>
              <a:rPr lang="en-US" altLang="zh-CN" sz="18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IP</a:t>
            </a:r>
            <a:r>
              <a:rPr lang="zh-CN" altLang="en-US" sz="18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解决</a:t>
            </a:r>
            <a:r>
              <a:rPr lang="en-US" altLang="zh-CN" sz="18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IP</a:t>
            </a:r>
            <a:r>
              <a:rPr lang="zh-CN" altLang="en-US" sz="18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不够的问题</a:t>
            </a:r>
            <a:endParaRPr lang="en-US" altLang="zh-CN" sz="18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endParaRPr>
          </a:p>
          <a:p>
            <a:r>
              <a:rPr lang="zh-CN" altLang="en-US" dirty="0">
                <a:latin typeface="Consolas" panose="020B0609020204030204" pitchFamily="49" charset="0"/>
              </a:rPr>
              <a:t>特殊的</a:t>
            </a:r>
            <a:r>
              <a:rPr lang="en-US" altLang="zh-CN" dirty="0">
                <a:latin typeface="Consolas" panose="020B0609020204030204" pitchFamily="49" charset="0"/>
              </a:rPr>
              <a:t>IP</a:t>
            </a:r>
            <a:r>
              <a:rPr lang="zh-CN" altLang="en-US" dirty="0">
                <a:latin typeface="Consolas" panose="020B0609020204030204" pitchFamily="49" charset="0"/>
              </a:rPr>
              <a:t>是什么？</a:t>
            </a:r>
            <a:endParaRPr lang="en-US" altLang="zh-CN" dirty="0">
              <a:latin typeface="Consolas" panose="020B0609020204030204" pitchFamily="49" charset="0"/>
            </a:endParaRPr>
          </a:p>
          <a:p>
            <a:pPr lvl="1"/>
            <a:r>
              <a:rPr lang="en-US" altLang="zh-CN" sz="18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127.0.0.1</a:t>
            </a:r>
            <a:r>
              <a:rPr lang="zh-CN" altLang="en-US" sz="18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（永远表示本机）</a:t>
            </a:r>
            <a:endParaRPr lang="en-US" altLang="zh-CN" dirty="0">
              <a:latin typeface="Consolas" panose="020B0609020204030204" pitchFamily="49" charset="0"/>
            </a:endParaRPr>
          </a:p>
          <a:p>
            <a:r>
              <a:rPr lang="zh-CN" altLang="en-US" dirty="0">
                <a:latin typeface="Consolas" panose="020B0609020204030204" pitchFamily="49" charset="0"/>
              </a:rPr>
              <a:t>常见的两个</a:t>
            </a:r>
            <a:r>
              <a:rPr lang="en-US" altLang="zh-CN" dirty="0">
                <a:latin typeface="Consolas" panose="020B0609020204030204" pitchFamily="49" charset="0"/>
              </a:rPr>
              <a:t>CMD</a:t>
            </a:r>
            <a:r>
              <a:rPr lang="zh-CN" altLang="en-US" dirty="0">
                <a:latin typeface="Consolas" panose="020B0609020204030204" pitchFamily="49" charset="0"/>
              </a:rPr>
              <a:t>命令？</a:t>
            </a:r>
            <a:endParaRPr lang="en-US" altLang="zh-CN" dirty="0">
              <a:latin typeface="Consolas" panose="020B0609020204030204" pitchFamily="49" charset="0"/>
            </a:endParaRPr>
          </a:p>
          <a:p>
            <a:pPr marL="0" indent="0">
              <a:lnSpc>
                <a:spcPct val="150000"/>
              </a:lnSpc>
              <a:buClr>
                <a:schemeClr val="tx1">
                  <a:lumMod val="75000"/>
                  <a:lumOff val="25000"/>
                </a:schemeClr>
              </a:buClr>
              <a:buNone/>
              <a:defRPr/>
            </a:pPr>
            <a:r>
              <a:rPr lang="en-US" altLang="zh-CN" sz="1800" dirty="0">
                <a:solidFill>
                  <a:srgbClr val="C00000"/>
                </a:solidFill>
                <a:latin typeface="Consolas" panose="020B0609020204030204" pitchFamily="49" charset="0"/>
              </a:rPr>
              <a:t>           ipconfig</a:t>
            </a:r>
            <a:r>
              <a:rPr lang="zh-CN" altLang="en-US" sz="1800" dirty="0">
                <a:latin typeface="Consolas" panose="020B0609020204030204" pitchFamily="49" charset="0"/>
              </a:rPr>
              <a:t>：查看本机</a:t>
            </a:r>
            <a:r>
              <a:rPr lang="en-US" altLang="zh-CN" sz="1800" dirty="0">
                <a:latin typeface="Consolas" panose="020B0609020204030204" pitchFamily="49" charset="0"/>
              </a:rPr>
              <a:t>IP</a:t>
            </a:r>
            <a:r>
              <a:rPr lang="zh-CN" altLang="en-US" sz="1800" dirty="0">
                <a:latin typeface="Consolas" panose="020B0609020204030204" pitchFamily="49" charset="0"/>
              </a:rPr>
              <a:t>地址</a:t>
            </a:r>
            <a:endParaRPr lang="en-US" altLang="zh-CN" sz="1800" dirty="0">
              <a:latin typeface="Consolas" panose="020B0609020204030204" pitchFamily="49" charset="0"/>
            </a:endParaRPr>
          </a:p>
          <a:p>
            <a:pPr marL="0" indent="0">
              <a:lnSpc>
                <a:spcPct val="150000"/>
              </a:lnSpc>
              <a:buClr>
                <a:schemeClr val="tx1">
                  <a:lumMod val="75000"/>
                  <a:lumOff val="25000"/>
                </a:schemeClr>
              </a:buClr>
              <a:buNone/>
              <a:defRPr/>
            </a:pPr>
            <a:r>
              <a:rPr lang="en-US" altLang="zh-CN" sz="1800" dirty="0">
                <a:solidFill>
                  <a:srgbClr val="C00000"/>
                </a:solidFill>
                <a:latin typeface="Consolas" panose="020B0609020204030204" pitchFamily="49" charset="0"/>
              </a:rPr>
              <a:t>           ping</a:t>
            </a:r>
            <a:r>
              <a:rPr lang="zh-CN" altLang="en-US" sz="1800" dirty="0">
                <a:latin typeface="Consolas" panose="020B0609020204030204" pitchFamily="49" charset="0"/>
              </a:rPr>
              <a:t>：检查网络是否连通</a:t>
            </a:r>
            <a:endParaRPr lang="en-US" altLang="zh-CN" dirty="0">
              <a:latin typeface="Consolas" panose="020B0609020204030204" pitchFamily="49" charset="0"/>
            </a:endParaRPr>
          </a:p>
          <a:p>
            <a:endParaRPr lang="en-US" altLang="zh-CN" dirty="0">
              <a:latin typeface="Consolas" panose="020B0609020204030204" pitchFamily="49" charset="0"/>
            </a:endParaRPr>
          </a:p>
        </p:txBody>
      </p:sp>
    </p:spTree>
    <p:extLst>
      <p:ext uri="{BB962C8B-B14F-4D97-AF65-F5344CB8AC3E}">
        <p14:creationId xmlns:p14="http://schemas.microsoft.com/office/powerpoint/2010/main" val="16955436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文本占位符 56">
            <a:extLst>
              <a:ext uri="{FF2B5EF4-FFF2-40B4-BE49-F238E27FC236}">
                <a16:creationId xmlns:a16="http://schemas.microsoft.com/office/drawing/2014/main" id="{46C6B023-AC61-6F45-9DA2-37B4D405D5CC}"/>
              </a:ext>
            </a:extLst>
          </p:cNvPr>
          <p:cNvSpPr>
            <a:spLocks noGrp="1"/>
          </p:cNvSpPr>
          <p:nvPr>
            <p:ph type="body" sz="quarter" idx="10"/>
          </p:nvPr>
        </p:nvSpPr>
        <p:spPr>
          <a:xfrm>
            <a:off x="4682263" y="1346404"/>
            <a:ext cx="5760538" cy="1564096"/>
          </a:xfrm>
        </p:spPr>
        <p:txBody>
          <a:bodyPr/>
          <a:lstStyle/>
          <a:p>
            <a:pPr marL="0" indent="0" fontAlgn="auto">
              <a:spcBef>
                <a:spcPts val="0"/>
              </a:spcBef>
              <a:spcAft>
                <a:spcPts val="0"/>
              </a:spcAft>
              <a:buNone/>
              <a:defRPr/>
            </a:pPr>
            <a:r>
              <a:rPr lang="zh-CN" altLang="en-US" sz="18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平时上网没有用过</a:t>
            </a:r>
            <a:r>
              <a:rPr lang="en-US" altLang="zh-CN" sz="18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IP</a:t>
            </a:r>
            <a:r>
              <a:rPr lang="zh-CN" altLang="en-US" sz="18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啊？都是用网址的</a:t>
            </a:r>
          </a:p>
        </p:txBody>
      </p:sp>
      <p:pic>
        <p:nvPicPr>
          <p:cNvPr id="3" name="图片 2">
            <a:extLst>
              <a:ext uri="{FF2B5EF4-FFF2-40B4-BE49-F238E27FC236}">
                <a16:creationId xmlns:a16="http://schemas.microsoft.com/office/drawing/2014/main" id="{A1E16032-691F-F471-E615-A905151BF34D}"/>
              </a:ext>
            </a:extLst>
          </p:cNvPr>
          <p:cNvPicPr>
            <a:picLocks noChangeAspect="1"/>
          </p:cNvPicPr>
          <p:nvPr/>
        </p:nvPicPr>
        <p:blipFill>
          <a:blip r:embed="rId3"/>
          <a:stretch>
            <a:fillRect/>
          </a:stretch>
        </p:blipFill>
        <p:spPr>
          <a:xfrm>
            <a:off x="4735967" y="2849370"/>
            <a:ext cx="7154572" cy="3178568"/>
          </a:xfrm>
          <a:prstGeom prst="rect">
            <a:avLst/>
          </a:prstGeom>
        </p:spPr>
      </p:pic>
    </p:spTree>
    <p:extLst>
      <p:ext uri="{BB962C8B-B14F-4D97-AF65-F5344CB8AC3E}">
        <p14:creationId xmlns:p14="http://schemas.microsoft.com/office/powerpoint/2010/main" val="18053619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三要素">
            <a:extLst>
              <a:ext uri="{FF2B5EF4-FFF2-40B4-BE49-F238E27FC236}">
                <a16:creationId xmlns:a16="http://schemas.microsoft.com/office/drawing/2014/main" id="{51F2DE2F-B115-B136-E5ED-BF5F2D23D9BD}"/>
              </a:ext>
            </a:extLst>
          </p:cNvPr>
          <p:cNvSpPr txBox="1">
            <a:spLocks/>
          </p:cNvSpPr>
          <p:nvPr/>
        </p:nvSpPr>
        <p:spPr>
          <a:xfrm>
            <a:off x="710879" y="997654"/>
            <a:ext cx="3432496"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endParaRPr lang="zh-CN" altLang="en-US" dirty="0">
              <a:latin typeface="Consolas" panose="020B0609020204030204" pitchFamily="49" charset="0"/>
              <a:ea typeface="阿里巴巴普惠体" panose="00020600040101010101"/>
            </a:endParaRPr>
          </a:p>
        </p:txBody>
      </p:sp>
      <p:cxnSp>
        <p:nvCxnSpPr>
          <p:cNvPr id="12" name="直接箭头连接符 11">
            <a:extLst>
              <a:ext uri="{FF2B5EF4-FFF2-40B4-BE49-F238E27FC236}">
                <a16:creationId xmlns:a16="http://schemas.microsoft.com/office/drawing/2014/main" id="{46B15F68-ADA8-E1A4-047A-F73AE3A21DB9}"/>
              </a:ext>
            </a:extLst>
          </p:cNvPr>
          <p:cNvCxnSpPr>
            <a:cxnSpLocks/>
          </p:cNvCxnSpPr>
          <p:nvPr/>
        </p:nvCxnSpPr>
        <p:spPr>
          <a:xfrm>
            <a:off x="3968318" y="2349430"/>
            <a:ext cx="4061585" cy="35177"/>
          </a:xfrm>
          <a:prstGeom prst="straightConnector1">
            <a:avLst/>
          </a:prstGeom>
          <a:ln w="63500">
            <a:tailEnd type="arrow"/>
          </a:ln>
        </p:spPr>
        <p:style>
          <a:lnRef idx="3">
            <a:schemeClr val="accent3"/>
          </a:lnRef>
          <a:fillRef idx="0">
            <a:schemeClr val="accent3"/>
          </a:fillRef>
          <a:effectRef idx="2">
            <a:schemeClr val="accent3"/>
          </a:effectRef>
          <a:fontRef idx="minor">
            <a:schemeClr val="tx1"/>
          </a:fontRef>
        </p:style>
      </p:cxnSp>
      <p:pic>
        <p:nvPicPr>
          <p:cNvPr id="13" name="Picture 12">
            <a:extLst>
              <a:ext uri="{FF2B5EF4-FFF2-40B4-BE49-F238E27FC236}">
                <a16:creationId xmlns:a16="http://schemas.microsoft.com/office/drawing/2014/main" id="{6346BE78-BCC6-9A8D-5563-D5094E6373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5382" y="1610302"/>
            <a:ext cx="1181100" cy="138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矩形 13">
            <a:extLst>
              <a:ext uri="{FF2B5EF4-FFF2-40B4-BE49-F238E27FC236}">
                <a16:creationId xmlns:a16="http://schemas.microsoft.com/office/drawing/2014/main" id="{426BAB3A-69FA-2505-5740-A58C52595D3B}"/>
              </a:ext>
            </a:extLst>
          </p:cNvPr>
          <p:cNvSpPr/>
          <p:nvPr/>
        </p:nvSpPr>
        <p:spPr>
          <a:xfrm>
            <a:off x="2447926" y="3652886"/>
            <a:ext cx="723275" cy="307777"/>
          </a:xfrm>
          <a:prstGeom prst="rect">
            <a:avLst/>
          </a:prstGeom>
        </p:spPr>
        <p:txBody>
          <a:bodyPr wrap="none">
            <a:spAutoFit/>
          </a:bodyPr>
          <a:lstStyle/>
          <a:p>
            <a:pPr>
              <a:defRPr/>
            </a:pPr>
            <a:r>
              <a:rPr lang="zh-CN" altLang="en-US" sz="1400" dirty="0">
                <a:latin typeface="Consolas" panose="020B0609020204030204" pitchFamily="49" charset="0"/>
                <a:ea typeface="阿里巴巴普惠体" panose="00020600040101010101"/>
              </a:rPr>
              <a:t>计算机</a:t>
            </a:r>
          </a:p>
        </p:txBody>
      </p:sp>
      <p:sp>
        <p:nvSpPr>
          <p:cNvPr id="15" name="矩形 14">
            <a:extLst>
              <a:ext uri="{FF2B5EF4-FFF2-40B4-BE49-F238E27FC236}">
                <a16:creationId xmlns:a16="http://schemas.microsoft.com/office/drawing/2014/main" id="{D43FEDB6-E299-08A8-73F0-4AB974EB6337}"/>
              </a:ext>
            </a:extLst>
          </p:cNvPr>
          <p:cNvSpPr/>
          <p:nvPr/>
        </p:nvSpPr>
        <p:spPr>
          <a:xfrm>
            <a:off x="8330935" y="2984131"/>
            <a:ext cx="1249060" cy="338554"/>
          </a:xfrm>
          <a:prstGeom prst="rect">
            <a:avLst/>
          </a:prstGeom>
        </p:spPr>
        <p:txBody>
          <a:bodyPr wrap="none">
            <a:spAutoFit/>
          </a:bodyPr>
          <a:lstStyle/>
          <a:p>
            <a:pPr>
              <a:defRPr/>
            </a:pPr>
            <a:r>
              <a:rPr lang="en-US" altLang="zh-CN" sz="1600" dirty="0">
                <a:latin typeface="Consolas" panose="020B0609020204030204" pitchFamily="49" charset="0"/>
                <a:ea typeface="阿里巴巴普惠体" panose="00020600040101010101"/>
              </a:rPr>
              <a:t>DNS </a:t>
            </a:r>
            <a:r>
              <a:rPr lang="zh-CN" altLang="en-US" sz="1600" dirty="0">
                <a:latin typeface="Consolas" panose="020B0609020204030204" pitchFamily="49" charset="0"/>
                <a:ea typeface="阿里巴巴普惠体" panose="00020600040101010101"/>
              </a:rPr>
              <a:t>服务器</a:t>
            </a:r>
          </a:p>
        </p:txBody>
      </p:sp>
      <p:cxnSp>
        <p:nvCxnSpPr>
          <p:cNvPr id="16" name="直接箭头连接符 15">
            <a:extLst>
              <a:ext uri="{FF2B5EF4-FFF2-40B4-BE49-F238E27FC236}">
                <a16:creationId xmlns:a16="http://schemas.microsoft.com/office/drawing/2014/main" id="{DC4CF2D9-C1FD-1ABC-6C40-B095C3C3E72A}"/>
              </a:ext>
            </a:extLst>
          </p:cNvPr>
          <p:cNvCxnSpPr>
            <a:cxnSpLocks/>
          </p:cNvCxnSpPr>
          <p:nvPr/>
        </p:nvCxnSpPr>
        <p:spPr>
          <a:xfrm flipH="1" flipV="1">
            <a:off x="3908829" y="2874787"/>
            <a:ext cx="4214239" cy="28189"/>
          </a:xfrm>
          <a:prstGeom prst="straightConnector1">
            <a:avLst/>
          </a:prstGeom>
          <a:ln w="63500">
            <a:tailEnd type="arrow"/>
          </a:ln>
        </p:spPr>
        <p:style>
          <a:lnRef idx="3">
            <a:schemeClr val="accent2"/>
          </a:lnRef>
          <a:fillRef idx="0">
            <a:schemeClr val="accent2"/>
          </a:fillRef>
          <a:effectRef idx="2">
            <a:schemeClr val="accent2"/>
          </a:effectRef>
          <a:fontRef idx="minor">
            <a:schemeClr val="tx1"/>
          </a:fontRef>
        </p:style>
      </p:cxnSp>
      <p:cxnSp>
        <p:nvCxnSpPr>
          <p:cNvPr id="17" name="直接箭头连接符 16">
            <a:extLst>
              <a:ext uri="{FF2B5EF4-FFF2-40B4-BE49-F238E27FC236}">
                <a16:creationId xmlns:a16="http://schemas.microsoft.com/office/drawing/2014/main" id="{1AD56205-92A6-9D0F-47DC-3594AA0CB02F}"/>
              </a:ext>
            </a:extLst>
          </p:cNvPr>
          <p:cNvCxnSpPr>
            <a:cxnSpLocks/>
            <a:stCxn id="2" idx="3"/>
            <a:endCxn id="18" idx="1"/>
          </p:cNvCxnSpPr>
          <p:nvPr/>
        </p:nvCxnSpPr>
        <p:spPr>
          <a:xfrm>
            <a:off x="3904805" y="3395147"/>
            <a:ext cx="4494090" cy="1173788"/>
          </a:xfrm>
          <a:prstGeom prst="straightConnector1">
            <a:avLst/>
          </a:prstGeom>
          <a:ln w="63500">
            <a:tailEnd type="arrow"/>
          </a:ln>
        </p:spPr>
        <p:style>
          <a:lnRef idx="3">
            <a:schemeClr val="accent3"/>
          </a:lnRef>
          <a:fillRef idx="0">
            <a:schemeClr val="accent3"/>
          </a:fillRef>
          <a:effectRef idx="2">
            <a:schemeClr val="accent3"/>
          </a:effectRef>
          <a:fontRef idx="minor">
            <a:schemeClr val="tx1"/>
          </a:fontRef>
        </p:style>
      </p:cxnSp>
      <p:pic>
        <p:nvPicPr>
          <p:cNvPr id="18" name="Picture 12">
            <a:extLst>
              <a:ext uri="{FF2B5EF4-FFF2-40B4-BE49-F238E27FC236}">
                <a16:creationId xmlns:a16="http://schemas.microsoft.com/office/drawing/2014/main" id="{D99CC54F-0BE5-5BFC-C2D5-757387232F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8895" y="3876785"/>
            <a:ext cx="1181100" cy="138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矩形 18">
            <a:extLst>
              <a:ext uri="{FF2B5EF4-FFF2-40B4-BE49-F238E27FC236}">
                <a16:creationId xmlns:a16="http://schemas.microsoft.com/office/drawing/2014/main" id="{F670BFE2-D236-7F0D-A5D9-D79690434C3F}"/>
              </a:ext>
            </a:extLst>
          </p:cNvPr>
          <p:cNvSpPr/>
          <p:nvPr/>
        </p:nvSpPr>
        <p:spPr>
          <a:xfrm>
            <a:off x="8123068" y="5408971"/>
            <a:ext cx="1826141" cy="338554"/>
          </a:xfrm>
          <a:prstGeom prst="rect">
            <a:avLst/>
          </a:prstGeom>
        </p:spPr>
        <p:txBody>
          <a:bodyPr wrap="none">
            <a:spAutoFit/>
          </a:bodyPr>
          <a:lstStyle/>
          <a:p>
            <a:pPr>
              <a:defRPr/>
            </a:pPr>
            <a:r>
              <a:rPr lang="zh-CN" altLang="en-US" sz="1600" dirty="0">
                <a:latin typeface="Consolas" panose="020B0609020204030204" pitchFamily="49" charset="0"/>
                <a:ea typeface="阿里巴巴普惠体" panose="00020600040101010101"/>
              </a:rPr>
              <a:t>黑马程序员服务器</a:t>
            </a:r>
          </a:p>
        </p:txBody>
      </p:sp>
      <p:sp>
        <p:nvSpPr>
          <p:cNvPr id="20" name="矩形 19">
            <a:extLst>
              <a:ext uri="{FF2B5EF4-FFF2-40B4-BE49-F238E27FC236}">
                <a16:creationId xmlns:a16="http://schemas.microsoft.com/office/drawing/2014/main" id="{AF15AEAB-07FA-1661-1D80-F519F4E7B4C9}"/>
              </a:ext>
            </a:extLst>
          </p:cNvPr>
          <p:cNvSpPr/>
          <p:nvPr/>
        </p:nvSpPr>
        <p:spPr>
          <a:xfrm>
            <a:off x="5373547" y="1876635"/>
            <a:ext cx="1117614" cy="338554"/>
          </a:xfrm>
          <a:prstGeom prst="rect">
            <a:avLst/>
          </a:prstGeom>
        </p:spPr>
        <p:txBody>
          <a:bodyPr wrap="none">
            <a:spAutoFit/>
          </a:bodyPr>
          <a:lstStyle/>
          <a:p>
            <a:pPr>
              <a:defRPr/>
            </a:pPr>
            <a:r>
              <a:rPr lang="zh-CN" altLang="en-US" sz="1600" dirty="0">
                <a:latin typeface="Consolas" panose="020B0609020204030204" pitchFamily="49" charset="0"/>
                <a:ea typeface="阿里巴巴普惠体" panose="00020600040101010101"/>
              </a:rPr>
              <a:t>网址</a:t>
            </a:r>
            <a:r>
              <a:rPr lang="en-US" altLang="zh-CN" sz="1600" dirty="0">
                <a:latin typeface="Consolas" panose="020B0609020204030204" pitchFamily="49" charset="0"/>
                <a:ea typeface="阿里巴巴普惠体" panose="00020600040101010101"/>
              </a:rPr>
              <a:t>/</a:t>
            </a:r>
            <a:r>
              <a:rPr lang="zh-CN" altLang="en-US" sz="1600" dirty="0">
                <a:latin typeface="Consolas" panose="020B0609020204030204" pitchFamily="49" charset="0"/>
                <a:ea typeface="阿里巴巴普惠体" panose="00020600040101010101"/>
              </a:rPr>
              <a:t>域名</a:t>
            </a:r>
          </a:p>
        </p:txBody>
      </p:sp>
      <p:sp>
        <p:nvSpPr>
          <p:cNvPr id="21" name="矩形 20">
            <a:extLst>
              <a:ext uri="{FF2B5EF4-FFF2-40B4-BE49-F238E27FC236}">
                <a16:creationId xmlns:a16="http://schemas.microsoft.com/office/drawing/2014/main" id="{57550854-BB37-F275-1E73-28D76835BBC4}"/>
              </a:ext>
            </a:extLst>
          </p:cNvPr>
          <p:cNvSpPr/>
          <p:nvPr/>
        </p:nvSpPr>
        <p:spPr>
          <a:xfrm>
            <a:off x="5522626" y="2515804"/>
            <a:ext cx="819455" cy="338554"/>
          </a:xfrm>
          <a:prstGeom prst="rect">
            <a:avLst/>
          </a:prstGeom>
        </p:spPr>
        <p:txBody>
          <a:bodyPr wrap="none">
            <a:spAutoFit/>
          </a:bodyPr>
          <a:lstStyle/>
          <a:p>
            <a:pPr>
              <a:defRPr/>
            </a:pPr>
            <a:r>
              <a:rPr lang="en-US" altLang="zh-CN" sz="1600" dirty="0">
                <a:latin typeface="Consolas" panose="020B0609020204030204" pitchFamily="49" charset="0"/>
                <a:ea typeface="阿里巴巴普惠体" panose="00020600040101010101"/>
              </a:rPr>
              <a:t>IP</a:t>
            </a:r>
            <a:r>
              <a:rPr lang="zh-CN" altLang="en-US" sz="1600" dirty="0">
                <a:latin typeface="Consolas" panose="020B0609020204030204" pitchFamily="49" charset="0"/>
                <a:ea typeface="阿里巴巴普惠体" panose="00020600040101010101"/>
              </a:rPr>
              <a:t>地址</a:t>
            </a:r>
          </a:p>
        </p:txBody>
      </p:sp>
      <p:cxnSp>
        <p:nvCxnSpPr>
          <p:cNvPr id="22" name="直接箭头连接符 21">
            <a:extLst>
              <a:ext uri="{FF2B5EF4-FFF2-40B4-BE49-F238E27FC236}">
                <a16:creationId xmlns:a16="http://schemas.microsoft.com/office/drawing/2014/main" id="{8B0D6CC2-F296-C29E-EBDE-79094B1D694E}"/>
              </a:ext>
            </a:extLst>
          </p:cNvPr>
          <p:cNvCxnSpPr>
            <a:cxnSpLocks/>
          </p:cNvCxnSpPr>
          <p:nvPr/>
        </p:nvCxnSpPr>
        <p:spPr>
          <a:xfrm flipH="1" flipV="1">
            <a:off x="3657600" y="3989591"/>
            <a:ext cx="4465468" cy="1203846"/>
          </a:xfrm>
          <a:prstGeom prst="straightConnector1">
            <a:avLst/>
          </a:prstGeom>
          <a:ln w="63500">
            <a:tailEnd type="arrow"/>
          </a:ln>
        </p:spPr>
        <p:style>
          <a:lnRef idx="3">
            <a:schemeClr val="accent2"/>
          </a:lnRef>
          <a:fillRef idx="0">
            <a:schemeClr val="accent2"/>
          </a:fillRef>
          <a:effectRef idx="2">
            <a:schemeClr val="accent2"/>
          </a:effectRef>
          <a:fontRef idx="minor">
            <a:schemeClr val="tx1"/>
          </a:fontRef>
        </p:style>
      </p:cxnSp>
      <p:sp>
        <p:nvSpPr>
          <p:cNvPr id="23" name="矩形 22">
            <a:extLst>
              <a:ext uri="{FF2B5EF4-FFF2-40B4-BE49-F238E27FC236}">
                <a16:creationId xmlns:a16="http://schemas.microsoft.com/office/drawing/2014/main" id="{7F798C5E-0E3D-8FB2-48DB-5AF3A949CA4C}"/>
              </a:ext>
            </a:extLst>
          </p:cNvPr>
          <p:cNvSpPr/>
          <p:nvPr/>
        </p:nvSpPr>
        <p:spPr>
          <a:xfrm rot="832433">
            <a:off x="4685858" y="3497927"/>
            <a:ext cx="2492990" cy="369332"/>
          </a:xfrm>
          <a:prstGeom prst="rect">
            <a:avLst/>
          </a:prstGeom>
        </p:spPr>
        <p:txBody>
          <a:bodyPr wrap="none">
            <a:spAutoFit/>
          </a:bodyPr>
          <a:lstStyle/>
          <a:p>
            <a:pPr>
              <a:defRPr/>
            </a:pPr>
            <a:r>
              <a:rPr lang="zh-CN" altLang="en-US" dirty="0">
                <a:latin typeface="Consolas" panose="020B0609020204030204" pitchFamily="49" charset="0"/>
                <a:ea typeface="阿里巴巴普惠体" panose="00020600040101010101"/>
              </a:rPr>
              <a:t>访问黑马程序员服务器</a:t>
            </a:r>
          </a:p>
        </p:txBody>
      </p:sp>
      <p:sp>
        <p:nvSpPr>
          <p:cNvPr id="24" name="矩形 23">
            <a:extLst>
              <a:ext uri="{FF2B5EF4-FFF2-40B4-BE49-F238E27FC236}">
                <a16:creationId xmlns:a16="http://schemas.microsoft.com/office/drawing/2014/main" id="{794A594C-2302-6AAC-A411-869B0A484CD1}"/>
              </a:ext>
            </a:extLst>
          </p:cNvPr>
          <p:cNvSpPr/>
          <p:nvPr/>
        </p:nvSpPr>
        <p:spPr>
          <a:xfrm rot="873368">
            <a:off x="4481839" y="4157338"/>
            <a:ext cx="2723823" cy="369332"/>
          </a:xfrm>
          <a:prstGeom prst="rect">
            <a:avLst/>
          </a:prstGeom>
        </p:spPr>
        <p:txBody>
          <a:bodyPr wrap="none">
            <a:spAutoFit/>
          </a:bodyPr>
          <a:lstStyle/>
          <a:p>
            <a:pPr>
              <a:defRPr/>
            </a:pPr>
            <a:r>
              <a:rPr lang="zh-CN" altLang="en-US" dirty="0">
                <a:latin typeface="Consolas" panose="020B0609020204030204" pitchFamily="49" charset="0"/>
                <a:ea typeface="阿里巴巴普惠体" panose="00020600040101010101"/>
              </a:rPr>
              <a:t>返回数据展示在浏览器上</a:t>
            </a:r>
          </a:p>
        </p:txBody>
      </p:sp>
      <p:pic>
        <p:nvPicPr>
          <p:cNvPr id="2" name="图片 1">
            <a:extLst>
              <a:ext uri="{FF2B5EF4-FFF2-40B4-BE49-F238E27FC236}">
                <a16:creationId xmlns:a16="http://schemas.microsoft.com/office/drawing/2014/main" id="{2A16C209-B44A-8B94-A8F5-1B592916EA56}"/>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69" b="99493" l="1018" r="96565">
                        <a14:foregroundMark x1="50763" y1="17905" x2="69720" y2="44257"/>
                        <a14:foregroundMark x1="28753" y1="71453" x2="40204" y2="78885"/>
                        <a14:foregroundMark x1="40204" y1="78885" x2="18830" y2="87500"/>
                        <a14:foregroundMark x1="18830" y1="87500" x2="54835" y2="75845"/>
                        <a14:foregroundMark x1="60687" y1="22297" x2="62977" y2="66554"/>
                        <a14:foregroundMark x1="62977" y1="66554" x2="53435" y2="84797"/>
                        <a14:foregroundMark x1="53435" y1="84797" x2="82570" y2="82264"/>
                        <a14:foregroundMark x1="82570" y1="82264" x2="87532" y2="96284"/>
                        <a14:foregroundMark x1="12341" y1="12162" x2="39186" y2="5574"/>
                        <a14:foregroundMark x1="39186" y1="5574" x2="69338" y2="6419"/>
                        <a14:foregroundMark x1="69338" y1="6419" x2="35623" y2="4899"/>
                        <a14:foregroundMark x1="35623" y1="4899" x2="51272" y2="169"/>
                        <a14:foregroundMark x1="51272" y1="169" x2="60941" y2="507"/>
                        <a14:foregroundMark x1="67176" y1="3716" x2="80916" y2="2703"/>
                        <a14:foregroundMark x1="81170" y1="4392" x2="88550" y2="18919"/>
                        <a14:foregroundMark x1="88550" y1="18919" x2="88041" y2="29561"/>
                        <a14:foregroundMark x1="81425" y1="59797" x2="69975" y2="74831"/>
                        <a14:foregroundMark x1="69975" y1="74831" x2="28880" y2="68750"/>
                        <a14:foregroundMark x1="28880" y1="68750" x2="47710" y2="67061"/>
                        <a14:foregroundMark x1="47710" y1="67061" x2="20229" y2="78041"/>
                        <a14:foregroundMark x1="20229" y1="78041" x2="30153" y2="71791"/>
                        <a14:foregroundMark x1="69338" y1="64527" x2="85115" y2="92399"/>
                        <a14:foregroundMark x1="85115" y1="92399" x2="80153" y2="92736"/>
                        <a14:foregroundMark x1="12595" y1="69257" x2="8779" y2="92061"/>
                        <a14:foregroundMark x1="8779" y1="92061" x2="50382" y2="95270"/>
                        <a14:foregroundMark x1="50382" y1="95270" x2="78372" y2="93750"/>
                        <a14:foregroundMark x1="78372" y1="93750" x2="79898" y2="71115"/>
                        <a14:foregroundMark x1="16921" y1="67905" x2="25445" y2="75845"/>
                        <a14:foregroundMark x1="5471" y1="90034" x2="6870" y2="92568"/>
                        <a14:foregroundMark x1="46565" y1="99493" x2="59288" y2="98142"/>
                        <a14:foregroundMark x1="59288" y1="98142" x2="58397" y2="98818"/>
                        <a14:foregroundMark x1="35369" y1="86149" x2="61323" y2="85135"/>
                        <a14:foregroundMark x1="61323" y1="85135" x2="73028" y2="85642"/>
                        <a14:foregroundMark x1="23791" y1="89020" x2="62214" y2="91216"/>
                        <a14:foregroundMark x1="62214" y1="91216" x2="60941" y2="91554"/>
                        <a14:foregroundMark x1="34224" y1="90541" x2="64249" y2="89358"/>
                        <a14:foregroundMark x1="27099" y1="79223" x2="50636" y2="79054"/>
                        <a14:foregroundMark x1="50636" y1="79054" x2="64758" y2="79223"/>
                        <a14:foregroundMark x1="21628" y1="78716" x2="67812" y2="76689"/>
                        <a14:foregroundMark x1="39822" y1="73311" x2="76590" y2="74493"/>
                        <a14:foregroundMark x1="32061" y1="78716" x2="67176" y2="79899"/>
                        <a14:foregroundMark x1="29644" y1="81081" x2="62595" y2="79899"/>
                        <a14:foregroundMark x1="27481" y1="76689" x2="57634" y2="73311"/>
                        <a14:foregroundMark x1="34606" y1="73311" x2="63359" y2="74831"/>
                        <a14:foregroundMark x1="36768" y1="79561" x2="60687" y2="81081"/>
                        <a14:foregroundMark x1="48601" y1="81419" x2="48601" y2="81419"/>
                        <a14:foregroundMark x1="46947" y1="84291" x2="46947" y2="84291"/>
                        <a14:foregroundMark x1="67176" y1="72635" x2="67176" y2="72635"/>
                        <a14:foregroundMark x1="82570" y1="75845" x2="82570" y2="77365"/>
                        <a14:foregroundMark x1="85878" y1="72973" x2="85878" y2="93750"/>
                        <a14:foregroundMark x1="85878" y1="93750" x2="86768" y2="94932"/>
                        <a14:foregroundMark x1="87023" y1="77027" x2="88550" y2="97466"/>
                        <a14:foregroundMark x1="87277" y1="84291" x2="89440" y2="97297"/>
                        <a14:foregroundMark x1="93511" y1="83953" x2="93766" y2="99493"/>
                        <a14:foregroundMark x1="94148" y1="94932" x2="96565" y2="99662"/>
                        <a14:foregroundMark x1="8779" y1="97804" x2="1018" y2="98818"/>
                        <a14:foregroundMark x1="12087" y1="69764" x2="18830" y2="69426"/>
                      </a14:backgroundRemoval>
                    </a14:imgEffect>
                  </a14:imgLayer>
                </a14:imgProps>
              </a:ext>
            </a:extLst>
          </a:blip>
          <a:stretch>
            <a:fillRect/>
          </a:stretch>
        </p:blipFill>
        <p:spPr>
          <a:xfrm>
            <a:off x="890303" y="2259914"/>
            <a:ext cx="3014502" cy="2270465"/>
          </a:xfrm>
          <a:prstGeom prst="rect">
            <a:avLst/>
          </a:prstGeom>
          <a:ln>
            <a:noFill/>
          </a:ln>
          <a:effectLst>
            <a:outerShdw blurRad="190500" algn="tl" rotWithShape="0">
              <a:srgbClr val="000000">
                <a:alpha val="70000"/>
              </a:srgbClr>
            </a:outerShdw>
          </a:effectLst>
        </p:spPr>
      </p:pic>
      <p:sp>
        <p:nvSpPr>
          <p:cNvPr id="3" name="标题 2">
            <a:extLst>
              <a:ext uri="{FF2B5EF4-FFF2-40B4-BE49-F238E27FC236}">
                <a16:creationId xmlns:a16="http://schemas.microsoft.com/office/drawing/2014/main" id="{BAE45E81-C361-E227-3324-3EA4EF2F21E6}"/>
              </a:ext>
            </a:extLst>
          </p:cNvPr>
          <p:cNvSpPr>
            <a:spLocks noGrp="1"/>
          </p:cNvSpPr>
          <p:nvPr>
            <p:ph type="title"/>
          </p:nvPr>
        </p:nvSpPr>
        <p:spPr/>
        <p:txBody>
          <a:bodyPr/>
          <a:lstStyle/>
          <a:p>
            <a:r>
              <a:rPr lang="en-US" altLang="zh-CN" dirty="0"/>
              <a:t>IP</a:t>
            </a:r>
            <a:r>
              <a:rPr lang="zh-CN" altLang="en-US" dirty="0"/>
              <a:t>和网址</a:t>
            </a:r>
          </a:p>
        </p:txBody>
      </p:sp>
    </p:spTree>
    <p:extLst>
      <p:ext uri="{BB962C8B-B14F-4D97-AF65-F5344CB8AC3E}">
        <p14:creationId xmlns:p14="http://schemas.microsoft.com/office/powerpoint/2010/main" val="329542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par>
                                <p:cTn id="12" presetID="22" presetClass="entr" presetSubtype="8" fill="hold" nodeType="withEffect">
                                  <p:stCondLst>
                                    <p:cond delay="0"/>
                                  </p:stCondLst>
                                  <p:childTnLst>
                                    <p:set>
                                      <p:cBhvr>
                                        <p:cTn id="13" dur="1" fill="hold">
                                          <p:stCondLst>
                                            <p:cond delay="0"/>
                                          </p:stCondLst>
                                        </p:cTn>
                                        <p:tgtEl>
                                          <p:spTgt spid="20">
                                            <p:txEl>
                                              <p:pRg st="0" end="0"/>
                                            </p:txEl>
                                          </p:spTgt>
                                        </p:tgtEl>
                                        <p:attrNameLst>
                                          <p:attrName>style.visibility</p:attrName>
                                        </p:attrNameLst>
                                      </p:cBhvr>
                                      <p:to>
                                        <p:strVal val="visible"/>
                                      </p:to>
                                    </p:set>
                                    <p:animEffect transition="in" filter="wipe(left)">
                                      <p:cBhvr>
                                        <p:cTn id="14" dur="500"/>
                                        <p:tgtEl>
                                          <p:spTgt spid="20">
                                            <p:txEl>
                                              <p:pRg st="0" end="0"/>
                                            </p:txEl>
                                          </p:spTgt>
                                        </p:tgtEl>
                                      </p:cBhvr>
                                    </p:animEffect>
                                  </p:childTnLst>
                                </p:cTn>
                              </p:par>
                            </p:childTnLst>
                          </p:cTn>
                        </p:par>
                        <p:par>
                          <p:cTn id="15" fill="hold">
                            <p:stCondLst>
                              <p:cond delay="500"/>
                            </p:stCondLst>
                            <p:childTnLst>
                              <p:par>
                                <p:cTn id="16" presetID="1" presetClass="entr" presetSubtype="0" fill="hold" nodeType="after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right)">
                                      <p:cBhvr>
                                        <p:cTn id="24" dur="500"/>
                                        <p:tgtEl>
                                          <p:spTgt spid="16"/>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right)">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left)">
                                      <p:cBhvr>
                                        <p:cTn id="32" dur="500"/>
                                        <p:tgtEl>
                                          <p:spTgt spid="17"/>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left)">
                                      <p:cBhvr>
                                        <p:cTn id="35" dur="500"/>
                                        <p:tgtEl>
                                          <p:spTgt spid="23"/>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8"/>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2" fill="hold"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wipe(right)">
                                      <p:cBhvr>
                                        <p:cTn id="46" dur="500"/>
                                        <p:tgtEl>
                                          <p:spTgt spid="22"/>
                                        </p:tgtEl>
                                      </p:cBhvr>
                                    </p:animEffect>
                                  </p:childTnLst>
                                </p:cTn>
                              </p:par>
                              <p:par>
                                <p:cTn id="47" presetID="22" presetClass="entr" presetSubtype="2" fill="hold" nodeType="withEffect">
                                  <p:stCondLst>
                                    <p:cond delay="0"/>
                                  </p:stCondLst>
                                  <p:childTnLst>
                                    <p:set>
                                      <p:cBhvr>
                                        <p:cTn id="48" dur="1" fill="hold">
                                          <p:stCondLst>
                                            <p:cond delay="0"/>
                                          </p:stCondLst>
                                        </p:cTn>
                                        <p:tgtEl>
                                          <p:spTgt spid="24">
                                            <p:txEl>
                                              <p:pRg st="0" end="0"/>
                                            </p:txEl>
                                          </p:spTgt>
                                        </p:tgtEl>
                                        <p:attrNameLst>
                                          <p:attrName>style.visibility</p:attrName>
                                        </p:attrNameLst>
                                      </p:cBhvr>
                                      <p:to>
                                        <p:strVal val="visible"/>
                                      </p:to>
                                    </p:set>
                                    <p:animEffect transition="in" filter="wipe(right)">
                                      <p:cBhvr>
                                        <p:cTn id="49" dur="500"/>
                                        <p:tgtEl>
                                          <p:spTgt spid="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9" grpId="0"/>
      <p:bldP spid="21" grpId="0"/>
      <p:bldP spid="2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FB09CA58-E517-CA39-8FB8-7ACE7EE8667B}"/>
              </a:ext>
            </a:extLst>
          </p:cNvPr>
          <p:cNvSpPr txBox="1"/>
          <p:nvPr/>
        </p:nvSpPr>
        <p:spPr>
          <a:xfrm>
            <a:off x="576626" y="1312471"/>
            <a:ext cx="10657416" cy="796436"/>
          </a:xfrm>
          <a:prstGeom prst="rect">
            <a:avLst/>
          </a:prstGeom>
          <a:noFill/>
        </p:spPr>
        <p:txBody>
          <a:bodyPr>
            <a:spAutoFit/>
          </a:bodyPr>
          <a:lstStyle/>
          <a:p>
            <a:pPr>
              <a:lnSpc>
                <a:spcPct val="150000"/>
              </a:lnSpc>
              <a:defRPr/>
            </a:pP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为了方便我们对</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IP</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地址的获取和操作，</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Java</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提供了一个类</a:t>
            </a:r>
            <a:r>
              <a:rPr lang="en-US" altLang="zh-CN" sz="1600" dirty="0" err="1">
                <a:latin typeface="Consolas" panose="020B0609020204030204" pitchFamily="49" charset="0"/>
                <a:ea typeface="阿里巴巴普惠体" panose="00020600040101010101" pitchFamily="18" charset="-122"/>
                <a:cs typeface="阿里巴巴普惠体" panose="00020600040101010101" pitchFamily="18" charset="-122"/>
              </a:rPr>
              <a:t>InetAddress</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供我们使用</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a:p>
            <a:pPr>
              <a:lnSpc>
                <a:spcPct val="150000"/>
              </a:lnSpc>
              <a:defRPr/>
            </a:pPr>
            <a:r>
              <a:rPr lang="en-US" altLang="zh-CN" sz="1600" dirty="0" err="1">
                <a:latin typeface="Consolas" panose="020B0609020204030204" pitchFamily="49" charset="0"/>
                <a:ea typeface="阿里巴巴普惠体" panose="00020600040101010101" pitchFamily="18" charset="-122"/>
                <a:cs typeface="阿里巴巴普惠体" panose="00020600040101010101" pitchFamily="18" charset="-122"/>
              </a:rPr>
              <a:t>InetAddress</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：此类表示</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Internet</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协议（</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IP</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）地址。</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graphicFrame>
        <p:nvGraphicFramePr>
          <p:cNvPr id="5" name="表格 4">
            <a:extLst>
              <a:ext uri="{FF2B5EF4-FFF2-40B4-BE49-F238E27FC236}">
                <a16:creationId xmlns:a16="http://schemas.microsoft.com/office/drawing/2014/main" id="{1840B963-BF84-64F1-3C3D-DF8E74BC2179}"/>
              </a:ext>
            </a:extLst>
          </p:cNvPr>
          <p:cNvGraphicFramePr>
            <a:graphicFrameLocks noGrp="1"/>
          </p:cNvGraphicFramePr>
          <p:nvPr>
            <p:extLst>
              <p:ext uri="{D42A27DB-BD31-4B8C-83A1-F6EECF244321}">
                <p14:modId xmlns:p14="http://schemas.microsoft.com/office/powerpoint/2010/main" val="3681344089"/>
              </p:ext>
            </p:extLst>
          </p:nvPr>
        </p:nvGraphicFramePr>
        <p:xfrm>
          <a:off x="874112" y="2852343"/>
          <a:ext cx="9664724" cy="1998040"/>
        </p:xfrm>
        <a:graphic>
          <a:graphicData uri="http://schemas.openxmlformats.org/drawingml/2006/table">
            <a:tbl>
              <a:tblPr>
                <a:effectLst>
                  <a:outerShdw blurRad="76200" dir="13500000" sy="23000" kx="1200000" algn="br" rotWithShape="0">
                    <a:prstClr val="black">
                      <a:alpha val="20000"/>
                    </a:prstClr>
                  </a:outerShdw>
                  <a:reflection blurRad="6350" stA="52000" endA="300" endPos="35000" dir="5400000" sy="-100000" algn="bl" rotWithShape="0"/>
                </a:effectLst>
              </a:tblPr>
              <a:tblGrid>
                <a:gridCol w="4944039">
                  <a:extLst>
                    <a:ext uri="{9D8B030D-6E8A-4147-A177-3AD203B41FA5}">
                      <a16:colId xmlns:a16="http://schemas.microsoft.com/office/drawing/2014/main" val="1138920238"/>
                    </a:ext>
                  </a:extLst>
                </a:gridCol>
                <a:gridCol w="4720685">
                  <a:extLst>
                    <a:ext uri="{9D8B030D-6E8A-4147-A177-3AD203B41FA5}">
                      <a16:colId xmlns:a16="http://schemas.microsoft.com/office/drawing/2014/main" val="432614512"/>
                    </a:ext>
                  </a:extLst>
                </a:gridCol>
              </a:tblGrid>
              <a:tr h="520512">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方法名</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rPr>
                        <a:t>说明</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4202419644"/>
                  </a:ext>
                </a:extLst>
              </a:tr>
              <a:tr h="44918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static </a:t>
                      </a:r>
                      <a:r>
                        <a:rPr kumimoji="0" lang="en-US" altLang="zh-CN" sz="1600" u="none" strike="noStrike" cap="none" normalizeH="0" baseline="0" dirty="0" err="1">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InetAddress</a:t>
                      </a:r>
                      <a:r>
                        <a:rPr kumimoji="0" lang="en-US" altLang="zh-CN" sz="160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 </a:t>
                      </a:r>
                      <a:r>
                        <a:rPr kumimoji="0" lang="en-US" altLang="zh-CN" sz="1600" u="none" strike="noStrike" cap="none" normalizeH="0" baseline="0" dirty="0" err="1">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getByName</a:t>
                      </a:r>
                      <a:r>
                        <a:rPr kumimoji="0" lang="en-US" altLang="zh-CN" sz="160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​(String host)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确定主机名称的</a:t>
                      </a:r>
                      <a:r>
                        <a:rPr kumimoji="0" lang="en-US" altLang="zh-CN" sz="160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IP</a:t>
                      </a:r>
                      <a:r>
                        <a:rPr kumimoji="0" lang="zh-CN" altLang="en-US" sz="160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地址。</a:t>
                      </a:r>
                      <a:endParaRPr kumimoji="0" lang="en-US" altLang="zh-CN" sz="160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主机名称可以是机器名称，也可以是</a:t>
                      </a:r>
                      <a:r>
                        <a:rPr kumimoji="0" lang="en-US" altLang="zh-CN" sz="160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IP</a:t>
                      </a:r>
                      <a:r>
                        <a:rPr kumimoji="0" lang="zh-CN" altLang="en-US" sz="160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地址</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217203927"/>
                  </a:ext>
                </a:extLst>
              </a:tr>
              <a:tr h="449183">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String </a:t>
                      </a:r>
                      <a:r>
                        <a:rPr kumimoji="0" lang="en-US" altLang="zh-CN" sz="1600" u="none" strike="noStrike" cap="none" normalizeH="0" baseline="0" dirty="0" err="1">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getHostName</a:t>
                      </a:r>
                      <a:r>
                        <a:rPr kumimoji="0" lang="en-US" altLang="zh-CN" sz="160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获取此 </a:t>
                      </a:r>
                      <a:r>
                        <a:rPr kumimoji="0" lang="en-US" altLang="zh-CN" sz="160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IP </a:t>
                      </a:r>
                      <a:r>
                        <a:rPr kumimoji="0" lang="zh-CN" altLang="en-US" sz="160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地址的主机名</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686760284"/>
                  </a:ext>
                </a:extLst>
              </a:tr>
              <a:tr h="44918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String </a:t>
                      </a:r>
                      <a:r>
                        <a:rPr kumimoji="0" lang="en-US" altLang="zh-CN" sz="1600" u="none" strike="noStrike" cap="none" normalizeH="0" baseline="0" dirty="0" err="1">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getHostAddress</a:t>
                      </a:r>
                      <a:r>
                        <a:rPr kumimoji="0" lang="en-US" altLang="zh-CN" sz="160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返回文本显示中的 </a:t>
                      </a:r>
                      <a:r>
                        <a:rPr kumimoji="0" lang="en-US" altLang="zh-CN" sz="160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IP </a:t>
                      </a:r>
                      <a:r>
                        <a:rPr kumimoji="0" lang="zh-CN" altLang="en-US" sz="1600" u="none" strike="noStrike" cap="none" normalizeH="0" baseline="0" dirty="0">
                          <a:ln>
                            <a:noFill/>
                          </a:ln>
                          <a:solidFill>
                            <a:schemeClr val="tx1">
                              <a:lumMod val="85000"/>
                              <a:lumOff val="15000"/>
                            </a:schemeClr>
                          </a:solidFill>
                          <a:effectLst/>
                          <a:latin typeface="Consolas" panose="020B0609020204030204" pitchFamily="49" charset="0"/>
                          <a:ea typeface="阿里巴巴普惠体" panose="00020600040101010101" pitchFamily="18" charset="-122"/>
                          <a:cs typeface="阿里巴巴普惠体" panose="00020600040101010101" pitchFamily="18" charset="-122"/>
                        </a:rPr>
                        <a:t>地址字符串</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363303194"/>
                  </a:ext>
                </a:extLst>
              </a:tr>
            </a:tbl>
          </a:graphicData>
        </a:graphic>
      </p:graphicFrame>
      <p:sp>
        <p:nvSpPr>
          <p:cNvPr id="2" name="标题 1">
            <a:extLst>
              <a:ext uri="{FF2B5EF4-FFF2-40B4-BE49-F238E27FC236}">
                <a16:creationId xmlns:a16="http://schemas.microsoft.com/office/drawing/2014/main" id="{B09068E7-5E45-9C1F-DD2C-0DE7B41EFED6}"/>
              </a:ext>
            </a:extLst>
          </p:cNvPr>
          <p:cNvSpPr>
            <a:spLocks noGrp="1"/>
          </p:cNvSpPr>
          <p:nvPr>
            <p:ph type="title"/>
          </p:nvPr>
        </p:nvSpPr>
        <p:spPr/>
        <p:txBody>
          <a:bodyPr/>
          <a:lstStyle/>
          <a:p>
            <a:r>
              <a:rPr lang="en-US" altLang="zh-CN" dirty="0" err="1"/>
              <a:t>InetAddress</a:t>
            </a:r>
            <a:r>
              <a:rPr lang="zh-CN" altLang="en-US" dirty="0"/>
              <a:t>对象</a:t>
            </a:r>
          </a:p>
        </p:txBody>
      </p:sp>
    </p:spTree>
    <p:extLst>
      <p:ext uri="{BB962C8B-B14F-4D97-AF65-F5344CB8AC3E}">
        <p14:creationId xmlns:p14="http://schemas.microsoft.com/office/powerpoint/2010/main" val="3235262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7"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900" decel="100000" fill="hold"/>
                                        <p:tgtEl>
                                          <p:spTgt spid="5"/>
                                        </p:tgtEl>
                                        <p:attrNameLst>
                                          <p:attrName>ppt_y</p:attrName>
                                        </p:attrNameLst>
                                      </p:cBhvr>
                                      <p:tavLst>
                                        <p:tav tm="0">
                                          <p:val>
                                            <p:strVal val="#ppt_y+1"/>
                                          </p:val>
                                        </p:tav>
                                        <p:tav tm="100000">
                                          <p:val>
                                            <p:strVal val="#ppt_y-.03"/>
                                          </p:val>
                                        </p:tav>
                                      </p:tavLst>
                                    </p:anim>
                                    <p:anim calcmode="lin" valueType="num">
                                      <p:cBhvr>
                                        <p:cTn id="20" dur="100" accel="100000" fill="hold">
                                          <p:stCondLst>
                                            <p:cond delay="900"/>
                                          </p:stCondLst>
                                        </p:cTn>
                                        <p:tgtEl>
                                          <p:spTgt spid="5"/>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793CD587-76B6-BE49-601A-E2CF454B0662}"/>
              </a:ext>
            </a:extLst>
          </p:cNvPr>
          <p:cNvSpPr txBox="1"/>
          <p:nvPr/>
        </p:nvSpPr>
        <p:spPr>
          <a:xfrm>
            <a:off x="576626" y="1173555"/>
            <a:ext cx="8928100" cy="3046988"/>
          </a:xfrm>
          <a:prstGeom prst="rect">
            <a:avLst/>
          </a:prstGeom>
          <a:noFill/>
        </p:spPr>
        <p:txBody>
          <a:bodyPr>
            <a:spAutoFit/>
          </a:bodyPr>
          <a:lstStyle/>
          <a:p>
            <a:pPr>
              <a:lnSpc>
                <a:spcPct val="150000"/>
              </a:lnSpc>
              <a:defRPr/>
            </a:pPr>
            <a:r>
              <a:rPr lang="zh-CN" altLang="en-US"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应用程序在设备中唯一的标识。</a:t>
            </a:r>
          </a:p>
          <a:p>
            <a:pPr>
              <a:lnSpc>
                <a:spcPct val="150000"/>
              </a:lnSpc>
              <a:defRPr/>
            </a:pPr>
            <a:endParaRPr lang="en-US" altLang="zh-CN"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nSpc>
                <a:spcPct val="150000"/>
              </a:lnSpc>
              <a:defRPr/>
            </a:pPr>
            <a:r>
              <a:rPr lang="zh-CN" altLang="en-US"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端口号：由两个字节表示的整数，取值范围：</a:t>
            </a:r>
            <a:r>
              <a:rPr lang="en-US" altLang="zh-CN"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0~65535</a:t>
            </a:r>
          </a:p>
          <a:p>
            <a:pPr>
              <a:lnSpc>
                <a:spcPct val="150000"/>
              </a:lnSpc>
              <a:defRPr/>
            </a:pPr>
            <a:r>
              <a:rPr lang="en-US" altLang="zh-CN"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其中</a:t>
            </a:r>
            <a:r>
              <a:rPr lang="en-US" altLang="zh-CN"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0~1023</a:t>
            </a:r>
            <a:r>
              <a:rPr lang="zh-CN" altLang="en-US"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之间的端口号用于一些知名的网络服务或者应用。 </a:t>
            </a:r>
            <a:endParaRPr lang="en-US" altLang="zh-CN"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nSpc>
                <a:spcPct val="150000"/>
              </a:lnSpc>
              <a:defRPr/>
            </a:pPr>
            <a:r>
              <a:rPr lang="en-US" altLang="zh-CN"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我们自己使用</a:t>
            </a:r>
            <a:r>
              <a:rPr lang="en-US" altLang="zh-CN"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1024</a:t>
            </a:r>
            <a:r>
              <a:rPr lang="zh-CN" altLang="en-US"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以上的端口号就可以了。</a:t>
            </a:r>
            <a:endParaRPr lang="en-US" altLang="zh-CN" sz="1600" dirty="0">
              <a:solidFill>
                <a:schemeClr val="tx1">
                  <a:lumMod val="50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nSpc>
                <a:spcPct val="150000"/>
              </a:lnSpc>
              <a:defRPr/>
            </a:pP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nSpc>
                <a:spcPct val="150000"/>
              </a:lnSpc>
              <a:defRPr/>
            </a:pP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nSpc>
                <a:spcPct val="150000"/>
              </a:lnSpc>
              <a:defRPr/>
            </a:pPr>
            <a:r>
              <a:rPr lang="zh-CN" altLang="en-US" sz="16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注意：一个端口号只能被一个应用程序使用</a:t>
            </a:r>
          </a:p>
        </p:txBody>
      </p:sp>
      <p:sp>
        <p:nvSpPr>
          <p:cNvPr id="2" name="标题 1">
            <a:extLst>
              <a:ext uri="{FF2B5EF4-FFF2-40B4-BE49-F238E27FC236}">
                <a16:creationId xmlns:a16="http://schemas.microsoft.com/office/drawing/2014/main" id="{E6004E9C-27C7-5F3C-EED6-63AA085E2369}"/>
              </a:ext>
            </a:extLst>
          </p:cNvPr>
          <p:cNvSpPr>
            <a:spLocks noGrp="1"/>
          </p:cNvSpPr>
          <p:nvPr>
            <p:ph type="title"/>
          </p:nvPr>
        </p:nvSpPr>
        <p:spPr/>
        <p:txBody>
          <a:bodyPr/>
          <a:lstStyle/>
          <a:p>
            <a:r>
              <a:rPr lang="zh-CN" altLang="en-US" dirty="0"/>
              <a:t>端口号</a:t>
            </a:r>
          </a:p>
        </p:txBody>
      </p:sp>
    </p:spTree>
    <p:extLst>
      <p:ext uri="{BB962C8B-B14F-4D97-AF65-F5344CB8AC3E}">
        <p14:creationId xmlns:p14="http://schemas.microsoft.com/office/powerpoint/2010/main" val="2613327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wipe(left)">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8D02677C-AF44-7C39-FAE8-F37A76DFDDC5}"/>
              </a:ext>
            </a:extLst>
          </p:cNvPr>
          <p:cNvSpPr/>
          <p:nvPr/>
        </p:nvSpPr>
        <p:spPr bwMode="auto">
          <a:xfrm>
            <a:off x="1524000" y="1755648"/>
            <a:ext cx="3432496" cy="4462272"/>
          </a:xfrm>
          <a:prstGeom prst="roundRect">
            <a:avLst>
              <a:gd name="adj" fmla="val 4798"/>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 name="矩形: 圆角 7">
            <a:extLst>
              <a:ext uri="{FF2B5EF4-FFF2-40B4-BE49-F238E27FC236}">
                <a16:creationId xmlns:a16="http://schemas.microsoft.com/office/drawing/2014/main" id="{41D0FA90-0539-1EA6-AFCD-51C3F383E42B}"/>
              </a:ext>
            </a:extLst>
          </p:cNvPr>
          <p:cNvSpPr/>
          <p:nvPr/>
        </p:nvSpPr>
        <p:spPr bwMode="auto">
          <a:xfrm>
            <a:off x="7580824" y="1755648"/>
            <a:ext cx="3432496" cy="4462272"/>
          </a:xfrm>
          <a:prstGeom prst="roundRect">
            <a:avLst>
              <a:gd name="adj" fmla="val 4798"/>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86AD32C-66D9-4DD7-F3D8-4CBDB562EBD8}"/>
              </a:ext>
            </a:extLst>
          </p:cNvPr>
          <p:cNvSpPr/>
          <p:nvPr/>
        </p:nvSpPr>
        <p:spPr bwMode="auto">
          <a:xfrm>
            <a:off x="4842420" y="1975104"/>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4EE97FDB-1678-F21E-148B-712AC8EBF57F}"/>
              </a:ext>
            </a:extLst>
          </p:cNvPr>
          <p:cNvSpPr/>
          <p:nvPr/>
        </p:nvSpPr>
        <p:spPr bwMode="auto">
          <a:xfrm>
            <a:off x="4842420" y="2217872"/>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A6F2E4C9-CD82-BBBE-DD83-8B5B38443F28}"/>
              </a:ext>
            </a:extLst>
          </p:cNvPr>
          <p:cNvSpPr/>
          <p:nvPr/>
        </p:nvSpPr>
        <p:spPr bwMode="auto">
          <a:xfrm>
            <a:off x="4842420" y="2460641"/>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1CBD9E8E-1F0F-0DDC-6E01-1F9727900E7B}"/>
              </a:ext>
            </a:extLst>
          </p:cNvPr>
          <p:cNvSpPr/>
          <p:nvPr/>
        </p:nvSpPr>
        <p:spPr bwMode="auto">
          <a:xfrm>
            <a:off x="4842420" y="2703409"/>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4CC9E0CA-A4F8-97AD-0886-D021DC3C13E4}"/>
              </a:ext>
            </a:extLst>
          </p:cNvPr>
          <p:cNvSpPr/>
          <p:nvPr/>
        </p:nvSpPr>
        <p:spPr bwMode="auto">
          <a:xfrm>
            <a:off x="4842420" y="2946177"/>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0D3EE6F1-E9DF-6246-A7DC-2CFAC1BF12E1}"/>
              </a:ext>
            </a:extLst>
          </p:cNvPr>
          <p:cNvSpPr/>
          <p:nvPr/>
        </p:nvSpPr>
        <p:spPr bwMode="auto">
          <a:xfrm>
            <a:off x="4842420" y="3188945"/>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840C6685-96FD-6AE2-F2AB-5D2F4775E88A}"/>
              </a:ext>
            </a:extLst>
          </p:cNvPr>
          <p:cNvSpPr/>
          <p:nvPr/>
        </p:nvSpPr>
        <p:spPr bwMode="auto">
          <a:xfrm>
            <a:off x="4842420" y="3431713"/>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09106FFE-AC9E-C3A9-CA8A-8830E0E17B8E}"/>
              </a:ext>
            </a:extLst>
          </p:cNvPr>
          <p:cNvSpPr/>
          <p:nvPr/>
        </p:nvSpPr>
        <p:spPr bwMode="auto">
          <a:xfrm>
            <a:off x="4842420" y="3674482"/>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7" name="矩形 16">
            <a:extLst>
              <a:ext uri="{FF2B5EF4-FFF2-40B4-BE49-F238E27FC236}">
                <a16:creationId xmlns:a16="http://schemas.microsoft.com/office/drawing/2014/main" id="{B64BD287-0C7F-5797-E26E-05D391AA96A1}"/>
              </a:ext>
            </a:extLst>
          </p:cNvPr>
          <p:cNvSpPr/>
          <p:nvPr/>
        </p:nvSpPr>
        <p:spPr bwMode="auto">
          <a:xfrm>
            <a:off x="4842420" y="3917250"/>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8" name="矩形 17">
            <a:extLst>
              <a:ext uri="{FF2B5EF4-FFF2-40B4-BE49-F238E27FC236}">
                <a16:creationId xmlns:a16="http://schemas.microsoft.com/office/drawing/2014/main" id="{9927F6A8-242B-4AF7-AFBA-6CFA057F8E75}"/>
              </a:ext>
            </a:extLst>
          </p:cNvPr>
          <p:cNvSpPr/>
          <p:nvPr/>
        </p:nvSpPr>
        <p:spPr bwMode="auto">
          <a:xfrm>
            <a:off x="4842420" y="4160018"/>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a16="http://schemas.microsoft.com/office/drawing/2014/main" id="{F539492C-BFD2-CCF8-7393-55F54C75C76A}"/>
              </a:ext>
            </a:extLst>
          </p:cNvPr>
          <p:cNvSpPr/>
          <p:nvPr/>
        </p:nvSpPr>
        <p:spPr bwMode="auto">
          <a:xfrm>
            <a:off x="4842420" y="4402786"/>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0" name="矩形 19">
            <a:extLst>
              <a:ext uri="{FF2B5EF4-FFF2-40B4-BE49-F238E27FC236}">
                <a16:creationId xmlns:a16="http://schemas.microsoft.com/office/drawing/2014/main" id="{F3F8DF8B-4FF3-0553-1F9E-AD3724CF7A29}"/>
              </a:ext>
            </a:extLst>
          </p:cNvPr>
          <p:cNvSpPr/>
          <p:nvPr/>
        </p:nvSpPr>
        <p:spPr bwMode="auto">
          <a:xfrm>
            <a:off x="4842420" y="4645554"/>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393014C2-84FF-7399-EF01-5CBF3513A855}"/>
              </a:ext>
            </a:extLst>
          </p:cNvPr>
          <p:cNvSpPr/>
          <p:nvPr/>
        </p:nvSpPr>
        <p:spPr bwMode="auto">
          <a:xfrm>
            <a:off x="4842420" y="4888322"/>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a16="http://schemas.microsoft.com/office/drawing/2014/main" id="{A631AB61-1B5E-5EB3-96D5-9FC6F78C7C82}"/>
              </a:ext>
            </a:extLst>
          </p:cNvPr>
          <p:cNvSpPr/>
          <p:nvPr/>
        </p:nvSpPr>
        <p:spPr bwMode="auto">
          <a:xfrm>
            <a:off x="4842420" y="5131090"/>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id="{6FCE4345-EC3F-8283-44FD-4C236E2BB657}"/>
              </a:ext>
            </a:extLst>
          </p:cNvPr>
          <p:cNvSpPr/>
          <p:nvPr/>
        </p:nvSpPr>
        <p:spPr bwMode="auto">
          <a:xfrm>
            <a:off x="4842420" y="5373859"/>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4" name="矩形 23">
            <a:extLst>
              <a:ext uri="{FF2B5EF4-FFF2-40B4-BE49-F238E27FC236}">
                <a16:creationId xmlns:a16="http://schemas.microsoft.com/office/drawing/2014/main" id="{347AC9E4-C9E4-F56F-1C7C-F919F0D99C81}"/>
              </a:ext>
            </a:extLst>
          </p:cNvPr>
          <p:cNvSpPr/>
          <p:nvPr/>
        </p:nvSpPr>
        <p:spPr bwMode="auto">
          <a:xfrm>
            <a:off x="4842420" y="5616627"/>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CDA4F514-F3C8-C6C1-E07E-4A044B161D67}"/>
              </a:ext>
            </a:extLst>
          </p:cNvPr>
          <p:cNvSpPr/>
          <p:nvPr/>
        </p:nvSpPr>
        <p:spPr bwMode="auto">
          <a:xfrm>
            <a:off x="7466748" y="1975104"/>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6" name="矩形 25">
            <a:extLst>
              <a:ext uri="{FF2B5EF4-FFF2-40B4-BE49-F238E27FC236}">
                <a16:creationId xmlns:a16="http://schemas.microsoft.com/office/drawing/2014/main" id="{5C95869D-E8E9-38B8-133B-AC7D1F08A4B5}"/>
              </a:ext>
            </a:extLst>
          </p:cNvPr>
          <p:cNvSpPr/>
          <p:nvPr/>
        </p:nvSpPr>
        <p:spPr bwMode="auto">
          <a:xfrm>
            <a:off x="7466748" y="2217872"/>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7" name="矩形 26">
            <a:extLst>
              <a:ext uri="{FF2B5EF4-FFF2-40B4-BE49-F238E27FC236}">
                <a16:creationId xmlns:a16="http://schemas.microsoft.com/office/drawing/2014/main" id="{3F05119E-152D-1055-BD51-3CF1236E17B6}"/>
              </a:ext>
            </a:extLst>
          </p:cNvPr>
          <p:cNvSpPr/>
          <p:nvPr/>
        </p:nvSpPr>
        <p:spPr bwMode="auto">
          <a:xfrm>
            <a:off x="7466748" y="2460641"/>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8" name="矩形 27">
            <a:extLst>
              <a:ext uri="{FF2B5EF4-FFF2-40B4-BE49-F238E27FC236}">
                <a16:creationId xmlns:a16="http://schemas.microsoft.com/office/drawing/2014/main" id="{5E16B641-854D-C56C-D0A8-AA3729EB0342}"/>
              </a:ext>
            </a:extLst>
          </p:cNvPr>
          <p:cNvSpPr/>
          <p:nvPr/>
        </p:nvSpPr>
        <p:spPr bwMode="auto">
          <a:xfrm>
            <a:off x="7466748" y="2703409"/>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9" name="矩形 28">
            <a:extLst>
              <a:ext uri="{FF2B5EF4-FFF2-40B4-BE49-F238E27FC236}">
                <a16:creationId xmlns:a16="http://schemas.microsoft.com/office/drawing/2014/main" id="{F267F21E-822D-248C-63F5-FE097CE3AEA6}"/>
              </a:ext>
            </a:extLst>
          </p:cNvPr>
          <p:cNvSpPr/>
          <p:nvPr/>
        </p:nvSpPr>
        <p:spPr bwMode="auto">
          <a:xfrm>
            <a:off x="7466748" y="2946177"/>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30" name="矩形 29">
            <a:extLst>
              <a:ext uri="{FF2B5EF4-FFF2-40B4-BE49-F238E27FC236}">
                <a16:creationId xmlns:a16="http://schemas.microsoft.com/office/drawing/2014/main" id="{78533E74-23CC-4D1B-439B-209798398B88}"/>
              </a:ext>
            </a:extLst>
          </p:cNvPr>
          <p:cNvSpPr/>
          <p:nvPr/>
        </p:nvSpPr>
        <p:spPr bwMode="auto">
          <a:xfrm>
            <a:off x="7466748" y="3188945"/>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31" name="矩形 30">
            <a:extLst>
              <a:ext uri="{FF2B5EF4-FFF2-40B4-BE49-F238E27FC236}">
                <a16:creationId xmlns:a16="http://schemas.microsoft.com/office/drawing/2014/main" id="{638E4F75-1673-5BCE-1013-FAA22D2A266E}"/>
              </a:ext>
            </a:extLst>
          </p:cNvPr>
          <p:cNvSpPr/>
          <p:nvPr/>
        </p:nvSpPr>
        <p:spPr bwMode="auto">
          <a:xfrm>
            <a:off x="7466748" y="3431713"/>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32" name="矩形 31">
            <a:extLst>
              <a:ext uri="{FF2B5EF4-FFF2-40B4-BE49-F238E27FC236}">
                <a16:creationId xmlns:a16="http://schemas.microsoft.com/office/drawing/2014/main" id="{832ACA33-6CEC-1E0D-26C7-9ADA43C78B3F}"/>
              </a:ext>
            </a:extLst>
          </p:cNvPr>
          <p:cNvSpPr/>
          <p:nvPr/>
        </p:nvSpPr>
        <p:spPr bwMode="auto">
          <a:xfrm>
            <a:off x="7466748" y="3674482"/>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33" name="矩形 32">
            <a:extLst>
              <a:ext uri="{FF2B5EF4-FFF2-40B4-BE49-F238E27FC236}">
                <a16:creationId xmlns:a16="http://schemas.microsoft.com/office/drawing/2014/main" id="{8D7318CA-B55B-4AB2-98F7-BED00AFBBCC3}"/>
              </a:ext>
            </a:extLst>
          </p:cNvPr>
          <p:cNvSpPr/>
          <p:nvPr/>
        </p:nvSpPr>
        <p:spPr bwMode="auto">
          <a:xfrm>
            <a:off x="7466748" y="3917250"/>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34" name="矩形 33">
            <a:extLst>
              <a:ext uri="{FF2B5EF4-FFF2-40B4-BE49-F238E27FC236}">
                <a16:creationId xmlns:a16="http://schemas.microsoft.com/office/drawing/2014/main" id="{D49FED50-AFFE-759E-F572-9413B8333F84}"/>
              </a:ext>
            </a:extLst>
          </p:cNvPr>
          <p:cNvSpPr/>
          <p:nvPr/>
        </p:nvSpPr>
        <p:spPr bwMode="auto">
          <a:xfrm>
            <a:off x="7466748" y="4160018"/>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35" name="矩形 34">
            <a:extLst>
              <a:ext uri="{FF2B5EF4-FFF2-40B4-BE49-F238E27FC236}">
                <a16:creationId xmlns:a16="http://schemas.microsoft.com/office/drawing/2014/main" id="{523077B3-4687-34CD-E837-643F6D233C9D}"/>
              </a:ext>
            </a:extLst>
          </p:cNvPr>
          <p:cNvSpPr/>
          <p:nvPr/>
        </p:nvSpPr>
        <p:spPr bwMode="auto">
          <a:xfrm>
            <a:off x="7466748" y="4402786"/>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36" name="矩形 35">
            <a:extLst>
              <a:ext uri="{FF2B5EF4-FFF2-40B4-BE49-F238E27FC236}">
                <a16:creationId xmlns:a16="http://schemas.microsoft.com/office/drawing/2014/main" id="{1CEA390C-21B5-B4FD-3757-6241A751085A}"/>
              </a:ext>
            </a:extLst>
          </p:cNvPr>
          <p:cNvSpPr/>
          <p:nvPr/>
        </p:nvSpPr>
        <p:spPr bwMode="auto">
          <a:xfrm>
            <a:off x="7466748" y="4645554"/>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37" name="矩形 36">
            <a:extLst>
              <a:ext uri="{FF2B5EF4-FFF2-40B4-BE49-F238E27FC236}">
                <a16:creationId xmlns:a16="http://schemas.microsoft.com/office/drawing/2014/main" id="{101C9315-F8EE-B574-B4B5-B84ADD1B077D}"/>
              </a:ext>
            </a:extLst>
          </p:cNvPr>
          <p:cNvSpPr/>
          <p:nvPr/>
        </p:nvSpPr>
        <p:spPr bwMode="auto">
          <a:xfrm>
            <a:off x="7466748" y="4888322"/>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38" name="矩形 37">
            <a:extLst>
              <a:ext uri="{FF2B5EF4-FFF2-40B4-BE49-F238E27FC236}">
                <a16:creationId xmlns:a16="http://schemas.microsoft.com/office/drawing/2014/main" id="{D7130156-D607-308D-1316-3E728DEC42D7}"/>
              </a:ext>
            </a:extLst>
          </p:cNvPr>
          <p:cNvSpPr/>
          <p:nvPr/>
        </p:nvSpPr>
        <p:spPr bwMode="auto">
          <a:xfrm>
            <a:off x="7466748" y="5131090"/>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39" name="矩形 38">
            <a:extLst>
              <a:ext uri="{FF2B5EF4-FFF2-40B4-BE49-F238E27FC236}">
                <a16:creationId xmlns:a16="http://schemas.microsoft.com/office/drawing/2014/main" id="{14133585-E520-ED3F-AD6D-97025FD3E536}"/>
              </a:ext>
            </a:extLst>
          </p:cNvPr>
          <p:cNvSpPr/>
          <p:nvPr/>
        </p:nvSpPr>
        <p:spPr bwMode="auto">
          <a:xfrm>
            <a:off x="7466748" y="5373859"/>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40" name="矩形 39">
            <a:extLst>
              <a:ext uri="{FF2B5EF4-FFF2-40B4-BE49-F238E27FC236}">
                <a16:creationId xmlns:a16="http://schemas.microsoft.com/office/drawing/2014/main" id="{A4A00BBD-8E74-59C3-6029-24B52AB7F259}"/>
              </a:ext>
            </a:extLst>
          </p:cNvPr>
          <p:cNvSpPr/>
          <p:nvPr/>
        </p:nvSpPr>
        <p:spPr bwMode="auto">
          <a:xfrm>
            <a:off x="7466748" y="5616627"/>
            <a:ext cx="228152" cy="146304"/>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42" name="文本框 41">
            <a:extLst>
              <a:ext uri="{FF2B5EF4-FFF2-40B4-BE49-F238E27FC236}">
                <a16:creationId xmlns:a16="http://schemas.microsoft.com/office/drawing/2014/main" id="{70B36D5B-4981-8FD5-62C6-7A8863DAC6ED}"/>
              </a:ext>
            </a:extLst>
          </p:cNvPr>
          <p:cNvSpPr txBox="1"/>
          <p:nvPr/>
        </p:nvSpPr>
        <p:spPr>
          <a:xfrm>
            <a:off x="2689008" y="1840301"/>
            <a:ext cx="841248" cy="369332"/>
          </a:xfrm>
          <a:prstGeom prst="rect">
            <a:avLst/>
          </a:prstGeom>
          <a:noFill/>
        </p:spPr>
        <p:txBody>
          <a:bodyPr wrap="square">
            <a:spAutoFit/>
          </a:bodyPr>
          <a:lstStyle/>
          <a:p>
            <a:r>
              <a:rPr lang="zh-CN" altLang="en-US" dirty="0"/>
              <a:t>电脑</a:t>
            </a:r>
            <a:r>
              <a:rPr lang="en-US" altLang="zh-CN" dirty="0"/>
              <a:t>A</a:t>
            </a:r>
            <a:endParaRPr lang="zh-CN" altLang="en-US" dirty="0"/>
          </a:p>
        </p:txBody>
      </p:sp>
      <p:sp>
        <p:nvSpPr>
          <p:cNvPr id="43" name="文本框 42">
            <a:extLst>
              <a:ext uri="{FF2B5EF4-FFF2-40B4-BE49-F238E27FC236}">
                <a16:creationId xmlns:a16="http://schemas.microsoft.com/office/drawing/2014/main" id="{5A255D1B-3DC4-E0C1-93D9-496FE4EAE34E}"/>
              </a:ext>
            </a:extLst>
          </p:cNvPr>
          <p:cNvSpPr txBox="1"/>
          <p:nvPr/>
        </p:nvSpPr>
        <p:spPr>
          <a:xfrm>
            <a:off x="8933486" y="1835276"/>
            <a:ext cx="841248" cy="369332"/>
          </a:xfrm>
          <a:prstGeom prst="rect">
            <a:avLst/>
          </a:prstGeom>
          <a:noFill/>
        </p:spPr>
        <p:txBody>
          <a:bodyPr wrap="square">
            <a:spAutoFit/>
          </a:bodyPr>
          <a:lstStyle/>
          <a:p>
            <a:r>
              <a:rPr lang="zh-CN" altLang="en-US" dirty="0"/>
              <a:t>电脑</a:t>
            </a:r>
            <a:r>
              <a:rPr lang="en-US" altLang="zh-CN" dirty="0"/>
              <a:t>B</a:t>
            </a:r>
            <a:endParaRPr lang="zh-CN" altLang="en-US" dirty="0"/>
          </a:p>
        </p:txBody>
      </p:sp>
      <p:pic>
        <p:nvPicPr>
          <p:cNvPr id="44" name="图片 43">
            <a:extLst>
              <a:ext uri="{FF2B5EF4-FFF2-40B4-BE49-F238E27FC236}">
                <a16:creationId xmlns:a16="http://schemas.microsoft.com/office/drawing/2014/main" id="{690B4C6E-208D-E4E7-1512-3F84DCE6205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39883" y="2819919"/>
            <a:ext cx="342502" cy="342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图片 44">
            <a:extLst>
              <a:ext uri="{FF2B5EF4-FFF2-40B4-BE49-F238E27FC236}">
                <a16:creationId xmlns:a16="http://schemas.microsoft.com/office/drawing/2014/main" id="{6B53F3D3-352E-8578-FF47-E3B39C1F2ED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24013" y="2143629"/>
            <a:ext cx="342502" cy="341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 name="图片 45">
            <a:extLst>
              <a:ext uri="{FF2B5EF4-FFF2-40B4-BE49-F238E27FC236}">
                <a16:creationId xmlns:a16="http://schemas.microsoft.com/office/drawing/2014/main" id="{C8490E17-150D-ADBD-2D4F-E39212BB608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61126" y="5048300"/>
            <a:ext cx="281294" cy="28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文本框 50">
            <a:extLst>
              <a:ext uri="{FF2B5EF4-FFF2-40B4-BE49-F238E27FC236}">
                <a16:creationId xmlns:a16="http://schemas.microsoft.com/office/drawing/2014/main" id="{FB53C272-6B76-2623-80C4-1F68CEF26F6F}"/>
              </a:ext>
            </a:extLst>
          </p:cNvPr>
          <p:cNvSpPr txBox="1"/>
          <p:nvPr/>
        </p:nvSpPr>
        <p:spPr>
          <a:xfrm>
            <a:off x="4983882" y="1884446"/>
            <a:ext cx="457156" cy="1477328"/>
          </a:xfrm>
          <a:prstGeom prst="rect">
            <a:avLst/>
          </a:prstGeom>
          <a:noFill/>
        </p:spPr>
        <p:txBody>
          <a:bodyPr wrap="square">
            <a:spAutoFit/>
          </a:bodyPr>
          <a:lstStyle/>
          <a:p>
            <a:r>
              <a:rPr lang="en-US" altLang="zh-CN" dirty="0"/>
              <a:t>0</a:t>
            </a:r>
          </a:p>
          <a:p>
            <a:r>
              <a:rPr lang="en-US" altLang="zh-CN" dirty="0"/>
              <a:t>1</a:t>
            </a:r>
          </a:p>
          <a:p>
            <a:r>
              <a:rPr lang="en-US" altLang="zh-CN" dirty="0"/>
              <a:t>2</a:t>
            </a:r>
          </a:p>
          <a:p>
            <a:r>
              <a:rPr lang="en-US" altLang="zh-CN" dirty="0"/>
              <a:t>3</a:t>
            </a:r>
          </a:p>
          <a:p>
            <a:r>
              <a:rPr lang="en-US" altLang="zh-CN" dirty="0"/>
              <a:t>…</a:t>
            </a:r>
          </a:p>
        </p:txBody>
      </p:sp>
      <p:sp>
        <p:nvSpPr>
          <p:cNvPr id="55" name="文本框 54">
            <a:extLst>
              <a:ext uri="{FF2B5EF4-FFF2-40B4-BE49-F238E27FC236}">
                <a16:creationId xmlns:a16="http://schemas.microsoft.com/office/drawing/2014/main" id="{26216393-8F61-3ECC-45F4-CD287E9DDC13}"/>
              </a:ext>
            </a:extLst>
          </p:cNvPr>
          <p:cNvSpPr txBox="1"/>
          <p:nvPr/>
        </p:nvSpPr>
        <p:spPr>
          <a:xfrm>
            <a:off x="4956496" y="4732372"/>
            <a:ext cx="1139504" cy="1200329"/>
          </a:xfrm>
          <a:prstGeom prst="rect">
            <a:avLst/>
          </a:prstGeom>
          <a:noFill/>
        </p:spPr>
        <p:txBody>
          <a:bodyPr wrap="square">
            <a:spAutoFit/>
          </a:bodyPr>
          <a:lstStyle/>
          <a:p>
            <a:r>
              <a:rPr lang="en-US" altLang="zh-CN" dirty="0"/>
              <a:t>…</a:t>
            </a:r>
          </a:p>
          <a:p>
            <a:r>
              <a:rPr lang="en-US" altLang="zh-CN" dirty="0"/>
              <a:t>65533</a:t>
            </a:r>
          </a:p>
          <a:p>
            <a:r>
              <a:rPr lang="en-US" altLang="zh-CN" dirty="0"/>
              <a:t>65534</a:t>
            </a:r>
          </a:p>
          <a:p>
            <a:r>
              <a:rPr lang="en-US" altLang="zh-CN" dirty="0"/>
              <a:t>65535</a:t>
            </a:r>
          </a:p>
        </p:txBody>
      </p:sp>
      <p:sp>
        <p:nvSpPr>
          <p:cNvPr id="56" name="文本框 55">
            <a:extLst>
              <a:ext uri="{FF2B5EF4-FFF2-40B4-BE49-F238E27FC236}">
                <a16:creationId xmlns:a16="http://schemas.microsoft.com/office/drawing/2014/main" id="{887F020A-1CDF-B892-138F-6BA5C0DBA6BD}"/>
              </a:ext>
            </a:extLst>
          </p:cNvPr>
          <p:cNvSpPr txBox="1"/>
          <p:nvPr/>
        </p:nvSpPr>
        <p:spPr>
          <a:xfrm>
            <a:off x="7190888" y="1880728"/>
            <a:ext cx="457156" cy="1477328"/>
          </a:xfrm>
          <a:prstGeom prst="rect">
            <a:avLst/>
          </a:prstGeom>
          <a:noFill/>
        </p:spPr>
        <p:txBody>
          <a:bodyPr wrap="square">
            <a:spAutoFit/>
          </a:bodyPr>
          <a:lstStyle/>
          <a:p>
            <a:r>
              <a:rPr lang="en-US" altLang="zh-CN" dirty="0"/>
              <a:t>0</a:t>
            </a:r>
          </a:p>
          <a:p>
            <a:r>
              <a:rPr lang="en-US" altLang="zh-CN" dirty="0"/>
              <a:t>1</a:t>
            </a:r>
          </a:p>
          <a:p>
            <a:r>
              <a:rPr lang="en-US" altLang="zh-CN" dirty="0"/>
              <a:t>2</a:t>
            </a:r>
          </a:p>
          <a:p>
            <a:r>
              <a:rPr lang="en-US" altLang="zh-CN" dirty="0"/>
              <a:t>3</a:t>
            </a:r>
          </a:p>
          <a:p>
            <a:r>
              <a:rPr lang="en-US" altLang="zh-CN" dirty="0"/>
              <a:t>…</a:t>
            </a:r>
          </a:p>
        </p:txBody>
      </p:sp>
      <p:sp>
        <p:nvSpPr>
          <p:cNvPr id="57" name="文本框 56">
            <a:extLst>
              <a:ext uri="{FF2B5EF4-FFF2-40B4-BE49-F238E27FC236}">
                <a16:creationId xmlns:a16="http://schemas.microsoft.com/office/drawing/2014/main" id="{36E6B007-EE81-18F6-BFD8-047E63DBFD7B}"/>
              </a:ext>
            </a:extLst>
          </p:cNvPr>
          <p:cNvSpPr txBox="1"/>
          <p:nvPr/>
        </p:nvSpPr>
        <p:spPr>
          <a:xfrm>
            <a:off x="6686408" y="4728654"/>
            <a:ext cx="930448" cy="1200329"/>
          </a:xfrm>
          <a:prstGeom prst="rect">
            <a:avLst/>
          </a:prstGeom>
          <a:noFill/>
        </p:spPr>
        <p:txBody>
          <a:bodyPr wrap="square">
            <a:spAutoFit/>
          </a:bodyPr>
          <a:lstStyle/>
          <a:p>
            <a:r>
              <a:rPr lang="en-US" altLang="zh-CN" dirty="0"/>
              <a:t>…</a:t>
            </a:r>
          </a:p>
          <a:p>
            <a:r>
              <a:rPr lang="en-US" altLang="zh-CN" dirty="0"/>
              <a:t>65533</a:t>
            </a:r>
          </a:p>
          <a:p>
            <a:r>
              <a:rPr lang="en-US" altLang="zh-CN" dirty="0"/>
              <a:t>65534</a:t>
            </a:r>
          </a:p>
          <a:p>
            <a:r>
              <a:rPr lang="en-US" altLang="zh-CN" dirty="0"/>
              <a:t>65535</a:t>
            </a:r>
          </a:p>
        </p:txBody>
      </p:sp>
      <p:pic>
        <p:nvPicPr>
          <p:cNvPr id="58" name="图片 57">
            <a:extLst>
              <a:ext uri="{FF2B5EF4-FFF2-40B4-BE49-F238E27FC236}">
                <a16:creationId xmlns:a16="http://schemas.microsoft.com/office/drawing/2014/main" id="{D7F568F5-C71D-33B2-B1C0-22616D162ED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44128" y="2818515"/>
            <a:ext cx="342502" cy="342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图片 58">
            <a:extLst>
              <a:ext uri="{FF2B5EF4-FFF2-40B4-BE49-F238E27FC236}">
                <a16:creationId xmlns:a16="http://schemas.microsoft.com/office/drawing/2014/main" id="{EFEBDCD8-C2DD-971D-9520-1AD1C67B0DD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628258" y="2142225"/>
            <a:ext cx="342502" cy="341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图片 59">
            <a:extLst>
              <a:ext uri="{FF2B5EF4-FFF2-40B4-BE49-F238E27FC236}">
                <a16:creationId xmlns:a16="http://schemas.microsoft.com/office/drawing/2014/main" id="{A80D0FE3-2796-BBAB-5214-FB87C5C9903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665371" y="5046896"/>
            <a:ext cx="281294" cy="28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文本框 60">
            <a:extLst>
              <a:ext uri="{FF2B5EF4-FFF2-40B4-BE49-F238E27FC236}">
                <a16:creationId xmlns:a16="http://schemas.microsoft.com/office/drawing/2014/main" id="{293B404C-2DAF-7576-951C-D1AAB87F54FA}"/>
              </a:ext>
            </a:extLst>
          </p:cNvPr>
          <p:cNvSpPr txBox="1"/>
          <p:nvPr/>
        </p:nvSpPr>
        <p:spPr>
          <a:xfrm>
            <a:off x="5567462" y="5003499"/>
            <a:ext cx="729010" cy="369332"/>
          </a:xfrm>
          <a:prstGeom prst="rect">
            <a:avLst/>
          </a:prstGeom>
          <a:noFill/>
        </p:spPr>
        <p:txBody>
          <a:bodyPr wrap="square">
            <a:spAutoFit/>
          </a:bodyPr>
          <a:lstStyle/>
          <a:p>
            <a:r>
              <a:rPr lang="zh-CN" altLang="en-US" dirty="0">
                <a:solidFill>
                  <a:srgbClr val="C00000"/>
                </a:solidFill>
                <a:latin typeface="字魂萌芽熊体" panose="00000500000000000000" pitchFamily="2" charset="-122"/>
                <a:ea typeface="字魂萌芽熊体" panose="00000500000000000000" pitchFamily="2" charset="-122"/>
              </a:rPr>
              <a:t>消息</a:t>
            </a:r>
          </a:p>
        </p:txBody>
      </p:sp>
      <p:sp>
        <p:nvSpPr>
          <p:cNvPr id="2" name="标题 1">
            <a:extLst>
              <a:ext uri="{FF2B5EF4-FFF2-40B4-BE49-F238E27FC236}">
                <a16:creationId xmlns:a16="http://schemas.microsoft.com/office/drawing/2014/main" id="{227A98FB-0BBD-AD90-F7D1-D7FD407E83AE}"/>
              </a:ext>
            </a:extLst>
          </p:cNvPr>
          <p:cNvSpPr>
            <a:spLocks noGrp="1"/>
          </p:cNvSpPr>
          <p:nvPr>
            <p:ph type="title"/>
          </p:nvPr>
        </p:nvSpPr>
        <p:spPr/>
        <p:txBody>
          <a:bodyPr/>
          <a:lstStyle/>
          <a:p>
            <a:r>
              <a:rPr lang="zh-CN" altLang="en-US" dirty="0"/>
              <a:t>端口号</a:t>
            </a:r>
          </a:p>
        </p:txBody>
      </p:sp>
    </p:spTree>
    <p:extLst>
      <p:ext uri="{BB962C8B-B14F-4D97-AF65-F5344CB8AC3E}">
        <p14:creationId xmlns:p14="http://schemas.microsoft.com/office/powerpoint/2010/main" val="286066725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arn(inVertical)">
                                      <p:cBhvr>
                                        <p:cTn id="10" dur="500"/>
                                        <p:tgtEl>
                                          <p:spTgt spid="8"/>
                                        </p:tgtEl>
                                      </p:cBhvr>
                                    </p:animEffect>
                                  </p:childTnLst>
                                </p:cTn>
                              </p:par>
                            </p:childTnLst>
                          </p:cTn>
                        </p:par>
                        <p:par>
                          <p:cTn id="11" fill="hold">
                            <p:stCondLst>
                              <p:cond delay="500"/>
                            </p:stCondLst>
                            <p:childTnLst>
                              <p:par>
                                <p:cTn id="12" presetID="12" presetClass="entr" presetSubtype="1" fill="hold" grpId="0" nodeType="afterEffect">
                                  <p:stCondLst>
                                    <p:cond delay="0"/>
                                  </p:stCondLst>
                                  <p:childTnLst>
                                    <p:set>
                                      <p:cBhvr>
                                        <p:cTn id="13" dur="1" fill="hold">
                                          <p:stCondLst>
                                            <p:cond delay="0"/>
                                          </p:stCondLst>
                                        </p:cTn>
                                        <p:tgtEl>
                                          <p:spTgt spid="42"/>
                                        </p:tgtEl>
                                        <p:attrNameLst>
                                          <p:attrName>style.visibility</p:attrName>
                                        </p:attrNameLst>
                                      </p:cBhvr>
                                      <p:to>
                                        <p:strVal val="visible"/>
                                      </p:to>
                                    </p:set>
                                    <p:anim calcmode="lin" valueType="num">
                                      <p:cBhvr additive="base">
                                        <p:cTn id="14" dur="500"/>
                                        <p:tgtEl>
                                          <p:spTgt spid="42"/>
                                        </p:tgtEl>
                                        <p:attrNameLst>
                                          <p:attrName>ppt_y</p:attrName>
                                        </p:attrNameLst>
                                      </p:cBhvr>
                                      <p:tavLst>
                                        <p:tav tm="0">
                                          <p:val>
                                            <p:strVal val="#ppt_y-#ppt_h*1.125000"/>
                                          </p:val>
                                        </p:tav>
                                        <p:tav tm="100000">
                                          <p:val>
                                            <p:strVal val="#ppt_y"/>
                                          </p:val>
                                        </p:tav>
                                      </p:tavLst>
                                    </p:anim>
                                    <p:animEffect transition="in" filter="wipe(down)">
                                      <p:cBhvr>
                                        <p:cTn id="15" dur="500"/>
                                        <p:tgtEl>
                                          <p:spTgt spid="42"/>
                                        </p:tgtEl>
                                      </p:cBhvr>
                                    </p:animEffect>
                                  </p:childTnLst>
                                </p:cTn>
                              </p:par>
                              <p:par>
                                <p:cTn id="16" presetID="12" presetClass="entr" presetSubtype="1" fill="hold" grpId="0" nodeType="withEffect">
                                  <p:stCondLst>
                                    <p:cond delay="0"/>
                                  </p:stCondLst>
                                  <p:childTnLst>
                                    <p:set>
                                      <p:cBhvr>
                                        <p:cTn id="17" dur="1" fill="hold">
                                          <p:stCondLst>
                                            <p:cond delay="0"/>
                                          </p:stCondLst>
                                        </p:cTn>
                                        <p:tgtEl>
                                          <p:spTgt spid="43"/>
                                        </p:tgtEl>
                                        <p:attrNameLst>
                                          <p:attrName>style.visibility</p:attrName>
                                        </p:attrNameLst>
                                      </p:cBhvr>
                                      <p:to>
                                        <p:strVal val="visible"/>
                                      </p:to>
                                    </p:set>
                                    <p:anim calcmode="lin" valueType="num">
                                      <p:cBhvr additive="base">
                                        <p:cTn id="18" dur="500"/>
                                        <p:tgtEl>
                                          <p:spTgt spid="43"/>
                                        </p:tgtEl>
                                        <p:attrNameLst>
                                          <p:attrName>ppt_y</p:attrName>
                                        </p:attrNameLst>
                                      </p:cBhvr>
                                      <p:tavLst>
                                        <p:tav tm="0">
                                          <p:val>
                                            <p:strVal val="#ppt_y-#ppt_h*1.125000"/>
                                          </p:val>
                                        </p:tav>
                                        <p:tav tm="100000">
                                          <p:val>
                                            <p:strVal val="#ppt_y"/>
                                          </p:val>
                                        </p:tav>
                                      </p:tavLst>
                                    </p:anim>
                                    <p:animEffect transition="in" filter="wipe(down)">
                                      <p:cBhvr>
                                        <p:cTn id="19" dur="500"/>
                                        <p:tgtEl>
                                          <p:spTgt spid="4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50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50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50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50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500"/>
                                        <p:tgtEl>
                                          <p:spTgt spid="3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500"/>
                                        <p:tgtEl>
                                          <p:spTgt spid="3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500"/>
                                        <p:tgtEl>
                                          <p:spTgt spid="3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500"/>
                                        <p:tgtEl>
                                          <p:spTgt spid="40"/>
                                        </p:tgtEl>
                                      </p:cBhvr>
                                    </p:animEffect>
                                  </p:childTnLst>
                                </p:cTn>
                              </p:par>
                            </p:childTnLst>
                          </p:cTn>
                        </p:par>
                      </p:childTnLst>
                    </p:cTn>
                  </p:par>
                  <p:par>
                    <p:cTn id="118" fill="hold">
                      <p:stCondLst>
                        <p:cond delay="indefinite"/>
                      </p:stCondLst>
                      <p:childTnLst>
                        <p:par>
                          <p:cTn id="119" fill="hold">
                            <p:stCondLst>
                              <p:cond delay="0"/>
                            </p:stCondLst>
                            <p:childTnLst>
                              <p:par>
                                <p:cTn id="120" presetID="12" presetClass="entr" presetSubtype="2" fill="hold" grpId="0" nodeType="clickEffect">
                                  <p:stCondLst>
                                    <p:cond delay="0"/>
                                  </p:stCondLst>
                                  <p:childTnLst>
                                    <p:set>
                                      <p:cBhvr>
                                        <p:cTn id="121" dur="1" fill="hold">
                                          <p:stCondLst>
                                            <p:cond delay="0"/>
                                          </p:stCondLst>
                                        </p:cTn>
                                        <p:tgtEl>
                                          <p:spTgt spid="56"/>
                                        </p:tgtEl>
                                        <p:attrNameLst>
                                          <p:attrName>style.visibility</p:attrName>
                                        </p:attrNameLst>
                                      </p:cBhvr>
                                      <p:to>
                                        <p:strVal val="visible"/>
                                      </p:to>
                                    </p:set>
                                    <p:anim calcmode="lin" valueType="num">
                                      <p:cBhvr additive="base">
                                        <p:cTn id="122" dur="500"/>
                                        <p:tgtEl>
                                          <p:spTgt spid="56"/>
                                        </p:tgtEl>
                                        <p:attrNameLst>
                                          <p:attrName>ppt_x</p:attrName>
                                        </p:attrNameLst>
                                      </p:cBhvr>
                                      <p:tavLst>
                                        <p:tav tm="0">
                                          <p:val>
                                            <p:strVal val="#ppt_x+#ppt_w*1.125000"/>
                                          </p:val>
                                        </p:tav>
                                        <p:tav tm="100000">
                                          <p:val>
                                            <p:strVal val="#ppt_x"/>
                                          </p:val>
                                        </p:tav>
                                      </p:tavLst>
                                    </p:anim>
                                    <p:animEffect transition="in" filter="wipe(left)">
                                      <p:cBhvr>
                                        <p:cTn id="123" dur="500"/>
                                        <p:tgtEl>
                                          <p:spTgt spid="56"/>
                                        </p:tgtEl>
                                      </p:cBhvr>
                                    </p:animEffect>
                                  </p:childTnLst>
                                </p:cTn>
                              </p:par>
                              <p:par>
                                <p:cTn id="124" presetID="12" presetClass="entr" presetSubtype="8" fill="hold" grpId="0" nodeType="withEffect">
                                  <p:stCondLst>
                                    <p:cond delay="0"/>
                                  </p:stCondLst>
                                  <p:childTnLst>
                                    <p:set>
                                      <p:cBhvr>
                                        <p:cTn id="125" dur="1" fill="hold">
                                          <p:stCondLst>
                                            <p:cond delay="0"/>
                                          </p:stCondLst>
                                        </p:cTn>
                                        <p:tgtEl>
                                          <p:spTgt spid="51"/>
                                        </p:tgtEl>
                                        <p:attrNameLst>
                                          <p:attrName>style.visibility</p:attrName>
                                        </p:attrNameLst>
                                      </p:cBhvr>
                                      <p:to>
                                        <p:strVal val="visible"/>
                                      </p:to>
                                    </p:set>
                                    <p:anim calcmode="lin" valueType="num">
                                      <p:cBhvr additive="base">
                                        <p:cTn id="126" dur="500"/>
                                        <p:tgtEl>
                                          <p:spTgt spid="51"/>
                                        </p:tgtEl>
                                        <p:attrNameLst>
                                          <p:attrName>ppt_x</p:attrName>
                                        </p:attrNameLst>
                                      </p:cBhvr>
                                      <p:tavLst>
                                        <p:tav tm="0">
                                          <p:val>
                                            <p:strVal val="#ppt_x-#ppt_w*1.125000"/>
                                          </p:val>
                                        </p:tav>
                                        <p:tav tm="100000">
                                          <p:val>
                                            <p:strVal val="#ppt_x"/>
                                          </p:val>
                                        </p:tav>
                                      </p:tavLst>
                                    </p:anim>
                                    <p:animEffect transition="in" filter="wipe(right)">
                                      <p:cBhvr>
                                        <p:cTn id="127" dur="500"/>
                                        <p:tgtEl>
                                          <p:spTgt spid="51"/>
                                        </p:tgtEl>
                                      </p:cBhvr>
                                    </p:animEffect>
                                  </p:childTnLst>
                                </p:cTn>
                              </p:par>
                              <p:par>
                                <p:cTn id="128" presetID="12" presetClass="entr" presetSubtype="2" fill="hold" grpId="0" nodeType="withEffect">
                                  <p:stCondLst>
                                    <p:cond delay="0"/>
                                  </p:stCondLst>
                                  <p:childTnLst>
                                    <p:set>
                                      <p:cBhvr>
                                        <p:cTn id="129" dur="1" fill="hold">
                                          <p:stCondLst>
                                            <p:cond delay="0"/>
                                          </p:stCondLst>
                                        </p:cTn>
                                        <p:tgtEl>
                                          <p:spTgt spid="57"/>
                                        </p:tgtEl>
                                        <p:attrNameLst>
                                          <p:attrName>style.visibility</p:attrName>
                                        </p:attrNameLst>
                                      </p:cBhvr>
                                      <p:to>
                                        <p:strVal val="visible"/>
                                      </p:to>
                                    </p:set>
                                    <p:anim calcmode="lin" valueType="num">
                                      <p:cBhvr additive="base">
                                        <p:cTn id="130" dur="500"/>
                                        <p:tgtEl>
                                          <p:spTgt spid="57"/>
                                        </p:tgtEl>
                                        <p:attrNameLst>
                                          <p:attrName>ppt_x</p:attrName>
                                        </p:attrNameLst>
                                      </p:cBhvr>
                                      <p:tavLst>
                                        <p:tav tm="0">
                                          <p:val>
                                            <p:strVal val="#ppt_x+#ppt_w*1.125000"/>
                                          </p:val>
                                        </p:tav>
                                        <p:tav tm="100000">
                                          <p:val>
                                            <p:strVal val="#ppt_x"/>
                                          </p:val>
                                        </p:tav>
                                      </p:tavLst>
                                    </p:anim>
                                    <p:animEffect transition="in" filter="wipe(left)">
                                      <p:cBhvr>
                                        <p:cTn id="131" dur="500"/>
                                        <p:tgtEl>
                                          <p:spTgt spid="57"/>
                                        </p:tgtEl>
                                      </p:cBhvr>
                                    </p:animEffect>
                                  </p:childTnLst>
                                </p:cTn>
                              </p:par>
                              <p:par>
                                <p:cTn id="132" presetID="12" presetClass="entr" presetSubtype="8" fill="hold" grpId="0" nodeType="withEffect">
                                  <p:stCondLst>
                                    <p:cond delay="0"/>
                                  </p:stCondLst>
                                  <p:childTnLst>
                                    <p:set>
                                      <p:cBhvr>
                                        <p:cTn id="133" dur="1" fill="hold">
                                          <p:stCondLst>
                                            <p:cond delay="0"/>
                                          </p:stCondLst>
                                        </p:cTn>
                                        <p:tgtEl>
                                          <p:spTgt spid="55"/>
                                        </p:tgtEl>
                                        <p:attrNameLst>
                                          <p:attrName>style.visibility</p:attrName>
                                        </p:attrNameLst>
                                      </p:cBhvr>
                                      <p:to>
                                        <p:strVal val="visible"/>
                                      </p:to>
                                    </p:set>
                                    <p:anim calcmode="lin" valueType="num">
                                      <p:cBhvr additive="base">
                                        <p:cTn id="134" dur="500"/>
                                        <p:tgtEl>
                                          <p:spTgt spid="55"/>
                                        </p:tgtEl>
                                        <p:attrNameLst>
                                          <p:attrName>ppt_x</p:attrName>
                                        </p:attrNameLst>
                                      </p:cBhvr>
                                      <p:tavLst>
                                        <p:tav tm="0">
                                          <p:val>
                                            <p:strVal val="#ppt_x-#ppt_w*1.125000"/>
                                          </p:val>
                                        </p:tav>
                                        <p:tav tm="100000">
                                          <p:val>
                                            <p:strVal val="#ppt_x"/>
                                          </p:val>
                                        </p:tav>
                                      </p:tavLst>
                                    </p:anim>
                                    <p:animEffect transition="in" filter="wipe(right)">
                                      <p:cBhvr>
                                        <p:cTn id="135" dur="500"/>
                                        <p:tgtEl>
                                          <p:spTgt spid="55"/>
                                        </p:tgtEl>
                                      </p:cBhvr>
                                    </p:animEffect>
                                  </p:childTnLst>
                                </p:cTn>
                              </p:par>
                            </p:childTnLst>
                          </p:cTn>
                        </p:par>
                      </p:childTnLst>
                    </p:cTn>
                  </p:par>
                  <p:par>
                    <p:cTn id="136" fill="hold">
                      <p:stCondLst>
                        <p:cond delay="indefinite"/>
                      </p:stCondLst>
                      <p:childTnLst>
                        <p:par>
                          <p:cTn id="137" fill="hold">
                            <p:stCondLst>
                              <p:cond delay="0"/>
                            </p:stCondLst>
                            <p:childTnLst>
                              <p:par>
                                <p:cTn id="138" presetID="12" presetClass="entr" presetSubtype="8" fill="hold" nodeType="clickEffect">
                                  <p:stCondLst>
                                    <p:cond delay="0"/>
                                  </p:stCondLst>
                                  <p:childTnLst>
                                    <p:set>
                                      <p:cBhvr>
                                        <p:cTn id="139" dur="1" fill="hold">
                                          <p:stCondLst>
                                            <p:cond delay="0"/>
                                          </p:stCondLst>
                                        </p:cTn>
                                        <p:tgtEl>
                                          <p:spTgt spid="44"/>
                                        </p:tgtEl>
                                        <p:attrNameLst>
                                          <p:attrName>style.visibility</p:attrName>
                                        </p:attrNameLst>
                                      </p:cBhvr>
                                      <p:to>
                                        <p:strVal val="visible"/>
                                      </p:to>
                                    </p:set>
                                    <p:anim calcmode="lin" valueType="num">
                                      <p:cBhvr additive="base">
                                        <p:cTn id="140" dur="500"/>
                                        <p:tgtEl>
                                          <p:spTgt spid="44"/>
                                        </p:tgtEl>
                                        <p:attrNameLst>
                                          <p:attrName>ppt_x</p:attrName>
                                        </p:attrNameLst>
                                      </p:cBhvr>
                                      <p:tavLst>
                                        <p:tav tm="0">
                                          <p:val>
                                            <p:strVal val="#ppt_x-#ppt_w*1.125000"/>
                                          </p:val>
                                        </p:tav>
                                        <p:tav tm="100000">
                                          <p:val>
                                            <p:strVal val="#ppt_x"/>
                                          </p:val>
                                        </p:tav>
                                      </p:tavLst>
                                    </p:anim>
                                    <p:animEffect transition="in" filter="wipe(right)">
                                      <p:cBhvr>
                                        <p:cTn id="141" dur="500"/>
                                        <p:tgtEl>
                                          <p:spTgt spid="44"/>
                                        </p:tgtEl>
                                      </p:cBhvr>
                                    </p:animEffect>
                                  </p:childTnLst>
                                </p:cTn>
                              </p:par>
                              <p:par>
                                <p:cTn id="142" presetID="12" presetClass="entr" presetSubtype="8" fill="hold" nodeType="withEffect">
                                  <p:stCondLst>
                                    <p:cond delay="0"/>
                                  </p:stCondLst>
                                  <p:childTnLst>
                                    <p:set>
                                      <p:cBhvr>
                                        <p:cTn id="143" dur="1" fill="hold">
                                          <p:stCondLst>
                                            <p:cond delay="0"/>
                                          </p:stCondLst>
                                        </p:cTn>
                                        <p:tgtEl>
                                          <p:spTgt spid="45"/>
                                        </p:tgtEl>
                                        <p:attrNameLst>
                                          <p:attrName>style.visibility</p:attrName>
                                        </p:attrNameLst>
                                      </p:cBhvr>
                                      <p:to>
                                        <p:strVal val="visible"/>
                                      </p:to>
                                    </p:set>
                                    <p:anim calcmode="lin" valueType="num">
                                      <p:cBhvr additive="base">
                                        <p:cTn id="144" dur="500"/>
                                        <p:tgtEl>
                                          <p:spTgt spid="45"/>
                                        </p:tgtEl>
                                        <p:attrNameLst>
                                          <p:attrName>ppt_x</p:attrName>
                                        </p:attrNameLst>
                                      </p:cBhvr>
                                      <p:tavLst>
                                        <p:tav tm="0">
                                          <p:val>
                                            <p:strVal val="#ppt_x-#ppt_w*1.125000"/>
                                          </p:val>
                                        </p:tav>
                                        <p:tav tm="100000">
                                          <p:val>
                                            <p:strVal val="#ppt_x"/>
                                          </p:val>
                                        </p:tav>
                                      </p:tavLst>
                                    </p:anim>
                                    <p:animEffect transition="in" filter="wipe(right)">
                                      <p:cBhvr>
                                        <p:cTn id="145" dur="500"/>
                                        <p:tgtEl>
                                          <p:spTgt spid="45"/>
                                        </p:tgtEl>
                                      </p:cBhvr>
                                    </p:animEffect>
                                  </p:childTnLst>
                                </p:cTn>
                              </p:par>
                              <p:par>
                                <p:cTn id="146" presetID="12" presetClass="entr" presetSubtype="8" fill="hold" nodeType="withEffect">
                                  <p:stCondLst>
                                    <p:cond delay="0"/>
                                  </p:stCondLst>
                                  <p:childTnLst>
                                    <p:set>
                                      <p:cBhvr>
                                        <p:cTn id="147" dur="1" fill="hold">
                                          <p:stCondLst>
                                            <p:cond delay="0"/>
                                          </p:stCondLst>
                                        </p:cTn>
                                        <p:tgtEl>
                                          <p:spTgt spid="46"/>
                                        </p:tgtEl>
                                        <p:attrNameLst>
                                          <p:attrName>style.visibility</p:attrName>
                                        </p:attrNameLst>
                                      </p:cBhvr>
                                      <p:to>
                                        <p:strVal val="visible"/>
                                      </p:to>
                                    </p:set>
                                    <p:anim calcmode="lin" valueType="num">
                                      <p:cBhvr additive="base">
                                        <p:cTn id="148" dur="500"/>
                                        <p:tgtEl>
                                          <p:spTgt spid="46"/>
                                        </p:tgtEl>
                                        <p:attrNameLst>
                                          <p:attrName>ppt_x</p:attrName>
                                        </p:attrNameLst>
                                      </p:cBhvr>
                                      <p:tavLst>
                                        <p:tav tm="0">
                                          <p:val>
                                            <p:strVal val="#ppt_x-#ppt_w*1.125000"/>
                                          </p:val>
                                        </p:tav>
                                        <p:tav tm="100000">
                                          <p:val>
                                            <p:strVal val="#ppt_x"/>
                                          </p:val>
                                        </p:tav>
                                      </p:tavLst>
                                    </p:anim>
                                    <p:animEffect transition="in" filter="wipe(right)">
                                      <p:cBhvr>
                                        <p:cTn id="149" dur="500"/>
                                        <p:tgtEl>
                                          <p:spTgt spid="46"/>
                                        </p:tgtEl>
                                      </p:cBhvr>
                                    </p:animEffect>
                                  </p:childTnLst>
                                </p:cTn>
                              </p:par>
                              <p:par>
                                <p:cTn id="150" presetID="12" presetClass="entr" presetSubtype="2" fill="hold" nodeType="withEffect">
                                  <p:stCondLst>
                                    <p:cond delay="0"/>
                                  </p:stCondLst>
                                  <p:childTnLst>
                                    <p:set>
                                      <p:cBhvr>
                                        <p:cTn id="151" dur="1" fill="hold">
                                          <p:stCondLst>
                                            <p:cond delay="0"/>
                                          </p:stCondLst>
                                        </p:cTn>
                                        <p:tgtEl>
                                          <p:spTgt spid="59"/>
                                        </p:tgtEl>
                                        <p:attrNameLst>
                                          <p:attrName>style.visibility</p:attrName>
                                        </p:attrNameLst>
                                      </p:cBhvr>
                                      <p:to>
                                        <p:strVal val="visible"/>
                                      </p:to>
                                    </p:set>
                                    <p:anim calcmode="lin" valueType="num">
                                      <p:cBhvr additive="base">
                                        <p:cTn id="152" dur="500"/>
                                        <p:tgtEl>
                                          <p:spTgt spid="59"/>
                                        </p:tgtEl>
                                        <p:attrNameLst>
                                          <p:attrName>ppt_x</p:attrName>
                                        </p:attrNameLst>
                                      </p:cBhvr>
                                      <p:tavLst>
                                        <p:tav tm="0">
                                          <p:val>
                                            <p:strVal val="#ppt_x+#ppt_w*1.125000"/>
                                          </p:val>
                                        </p:tav>
                                        <p:tav tm="100000">
                                          <p:val>
                                            <p:strVal val="#ppt_x"/>
                                          </p:val>
                                        </p:tav>
                                      </p:tavLst>
                                    </p:anim>
                                    <p:animEffect transition="in" filter="wipe(left)">
                                      <p:cBhvr>
                                        <p:cTn id="153" dur="500"/>
                                        <p:tgtEl>
                                          <p:spTgt spid="59"/>
                                        </p:tgtEl>
                                      </p:cBhvr>
                                    </p:animEffect>
                                  </p:childTnLst>
                                </p:cTn>
                              </p:par>
                              <p:par>
                                <p:cTn id="154" presetID="12" presetClass="entr" presetSubtype="2" fill="hold" nodeType="withEffect">
                                  <p:stCondLst>
                                    <p:cond delay="0"/>
                                  </p:stCondLst>
                                  <p:childTnLst>
                                    <p:set>
                                      <p:cBhvr>
                                        <p:cTn id="155" dur="1" fill="hold">
                                          <p:stCondLst>
                                            <p:cond delay="0"/>
                                          </p:stCondLst>
                                        </p:cTn>
                                        <p:tgtEl>
                                          <p:spTgt spid="58"/>
                                        </p:tgtEl>
                                        <p:attrNameLst>
                                          <p:attrName>style.visibility</p:attrName>
                                        </p:attrNameLst>
                                      </p:cBhvr>
                                      <p:to>
                                        <p:strVal val="visible"/>
                                      </p:to>
                                    </p:set>
                                    <p:anim calcmode="lin" valueType="num">
                                      <p:cBhvr additive="base">
                                        <p:cTn id="156" dur="500"/>
                                        <p:tgtEl>
                                          <p:spTgt spid="58"/>
                                        </p:tgtEl>
                                        <p:attrNameLst>
                                          <p:attrName>ppt_x</p:attrName>
                                        </p:attrNameLst>
                                      </p:cBhvr>
                                      <p:tavLst>
                                        <p:tav tm="0">
                                          <p:val>
                                            <p:strVal val="#ppt_x+#ppt_w*1.125000"/>
                                          </p:val>
                                        </p:tav>
                                        <p:tav tm="100000">
                                          <p:val>
                                            <p:strVal val="#ppt_x"/>
                                          </p:val>
                                        </p:tav>
                                      </p:tavLst>
                                    </p:anim>
                                    <p:animEffect transition="in" filter="wipe(left)">
                                      <p:cBhvr>
                                        <p:cTn id="157" dur="500"/>
                                        <p:tgtEl>
                                          <p:spTgt spid="58"/>
                                        </p:tgtEl>
                                      </p:cBhvr>
                                    </p:animEffect>
                                  </p:childTnLst>
                                </p:cTn>
                              </p:par>
                              <p:par>
                                <p:cTn id="158" presetID="12" presetClass="entr" presetSubtype="2" fill="hold" nodeType="withEffect">
                                  <p:stCondLst>
                                    <p:cond delay="0"/>
                                  </p:stCondLst>
                                  <p:childTnLst>
                                    <p:set>
                                      <p:cBhvr>
                                        <p:cTn id="159" dur="1" fill="hold">
                                          <p:stCondLst>
                                            <p:cond delay="0"/>
                                          </p:stCondLst>
                                        </p:cTn>
                                        <p:tgtEl>
                                          <p:spTgt spid="60"/>
                                        </p:tgtEl>
                                        <p:attrNameLst>
                                          <p:attrName>style.visibility</p:attrName>
                                        </p:attrNameLst>
                                      </p:cBhvr>
                                      <p:to>
                                        <p:strVal val="visible"/>
                                      </p:to>
                                    </p:set>
                                    <p:anim calcmode="lin" valueType="num">
                                      <p:cBhvr additive="base">
                                        <p:cTn id="160" dur="500"/>
                                        <p:tgtEl>
                                          <p:spTgt spid="60"/>
                                        </p:tgtEl>
                                        <p:attrNameLst>
                                          <p:attrName>ppt_x</p:attrName>
                                        </p:attrNameLst>
                                      </p:cBhvr>
                                      <p:tavLst>
                                        <p:tav tm="0">
                                          <p:val>
                                            <p:strVal val="#ppt_x+#ppt_w*1.125000"/>
                                          </p:val>
                                        </p:tav>
                                        <p:tav tm="100000">
                                          <p:val>
                                            <p:strVal val="#ppt_x"/>
                                          </p:val>
                                        </p:tav>
                                      </p:tavLst>
                                    </p:anim>
                                    <p:animEffect transition="in" filter="wipe(left)">
                                      <p:cBhvr>
                                        <p:cTn id="161" dur="500"/>
                                        <p:tgtEl>
                                          <p:spTgt spid="60"/>
                                        </p:tgtEl>
                                      </p:cBhvr>
                                    </p:animEffect>
                                  </p:childTnLst>
                                </p:cTn>
                              </p:par>
                            </p:childTnLst>
                          </p:cTn>
                        </p:par>
                      </p:childTnLst>
                    </p:cTn>
                  </p:par>
                  <p:par>
                    <p:cTn id="162" fill="hold">
                      <p:stCondLst>
                        <p:cond delay="indefinite"/>
                      </p:stCondLst>
                      <p:childTnLst>
                        <p:par>
                          <p:cTn id="163" fill="hold">
                            <p:stCondLst>
                              <p:cond delay="0"/>
                            </p:stCondLst>
                            <p:childTnLst>
                              <p:par>
                                <p:cTn id="164" presetID="9" presetClass="entr" presetSubtype="0" fill="hold" grpId="0" nodeType="clickEffect">
                                  <p:stCondLst>
                                    <p:cond delay="0"/>
                                  </p:stCondLst>
                                  <p:childTnLst>
                                    <p:set>
                                      <p:cBhvr>
                                        <p:cTn id="165" dur="1" fill="hold">
                                          <p:stCondLst>
                                            <p:cond delay="0"/>
                                          </p:stCondLst>
                                        </p:cTn>
                                        <p:tgtEl>
                                          <p:spTgt spid="61"/>
                                        </p:tgtEl>
                                        <p:attrNameLst>
                                          <p:attrName>style.visibility</p:attrName>
                                        </p:attrNameLst>
                                      </p:cBhvr>
                                      <p:to>
                                        <p:strVal val="visible"/>
                                      </p:to>
                                    </p:set>
                                    <p:animEffect transition="in" filter="dissolve">
                                      <p:cBhvr>
                                        <p:cTn id="166" dur="500"/>
                                        <p:tgtEl>
                                          <p:spTgt spid="61"/>
                                        </p:tgtEl>
                                      </p:cBhvr>
                                    </p:animEffect>
                                  </p:childTnLst>
                                </p:cTn>
                              </p:par>
                            </p:childTnLst>
                          </p:cTn>
                        </p:par>
                      </p:childTnLst>
                    </p:cTn>
                  </p:par>
                  <p:par>
                    <p:cTn id="167" fill="hold">
                      <p:stCondLst>
                        <p:cond delay="indefinite"/>
                      </p:stCondLst>
                      <p:childTnLst>
                        <p:par>
                          <p:cTn id="168" fill="hold">
                            <p:stCondLst>
                              <p:cond delay="0"/>
                            </p:stCondLst>
                            <p:childTnLst>
                              <p:par>
                                <p:cTn id="169" presetID="63" presetClass="path" presetSubtype="0" fill="hold" grpId="1" nodeType="clickEffect">
                                  <p:stCondLst>
                                    <p:cond delay="0"/>
                                  </p:stCondLst>
                                  <p:childTnLst>
                                    <p:animMotion origin="layout" path="M 1.66667E-6 -1.48148E-6 L 0.19153 -1.48148E-6 " pathEditMode="relative" rAng="0" ptsTypes="AA">
                                      <p:cBhvr>
                                        <p:cTn id="170" dur="2000" fill="hold"/>
                                        <p:tgtEl>
                                          <p:spTgt spid="61"/>
                                        </p:tgtEl>
                                        <p:attrNameLst>
                                          <p:attrName>ppt_x</p:attrName>
                                          <p:attrName>ppt_y</p:attrName>
                                        </p:attrNameLst>
                                      </p:cBhvr>
                                      <p:rCtr x="957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2" grpId="0"/>
      <p:bldP spid="43" grpId="0"/>
      <p:bldP spid="51" grpId="0"/>
      <p:bldP spid="55" grpId="0"/>
      <p:bldP spid="56" grpId="0"/>
      <p:bldP spid="57" grpId="0"/>
      <p:bldP spid="61" grpId="0"/>
      <p:bldP spid="61"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65FA862-5971-A143-126C-90AE1C10668C}"/>
              </a:ext>
            </a:extLst>
          </p:cNvPr>
          <p:cNvSpPr/>
          <p:nvPr/>
        </p:nvSpPr>
        <p:spPr>
          <a:xfrm>
            <a:off x="576627" y="2189137"/>
            <a:ext cx="7028710" cy="1159933"/>
          </a:xfrm>
          <a:prstGeom prst="rect">
            <a:avLst/>
          </a:prstGeom>
        </p:spPr>
        <p:txBody>
          <a:bodyPr wrap="square">
            <a:spAutoFit/>
          </a:bodyPr>
          <a:lstStyle/>
          <a:p>
            <a:pPr marL="285750" indent="-285750">
              <a:lnSpc>
                <a:spcPct val="150000"/>
              </a:lnSpc>
              <a:buFont typeface="Wingdings" panose="05000000000000000000" pitchFamily="2" charset="2"/>
              <a:buChar char="l"/>
              <a:defRPr/>
            </a:pP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用户数据报协议</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(User Datagram Protocol)</a:t>
            </a:r>
          </a:p>
          <a:p>
            <a:pPr marL="357708" indent="-357708">
              <a:lnSpc>
                <a:spcPct val="150000"/>
              </a:lnSpc>
              <a:buFont typeface="Wingdings" pitchFamily="2" charset="2"/>
              <a:buChar char="l"/>
              <a:defRPr/>
            </a:pP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UDP</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是</a:t>
            </a:r>
            <a:r>
              <a:rPr lang="zh-CN" altLang="en-US" sz="16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面向无连接</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通信协议。</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a:p>
            <a:pPr>
              <a:lnSpc>
                <a:spcPct val="150000"/>
              </a:lnSpc>
              <a:defRPr/>
            </a:pP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速度快，有大小限制一次最多发送</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64K</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，数据不安全，易丢失数据</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0" name="TextBox 4">
            <a:extLst>
              <a:ext uri="{FF2B5EF4-FFF2-40B4-BE49-F238E27FC236}">
                <a16:creationId xmlns:a16="http://schemas.microsoft.com/office/drawing/2014/main" id="{724F7CEC-4396-5E6E-9C9D-4900523FB5E2}"/>
              </a:ext>
            </a:extLst>
          </p:cNvPr>
          <p:cNvSpPr txBox="1"/>
          <p:nvPr/>
        </p:nvSpPr>
        <p:spPr>
          <a:xfrm>
            <a:off x="576626" y="1130073"/>
            <a:ext cx="8832849" cy="427105"/>
          </a:xfrm>
          <a:prstGeom prst="rect">
            <a:avLst/>
          </a:prstGeom>
          <a:noFill/>
        </p:spPr>
        <p:txBody>
          <a:bodyPr>
            <a:spAutoFit/>
          </a:bodyPr>
          <a:lstStyle/>
          <a:p>
            <a:pPr>
              <a:lnSpc>
                <a:spcPct val="150000"/>
              </a:lnSpc>
              <a:defRPr/>
            </a:pP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计算机网络中，连接和通信的规则被称为网络通信协议</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2" name="!!!三要素">
            <a:extLst>
              <a:ext uri="{FF2B5EF4-FFF2-40B4-BE49-F238E27FC236}">
                <a16:creationId xmlns:a16="http://schemas.microsoft.com/office/drawing/2014/main" id="{45B722FF-32A2-7D7F-4ECA-9BEFA9E6319B}"/>
              </a:ext>
            </a:extLst>
          </p:cNvPr>
          <p:cNvSpPr txBox="1">
            <a:spLocks/>
          </p:cNvSpPr>
          <p:nvPr/>
        </p:nvSpPr>
        <p:spPr>
          <a:xfrm>
            <a:off x="576626" y="1729883"/>
            <a:ext cx="1028902"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sz="1600" dirty="0">
                <a:latin typeface="Consolas" panose="020B0609020204030204" pitchFamily="49" charset="0"/>
              </a:rPr>
              <a:t>UDP</a:t>
            </a:r>
            <a:r>
              <a:rPr lang="zh-CN" altLang="en-US" sz="1600" dirty="0">
                <a:latin typeface="Consolas" panose="020B0609020204030204" pitchFamily="49" charset="0"/>
              </a:rPr>
              <a:t>协议</a:t>
            </a:r>
          </a:p>
        </p:txBody>
      </p:sp>
      <p:sp>
        <p:nvSpPr>
          <p:cNvPr id="11" name="文本框 10">
            <a:extLst>
              <a:ext uri="{FF2B5EF4-FFF2-40B4-BE49-F238E27FC236}">
                <a16:creationId xmlns:a16="http://schemas.microsoft.com/office/drawing/2014/main" id="{0228F010-51CE-6631-0FDA-675F8001C4A5}"/>
              </a:ext>
            </a:extLst>
          </p:cNvPr>
          <p:cNvSpPr txBox="1"/>
          <p:nvPr/>
        </p:nvSpPr>
        <p:spPr>
          <a:xfrm>
            <a:off x="8392668" y="5935403"/>
            <a:ext cx="2574131" cy="369332"/>
          </a:xfrm>
          <a:prstGeom prst="rect">
            <a:avLst/>
          </a:prstGeom>
          <a:noFill/>
        </p:spPr>
        <p:txBody>
          <a:bodyPr wrap="square">
            <a:spAutoFit/>
          </a:bodyPr>
          <a:lstStyle/>
          <a:p>
            <a:r>
              <a:rPr lang="zh-CN" altLang="en-US" dirty="0">
                <a:solidFill>
                  <a:srgbClr val="C00000"/>
                </a:solidFill>
                <a:latin typeface="Consolas" panose="020B0609020204030204" pitchFamily="49" charset="0"/>
                <a:ea typeface="字小魂萌趣欢乐体" panose="00000500000000000000" pitchFamily="2" charset="-122"/>
              </a:rPr>
              <a:t>不管是否已经连接成功</a:t>
            </a:r>
          </a:p>
        </p:txBody>
      </p:sp>
      <p:pic>
        <p:nvPicPr>
          <p:cNvPr id="9" name="图片 8">
            <a:extLst>
              <a:ext uri="{FF2B5EF4-FFF2-40B4-BE49-F238E27FC236}">
                <a16:creationId xmlns:a16="http://schemas.microsoft.com/office/drawing/2014/main" id="{F7257664-309F-294C-3CD8-2F40BC89855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69" b="99493" l="1018" r="96565">
                        <a14:foregroundMark x1="50763" y1="17905" x2="69720" y2="44257"/>
                        <a14:foregroundMark x1="28753" y1="71453" x2="40204" y2="78885"/>
                        <a14:foregroundMark x1="40204" y1="78885" x2="18830" y2="87500"/>
                        <a14:foregroundMark x1="18830" y1="87500" x2="54835" y2="75845"/>
                        <a14:foregroundMark x1="60687" y1="22297" x2="62977" y2="66554"/>
                        <a14:foregroundMark x1="62977" y1="66554" x2="53435" y2="84797"/>
                        <a14:foregroundMark x1="53435" y1="84797" x2="82570" y2="82264"/>
                        <a14:foregroundMark x1="82570" y1="82264" x2="87532" y2="96284"/>
                        <a14:foregroundMark x1="12341" y1="12162" x2="39186" y2="5574"/>
                        <a14:foregroundMark x1="39186" y1="5574" x2="69338" y2="6419"/>
                        <a14:foregroundMark x1="69338" y1="6419" x2="35623" y2="4899"/>
                        <a14:foregroundMark x1="35623" y1="4899" x2="51272" y2="169"/>
                        <a14:foregroundMark x1="51272" y1="169" x2="60941" y2="507"/>
                        <a14:foregroundMark x1="67176" y1="3716" x2="80916" y2="2703"/>
                        <a14:foregroundMark x1="81170" y1="4392" x2="88550" y2="18919"/>
                        <a14:foregroundMark x1="88550" y1="18919" x2="88041" y2="29561"/>
                        <a14:foregroundMark x1="81425" y1="59797" x2="69975" y2="74831"/>
                        <a14:foregroundMark x1="69975" y1="74831" x2="28880" y2="68750"/>
                        <a14:foregroundMark x1="28880" y1="68750" x2="47710" y2="67061"/>
                        <a14:foregroundMark x1="47710" y1="67061" x2="20229" y2="78041"/>
                        <a14:foregroundMark x1="20229" y1="78041" x2="30153" y2="71791"/>
                        <a14:foregroundMark x1="69338" y1="64527" x2="85115" y2="92399"/>
                        <a14:foregroundMark x1="85115" y1="92399" x2="80153" y2="92736"/>
                        <a14:foregroundMark x1="12595" y1="69257" x2="8779" y2="92061"/>
                        <a14:foregroundMark x1="8779" y1="92061" x2="50382" y2="95270"/>
                        <a14:foregroundMark x1="50382" y1="95270" x2="78372" y2="93750"/>
                        <a14:foregroundMark x1="78372" y1="93750" x2="79898" y2="71115"/>
                        <a14:foregroundMark x1="16921" y1="67905" x2="25445" y2="75845"/>
                        <a14:foregroundMark x1="5471" y1="90034" x2="6870" y2="92568"/>
                        <a14:foregroundMark x1="46565" y1="99493" x2="59288" y2="98142"/>
                        <a14:foregroundMark x1="59288" y1="98142" x2="58397" y2="98818"/>
                        <a14:foregroundMark x1="35369" y1="86149" x2="61323" y2="85135"/>
                        <a14:foregroundMark x1="61323" y1="85135" x2="73028" y2="85642"/>
                        <a14:foregroundMark x1="23791" y1="89020" x2="62214" y2="91216"/>
                        <a14:foregroundMark x1="62214" y1="91216" x2="60941" y2="91554"/>
                        <a14:foregroundMark x1="34224" y1="90541" x2="64249" y2="89358"/>
                        <a14:foregroundMark x1="27099" y1="79223" x2="50636" y2="79054"/>
                        <a14:foregroundMark x1="50636" y1="79054" x2="64758" y2="79223"/>
                        <a14:foregroundMark x1="21628" y1="78716" x2="67812" y2="76689"/>
                        <a14:foregroundMark x1="39822" y1="73311" x2="76590" y2="74493"/>
                        <a14:foregroundMark x1="32061" y1="78716" x2="67176" y2="79899"/>
                        <a14:foregroundMark x1="29644" y1="81081" x2="62595" y2="79899"/>
                        <a14:foregroundMark x1="27481" y1="76689" x2="57634" y2="73311"/>
                        <a14:foregroundMark x1="34606" y1="73311" x2="63359" y2="74831"/>
                        <a14:foregroundMark x1="36768" y1="79561" x2="60687" y2="81081"/>
                        <a14:foregroundMark x1="48601" y1="81419" x2="48601" y2="81419"/>
                        <a14:foregroundMark x1="46947" y1="84291" x2="46947" y2="84291"/>
                        <a14:foregroundMark x1="67176" y1="72635" x2="67176" y2="72635"/>
                        <a14:foregroundMark x1="82570" y1="75845" x2="82570" y2="77365"/>
                        <a14:foregroundMark x1="85878" y1="72973" x2="85878" y2="93750"/>
                        <a14:foregroundMark x1="85878" y1="93750" x2="86768" y2="94932"/>
                        <a14:foregroundMark x1="87023" y1="77027" x2="88550" y2="97466"/>
                        <a14:foregroundMark x1="87277" y1="84291" x2="89440" y2="97297"/>
                        <a14:foregroundMark x1="93511" y1="83953" x2="93766" y2="99493"/>
                        <a14:foregroundMark x1="94148" y1="94932" x2="96565" y2="99662"/>
                        <a14:foregroundMark x1="8779" y1="97804" x2="1018" y2="98818"/>
                        <a14:foregroundMark x1="12087" y1="69764" x2="18830" y2="69426"/>
                      </a14:backgroundRemoval>
                    </a14:imgEffect>
                  </a14:imgLayer>
                </a14:imgProps>
              </a:ext>
            </a:extLst>
          </a:blip>
          <a:stretch>
            <a:fillRect/>
          </a:stretch>
        </p:blipFill>
        <p:spPr>
          <a:xfrm>
            <a:off x="7108054" y="4166659"/>
            <a:ext cx="1904569" cy="1434485"/>
          </a:xfrm>
          <a:prstGeom prst="rect">
            <a:avLst/>
          </a:prstGeom>
          <a:ln>
            <a:noFill/>
          </a:ln>
          <a:effectLst>
            <a:outerShdw blurRad="190500" algn="tl" rotWithShape="0">
              <a:srgbClr val="000000">
                <a:alpha val="70000"/>
              </a:srgbClr>
            </a:outerShdw>
          </a:effectLst>
        </p:spPr>
      </p:pic>
      <p:pic>
        <p:nvPicPr>
          <p:cNvPr id="14" name="图片 13">
            <a:extLst>
              <a:ext uri="{FF2B5EF4-FFF2-40B4-BE49-F238E27FC236}">
                <a16:creationId xmlns:a16="http://schemas.microsoft.com/office/drawing/2014/main" id="{444A2E4C-2DED-F11C-027B-319BB3677A0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69" b="99493" l="1018" r="96565">
                        <a14:foregroundMark x1="50763" y1="17905" x2="69720" y2="44257"/>
                        <a14:foregroundMark x1="28753" y1="71453" x2="40204" y2="78885"/>
                        <a14:foregroundMark x1="40204" y1="78885" x2="18830" y2="87500"/>
                        <a14:foregroundMark x1="18830" y1="87500" x2="54835" y2="75845"/>
                        <a14:foregroundMark x1="60687" y1="22297" x2="62977" y2="66554"/>
                        <a14:foregroundMark x1="62977" y1="66554" x2="53435" y2="84797"/>
                        <a14:foregroundMark x1="53435" y1="84797" x2="82570" y2="82264"/>
                        <a14:foregroundMark x1="82570" y1="82264" x2="87532" y2="96284"/>
                        <a14:foregroundMark x1="12341" y1="12162" x2="39186" y2="5574"/>
                        <a14:foregroundMark x1="39186" y1="5574" x2="69338" y2="6419"/>
                        <a14:foregroundMark x1="69338" y1="6419" x2="35623" y2="4899"/>
                        <a14:foregroundMark x1="35623" y1="4899" x2="51272" y2="169"/>
                        <a14:foregroundMark x1="51272" y1="169" x2="60941" y2="507"/>
                        <a14:foregroundMark x1="67176" y1="3716" x2="80916" y2="2703"/>
                        <a14:foregroundMark x1="81170" y1="4392" x2="88550" y2="18919"/>
                        <a14:foregroundMark x1="88550" y1="18919" x2="88041" y2="29561"/>
                        <a14:foregroundMark x1="81425" y1="59797" x2="69975" y2="74831"/>
                        <a14:foregroundMark x1="69975" y1="74831" x2="28880" y2="68750"/>
                        <a14:foregroundMark x1="28880" y1="68750" x2="47710" y2="67061"/>
                        <a14:foregroundMark x1="47710" y1="67061" x2="20229" y2="78041"/>
                        <a14:foregroundMark x1="20229" y1="78041" x2="30153" y2="71791"/>
                        <a14:foregroundMark x1="69338" y1="64527" x2="85115" y2="92399"/>
                        <a14:foregroundMark x1="85115" y1="92399" x2="80153" y2="92736"/>
                        <a14:foregroundMark x1="12595" y1="69257" x2="8779" y2="92061"/>
                        <a14:foregroundMark x1="8779" y1="92061" x2="50382" y2="95270"/>
                        <a14:foregroundMark x1="50382" y1="95270" x2="78372" y2="93750"/>
                        <a14:foregroundMark x1="78372" y1="93750" x2="79898" y2="71115"/>
                        <a14:foregroundMark x1="16921" y1="67905" x2="25445" y2="75845"/>
                        <a14:foregroundMark x1="5471" y1="90034" x2="6870" y2="92568"/>
                        <a14:foregroundMark x1="46565" y1="99493" x2="59288" y2="98142"/>
                        <a14:foregroundMark x1="59288" y1="98142" x2="58397" y2="98818"/>
                        <a14:foregroundMark x1="35369" y1="86149" x2="61323" y2="85135"/>
                        <a14:foregroundMark x1="61323" y1="85135" x2="73028" y2="85642"/>
                        <a14:foregroundMark x1="23791" y1="89020" x2="62214" y2="91216"/>
                        <a14:foregroundMark x1="62214" y1="91216" x2="60941" y2="91554"/>
                        <a14:foregroundMark x1="34224" y1="90541" x2="64249" y2="89358"/>
                        <a14:foregroundMark x1="27099" y1="79223" x2="50636" y2="79054"/>
                        <a14:foregroundMark x1="50636" y1="79054" x2="64758" y2="79223"/>
                        <a14:foregroundMark x1="21628" y1="78716" x2="67812" y2="76689"/>
                        <a14:foregroundMark x1="39822" y1="73311" x2="76590" y2="74493"/>
                        <a14:foregroundMark x1="32061" y1="78716" x2="67176" y2="79899"/>
                        <a14:foregroundMark x1="29644" y1="81081" x2="62595" y2="79899"/>
                        <a14:foregroundMark x1="27481" y1="76689" x2="57634" y2="73311"/>
                        <a14:foregroundMark x1="34606" y1="73311" x2="63359" y2="74831"/>
                        <a14:foregroundMark x1="36768" y1="79561" x2="60687" y2="81081"/>
                        <a14:foregroundMark x1="48601" y1="81419" x2="48601" y2="81419"/>
                        <a14:foregroundMark x1="46947" y1="84291" x2="46947" y2="84291"/>
                        <a14:foregroundMark x1="67176" y1="72635" x2="67176" y2="72635"/>
                        <a14:foregroundMark x1="82570" y1="75845" x2="82570" y2="77365"/>
                        <a14:foregroundMark x1="85878" y1="72973" x2="85878" y2="93750"/>
                        <a14:foregroundMark x1="85878" y1="93750" x2="86768" y2="94932"/>
                        <a14:foregroundMark x1="87023" y1="77027" x2="88550" y2="97466"/>
                        <a14:foregroundMark x1="87277" y1="84291" x2="89440" y2="97297"/>
                        <a14:foregroundMark x1="93511" y1="83953" x2="93766" y2="99493"/>
                        <a14:foregroundMark x1="94148" y1="94932" x2="96565" y2="99662"/>
                        <a14:foregroundMark x1="8779" y1="97804" x2="1018" y2="98818"/>
                        <a14:foregroundMark x1="12087" y1="69764" x2="18830" y2="69426"/>
                      </a14:backgroundRemoval>
                    </a14:imgEffect>
                  </a14:imgLayer>
                </a14:imgProps>
              </a:ext>
            </a:extLst>
          </a:blip>
          <a:stretch>
            <a:fillRect/>
          </a:stretch>
        </p:blipFill>
        <p:spPr>
          <a:xfrm>
            <a:off x="10149999" y="4166658"/>
            <a:ext cx="1904569" cy="1434485"/>
          </a:xfrm>
          <a:prstGeom prst="rect">
            <a:avLst/>
          </a:prstGeom>
          <a:ln>
            <a:noFill/>
          </a:ln>
          <a:effectLst>
            <a:outerShdw blurRad="190500" algn="tl" rotWithShape="0">
              <a:srgbClr val="000000">
                <a:alpha val="70000"/>
              </a:srgbClr>
            </a:outerShdw>
          </a:effectLst>
        </p:spPr>
      </p:pic>
      <p:sp>
        <p:nvSpPr>
          <p:cNvPr id="3" name="标题 2">
            <a:extLst>
              <a:ext uri="{FF2B5EF4-FFF2-40B4-BE49-F238E27FC236}">
                <a16:creationId xmlns:a16="http://schemas.microsoft.com/office/drawing/2014/main" id="{CD7D6FAA-2A8A-D247-FCEB-EAE07E0BD3D9}"/>
              </a:ext>
            </a:extLst>
          </p:cNvPr>
          <p:cNvSpPr>
            <a:spLocks noGrp="1"/>
          </p:cNvSpPr>
          <p:nvPr>
            <p:ph type="title"/>
          </p:nvPr>
        </p:nvSpPr>
        <p:spPr/>
        <p:txBody>
          <a:bodyPr/>
          <a:lstStyle/>
          <a:p>
            <a:r>
              <a:rPr lang="zh-CN" altLang="en-US" dirty="0"/>
              <a:t>协议</a:t>
            </a:r>
          </a:p>
        </p:txBody>
      </p:sp>
    </p:spTree>
    <p:extLst>
      <p:ext uri="{BB962C8B-B14F-4D97-AF65-F5344CB8AC3E}">
        <p14:creationId xmlns:p14="http://schemas.microsoft.com/office/powerpoint/2010/main" val="261917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14:presetBounceEnd="42857">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14:bounceEnd="42857">
                                          <p:cBhvr additive="base">
                                            <p:cTn id="7" dur="700" fill="hold"/>
                                            <p:tgtEl>
                                              <p:spTgt spid="2"/>
                                            </p:tgtEl>
                                            <p:attrNameLst>
                                              <p:attrName>ppt_x</p:attrName>
                                            </p:attrNameLst>
                                          </p:cBhvr>
                                          <p:tavLst>
                                            <p:tav tm="0">
                                              <p:val>
                                                <p:strVal val="0-#ppt_w/2"/>
                                              </p:val>
                                            </p:tav>
                                            <p:tav tm="100000">
                                              <p:val>
                                                <p:strVal val="#ppt_x"/>
                                              </p:val>
                                            </p:tav>
                                          </p:tavLst>
                                        </p:anim>
                                        <p:anim calcmode="lin" valueType="num" p14:bounceEnd="42857">
                                          <p:cBhvr additive="base">
                                            <p:cTn id="8" dur="7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arn(inVertical)">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11" grpId="0"/>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00" fill="hold"/>
                                            <p:tgtEl>
                                              <p:spTgt spid="2"/>
                                            </p:tgtEl>
                                            <p:attrNameLst>
                                              <p:attrName>ppt_x</p:attrName>
                                            </p:attrNameLst>
                                          </p:cBhvr>
                                          <p:tavLst>
                                            <p:tav tm="0">
                                              <p:val>
                                                <p:strVal val="0-#ppt_w/2"/>
                                              </p:val>
                                            </p:tav>
                                            <p:tav tm="100000">
                                              <p:val>
                                                <p:strVal val="#ppt_x"/>
                                              </p:val>
                                            </p:tav>
                                          </p:tavLst>
                                        </p:anim>
                                        <p:anim calcmode="lin" valueType="num">
                                          <p:cBhvr additive="base">
                                            <p:cTn id="8" dur="7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arn(inVertical)">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11" grpId="0"/>
        </p:bldLst>
      </p:timing>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97BFF34A-9F9A-7A82-E6E4-9398E942EEF7}"/>
              </a:ext>
            </a:extLst>
          </p:cNvPr>
          <p:cNvSpPr/>
          <p:nvPr/>
        </p:nvSpPr>
        <p:spPr>
          <a:xfrm>
            <a:off x="576626" y="4235032"/>
            <a:ext cx="5981145" cy="1159933"/>
          </a:xfrm>
          <a:prstGeom prst="rect">
            <a:avLst/>
          </a:prstGeom>
        </p:spPr>
        <p:txBody>
          <a:bodyPr wrap="square">
            <a:spAutoFit/>
          </a:bodyPr>
          <a:lstStyle/>
          <a:p>
            <a:pPr marL="357708" indent="-357708">
              <a:lnSpc>
                <a:spcPct val="150000"/>
              </a:lnSpc>
              <a:buFont typeface="Wingdings" pitchFamily="2" charset="2"/>
              <a:buChar char="l"/>
              <a:defRPr/>
            </a:pP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传输控制协议</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TCP(Transmission Control Protocol) </a:t>
            </a:r>
          </a:p>
          <a:p>
            <a:pPr marL="357708" indent="-357708">
              <a:lnSpc>
                <a:spcPct val="150000"/>
              </a:lnSpc>
              <a:buFont typeface="Wingdings" pitchFamily="2" charset="2"/>
              <a:buChar char="l"/>
              <a:defRPr/>
            </a:pP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TCP</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协议是</a:t>
            </a:r>
            <a:r>
              <a:rPr lang="zh-CN" altLang="en-US" sz="16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面向连接</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的通信协议。</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a:p>
            <a:pPr>
              <a:lnSpc>
                <a:spcPct val="150000"/>
              </a:lnSpc>
              <a:defRPr/>
            </a:pP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      速度慢，没有大小限制，数据安全。</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3" name="!!!三要素">
            <a:extLst>
              <a:ext uri="{FF2B5EF4-FFF2-40B4-BE49-F238E27FC236}">
                <a16:creationId xmlns:a16="http://schemas.microsoft.com/office/drawing/2014/main" id="{8BA47471-3B68-A7EE-29E6-7456225E503B}"/>
              </a:ext>
            </a:extLst>
          </p:cNvPr>
          <p:cNvSpPr txBox="1">
            <a:spLocks/>
          </p:cNvSpPr>
          <p:nvPr/>
        </p:nvSpPr>
        <p:spPr>
          <a:xfrm>
            <a:off x="582355" y="3722433"/>
            <a:ext cx="1028902"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sz="1600" dirty="0">
                <a:latin typeface="Consolas" panose="020B0609020204030204" pitchFamily="49" charset="0"/>
              </a:rPr>
              <a:t>TCP</a:t>
            </a:r>
            <a:r>
              <a:rPr lang="zh-CN" altLang="en-US" sz="1600" dirty="0">
                <a:latin typeface="Consolas" panose="020B0609020204030204" pitchFamily="49" charset="0"/>
              </a:rPr>
              <a:t>协议</a:t>
            </a:r>
          </a:p>
        </p:txBody>
      </p:sp>
      <p:sp>
        <p:nvSpPr>
          <p:cNvPr id="11" name="文本框 10">
            <a:extLst>
              <a:ext uri="{FF2B5EF4-FFF2-40B4-BE49-F238E27FC236}">
                <a16:creationId xmlns:a16="http://schemas.microsoft.com/office/drawing/2014/main" id="{0228F010-51CE-6631-0FDA-675F8001C4A5}"/>
              </a:ext>
            </a:extLst>
          </p:cNvPr>
          <p:cNvSpPr txBox="1"/>
          <p:nvPr/>
        </p:nvSpPr>
        <p:spPr>
          <a:xfrm>
            <a:off x="8313044" y="2919802"/>
            <a:ext cx="2574131" cy="369332"/>
          </a:xfrm>
          <a:prstGeom prst="rect">
            <a:avLst/>
          </a:prstGeom>
          <a:noFill/>
        </p:spPr>
        <p:txBody>
          <a:bodyPr wrap="square">
            <a:spAutoFit/>
          </a:bodyPr>
          <a:lstStyle/>
          <a:p>
            <a:r>
              <a:rPr lang="zh-CN" altLang="en-US" dirty="0">
                <a:solidFill>
                  <a:srgbClr val="C00000"/>
                </a:solidFill>
                <a:latin typeface="Consolas" panose="020B0609020204030204" pitchFamily="49" charset="0"/>
                <a:ea typeface="字小魂萌趣欢乐体" panose="00000500000000000000" pitchFamily="2" charset="-122"/>
              </a:rPr>
              <a:t>不管是否已经连接成功</a:t>
            </a:r>
          </a:p>
        </p:txBody>
      </p:sp>
      <p:pic>
        <p:nvPicPr>
          <p:cNvPr id="9" name="图片 8">
            <a:extLst>
              <a:ext uri="{FF2B5EF4-FFF2-40B4-BE49-F238E27FC236}">
                <a16:creationId xmlns:a16="http://schemas.microsoft.com/office/drawing/2014/main" id="{F7257664-309F-294C-3CD8-2F40BC89855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69" b="99493" l="1018" r="96565">
                        <a14:foregroundMark x1="50763" y1="17905" x2="69720" y2="44257"/>
                        <a14:foregroundMark x1="28753" y1="71453" x2="40204" y2="78885"/>
                        <a14:foregroundMark x1="40204" y1="78885" x2="18830" y2="87500"/>
                        <a14:foregroundMark x1="18830" y1="87500" x2="54835" y2="75845"/>
                        <a14:foregroundMark x1="60687" y1="22297" x2="62977" y2="66554"/>
                        <a14:foregroundMark x1="62977" y1="66554" x2="53435" y2="84797"/>
                        <a14:foregroundMark x1="53435" y1="84797" x2="82570" y2="82264"/>
                        <a14:foregroundMark x1="82570" y1="82264" x2="87532" y2="96284"/>
                        <a14:foregroundMark x1="12341" y1="12162" x2="39186" y2="5574"/>
                        <a14:foregroundMark x1="39186" y1="5574" x2="69338" y2="6419"/>
                        <a14:foregroundMark x1="69338" y1="6419" x2="35623" y2="4899"/>
                        <a14:foregroundMark x1="35623" y1="4899" x2="51272" y2="169"/>
                        <a14:foregroundMark x1="51272" y1="169" x2="60941" y2="507"/>
                        <a14:foregroundMark x1="67176" y1="3716" x2="80916" y2="2703"/>
                        <a14:foregroundMark x1="81170" y1="4392" x2="88550" y2="18919"/>
                        <a14:foregroundMark x1="88550" y1="18919" x2="88041" y2="29561"/>
                        <a14:foregroundMark x1="81425" y1="59797" x2="69975" y2="74831"/>
                        <a14:foregroundMark x1="69975" y1="74831" x2="28880" y2="68750"/>
                        <a14:foregroundMark x1="28880" y1="68750" x2="47710" y2="67061"/>
                        <a14:foregroundMark x1="47710" y1="67061" x2="20229" y2="78041"/>
                        <a14:foregroundMark x1="20229" y1="78041" x2="30153" y2="71791"/>
                        <a14:foregroundMark x1="69338" y1="64527" x2="85115" y2="92399"/>
                        <a14:foregroundMark x1="85115" y1="92399" x2="80153" y2="92736"/>
                        <a14:foregroundMark x1="12595" y1="69257" x2="8779" y2="92061"/>
                        <a14:foregroundMark x1="8779" y1="92061" x2="50382" y2="95270"/>
                        <a14:foregroundMark x1="50382" y1="95270" x2="78372" y2="93750"/>
                        <a14:foregroundMark x1="78372" y1="93750" x2="79898" y2="71115"/>
                        <a14:foregroundMark x1="16921" y1="67905" x2="25445" y2="75845"/>
                        <a14:foregroundMark x1="5471" y1="90034" x2="6870" y2="92568"/>
                        <a14:foregroundMark x1="46565" y1="99493" x2="59288" y2="98142"/>
                        <a14:foregroundMark x1="59288" y1="98142" x2="58397" y2="98818"/>
                        <a14:foregroundMark x1="35369" y1="86149" x2="61323" y2="85135"/>
                        <a14:foregroundMark x1="61323" y1="85135" x2="73028" y2="85642"/>
                        <a14:foregroundMark x1="23791" y1="89020" x2="62214" y2="91216"/>
                        <a14:foregroundMark x1="62214" y1="91216" x2="60941" y2="91554"/>
                        <a14:foregroundMark x1="34224" y1="90541" x2="64249" y2="89358"/>
                        <a14:foregroundMark x1="27099" y1="79223" x2="50636" y2="79054"/>
                        <a14:foregroundMark x1="50636" y1="79054" x2="64758" y2="79223"/>
                        <a14:foregroundMark x1="21628" y1="78716" x2="67812" y2="76689"/>
                        <a14:foregroundMark x1="39822" y1="73311" x2="76590" y2="74493"/>
                        <a14:foregroundMark x1="32061" y1="78716" x2="67176" y2="79899"/>
                        <a14:foregroundMark x1="29644" y1="81081" x2="62595" y2="79899"/>
                        <a14:foregroundMark x1="27481" y1="76689" x2="57634" y2="73311"/>
                        <a14:foregroundMark x1="34606" y1="73311" x2="63359" y2="74831"/>
                        <a14:foregroundMark x1="36768" y1="79561" x2="60687" y2="81081"/>
                        <a14:foregroundMark x1="48601" y1="81419" x2="48601" y2="81419"/>
                        <a14:foregroundMark x1="46947" y1="84291" x2="46947" y2="84291"/>
                        <a14:foregroundMark x1="67176" y1="72635" x2="67176" y2="72635"/>
                        <a14:foregroundMark x1="82570" y1="75845" x2="82570" y2="77365"/>
                        <a14:foregroundMark x1="85878" y1="72973" x2="85878" y2="93750"/>
                        <a14:foregroundMark x1="85878" y1="93750" x2="86768" y2="94932"/>
                        <a14:foregroundMark x1="87023" y1="77027" x2="88550" y2="97466"/>
                        <a14:foregroundMark x1="87277" y1="84291" x2="89440" y2="97297"/>
                        <a14:foregroundMark x1="93511" y1="83953" x2="93766" y2="99493"/>
                        <a14:foregroundMark x1="94148" y1="94932" x2="96565" y2="99662"/>
                        <a14:foregroundMark x1="8779" y1="97804" x2="1018" y2="98818"/>
                        <a14:foregroundMark x1="12087" y1="69764" x2="18830" y2="69426"/>
                      </a14:backgroundRemoval>
                    </a14:imgEffect>
                  </a14:imgLayer>
                </a14:imgProps>
              </a:ext>
            </a:extLst>
          </a:blip>
          <a:stretch>
            <a:fillRect/>
          </a:stretch>
        </p:blipFill>
        <p:spPr>
          <a:xfrm>
            <a:off x="7028430" y="1151058"/>
            <a:ext cx="1904569" cy="1434485"/>
          </a:xfrm>
          <a:prstGeom prst="rect">
            <a:avLst/>
          </a:prstGeom>
          <a:ln>
            <a:noFill/>
          </a:ln>
          <a:effectLst>
            <a:outerShdw blurRad="190500" algn="tl" rotWithShape="0">
              <a:srgbClr val="000000">
                <a:alpha val="70000"/>
              </a:srgbClr>
            </a:outerShdw>
          </a:effectLst>
        </p:spPr>
      </p:pic>
      <p:pic>
        <p:nvPicPr>
          <p:cNvPr id="14" name="图片 13">
            <a:extLst>
              <a:ext uri="{FF2B5EF4-FFF2-40B4-BE49-F238E27FC236}">
                <a16:creationId xmlns:a16="http://schemas.microsoft.com/office/drawing/2014/main" id="{444A2E4C-2DED-F11C-027B-319BB3677A0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69" b="99493" l="1018" r="96565">
                        <a14:foregroundMark x1="50763" y1="17905" x2="69720" y2="44257"/>
                        <a14:foregroundMark x1="28753" y1="71453" x2="40204" y2="78885"/>
                        <a14:foregroundMark x1="40204" y1="78885" x2="18830" y2="87500"/>
                        <a14:foregroundMark x1="18830" y1="87500" x2="54835" y2="75845"/>
                        <a14:foregroundMark x1="60687" y1="22297" x2="62977" y2="66554"/>
                        <a14:foregroundMark x1="62977" y1="66554" x2="53435" y2="84797"/>
                        <a14:foregroundMark x1="53435" y1="84797" x2="82570" y2="82264"/>
                        <a14:foregroundMark x1="82570" y1="82264" x2="87532" y2="96284"/>
                        <a14:foregroundMark x1="12341" y1="12162" x2="39186" y2="5574"/>
                        <a14:foregroundMark x1="39186" y1="5574" x2="69338" y2="6419"/>
                        <a14:foregroundMark x1="69338" y1="6419" x2="35623" y2="4899"/>
                        <a14:foregroundMark x1="35623" y1="4899" x2="51272" y2="169"/>
                        <a14:foregroundMark x1="51272" y1="169" x2="60941" y2="507"/>
                        <a14:foregroundMark x1="67176" y1="3716" x2="80916" y2="2703"/>
                        <a14:foregroundMark x1="81170" y1="4392" x2="88550" y2="18919"/>
                        <a14:foregroundMark x1="88550" y1="18919" x2="88041" y2="29561"/>
                        <a14:foregroundMark x1="81425" y1="59797" x2="69975" y2="74831"/>
                        <a14:foregroundMark x1="69975" y1="74831" x2="28880" y2="68750"/>
                        <a14:foregroundMark x1="28880" y1="68750" x2="47710" y2="67061"/>
                        <a14:foregroundMark x1="47710" y1="67061" x2="20229" y2="78041"/>
                        <a14:foregroundMark x1="20229" y1="78041" x2="30153" y2="71791"/>
                        <a14:foregroundMark x1="69338" y1="64527" x2="85115" y2="92399"/>
                        <a14:foregroundMark x1="85115" y1="92399" x2="80153" y2="92736"/>
                        <a14:foregroundMark x1="12595" y1="69257" x2="8779" y2="92061"/>
                        <a14:foregroundMark x1="8779" y1="92061" x2="50382" y2="95270"/>
                        <a14:foregroundMark x1="50382" y1="95270" x2="78372" y2="93750"/>
                        <a14:foregroundMark x1="78372" y1="93750" x2="79898" y2="71115"/>
                        <a14:foregroundMark x1="16921" y1="67905" x2="25445" y2="75845"/>
                        <a14:foregroundMark x1="5471" y1="90034" x2="6870" y2="92568"/>
                        <a14:foregroundMark x1="46565" y1="99493" x2="59288" y2="98142"/>
                        <a14:foregroundMark x1="59288" y1="98142" x2="58397" y2="98818"/>
                        <a14:foregroundMark x1="35369" y1="86149" x2="61323" y2="85135"/>
                        <a14:foregroundMark x1="61323" y1="85135" x2="73028" y2="85642"/>
                        <a14:foregroundMark x1="23791" y1="89020" x2="62214" y2="91216"/>
                        <a14:foregroundMark x1="62214" y1="91216" x2="60941" y2="91554"/>
                        <a14:foregroundMark x1="34224" y1="90541" x2="64249" y2="89358"/>
                        <a14:foregroundMark x1="27099" y1="79223" x2="50636" y2="79054"/>
                        <a14:foregroundMark x1="50636" y1="79054" x2="64758" y2="79223"/>
                        <a14:foregroundMark x1="21628" y1="78716" x2="67812" y2="76689"/>
                        <a14:foregroundMark x1="39822" y1="73311" x2="76590" y2="74493"/>
                        <a14:foregroundMark x1="32061" y1="78716" x2="67176" y2="79899"/>
                        <a14:foregroundMark x1="29644" y1="81081" x2="62595" y2="79899"/>
                        <a14:foregroundMark x1="27481" y1="76689" x2="57634" y2="73311"/>
                        <a14:foregroundMark x1="34606" y1="73311" x2="63359" y2="74831"/>
                        <a14:foregroundMark x1="36768" y1="79561" x2="60687" y2="81081"/>
                        <a14:foregroundMark x1="48601" y1="81419" x2="48601" y2="81419"/>
                        <a14:foregroundMark x1="46947" y1="84291" x2="46947" y2="84291"/>
                        <a14:foregroundMark x1="67176" y1="72635" x2="67176" y2="72635"/>
                        <a14:foregroundMark x1="82570" y1="75845" x2="82570" y2="77365"/>
                        <a14:foregroundMark x1="85878" y1="72973" x2="85878" y2="93750"/>
                        <a14:foregroundMark x1="85878" y1="93750" x2="86768" y2="94932"/>
                        <a14:foregroundMark x1="87023" y1="77027" x2="88550" y2="97466"/>
                        <a14:foregroundMark x1="87277" y1="84291" x2="89440" y2="97297"/>
                        <a14:foregroundMark x1="93511" y1="83953" x2="93766" y2="99493"/>
                        <a14:foregroundMark x1="94148" y1="94932" x2="96565" y2="99662"/>
                        <a14:foregroundMark x1="8779" y1="97804" x2="1018" y2="98818"/>
                        <a14:foregroundMark x1="12087" y1="69764" x2="18830" y2="69426"/>
                      </a14:backgroundRemoval>
                    </a14:imgEffect>
                  </a14:imgLayer>
                </a14:imgProps>
              </a:ext>
            </a:extLst>
          </a:blip>
          <a:stretch>
            <a:fillRect/>
          </a:stretch>
        </p:blipFill>
        <p:spPr>
          <a:xfrm>
            <a:off x="10070375" y="1151057"/>
            <a:ext cx="1904569" cy="1434485"/>
          </a:xfrm>
          <a:prstGeom prst="rect">
            <a:avLst/>
          </a:prstGeom>
          <a:ln>
            <a:noFill/>
          </a:ln>
          <a:effectLst>
            <a:outerShdw blurRad="190500" algn="tl" rotWithShape="0">
              <a:srgbClr val="000000">
                <a:alpha val="70000"/>
              </a:srgbClr>
            </a:outerShdw>
          </a:effectLst>
        </p:spPr>
      </p:pic>
      <p:sp>
        <p:nvSpPr>
          <p:cNvPr id="5" name="标题 4">
            <a:extLst>
              <a:ext uri="{FF2B5EF4-FFF2-40B4-BE49-F238E27FC236}">
                <a16:creationId xmlns:a16="http://schemas.microsoft.com/office/drawing/2014/main" id="{34249BD4-72DA-D835-1EE6-C8F35B4FE70D}"/>
              </a:ext>
            </a:extLst>
          </p:cNvPr>
          <p:cNvSpPr>
            <a:spLocks noGrp="1"/>
          </p:cNvSpPr>
          <p:nvPr>
            <p:ph type="title"/>
          </p:nvPr>
        </p:nvSpPr>
        <p:spPr/>
        <p:txBody>
          <a:bodyPr/>
          <a:lstStyle/>
          <a:p>
            <a:r>
              <a:rPr lang="zh-CN" altLang="en-US" dirty="0"/>
              <a:t>协议</a:t>
            </a:r>
          </a:p>
        </p:txBody>
      </p:sp>
      <p:sp>
        <p:nvSpPr>
          <p:cNvPr id="6" name="矩形 5">
            <a:extLst>
              <a:ext uri="{FF2B5EF4-FFF2-40B4-BE49-F238E27FC236}">
                <a16:creationId xmlns:a16="http://schemas.microsoft.com/office/drawing/2014/main" id="{F98377B2-2EF5-1A46-F6CE-198F2364B762}"/>
              </a:ext>
            </a:extLst>
          </p:cNvPr>
          <p:cNvSpPr/>
          <p:nvPr/>
        </p:nvSpPr>
        <p:spPr>
          <a:xfrm>
            <a:off x="576627" y="2189137"/>
            <a:ext cx="7028710" cy="1159933"/>
          </a:xfrm>
          <a:prstGeom prst="rect">
            <a:avLst/>
          </a:prstGeom>
        </p:spPr>
        <p:txBody>
          <a:bodyPr wrap="square">
            <a:spAutoFit/>
          </a:bodyPr>
          <a:lstStyle/>
          <a:p>
            <a:pPr marL="285750" indent="-285750">
              <a:lnSpc>
                <a:spcPct val="150000"/>
              </a:lnSpc>
              <a:buFont typeface="Wingdings" panose="05000000000000000000" pitchFamily="2" charset="2"/>
              <a:buChar char="l"/>
              <a:defRPr/>
            </a:pP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用户数据报协议</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(User Datagram Protocol)</a:t>
            </a:r>
          </a:p>
          <a:p>
            <a:pPr marL="357708" indent="-357708">
              <a:lnSpc>
                <a:spcPct val="150000"/>
              </a:lnSpc>
              <a:buFont typeface="Wingdings" pitchFamily="2" charset="2"/>
              <a:buChar char="l"/>
              <a:defRPr/>
            </a:pP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UDP</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是</a:t>
            </a:r>
            <a:r>
              <a:rPr lang="zh-CN" altLang="en-US" sz="16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面向无连接</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通信协议。</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a:p>
            <a:pPr>
              <a:lnSpc>
                <a:spcPct val="150000"/>
              </a:lnSpc>
              <a:defRPr/>
            </a:pP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速度快，有大小限制一次最多发送</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64K</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，数据不安全，易丢失数据</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2" name="TextBox 4">
            <a:extLst>
              <a:ext uri="{FF2B5EF4-FFF2-40B4-BE49-F238E27FC236}">
                <a16:creationId xmlns:a16="http://schemas.microsoft.com/office/drawing/2014/main" id="{EA95A76A-C0DB-05D7-6A75-290EE166A5EA}"/>
              </a:ext>
            </a:extLst>
          </p:cNvPr>
          <p:cNvSpPr txBox="1"/>
          <p:nvPr/>
        </p:nvSpPr>
        <p:spPr>
          <a:xfrm>
            <a:off x="576626" y="1130073"/>
            <a:ext cx="8832849" cy="427105"/>
          </a:xfrm>
          <a:prstGeom prst="rect">
            <a:avLst/>
          </a:prstGeom>
          <a:noFill/>
        </p:spPr>
        <p:txBody>
          <a:bodyPr>
            <a:spAutoFit/>
          </a:bodyPr>
          <a:lstStyle/>
          <a:p>
            <a:pPr>
              <a:lnSpc>
                <a:spcPct val="150000"/>
              </a:lnSpc>
              <a:defRPr/>
            </a:pP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计算机网络中，连接和通信的规则被称为网络通信协议</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3" name="!!!三要素">
            <a:extLst>
              <a:ext uri="{FF2B5EF4-FFF2-40B4-BE49-F238E27FC236}">
                <a16:creationId xmlns:a16="http://schemas.microsoft.com/office/drawing/2014/main" id="{62E432F7-2303-A57F-8F13-446740B48BFD}"/>
              </a:ext>
            </a:extLst>
          </p:cNvPr>
          <p:cNvSpPr txBox="1">
            <a:spLocks/>
          </p:cNvSpPr>
          <p:nvPr/>
        </p:nvSpPr>
        <p:spPr>
          <a:xfrm>
            <a:off x="576626" y="1729883"/>
            <a:ext cx="1028902"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sz="1600" dirty="0">
                <a:latin typeface="Consolas" panose="020B0609020204030204" pitchFamily="49" charset="0"/>
              </a:rPr>
              <a:t>UDP</a:t>
            </a:r>
            <a:r>
              <a:rPr lang="zh-CN" altLang="en-US" sz="1600" dirty="0">
                <a:latin typeface="Consolas" panose="020B0609020204030204" pitchFamily="49" charset="0"/>
              </a:rPr>
              <a:t>协议</a:t>
            </a:r>
          </a:p>
        </p:txBody>
      </p:sp>
    </p:spTree>
    <p:extLst>
      <p:ext uri="{BB962C8B-B14F-4D97-AF65-F5344CB8AC3E}">
        <p14:creationId xmlns:p14="http://schemas.microsoft.com/office/powerpoint/2010/main" val="388786199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a:extLst>
              <a:ext uri="{FF2B5EF4-FFF2-40B4-BE49-F238E27FC236}">
                <a16:creationId xmlns:a16="http://schemas.microsoft.com/office/drawing/2014/main" id="{4E734393-6CB5-9333-1568-1318B144A457}"/>
              </a:ext>
            </a:extLst>
          </p:cNvPr>
          <p:cNvSpPr txBox="1"/>
          <p:nvPr/>
        </p:nvSpPr>
        <p:spPr>
          <a:xfrm>
            <a:off x="8825415" y="4235725"/>
            <a:ext cx="1623933" cy="369332"/>
          </a:xfrm>
          <a:prstGeom prst="rect">
            <a:avLst/>
          </a:prstGeom>
          <a:noFill/>
        </p:spPr>
        <p:txBody>
          <a:bodyPr wrap="square">
            <a:spAutoFit/>
          </a:bodyPr>
          <a:lstStyle/>
          <a:p>
            <a:r>
              <a:rPr lang="zh-CN" altLang="en-US" dirty="0">
                <a:solidFill>
                  <a:srgbClr val="0070C0"/>
                </a:solidFill>
                <a:latin typeface="Consolas" panose="020B0609020204030204" pitchFamily="49" charset="0"/>
                <a:ea typeface="字小魂萌趣欢乐体" panose="00000500000000000000" pitchFamily="2" charset="-122"/>
              </a:rPr>
              <a:t>确保连接成功</a:t>
            </a:r>
          </a:p>
        </p:txBody>
      </p:sp>
      <p:sp>
        <p:nvSpPr>
          <p:cNvPr id="24" name="矩形: 圆角 23">
            <a:extLst>
              <a:ext uri="{FF2B5EF4-FFF2-40B4-BE49-F238E27FC236}">
                <a16:creationId xmlns:a16="http://schemas.microsoft.com/office/drawing/2014/main" id="{397F524E-E3CC-736D-4170-40A00270BD33}"/>
              </a:ext>
            </a:extLst>
          </p:cNvPr>
          <p:cNvSpPr/>
          <p:nvPr/>
        </p:nvSpPr>
        <p:spPr bwMode="auto">
          <a:xfrm>
            <a:off x="8871292" y="4997809"/>
            <a:ext cx="1532178" cy="461040"/>
          </a:xfrm>
          <a:prstGeom prst="roundRect">
            <a:avLst/>
          </a:prstGeom>
          <a:solidFill>
            <a:srgbClr val="00B8B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Consolas" panose="020B0609020204030204" pitchFamily="49" charset="0"/>
              <a:ea typeface="微软雅黑" panose="020B0503020204020204" pitchFamily="34" charset="-122"/>
            </a:endParaRPr>
          </a:p>
        </p:txBody>
      </p:sp>
      <p:sp>
        <p:nvSpPr>
          <p:cNvPr id="26" name="文本框 25">
            <a:extLst>
              <a:ext uri="{FF2B5EF4-FFF2-40B4-BE49-F238E27FC236}">
                <a16:creationId xmlns:a16="http://schemas.microsoft.com/office/drawing/2014/main" id="{A758BBFA-1AB1-6BF7-BFA0-A24641661526}"/>
              </a:ext>
            </a:extLst>
          </p:cNvPr>
          <p:cNvSpPr txBox="1"/>
          <p:nvPr/>
        </p:nvSpPr>
        <p:spPr>
          <a:xfrm>
            <a:off x="9079287" y="5043663"/>
            <a:ext cx="1116188" cy="369332"/>
          </a:xfrm>
          <a:prstGeom prst="rect">
            <a:avLst/>
          </a:prstGeom>
          <a:noFill/>
        </p:spPr>
        <p:txBody>
          <a:bodyPr wrap="square">
            <a:spAutoFit/>
          </a:bodyPr>
          <a:lstStyle/>
          <a:p>
            <a:r>
              <a:rPr lang="zh-CN" altLang="en-US" dirty="0">
                <a:solidFill>
                  <a:schemeClr val="bg1"/>
                </a:solidFill>
                <a:latin typeface="Consolas" panose="020B0609020204030204" pitchFamily="49" charset="0"/>
              </a:rPr>
              <a:t>连接成功</a:t>
            </a:r>
          </a:p>
        </p:txBody>
      </p:sp>
      <p:sp>
        <p:nvSpPr>
          <p:cNvPr id="33" name="圆角矩形 5">
            <a:extLst>
              <a:ext uri="{FF2B5EF4-FFF2-40B4-BE49-F238E27FC236}">
                <a16:creationId xmlns:a16="http://schemas.microsoft.com/office/drawing/2014/main" id="{54C4538A-C056-7013-6AFF-6AB521661252}"/>
              </a:ext>
            </a:extLst>
          </p:cNvPr>
          <p:cNvSpPr>
            <a:spLocks noChangeArrowheads="1"/>
          </p:cNvSpPr>
          <p:nvPr/>
        </p:nvSpPr>
        <p:spPr bwMode="auto">
          <a:xfrm>
            <a:off x="8962402" y="4997809"/>
            <a:ext cx="1349955" cy="468975"/>
          </a:xfrm>
          <a:prstGeom prst="roundRect">
            <a:avLst>
              <a:gd name="adj" fmla="val 16667"/>
            </a:avLst>
          </a:prstGeom>
          <a:solidFill>
            <a:schemeClr val="accent5">
              <a:lumMod val="75000"/>
            </a:schemeClr>
          </a:solidFill>
          <a:ln w="9525">
            <a:noFill/>
            <a:round/>
            <a:headEnd/>
            <a:tailEnd/>
          </a:ln>
          <a:effectLst>
            <a:outerShdw dist="63500" dir="5400000" algn="ctr" rotWithShape="0">
              <a:srgbClr val="000000">
                <a:alpha val="10999"/>
              </a:srgbClr>
            </a:outerShdw>
          </a:effectLst>
        </p:spPr>
        <p:txBody>
          <a:bodyPr anchor="ctr"/>
          <a:lstStyle/>
          <a:p>
            <a:pPr algn="ctr"/>
            <a:r>
              <a:rPr lang="zh-CN" altLang="en-US" dirty="0">
                <a:solidFill>
                  <a:schemeClr val="bg1"/>
                </a:solidFill>
                <a:latin typeface="Consolas" panose="020B0609020204030204" pitchFamily="49" charset="0"/>
                <a:ea typeface="阿里巴巴普惠体" panose="00020600040101010101" pitchFamily="18" charset="-122"/>
                <a:cs typeface="阿里巴巴普惠体" panose="00020600040101010101" pitchFamily="18" charset="-122"/>
              </a:rPr>
              <a:t>发送邮件</a:t>
            </a:r>
          </a:p>
        </p:txBody>
      </p:sp>
      <p:sp>
        <p:nvSpPr>
          <p:cNvPr id="34" name="圆角矩形 5">
            <a:extLst>
              <a:ext uri="{FF2B5EF4-FFF2-40B4-BE49-F238E27FC236}">
                <a16:creationId xmlns:a16="http://schemas.microsoft.com/office/drawing/2014/main" id="{D78AF0E3-DFE7-8C85-13F5-92742232F141}"/>
              </a:ext>
            </a:extLst>
          </p:cNvPr>
          <p:cNvSpPr>
            <a:spLocks noChangeArrowheads="1"/>
          </p:cNvSpPr>
          <p:nvPr/>
        </p:nvSpPr>
        <p:spPr bwMode="auto">
          <a:xfrm>
            <a:off x="8962402" y="4997809"/>
            <a:ext cx="1349955" cy="468975"/>
          </a:xfrm>
          <a:prstGeom prst="roundRect">
            <a:avLst>
              <a:gd name="adj" fmla="val 16667"/>
            </a:avLst>
          </a:prstGeom>
          <a:solidFill>
            <a:schemeClr val="accent6">
              <a:lumMod val="75000"/>
            </a:schemeClr>
          </a:solidFill>
          <a:ln w="9525">
            <a:noFill/>
            <a:round/>
            <a:headEnd/>
            <a:tailEnd/>
          </a:ln>
          <a:effectLst>
            <a:outerShdw dist="63500" dir="5400000" algn="ctr" rotWithShape="0">
              <a:srgbClr val="000000">
                <a:alpha val="10999"/>
              </a:srgbClr>
            </a:outerShdw>
          </a:effectLst>
        </p:spPr>
        <p:txBody>
          <a:bodyPr anchor="ctr"/>
          <a:lstStyle/>
          <a:p>
            <a:pPr algn="ctr"/>
            <a:r>
              <a:rPr lang="zh-CN" altLang="en-US" dirty="0">
                <a:solidFill>
                  <a:schemeClr val="bg1"/>
                </a:solidFill>
                <a:latin typeface="Consolas" panose="020B0609020204030204" pitchFamily="49" charset="0"/>
                <a:ea typeface="阿里巴巴普惠体" panose="00020600040101010101" pitchFamily="18" charset="-122"/>
                <a:cs typeface="阿里巴巴普惠体" panose="00020600040101010101" pitchFamily="18" charset="-122"/>
              </a:rPr>
              <a:t>文字聊天</a:t>
            </a:r>
          </a:p>
        </p:txBody>
      </p:sp>
      <p:sp>
        <p:nvSpPr>
          <p:cNvPr id="35" name="圆角矩形 5">
            <a:extLst>
              <a:ext uri="{FF2B5EF4-FFF2-40B4-BE49-F238E27FC236}">
                <a16:creationId xmlns:a16="http://schemas.microsoft.com/office/drawing/2014/main" id="{3F3DCB56-1D7A-99C4-09AD-D90DE285BC89}"/>
              </a:ext>
            </a:extLst>
          </p:cNvPr>
          <p:cNvSpPr>
            <a:spLocks noChangeArrowheads="1"/>
          </p:cNvSpPr>
          <p:nvPr/>
        </p:nvSpPr>
        <p:spPr bwMode="auto">
          <a:xfrm>
            <a:off x="8962402" y="4997809"/>
            <a:ext cx="1349955" cy="468975"/>
          </a:xfrm>
          <a:prstGeom prst="roundRect">
            <a:avLst>
              <a:gd name="adj" fmla="val 16667"/>
            </a:avLst>
          </a:prstGeom>
          <a:solidFill>
            <a:srgbClr val="0070C0"/>
          </a:solidFill>
          <a:ln w="9525">
            <a:noFill/>
            <a:round/>
            <a:headEnd/>
            <a:tailEnd/>
          </a:ln>
          <a:effectLst>
            <a:outerShdw dist="63500" dir="5400000" algn="ctr" rotWithShape="0">
              <a:srgbClr val="000000">
                <a:alpha val="10999"/>
              </a:srgbClr>
            </a:outerShdw>
          </a:effectLst>
        </p:spPr>
        <p:txBody>
          <a:bodyPr anchor="ctr"/>
          <a:lstStyle/>
          <a:p>
            <a:pPr algn="ctr"/>
            <a:r>
              <a:rPr lang="zh-CN" altLang="en-US" dirty="0">
                <a:solidFill>
                  <a:schemeClr val="bg1"/>
                </a:solidFill>
                <a:latin typeface="Consolas" panose="020B0609020204030204" pitchFamily="49" charset="0"/>
                <a:ea typeface="阿里巴巴普惠体" panose="00020600040101010101" pitchFamily="18" charset="-122"/>
                <a:cs typeface="阿里巴巴普惠体" panose="00020600040101010101" pitchFamily="18" charset="-122"/>
              </a:rPr>
              <a:t>下载软件</a:t>
            </a:r>
          </a:p>
        </p:txBody>
      </p:sp>
      <p:sp>
        <p:nvSpPr>
          <p:cNvPr id="17" name="圆角矩形 5">
            <a:extLst>
              <a:ext uri="{FF2B5EF4-FFF2-40B4-BE49-F238E27FC236}">
                <a16:creationId xmlns:a16="http://schemas.microsoft.com/office/drawing/2014/main" id="{753A5CD0-0939-FCDF-78B4-51A263D78804}"/>
              </a:ext>
            </a:extLst>
          </p:cNvPr>
          <p:cNvSpPr>
            <a:spLocks noChangeArrowheads="1"/>
          </p:cNvSpPr>
          <p:nvPr/>
        </p:nvSpPr>
        <p:spPr bwMode="auto">
          <a:xfrm>
            <a:off x="8832744" y="1573744"/>
            <a:ext cx="1349955" cy="468975"/>
          </a:xfrm>
          <a:prstGeom prst="roundRect">
            <a:avLst>
              <a:gd name="adj" fmla="val 16667"/>
            </a:avLst>
          </a:prstGeom>
          <a:solidFill>
            <a:srgbClr val="C00000"/>
          </a:solidFill>
          <a:ln w="9525">
            <a:noFill/>
            <a:round/>
            <a:headEnd/>
            <a:tailEnd/>
          </a:ln>
          <a:effectLst>
            <a:outerShdw dist="63500" dir="5400000" algn="ctr" rotWithShape="0">
              <a:srgbClr val="000000">
                <a:alpha val="10999"/>
              </a:srgbClr>
            </a:outerShdw>
          </a:effectLst>
        </p:spPr>
        <p:txBody>
          <a:bodyPr anchor="ctr"/>
          <a:lstStyle/>
          <a:p>
            <a:pPr algn="ctr"/>
            <a:r>
              <a:rPr lang="zh-CN" altLang="en-US" dirty="0">
                <a:solidFill>
                  <a:schemeClr val="bg1"/>
                </a:solidFill>
                <a:latin typeface="Consolas" panose="020B0609020204030204" pitchFamily="49" charset="0"/>
                <a:ea typeface="阿里巴巴普惠体" panose="00020600040101010101" pitchFamily="18" charset="-122"/>
                <a:cs typeface="阿里巴巴普惠体" panose="00020600040101010101" pitchFamily="18" charset="-122"/>
              </a:rPr>
              <a:t>网络会议</a:t>
            </a:r>
          </a:p>
        </p:txBody>
      </p:sp>
      <p:sp>
        <p:nvSpPr>
          <p:cNvPr id="18" name="圆角矩形 5">
            <a:extLst>
              <a:ext uri="{FF2B5EF4-FFF2-40B4-BE49-F238E27FC236}">
                <a16:creationId xmlns:a16="http://schemas.microsoft.com/office/drawing/2014/main" id="{813C7727-90C2-22D3-9026-86AB60F8E544}"/>
              </a:ext>
            </a:extLst>
          </p:cNvPr>
          <p:cNvSpPr>
            <a:spLocks noChangeArrowheads="1"/>
          </p:cNvSpPr>
          <p:nvPr/>
        </p:nvSpPr>
        <p:spPr bwMode="auto">
          <a:xfrm>
            <a:off x="8832744" y="1573744"/>
            <a:ext cx="1349955" cy="468975"/>
          </a:xfrm>
          <a:prstGeom prst="roundRect">
            <a:avLst>
              <a:gd name="adj" fmla="val 16667"/>
            </a:avLst>
          </a:prstGeom>
          <a:solidFill>
            <a:srgbClr val="0070C0"/>
          </a:solidFill>
          <a:ln w="9525">
            <a:noFill/>
            <a:round/>
            <a:headEnd/>
            <a:tailEnd/>
          </a:ln>
          <a:effectLst>
            <a:outerShdw dist="63500" dir="5400000" algn="ctr" rotWithShape="0">
              <a:srgbClr val="000000">
                <a:alpha val="10999"/>
              </a:srgbClr>
            </a:outerShdw>
          </a:effectLst>
        </p:spPr>
        <p:txBody>
          <a:bodyPr anchor="ctr"/>
          <a:lstStyle/>
          <a:p>
            <a:pPr algn="ctr"/>
            <a:r>
              <a:rPr lang="zh-CN" altLang="en-US" dirty="0">
                <a:solidFill>
                  <a:schemeClr val="bg1"/>
                </a:solidFill>
                <a:latin typeface="Consolas" panose="020B0609020204030204" pitchFamily="49" charset="0"/>
                <a:ea typeface="阿里巴巴普惠体" panose="00020600040101010101" pitchFamily="18" charset="-122"/>
                <a:cs typeface="阿里巴巴普惠体" panose="00020600040101010101" pitchFamily="18" charset="-122"/>
              </a:rPr>
              <a:t>语言通话</a:t>
            </a:r>
          </a:p>
        </p:txBody>
      </p:sp>
      <p:sp>
        <p:nvSpPr>
          <p:cNvPr id="19" name="圆角矩形 5">
            <a:extLst>
              <a:ext uri="{FF2B5EF4-FFF2-40B4-BE49-F238E27FC236}">
                <a16:creationId xmlns:a16="http://schemas.microsoft.com/office/drawing/2014/main" id="{F6AB91C9-E617-9CC2-F9CF-AB2A5D3E5DA2}"/>
              </a:ext>
            </a:extLst>
          </p:cNvPr>
          <p:cNvSpPr>
            <a:spLocks noChangeArrowheads="1"/>
          </p:cNvSpPr>
          <p:nvPr/>
        </p:nvSpPr>
        <p:spPr bwMode="auto">
          <a:xfrm>
            <a:off x="8832744" y="1573744"/>
            <a:ext cx="1349955" cy="468975"/>
          </a:xfrm>
          <a:prstGeom prst="roundRect">
            <a:avLst>
              <a:gd name="adj" fmla="val 16667"/>
            </a:avLst>
          </a:prstGeom>
          <a:solidFill>
            <a:schemeClr val="accent6">
              <a:lumMod val="75000"/>
            </a:schemeClr>
          </a:solidFill>
          <a:ln w="9525">
            <a:noFill/>
            <a:round/>
            <a:headEnd/>
            <a:tailEnd/>
          </a:ln>
          <a:effectLst>
            <a:outerShdw dist="63500" dir="5400000" algn="ctr" rotWithShape="0">
              <a:srgbClr val="000000">
                <a:alpha val="10999"/>
              </a:srgbClr>
            </a:outerShdw>
          </a:effectLst>
        </p:spPr>
        <p:txBody>
          <a:bodyPr anchor="ctr"/>
          <a:lstStyle/>
          <a:p>
            <a:pPr algn="ctr"/>
            <a:r>
              <a:rPr lang="zh-CN" altLang="en-US" dirty="0">
                <a:solidFill>
                  <a:schemeClr val="bg1"/>
                </a:solidFill>
                <a:latin typeface="Consolas" panose="020B0609020204030204" pitchFamily="49" charset="0"/>
                <a:ea typeface="阿里巴巴普惠体" panose="00020600040101010101" pitchFamily="18" charset="-122"/>
                <a:cs typeface="阿里巴巴普惠体" panose="00020600040101010101" pitchFamily="18" charset="-122"/>
              </a:rPr>
              <a:t>在线视频</a:t>
            </a:r>
          </a:p>
        </p:txBody>
      </p:sp>
      <p:pic>
        <p:nvPicPr>
          <p:cNvPr id="20" name="图片 19">
            <a:extLst>
              <a:ext uri="{FF2B5EF4-FFF2-40B4-BE49-F238E27FC236}">
                <a16:creationId xmlns:a16="http://schemas.microsoft.com/office/drawing/2014/main" id="{2E5E7AB1-283D-2EDB-972D-FFFD64C9DF1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69" b="99493" l="1018" r="96565">
                        <a14:foregroundMark x1="50763" y1="17905" x2="69720" y2="44257"/>
                        <a14:foregroundMark x1="28753" y1="71453" x2="40204" y2="78885"/>
                        <a14:foregroundMark x1="40204" y1="78885" x2="18830" y2="87500"/>
                        <a14:foregroundMark x1="18830" y1="87500" x2="54835" y2="75845"/>
                        <a14:foregroundMark x1="60687" y1="22297" x2="62977" y2="66554"/>
                        <a14:foregroundMark x1="62977" y1="66554" x2="53435" y2="84797"/>
                        <a14:foregroundMark x1="53435" y1="84797" x2="82570" y2="82264"/>
                        <a14:foregroundMark x1="82570" y1="82264" x2="87532" y2="96284"/>
                        <a14:foregroundMark x1="12341" y1="12162" x2="39186" y2="5574"/>
                        <a14:foregroundMark x1="39186" y1="5574" x2="69338" y2="6419"/>
                        <a14:foregroundMark x1="69338" y1="6419" x2="35623" y2="4899"/>
                        <a14:foregroundMark x1="35623" y1="4899" x2="51272" y2="169"/>
                        <a14:foregroundMark x1="51272" y1="169" x2="60941" y2="507"/>
                        <a14:foregroundMark x1="67176" y1="3716" x2="80916" y2="2703"/>
                        <a14:foregroundMark x1="81170" y1="4392" x2="88550" y2="18919"/>
                        <a14:foregroundMark x1="88550" y1="18919" x2="88041" y2="29561"/>
                        <a14:foregroundMark x1="81425" y1="59797" x2="69975" y2="74831"/>
                        <a14:foregroundMark x1="69975" y1="74831" x2="28880" y2="68750"/>
                        <a14:foregroundMark x1="28880" y1="68750" x2="47710" y2="67061"/>
                        <a14:foregroundMark x1="47710" y1="67061" x2="20229" y2="78041"/>
                        <a14:foregroundMark x1="20229" y1="78041" x2="30153" y2="71791"/>
                        <a14:foregroundMark x1="69338" y1="64527" x2="85115" y2="92399"/>
                        <a14:foregroundMark x1="85115" y1="92399" x2="80153" y2="92736"/>
                        <a14:foregroundMark x1="12595" y1="69257" x2="8779" y2="92061"/>
                        <a14:foregroundMark x1="8779" y1="92061" x2="50382" y2="95270"/>
                        <a14:foregroundMark x1="50382" y1="95270" x2="78372" y2="93750"/>
                        <a14:foregroundMark x1="78372" y1="93750" x2="79898" y2="71115"/>
                        <a14:foregroundMark x1="16921" y1="67905" x2="25445" y2="75845"/>
                        <a14:foregroundMark x1="5471" y1="90034" x2="6870" y2="92568"/>
                        <a14:foregroundMark x1="46565" y1="99493" x2="59288" y2="98142"/>
                        <a14:foregroundMark x1="59288" y1="98142" x2="58397" y2="98818"/>
                        <a14:foregroundMark x1="35369" y1="86149" x2="61323" y2="85135"/>
                        <a14:foregroundMark x1="61323" y1="85135" x2="73028" y2="85642"/>
                        <a14:foregroundMark x1="23791" y1="89020" x2="62214" y2="91216"/>
                        <a14:foregroundMark x1="62214" y1="91216" x2="60941" y2="91554"/>
                        <a14:foregroundMark x1="34224" y1="90541" x2="64249" y2="89358"/>
                        <a14:foregroundMark x1="27099" y1="79223" x2="50636" y2="79054"/>
                        <a14:foregroundMark x1="50636" y1="79054" x2="64758" y2="79223"/>
                        <a14:foregroundMark x1="21628" y1="78716" x2="67812" y2="76689"/>
                        <a14:foregroundMark x1="39822" y1="73311" x2="76590" y2="74493"/>
                        <a14:foregroundMark x1="32061" y1="78716" x2="67176" y2="79899"/>
                        <a14:foregroundMark x1="29644" y1="81081" x2="62595" y2="79899"/>
                        <a14:foregroundMark x1="27481" y1="76689" x2="57634" y2="73311"/>
                        <a14:foregroundMark x1="34606" y1="73311" x2="63359" y2="74831"/>
                        <a14:foregroundMark x1="36768" y1="79561" x2="60687" y2="81081"/>
                        <a14:foregroundMark x1="48601" y1="81419" x2="48601" y2="81419"/>
                        <a14:foregroundMark x1="46947" y1="84291" x2="46947" y2="84291"/>
                        <a14:foregroundMark x1="67176" y1="72635" x2="67176" y2="72635"/>
                        <a14:foregroundMark x1="82570" y1="75845" x2="82570" y2="77365"/>
                        <a14:foregroundMark x1="85878" y1="72973" x2="85878" y2="93750"/>
                        <a14:foregroundMark x1="85878" y1="93750" x2="86768" y2="94932"/>
                        <a14:foregroundMark x1="87023" y1="77027" x2="88550" y2="97466"/>
                        <a14:foregroundMark x1="87277" y1="84291" x2="89440" y2="97297"/>
                        <a14:foregroundMark x1="93511" y1="83953" x2="93766" y2="99493"/>
                        <a14:foregroundMark x1="94148" y1="94932" x2="96565" y2="99662"/>
                        <a14:foregroundMark x1="8779" y1="97804" x2="1018" y2="98818"/>
                        <a14:foregroundMark x1="12087" y1="69764" x2="18830" y2="69426"/>
                      </a14:backgroundRemoval>
                    </a14:imgEffect>
                  </a14:imgLayer>
                </a14:imgProps>
              </a:ext>
            </a:extLst>
          </a:blip>
          <a:stretch>
            <a:fillRect/>
          </a:stretch>
        </p:blipFill>
        <p:spPr>
          <a:xfrm>
            <a:off x="7052468" y="4763193"/>
            <a:ext cx="1904569" cy="1434485"/>
          </a:xfrm>
          <a:prstGeom prst="rect">
            <a:avLst/>
          </a:prstGeom>
          <a:ln>
            <a:noFill/>
          </a:ln>
          <a:effectLst>
            <a:outerShdw blurRad="190500" algn="tl" rotWithShape="0">
              <a:srgbClr val="000000">
                <a:alpha val="70000"/>
              </a:srgbClr>
            </a:outerShdw>
          </a:effectLst>
        </p:spPr>
      </p:pic>
      <p:pic>
        <p:nvPicPr>
          <p:cNvPr id="21" name="图片 20">
            <a:extLst>
              <a:ext uri="{FF2B5EF4-FFF2-40B4-BE49-F238E27FC236}">
                <a16:creationId xmlns:a16="http://schemas.microsoft.com/office/drawing/2014/main" id="{D7479B44-6DF2-B8B9-C9DB-F4BAEE5B3384}"/>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69" b="99493" l="1018" r="96565">
                        <a14:foregroundMark x1="50763" y1="17905" x2="69720" y2="44257"/>
                        <a14:foregroundMark x1="28753" y1="71453" x2="40204" y2="78885"/>
                        <a14:foregroundMark x1="40204" y1="78885" x2="18830" y2="87500"/>
                        <a14:foregroundMark x1="18830" y1="87500" x2="54835" y2="75845"/>
                        <a14:foregroundMark x1="60687" y1="22297" x2="62977" y2="66554"/>
                        <a14:foregroundMark x1="62977" y1="66554" x2="53435" y2="84797"/>
                        <a14:foregroundMark x1="53435" y1="84797" x2="82570" y2="82264"/>
                        <a14:foregroundMark x1="82570" y1="82264" x2="87532" y2="96284"/>
                        <a14:foregroundMark x1="12341" y1="12162" x2="39186" y2="5574"/>
                        <a14:foregroundMark x1="39186" y1="5574" x2="69338" y2="6419"/>
                        <a14:foregroundMark x1="69338" y1="6419" x2="35623" y2="4899"/>
                        <a14:foregroundMark x1="35623" y1="4899" x2="51272" y2="169"/>
                        <a14:foregroundMark x1="51272" y1="169" x2="60941" y2="507"/>
                        <a14:foregroundMark x1="67176" y1="3716" x2="80916" y2="2703"/>
                        <a14:foregroundMark x1="81170" y1="4392" x2="88550" y2="18919"/>
                        <a14:foregroundMark x1="88550" y1="18919" x2="88041" y2="29561"/>
                        <a14:foregroundMark x1="81425" y1="59797" x2="69975" y2="74831"/>
                        <a14:foregroundMark x1="69975" y1="74831" x2="28880" y2="68750"/>
                        <a14:foregroundMark x1="28880" y1="68750" x2="47710" y2="67061"/>
                        <a14:foregroundMark x1="47710" y1="67061" x2="20229" y2="78041"/>
                        <a14:foregroundMark x1="20229" y1="78041" x2="30153" y2="71791"/>
                        <a14:foregroundMark x1="69338" y1="64527" x2="85115" y2="92399"/>
                        <a14:foregroundMark x1="85115" y1="92399" x2="80153" y2="92736"/>
                        <a14:foregroundMark x1="12595" y1="69257" x2="8779" y2="92061"/>
                        <a14:foregroundMark x1="8779" y1="92061" x2="50382" y2="95270"/>
                        <a14:foregroundMark x1="50382" y1="95270" x2="78372" y2="93750"/>
                        <a14:foregroundMark x1="78372" y1="93750" x2="79898" y2="71115"/>
                        <a14:foregroundMark x1="16921" y1="67905" x2="25445" y2="75845"/>
                        <a14:foregroundMark x1="5471" y1="90034" x2="6870" y2="92568"/>
                        <a14:foregroundMark x1="46565" y1="99493" x2="59288" y2="98142"/>
                        <a14:foregroundMark x1="59288" y1="98142" x2="58397" y2="98818"/>
                        <a14:foregroundMark x1="35369" y1="86149" x2="61323" y2="85135"/>
                        <a14:foregroundMark x1="61323" y1="85135" x2="73028" y2="85642"/>
                        <a14:foregroundMark x1="23791" y1="89020" x2="62214" y2="91216"/>
                        <a14:foregroundMark x1="62214" y1="91216" x2="60941" y2="91554"/>
                        <a14:foregroundMark x1="34224" y1="90541" x2="64249" y2="89358"/>
                        <a14:foregroundMark x1="27099" y1="79223" x2="50636" y2="79054"/>
                        <a14:foregroundMark x1="50636" y1="79054" x2="64758" y2="79223"/>
                        <a14:foregroundMark x1="21628" y1="78716" x2="67812" y2="76689"/>
                        <a14:foregroundMark x1="39822" y1="73311" x2="76590" y2="74493"/>
                        <a14:foregroundMark x1="32061" y1="78716" x2="67176" y2="79899"/>
                        <a14:foregroundMark x1="29644" y1="81081" x2="62595" y2="79899"/>
                        <a14:foregroundMark x1="27481" y1="76689" x2="57634" y2="73311"/>
                        <a14:foregroundMark x1="34606" y1="73311" x2="63359" y2="74831"/>
                        <a14:foregroundMark x1="36768" y1="79561" x2="60687" y2="81081"/>
                        <a14:foregroundMark x1="48601" y1="81419" x2="48601" y2="81419"/>
                        <a14:foregroundMark x1="46947" y1="84291" x2="46947" y2="84291"/>
                        <a14:foregroundMark x1="67176" y1="72635" x2="67176" y2="72635"/>
                        <a14:foregroundMark x1="82570" y1="75845" x2="82570" y2="77365"/>
                        <a14:foregroundMark x1="85878" y1="72973" x2="85878" y2="93750"/>
                        <a14:foregroundMark x1="85878" y1="93750" x2="86768" y2="94932"/>
                        <a14:foregroundMark x1="87023" y1="77027" x2="88550" y2="97466"/>
                        <a14:foregroundMark x1="87277" y1="84291" x2="89440" y2="97297"/>
                        <a14:foregroundMark x1="93511" y1="83953" x2="93766" y2="99493"/>
                        <a14:foregroundMark x1="94148" y1="94932" x2="96565" y2="99662"/>
                        <a14:foregroundMark x1="8779" y1="97804" x2="1018" y2="98818"/>
                        <a14:foregroundMark x1="12087" y1="69764" x2="18830" y2="69426"/>
                      </a14:backgroundRemoval>
                    </a14:imgEffect>
                  </a14:imgLayer>
                </a14:imgProps>
              </a:ext>
            </a:extLst>
          </a:blip>
          <a:stretch>
            <a:fillRect/>
          </a:stretch>
        </p:blipFill>
        <p:spPr>
          <a:xfrm>
            <a:off x="10317726" y="4763193"/>
            <a:ext cx="1904569" cy="1434485"/>
          </a:xfrm>
          <a:prstGeom prst="rect">
            <a:avLst/>
          </a:prstGeom>
          <a:ln>
            <a:noFill/>
          </a:ln>
          <a:effectLst>
            <a:outerShdw blurRad="190500" algn="tl" rotWithShape="0">
              <a:srgbClr val="000000">
                <a:alpha val="70000"/>
              </a:srgbClr>
            </a:outerShdw>
          </a:effectLst>
        </p:spPr>
      </p:pic>
      <p:sp>
        <p:nvSpPr>
          <p:cNvPr id="22" name="文本框 21">
            <a:extLst>
              <a:ext uri="{FF2B5EF4-FFF2-40B4-BE49-F238E27FC236}">
                <a16:creationId xmlns:a16="http://schemas.microsoft.com/office/drawing/2014/main" id="{49FC87A7-8B46-B85B-A2C6-8B513B42B60A}"/>
              </a:ext>
            </a:extLst>
          </p:cNvPr>
          <p:cNvSpPr txBox="1"/>
          <p:nvPr/>
        </p:nvSpPr>
        <p:spPr>
          <a:xfrm>
            <a:off x="8313044" y="2919802"/>
            <a:ext cx="2574131" cy="369332"/>
          </a:xfrm>
          <a:prstGeom prst="rect">
            <a:avLst/>
          </a:prstGeom>
          <a:noFill/>
        </p:spPr>
        <p:txBody>
          <a:bodyPr wrap="square">
            <a:spAutoFit/>
          </a:bodyPr>
          <a:lstStyle/>
          <a:p>
            <a:r>
              <a:rPr lang="zh-CN" altLang="en-US" dirty="0">
                <a:solidFill>
                  <a:srgbClr val="C00000"/>
                </a:solidFill>
                <a:latin typeface="Consolas" panose="020B0609020204030204" pitchFamily="49" charset="0"/>
                <a:ea typeface="字小魂萌趣欢乐体" panose="00000500000000000000" pitchFamily="2" charset="-122"/>
              </a:rPr>
              <a:t>不管是否已经连接成功</a:t>
            </a:r>
          </a:p>
        </p:txBody>
      </p:sp>
      <p:pic>
        <p:nvPicPr>
          <p:cNvPr id="23" name="图片 22">
            <a:extLst>
              <a:ext uri="{FF2B5EF4-FFF2-40B4-BE49-F238E27FC236}">
                <a16:creationId xmlns:a16="http://schemas.microsoft.com/office/drawing/2014/main" id="{D8D3E87E-5EFF-9BC2-C6C5-5BA1EE321439}"/>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69" b="99493" l="1018" r="96565">
                        <a14:foregroundMark x1="50763" y1="17905" x2="69720" y2="44257"/>
                        <a14:foregroundMark x1="28753" y1="71453" x2="40204" y2="78885"/>
                        <a14:foregroundMark x1="40204" y1="78885" x2="18830" y2="87500"/>
                        <a14:foregroundMark x1="18830" y1="87500" x2="54835" y2="75845"/>
                        <a14:foregroundMark x1="60687" y1="22297" x2="62977" y2="66554"/>
                        <a14:foregroundMark x1="62977" y1="66554" x2="53435" y2="84797"/>
                        <a14:foregroundMark x1="53435" y1="84797" x2="82570" y2="82264"/>
                        <a14:foregroundMark x1="82570" y1="82264" x2="87532" y2="96284"/>
                        <a14:foregroundMark x1="12341" y1="12162" x2="39186" y2="5574"/>
                        <a14:foregroundMark x1="39186" y1="5574" x2="69338" y2="6419"/>
                        <a14:foregroundMark x1="69338" y1="6419" x2="35623" y2="4899"/>
                        <a14:foregroundMark x1="35623" y1="4899" x2="51272" y2="169"/>
                        <a14:foregroundMark x1="51272" y1="169" x2="60941" y2="507"/>
                        <a14:foregroundMark x1="67176" y1="3716" x2="80916" y2="2703"/>
                        <a14:foregroundMark x1="81170" y1="4392" x2="88550" y2="18919"/>
                        <a14:foregroundMark x1="88550" y1="18919" x2="88041" y2="29561"/>
                        <a14:foregroundMark x1="81425" y1="59797" x2="69975" y2="74831"/>
                        <a14:foregroundMark x1="69975" y1="74831" x2="28880" y2="68750"/>
                        <a14:foregroundMark x1="28880" y1="68750" x2="47710" y2="67061"/>
                        <a14:foregroundMark x1="47710" y1="67061" x2="20229" y2="78041"/>
                        <a14:foregroundMark x1="20229" y1="78041" x2="30153" y2="71791"/>
                        <a14:foregroundMark x1="69338" y1="64527" x2="85115" y2="92399"/>
                        <a14:foregroundMark x1="85115" y1="92399" x2="80153" y2="92736"/>
                        <a14:foregroundMark x1="12595" y1="69257" x2="8779" y2="92061"/>
                        <a14:foregroundMark x1="8779" y1="92061" x2="50382" y2="95270"/>
                        <a14:foregroundMark x1="50382" y1="95270" x2="78372" y2="93750"/>
                        <a14:foregroundMark x1="78372" y1="93750" x2="79898" y2="71115"/>
                        <a14:foregroundMark x1="16921" y1="67905" x2="25445" y2="75845"/>
                        <a14:foregroundMark x1="5471" y1="90034" x2="6870" y2="92568"/>
                        <a14:foregroundMark x1="46565" y1="99493" x2="59288" y2="98142"/>
                        <a14:foregroundMark x1="59288" y1="98142" x2="58397" y2="98818"/>
                        <a14:foregroundMark x1="35369" y1="86149" x2="61323" y2="85135"/>
                        <a14:foregroundMark x1="61323" y1="85135" x2="73028" y2="85642"/>
                        <a14:foregroundMark x1="23791" y1="89020" x2="62214" y2="91216"/>
                        <a14:foregroundMark x1="62214" y1="91216" x2="60941" y2="91554"/>
                        <a14:foregroundMark x1="34224" y1="90541" x2="64249" y2="89358"/>
                        <a14:foregroundMark x1="27099" y1="79223" x2="50636" y2="79054"/>
                        <a14:foregroundMark x1="50636" y1="79054" x2="64758" y2="79223"/>
                        <a14:foregroundMark x1="21628" y1="78716" x2="67812" y2="76689"/>
                        <a14:foregroundMark x1="39822" y1="73311" x2="76590" y2="74493"/>
                        <a14:foregroundMark x1="32061" y1="78716" x2="67176" y2="79899"/>
                        <a14:foregroundMark x1="29644" y1="81081" x2="62595" y2="79899"/>
                        <a14:foregroundMark x1="27481" y1="76689" x2="57634" y2="73311"/>
                        <a14:foregroundMark x1="34606" y1="73311" x2="63359" y2="74831"/>
                        <a14:foregroundMark x1="36768" y1="79561" x2="60687" y2="81081"/>
                        <a14:foregroundMark x1="48601" y1="81419" x2="48601" y2="81419"/>
                        <a14:foregroundMark x1="46947" y1="84291" x2="46947" y2="84291"/>
                        <a14:foregroundMark x1="67176" y1="72635" x2="67176" y2="72635"/>
                        <a14:foregroundMark x1="82570" y1="75845" x2="82570" y2="77365"/>
                        <a14:foregroundMark x1="85878" y1="72973" x2="85878" y2="93750"/>
                        <a14:foregroundMark x1="85878" y1="93750" x2="86768" y2="94932"/>
                        <a14:foregroundMark x1="87023" y1="77027" x2="88550" y2="97466"/>
                        <a14:foregroundMark x1="87277" y1="84291" x2="89440" y2="97297"/>
                        <a14:foregroundMark x1="93511" y1="83953" x2="93766" y2="99493"/>
                        <a14:foregroundMark x1="94148" y1="94932" x2="96565" y2="99662"/>
                        <a14:foregroundMark x1="8779" y1="97804" x2="1018" y2="98818"/>
                        <a14:foregroundMark x1="12087" y1="69764" x2="18830" y2="69426"/>
                      </a14:backgroundRemoval>
                    </a14:imgEffect>
                  </a14:imgLayer>
                </a14:imgProps>
              </a:ext>
            </a:extLst>
          </a:blip>
          <a:stretch>
            <a:fillRect/>
          </a:stretch>
        </p:blipFill>
        <p:spPr>
          <a:xfrm>
            <a:off x="7028430" y="1151058"/>
            <a:ext cx="1904569" cy="1434485"/>
          </a:xfrm>
          <a:prstGeom prst="rect">
            <a:avLst/>
          </a:prstGeom>
          <a:ln>
            <a:noFill/>
          </a:ln>
          <a:effectLst>
            <a:outerShdw blurRad="190500" algn="tl" rotWithShape="0">
              <a:srgbClr val="000000">
                <a:alpha val="70000"/>
              </a:srgbClr>
            </a:outerShdw>
          </a:effectLst>
        </p:spPr>
      </p:pic>
      <p:pic>
        <p:nvPicPr>
          <p:cNvPr id="25" name="图片 24">
            <a:extLst>
              <a:ext uri="{FF2B5EF4-FFF2-40B4-BE49-F238E27FC236}">
                <a16:creationId xmlns:a16="http://schemas.microsoft.com/office/drawing/2014/main" id="{68CBEDDC-E139-D545-7321-5C4AB4ACEBC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69" b="99493" l="1018" r="96565">
                        <a14:foregroundMark x1="50763" y1="17905" x2="69720" y2="44257"/>
                        <a14:foregroundMark x1="28753" y1="71453" x2="40204" y2="78885"/>
                        <a14:foregroundMark x1="40204" y1="78885" x2="18830" y2="87500"/>
                        <a14:foregroundMark x1="18830" y1="87500" x2="54835" y2="75845"/>
                        <a14:foregroundMark x1="60687" y1="22297" x2="62977" y2="66554"/>
                        <a14:foregroundMark x1="62977" y1="66554" x2="53435" y2="84797"/>
                        <a14:foregroundMark x1="53435" y1="84797" x2="82570" y2="82264"/>
                        <a14:foregroundMark x1="82570" y1="82264" x2="87532" y2="96284"/>
                        <a14:foregroundMark x1="12341" y1="12162" x2="39186" y2="5574"/>
                        <a14:foregroundMark x1="39186" y1="5574" x2="69338" y2="6419"/>
                        <a14:foregroundMark x1="69338" y1="6419" x2="35623" y2="4899"/>
                        <a14:foregroundMark x1="35623" y1="4899" x2="51272" y2="169"/>
                        <a14:foregroundMark x1="51272" y1="169" x2="60941" y2="507"/>
                        <a14:foregroundMark x1="67176" y1="3716" x2="80916" y2="2703"/>
                        <a14:foregroundMark x1="81170" y1="4392" x2="88550" y2="18919"/>
                        <a14:foregroundMark x1="88550" y1="18919" x2="88041" y2="29561"/>
                        <a14:foregroundMark x1="81425" y1="59797" x2="69975" y2="74831"/>
                        <a14:foregroundMark x1="69975" y1="74831" x2="28880" y2="68750"/>
                        <a14:foregroundMark x1="28880" y1="68750" x2="47710" y2="67061"/>
                        <a14:foregroundMark x1="47710" y1="67061" x2="20229" y2="78041"/>
                        <a14:foregroundMark x1="20229" y1="78041" x2="30153" y2="71791"/>
                        <a14:foregroundMark x1="69338" y1="64527" x2="85115" y2="92399"/>
                        <a14:foregroundMark x1="85115" y1="92399" x2="80153" y2="92736"/>
                        <a14:foregroundMark x1="12595" y1="69257" x2="8779" y2="92061"/>
                        <a14:foregroundMark x1="8779" y1="92061" x2="50382" y2="95270"/>
                        <a14:foregroundMark x1="50382" y1="95270" x2="78372" y2="93750"/>
                        <a14:foregroundMark x1="78372" y1="93750" x2="79898" y2="71115"/>
                        <a14:foregroundMark x1="16921" y1="67905" x2="25445" y2="75845"/>
                        <a14:foregroundMark x1="5471" y1="90034" x2="6870" y2="92568"/>
                        <a14:foregroundMark x1="46565" y1="99493" x2="59288" y2="98142"/>
                        <a14:foregroundMark x1="59288" y1="98142" x2="58397" y2="98818"/>
                        <a14:foregroundMark x1="35369" y1="86149" x2="61323" y2="85135"/>
                        <a14:foregroundMark x1="61323" y1="85135" x2="73028" y2="85642"/>
                        <a14:foregroundMark x1="23791" y1="89020" x2="62214" y2="91216"/>
                        <a14:foregroundMark x1="62214" y1="91216" x2="60941" y2="91554"/>
                        <a14:foregroundMark x1="34224" y1="90541" x2="64249" y2="89358"/>
                        <a14:foregroundMark x1="27099" y1="79223" x2="50636" y2="79054"/>
                        <a14:foregroundMark x1="50636" y1="79054" x2="64758" y2="79223"/>
                        <a14:foregroundMark x1="21628" y1="78716" x2="67812" y2="76689"/>
                        <a14:foregroundMark x1="39822" y1="73311" x2="76590" y2="74493"/>
                        <a14:foregroundMark x1="32061" y1="78716" x2="67176" y2="79899"/>
                        <a14:foregroundMark x1="29644" y1="81081" x2="62595" y2="79899"/>
                        <a14:foregroundMark x1="27481" y1="76689" x2="57634" y2="73311"/>
                        <a14:foregroundMark x1="34606" y1="73311" x2="63359" y2="74831"/>
                        <a14:foregroundMark x1="36768" y1="79561" x2="60687" y2="81081"/>
                        <a14:foregroundMark x1="48601" y1="81419" x2="48601" y2="81419"/>
                        <a14:foregroundMark x1="46947" y1="84291" x2="46947" y2="84291"/>
                        <a14:foregroundMark x1="67176" y1="72635" x2="67176" y2="72635"/>
                        <a14:foregroundMark x1="82570" y1="75845" x2="82570" y2="77365"/>
                        <a14:foregroundMark x1="85878" y1="72973" x2="85878" y2="93750"/>
                        <a14:foregroundMark x1="85878" y1="93750" x2="86768" y2="94932"/>
                        <a14:foregroundMark x1="87023" y1="77027" x2="88550" y2="97466"/>
                        <a14:foregroundMark x1="87277" y1="84291" x2="89440" y2="97297"/>
                        <a14:foregroundMark x1="93511" y1="83953" x2="93766" y2="99493"/>
                        <a14:foregroundMark x1="94148" y1="94932" x2="96565" y2="99662"/>
                        <a14:foregroundMark x1="8779" y1="97804" x2="1018" y2="98818"/>
                        <a14:foregroundMark x1="12087" y1="69764" x2="18830" y2="69426"/>
                      </a14:backgroundRemoval>
                    </a14:imgEffect>
                  </a14:imgLayer>
                </a14:imgProps>
              </a:ext>
            </a:extLst>
          </a:blip>
          <a:stretch>
            <a:fillRect/>
          </a:stretch>
        </p:blipFill>
        <p:spPr>
          <a:xfrm>
            <a:off x="10070375" y="1151057"/>
            <a:ext cx="1904569" cy="1434485"/>
          </a:xfrm>
          <a:prstGeom prst="rect">
            <a:avLst/>
          </a:prstGeom>
          <a:ln>
            <a:noFill/>
          </a:ln>
          <a:effectLst>
            <a:outerShdw blurRad="190500" algn="tl" rotWithShape="0">
              <a:srgbClr val="000000">
                <a:alpha val="70000"/>
              </a:srgbClr>
            </a:outerShdw>
          </a:effectLst>
        </p:spPr>
      </p:pic>
      <p:sp>
        <p:nvSpPr>
          <p:cNvPr id="5" name="标题 4">
            <a:extLst>
              <a:ext uri="{FF2B5EF4-FFF2-40B4-BE49-F238E27FC236}">
                <a16:creationId xmlns:a16="http://schemas.microsoft.com/office/drawing/2014/main" id="{4AEAB10D-8C9B-8DCB-C20F-397852877F3C}"/>
              </a:ext>
            </a:extLst>
          </p:cNvPr>
          <p:cNvSpPr>
            <a:spLocks noGrp="1"/>
          </p:cNvSpPr>
          <p:nvPr>
            <p:ph type="title"/>
          </p:nvPr>
        </p:nvSpPr>
        <p:spPr/>
        <p:txBody>
          <a:bodyPr/>
          <a:lstStyle/>
          <a:p>
            <a:r>
              <a:rPr lang="zh-CN" altLang="en-US" dirty="0"/>
              <a:t>协议</a:t>
            </a:r>
          </a:p>
        </p:txBody>
      </p:sp>
      <p:sp>
        <p:nvSpPr>
          <p:cNvPr id="6" name="矩形 5">
            <a:extLst>
              <a:ext uri="{FF2B5EF4-FFF2-40B4-BE49-F238E27FC236}">
                <a16:creationId xmlns:a16="http://schemas.microsoft.com/office/drawing/2014/main" id="{C013F0E3-235E-D3C5-E2E3-2CA4800E20B8}"/>
              </a:ext>
            </a:extLst>
          </p:cNvPr>
          <p:cNvSpPr/>
          <p:nvPr/>
        </p:nvSpPr>
        <p:spPr>
          <a:xfrm>
            <a:off x="576626" y="4235032"/>
            <a:ext cx="5981145" cy="1159933"/>
          </a:xfrm>
          <a:prstGeom prst="rect">
            <a:avLst/>
          </a:prstGeom>
        </p:spPr>
        <p:txBody>
          <a:bodyPr wrap="square">
            <a:spAutoFit/>
          </a:bodyPr>
          <a:lstStyle/>
          <a:p>
            <a:pPr marL="357708" indent="-357708">
              <a:lnSpc>
                <a:spcPct val="150000"/>
              </a:lnSpc>
              <a:buFont typeface="Wingdings" pitchFamily="2" charset="2"/>
              <a:buChar char="l"/>
              <a:defRPr/>
            </a:pP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传输控制协议</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TCP(Transmission Control Protocol) </a:t>
            </a:r>
          </a:p>
          <a:p>
            <a:pPr marL="357708" indent="-357708">
              <a:lnSpc>
                <a:spcPct val="150000"/>
              </a:lnSpc>
              <a:buFont typeface="Wingdings" pitchFamily="2" charset="2"/>
              <a:buChar char="l"/>
              <a:defRPr/>
            </a:pP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TCP</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协议是</a:t>
            </a:r>
            <a:r>
              <a:rPr lang="zh-CN" altLang="en-US" sz="16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面向连接</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的通信协议。</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a:p>
            <a:pPr>
              <a:lnSpc>
                <a:spcPct val="150000"/>
              </a:lnSpc>
              <a:defRPr/>
            </a:pP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      速度慢，没有大小限制，数据安全。</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9" name="!!!三要素">
            <a:extLst>
              <a:ext uri="{FF2B5EF4-FFF2-40B4-BE49-F238E27FC236}">
                <a16:creationId xmlns:a16="http://schemas.microsoft.com/office/drawing/2014/main" id="{122C9804-95C7-8065-3353-1CDC35A92C41}"/>
              </a:ext>
            </a:extLst>
          </p:cNvPr>
          <p:cNvSpPr txBox="1">
            <a:spLocks/>
          </p:cNvSpPr>
          <p:nvPr/>
        </p:nvSpPr>
        <p:spPr>
          <a:xfrm>
            <a:off x="582355" y="3722433"/>
            <a:ext cx="1028902"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sz="1600" dirty="0">
                <a:latin typeface="Consolas" panose="020B0609020204030204" pitchFamily="49" charset="0"/>
              </a:rPr>
              <a:t>TCP</a:t>
            </a:r>
            <a:r>
              <a:rPr lang="zh-CN" altLang="en-US" sz="1600" dirty="0">
                <a:latin typeface="Consolas" panose="020B0609020204030204" pitchFamily="49" charset="0"/>
              </a:rPr>
              <a:t>协议</a:t>
            </a:r>
          </a:p>
        </p:txBody>
      </p:sp>
      <p:sp>
        <p:nvSpPr>
          <p:cNvPr id="11" name="矩形 10">
            <a:extLst>
              <a:ext uri="{FF2B5EF4-FFF2-40B4-BE49-F238E27FC236}">
                <a16:creationId xmlns:a16="http://schemas.microsoft.com/office/drawing/2014/main" id="{664E1503-E4C4-63CF-6FD2-26489EA4AC33}"/>
              </a:ext>
            </a:extLst>
          </p:cNvPr>
          <p:cNvSpPr/>
          <p:nvPr/>
        </p:nvSpPr>
        <p:spPr>
          <a:xfrm>
            <a:off x="576627" y="2189137"/>
            <a:ext cx="7028710" cy="1159933"/>
          </a:xfrm>
          <a:prstGeom prst="rect">
            <a:avLst/>
          </a:prstGeom>
        </p:spPr>
        <p:txBody>
          <a:bodyPr wrap="square">
            <a:spAutoFit/>
          </a:bodyPr>
          <a:lstStyle/>
          <a:p>
            <a:pPr marL="285750" indent="-285750">
              <a:lnSpc>
                <a:spcPct val="150000"/>
              </a:lnSpc>
              <a:buFont typeface="Wingdings" panose="05000000000000000000" pitchFamily="2" charset="2"/>
              <a:buChar char="l"/>
              <a:defRPr/>
            </a:pP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用户数据报协议</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(User Datagram Protocol)</a:t>
            </a:r>
          </a:p>
          <a:p>
            <a:pPr marL="357708" indent="-357708">
              <a:lnSpc>
                <a:spcPct val="150000"/>
              </a:lnSpc>
              <a:buFont typeface="Wingdings" pitchFamily="2" charset="2"/>
              <a:buChar char="l"/>
              <a:defRPr/>
            </a:pP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UDP</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是</a:t>
            </a:r>
            <a:r>
              <a:rPr lang="zh-CN" altLang="en-US" sz="16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面向无连接</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通信协议。</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a:p>
            <a:pPr>
              <a:lnSpc>
                <a:spcPct val="150000"/>
              </a:lnSpc>
              <a:defRPr/>
            </a:pP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速度快，有大小限制一次最多发送</a:t>
            </a:r>
            <a:r>
              <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rPr>
              <a:t>64K</a:t>
            </a: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，数据不安全，易丢失数据</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2" name="TextBox 4">
            <a:extLst>
              <a:ext uri="{FF2B5EF4-FFF2-40B4-BE49-F238E27FC236}">
                <a16:creationId xmlns:a16="http://schemas.microsoft.com/office/drawing/2014/main" id="{BA5BFCD9-DCCA-F983-B5B1-D8F841E0DC08}"/>
              </a:ext>
            </a:extLst>
          </p:cNvPr>
          <p:cNvSpPr txBox="1"/>
          <p:nvPr/>
        </p:nvSpPr>
        <p:spPr>
          <a:xfrm>
            <a:off x="576626" y="1130073"/>
            <a:ext cx="8832849" cy="427105"/>
          </a:xfrm>
          <a:prstGeom prst="rect">
            <a:avLst/>
          </a:prstGeom>
          <a:noFill/>
        </p:spPr>
        <p:txBody>
          <a:bodyPr>
            <a:spAutoFit/>
          </a:bodyPr>
          <a:lstStyle/>
          <a:p>
            <a:pPr>
              <a:lnSpc>
                <a:spcPct val="150000"/>
              </a:lnSpc>
              <a:defRPr/>
            </a:pPr>
            <a:r>
              <a:rPr lang="zh-CN" altLang="en-US" sz="1600" dirty="0">
                <a:latin typeface="Consolas" panose="020B0609020204030204" pitchFamily="49" charset="0"/>
                <a:ea typeface="阿里巴巴普惠体" panose="00020600040101010101" pitchFamily="18" charset="-122"/>
                <a:cs typeface="阿里巴巴普惠体" panose="00020600040101010101" pitchFamily="18" charset="-122"/>
              </a:rPr>
              <a:t>计算机网络中，连接和通信的规则被称为网络通信协议</a:t>
            </a:r>
            <a:endParaRPr lang="en-US" altLang="zh-CN" sz="16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3" name="!!!三要素">
            <a:extLst>
              <a:ext uri="{FF2B5EF4-FFF2-40B4-BE49-F238E27FC236}">
                <a16:creationId xmlns:a16="http://schemas.microsoft.com/office/drawing/2014/main" id="{6C624EB4-773D-37FE-16F1-65A9EFB0D59C}"/>
              </a:ext>
            </a:extLst>
          </p:cNvPr>
          <p:cNvSpPr txBox="1">
            <a:spLocks/>
          </p:cNvSpPr>
          <p:nvPr/>
        </p:nvSpPr>
        <p:spPr>
          <a:xfrm>
            <a:off x="576626" y="1729883"/>
            <a:ext cx="1028902"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sz="1600" dirty="0">
                <a:latin typeface="Consolas" panose="020B0609020204030204" pitchFamily="49" charset="0"/>
              </a:rPr>
              <a:t>UDP</a:t>
            </a:r>
            <a:r>
              <a:rPr lang="zh-CN" altLang="en-US" sz="1600" dirty="0">
                <a:latin typeface="Consolas" panose="020B0609020204030204" pitchFamily="49" charset="0"/>
              </a:rPr>
              <a:t>协议</a:t>
            </a:r>
          </a:p>
        </p:txBody>
      </p:sp>
    </p:spTree>
    <p:extLst>
      <p:ext uri="{BB962C8B-B14F-4D97-AF65-F5344CB8AC3E}">
        <p14:creationId xmlns:p14="http://schemas.microsoft.com/office/powerpoint/2010/main" val="1822734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inVertical)">
                                      <p:cBhvr>
                                        <p:cTn id="7" dur="500"/>
                                        <p:tgtEl>
                                          <p:spTgt spid="1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barn(inVertical)">
                                      <p:cBhvr>
                                        <p:cTn id="10" dur="500"/>
                                        <p:tgtEl>
                                          <p:spTgt spid="24"/>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barn(inVertical)">
                                      <p:cBhvr>
                                        <p:cTn id="13" dur="500"/>
                                        <p:tgtEl>
                                          <p:spTgt spid="26"/>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xit" presetSubtype="4" fill="hold" grpId="1" nodeType="clickEffect">
                                  <p:stCondLst>
                                    <p:cond delay="0"/>
                                  </p:stCondLst>
                                  <p:childTnLst>
                                    <p:anim calcmode="lin" valueType="num">
                                      <p:cBhvr additive="base">
                                        <p:cTn id="17" dur="500"/>
                                        <p:tgtEl>
                                          <p:spTgt spid="24"/>
                                        </p:tgtEl>
                                        <p:attrNameLst>
                                          <p:attrName>ppt_y</p:attrName>
                                        </p:attrNameLst>
                                      </p:cBhvr>
                                      <p:tavLst>
                                        <p:tav tm="0">
                                          <p:val>
                                            <p:strVal val="#ppt_y"/>
                                          </p:val>
                                        </p:tav>
                                        <p:tav tm="100000">
                                          <p:val>
                                            <p:strVal val="#ppt_y+#ppt_h*1.125000"/>
                                          </p:val>
                                        </p:tav>
                                      </p:tavLst>
                                    </p:anim>
                                    <p:animEffect transition="out" filter="wipe(down)">
                                      <p:cBhvr>
                                        <p:cTn id="18" dur="500"/>
                                        <p:tgtEl>
                                          <p:spTgt spid="24"/>
                                        </p:tgtEl>
                                      </p:cBhvr>
                                    </p:animEffect>
                                    <p:set>
                                      <p:cBhvr>
                                        <p:cTn id="19" dur="1" fill="hold">
                                          <p:stCondLst>
                                            <p:cond delay="499"/>
                                          </p:stCondLst>
                                        </p:cTn>
                                        <p:tgtEl>
                                          <p:spTgt spid="24"/>
                                        </p:tgtEl>
                                        <p:attrNameLst>
                                          <p:attrName>style.visibility</p:attrName>
                                        </p:attrNameLst>
                                      </p:cBhvr>
                                      <p:to>
                                        <p:strVal val="hidden"/>
                                      </p:to>
                                    </p:set>
                                  </p:childTnLst>
                                </p:cTn>
                              </p:par>
                              <p:par>
                                <p:cTn id="20" presetID="12" presetClass="exit" presetSubtype="4" fill="hold" grpId="1" nodeType="withEffect">
                                  <p:stCondLst>
                                    <p:cond delay="0"/>
                                  </p:stCondLst>
                                  <p:childTnLst>
                                    <p:anim calcmode="lin" valueType="num">
                                      <p:cBhvr additive="base">
                                        <p:cTn id="21" dur="500"/>
                                        <p:tgtEl>
                                          <p:spTgt spid="26"/>
                                        </p:tgtEl>
                                        <p:attrNameLst>
                                          <p:attrName>ppt_y</p:attrName>
                                        </p:attrNameLst>
                                      </p:cBhvr>
                                      <p:tavLst>
                                        <p:tav tm="0">
                                          <p:val>
                                            <p:strVal val="#ppt_y"/>
                                          </p:val>
                                        </p:tav>
                                        <p:tav tm="100000">
                                          <p:val>
                                            <p:strVal val="#ppt_y+#ppt_h*1.125000"/>
                                          </p:val>
                                        </p:tav>
                                      </p:tavLst>
                                    </p:anim>
                                    <p:animEffect transition="out" filter="wipe(down)">
                                      <p:cBhvr>
                                        <p:cTn id="22" dur="500"/>
                                        <p:tgtEl>
                                          <p:spTgt spid="26"/>
                                        </p:tgtEl>
                                      </p:cBhvr>
                                    </p:animEffect>
                                    <p:set>
                                      <p:cBhvr>
                                        <p:cTn id="23" dur="1" fill="hold">
                                          <p:stCondLst>
                                            <p:cond delay="499"/>
                                          </p:stCondLst>
                                        </p:cTn>
                                        <p:tgtEl>
                                          <p:spTgt spid="26"/>
                                        </p:tgtEl>
                                        <p:attrNameLst>
                                          <p:attrName>style.visibility</p:attrName>
                                        </p:attrNameLst>
                                      </p:cBhvr>
                                      <p:to>
                                        <p:strVal val="hidden"/>
                                      </p:to>
                                    </p:set>
                                  </p:childTnLst>
                                </p:cTn>
                              </p:par>
                              <p:par>
                                <p:cTn id="24" presetID="12" presetClass="entr" presetSubtype="1"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 calcmode="lin" valueType="num">
                                      <p:cBhvr additive="base">
                                        <p:cTn id="26" dur="500"/>
                                        <p:tgtEl>
                                          <p:spTgt spid="35"/>
                                        </p:tgtEl>
                                        <p:attrNameLst>
                                          <p:attrName>ppt_y</p:attrName>
                                        </p:attrNameLst>
                                      </p:cBhvr>
                                      <p:tavLst>
                                        <p:tav tm="0">
                                          <p:val>
                                            <p:strVal val="#ppt_y-#ppt_h*1.125000"/>
                                          </p:val>
                                        </p:tav>
                                        <p:tav tm="100000">
                                          <p:val>
                                            <p:strVal val="#ppt_y"/>
                                          </p:val>
                                        </p:tav>
                                      </p:tavLst>
                                    </p:anim>
                                    <p:animEffect transition="in" filter="wipe(down)">
                                      <p:cBhvr>
                                        <p:cTn id="27" dur="5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xit" presetSubtype="4" fill="hold" grpId="1" nodeType="clickEffect">
                                  <p:stCondLst>
                                    <p:cond delay="0"/>
                                  </p:stCondLst>
                                  <p:childTnLst>
                                    <p:anim calcmode="lin" valueType="num">
                                      <p:cBhvr additive="base">
                                        <p:cTn id="31" dur="500"/>
                                        <p:tgtEl>
                                          <p:spTgt spid="35"/>
                                        </p:tgtEl>
                                        <p:attrNameLst>
                                          <p:attrName>ppt_y</p:attrName>
                                        </p:attrNameLst>
                                      </p:cBhvr>
                                      <p:tavLst>
                                        <p:tav tm="0">
                                          <p:val>
                                            <p:strVal val="#ppt_y"/>
                                          </p:val>
                                        </p:tav>
                                        <p:tav tm="100000">
                                          <p:val>
                                            <p:strVal val="#ppt_y+#ppt_h*1.125000"/>
                                          </p:val>
                                        </p:tav>
                                      </p:tavLst>
                                    </p:anim>
                                    <p:animEffect transition="out" filter="wipe(down)">
                                      <p:cBhvr>
                                        <p:cTn id="32" dur="500"/>
                                        <p:tgtEl>
                                          <p:spTgt spid="35"/>
                                        </p:tgtEl>
                                      </p:cBhvr>
                                    </p:animEffect>
                                    <p:set>
                                      <p:cBhvr>
                                        <p:cTn id="33" dur="1" fill="hold">
                                          <p:stCondLst>
                                            <p:cond delay="499"/>
                                          </p:stCondLst>
                                        </p:cTn>
                                        <p:tgtEl>
                                          <p:spTgt spid="35"/>
                                        </p:tgtEl>
                                        <p:attrNameLst>
                                          <p:attrName>style.visibility</p:attrName>
                                        </p:attrNameLst>
                                      </p:cBhvr>
                                      <p:to>
                                        <p:strVal val="hidden"/>
                                      </p:to>
                                    </p:set>
                                  </p:childTnLst>
                                </p:cTn>
                              </p:par>
                              <p:par>
                                <p:cTn id="34" presetID="12" presetClass="entr" presetSubtype="1"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anim calcmode="lin" valueType="num">
                                      <p:cBhvr additive="base">
                                        <p:cTn id="36" dur="500"/>
                                        <p:tgtEl>
                                          <p:spTgt spid="34"/>
                                        </p:tgtEl>
                                        <p:attrNameLst>
                                          <p:attrName>ppt_y</p:attrName>
                                        </p:attrNameLst>
                                      </p:cBhvr>
                                      <p:tavLst>
                                        <p:tav tm="0">
                                          <p:val>
                                            <p:strVal val="#ppt_y-#ppt_h*1.125000"/>
                                          </p:val>
                                        </p:tav>
                                        <p:tav tm="100000">
                                          <p:val>
                                            <p:strVal val="#ppt_y"/>
                                          </p:val>
                                        </p:tav>
                                      </p:tavLst>
                                    </p:anim>
                                    <p:animEffect transition="in" filter="wipe(down)">
                                      <p:cBhvr>
                                        <p:cTn id="37" dur="5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xit" presetSubtype="4" fill="hold" grpId="1" nodeType="clickEffect">
                                  <p:stCondLst>
                                    <p:cond delay="0"/>
                                  </p:stCondLst>
                                  <p:childTnLst>
                                    <p:anim calcmode="lin" valueType="num">
                                      <p:cBhvr additive="base">
                                        <p:cTn id="41" dur="500"/>
                                        <p:tgtEl>
                                          <p:spTgt spid="34"/>
                                        </p:tgtEl>
                                        <p:attrNameLst>
                                          <p:attrName>ppt_y</p:attrName>
                                        </p:attrNameLst>
                                      </p:cBhvr>
                                      <p:tavLst>
                                        <p:tav tm="0">
                                          <p:val>
                                            <p:strVal val="#ppt_y"/>
                                          </p:val>
                                        </p:tav>
                                        <p:tav tm="100000">
                                          <p:val>
                                            <p:strVal val="#ppt_y+#ppt_h*1.125000"/>
                                          </p:val>
                                        </p:tav>
                                      </p:tavLst>
                                    </p:anim>
                                    <p:animEffect transition="out" filter="wipe(down)">
                                      <p:cBhvr>
                                        <p:cTn id="42" dur="500"/>
                                        <p:tgtEl>
                                          <p:spTgt spid="34"/>
                                        </p:tgtEl>
                                      </p:cBhvr>
                                    </p:animEffect>
                                    <p:set>
                                      <p:cBhvr>
                                        <p:cTn id="43" dur="1" fill="hold">
                                          <p:stCondLst>
                                            <p:cond delay="499"/>
                                          </p:stCondLst>
                                        </p:cTn>
                                        <p:tgtEl>
                                          <p:spTgt spid="34"/>
                                        </p:tgtEl>
                                        <p:attrNameLst>
                                          <p:attrName>style.visibility</p:attrName>
                                        </p:attrNameLst>
                                      </p:cBhvr>
                                      <p:to>
                                        <p:strVal val="hidden"/>
                                      </p:to>
                                    </p:set>
                                  </p:childTnLst>
                                </p:cTn>
                              </p:par>
                              <p:par>
                                <p:cTn id="44" presetID="12" presetClass="entr" presetSubtype="1"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 calcmode="lin" valueType="num">
                                      <p:cBhvr additive="base">
                                        <p:cTn id="46" dur="500"/>
                                        <p:tgtEl>
                                          <p:spTgt spid="33"/>
                                        </p:tgtEl>
                                        <p:attrNameLst>
                                          <p:attrName>ppt_y</p:attrName>
                                        </p:attrNameLst>
                                      </p:cBhvr>
                                      <p:tavLst>
                                        <p:tav tm="0">
                                          <p:val>
                                            <p:strVal val="#ppt_y-#ppt_h*1.125000"/>
                                          </p:val>
                                        </p:tav>
                                        <p:tav tm="100000">
                                          <p:val>
                                            <p:strVal val="#ppt_y"/>
                                          </p:val>
                                        </p:tav>
                                      </p:tavLst>
                                    </p:anim>
                                    <p:animEffect transition="in" filter="wipe(down)">
                                      <p:cBhvr>
                                        <p:cTn id="47" dur="500"/>
                                        <p:tgtEl>
                                          <p:spTgt spid="33"/>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1"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p:tgtEl>
                                          <p:spTgt spid="17"/>
                                        </p:tgtEl>
                                        <p:attrNameLst>
                                          <p:attrName>ppt_y</p:attrName>
                                        </p:attrNameLst>
                                      </p:cBhvr>
                                      <p:tavLst>
                                        <p:tav tm="0">
                                          <p:val>
                                            <p:strVal val="#ppt_y-#ppt_h*1.125000"/>
                                          </p:val>
                                        </p:tav>
                                        <p:tav tm="100000">
                                          <p:val>
                                            <p:strVal val="#ppt_y"/>
                                          </p:val>
                                        </p:tav>
                                      </p:tavLst>
                                    </p:anim>
                                    <p:animEffect transition="in" filter="wipe(down)">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xit" presetSubtype="4" fill="hold" grpId="1" nodeType="clickEffect">
                                  <p:stCondLst>
                                    <p:cond delay="0"/>
                                  </p:stCondLst>
                                  <p:childTnLst>
                                    <p:anim calcmode="lin" valueType="num">
                                      <p:cBhvr additive="base">
                                        <p:cTn id="57" dur="500"/>
                                        <p:tgtEl>
                                          <p:spTgt spid="17"/>
                                        </p:tgtEl>
                                        <p:attrNameLst>
                                          <p:attrName>ppt_y</p:attrName>
                                        </p:attrNameLst>
                                      </p:cBhvr>
                                      <p:tavLst>
                                        <p:tav tm="0">
                                          <p:val>
                                            <p:strVal val="#ppt_y"/>
                                          </p:val>
                                        </p:tav>
                                        <p:tav tm="100000">
                                          <p:val>
                                            <p:strVal val="#ppt_y+#ppt_h*1.125000"/>
                                          </p:val>
                                        </p:tav>
                                      </p:tavLst>
                                    </p:anim>
                                    <p:animEffect transition="out" filter="wipe(down)">
                                      <p:cBhvr>
                                        <p:cTn id="58" dur="500"/>
                                        <p:tgtEl>
                                          <p:spTgt spid="17"/>
                                        </p:tgtEl>
                                      </p:cBhvr>
                                    </p:animEffect>
                                    <p:set>
                                      <p:cBhvr>
                                        <p:cTn id="59" dur="1" fill="hold">
                                          <p:stCondLst>
                                            <p:cond delay="499"/>
                                          </p:stCondLst>
                                        </p:cTn>
                                        <p:tgtEl>
                                          <p:spTgt spid="17"/>
                                        </p:tgtEl>
                                        <p:attrNameLst>
                                          <p:attrName>style.visibility</p:attrName>
                                        </p:attrNameLst>
                                      </p:cBhvr>
                                      <p:to>
                                        <p:strVal val="hidden"/>
                                      </p:to>
                                    </p:set>
                                  </p:childTnLst>
                                </p:cTn>
                              </p:par>
                              <p:par>
                                <p:cTn id="60" presetID="12" presetClass="entr" presetSubtype="1" fill="hold" grpId="0" nodeType="withEffect">
                                  <p:stCondLst>
                                    <p:cond delay="0"/>
                                  </p:stCondLst>
                                  <p:childTnLst>
                                    <p:set>
                                      <p:cBhvr>
                                        <p:cTn id="61" dur="1" fill="hold">
                                          <p:stCondLst>
                                            <p:cond delay="0"/>
                                          </p:stCondLst>
                                        </p:cTn>
                                        <p:tgtEl>
                                          <p:spTgt spid="18"/>
                                        </p:tgtEl>
                                        <p:attrNameLst>
                                          <p:attrName>style.visibility</p:attrName>
                                        </p:attrNameLst>
                                      </p:cBhvr>
                                      <p:to>
                                        <p:strVal val="visible"/>
                                      </p:to>
                                    </p:set>
                                    <p:anim calcmode="lin" valueType="num">
                                      <p:cBhvr additive="base">
                                        <p:cTn id="62" dur="500"/>
                                        <p:tgtEl>
                                          <p:spTgt spid="18"/>
                                        </p:tgtEl>
                                        <p:attrNameLst>
                                          <p:attrName>ppt_y</p:attrName>
                                        </p:attrNameLst>
                                      </p:cBhvr>
                                      <p:tavLst>
                                        <p:tav tm="0">
                                          <p:val>
                                            <p:strVal val="#ppt_y-#ppt_h*1.125000"/>
                                          </p:val>
                                        </p:tav>
                                        <p:tav tm="100000">
                                          <p:val>
                                            <p:strVal val="#ppt_y"/>
                                          </p:val>
                                        </p:tav>
                                      </p:tavLst>
                                    </p:anim>
                                    <p:animEffect transition="in" filter="wipe(down)">
                                      <p:cBhvr>
                                        <p:cTn id="63" dur="500"/>
                                        <p:tgtEl>
                                          <p:spTgt spid="18"/>
                                        </p:tgtEl>
                                      </p:cBhvr>
                                    </p:animEffect>
                                  </p:childTnLst>
                                </p:cTn>
                              </p:par>
                            </p:childTnLst>
                          </p:cTn>
                        </p:par>
                      </p:childTnLst>
                    </p:cTn>
                  </p:par>
                  <p:par>
                    <p:cTn id="64" fill="hold">
                      <p:stCondLst>
                        <p:cond delay="indefinite"/>
                      </p:stCondLst>
                      <p:childTnLst>
                        <p:par>
                          <p:cTn id="65" fill="hold">
                            <p:stCondLst>
                              <p:cond delay="0"/>
                            </p:stCondLst>
                            <p:childTnLst>
                              <p:par>
                                <p:cTn id="66" presetID="12" presetClass="exit" presetSubtype="4" fill="hold" grpId="1" nodeType="clickEffect">
                                  <p:stCondLst>
                                    <p:cond delay="0"/>
                                  </p:stCondLst>
                                  <p:childTnLst>
                                    <p:anim calcmode="lin" valueType="num">
                                      <p:cBhvr additive="base">
                                        <p:cTn id="67" dur="500"/>
                                        <p:tgtEl>
                                          <p:spTgt spid="18"/>
                                        </p:tgtEl>
                                        <p:attrNameLst>
                                          <p:attrName>ppt_y</p:attrName>
                                        </p:attrNameLst>
                                      </p:cBhvr>
                                      <p:tavLst>
                                        <p:tav tm="0">
                                          <p:val>
                                            <p:strVal val="#ppt_y"/>
                                          </p:val>
                                        </p:tav>
                                        <p:tav tm="100000">
                                          <p:val>
                                            <p:strVal val="#ppt_y+#ppt_h*1.125000"/>
                                          </p:val>
                                        </p:tav>
                                      </p:tavLst>
                                    </p:anim>
                                    <p:animEffect transition="out" filter="wipe(down)">
                                      <p:cBhvr>
                                        <p:cTn id="68" dur="500"/>
                                        <p:tgtEl>
                                          <p:spTgt spid="18"/>
                                        </p:tgtEl>
                                      </p:cBhvr>
                                    </p:animEffect>
                                    <p:set>
                                      <p:cBhvr>
                                        <p:cTn id="69" dur="1" fill="hold">
                                          <p:stCondLst>
                                            <p:cond delay="499"/>
                                          </p:stCondLst>
                                        </p:cTn>
                                        <p:tgtEl>
                                          <p:spTgt spid="18"/>
                                        </p:tgtEl>
                                        <p:attrNameLst>
                                          <p:attrName>style.visibility</p:attrName>
                                        </p:attrNameLst>
                                      </p:cBhvr>
                                      <p:to>
                                        <p:strVal val="hidden"/>
                                      </p:to>
                                    </p:set>
                                  </p:childTnLst>
                                </p:cTn>
                              </p:par>
                              <p:par>
                                <p:cTn id="70" presetID="12" presetClass="entr" presetSubtype="1" fill="hold" grpId="0" nodeType="withEffect">
                                  <p:stCondLst>
                                    <p:cond delay="0"/>
                                  </p:stCondLst>
                                  <p:childTnLst>
                                    <p:set>
                                      <p:cBhvr>
                                        <p:cTn id="71" dur="1" fill="hold">
                                          <p:stCondLst>
                                            <p:cond delay="0"/>
                                          </p:stCondLst>
                                        </p:cTn>
                                        <p:tgtEl>
                                          <p:spTgt spid="19"/>
                                        </p:tgtEl>
                                        <p:attrNameLst>
                                          <p:attrName>style.visibility</p:attrName>
                                        </p:attrNameLst>
                                      </p:cBhvr>
                                      <p:to>
                                        <p:strVal val="visible"/>
                                      </p:to>
                                    </p:set>
                                    <p:anim calcmode="lin" valueType="num">
                                      <p:cBhvr additive="base">
                                        <p:cTn id="72" dur="500"/>
                                        <p:tgtEl>
                                          <p:spTgt spid="19"/>
                                        </p:tgtEl>
                                        <p:attrNameLst>
                                          <p:attrName>ppt_y</p:attrName>
                                        </p:attrNameLst>
                                      </p:cBhvr>
                                      <p:tavLst>
                                        <p:tav tm="0">
                                          <p:val>
                                            <p:strVal val="#ppt_y-#ppt_h*1.125000"/>
                                          </p:val>
                                        </p:tav>
                                        <p:tav tm="100000">
                                          <p:val>
                                            <p:strVal val="#ppt_y"/>
                                          </p:val>
                                        </p:tav>
                                      </p:tavLst>
                                    </p:anim>
                                    <p:animEffect transition="in" filter="wipe(down)">
                                      <p:cBhvr>
                                        <p:cTn id="7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4" grpId="0" animBg="1"/>
      <p:bldP spid="24" grpId="1" animBg="1"/>
      <p:bldP spid="26" grpId="0"/>
      <p:bldP spid="26" grpId="1"/>
      <p:bldP spid="33" grpId="0" animBg="1"/>
      <p:bldP spid="34" grpId="0" animBg="1"/>
      <p:bldP spid="34" grpId="1" animBg="1"/>
      <p:bldP spid="35" grpId="0" animBg="1"/>
      <p:bldP spid="35" grpId="1" animBg="1"/>
      <p:bldP spid="17" grpId="0" animBg="1"/>
      <p:bldP spid="17" grpId="1" animBg="1"/>
      <p:bldP spid="18" grpId="0" animBg="1"/>
      <p:bldP spid="18" grpId="1" animBg="1"/>
      <p:bldP spid="1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D6764-07C3-8627-3497-EC1C85659FA6}"/>
            </a:ext>
          </a:extLst>
        </p:cNvPr>
        <p:cNvGrpSpPr/>
        <p:nvPr/>
      </p:nvGrpSpPr>
      <p:grpSpPr>
        <a:xfrm>
          <a:off x="0" y="0"/>
          <a:ext cx="0" cy="0"/>
          <a:chOff x="0" y="0"/>
          <a:chExt cx="0" cy="0"/>
        </a:xfrm>
      </p:grpSpPr>
      <p:sp>
        <p:nvSpPr>
          <p:cNvPr id="18" name="标题 17">
            <a:extLst>
              <a:ext uri="{FF2B5EF4-FFF2-40B4-BE49-F238E27FC236}">
                <a16:creationId xmlns:a16="http://schemas.microsoft.com/office/drawing/2014/main" id="{0D1767B5-FB2D-18CF-FBAD-E64C123020AD}"/>
              </a:ext>
            </a:extLst>
          </p:cNvPr>
          <p:cNvSpPr>
            <a:spLocks noGrp="1"/>
          </p:cNvSpPr>
          <p:nvPr>
            <p:ph type="title"/>
          </p:nvPr>
        </p:nvSpPr>
        <p:spPr/>
        <p:txBody>
          <a:bodyPr/>
          <a:lstStyle/>
          <a:p>
            <a:r>
              <a:rPr lang="zh-CN" altLang="en-US" dirty="0"/>
              <a:t>网络通信三要素</a:t>
            </a:r>
            <a:endParaRPr lang="en-US" dirty="0"/>
          </a:p>
        </p:txBody>
      </p:sp>
      <p:grpSp>
        <p:nvGrpSpPr>
          <p:cNvPr id="14" name="组合 13">
            <a:extLst>
              <a:ext uri="{FF2B5EF4-FFF2-40B4-BE49-F238E27FC236}">
                <a16:creationId xmlns:a16="http://schemas.microsoft.com/office/drawing/2014/main" id="{C02BE581-54D0-401B-134A-783A6B560F67}"/>
              </a:ext>
            </a:extLst>
          </p:cNvPr>
          <p:cNvGrpSpPr/>
          <p:nvPr/>
        </p:nvGrpSpPr>
        <p:grpSpPr>
          <a:xfrm>
            <a:off x="1373694" y="2347907"/>
            <a:ext cx="2463800" cy="2743858"/>
            <a:chOff x="1373694" y="1741515"/>
            <a:chExt cx="2463800" cy="2743858"/>
          </a:xfrm>
          <a:effectLst>
            <a:outerShdw blurRad="76200" dir="18900000" sy="23000" kx="-1200000" algn="bl" rotWithShape="0">
              <a:prstClr val="black">
                <a:alpha val="20000"/>
              </a:prstClr>
            </a:outerShdw>
          </a:effectLst>
        </p:grpSpPr>
        <p:sp>
          <p:nvSpPr>
            <p:cNvPr id="3" name="Rounded Rectangle 2">
              <a:extLst>
                <a:ext uri="{FF2B5EF4-FFF2-40B4-BE49-F238E27FC236}">
                  <a16:creationId xmlns:a16="http://schemas.microsoft.com/office/drawing/2014/main" id="{E614C659-4935-3C45-31EC-0D4F6081F022}"/>
                </a:ext>
              </a:extLst>
            </p:cNvPr>
            <p:cNvSpPr/>
            <p:nvPr/>
          </p:nvSpPr>
          <p:spPr>
            <a:xfrm>
              <a:off x="1373694" y="1741515"/>
              <a:ext cx="2463800" cy="2743858"/>
            </a:xfrm>
            <a:prstGeom prst="roundRect">
              <a:avLst>
                <a:gd name="adj" fmla="val 48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mn-ea"/>
                <a:cs typeface="阿里巴巴普惠体" panose="00020600040101010101" pitchFamily="18" charset="-122"/>
                <a:sym typeface="Arial" panose="020B060402020209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lang="en-US" altLang="zh-CN" sz="1600" dirty="0">
                <a:solidFill>
                  <a:prstClr val="black">
                    <a:lumMod val="85000"/>
                    <a:lumOff val="15000"/>
                  </a:prstClr>
                </a:solidFill>
                <a:latin typeface="+mn-ea"/>
                <a:cs typeface="阿里巴巴普惠体" panose="00020600040101010101" pitchFamily="18" charset="-122"/>
                <a:sym typeface="Arial" panose="020B060402020209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mn-ea"/>
                  <a:cs typeface="阿里巴巴普惠体" panose="00020600040101010101" pitchFamily="18" charset="-122"/>
                  <a:sym typeface="Arial" panose="020B0604020202090204" pitchFamily="34" charset="0"/>
                </a:rPr>
                <a:t>设备在网络中的地址，是设备在网络中的唯一标识</a:t>
              </a: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mn-ea"/>
                <a:cs typeface="阿里巴巴普惠体" panose="00020600040101010101" pitchFamily="18" charset="-122"/>
                <a:sym typeface="Arial" panose="020B0604020202090204" pitchFamily="34" charset="0"/>
              </a:endParaRPr>
            </a:p>
          </p:txBody>
        </p:sp>
        <p:sp>
          <p:nvSpPr>
            <p:cNvPr id="4" name="Round Same Side Corner Rectangle 3">
              <a:extLst>
                <a:ext uri="{FF2B5EF4-FFF2-40B4-BE49-F238E27FC236}">
                  <a16:creationId xmlns:a16="http://schemas.microsoft.com/office/drawing/2014/main" id="{8F02AE54-60F1-4EFB-6AEF-8839741C1907}"/>
                </a:ext>
              </a:extLst>
            </p:cNvPr>
            <p:cNvSpPr/>
            <p:nvPr/>
          </p:nvSpPr>
          <p:spPr>
            <a:xfrm>
              <a:off x="1373694" y="1741515"/>
              <a:ext cx="2463800" cy="1113825"/>
            </a:xfrm>
            <a:prstGeom prst="round2SameRect">
              <a:avLst>
                <a:gd name="adj1" fmla="val 10686"/>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prstClr val="white"/>
                </a:solidFill>
                <a:effectLst/>
                <a:uLnTx/>
                <a:uFillTx/>
                <a:latin typeface="+mn-ea"/>
                <a:cs typeface="阿里巴巴普惠体" panose="00020600040101010101" pitchFamily="18" charset="-122"/>
                <a:sym typeface="Arial" panose="020B0604020202090204" pitchFamily="34" charset="0"/>
              </a:endParaRPr>
            </a:p>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prstClr val="white"/>
                </a:solidFill>
                <a:effectLst/>
                <a:uLnTx/>
                <a:uFillTx/>
                <a:latin typeface="+mn-ea"/>
                <a:cs typeface="阿里巴巴普惠体" panose="00020600040101010101" pitchFamily="18" charset="-122"/>
                <a:sym typeface="Arial" panose="020B0604020202090204" pitchFamily="34" charset="0"/>
              </a:endParaRPr>
            </a:p>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mn-ea"/>
                  <a:cs typeface="阿里巴巴普惠体 3.0 75 SemiBold" panose="00020600040101010101" pitchFamily="18" charset="-122"/>
                  <a:sym typeface="Arial" panose="020B0604020202090204" pitchFamily="34" charset="0"/>
                </a:rPr>
                <a:t>IP</a:t>
              </a:r>
              <a:r>
                <a:rPr kumimoji="0" lang="zh-CN" altLang="en-US" sz="1800" b="1" i="0" u="none" strike="noStrike" kern="1200" cap="none" spc="0" normalizeH="0" baseline="0" noProof="0" dirty="0">
                  <a:ln>
                    <a:noFill/>
                  </a:ln>
                  <a:solidFill>
                    <a:prstClr val="white"/>
                  </a:solidFill>
                  <a:effectLst/>
                  <a:uLnTx/>
                  <a:uFillTx/>
                  <a:latin typeface="+mn-ea"/>
                  <a:cs typeface="阿里巴巴普惠体 3.0 75 SemiBold" panose="00020600040101010101" pitchFamily="18" charset="-122"/>
                  <a:sym typeface="Arial" panose="020B0604020202090204" pitchFamily="34" charset="0"/>
                </a:rPr>
                <a:t>地址</a:t>
              </a:r>
            </a:p>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n-ea"/>
                <a:cs typeface="阿里巴巴普惠体" panose="00020600040101010101" pitchFamily="18" charset="-122"/>
              </a:endParaRPr>
            </a:p>
          </p:txBody>
        </p:sp>
        <p:sp>
          <p:nvSpPr>
            <p:cNvPr id="11" name="Inhaltsplatzhalter 4">
              <a:extLst>
                <a:ext uri="{FF2B5EF4-FFF2-40B4-BE49-F238E27FC236}">
                  <a16:creationId xmlns:a16="http://schemas.microsoft.com/office/drawing/2014/main" id="{2C578C31-3BBB-DDB0-B872-724D3C449427}"/>
                </a:ext>
              </a:extLst>
            </p:cNvPr>
            <p:cNvSpPr txBox="1">
              <a:spLocks/>
            </p:cNvSpPr>
            <p:nvPr/>
          </p:nvSpPr>
          <p:spPr>
            <a:xfrm>
              <a:off x="1921535" y="1876881"/>
              <a:ext cx="1368118" cy="41908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127" rtl="0" eaLnBrk="1" fontAlgn="auto" latinLnBrk="0" hangingPunct="1">
                <a:lnSpc>
                  <a:spcPct val="120000"/>
                </a:lnSpc>
                <a:spcBef>
                  <a:spcPts val="0"/>
                </a:spcBef>
                <a:spcAft>
                  <a:spcPts val="0"/>
                </a:spcAft>
                <a:buClrTx/>
                <a:buSzTx/>
                <a:buFont typeface="Wingdings" panose="05000000000000000000" pitchFamily="2" charset="2"/>
                <a:buNone/>
                <a:tabLst/>
                <a:defRPr/>
              </a:pPr>
              <a:r>
                <a:rPr kumimoji="0" lang="en-US" sz="2400" b="1" i="0" u="none" strike="noStrike" kern="1200" cap="none" spc="0" normalizeH="0" baseline="0" noProof="0" dirty="0">
                  <a:ln>
                    <a:noFill/>
                  </a:ln>
                  <a:solidFill>
                    <a:prstClr val="white"/>
                  </a:solidFill>
                  <a:effectLst/>
                  <a:uLnTx/>
                  <a:uFillTx/>
                  <a:latin typeface="+mn-ea"/>
                  <a:cs typeface="阿里巴巴普惠体 3.0 75 SemiBold" panose="00020600040101010101" pitchFamily="18" charset="-122"/>
                </a:rPr>
                <a:t>01</a:t>
              </a:r>
              <a:endParaRPr kumimoji="0" lang="en-US" sz="1800" b="0" i="0" u="none" strike="noStrike" kern="1200" cap="none" spc="0" normalizeH="0" baseline="0" noProof="0" dirty="0">
                <a:ln>
                  <a:noFill/>
                </a:ln>
                <a:solidFill>
                  <a:prstClr val="white"/>
                </a:solidFill>
                <a:effectLst/>
                <a:uLnTx/>
                <a:uFillTx/>
                <a:latin typeface="+mn-ea"/>
                <a:cs typeface="阿里巴巴普惠体 3.0 75 SemiBold" panose="00020600040101010101" pitchFamily="18" charset="-122"/>
              </a:endParaRPr>
            </a:p>
          </p:txBody>
        </p:sp>
      </p:grpSp>
      <p:grpSp>
        <p:nvGrpSpPr>
          <p:cNvPr id="15" name="组合 14">
            <a:extLst>
              <a:ext uri="{FF2B5EF4-FFF2-40B4-BE49-F238E27FC236}">
                <a16:creationId xmlns:a16="http://schemas.microsoft.com/office/drawing/2014/main" id="{1FF0EAB8-54BD-4849-D774-572308496B3A}"/>
              </a:ext>
            </a:extLst>
          </p:cNvPr>
          <p:cNvGrpSpPr/>
          <p:nvPr/>
        </p:nvGrpSpPr>
        <p:grpSpPr>
          <a:xfrm>
            <a:off x="5063848" y="2360377"/>
            <a:ext cx="2463800" cy="2718919"/>
            <a:chOff x="5063848" y="1766454"/>
            <a:chExt cx="2463800" cy="2718919"/>
          </a:xfrm>
          <a:effectLst>
            <a:outerShdw blurRad="76200" dir="18900000" sy="23000" kx="-1200000" algn="bl" rotWithShape="0">
              <a:prstClr val="black">
                <a:alpha val="20000"/>
              </a:prstClr>
            </a:outerShdw>
          </a:effectLst>
        </p:grpSpPr>
        <p:sp>
          <p:nvSpPr>
            <p:cNvPr id="6" name="Rounded Rectangle 13">
              <a:extLst>
                <a:ext uri="{FF2B5EF4-FFF2-40B4-BE49-F238E27FC236}">
                  <a16:creationId xmlns:a16="http://schemas.microsoft.com/office/drawing/2014/main" id="{329ADB25-CFC4-17E4-200F-D14C9FC96E28}"/>
                </a:ext>
              </a:extLst>
            </p:cNvPr>
            <p:cNvSpPr/>
            <p:nvPr/>
          </p:nvSpPr>
          <p:spPr>
            <a:xfrm>
              <a:off x="5063848" y="1766454"/>
              <a:ext cx="2463800" cy="2718919"/>
            </a:xfrm>
            <a:prstGeom prst="roundRect">
              <a:avLst>
                <a:gd name="adj" fmla="val 48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lang="en-US" altLang="zh-CN" sz="1600" dirty="0">
                <a:solidFill>
                  <a:prstClr val="black">
                    <a:lumMod val="75000"/>
                    <a:lumOff val="25000"/>
                  </a:prstClr>
                </a:solidFill>
                <a:latin typeface="+mn-ea"/>
                <a:cs typeface="阿里巴巴普惠体" panose="00020600040101010101" pitchFamily="18" charset="-122"/>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lang="en-US" altLang="zh-CN" sz="1600" dirty="0">
                <a:solidFill>
                  <a:prstClr val="black">
                    <a:lumMod val="75000"/>
                    <a:lumOff val="25000"/>
                  </a:prstClr>
                </a:solidFill>
                <a:latin typeface="+mn-ea"/>
                <a:cs typeface="阿里巴巴普惠体" panose="00020600040101010101" pitchFamily="18" charset="-122"/>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rPr>
                <a:t>应用程序在设备中的唯一标识</a:t>
              </a: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endParaRPr>
            </a:p>
          </p:txBody>
        </p:sp>
        <p:sp>
          <p:nvSpPr>
            <p:cNvPr id="7" name="Round Same Side Corner Rectangle 14">
              <a:extLst>
                <a:ext uri="{FF2B5EF4-FFF2-40B4-BE49-F238E27FC236}">
                  <a16:creationId xmlns:a16="http://schemas.microsoft.com/office/drawing/2014/main" id="{9881926C-0BB4-17BA-E4F8-53AB4ED5E135}"/>
                </a:ext>
              </a:extLst>
            </p:cNvPr>
            <p:cNvSpPr/>
            <p:nvPr/>
          </p:nvSpPr>
          <p:spPr>
            <a:xfrm>
              <a:off x="5063848" y="1766454"/>
              <a:ext cx="2463800" cy="1113825"/>
            </a:xfrm>
            <a:prstGeom prst="round2SameRect">
              <a:avLst>
                <a:gd name="adj1" fmla="val 10686"/>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prstClr val="white"/>
                </a:solidFill>
                <a:effectLst/>
                <a:uLnTx/>
                <a:uFillTx/>
                <a:latin typeface="+mn-ea"/>
                <a:cs typeface="阿里巴巴普惠体" panose="00020600040101010101" pitchFamily="18" charset="-122"/>
                <a:sym typeface="Arial" panose="020B0604020202090204" pitchFamily="34" charset="0"/>
              </a:endParaRPr>
            </a:p>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mn-ea"/>
                  <a:cs typeface="阿里巴巴普惠体 3.0 75 SemiBold" panose="00020600040101010101" pitchFamily="18" charset="-122"/>
                  <a:sym typeface="Arial" panose="020B0604020202090204" pitchFamily="34" charset="0"/>
                </a:rPr>
                <a:t>端口</a:t>
              </a:r>
              <a:endParaRPr kumimoji="0" lang="en-US" sz="1800" b="0" i="0" u="none" strike="noStrike" kern="1200" cap="none" spc="0" normalizeH="0" baseline="0" noProof="0" dirty="0">
                <a:ln>
                  <a:noFill/>
                </a:ln>
                <a:solidFill>
                  <a:prstClr val="white"/>
                </a:solidFill>
                <a:effectLst/>
                <a:uLnTx/>
                <a:uFillTx/>
                <a:latin typeface="+mn-ea"/>
                <a:cs typeface="阿里巴巴普惠体" panose="00020600040101010101" pitchFamily="18" charset="-122"/>
              </a:endParaRPr>
            </a:p>
          </p:txBody>
        </p:sp>
        <p:sp>
          <p:nvSpPr>
            <p:cNvPr id="12" name="Inhaltsplatzhalter 4">
              <a:extLst>
                <a:ext uri="{FF2B5EF4-FFF2-40B4-BE49-F238E27FC236}">
                  <a16:creationId xmlns:a16="http://schemas.microsoft.com/office/drawing/2014/main" id="{1381DE4D-4B22-6CD2-BFB7-DE8F4E4004A3}"/>
                </a:ext>
              </a:extLst>
            </p:cNvPr>
            <p:cNvSpPr txBox="1">
              <a:spLocks/>
            </p:cNvSpPr>
            <p:nvPr/>
          </p:nvSpPr>
          <p:spPr>
            <a:xfrm>
              <a:off x="5611689" y="1876881"/>
              <a:ext cx="1368118" cy="41908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127" rtl="0" eaLnBrk="1" fontAlgn="auto" latinLnBrk="0" hangingPunct="1">
                <a:lnSpc>
                  <a:spcPct val="120000"/>
                </a:lnSpc>
                <a:spcBef>
                  <a:spcPts val="0"/>
                </a:spcBef>
                <a:spcAft>
                  <a:spcPts val="0"/>
                </a:spcAft>
                <a:buClrTx/>
                <a:buSzTx/>
                <a:buFont typeface="Wingdings" panose="05000000000000000000" pitchFamily="2" charset="2"/>
                <a:buNone/>
                <a:tabLst/>
                <a:defRPr/>
              </a:pPr>
              <a:r>
                <a:rPr kumimoji="0" lang="en-US" sz="2400" b="1" i="0" u="none" strike="noStrike" kern="1200" cap="none" spc="0" normalizeH="0" baseline="0" noProof="0" dirty="0">
                  <a:ln>
                    <a:noFill/>
                  </a:ln>
                  <a:solidFill>
                    <a:prstClr val="white"/>
                  </a:solidFill>
                  <a:effectLst/>
                  <a:uLnTx/>
                  <a:uFillTx/>
                  <a:latin typeface="+mn-ea"/>
                  <a:cs typeface="阿里巴巴普惠体 3.0 75 SemiBold" panose="00020600040101010101" pitchFamily="18" charset="-122"/>
                </a:rPr>
                <a:t>02</a:t>
              </a:r>
              <a:endParaRPr kumimoji="0" lang="en-US" sz="1800" b="0" i="0" u="none" strike="noStrike" kern="1200" cap="none" spc="0" normalizeH="0" baseline="0" noProof="0" dirty="0">
                <a:ln>
                  <a:noFill/>
                </a:ln>
                <a:solidFill>
                  <a:prstClr val="white"/>
                </a:solidFill>
                <a:effectLst/>
                <a:uLnTx/>
                <a:uFillTx/>
                <a:latin typeface="+mn-ea"/>
                <a:cs typeface="阿里巴巴普惠体 3.0 75 SemiBold" panose="00020600040101010101" pitchFamily="18" charset="-122"/>
              </a:endParaRPr>
            </a:p>
          </p:txBody>
        </p:sp>
      </p:grpSp>
      <p:grpSp>
        <p:nvGrpSpPr>
          <p:cNvPr id="16" name="组合 15">
            <a:extLst>
              <a:ext uri="{FF2B5EF4-FFF2-40B4-BE49-F238E27FC236}">
                <a16:creationId xmlns:a16="http://schemas.microsoft.com/office/drawing/2014/main" id="{0EB99295-F25F-C2B0-052C-C60A2E4CD45A}"/>
              </a:ext>
            </a:extLst>
          </p:cNvPr>
          <p:cNvGrpSpPr/>
          <p:nvPr/>
        </p:nvGrpSpPr>
        <p:grpSpPr>
          <a:xfrm>
            <a:off x="8612239" y="2360377"/>
            <a:ext cx="2463800" cy="2718919"/>
            <a:chOff x="8612239" y="1766454"/>
            <a:chExt cx="2463800" cy="2718919"/>
          </a:xfrm>
          <a:effectLst>
            <a:outerShdw blurRad="76200" dir="18900000" sy="23000" kx="-1200000" algn="bl" rotWithShape="0">
              <a:prstClr val="black">
                <a:alpha val="20000"/>
              </a:prstClr>
            </a:outerShdw>
          </a:effectLst>
        </p:grpSpPr>
        <p:sp>
          <p:nvSpPr>
            <p:cNvPr id="9" name="Rounded Rectangle 18">
              <a:extLst>
                <a:ext uri="{FF2B5EF4-FFF2-40B4-BE49-F238E27FC236}">
                  <a16:creationId xmlns:a16="http://schemas.microsoft.com/office/drawing/2014/main" id="{5CB79FBA-3CF4-7544-96F1-116A34504989}"/>
                </a:ext>
              </a:extLst>
            </p:cNvPr>
            <p:cNvSpPr/>
            <p:nvPr/>
          </p:nvSpPr>
          <p:spPr>
            <a:xfrm>
              <a:off x="8612239" y="1766454"/>
              <a:ext cx="2463800" cy="2718919"/>
            </a:xfrm>
            <a:prstGeom prst="roundRect">
              <a:avLst>
                <a:gd name="adj" fmla="val 48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sym typeface="Arial" panose="020B060402020209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sym typeface="Arial" panose="020B060402020209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lang="en-US" altLang="zh-CN" sz="1600" dirty="0">
                <a:solidFill>
                  <a:prstClr val="black">
                    <a:lumMod val="75000"/>
                    <a:lumOff val="25000"/>
                  </a:prstClr>
                </a:solidFill>
                <a:latin typeface="+mn-ea"/>
                <a:cs typeface="阿里巴巴普惠体" panose="00020600040101010101" pitchFamily="18" charset="-122"/>
                <a:sym typeface="Arial" panose="020B060402020209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sym typeface="Arial" panose="020B060402020209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lang="en-US" altLang="zh-CN" sz="1600" dirty="0">
                <a:solidFill>
                  <a:prstClr val="black">
                    <a:lumMod val="75000"/>
                    <a:lumOff val="25000"/>
                  </a:prstClr>
                </a:solidFill>
                <a:latin typeface="+mn-ea"/>
                <a:cs typeface="阿里巴巴普惠体" panose="00020600040101010101" pitchFamily="18" charset="-122"/>
                <a:sym typeface="Arial" panose="020B060402020209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sym typeface="Arial" panose="020B0604020202090204" pitchFamily="34" charset="0"/>
                </a:rPr>
                <a:t>连接和数据在网络中传输的规则</a:t>
              </a: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mn-ea"/>
                <a:cs typeface="阿里巴巴普惠体" panose="00020600040101010101" pitchFamily="18" charset="-122"/>
                <a:sym typeface="Arial" panose="020B0604020202090204" pitchFamily="34" charset="0"/>
              </a:endParaRPr>
            </a:p>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n-ea"/>
                <a:cs typeface="阿里巴巴普惠体" panose="00020600040101010101" pitchFamily="18" charset="-122"/>
              </a:endParaRPr>
            </a:p>
          </p:txBody>
        </p:sp>
        <p:sp>
          <p:nvSpPr>
            <p:cNvPr id="10" name="Round Same Side Corner Rectangle 19">
              <a:extLst>
                <a:ext uri="{FF2B5EF4-FFF2-40B4-BE49-F238E27FC236}">
                  <a16:creationId xmlns:a16="http://schemas.microsoft.com/office/drawing/2014/main" id="{69729D50-2328-C300-A6DB-EA5CA87634EC}"/>
                </a:ext>
              </a:extLst>
            </p:cNvPr>
            <p:cNvSpPr/>
            <p:nvPr/>
          </p:nvSpPr>
          <p:spPr>
            <a:xfrm>
              <a:off x="8612239" y="1766454"/>
              <a:ext cx="2463800" cy="1113825"/>
            </a:xfrm>
            <a:prstGeom prst="round2SameRect">
              <a:avLst>
                <a:gd name="adj1" fmla="val 10686"/>
                <a:gd name="adj2" fmla="val 0"/>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prstClr val="white"/>
                </a:solidFill>
                <a:effectLst/>
                <a:uLnTx/>
                <a:uFillTx/>
                <a:latin typeface="+mn-ea"/>
                <a:cs typeface="阿里巴巴普惠体" panose="00020600040101010101" pitchFamily="18" charset="-122"/>
                <a:sym typeface="Arial" panose="020B0604020202090204" pitchFamily="34" charset="0"/>
              </a:endParaRPr>
            </a:p>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prstClr val="white"/>
                </a:solidFill>
                <a:effectLst/>
                <a:uLnTx/>
                <a:uFillTx/>
                <a:latin typeface="+mn-ea"/>
                <a:cs typeface="阿里巴巴普惠体" panose="00020600040101010101" pitchFamily="18" charset="-122"/>
                <a:sym typeface="Arial" panose="020B0604020202090204" pitchFamily="34" charset="0"/>
              </a:endParaRPr>
            </a:p>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mn-ea"/>
                  <a:cs typeface="阿里巴巴普惠体 3.0 75 SemiBold" panose="00020600040101010101" pitchFamily="18" charset="-122"/>
                  <a:sym typeface="Arial" panose="020B0604020202090204" pitchFamily="34" charset="0"/>
                </a:rPr>
                <a:t>协议</a:t>
              </a:r>
            </a:p>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n-ea"/>
                <a:cs typeface="阿里巴巴普惠体" panose="00020600040101010101" pitchFamily="18" charset="-122"/>
              </a:endParaRPr>
            </a:p>
          </p:txBody>
        </p:sp>
        <p:sp>
          <p:nvSpPr>
            <p:cNvPr id="13" name="Inhaltsplatzhalter 4">
              <a:extLst>
                <a:ext uri="{FF2B5EF4-FFF2-40B4-BE49-F238E27FC236}">
                  <a16:creationId xmlns:a16="http://schemas.microsoft.com/office/drawing/2014/main" id="{1470604D-E4F4-7A81-B117-C8A2B7DCA803}"/>
                </a:ext>
              </a:extLst>
            </p:cNvPr>
            <p:cNvSpPr txBox="1">
              <a:spLocks/>
            </p:cNvSpPr>
            <p:nvPr/>
          </p:nvSpPr>
          <p:spPr>
            <a:xfrm>
              <a:off x="9160080" y="1876881"/>
              <a:ext cx="1368118" cy="41908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127" rtl="0" eaLnBrk="1" fontAlgn="auto" latinLnBrk="0" hangingPunct="1">
                <a:lnSpc>
                  <a:spcPct val="120000"/>
                </a:lnSpc>
                <a:spcBef>
                  <a:spcPts val="0"/>
                </a:spcBef>
                <a:spcAft>
                  <a:spcPts val="0"/>
                </a:spcAft>
                <a:buClrTx/>
                <a:buSzTx/>
                <a:buFont typeface="Wingdings" panose="05000000000000000000" pitchFamily="2" charset="2"/>
                <a:buNone/>
                <a:tabLst/>
                <a:defRPr/>
              </a:pPr>
              <a:r>
                <a:rPr kumimoji="0" lang="en-US" sz="2400" b="1" i="0" u="none" strike="noStrike" kern="1200" cap="none" spc="0" normalizeH="0" baseline="0" noProof="0" dirty="0">
                  <a:ln>
                    <a:noFill/>
                  </a:ln>
                  <a:solidFill>
                    <a:prstClr val="white"/>
                  </a:solidFill>
                  <a:effectLst/>
                  <a:uLnTx/>
                  <a:uFillTx/>
                  <a:latin typeface="+mn-ea"/>
                  <a:cs typeface="阿里巴巴普惠体 3.0 75 SemiBold" panose="00020600040101010101" pitchFamily="18" charset="-122"/>
                </a:rPr>
                <a:t>03</a:t>
              </a:r>
              <a:endParaRPr kumimoji="0" lang="en-US" sz="1800" b="0" i="0" u="none" strike="noStrike" kern="1200" cap="none" spc="0" normalizeH="0" baseline="0" noProof="0" dirty="0">
                <a:ln>
                  <a:noFill/>
                </a:ln>
                <a:solidFill>
                  <a:prstClr val="white"/>
                </a:solidFill>
                <a:effectLst/>
                <a:uLnTx/>
                <a:uFillTx/>
                <a:latin typeface="+mn-ea"/>
                <a:cs typeface="阿里巴巴普惠体 3.0 75 SemiBold" panose="00020600040101010101" pitchFamily="18" charset="-122"/>
              </a:endParaRPr>
            </a:p>
          </p:txBody>
        </p:sp>
      </p:grpSp>
    </p:spTree>
    <p:extLst>
      <p:ext uri="{BB962C8B-B14F-4D97-AF65-F5344CB8AC3E}">
        <p14:creationId xmlns:p14="http://schemas.microsoft.com/office/powerpoint/2010/main" val="15010584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2ED8EE0F-286F-D211-9D65-A380A4F50A51}"/>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89DCE1FA-DEB2-AD27-6CBD-BB1C9B14A570}"/>
              </a:ext>
            </a:extLst>
          </p:cNvPr>
          <p:cNvSpPr>
            <a:spLocks noGrp="1"/>
          </p:cNvSpPr>
          <p:nvPr>
            <p:ph type="body" sz="quarter" idx="10"/>
          </p:nvPr>
        </p:nvSpPr>
        <p:spPr>
          <a:xfrm>
            <a:off x="5615472" y="2267199"/>
            <a:ext cx="5634223" cy="2143815"/>
          </a:xfrm>
        </p:spPr>
        <p:txBody>
          <a:bodyPr anchor="t"/>
          <a:lstStyle/>
          <a:p>
            <a:r>
              <a:rPr kumimoji="1" lang="zh-CN" altLang="en-US" dirty="0">
                <a:latin typeface="Consolas" panose="020B0609020204030204" pitchFamily="49" charset="0"/>
              </a:rPr>
              <a:t>网络编程基本概念</a:t>
            </a:r>
            <a:endParaRPr kumimoji="1" lang="en-US" altLang="zh-CN" dirty="0">
              <a:latin typeface="Consolas" panose="020B0609020204030204" pitchFamily="49" charset="0"/>
            </a:endParaRPr>
          </a:p>
          <a:p>
            <a:r>
              <a:rPr kumimoji="1" lang="zh-CN" altLang="en-US" dirty="0">
                <a:latin typeface="Consolas" panose="020B0609020204030204" pitchFamily="49" charset="0"/>
              </a:rPr>
              <a:t>网络编程三要素</a:t>
            </a:r>
            <a:endParaRPr kumimoji="1" lang="en-US" altLang="zh-CN" dirty="0">
              <a:latin typeface="Consolas" panose="020B0609020204030204" pitchFamily="49" charset="0"/>
            </a:endParaRPr>
          </a:p>
          <a:p>
            <a:r>
              <a:rPr kumimoji="1" lang="en-US" altLang="zh-CN" dirty="0">
                <a:latin typeface="Consolas" panose="020B0609020204030204" pitchFamily="49" charset="0"/>
              </a:rPr>
              <a:t>UDP </a:t>
            </a:r>
            <a:r>
              <a:rPr kumimoji="1" lang="zh-CN" altLang="en-US" dirty="0">
                <a:latin typeface="Consolas" panose="020B0609020204030204" pitchFamily="49" charset="0"/>
              </a:rPr>
              <a:t>协议收发数据</a:t>
            </a:r>
            <a:endParaRPr kumimoji="1" lang="en-US" altLang="zh-CN" dirty="0">
              <a:latin typeface="Consolas" panose="020B0609020204030204" pitchFamily="49" charset="0"/>
            </a:endParaRPr>
          </a:p>
          <a:p>
            <a:r>
              <a:rPr kumimoji="1" lang="en-US" altLang="zh-CN" dirty="0">
                <a:latin typeface="Consolas" panose="020B0609020204030204" pitchFamily="49" charset="0"/>
              </a:rPr>
              <a:t>TCP </a:t>
            </a:r>
            <a:r>
              <a:rPr kumimoji="1" lang="zh-CN" altLang="en-US" dirty="0">
                <a:latin typeface="Consolas" panose="020B0609020204030204" pitchFamily="49" charset="0"/>
              </a:rPr>
              <a:t>协议收发数据</a:t>
            </a:r>
            <a:endParaRPr kumimoji="1" lang="en-US" altLang="zh-CN" dirty="0">
              <a:latin typeface="Consolas" panose="020B0609020204030204" pitchFamily="49" charset="0"/>
            </a:endParaRPr>
          </a:p>
        </p:txBody>
      </p:sp>
    </p:spTree>
    <p:extLst>
      <p:ext uri="{BB962C8B-B14F-4D97-AF65-F5344CB8AC3E}">
        <p14:creationId xmlns:p14="http://schemas.microsoft.com/office/powerpoint/2010/main" val="2197187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85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stCondLst>
                                            <p:cond delay="0"/>
                                          </p:stCondLst>
                                        </p:cTn>
                                        <p:tgtEl>
                                          <p:spTgt spid="2"/>
                                        </p:tgtEl>
                                      </p:cBhvr>
                                    </p:animEffect>
                                    <p:anim to="0" calcmode="lin" valueType="num">
                                      <p:cBhvr>
                                        <p:cTn id="8" dur="500" fill="hold">
                                          <p:stCondLst>
                                            <p:cond delay="0"/>
                                          </p:stCondLst>
                                        </p:cTn>
                                        <p:tgtEl>
                                          <p:spTgt spid="2"/>
                                        </p:tgtEl>
                                        <p:attrNameLst>
                                          <p:attrName>ppt_x</p:attrName>
                                        </p:attrNameLst>
                                      </p:cBhvr>
                                      <p:tavLst>
                                        <p:tav tm="0">
                                          <p:val>
                                            <p:strVal val="#ppt_x-.05"/>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0BBF9-3558-3306-BC6E-1607ED12618C}"/>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ADCFBB81-1E07-4E72-733A-F1DFBFAE5CC2}"/>
              </a:ext>
            </a:extLst>
          </p:cNvPr>
          <p:cNvSpPr>
            <a:spLocks noGrp="1"/>
          </p:cNvSpPr>
          <p:nvPr>
            <p:ph type="body" sz="quarter" idx="13"/>
          </p:nvPr>
        </p:nvSpPr>
        <p:spPr>
          <a:xfrm>
            <a:off x="5834080" y="2465278"/>
            <a:ext cx="4831831" cy="901700"/>
          </a:xfrm>
        </p:spPr>
        <p:txBody>
          <a:bodyPr/>
          <a:lstStyle/>
          <a:p>
            <a:r>
              <a:rPr lang="en-US" altLang="zh-CN" dirty="0"/>
              <a:t>UDP </a:t>
            </a:r>
            <a:r>
              <a:rPr lang="zh-CN" altLang="en-US" dirty="0"/>
              <a:t>协议收发数据</a:t>
            </a:r>
          </a:p>
        </p:txBody>
      </p:sp>
      <p:sp>
        <p:nvSpPr>
          <p:cNvPr id="10" name="文本占位符 9">
            <a:extLst>
              <a:ext uri="{FF2B5EF4-FFF2-40B4-BE49-F238E27FC236}">
                <a16:creationId xmlns:a16="http://schemas.microsoft.com/office/drawing/2014/main" id="{39FD4C8F-9284-635B-F6DA-852DAA6F2F07}"/>
              </a:ext>
            </a:extLst>
          </p:cNvPr>
          <p:cNvSpPr>
            <a:spLocks noGrp="1"/>
          </p:cNvSpPr>
          <p:nvPr>
            <p:ph type="body" sz="quarter" idx="14"/>
          </p:nvPr>
        </p:nvSpPr>
        <p:spPr/>
        <p:txBody>
          <a:bodyPr/>
          <a:lstStyle/>
          <a:p>
            <a:r>
              <a:rPr lang="en-US" altLang="zh-CN" dirty="0"/>
              <a:t>3</a:t>
            </a:r>
            <a:endParaRPr lang="zh-CN" altLang="en-US" dirty="0"/>
          </a:p>
        </p:txBody>
      </p:sp>
    </p:spTree>
    <p:extLst>
      <p:ext uri="{BB962C8B-B14F-4D97-AF65-F5344CB8AC3E}">
        <p14:creationId xmlns:p14="http://schemas.microsoft.com/office/powerpoint/2010/main" val="398564270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A28B4F0-646E-CAC7-0A94-407A9C2487A2}"/>
              </a:ext>
            </a:extLst>
          </p:cNvPr>
          <p:cNvSpPr txBox="1"/>
          <p:nvPr/>
        </p:nvSpPr>
        <p:spPr>
          <a:xfrm>
            <a:off x="576626" y="1084648"/>
            <a:ext cx="8976462" cy="877869"/>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357708" indent="-357708">
              <a:lnSpc>
                <a:spcPct val="150000"/>
              </a:lnSpc>
              <a:buFont typeface="Wingdings" pitchFamily="2" charset="2"/>
              <a:buChar char="l"/>
              <a:defRPr/>
            </a:pPr>
            <a:r>
              <a:rPr lang="en-US" altLang="zh-CN" sz="1800" dirty="0">
                <a:latin typeface="Consolas" panose="020B0609020204030204" pitchFamily="49" charset="0"/>
                <a:ea typeface="阿里巴巴普惠体" panose="00020600040101010101" pitchFamily="18" charset="-122"/>
                <a:cs typeface="阿里巴巴普惠体" panose="00020600040101010101" pitchFamily="18" charset="-122"/>
              </a:rPr>
              <a:t>UDP</a:t>
            </a:r>
            <a:r>
              <a:rPr lang="zh-CN" altLang="en-US" sz="1800" dirty="0">
                <a:latin typeface="Consolas" panose="020B0609020204030204" pitchFamily="49" charset="0"/>
                <a:ea typeface="阿里巴巴普惠体" panose="00020600040101010101" pitchFamily="18" charset="-122"/>
                <a:cs typeface="阿里巴巴普惠体" panose="00020600040101010101" pitchFamily="18" charset="-122"/>
              </a:rPr>
              <a:t>是</a:t>
            </a:r>
            <a:r>
              <a:rPr lang="zh-CN" altLang="en-US" sz="18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面向无连接</a:t>
            </a:r>
            <a:r>
              <a:rPr lang="zh-CN" altLang="en-US" sz="1800" dirty="0">
                <a:latin typeface="Consolas" panose="020B0609020204030204" pitchFamily="49" charset="0"/>
                <a:ea typeface="阿里巴巴普惠体" panose="00020600040101010101" pitchFamily="18" charset="-122"/>
                <a:cs typeface="阿里巴巴普惠体" panose="00020600040101010101" pitchFamily="18" charset="-122"/>
              </a:rPr>
              <a:t>通信协议。</a:t>
            </a:r>
            <a:endParaRPr lang="en-US" altLang="zh-CN" sz="1800" dirty="0">
              <a:latin typeface="Consolas" panose="020B0609020204030204" pitchFamily="49" charset="0"/>
              <a:ea typeface="阿里巴巴普惠体" panose="00020600040101010101" pitchFamily="18" charset="-122"/>
              <a:cs typeface="阿里巴巴普惠体" panose="00020600040101010101" pitchFamily="18" charset="-122"/>
            </a:endParaRPr>
          </a:p>
          <a:p>
            <a:pPr>
              <a:lnSpc>
                <a:spcPct val="150000"/>
              </a:lnSpc>
              <a:defRPr/>
            </a:pPr>
            <a:r>
              <a:rPr lang="en-US" altLang="zh-CN" sz="1800" dirty="0">
                <a:latin typeface="Consolas" panose="020B0609020204030204" pitchFamily="49" charset="0"/>
                <a:ea typeface="阿里巴巴普惠体" panose="00020600040101010101" pitchFamily="18" charset="-122"/>
                <a:cs typeface="阿里巴巴普惠体" panose="00020600040101010101" pitchFamily="18" charset="-122"/>
              </a:rPr>
              <a:t>       </a:t>
            </a:r>
            <a:r>
              <a:rPr lang="zh-CN" altLang="en-US" sz="1800" dirty="0">
                <a:latin typeface="Consolas" panose="020B0609020204030204" pitchFamily="49" charset="0"/>
                <a:ea typeface="阿里巴巴普惠体" panose="00020600040101010101" pitchFamily="18" charset="-122"/>
                <a:cs typeface="阿里巴巴普惠体" panose="00020600040101010101" pitchFamily="18" charset="-122"/>
              </a:rPr>
              <a:t>速度快，有大小限制一次最多发送</a:t>
            </a:r>
            <a:r>
              <a:rPr lang="en-US" altLang="zh-CN" sz="1800" dirty="0">
                <a:latin typeface="Consolas" panose="020B0609020204030204" pitchFamily="49" charset="0"/>
                <a:ea typeface="阿里巴巴普惠体" panose="00020600040101010101" pitchFamily="18" charset="-122"/>
                <a:cs typeface="阿里巴巴普惠体" panose="00020600040101010101" pitchFamily="18" charset="-122"/>
              </a:rPr>
              <a:t>64K</a:t>
            </a:r>
            <a:r>
              <a:rPr lang="zh-CN" altLang="en-US" sz="1800" dirty="0">
                <a:latin typeface="Consolas" panose="020B0609020204030204" pitchFamily="49" charset="0"/>
                <a:ea typeface="阿里巴巴普惠体" panose="00020600040101010101" pitchFamily="18" charset="-122"/>
                <a:cs typeface="阿里巴巴普惠体" panose="00020600040101010101" pitchFamily="18" charset="-122"/>
              </a:rPr>
              <a:t>，数据不安全，易丢失数据</a:t>
            </a:r>
            <a:endParaRPr lang="en-US" altLang="zh-CN" dirty="0">
              <a:latin typeface="Consolas" panose="020B0609020204030204" pitchFamily="49" charset="0"/>
              <a:ea typeface="阿里巴巴普惠体" panose="00020600040101010101"/>
            </a:endParaRPr>
          </a:p>
        </p:txBody>
      </p:sp>
      <p:sp>
        <p:nvSpPr>
          <p:cNvPr id="3" name="标题 2">
            <a:extLst>
              <a:ext uri="{FF2B5EF4-FFF2-40B4-BE49-F238E27FC236}">
                <a16:creationId xmlns:a16="http://schemas.microsoft.com/office/drawing/2014/main" id="{56603B68-9995-A902-4119-9FBFB14A9E5D}"/>
              </a:ext>
            </a:extLst>
          </p:cNvPr>
          <p:cNvSpPr>
            <a:spLocks noGrp="1"/>
          </p:cNvSpPr>
          <p:nvPr>
            <p:ph type="title"/>
          </p:nvPr>
        </p:nvSpPr>
        <p:spPr/>
        <p:txBody>
          <a:bodyPr/>
          <a:lstStyle/>
          <a:p>
            <a:r>
              <a:rPr lang="en-US" altLang="zh-CN" dirty="0"/>
              <a:t>UDP</a:t>
            </a:r>
            <a:r>
              <a:rPr lang="zh-CN" altLang="en-US" dirty="0"/>
              <a:t>协议</a:t>
            </a:r>
          </a:p>
        </p:txBody>
      </p:sp>
    </p:spTree>
    <p:extLst>
      <p:ext uri="{BB962C8B-B14F-4D97-AF65-F5344CB8AC3E}">
        <p14:creationId xmlns:p14="http://schemas.microsoft.com/office/powerpoint/2010/main" val="142902736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图片 38">
            <a:extLst>
              <a:ext uri="{FF2B5EF4-FFF2-40B4-BE49-F238E27FC236}">
                <a16:creationId xmlns:a16="http://schemas.microsoft.com/office/drawing/2014/main" id="{C0A032D4-4FBC-A39B-A2B5-8634E57589D5}"/>
              </a:ext>
            </a:extLst>
          </p:cNvPr>
          <p:cNvPicPr>
            <a:picLocks noChangeAspect="1"/>
          </p:cNvPicPr>
          <p:nvPr/>
        </p:nvPicPr>
        <p:blipFill rotWithShape="1">
          <a:blip r:embed="rId3"/>
          <a:srcRect l="30139" t="50682" r="37125" b="24445"/>
          <a:stretch/>
        </p:blipFill>
        <p:spPr>
          <a:xfrm>
            <a:off x="7321581" y="4851894"/>
            <a:ext cx="2245046" cy="1705814"/>
          </a:xfrm>
          <a:prstGeom prst="rect">
            <a:avLst/>
          </a:prstGeom>
        </p:spPr>
      </p:pic>
      <p:pic>
        <p:nvPicPr>
          <p:cNvPr id="31" name="图片 30">
            <a:extLst>
              <a:ext uri="{FF2B5EF4-FFF2-40B4-BE49-F238E27FC236}">
                <a16:creationId xmlns:a16="http://schemas.microsoft.com/office/drawing/2014/main" id="{1BB9870C-9A44-7DD1-EECB-4132F04FC6F2}"/>
              </a:ext>
            </a:extLst>
          </p:cNvPr>
          <p:cNvPicPr>
            <a:picLocks noChangeAspect="1"/>
          </p:cNvPicPr>
          <p:nvPr/>
        </p:nvPicPr>
        <p:blipFill>
          <a:blip r:embed="rId4"/>
          <a:stretch>
            <a:fillRect/>
          </a:stretch>
        </p:blipFill>
        <p:spPr>
          <a:xfrm flipH="1">
            <a:off x="6239615" y="1963193"/>
            <a:ext cx="1219205" cy="1219205"/>
          </a:xfrm>
          <a:prstGeom prst="rect">
            <a:avLst/>
          </a:prstGeom>
        </p:spPr>
      </p:pic>
      <p:pic>
        <p:nvPicPr>
          <p:cNvPr id="33" name="图片 32">
            <a:extLst>
              <a:ext uri="{FF2B5EF4-FFF2-40B4-BE49-F238E27FC236}">
                <a16:creationId xmlns:a16="http://schemas.microsoft.com/office/drawing/2014/main" id="{EBA026AB-4DF0-6B8E-7B33-292A27CF6092}"/>
              </a:ext>
            </a:extLst>
          </p:cNvPr>
          <p:cNvPicPr>
            <a:picLocks noChangeAspect="1"/>
          </p:cNvPicPr>
          <p:nvPr/>
        </p:nvPicPr>
        <p:blipFill rotWithShape="1">
          <a:blip r:embed="rId5"/>
          <a:srcRect l="13528" t="4445" r="12151" b="4306"/>
          <a:stretch/>
        </p:blipFill>
        <p:spPr>
          <a:xfrm>
            <a:off x="7753753" y="1853094"/>
            <a:ext cx="879493" cy="1439401"/>
          </a:xfrm>
          <a:prstGeom prst="rect">
            <a:avLst/>
          </a:prstGeom>
        </p:spPr>
      </p:pic>
      <p:pic>
        <p:nvPicPr>
          <p:cNvPr id="35" name="图片 34">
            <a:extLst>
              <a:ext uri="{FF2B5EF4-FFF2-40B4-BE49-F238E27FC236}">
                <a16:creationId xmlns:a16="http://schemas.microsoft.com/office/drawing/2014/main" id="{A5F35A4E-E159-C73C-DF8B-6963B5461BE1}"/>
              </a:ext>
            </a:extLst>
          </p:cNvPr>
          <p:cNvPicPr>
            <a:picLocks noChangeAspect="1"/>
          </p:cNvPicPr>
          <p:nvPr/>
        </p:nvPicPr>
        <p:blipFill rotWithShape="1">
          <a:blip r:embed="rId6"/>
          <a:srcRect l="7917" t="18195" r="5751" b="15507"/>
          <a:stretch/>
        </p:blipFill>
        <p:spPr>
          <a:xfrm>
            <a:off x="7427521" y="3627366"/>
            <a:ext cx="1311793" cy="1007384"/>
          </a:xfrm>
          <a:prstGeom prst="rect">
            <a:avLst/>
          </a:prstGeom>
        </p:spPr>
      </p:pic>
      <p:pic>
        <p:nvPicPr>
          <p:cNvPr id="37" name="图片 36">
            <a:extLst>
              <a:ext uri="{FF2B5EF4-FFF2-40B4-BE49-F238E27FC236}">
                <a16:creationId xmlns:a16="http://schemas.microsoft.com/office/drawing/2014/main" id="{58078ED8-912D-FAC0-D302-5586A3242B8C}"/>
              </a:ext>
            </a:extLst>
          </p:cNvPr>
          <p:cNvPicPr>
            <a:picLocks noChangeAspect="1"/>
          </p:cNvPicPr>
          <p:nvPr/>
        </p:nvPicPr>
        <p:blipFill rotWithShape="1">
          <a:blip r:embed="rId7"/>
          <a:srcRect l="12907" t="4708" r="14432" b="2903"/>
          <a:stretch/>
        </p:blipFill>
        <p:spPr>
          <a:xfrm>
            <a:off x="6292815" y="3572267"/>
            <a:ext cx="878942" cy="1117582"/>
          </a:xfrm>
          <a:prstGeom prst="rect">
            <a:avLst/>
          </a:prstGeom>
        </p:spPr>
      </p:pic>
      <p:pic>
        <p:nvPicPr>
          <p:cNvPr id="40" name="图片 39">
            <a:extLst>
              <a:ext uri="{FF2B5EF4-FFF2-40B4-BE49-F238E27FC236}">
                <a16:creationId xmlns:a16="http://schemas.microsoft.com/office/drawing/2014/main" id="{A0A956EF-1044-E694-5D32-E4DAC9C65517}"/>
              </a:ext>
            </a:extLst>
          </p:cNvPr>
          <p:cNvPicPr>
            <a:picLocks noChangeAspect="1"/>
          </p:cNvPicPr>
          <p:nvPr/>
        </p:nvPicPr>
        <p:blipFill rotWithShape="1">
          <a:blip r:embed="rId3"/>
          <a:srcRect l="29364" t="23121" r="37900" b="49379"/>
          <a:stretch/>
        </p:blipFill>
        <p:spPr>
          <a:xfrm>
            <a:off x="7296891" y="4634750"/>
            <a:ext cx="2245046" cy="1885950"/>
          </a:xfrm>
          <a:prstGeom prst="rect">
            <a:avLst/>
          </a:prstGeom>
        </p:spPr>
      </p:pic>
      <p:pic>
        <p:nvPicPr>
          <p:cNvPr id="42" name="图片 41">
            <a:extLst>
              <a:ext uri="{FF2B5EF4-FFF2-40B4-BE49-F238E27FC236}">
                <a16:creationId xmlns:a16="http://schemas.microsoft.com/office/drawing/2014/main" id="{F71A77BD-A214-5C82-EF74-837B9A16E431}"/>
              </a:ext>
            </a:extLst>
          </p:cNvPr>
          <p:cNvPicPr>
            <a:picLocks noChangeAspect="1"/>
          </p:cNvPicPr>
          <p:nvPr/>
        </p:nvPicPr>
        <p:blipFill rotWithShape="1">
          <a:blip r:embed="rId3"/>
          <a:srcRect l="63651" t="21983" r="4584" b="51261"/>
          <a:stretch/>
        </p:blipFill>
        <p:spPr>
          <a:xfrm>
            <a:off x="7329095" y="4673976"/>
            <a:ext cx="2178571" cy="1835037"/>
          </a:xfrm>
          <a:prstGeom prst="rect">
            <a:avLst/>
          </a:prstGeom>
        </p:spPr>
      </p:pic>
      <p:pic>
        <p:nvPicPr>
          <p:cNvPr id="41" name="图片 40">
            <a:extLst>
              <a:ext uri="{FF2B5EF4-FFF2-40B4-BE49-F238E27FC236}">
                <a16:creationId xmlns:a16="http://schemas.microsoft.com/office/drawing/2014/main" id="{547F280A-0B81-9B5B-D3E5-B43DB5CAB63B}"/>
              </a:ext>
            </a:extLst>
          </p:cNvPr>
          <p:cNvPicPr>
            <a:picLocks noChangeAspect="1"/>
          </p:cNvPicPr>
          <p:nvPr/>
        </p:nvPicPr>
        <p:blipFill rotWithShape="1">
          <a:blip r:embed="rId3"/>
          <a:srcRect l="4450" t="25277" r="70989" b="49379"/>
          <a:stretch/>
        </p:blipFill>
        <p:spPr>
          <a:xfrm>
            <a:off x="7598958" y="4813102"/>
            <a:ext cx="1684431" cy="1738074"/>
          </a:xfrm>
          <a:prstGeom prst="rect">
            <a:avLst/>
          </a:prstGeom>
        </p:spPr>
      </p:pic>
      <p:pic>
        <p:nvPicPr>
          <p:cNvPr id="43" name="图片 42">
            <a:extLst>
              <a:ext uri="{FF2B5EF4-FFF2-40B4-BE49-F238E27FC236}">
                <a16:creationId xmlns:a16="http://schemas.microsoft.com/office/drawing/2014/main" id="{A389993C-74CC-7A66-8C45-7954282FFF9B}"/>
              </a:ext>
            </a:extLst>
          </p:cNvPr>
          <p:cNvPicPr>
            <a:picLocks noChangeAspect="1"/>
          </p:cNvPicPr>
          <p:nvPr/>
        </p:nvPicPr>
        <p:blipFill rotWithShape="1">
          <a:blip r:embed="rId3"/>
          <a:srcRect l="5125" t="49620" r="71880" b="26576"/>
          <a:stretch/>
        </p:blipFill>
        <p:spPr>
          <a:xfrm>
            <a:off x="7646483" y="4906598"/>
            <a:ext cx="1577064" cy="1632576"/>
          </a:xfrm>
          <a:prstGeom prst="rect">
            <a:avLst/>
          </a:prstGeom>
        </p:spPr>
      </p:pic>
      <p:grpSp>
        <p:nvGrpSpPr>
          <p:cNvPr id="48" name="组合 47">
            <a:extLst>
              <a:ext uri="{FF2B5EF4-FFF2-40B4-BE49-F238E27FC236}">
                <a16:creationId xmlns:a16="http://schemas.microsoft.com/office/drawing/2014/main" id="{E5E16AED-9EBB-31DB-71EE-92E654C4169F}"/>
              </a:ext>
            </a:extLst>
          </p:cNvPr>
          <p:cNvGrpSpPr>
            <a:grpSpLocks noChangeAspect="1"/>
          </p:cNvGrpSpPr>
          <p:nvPr/>
        </p:nvGrpSpPr>
        <p:grpSpPr>
          <a:xfrm>
            <a:off x="6389165" y="4896806"/>
            <a:ext cx="2527111" cy="1361838"/>
            <a:chOff x="3212205" y="5289125"/>
            <a:chExt cx="5666271" cy="3053504"/>
          </a:xfrm>
        </p:grpSpPr>
        <p:pic>
          <p:nvPicPr>
            <p:cNvPr id="47" name="图片 46">
              <a:extLst>
                <a:ext uri="{FF2B5EF4-FFF2-40B4-BE49-F238E27FC236}">
                  <a16:creationId xmlns:a16="http://schemas.microsoft.com/office/drawing/2014/main" id="{2D6A5D69-B357-0805-F0E4-F186DC651577}"/>
                </a:ext>
              </a:extLst>
            </p:cNvPr>
            <p:cNvPicPr>
              <a:picLocks noChangeAspect="1"/>
            </p:cNvPicPr>
            <p:nvPr/>
          </p:nvPicPr>
          <p:blipFill rotWithShape="1">
            <a:blip r:embed="rId8"/>
            <a:srcRect l="9350" t="28329" r="8028" b="27146"/>
            <a:stretch/>
          </p:blipFill>
          <p:spPr>
            <a:xfrm flipH="1">
              <a:off x="3212205" y="5289125"/>
              <a:ext cx="5666271" cy="3053504"/>
            </a:xfrm>
            <a:prstGeom prst="rect">
              <a:avLst/>
            </a:prstGeom>
          </p:spPr>
        </p:pic>
        <p:pic>
          <p:nvPicPr>
            <p:cNvPr id="46" name="图片 45">
              <a:extLst>
                <a:ext uri="{FF2B5EF4-FFF2-40B4-BE49-F238E27FC236}">
                  <a16:creationId xmlns:a16="http://schemas.microsoft.com/office/drawing/2014/main" id="{1399AFD5-20EF-DCEC-1485-C866032EB7E8}"/>
                </a:ext>
              </a:extLst>
            </p:cNvPr>
            <p:cNvPicPr>
              <a:picLocks noChangeAspect="1"/>
            </p:cNvPicPr>
            <p:nvPr/>
          </p:nvPicPr>
          <p:blipFill rotWithShape="1">
            <a:blip r:embed="rId8"/>
            <a:srcRect l="40653" t="35555" r="14307" b="47221"/>
            <a:stretch/>
          </p:blipFill>
          <p:spPr>
            <a:xfrm>
              <a:off x="3671011" y="5759006"/>
              <a:ext cx="3088885" cy="1181229"/>
            </a:xfrm>
            <a:prstGeom prst="rect">
              <a:avLst/>
            </a:prstGeom>
          </p:spPr>
        </p:pic>
      </p:grpSp>
      <p:pic>
        <p:nvPicPr>
          <p:cNvPr id="44" name="图片 43">
            <a:extLst>
              <a:ext uri="{FF2B5EF4-FFF2-40B4-BE49-F238E27FC236}">
                <a16:creationId xmlns:a16="http://schemas.microsoft.com/office/drawing/2014/main" id="{5B07D259-2F06-307A-2754-793EE4B7DE2B}"/>
              </a:ext>
            </a:extLst>
          </p:cNvPr>
          <p:cNvPicPr>
            <a:picLocks noChangeAspect="1"/>
          </p:cNvPicPr>
          <p:nvPr/>
        </p:nvPicPr>
        <p:blipFill rotWithShape="1">
          <a:blip r:embed="rId3"/>
          <a:srcRect l="5125" t="49620" r="71880" b="26576"/>
          <a:stretch/>
        </p:blipFill>
        <p:spPr>
          <a:xfrm>
            <a:off x="5992809" y="3130359"/>
            <a:ext cx="1577064" cy="1632576"/>
          </a:xfrm>
          <a:prstGeom prst="rect">
            <a:avLst/>
          </a:prstGeom>
        </p:spPr>
      </p:pic>
      <p:sp>
        <p:nvSpPr>
          <p:cNvPr id="49" name="TextBox 4">
            <a:extLst>
              <a:ext uri="{FF2B5EF4-FFF2-40B4-BE49-F238E27FC236}">
                <a16:creationId xmlns:a16="http://schemas.microsoft.com/office/drawing/2014/main" id="{B2CBDE18-FC4D-AC70-25BF-DDBA0768A8DD}"/>
              </a:ext>
            </a:extLst>
          </p:cNvPr>
          <p:cNvSpPr txBox="1"/>
          <p:nvPr/>
        </p:nvSpPr>
        <p:spPr>
          <a:xfrm>
            <a:off x="9048302" y="1470438"/>
            <a:ext cx="2264649" cy="2920095"/>
          </a:xfrm>
          <a:prstGeom prst="rect">
            <a:avLst/>
          </a:prstGeom>
          <a:noFill/>
        </p:spPr>
        <p:txBody>
          <a:bodyPr wrap="square">
            <a:spAutoFit/>
          </a:bodyPr>
          <a:lstStyle/>
          <a:p>
            <a:pPr marL="357708" indent="-357708">
              <a:lnSpc>
                <a:spcPct val="300000"/>
              </a:lnSpc>
              <a:buFont typeface="+mj-ea"/>
              <a:buAutoNum type="circleNumDbPlain"/>
              <a:defRPr/>
            </a:pP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找快递公司</a:t>
            </a: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57708" indent="-357708">
              <a:lnSpc>
                <a:spcPct val="300000"/>
              </a:lnSpc>
              <a:buFont typeface="+mj-ea"/>
              <a:buAutoNum type="circleNumDbPlain"/>
              <a:defRPr/>
            </a:pP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打包礼物</a:t>
            </a: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57708" indent="-357708">
              <a:lnSpc>
                <a:spcPct val="300000"/>
              </a:lnSpc>
              <a:buFont typeface="+mj-ea"/>
              <a:buAutoNum type="circleNumDbPlain"/>
              <a:defRPr/>
            </a:pP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快递公司发送包裹</a:t>
            </a:r>
          </a:p>
          <a:p>
            <a:pPr marL="357708" indent="-357708">
              <a:lnSpc>
                <a:spcPct val="300000"/>
              </a:lnSpc>
              <a:buFont typeface="+mj-ea"/>
              <a:buAutoNum type="circleNumDbPlain"/>
              <a:defRPr/>
            </a:pP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付钱走人</a:t>
            </a: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1026" name="Picture 2">
            <a:extLst>
              <a:ext uri="{FF2B5EF4-FFF2-40B4-BE49-F238E27FC236}">
                <a16:creationId xmlns:a16="http://schemas.microsoft.com/office/drawing/2014/main" id="{95792611-3509-6692-DDC5-1238872454DF}"/>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7735" b="99724" l="883" r="92274">
                        <a14:foregroundMark x1="42826" y1="8011" x2="49007" y2="8564"/>
                        <a14:foregroundMark x1="76380" y1="78177" x2="15011" y2="87569"/>
                        <a14:foregroundMark x1="25386" y1="76243" x2="15453" y2="82873"/>
                        <a14:foregroundMark x1="15453" y1="82873" x2="26490" y2="95856"/>
                        <a14:foregroundMark x1="26490" y1="95856" x2="70199" y2="96133"/>
                        <a14:foregroundMark x1="70199" y1="96133" x2="78808" y2="83149"/>
                        <a14:foregroundMark x1="78808" y1="83149" x2="84327" y2="88950"/>
                        <a14:foregroundMark x1="75055" y1="69890" x2="88079" y2="84807"/>
                        <a14:foregroundMark x1="88079" y1="84807" x2="88079" y2="84807"/>
                        <a14:foregroundMark x1="85430" y1="80939" x2="92494" y2="94475"/>
                        <a14:foregroundMark x1="90287" y1="79834" x2="92053" y2="99724"/>
                        <a14:foregroundMark x1="90066" y1="95304" x2="883" y2="95028"/>
                        <a14:foregroundMark x1="23400" y1="77348" x2="22958" y2="77901"/>
                        <a14:foregroundMark x1="58499" y1="99171" x2="61810" y2="99448"/>
                        <a14:foregroundMark x1="24062" y1="18508" x2="24062" y2="18508"/>
                        <a14:foregroundMark x1="18543" y1="14365" x2="18543" y2="14365"/>
                      </a14:backgroundRemoval>
                    </a14:imgEffect>
                  </a14:imgLayer>
                </a14:imgProps>
              </a:ext>
              <a:ext uri="{28A0092B-C50C-407E-A947-70E740481C1C}">
                <a14:useLocalDpi xmlns:a14="http://schemas.microsoft.com/office/drawing/2010/main" val="0"/>
              </a:ext>
            </a:extLst>
          </a:blip>
          <a:srcRect/>
          <a:stretch>
            <a:fillRect/>
          </a:stretch>
        </p:blipFill>
        <p:spPr bwMode="auto">
          <a:xfrm>
            <a:off x="682729" y="3429000"/>
            <a:ext cx="2581798" cy="2063159"/>
          </a:xfrm>
          <a:prstGeom prst="rect">
            <a:avLst/>
          </a:prstGeom>
          <a:noFill/>
          <a:extLst>
            <a:ext uri="{909E8E84-426E-40DD-AFC4-6F175D3DCCD1}">
              <a14:hiddenFill xmlns:a14="http://schemas.microsoft.com/office/drawing/2010/main">
                <a:solidFill>
                  <a:srgbClr val="FFFFFF"/>
                </a:solidFill>
              </a14:hiddenFill>
            </a:ext>
          </a:extLst>
        </p:spPr>
      </p:pic>
      <p:sp>
        <p:nvSpPr>
          <p:cNvPr id="5" name="思想气泡: 云 4">
            <a:extLst>
              <a:ext uri="{FF2B5EF4-FFF2-40B4-BE49-F238E27FC236}">
                <a16:creationId xmlns:a16="http://schemas.microsoft.com/office/drawing/2014/main" id="{0D8EB83D-D440-D94F-A8C9-72745E7DFAE0}"/>
              </a:ext>
            </a:extLst>
          </p:cNvPr>
          <p:cNvSpPr/>
          <p:nvPr/>
        </p:nvSpPr>
        <p:spPr>
          <a:xfrm>
            <a:off x="2303006" y="1851364"/>
            <a:ext cx="3432496" cy="1632576"/>
          </a:xfrm>
          <a:prstGeom prst="cloudCallout">
            <a:avLst>
              <a:gd name="adj1" fmla="val -42211"/>
              <a:gd name="adj2" fmla="val 51081"/>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latin typeface="Alibaba PuHuiTi B"/>
              </a:rPr>
              <a:t>给老四的一片心意</a:t>
            </a:r>
          </a:p>
        </p:txBody>
      </p:sp>
      <p:sp>
        <p:nvSpPr>
          <p:cNvPr id="2" name="标题 1">
            <a:extLst>
              <a:ext uri="{FF2B5EF4-FFF2-40B4-BE49-F238E27FC236}">
                <a16:creationId xmlns:a16="http://schemas.microsoft.com/office/drawing/2014/main" id="{431A1A4B-425B-7342-56B7-C907669AFF3F}"/>
              </a:ext>
            </a:extLst>
          </p:cNvPr>
          <p:cNvSpPr>
            <a:spLocks noGrp="1"/>
          </p:cNvSpPr>
          <p:nvPr>
            <p:ph type="title"/>
          </p:nvPr>
        </p:nvSpPr>
        <p:spPr/>
        <p:txBody>
          <a:bodyPr/>
          <a:lstStyle/>
          <a:p>
            <a:r>
              <a:rPr lang="en-US" altLang="zh-CN" dirty="0"/>
              <a:t>UDP</a:t>
            </a:r>
            <a:r>
              <a:rPr lang="zh-CN" altLang="en-US" dirty="0"/>
              <a:t>协议发送数据</a:t>
            </a:r>
          </a:p>
        </p:txBody>
      </p:sp>
    </p:spTree>
    <p:extLst>
      <p:ext uri="{BB962C8B-B14F-4D97-AF65-F5344CB8AC3E}">
        <p14:creationId xmlns:p14="http://schemas.microsoft.com/office/powerpoint/2010/main" val="3134127570"/>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anim calcmode="lin" valueType="num">
                                          <p:cBhvr>
                                            <p:cTn id="13" dur="500" fill="hold"/>
                                            <p:tgtEl>
                                              <p:spTgt spid="31"/>
                                            </p:tgtEl>
                                            <p:attrNameLst>
                                              <p:attrName>ppt_w</p:attrName>
                                            </p:attrNameLst>
                                          </p:cBhvr>
                                          <p:tavLst>
                                            <p:tav tm="0">
                                              <p:val>
                                                <p:fltVal val="0"/>
                                              </p:val>
                                            </p:tav>
                                            <p:tav tm="100000">
                                              <p:val>
                                                <p:strVal val="#ppt_w"/>
                                              </p:val>
                                            </p:tav>
                                          </p:tavLst>
                                        </p:anim>
                                        <p:anim calcmode="lin" valueType="num">
                                          <p:cBhvr>
                                            <p:cTn id="14" dur="500" fill="hold"/>
                                            <p:tgtEl>
                                              <p:spTgt spid="31"/>
                                            </p:tgtEl>
                                            <p:attrNameLst>
                                              <p:attrName>ppt_h</p:attrName>
                                            </p:attrNameLst>
                                          </p:cBhvr>
                                          <p:tavLst>
                                            <p:tav tm="0">
                                              <p:val>
                                                <p:fltVal val="0"/>
                                              </p:val>
                                            </p:tav>
                                            <p:tav tm="100000">
                                              <p:val>
                                                <p:strVal val="#ppt_h"/>
                                              </p:val>
                                            </p:tav>
                                          </p:tavLst>
                                        </p:anim>
                                        <p:anim calcmode="lin" valueType="num">
                                          <p:cBhvr>
                                            <p:cTn id="15" dur="500" fill="hold"/>
                                            <p:tgtEl>
                                              <p:spTgt spid="31"/>
                                            </p:tgtEl>
                                            <p:attrNameLst>
                                              <p:attrName>style.rotation</p:attrName>
                                            </p:attrNameLst>
                                          </p:cBhvr>
                                          <p:tavLst>
                                            <p:tav tm="0">
                                              <p:val>
                                                <p:fltVal val="360"/>
                                              </p:val>
                                            </p:tav>
                                            <p:tav tm="100000">
                                              <p:val>
                                                <p:fltVal val="0"/>
                                              </p:val>
                                            </p:tav>
                                          </p:tavLst>
                                        </p:anim>
                                        <p:animEffect transition="in" filter="fade">
                                          <p:cBhvr>
                                            <p:cTn id="16" dur="500"/>
                                            <p:tgtEl>
                                              <p:spTgt spid="31"/>
                                            </p:tgtEl>
                                          </p:cBhvr>
                                        </p:animEffect>
                                      </p:childTnLst>
                                    </p:cTn>
                                  </p:par>
                                  <p:par>
                                    <p:cTn id="17" presetID="49" presetClass="entr" presetSubtype="0" decel="100000" fill="hold" nodeType="withEffect">
                                      <p:stCondLst>
                                        <p:cond delay="200"/>
                                      </p:stCondLst>
                                      <p:childTnLst>
                                        <p:set>
                                          <p:cBhvr>
                                            <p:cTn id="18" dur="1" fill="hold">
                                              <p:stCondLst>
                                                <p:cond delay="0"/>
                                              </p:stCondLst>
                                            </p:cTn>
                                            <p:tgtEl>
                                              <p:spTgt spid="33"/>
                                            </p:tgtEl>
                                            <p:attrNameLst>
                                              <p:attrName>style.visibility</p:attrName>
                                            </p:attrNameLst>
                                          </p:cBhvr>
                                          <p:to>
                                            <p:strVal val="visible"/>
                                          </p:to>
                                        </p:set>
                                        <p:anim calcmode="lin" valueType="num">
                                          <p:cBhvr>
                                            <p:cTn id="19" dur="500" fill="hold"/>
                                            <p:tgtEl>
                                              <p:spTgt spid="33"/>
                                            </p:tgtEl>
                                            <p:attrNameLst>
                                              <p:attrName>ppt_w</p:attrName>
                                            </p:attrNameLst>
                                          </p:cBhvr>
                                          <p:tavLst>
                                            <p:tav tm="0">
                                              <p:val>
                                                <p:fltVal val="0"/>
                                              </p:val>
                                            </p:tav>
                                            <p:tav tm="100000">
                                              <p:val>
                                                <p:strVal val="#ppt_w"/>
                                              </p:val>
                                            </p:tav>
                                          </p:tavLst>
                                        </p:anim>
                                        <p:anim calcmode="lin" valueType="num">
                                          <p:cBhvr>
                                            <p:cTn id="20" dur="500" fill="hold"/>
                                            <p:tgtEl>
                                              <p:spTgt spid="33"/>
                                            </p:tgtEl>
                                            <p:attrNameLst>
                                              <p:attrName>ppt_h</p:attrName>
                                            </p:attrNameLst>
                                          </p:cBhvr>
                                          <p:tavLst>
                                            <p:tav tm="0">
                                              <p:val>
                                                <p:fltVal val="0"/>
                                              </p:val>
                                            </p:tav>
                                            <p:tav tm="100000">
                                              <p:val>
                                                <p:strVal val="#ppt_h"/>
                                              </p:val>
                                            </p:tav>
                                          </p:tavLst>
                                        </p:anim>
                                        <p:anim calcmode="lin" valueType="num">
                                          <p:cBhvr>
                                            <p:cTn id="21" dur="500" fill="hold"/>
                                            <p:tgtEl>
                                              <p:spTgt spid="33"/>
                                            </p:tgtEl>
                                            <p:attrNameLst>
                                              <p:attrName>style.rotation</p:attrName>
                                            </p:attrNameLst>
                                          </p:cBhvr>
                                          <p:tavLst>
                                            <p:tav tm="0">
                                              <p:val>
                                                <p:fltVal val="360"/>
                                              </p:val>
                                            </p:tav>
                                            <p:tav tm="100000">
                                              <p:val>
                                                <p:fltVal val="0"/>
                                              </p:val>
                                            </p:tav>
                                          </p:tavLst>
                                        </p:anim>
                                        <p:animEffect transition="in" filter="fade">
                                          <p:cBhvr>
                                            <p:cTn id="22" dur="500"/>
                                            <p:tgtEl>
                                              <p:spTgt spid="33"/>
                                            </p:tgtEl>
                                          </p:cBhvr>
                                        </p:animEffect>
                                      </p:childTnLst>
                                    </p:cTn>
                                  </p:par>
                                  <p:par>
                                    <p:cTn id="23" presetID="49" presetClass="entr" presetSubtype="0" decel="100000" fill="hold" nodeType="withEffect">
                                      <p:stCondLst>
                                        <p:cond delay="400"/>
                                      </p:stCondLst>
                                      <p:childTnLst>
                                        <p:set>
                                          <p:cBhvr>
                                            <p:cTn id="24" dur="1" fill="hold">
                                              <p:stCondLst>
                                                <p:cond delay="0"/>
                                              </p:stCondLst>
                                            </p:cTn>
                                            <p:tgtEl>
                                              <p:spTgt spid="37"/>
                                            </p:tgtEl>
                                            <p:attrNameLst>
                                              <p:attrName>style.visibility</p:attrName>
                                            </p:attrNameLst>
                                          </p:cBhvr>
                                          <p:to>
                                            <p:strVal val="visible"/>
                                          </p:to>
                                        </p:set>
                                        <p:anim calcmode="lin" valueType="num">
                                          <p:cBhvr>
                                            <p:cTn id="25" dur="500" fill="hold"/>
                                            <p:tgtEl>
                                              <p:spTgt spid="37"/>
                                            </p:tgtEl>
                                            <p:attrNameLst>
                                              <p:attrName>ppt_w</p:attrName>
                                            </p:attrNameLst>
                                          </p:cBhvr>
                                          <p:tavLst>
                                            <p:tav tm="0">
                                              <p:val>
                                                <p:fltVal val="0"/>
                                              </p:val>
                                            </p:tav>
                                            <p:tav tm="100000">
                                              <p:val>
                                                <p:strVal val="#ppt_w"/>
                                              </p:val>
                                            </p:tav>
                                          </p:tavLst>
                                        </p:anim>
                                        <p:anim calcmode="lin" valueType="num">
                                          <p:cBhvr>
                                            <p:cTn id="26" dur="500" fill="hold"/>
                                            <p:tgtEl>
                                              <p:spTgt spid="37"/>
                                            </p:tgtEl>
                                            <p:attrNameLst>
                                              <p:attrName>ppt_h</p:attrName>
                                            </p:attrNameLst>
                                          </p:cBhvr>
                                          <p:tavLst>
                                            <p:tav tm="0">
                                              <p:val>
                                                <p:fltVal val="0"/>
                                              </p:val>
                                            </p:tav>
                                            <p:tav tm="100000">
                                              <p:val>
                                                <p:strVal val="#ppt_h"/>
                                              </p:val>
                                            </p:tav>
                                          </p:tavLst>
                                        </p:anim>
                                        <p:anim calcmode="lin" valueType="num">
                                          <p:cBhvr>
                                            <p:cTn id="27" dur="500" fill="hold"/>
                                            <p:tgtEl>
                                              <p:spTgt spid="37"/>
                                            </p:tgtEl>
                                            <p:attrNameLst>
                                              <p:attrName>style.rotation</p:attrName>
                                            </p:attrNameLst>
                                          </p:cBhvr>
                                          <p:tavLst>
                                            <p:tav tm="0">
                                              <p:val>
                                                <p:fltVal val="360"/>
                                              </p:val>
                                            </p:tav>
                                            <p:tav tm="100000">
                                              <p:val>
                                                <p:fltVal val="0"/>
                                              </p:val>
                                            </p:tav>
                                          </p:tavLst>
                                        </p:anim>
                                        <p:animEffect transition="in" filter="fade">
                                          <p:cBhvr>
                                            <p:cTn id="28" dur="500"/>
                                            <p:tgtEl>
                                              <p:spTgt spid="37"/>
                                            </p:tgtEl>
                                          </p:cBhvr>
                                        </p:animEffect>
                                      </p:childTnLst>
                                    </p:cTn>
                                  </p:par>
                                  <p:par>
                                    <p:cTn id="29" presetID="49" presetClass="entr" presetSubtype="0" decel="100000" fill="hold" nodeType="withEffect">
                                      <p:stCondLst>
                                        <p:cond delay="600"/>
                                      </p:stCondLst>
                                      <p:childTnLst>
                                        <p:set>
                                          <p:cBhvr>
                                            <p:cTn id="30" dur="1" fill="hold">
                                              <p:stCondLst>
                                                <p:cond delay="0"/>
                                              </p:stCondLst>
                                            </p:cTn>
                                            <p:tgtEl>
                                              <p:spTgt spid="35"/>
                                            </p:tgtEl>
                                            <p:attrNameLst>
                                              <p:attrName>style.visibility</p:attrName>
                                            </p:attrNameLst>
                                          </p:cBhvr>
                                          <p:to>
                                            <p:strVal val="visible"/>
                                          </p:to>
                                        </p:set>
                                        <p:anim calcmode="lin" valueType="num">
                                          <p:cBhvr>
                                            <p:cTn id="31" dur="500" fill="hold"/>
                                            <p:tgtEl>
                                              <p:spTgt spid="35"/>
                                            </p:tgtEl>
                                            <p:attrNameLst>
                                              <p:attrName>ppt_w</p:attrName>
                                            </p:attrNameLst>
                                          </p:cBhvr>
                                          <p:tavLst>
                                            <p:tav tm="0">
                                              <p:val>
                                                <p:fltVal val="0"/>
                                              </p:val>
                                            </p:tav>
                                            <p:tav tm="100000">
                                              <p:val>
                                                <p:strVal val="#ppt_w"/>
                                              </p:val>
                                            </p:tav>
                                          </p:tavLst>
                                        </p:anim>
                                        <p:anim calcmode="lin" valueType="num">
                                          <p:cBhvr>
                                            <p:cTn id="32" dur="500" fill="hold"/>
                                            <p:tgtEl>
                                              <p:spTgt spid="35"/>
                                            </p:tgtEl>
                                            <p:attrNameLst>
                                              <p:attrName>ppt_h</p:attrName>
                                            </p:attrNameLst>
                                          </p:cBhvr>
                                          <p:tavLst>
                                            <p:tav tm="0">
                                              <p:val>
                                                <p:fltVal val="0"/>
                                              </p:val>
                                            </p:tav>
                                            <p:tav tm="100000">
                                              <p:val>
                                                <p:strVal val="#ppt_h"/>
                                              </p:val>
                                            </p:tav>
                                          </p:tavLst>
                                        </p:anim>
                                        <p:anim calcmode="lin" valueType="num">
                                          <p:cBhvr>
                                            <p:cTn id="33" dur="500" fill="hold"/>
                                            <p:tgtEl>
                                              <p:spTgt spid="35"/>
                                            </p:tgtEl>
                                            <p:attrNameLst>
                                              <p:attrName>style.rotation</p:attrName>
                                            </p:attrNameLst>
                                          </p:cBhvr>
                                          <p:tavLst>
                                            <p:tav tm="0">
                                              <p:val>
                                                <p:fltVal val="360"/>
                                              </p:val>
                                            </p:tav>
                                            <p:tav tm="100000">
                                              <p:val>
                                                <p:fltVal val="0"/>
                                              </p:val>
                                            </p:tav>
                                          </p:tavLst>
                                        </p:anim>
                                        <p:animEffect transition="in" filter="fade">
                                          <p:cBhvr>
                                            <p:cTn id="34" dur="500"/>
                                            <p:tgtEl>
                                              <p:spTgt spid="35"/>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14:presetBounceEnd="42857">
                                      <p:stCondLst>
                                        <p:cond delay="0"/>
                                      </p:stCondLst>
                                      <p:childTnLst>
                                        <p:set>
                                          <p:cBhvr>
                                            <p:cTn id="38" dur="1" fill="hold">
                                              <p:stCondLst>
                                                <p:cond delay="0"/>
                                              </p:stCondLst>
                                            </p:cTn>
                                            <p:tgtEl>
                                              <p:spTgt spid="39"/>
                                            </p:tgtEl>
                                            <p:attrNameLst>
                                              <p:attrName>style.visibility</p:attrName>
                                            </p:attrNameLst>
                                          </p:cBhvr>
                                          <p:to>
                                            <p:strVal val="visible"/>
                                          </p:to>
                                        </p:set>
                                        <p:anim calcmode="lin" valueType="num" p14:bounceEnd="42857">
                                          <p:cBhvr additive="base">
                                            <p:cTn id="39" dur="700" fill="hold"/>
                                            <p:tgtEl>
                                              <p:spTgt spid="39"/>
                                            </p:tgtEl>
                                            <p:attrNameLst>
                                              <p:attrName>ppt_x</p:attrName>
                                            </p:attrNameLst>
                                          </p:cBhvr>
                                          <p:tavLst>
                                            <p:tav tm="0">
                                              <p:val>
                                                <p:strVal val="#ppt_x"/>
                                              </p:val>
                                            </p:tav>
                                            <p:tav tm="100000">
                                              <p:val>
                                                <p:strVal val="#ppt_x"/>
                                              </p:val>
                                            </p:tav>
                                          </p:tavLst>
                                        </p:anim>
                                        <p:anim calcmode="lin" valueType="num" p14:bounceEnd="42857">
                                          <p:cBhvr additive="base">
                                            <p:cTn id="40" dur="7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path" presetSubtype="0" fill="hold" nodeType="clickEffect">
                                      <p:stCondLst>
                                        <p:cond delay="0"/>
                                      </p:stCondLst>
                                      <p:childTnLst>
                                        <p:animMotion origin="layout" path="M 1.25E-6 -1.48148E-6 L 0.13086 0.45671 " pathEditMode="relative" rAng="0" ptsTypes="AA">
                                          <p:cBhvr>
                                            <p:cTn id="44" dur="1200" fill="hold"/>
                                            <p:tgtEl>
                                              <p:spTgt spid="31"/>
                                            </p:tgtEl>
                                            <p:attrNameLst>
                                              <p:attrName>ppt_x</p:attrName>
                                              <p:attrName>ppt_y</p:attrName>
                                            </p:attrNameLst>
                                          </p:cBhvr>
                                          <p:rCtr x="6536" y="22824"/>
                                        </p:animMotion>
                                      </p:childTnLst>
                                    </p:cTn>
                                  </p:par>
                                  <p:par>
                                    <p:cTn id="45" presetID="10" presetClass="exit" presetSubtype="0" fill="hold" nodeType="withEffect">
                                      <p:stCondLst>
                                        <p:cond delay="800"/>
                                      </p:stCondLst>
                                      <p:childTnLst>
                                        <p:animEffect transition="out" filter="fade">
                                          <p:cBhvr>
                                            <p:cTn id="46" dur="500"/>
                                            <p:tgtEl>
                                              <p:spTgt spid="31"/>
                                            </p:tgtEl>
                                          </p:cBhvr>
                                        </p:animEffect>
                                        <p:set>
                                          <p:cBhvr>
                                            <p:cTn id="47" dur="1" fill="hold">
                                              <p:stCondLst>
                                                <p:cond delay="499"/>
                                              </p:stCondLst>
                                            </p:cTn>
                                            <p:tgtEl>
                                              <p:spTgt spid="31"/>
                                            </p:tgtEl>
                                            <p:attrNameLst>
                                              <p:attrName>style.visibility</p:attrName>
                                            </p:attrNameLst>
                                          </p:cBhvr>
                                          <p:to>
                                            <p:strVal val="hidden"/>
                                          </p:to>
                                        </p:set>
                                      </p:childTnLst>
                                    </p:cTn>
                                  </p:par>
                                  <p:par>
                                    <p:cTn id="48" presetID="42" presetClass="path" presetSubtype="0" fill="hold" nodeType="withEffect">
                                      <p:stCondLst>
                                        <p:cond delay="0"/>
                                      </p:stCondLst>
                                      <p:childTnLst>
                                        <p:animMotion origin="layout" path="M 4.79167E-6 5.55112E-17 L 0.02057 0.45671 " pathEditMode="relative" rAng="0" ptsTypes="AA">
                                          <p:cBhvr>
                                            <p:cTn id="49" dur="1000" fill="hold"/>
                                            <p:tgtEl>
                                              <p:spTgt spid="33"/>
                                            </p:tgtEl>
                                            <p:attrNameLst>
                                              <p:attrName>ppt_x</p:attrName>
                                              <p:attrName>ppt_y</p:attrName>
                                            </p:attrNameLst>
                                          </p:cBhvr>
                                          <p:rCtr x="1029" y="22824"/>
                                        </p:animMotion>
                                      </p:childTnLst>
                                    </p:cTn>
                                  </p:par>
                                  <p:par>
                                    <p:cTn id="50" presetID="10" presetClass="exit" presetSubtype="0" fill="hold" nodeType="withEffect">
                                      <p:stCondLst>
                                        <p:cond delay="600"/>
                                      </p:stCondLst>
                                      <p:childTnLst>
                                        <p:animEffect transition="out" filter="fade">
                                          <p:cBhvr>
                                            <p:cTn id="51" dur="500"/>
                                            <p:tgtEl>
                                              <p:spTgt spid="33"/>
                                            </p:tgtEl>
                                          </p:cBhvr>
                                        </p:animEffect>
                                        <p:set>
                                          <p:cBhvr>
                                            <p:cTn id="52" dur="1" fill="hold">
                                              <p:stCondLst>
                                                <p:cond delay="499"/>
                                              </p:stCondLst>
                                            </p:cTn>
                                            <p:tgtEl>
                                              <p:spTgt spid="33"/>
                                            </p:tgtEl>
                                            <p:attrNameLst>
                                              <p:attrName>style.visibility</p:attrName>
                                            </p:attrNameLst>
                                          </p:cBhvr>
                                          <p:to>
                                            <p:strVal val="hidden"/>
                                          </p:to>
                                        </p:set>
                                      </p:childTnLst>
                                    </p:cTn>
                                  </p:par>
                                  <p:par>
                                    <p:cTn id="53" presetID="42" presetClass="path" presetSubtype="0" fill="hold" nodeType="withEffect">
                                      <p:stCondLst>
                                        <p:cond delay="0"/>
                                      </p:stCondLst>
                                      <p:childTnLst>
                                        <p:animMotion origin="layout" path="M -3.54167E-6 -4.81481E-6 L 0.14037 0.2294 " pathEditMode="relative" rAng="0" ptsTypes="AA">
                                          <p:cBhvr>
                                            <p:cTn id="54" dur="700" fill="hold"/>
                                            <p:tgtEl>
                                              <p:spTgt spid="37"/>
                                            </p:tgtEl>
                                            <p:attrNameLst>
                                              <p:attrName>ppt_x</p:attrName>
                                              <p:attrName>ppt_y</p:attrName>
                                            </p:attrNameLst>
                                          </p:cBhvr>
                                          <p:rCtr x="7018" y="11458"/>
                                        </p:animMotion>
                                      </p:childTnLst>
                                    </p:cTn>
                                  </p:par>
                                  <p:par>
                                    <p:cTn id="55" presetID="10" presetClass="exit" presetSubtype="0" fill="hold" nodeType="withEffect">
                                      <p:stCondLst>
                                        <p:cond delay="300"/>
                                      </p:stCondLst>
                                      <p:childTnLst>
                                        <p:animEffect transition="out" filter="fade">
                                          <p:cBhvr>
                                            <p:cTn id="56" dur="500"/>
                                            <p:tgtEl>
                                              <p:spTgt spid="37"/>
                                            </p:tgtEl>
                                          </p:cBhvr>
                                        </p:animEffect>
                                        <p:set>
                                          <p:cBhvr>
                                            <p:cTn id="57" dur="1" fill="hold">
                                              <p:stCondLst>
                                                <p:cond delay="499"/>
                                              </p:stCondLst>
                                            </p:cTn>
                                            <p:tgtEl>
                                              <p:spTgt spid="37"/>
                                            </p:tgtEl>
                                            <p:attrNameLst>
                                              <p:attrName>style.visibility</p:attrName>
                                            </p:attrNameLst>
                                          </p:cBhvr>
                                          <p:to>
                                            <p:strVal val="hidden"/>
                                          </p:to>
                                        </p:set>
                                      </p:childTnLst>
                                    </p:cTn>
                                  </p:par>
                                  <p:par>
                                    <p:cTn id="58" presetID="42" presetClass="path" presetSubtype="0" fill="hold" nodeType="withEffect">
                                      <p:stCondLst>
                                        <p:cond delay="0"/>
                                      </p:stCondLst>
                                      <p:childTnLst>
                                        <p:animMotion origin="layout" path="M -8.33333E-7 -4.81481E-6 L 0.02956 0.22963 " pathEditMode="relative" rAng="0" ptsTypes="AA">
                                          <p:cBhvr>
                                            <p:cTn id="59" dur="500" fill="hold"/>
                                            <p:tgtEl>
                                              <p:spTgt spid="35"/>
                                            </p:tgtEl>
                                            <p:attrNameLst>
                                              <p:attrName>ppt_x</p:attrName>
                                              <p:attrName>ppt_y</p:attrName>
                                            </p:attrNameLst>
                                          </p:cBhvr>
                                          <p:rCtr x="1471" y="11481"/>
                                        </p:animMotion>
                                      </p:childTnLst>
                                    </p:cTn>
                                  </p:par>
                                  <p:par>
                                    <p:cTn id="60" presetID="10" presetClass="exit" presetSubtype="0" fill="hold" nodeType="withEffect">
                                      <p:stCondLst>
                                        <p:cond delay="100"/>
                                      </p:stCondLst>
                                      <p:childTnLst>
                                        <p:animEffect transition="out" filter="fade">
                                          <p:cBhvr>
                                            <p:cTn id="61" dur="500"/>
                                            <p:tgtEl>
                                              <p:spTgt spid="35"/>
                                            </p:tgtEl>
                                          </p:cBhvr>
                                        </p:animEffect>
                                        <p:set>
                                          <p:cBhvr>
                                            <p:cTn id="62" dur="1" fill="hold">
                                              <p:stCondLst>
                                                <p:cond delay="499"/>
                                              </p:stCondLst>
                                            </p:cTn>
                                            <p:tgtEl>
                                              <p:spTgt spid="35"/>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nodeType="clickEffect">
                                      <p:stCondLst>
                                        <p:cond delay="0"/>
                                      </p:stCondLst>
                                      <p:childTnLst>
                                        <p:set>
                                          <p:cBhvr>
                                            <p:cTn id="66" dur="1" fill="hold">
                                              <p:stCondLst>
                                                <p:cond delay="0"/>
                                              </p:stCondLst>
                                            </p:cTn>
                                            <p:tgtEl>
                                              <p:spTgt spid="39"/>
                                            </p:tgtEl>
                                            <p:attrNameLst>
                                              <p:attrName>style.visibility</p:attrName>
                                            </p:attrNameLst>
                                          </p:cBhvr>
                                          <p:to>
                                            <p:strVal val="hidden"/>
                                          </p:to>
                                        </p:set>
                                      </p:childTnLst>
                                    </p:cTn>
                                  </p:par>
                                  <p:par>
                                    <p:cTn id="67" presetID="1" presetClass="entr" presetSubtype="0" fill="hold" nodeType="withEffect">
                                      <p:stCondLst>
                                        <p:cond delay="0"/>
                                      </p:stCondLst>
                                      <p:childTnLst>
                                        <p:set>
                                          <p:cBhvr>
                                            <p:cTn id="68" dur="1" fill="hold">
                                              <p:stCondLst>
                                                <p:cond delay="0"/>
                                              </p:stCondLst>
                                            </p:cTn>
                                            <p:tgtEl>
                                              <p:spTgt spid="40"/>
                                            </p:tgtEl>
                                            <p:attrNameLst>
                                              <p:attrName>style.visibility</p:attrName>
                                            </p:attrNameLst>
                                          </p:cBhvr>
                                          <p:to>
                                            <p:strVal val="visible"/>
                                          </p:to>
                                        </p:set>
                                      </p:childTnLst>
                                    </p:cTn>
                                  </p:par>
                                  <p:par>
                                    <p:cTn id="69" presetID="1" presetClass="exit" presetSubtype="0" fill="hold" nodeType="withEffect">
                                      <p:stCondLst>
                                        <p:cond delay="200"/>
                                      </p:stCondLst>
                                      <p:childTnLst>
                                        <p:set>
                                          <p:cBhvr>
                                            <p:cTn id="70" dur="1" fill="hold">
                                              <p:stCondLst>
                                                <p:cond delay="0"/>
                                              </p:stCondLst>
                                            </p:cTn>
                                            <p:tgtEl>
                                              <p:spTgt spid="40"/>
                                            </p:tgtEl>
                                            <p:attrNameLst>
                                              <p:attrName>style.visibility</p:attrName>
                                            </p:attrNameLst>
                                          </p:cBhvr>
                                          <p:to>
                                            <p:strVal val="hidden"/>
                                          </p:to>
                                        </p:set>
                                      </p:childTnLst>
                                    </p:cTn>
                                  </p:par>
                                  <p:par>
                                    <p:cTn id="71" presetID="1" presetClass="entr" presetSubtype="0" fill="hold" nodeType="withEffect">
                                      <p:stCondLst>
                                        <p:cond delay="200"/>
                                      </p:stCondLst>
                                      <p:childTnLst>
                                        <p:set>
                                          <p:cBhvr>
                                            <p:cTn id="72" dur="1" fill="hold">
                                              <p:stCondLst>
                                                <p:cond delay="0"/>
                                              </p:stCondLst>
                                            </p:cTn>
                                            <p:tgtEl>
                                              <p:spTgt spid="42"/>
                                            </p:tgtEl>
                                            <p:attrNameLst>
                                              <p:attrName>style.visibility</p:attrName>
                                            </p:attrNameLst>
                                          </p:cBhvr>
                                          <p:to>
                                            <p:strVal val="visible"/>
                                          </p:to>
                                        </p:set>
                                      </p:childTnLst>
                                    </p:cTn>
                                  </p:par>
                                  <p:par>
                                    <p:cTn id="73" presetID="1" presetClass="exit" presetSubtype="0" fill="hold" nodeType="withEffect">
                                      <p:stCondLst>
                                        <p:cond delay="400"/>
                                      </p:stCondLst>
                                      <p:childTnLst>
                                        <p:set>
                                          <p:cBhvr>
                                            <p:cTn id="74" dur="1" fill="hold">
                                              <p:stCondLst>
                                                <p:cond delay="0"/>
                                              </p:stCondLst>
                                            </p:cTn>
                                            <p:tgtEl>
                                              <p:spTgt spid="42"/>
                                            </p:tgtEl>
                                            <p:attrNameLst>
                                              <p:attrName>style.visibility</p:attrName>
                                            </p:attrNameLst>
                                          </p:cBhvr>
                                          <p:to>
                                            <p:strVal val="hidden"/>
                                          </p:to>
                                        </p:set>
                                      </p:childTnLst>
                                    </p:cTn>
                                  </p:par>
                                  <p:par>
                                    <p:cTn id="75" presetID="1" presetClass="entr" presetSubtype="0" fill="hold" nodeType="withEffect">
                                      <p:stCondLst>
                                        <p:cond delay="400"/>
                                      </p:stCondLst>
                                      <p:childTnLst>
                                        <p:set>
                                          <p:cBhvr>
                                            <p:cTn id="76" dur="1" fill="hold">
                                              <p:stCondLst>
                                                <p:cond delay="0"/>
                                              </p:stCondLst>
                                            </p:cTn>
                                            <p:tgtEl>
                                              <p:spTgt spid="41"/>
                                            </p:tgtEl>
                                            <p:attrNameLst>
                                              <p:attrName>style.visibility</p:attrName>
                                            </p:attrNameLst>
                                          </p:cBhvr>
                                          <p:to>
                                            <p:strVal val="visible"/>
                                          </p:to>
                                        </p:set>
                                      </p:childTnLst>
                                    </p:cTn>
                                  </p:par>
                                  <p:par>
                                    <p:cTn id="77" presetID="1" presetClass="exit" presetSubtype="0" fill="hold" nodeType="withEffect">
                                      <p:stCondLst>
                                        <p:cond delay="600"/>
                                      </p:stCondLst>
                                      <p:childTnLst>
                                        <p:set>
                                          <p:cBhvr>
                                            <p:cTn id="78" dur="1" fill="hold">
                                              <p:stCondLst>
                                                <p:cond delay="0"/>
                                              </p:stCondLst>
                                            </p:cTn>
                                            <p:tgtEl>
                                              <p:spTgt spid="41"/>
                                            </p:tgtEl>
                                            <p:attrNameLst>
                                              <p:attrName>style.visibility</p:attrName>
                                            </p:attrNameLst>
                                          </p:cBhvr>
                                          <p:to>
                                            <p:strVal val="hidden"/>
                                          </p:to>
                                        </p:set>
                                      </p:childTnLst>
                                    </p:cTn>
                                  </p:par>
                                  <p:par>
                                    <p:cTn id="79" presetID="1" presetClass="entr" presetSubtype="0" fill="hold" nodeType="withEffect">
                                      <p:stCondLst>
                                        <p:cond delay="600"/>
                                      </p:stCondLst>
                                      <p:childTnLst>
                                        <p:set>
                                          <p:cBhvr>
                                            <p:cTn id="80" dur="1" fill="hold">
                                              <p:stCondLst>
                                                <p:cond delay="0"/>
                                              </p:stCondLst>
                                            </p:cTn>
                                            <p:tgtEl>
                                              <p:spTgt spid="43"/>
                                            </p:tgtEl>
                                            <p:attrNameLst>
                                              <p:attrName>style.visibility</p:attrName>
                                            </p:attrNameLst>
                                          </p:cBhvr>
                                          <p:to>
                                            <p:strVal val="visible"/>
                                          </p:to>
                                        </p:set>
                                      </p:childTnLst>
                                    </p:cTn>
                                  </p:par>
                                </p:childTnLst>
                              </p:cTn>
                            </p:par>
                            <p:par>
                              <p:cTn id="81" fill="hold">
                                <p:stCondLst>
                                  <p:cond delay="600"/>
                                </p:stCondLst>
                                <p:childTnLst>
                                  <p:par>
                                    <p:cTn id="82" presetID="42" presetClass="path" presetSubtype="0" fill="hold" nodeType="afterEffect">
                                      <p:stCondLst>
                                        <p:cond delay="0"/>
                                      </p:stCondLst>
                                      <p:childTnLst>
                                        <p:animMotion origin="layout" path="M 3.125E-6 -7.40741E-7 L -0.13568 -0.25903 " pathEditMode="relative" rAng="0" ptsTypes="AA">
                                          <p:cBhvr>
                                            <p:cTn id="83" dur="700" fill="hold"/>
                                            <p:tgtEl>
                                              <p:spTgt spid="43"/>
                                            </p:tgtEl>
                                            <p:attrNameLst>
                                              <p:attrName>ppt_x</p:attrName>
                                              <p:attrName>ppt_y</p:attrName>
                                            </p:attrNameLst>
                                          </p:cBhvr>
                                          <p:rCtr x="-6784" y="-12963"/>
                                        </p:animMotion>
                                      </p:childTnLst>
                                    </p:cTn>
                                  </p:par>
                                </p:childTnLst>
                              </p:cTn>
                            </p:par>
                            <p:par>
                              <p:cTn id="84" fill="hold">
                                <p:stCondLst>
                                  <p:cond delay="1300"/>
                                </p:stCondLst>
                                <p:childTnLst>
                                  <p:par>
                                    <p:cTn id="85" presetID="1" presetClass="exit" presetSubtype="0" fill="hold" nodeType="afterEffect">
                                      <p:stCondLst>
                                        <p:cond delay="0"/>
                                      </p:stCondLst>
                                      <p:childTnLst>
                                        <p:set>
                                          <p:cBhvr>
                                            <p:cTn id="86" dur="1" fill="hold">
                                              <p:stCondLst>
                                                <p:cond delay="0"/>
                                              </p:stCondLst>
                                            </p:cTn>
                                            <p:tgtEl>
                                              <p:spTgt spid="43"/>
                                            </p:tgtEl>
                                            <p:attrNameLst>
                                              <p:attrName>style.visibility</p:attrName>
                                            </p:attrNameLst>
                                          </p:cBhvr>
                                          <p:to>
                                            <p:strVal val="hidden"/>
                                          </p:to>
                                        </p:set>
                                      </p:childTnLst>
                                    </p:cTn>
                                  </p:par>
                                </p:childTnLst>
                              </p:cTn>
                            </p:par>
                            <p:par>
                              <p:cTn id="87" fill="hold">
                                <p:stCondLst>
                                  <p:cond delay="1300"/>
                                </p:stCondLst>
                                <p:childTnLst>
                                  <p:par>
                                    <p:cTn id="88" presetID="1" presetClass="entr" presetSubtype="0" fill="hold" nodeType="afterEffect">
                                      <p:stCondLst>
                                        <p:cond delay="0"/>
                                      </p:stCondLst>
                                      <p:childTnLst>
                                        <p:set>
                                          <p:cBhvr>
                                            <p:cTn id="89" dur="1" fill="hold">
                                              <p:stCondLst>
                                                <p:cond delay="0"/>
                                              </p:stCondLst>
                                            </p:cTn>
                                            <p:tgtEl>
                                              <p:spTgt spid="44"/>
                                            </p:tgtEl>
                                            <p:attrNameLst>
                                              <p:attrName>style.visibility</p:attrName>
                                            </p:attrNameLst>
                                          </p:cBhvr>
                                          <p:to>
                                            <p:strVal val="visible"/>
                                          </p:to>
                                        </p:set>
                                      </p:childTnLst>
                                    </p:cTn>
                                  </p:par>
                                </p:childTnLst>
                              </p:cTn>
                            </p:par>
                            <p:par>
                              <p:cTn id="90" fill="hold">
                                <p:stCondLst>
                                  <p:cond delay="1300"/>
                                </p:stCondLst>
                                <p:childTnLst>
                                  <p:par>
                                    <p:cTn id="91" presetID="2" presetClass="entr" presetSubtype="8" fill="hold" nodeType="afterEffect">
                                      <p:stCondLst>
                                        <p:cond delay="0"/>
                                      </p:stCondLst>
                                      <p:childTnLst>
                                        <p:set>
                                          <p:cBhvr>
                                            <p:cTn id="92" dur="1" fill="hold">
                                              <p:stCondLst>
                                                <p:cond delay="0"/>
                                              </p:stCondLst>
                                            </p:cTn>
                                            <p:tgtEl>
                                              <p:spTgt spid="48"/>
                                            </p:tgtEl>
                                            <p:attrNameLst>
                                              <p:attrName>style.visibility</p:attrName>
                                            </p:attrNameLst>
                                          </p:cBhvr>
                                          <p:to>
                                            <p:strVal val="visible"/>
                                          </p:to>
                                        </p:set>
                                        <p:anim calcmode="lin" valueType="num">
                                          <p:cBhvr additive="base">
                                            <p:cTn id="93" dur="500" fill="hold"/>
                                            <p:tgtEl>
                                              <p:spTgt spid="48"/>
                                            </p:tgtEl>
                                            <p:attrNameLst>
                                              <p:attrName>ppt_x</p:attrName>
                                            </p:attrNameLst>
                                          </p:cBhvr>
                                          <p:tavLst>
                                            <p:tav tm="0">
                                              <p:val>
                                                <p:strVal val="0-#ppt_w/2"/>
                                              </p:val>
                                            </p:tav>
                                            <p:tav tm="100000">
                                              <p:val>
                                                <p:strVal val="#ppt_x"/>
                                              </p:val>
                                            </p:tav>
                                          </p:tavLst>
                                        </p:anim>
                                        <p:anim calcmode="lin" valueType="num">
                                          <p:cBhvr additive="base">
                                            <p:cTn id="94" dur="500" fill="hold"/>
                                            <p:tgtEl>
                                              <p:spTgt spid="48"/>
                                            </p:tgtEl>
                                            <p:attrNameLst>
                                              <p:attrName>ppt_y</p:attrName>
                                            </p:attrNameLst>
                                          </p:cBhvr>
                                          <p:tavLst>
                                            <p:tav tm="0">
                                              <p:val>
                                                <p:strVal val="#ppt_y"/>
                                              </p:val>
                                            </p:tav>
                                            <p:tav tm="100000">
                                              <p:val>
                                                <p:strVal val="#ppt_y"/>
                                              </p:val>
                                            </p:tav>
                                          </p:tavLst>
                                        </p:anim>
                                      </p:childTnLst>
                                    </p:cTn>
                                  </p:par>
                                </p:childTnLst>
                              </p:cTn>
                            </p:par>
                            <p:par>
                              <p:cTn id="95" fill="hold">
                                <p:stCondLst>
                                  <p:cond delay="1800"/>
                                </p:stCondLst>
                                <p:childTnLst>
                                  <p:par>
                                    <p:cTn id="96" presetID="42" presetClass="path" presetSubtype="0" fill="hold" nodeType="afterEffect">
                                      <p:stCondLst>
                                        <p:cond delay="0"/>
                                      </p:stCondLst>
                                      <p:childTnLst>
                                        <p:animMotion origin="layout" path="M 2.08333E-7 -2.96296E-6 L 0.06823 0.23797 " pathEditMode="relative" rAng="0" ptsTypes="AA">
                                          <p:cBhvr>
                                            <p:cTn id="97" dur="700" fill="hold"/>
                                            <p:tgtEl>
                                              <p:spTgt spid="44"/>
                                            </p:tgtEl>
                                            <p:attrNameLst>
                                              <p:attrName>ppt_x</p:attrName>
                                              <p:attrName>ppt_y</p:attrName>
                                            </p:attrNameLst>
                                          </p:cBhvr>
                                          <p:rCtr x="3411" y="11898"/>
                                        </p:animMotion>
                                      </p:childTnLst>
                                    </p:cTn>
                                  </p:par>
                                  <p:par>
                                    <p:cTn id="98" presetID="6" presetClass="emph" presetSubtype="0" fill="hold" nodeType="withEffect">
                                      <p:stCondLst>
                                        <p:cond delay="0"/>
                                      </p:stCondLst>
                                      <p:childTnLst>
                                        <p:animScale>
                                          <p:cBhvr>
                                            <p:cTn id="99" dur="700" fill="hold"/>
                                            <p:tgtEl>
                                              <p:spTgt spid="44"/>
                                            </p:tgtEl>
                                          </p:cBhvr>
                                          <p:by x="50000" y="50000"/>
                                        </p:animScale>
                                      </p:childTnLst>
                                    </p:cTn>
                                  </p:par>
                                  <p:par>
                                    <p:cTn id="100" presetID="10" presetClass="exit" presetSubtype="0" fill="hold" nodeType="withEffect">
                                      <p:stCondLst>
                                        <p:cond delay="300"/>
                                      </p:stCondLst>
                                      <p:childTnLst>
                                        <p:animEffect transition="out" filter="fade">
                                          <p:cBhvr>
                                            <p:cTn id="101" dur="500"/>
                                            <p:tgtEl>
                                              <p:spTgt spid="44"/>
                                            </p:tgtEl>
                                          </p:cBhvr>
                                        </p:animEffect>
                                        <p:set>
                                          <p:cBhvr>
                                            <p:cTn id="102" dur="1" fill="hold">
                                              <p:stCondLst>
                                                <p:cond delay="499"/>
                                              </p:stCondLst>
                                            </p:cTn>
                                            <p:tgtEl>
                                              <p:spTgt spid="44"/>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2" presetClass="entr" presetSubtype="2" fill="hold" nodeType="clickEffect" p14:presetBounceEnd="42857">
                                      <p:stCondLst>
                                        <p:cond delay="0"/>
                                      </p:stCondLst>
                                      <p:childTnLst>
                                        <p:set>
                                          <p:cBhvr>
                                            <p:cTn id="106" dur="1" fill="hold">
                                              <p:stCondLst>
                                                <p:cond delay="0"/>
                                              </p:stCondLst>
                                            </p:cTn>
                                            <p:tgtEl>
                                              <p:spTgt spid="49">
                                                <p:txEl>
                                                  <p:pRg st="0" end="0"/>
                                                </p:txEl>
                                              </p:spTgt>
                                            </p:tgtEl>
                                            <p:attrNameLst>
                                              <p:attrName>style.visibility</p:attrName>
                                            </p:attrNameLst>
                                          </p:cBhvr>
                                          <p:to>
                                            <p:strVal val="visible"/>
                                          </p:to>
                                        </p:set>
                                        <p:anim calcmode="lin" valueType="num" p14:bounceEnd="42857">
                                          <p:cBhvr additive="base">
                                            <p:cTn id="107" dur="700" fill="hold"/>
                                            <p:tgtEl>
                                              <p:spTgt spid="49">
                                                <p:txEl>
                                                  <p:pRg st="0" end="0"/>
                                                </p:txEl>
                                              </p:spTgt>
                                            </p:tgtEl>
                                            <p:attrNameLst>
                                              <p:attrName>ppt_x</p:attrName>
                                            </p:attrNameLst>
                                          </p:cBhvr>
                                          <p:tavLst>
                                            <p:tav tm="0">
                                              <p:val>
                                                <p:strVal val="1+#ppt_w/2"/>
                                              </p:val>
                                            </p:tav>
                                            <p:tav tm="100000">
                                              <p:val>
                                                <p:strVal val="#ppt_x"/>
                                              </p:val>
                                            </p:tav>
                                          </p:tavLst>
                                        </p:anim>
                                        <p:anim calcmode="lin" valueType="num" p14:bounceEnd="42857">
                                          <p:cBhvr additive="base">
                                            <p:cTn id="108" dur="700" fill="hold"/>
                                            <p:tgtEl>
                                              <p:spTgt spid="49">
                                                <p:txEl>
                                                  <p:pRg st="0" end="0"/>
                                                </p:txEl>
                                              </p:spTgt>
                                            </p:tgtEl>
                                            <p:attrNameLst>
                                              <p:attrName>ppt_y</p:attrName>
                                            </p:attrNameLst>
                                          </p:cBhvr>
                                          <p:tavLst>
                                            <p:tav tm="0">
                                              <p:val>
                                                <p:strVal val="#ppt_y"/>
                                              </p:val>
                                            </p:tav>
                                            <p:tav tm="100000">
                                              <p:val>
                                                <p:strVal val="#ppt_y"/>
                                              </p:val>
                                            </p:tav>
                                          </p:tavLst>
                                        </p:anim>
                                      </p:childTnLst>
                                    </p:cTn>
                                  </p:par>
                                  <p:par>
                                    <p:cTn id="109" presetID="2" presetClass="entr" presetSubtype="2" fill="hold" nodeType="withEffect" p14:presetBounceEnd="42857">
                                      <p:stCondLst>
                                        <p:cond delay="100"/>
                                      </p:stCondLst>
                                      <p:childTnLst>
                                        <p:set>
                                          <p:cBhvr>
                                            <p:cTn id="110" dur="1" fill="hold">
                                              <p:stCondLst>
                                                <p:cond delay="0"/>
                                              </p:stCondLst>
                                            </p:cTn>
                                            <p:tgtEl>
                                              <p:spTgt spid="49">
                                                <p:txEl>
                                                  <p:pRg st="1" end="1"/>
                                                </p:txEl>
                                              </p:spTgt>
                                            </p:tgtEl>
                                            <p:attrNameLst>
                                              <p:attrName>style.visibility</p:attrName>
                                            </p:attrNameLst>
                                          </p:cBhvr>
                                          <p:to>
                                            <p:strVal val="visible"/>
                                          </p:to>
                                        </p:set>
                                        <p:anim calcmode="lin" valueType="num" p14:bounceEnd="42857">
                                          <p:cBhvr additive="base">
                                            <p:cTn id="111" dur="700" fill="hold"/>
                                            <p:tgtEl>
                                              <p:spTgt spid="49">
                                                <p:txEl>
                                                  <p:pRg st="1" end="1"/>
                                                </p:txEl>
                                              </p:spTgt>
                                            </p:tgtEl>
                                            <p:attrNameLst>
                                              <p:attrName>ppt_x</p:attrName>
                                            </p:attrNameLst>
                                          </p:cBhvr>
                                          <p:tavLst>
                                            <p:tav tm="0">
                                              <p:val>
                                                <p:strVal val="1+#ppt_w/2"/>
                                              </p:val>
                                            </p:tav>
                                            <p:tav tm="100000">
                                              <p:val>
                                                <p:strVal val="#ppt_x"/>
                                              </p:val>
                                            </p:tav>
                                          </p:tavLst>
                                        </p:anim>
                                        <p:anim calcmode="lin" valueType="num" p14:bounceEnd="42857">
                                          <p:cBhvr additive="base">
                                            <p:cTn id="112" dur="700" fill="hold"/>
                                            <p:tgtEl>
                                              <p:spTgt spid="49">
                                                <p:txEl>
                                                  <p:pRg st="1" end="1"/>
                                                </p:txEl>
                                              </p:spTgt>
                                            </p:tgtEl>
                                            <p:attrNameLst>
                                              <p:attrName>ppt_y</p:attrName>
                                            </p:attrNameLst>
                                          </p:cBhvr>
                                          <p:tavLst>
                                            <p:tav tm="0">
                                              <p:val>
                                                <p:strVal val="#ppt_y"/>
                                              </p:val>
                                            </p:tav>
                                            <p:tav tm="100000">
                                              <p:val>
                                                <p:strVal val="#ppt_y"/>
                                              </p:val>
                                            </p:tav>
                                          </p:tavLst>
                                        </p:anim>
                                      </p:childTnLst>
                                    </p:cTn>
                                  </p:par>
                                  <p:par>
                                    <p:cTn id="113" presetID="2" presetClass="entr" presetSubtype="2" fill="hold" nodeType="withEffect" p14:presetBounceEnd="42857">
                                      <p:stCondLst>
                                        <p:cond delay="200"/>
                                      </p:stCondLst>
                                      <p:childTnLst>
                                        <p:set>
                                          <p:cBhvr>
                                            <p:cTn id="114" dur="1" fill="hold">
                                              <p:stCondLst>
                                                <p:cond delay="0"/>
                                              </p:stCondLst>
                                            </p:cTn>
                                            <p:tgtEl>
                                              <p:spTgt spid="49">
                                                <p:txEl>
                                                  <p:pRg st="2" end="2"/>
                                                </p:txEl>
                                              </p:spTgt>
                                            </p:tgtEl>
                                            <p:attrNameLst>
                                              <p:attrName>style.visibility</p:attrName>
                                            </p:attrNameLst>
                                          </p:cBhvr>
                                          <p:to>
                                            <p:strVal val="visible"/>
                                          </p:to>
                                        </p:set>
                                        <p:anim calcmode="lin" valueType="num" p14:bounceEnd="42857">
                                          <p:cBhvr additive="base">
                                            <p:cTn id="115" dur="700" fill="hold"/>
                                            <p:tgtEl>
                                              <p:spTgt spid="49">
                                                <p:txEl>
                                                  <p:pRg st="2" end="2"/>
                                                </p:txEl>
                                              </p:spTgt>
                                            </p:tgtEl>
                                            <p:attrNameLst>
                                              <p:attrName>ppt_x</p:attrName>
                                            </p:attrNameLst>
                                          </p:cBhvr>
                                          <p:tavLst>
                                            <p:tav tm="0">
                                              <p:val>
                                                <p:strVal val="1+#ppt_w/2"/>
                                              </p:val>
                                            </p:tav>
                                            <p:tav tm="100000">
                                              <p:val>
                                                <p:strVal val="#ppt_x"/>
                                              </p:val>
                                            </p:tav>
                                          </p:tavLst>
                                        </p:anim>
                                        <p:anim calcmode="lin" valueType="num" p14:bounceEnd="42857">
                                          <p:cBhvr additive="base">
                                            <p:cTn id="116" dur="700" fill="hold"/>
                                            <p:tgtEl>
                                              <p:spTgt spid="49">
                                                <p:txEl>
                                                  <p:pRg st="2" end="2"/>
                                                </p:txEl>
                                              </p:spTgt>
                                            </p:tgtEl>
                                            <p:attrNameLst>
                                              <p:attrName>ppt_y</p:attrName>
                                            </p:attrNameLst>
                                          </p:cBhvr>
                                          <p:tavLst>
                                            <p:tav tm="0">
                                              <p:val>
                                                <p:strVal val="#ppt_y"/>
                                              </p:val>
                                            </p:tav>
                                            <p:tav tm="100000">
                                              <p:val>
                                                <p:strVal val="#ppt_y"/>
                                              </p:val>
                                            </p:tav>
                                          </p:tavLst>
                                        </p:anim>
                                      </p:childTnLst>
                                    </p:cTn>
                                  </p:par>
                                  <p:par>
                                    <p:cTn id="117" presetID="2" presetClass="entr" presetSubtype="2" fill="hold" nodeType="withEffect" p14:presetBounceEnd="42857">
                                      <p:stCondLst>
                                        <p:cond delay="300"/>
                                      </p:stCondLst>
                                      <p:childTnLst>
                                        <p:set>
                                          <p:cBhvr>
                                            <p:cTn id="118" dur="1" fill="hold">
                                              <p:stCondLst>
                                                <p:cond delay="0"/>
                                              </p:stCondLst>
                                            </p:cTn>
                                            <p:tgtEl>
                                              <p:spTgt spid="49">
                                                <p:txEl>
                                                  <p:pRg st="3" end="3"/>
                                                </p:txEl>
                                              </p:spTgt>
                                            </p:tgtEl>
                                            <p:attrNameLst>
                                              <p:attrName>style.visibility</p:attrName>
                                            </p:attrNameLst>
                                          </p:cBhvr>
                                          <p:to>
                                            <p:strVal val="visible"/>
                                          </p:to>
                                        </p:set>
                                        <p:anim calcmode="lin" valueType="num" p14:bounceEnd="42857">
                                          <p:cBhvr additive="base">
                                            <p:cTn id="119" dur="700" fill="hold"/>
                                            <p:tgtEl>
                                              <p:spTgt spid="49">
                                                <p:txEl>
                                                  <p:pRg st="3" end="3"/>
                                                </p:txEl>
                                              </p:spTgt>
                                            </p:tgtEl>
                                            <p:attrNameLst>
                                              <p:attrName>ppt_x</p:attrName>
                                            </p:attrNameLst>
                                          </p:cBhvr>
                                          <p:tavLst>
                                            <p:tav tm="0">
                                              <p:val>
                                                <p:strVal val="1+#ppt_w/2"/>
                                              </p:val>
                                            </p:tav>
                                            <p:tav tm="100000">
                                              <p:val>
                                                <p:strVal val="#ppt_x"/>
                                              </p:val>
                                            </p:tav>
                                          </p:tavLst>
                                        </p:anim>
                                        <p:anim calcmode="lin" valueType="num" p14:bounceEnd="42857">
                                          <p:cBhvr additive="base">
                                            <p:cTn id="120" dur="700" fill="hold"/>
                                            <p:tgtEl>
                                              <p:spTgt spid="4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anim calcmode="lin" valueType="num">
                                          <p:cBhvr>
                                            <p:cTn id="13" dur="500" fill="hold"/>
                                            <p:tgtEl>
                                              <p:spTgt spid="31"/>
                                            </p:tgtEl>
                                            <p:attrNameLst>
                                              <p:attrName>ppt_w</p:attrName>
                                            </p:attrNameLst>
                                          </p:cBhvr>
                                          <p:tavLst>
                                            <p:tav tm="0">
                                              <p:val>
                                                <p:fltVal val="0"/>
                                              </p:val>
                                            </p:tav>
                                            <p:tav tm="100000">
                                              <p:val>
                                                <p:strVal val="#ppt_w"/>
                                              </p:val>
                                            </p:tav>
                                          </p:tavLst>
                                        </p:anim>
                                        <p:anim calcmode="lin" valueType="num">
                                          <p:cBhvr>
                                            <p:cTn id="14" dur="500" fill="hold"/>
                                            <p:tgtEl>
                                              <p:spTgt spid="31"/>
                                            </p:tgtEl>
                                            <p:attrNameLst>
                                              <p:attrName>ppt_h</p:attrName>
                                            </p:attrNameLst>
                                          </p:cBhvr>
                                          <p:tavLst>
                                            <p:tav tm="0">
                                              <p:val>
                                                <p:fltVal val="0"/>
                                              </p:val>
                                            </p:tav>
                                            <p:tav tm="100000">
                                              <p:val>
                                                <p:strVal val="#ppt_h"/>
                                              </p:val>
                                            </p:tav>
                                          </p:tavLst>
                                        </p:anim>
                                        <p:anim calcmode="lin" valueType="num">
                                          <p:cBhvr>
                                            <p:cTn id="15" dur="500" fill="hold"/>
                                            <p:tgtEl>
                                              <p:spTgt spid="31"/>
                                            </p:tgtEl>
                                            <p:attrNameLst>
                                              <p:attrName>style.rotation</p:attrName>
                                            </p:attrNameLst>
                                          </p:cBhvr>
                                          <p:tavLst>
                                            <p:tav tm="0">
                                              <p:val>
                                                <p:fltVal val="360"/>
                                              </p:val>
                                            </p:tav>
                                            <p:tav tm="100000">
                                              <p:val>
                                                <p:fltVal val="0"/>
                                              </p:val>
                                            </p:tav>
                                          </p:tavLst>
                                        </p:anim>
                                        <p:animEffect transition="in" filter="fade">
                                          <p:cBhvr>
                                            <p:cTn id="16" dur="500"/>
                                            <p:tgtEl>
                                              <p:spTgt spid="31"/>
                                            </p:tgtEl>
                                          </p:cBhvr>
                                        </p:animEffect>
                                      </p:childTnLst>
                                    </p:cTn>
                                  </p:par>
                                  <p:par>
                                    <p:cTn id="17" presetID="49" presetClass="entr" presetSubtype="0" decel="100000" fill="hold" nodeType="withEffect">
                                      <p:stCondLst>
                                        <p:cond delay="200"/>
                                      </p:stCondLst>
                                      <p:childTnLst>
                                        <p:set>
                                          <p:cBhvr>
                                            <p:cTn id="18" dur="1" fill="hold">
                                              <p:stCondLst>
                                                <p:cond delay="0"/>
                                              </p:stCondLst>
                                            </p:cTn>
                                            <p:tgtEl>
                                              <p:spTgt spid="33"/>
                                            </p:tgtEl>
                                            <p:attrNameLst>
                                              <p:attrName>style.visibility</p:attrName>
                                            </p:attrNameLst>
                                          </p:cBhvr>
                                          <p:to>
                                            <p:strVal val="visible"/>
                                          </p:to>
                                        </p:set>
                                        <p:anim calcmode="lin" valueType="num">
                                          <p:cBhvr>
                                            <p:cTn id="19" dur="500" fill="hold"/>
                                            <p:tgtEl>
                                              <p:spTgt spid="33"/>
                                            </p:tgtEl>
                                            <p:attrNameLst>
                                              <p:attrName>ppt_w</p:attrName>
                                            </p:attrNameLst>
                                          </p:cBhvr>
                                          <p:tavLst>
                                            <p:tav tm="0">
                                              <p:val>
                                                <p:fltVal val="0"/>
                                              </p:val>
                                            </p:tav>
                                            <p:tav tm="100000">
                                              <p:val>
                                                <p:strVal val="#ppt_w"/>
                                              </p:val>
                                            </p:tav>
                                          </p:tavLst>
                                        </p:anim>
                                        <p:anim calcmode="lin" valueType="num">
                                          <p:cBhvr>
                                            <p:cTn id="20" dur="500" fill="hold"/>
                                            <p:tgtEl>
                                              <p:spTgt spid="33"/>
                                            </p:tgtEl>
                                            <p:attrNameLst>
                                              <p:attrName>ppt_h</p:attrName>
                                            </p:attrNameLst>
                                          </p:cBhvr>
                                          <p:tavLst>
                                            <p:tav tm="0">
                                              <p:val>
                                                <p:fltVal val="0"/>
                                              </p:val>
                                            </p:tav>
                                            <p:tav tm="100000">
                                              <p:val>
                                                <p:strVal val="#ppt_h"/>
                                              </p:val>
                                            </p:tav>
                                          </p:tavLst>
                                        </p:anim>
                                        <p:anim calcmode="lin" valueType="num">
                                          <p:cBhvr>
                                            <p:cTn id="21" dur="500" fill="hold"/>
                                            <p:tgtEl>
                                              <p:spTgt spid="33"/>
                                            </p:tgtEl>
                                            <p:attrNameLst>
                                              <p:attrName>style.rotation</p:attrName>
                                            </p:attrNameLst>
                                          </p:cBhvr>
                                          <p:tavLst>
                                            <p:tav tm="0">
                                              <p:val>
                                                <p:fltVal val="360"/>
                                              </p:val>
                                            </p:tav>
                                            <p:tav tm="100000">
                                              <p:val>
                                                <p:fltVal val="0"/>
                                              </p:val>
                                            </p:tav>
                                          </p:tavLst>
                                        </p:anim>
                                        <p:animEffect transition="in" filter="fade">
                                          <p:cBhvr>
                                            <p:cTn id="22" dur="500"/>
                                            <p:tgtEl>
                                              <p:spTgt spid="33"/>
                                            </p:tgtEl>
                                          </p:cBhvr>
                                        </p:animEffect>
                                      </p:childTnLst>
                                    </p:cTn>
                                  </p:par>
                                  <p:par>
                                    <p:cTn id="23" presetID="49" presetClass="entr" presetSubtype="0" decel="100000" fill="hold" nodeType="withEffect">
                                      <p:stCondLst>
                                        <p:cond delay="400"/>
                                      </p:stCondLst>
                                      <p:childTnLst>
                                        <p:set>
                                          <p:cBhvr>
                                            <p:cTn id="24" dur="1" fill="hold">
                                              <p:stCondLst>
                                                <p:cond delay="0"/>
                                              </p:stCondLst>
                                            </p:cTn>
                                            <p:tgtEl>
                                              <p:spTgt spid="37"/>
                                            </p:tgtEl>
                                            <p:attrNameLst>
                                              <p:attrName>style.visibility</p:attrName>
                                            </p:attrNameLst>
                                          </p:cBhvr>
                                          <p:to>
                                            <p:strVal val="visible"/>
                                          </p:to>
                                        </p:set>
                                        <p:anim calcmode="lin" valueType="num">
                                          <p:cBhvr>
                                            <p:cTn id="25" dur="500" fill="hold"/>
                                            <p:tgtEl>
                                              <p:spTgt spid="37"/>
                                            </p:tgtEl>
                                            <p:attrNameLst>
                                              <p:attrName>ppt_w</p:attrName>
                                            </p:attrNameLst>
                                          </p:cBhvr>
                                          <p:tavLst>
                                            <p:tav tm="0">
                                              <p:val>
                                                <p:fltVal val="0"/>
                                              </p:val>
                                            </p:tav>
                                            <p:tav tm="100000">
                                              <p:val>
                                                <p:strVal val="#ppt_w"/>
                                              </p:val>
                                            </p:tav>
                                          </p:tavLst>
                                        </p:anim>
                                        <p:anim calcmode="lin" valueType="num">
                                          <p:cBhvr>
                                            <p:cTn id="26" dur="500" fill="hold"/>
                                            <p:tgtEl>
                                              <p:spTgt spid="37"/>
                                            </p:tgtEl>
                                            <p:attrNameLst>
                                              <p:attrName>ppt_h</p:attrName>
                                            </p:attrNameLst>
                                          </p:cBhvr>
                                          <p:tavLst>
                                            <p:tav tm="0">
                                              <p:val>
                                                <p:fltVal val="0"/>
                                              </p:val>
                                            </p:tav>
                                            <p:tav tm="100000">
                                              <p:val>
                                                <p:strVal val="#ppt_h"/>
                                              </p:val>
                                            </p:tav>
                                          </p:tavLst>
                                        </p:anim>
                                        <p:anim calcmode="lin" valueType="num">
                                          <p:cBhvr>
                                            <p:cTn id="27" dur="500" fill="hold"/>
                                            <p:tgtEl>
                                              <p:spTgt spid="37"/>
                                            </p:tgtEl>
                                            <p:attrNameLst>
                                              <p:attrName>style.rotation</p:attrName>
                                            </p:attrNameLst>
                                          </p:cBhvr>
                                          <p:tavLst>
                                            <p:tav tm="0">
                                              <p:val>
                                                <p:fltVal val="360"/>
                                              </p:val>
                                            </p:tav>
                                            <p:tav tm="100000">
                                              <p:val>
                                                <p:fltVal val="0"/>
                                              </p:val>
                                            </p:tav>
                                          </p:tavLst>
                                        </p:anim>
                                        <p:animEffect transition="in" filter="fade">
                                          <p:cBhvr>
                                            <p:cTn id="28" dur="500"/>
                                            <p:tgtEl>
                                              <p:spTgt spid="37"/>
                                            </p:tgtEl>
                                          </p:cBhvr>
                                        </p:animEffect>
                                      </p:childTnLst>
                                    </p:cTn>
                                  </p:par>
                                  <p:par>
                                    <p:cTn id="29" presetID="49" presetClass="entr" presetSubtype="0" decel="100000" fill="hold" nodeType="withEffect">
                                      <p:stCondLst>
                                        <p:cond delay="600"/>
                                      </p:stCondLst>
                                      <p:childTnLst>
                                        <p:set>
                                          <p:cBhvr>
                                            <p:cTn id="30" dur="1" fill="hold">
                                              <p:stCondLst>
                                                <p:cond delay="0"/>
                                              </p:stCondLst>
                                            </p:cTn>
                                            <p:tgtEl>
                                              <p:spTgt spid="35"/>
                                            </p:tgtEl>
                                            <p:attrNameLst>
                                              <p:attrName>style.visibility</p:attrName>
                                            </p:attrNameLst>
                                          </p:cBhvr>
                                          <p:to>
                                            <p:strVal val="visible"/>
                                          </p:to>
                                        </p:set>
                                        <p:anim calcmode="lin" valueType="num">
                                          <p:cBhvr>
                                            <p:cTn id="31" dur="500" fill="hold"/>
                                            <p:tgtEl>
                                              <p:spTgt spid="35"/>
                                            </p:tgtEl>
                                            <p:attrNameLst>
                                              <p:attrName>ppt_w</p:attrName>
                                            </p:attrNameLst>
                                          </p:cBhvr>
                                          <p:tavLst>
                                            <p:tav tm="0">
                                              <p:val>
                                                <p:fltVal val="0"/>
                                              </p:val>
                                            </p:tav>
                                            <p:tav tm="100000">
                                              <p:val>
                                                <p:strVal val="#ppt_w"/>
                                              </p:val>
                                            </p:tav>
                                          </p:tavLst>
                                        </p:anim>
                                        <p:anim calcmode="lin" valueType="num">
                                          <p:cBhvr>
                                            <p:cTn id="32" dur="500" fill="hold"/>
                                            <p:tgtEl>
                                              <p:spTgt spid="35"/>
                                            </p:tgtEl>
                                            <p:attrNameLst>
                                              <p:attrName>ppt_h</p:attrName>
                                            </p:attrNameLst>
                                          </p:cBhvr>
                                          <p:tavLst>
                                            <p:tav tm="0">
                                              <p:val>
                                                <p:fltVal val="0"/>
                                              </p:val>
                                            </p:tav>
                                            <p:tav tm="100000">
                                              <p:val>
                                                <p:strVal val="#ppt_h"/>
                                              </p:val>
                                            </p:tav>
                                          </p:tavLst>
                                        </p:anim>
                                        <p:anim calcmode="lin" valueType="num">
                                          <p:cBhvr>
                                            <p:cTn id="33" dur="500" fill="hold"/>
                                            <p:tgtEl>
                                              <p:spTgt spid="35"/>
                                            </p:tgtEl>
                                            <p:attrNameLst>
                                              <p:attrName>style.rotation</p:attrName>
                                            </p:attrNameLst>
                                          </p:cBhvr>
                                          <p:tavLst>
                                            <p:tav tm="0">
                                              <p:val>
                                                <p:fltVal val="360"/>
                                              </p:val>
                                            </p:tav>
                                            <p:tav tm="100000">
                                              <p:val>
                                                <p:fltVal val="0"/>
                                              </p:val>
                                            </p:tav>
                                          </p:tavLst>
                                        </p:anim>
                                        <p:animEffect transition="in" filter="fade">
                                          <p:cBhvr>
                                            <p:cTn id="34" dur="500"/>
                                            <p:tgtEl>
                                              <p:spTgt spid="35"/>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9"/>
                                            </p:tgtEl>
                                            <p:attrNameLst>
                                              <p:attrName>style.visibility</p:attrName>
                                            </p:attrNameLst>
                                          </p:cBhvr>
                                          <p:to>
                                            <p:strVal val="visible"/>
                                          </p:to>
                                        </p:set>
                                        <p:anim calcmode="lin" valueType="num">
                                          <p:cBhvr additive="base">
                                            <p:cTn id="39" dur="700" fill="hold"/>
                                            <p:tgtEl>
                                              <p:spTgt spid="39"/>
                                            </p:tgtEl>
                                            <p:attrNameLst>
                                              <p:attrName>ppt_x</p:attrName>
                                            </p:attrNameLst>
                                          </p:cBhvr>
                                          <p:tavLst>
                                            <p:tav tm="0">
                                              <p:val>
                                                <p:strVal val="#ppt_x"/>
                                              </p:val>
                                            </p:tav>
                                            <p:tav tm="100000">
                                              <p:val>
                                                <p:strVal val="#ppt_x"/>
                                              </p:val>
                                            </p:tav>
                                          </p:tavLst>
                                        </p:anim>
                                        <p:anim calcmode="lin" valueType="num">
                                          <p:cBhvr additive="base">
                                            <p:cTn id="40" dur="7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path" presetSubtype="0" fill="hold" nodeType="clickEffect">
                                      <p:stCondLst>
                                        <p:cond delay="0"/>
                                      </p:stCondLst>
                                      <p:childTnLst>
                                        <p:animMotion origin="layout" path="M 1.25E-6 -1.48148E-6 L 0.13086 0.45671 " pathEditMode="relative" rAng="0" ptsTypes="AA">
                                          <p:cBhvr>
                                            <p:cTn id="44" dur="1200" fill="hold"/>
                                            <p:tgtEl>
                                              <p:spTgt spid="31"/>
                                            </p:tgtEl>
                                            <p:attrNameLst>
                                              <p:attrName>ppt_x</p:attrName>
                                              <p:attrName>ppt_y</p:attrName>
                                            </p:attrNameLst>
                                          </p:cBhvr>
                                          <p:rCtr x="6536" y="22824"/>
                                        </p:animMotion>
                                      </p:childTnLst>
                                    </p:cTn>
                                  </p:par>
                                  <p:par>
                                    <p:cTn id="45" presetID="10" presetClass="exit" presetSubtype="0" fill="hold" nodeType="withEffect">
                                      <p:stCondLst>
                                        <p:cond delay="800"/>
                                      </p:stCondLst>
                                      <p:childTnLst>
                                        <p:animEffect transition="out" filter="fade">
                                          <p:cBhvr>
                                            <p:cTn id="46" dur="500"/>
                                            <p:tgtEl>
                                              <p:spTgt spid="31"/>
                                            </p:tgtEl>
                                          </p:cBhvr>
                                        </p:animEffect>
                                        <p:set>
                                          <p:cBhvr>
                                            <p:cTn id="47" dur="1" fill="hold">
                                              <p:stCondLst>
                                                <p:cond delay="499"/>
                                              </p:stCondLst>
                                            </p:cTn>
                                            <p:tgtEl>
                                              <p:spTgt spid="31"/>
                                            </p:tgtEl>
                                            <p:attrNameLst>
                                              <p:attrName>style.visibility</p:attrName>
                                            </p:attrNameLst>
                                          </p:cBhvr>
                                          <p:to>
                                            <p:strVal val="hidden"/>
                                          </p:to>
                                        </p:set>
                                      </p:childTnLst>
                                    </p:cTn>
                                  </p:par>
                                  <p:par>
                                    <p:cTn id="48" presetID="42" presetClass="path" presetSubtype="0" fill="hold" nodeType="withEffect">
                                      <p:stCondLst>
                                        <p:cond delay="0"/>
                                      </p:stCondLst>
                                      <p:childTnLst>
                                        <p:animMotion origin="layout" path="M 4.79167E-6 5.55112E-17 L 0.02057 0.45671 " pathEditMode="relative" rAng="0" ptsTypes="AA">
                                          <p:cBhvr>
                                            <p:cTn id="49" dur="1000" fill="hold"/>
                                            <p:tgtEl>
                                              <p:spTgt spid="33"/>
                                            </p:tgtEl>
                                            <p:attrNameLst>
                                              <p:attrName>ppt_x</p:attrName>
                                              <p:attrName>ppt_y</p:attrName>
                                            </p:attrNameLst>
                                          </p:cBhvr>
                                          <p:rCtr x="1029" y="22824"/>
                                        </p:animMotion>
                                      </p:childTnLst>
                                    </p:cTn>
                                  </p:par>
                                  <p:par>
                                    <p:cTn id="50" presetID="10" presetClass="exit" presetSubtype="0" fill="hold" nodeType="withEffect">
                                      <p:stCondLst>
                                        <p:cond delay="600"/>
                                      </p:stCondLst>
                                      <p:childTnLst>
                                        <p:animEffect transition="out" filter="fade">
                                          <p:cBhvr>
                                            <p:cTn id="51" dur="500"/>
                                            <p:tgtEl>
                                              <p:spTgt spid="33"/>
                                            </p:tgtEl>
                                          </p:cBhvr>
                                        </p:animEffect>
                                        <p:set>
                                          <p:cBhvr>
                                            <p:cTn id="52" dur="1" fill="hold">
                                              <p:stCondLst>
                                                <p:cond delay="499"/>
                                              </p:stCondLst>
                                            </p:cTn>
                                            <p:tgtEl>
                                              <p:spTgt spid="33"/>
                                            </p:tgtEl>
                                            <p:attrNameLst>
                                              <p:attrName>style.visibility</p:attrName>
                                            </p:attrNameLst>
                                          </p:cBhvr>
                                          <p:to>
                                            <p:strVal val="hidden"/>
                                          </p:to>
                                        </p:set>
                                      </p:childTnLst>
                                    </p:cTn>
                                  </p:par>
                                  <p:par>
                                    <p:cTn id="53" presetID="42" presetClass="path" presetSubtype="0" fill="hold" nodeType="withEffect">
                                      <p:stCondLst>
                                        <p:cond delay="0"/>
                                      </p:stCondLst>
                                      <p:childTnLst>
                                        <p:animMotion origin="layout" path="M -3.54167E-6 -4.81481E-6 L 0.14037 0.2294 " pathEditMode="relative" rAng="0" ptsTypes="AA">
                                          <p:cBhvr>
                                            <p:cTn id="54" dur="700" fill="hold"/>
                                            <p:tgtEl>
                                              <p:spTgt spid="37"/>
                                            </p:tgtEl>
                                            <p:attrNameLst>
                                              <p:attrName>ppt_x</p:attrName>
                                              <p:attrName>ppt_y</p:attrName>
                                            </p:attrNameLst>
                                          </p:cBhvr>
                                          <p:rCtr x="7018" y="11458"/>
                                        </p:animMotion>
                                      </p:childTnLst>
                                    </p:cTn>
                                  </p:par>
                                  <p:par>
                                    <p:cTn id="55" presetID="10" presetClass="exit" presetSubtype="0" fill="hold" nodeType="withEffect">
                                      <p:stCondLst>
                                        <p:cond delay="300"/>
                                      </p:stCondLst>
                                      <p:childTnLst>
                                        <p:animEffect transition="out" filter="fade">
                                          <p:cBhvr>
                                            <p:cTn id="56" dur="500"/>
                                            <p:tgtEl>
                                              <p:spTgt spid="37"/>
                                            </p:tgtEl>
                                          </p:cBhvr>
                                        </p:animEffect>
                                        <p:set>
                                          <p:cBhvr>
                                            <p:cTn id="57" dur="1" fill="hold">
                                              <p:stCondLst>
                                                <p:cond delay="499"/>
                                              </p:stCondLst>
                                            </p:cTn>
                                            <p:tgtEl>
                                              <p:spTgt spid="37"/>
                                            </p:tgtEl>
                                            <p:attrNameLst>
                                              <p:attrName>style.visibility</p:attrName>
                                            </p:attrNameLst>
                                          </p:cBhvr>
                                          <p:to>
                                            <p:strVal val="hidden"/>
                                          </p:to>
                                        </p:set>
                                      </p:childTnLst>
                                    </p:cTn>
                                  </p:par>
                                  <p:par>
                                    <p:cTn id="58" presetID="42" presetClass="path" presetSubtype="0" fill="hold" nodeType="withEffect">
                                      <p:stCondLst>
                                        <p:cond delay="0"/>
                                      </p:stCondLst>
                                      <p:childTnLst>
                                        <p:animMotion origin="layout" path="M -8.33333E-7 -4.81481E-6 L 0.02956 0.22963 " pathEditMode="relative" rAng="0" ptsTypes="AA">
                                          <p:cBhvr>
                                            <p:cTn id="59" dur="500" fill="hold"/>
                                            <p:tgtEl>
                                              <p:spTgt spid="35"/>
                                            </p:tgtEl>
                                            <p:attrNameLst>
                                              <p:attrName>ppt_x</p:attrName>
                                              <p:attrName>ppt_y</p:attrName>
                                            </p:attrNameLst>
                                          </p:cBhvr>
                                          <p:rCtr x="1471" y="11481"/>
                                        </p:animMotion>
                                      </p:childTnLst>
                                    </p:cTn>
                                  </p:par>
                                  <p:par>
                                    <p:cTn id="60" presetID="10" presetClass="exit" presetSubtype="0" fill="hold" nodeType="withEffect">
                                      <p:stCondLst>
                                        <p:cond delay="100"/>
                                      </p:stCondLst>
                                      <p:childTnLst>
                                        <p:animEffect transition="out" filter="fade">
                                          <p:cBhvr>
                                            <p:cTn id="61" dur="500"/>
                                            <p:tgtEl>
                                              <p:spTgt spid="35"/>
                                            </p:tgtEl>
                                          </p:cBhvr>
                                        </p:animEffect>
                                        <p:set>
                                          <p:cBhvr>
                                            <p:cTn id="62" dur="1" fill="hold">
                                              <p:stCondLst>
                                                <p:cond delay="499"/>
                                              </p:stCondLst>
                                            </p:cTn>
                                            <p:tgtEl>
                                              <p:spTgt spid="35"/>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nodeType="clickEffect">
                                      <p:stCondLst>
                                        <p:cond delay="0"/>
                                      </p:stCondLst>
                                      <p:childTnLst>
                                        <p:set>
                                          <p:cBhvr>
                                            <p:cTn id="66" dur="1" fill="hold">
                                              <p:stCondLst>
                                                <p:cond delay="0"/>
                                              </p:stCondLst>
                                            </p:cTn>
                                            <p:tgtEl>
                                              <p:spTgt spid="39"/>
                                            </p:tgtEl>
                                            <p:attrNameLst>
                                              <p:attrName>style.visibility</p:attrName>
                                            </p:attrNameLst>
                                          </p:cBhvr>
                                          <p:to>
                                            <p:strVal val="hidden"/>
                                          </p:to>
                                        </p:set>
                                      </p:childTnLst>
                                    </p:cTn>
                                  </p:par>
                                  <p:par>
                                    <p:cTn id="67" presetID="1" presetClass="entr" presetSubtype="0" fill="hold" nodeType="withEffect">
                                      <p:stCondLst>
                                        <p:cond delay="0"/>
                                      </p:stCondLst>
                                      <p:childTnLst>
                                        <p:set>
                                          <p:cBhvr>
                                            <p:cTn id="68" dur="1" fill="hold">
                                              <p:stCondLst>
                                                <p:cond delay="0"/>
                                              </p:stCondLst>
                                            </p:cTn>
                                            <p:tgtEl>
                                              <p:spTgt spid="40"/>
                                            </p:tgtEl>
                                            <p:attrNameLst>
                                              <p:attrName>style.visibility</p:attrName>
                                            </p:attrNameLst>
                                          </p:cBhvr>
                                          <p:to>
                                            <p:strVal val="visible"/>
                                          </p:to>
                                        </p:set>
                                      </p:childTnLst>
                                    </p:cTn>
                                  </p:par>
                                  <p:par>
                                    <p:cTn id="69" presetID="1" presetClass="exit" presetSubtype="0" fill="hold" nodeType="withEffect">
                                      <p:stCondLst>
                                        <p:cond delay="200"/>
                                      </p:stCondLst>
                                      <p:childTnLst>
                                        <p:set>
                                          <p:cBhvr>
                                            <p:cTn id="70" dur="1" fill="hold">
                                              <p:stCondLst>
                                                <p:cond delay="0"/>
                                              </p:stCondLst>
                                            </p:cTn>
                                            <p:tgtEl>
                                              <p:spTgt spid="40"/>
                                            </p:tgtEl>
                                            <p:attrNameLst>
                                              <p:attrName>style.visibility</p:attrName>
                                            </p:attrNameLst>
                                          </p:cBhvr>
                                          <p:to>
                                            <p:strVal val="hidden"/>
                                          </p:to>
                                        </p:set>
                                      </p:childTnLst>
                                    </p:cTn>
                                  </p:par>
                                  <p:par>
                                    <p:cTn id="71" presetID="1" presetClass="entr" presetSubtype="0" fill="hold" nodeType="withEffect">
                                      <p:stCondLst>
                                        <p:cond delay="200"/>
                                      </p:stCondLst>
                                      <p:childTnLst>
                                        <p:set>
                                          <p:cBhvr>
                                            <p:cTn id="72" dur="1" fill="hold">
                                              <p:stCondLst>
                                                <p:cond delay="0"/>
                                              </p:stCondLst>
                                            </p:cTn>
                                            <p:tgtEl>
                                              <p:spTgt spid="42"/>
                                            </p:tgtEl>
                                            <p:attrNameLst>
                                              <p:attrName>style.visibility</p:attrName>
                                            </p:attrNameLst>
                                          </p:cBhvr>
                                          <p:to>
                                            <p:strVal val="visible"/>
                                          </p:to>
                                        </p:set>
                                      </p:childTnLst>
                                    </p:cTn>
                                  </p:par>
                                  <p:par>
                                    <p:cTn id="73" presetID="1" presetClass="exit" presetSubtype="0" fill="hold" nodeType="withEffect">
                                      <p:stCondLst>
                                        <p:cond delay="400"/>
                                      </p:stCondLst>
                                      <p:childTnLst>
                                        <p:set>
                                          <p:cBhvr>
                                            <p:cTn id="74" dur="1" fill="hold">
                                              <p:stCondLst>
                                                <p:cond delay="0"/>
                                              </p:stCondLst>
                                            </p:cTn>
                                            <p:tgtEl>
                                              <p:spTgt spid="42"/>
                                            </p:tgtEl>
                                            <p:attrNameLst>
                                              <p:attrName>style.visibility</p:attrName>
                                            </p:attrNameLst>
                                          </p:cBhvr>
                                          <p:to>
                                            <p:strVal val="hidden"/>
                                          </p:to>
                                        </p:set>
                                      </p:childTnLst>
                                    </p:cTn>
                                  </p:par>
                                  <p:par>
                                    <p:cTn id="75" presetID="1" presetClass="entr" presetSubtype="0" fill="hold" nodeType="withEffect">
                                      <p:stCondLst>
                                        <p:cond delay="400"/>
                                      </p:stCondLst>
                                      <p:childTnLst>
                                        <p:set>
                                          <p:cBhvr>
                                            <p:cTn id="76" dur="1" fill="hold">
                                              <p:stCondLst>
                                                <p:cond delay="0"/>
                                              </p:stCondLst>
                                            </p:cTn>
                                            <p:tgtEl>
                                              <p:spTgt spid="41"/>
                                            </p:tgtEl>
                                            <p:attrNameLst>
                                              <p:attrName>style.visibility</p:attrName>
                                            </p:attrNameLst>
                                          </p:cBhvr>
                                          <p:to>
                                            <p:strVal val="visible"/>
                                          </p:to>
                                        </p:set>
                                      </p:childTnLst>
                                    </p:cTn>
                                  </p:par>
                                  <p:par>
                                    <p:cTn id="77" presetID="1" presetClass="exit" presetSubtype="0" fill="hold" nodeType="withEffect">
                                      <p:stCondLst>
                                        <p:cond delay="600"/>
                                      </p:stCondLst>
                                      <p:childTnLst>
                                        <p:set>
                                          <p:cBhvr>
                                            <p:cTn id="78" dur="1" fill="hold">
                                              <p:stCondLst>
                                                <p:cond delay="0"/>
                                              </p:stCondLst>
                                            </p:cTn>
                                            <p:tgtEl>
                                              <p:spTgt spid="41"/>
                                            </p:tgtEl>
                                            <p:attrNameLst>
                                              <p:attrName>style.visibility</p:attrName>
                                            </p:attrNameLst>
                                          </p:cBhvr>
                                          <p:to>
                                            <p:strVal val="hidden"/>
                                          </p:to>
                                        </p:set>
                                      </p:childTnLst>
                                    </p:cTn>
                                  </p:par>
                                  <p:par>
                                    <p:cTn id="79" presetID="1" presetClass="entr" presetSubtype="0" fill="hold" nodeType="withEffect">
                                      <p:stCondLst>
                                        <p:cond delay="600"/>
                                      </p:stCondLst>
                                      <p:childTnLst>
                                        <p:set>
                                          <p:cBhvr>
                                            <p:cTn id="80" dur="1" fill="hold">
                                              <p:stCondLst>
                                                <p:cond delay="0"/>
                                              </p:stCondLst>
                                            </p:cTn>
                                            <p:tgtEl>
                                              <p:spTgt spid="43"/>
                                            </p:tgtEl>
                                            <p:attrNameLst>
                                              <p:attrName>style.visibility</p:attrName>
                                            </p:attrNameLst>
                                          </p:cBhvr>
                                          <p:to>
                                            <p:strVal val="visible"/>
                                          </p:to>
                                        </p:set>
                                      </p:childTnLst>
                                    </p:cTn>
                                  </p:par>
                                </p:childTnLst>
                              </p:cTn>
                            </p:par>
                            <p:par>
                              <p:cTn id="81" fill="hold">
                                <p:stCondLst>
                                  <p:cond delay="600"/>
                                </p:stCondLst>
                                <p:childTnLst>
                                  <p:par>
                                    <p:cTn id="82" presetID="42" presetClass="path" presetSubtype="0" fill="hold" nodeType="afterEffect">
                                      <p:stCondLst>
                                        <p:cond delay="0"/>
                                      </p:stCondLst>
                                      <p:childTnLst>
                                        <p:animMotion origin="layout" path="M 3.125E-6 -7.40741E-7 L -0.13568 -0.25903 " pathEditMode="relative" rAng="0" ptsTypes="AA">
                                          <p:cBhvr>
                                            <p:cTn id="83" dur="700" fill="hold"/>
                                            <p:tgtEl>
                                              <p:spTgt spid="43"/>
                                            </p:tgtEl>
                                            <p:attrNameLst>
                                              <p:attrName>ppt_x</p:attrName>
                                              <p:attrName>ppt_y</p:attrName>
                                            </p:attrNameLst>
                                          </p:cBhvr>
                                          <p:rCtr x="-6784" y="-12963"/>
                                        </p:animMotion>
                                      </p:childTnLst>
                                    </p:cTn>
                                  </p:par>
                                </p:childTnLst>
                              </p:cTn>
                            </p:par>
                            <p:par>
                              <p:cTn id="84" fill="hold">
                                <p:stCondLst>
                                  <p:cond delay="1300"/>
                                </p:stCondLst>
                                <p:childTnLst>
                                  <p:par>
                                    <p:cTn id="85" presetID="1" presetClass="exit" presetSubtype="0" fill="hold" nodeType="afterEffect">
                                      <p:stCondLst>
                                        <p:cond delay="0"/>
                                      </p:stCondLst>
                                      <p:childTnLst>
                                        <p:set>
                                          <p:cBhvr>
                                            <p:cTn id="86" dur="1" fill="hold">
                                              <p:stCondLst>
                                                <p:cond delay="0"/>
                                              </p:stCondLst>
                                            </p:cTn>
                                            <p:tgtEl>
                                              <p:spTgt spid="43"/>
                                            </p:tgtEl>
                                            <p:attrNameLst>
                                              <p:attrName>style.visibility</p:attrName>
                                            </p:attrNameLst>
                                          </p:cBhvr>
                                          <p:to>
                                            <p:strVal val="hidden"/>
                                          </p:to>
                                        </p:set>
                                      </p:childTnLst>
                                    </p:cTn>
                                  </p:par>
                                </p:childTnLst>
                              </p:cTn>
                            </p:par>
                            <p:par>
                              <p:cTn id="87" fill="hold">
                                <p:stCondLst>
                                  <p:cond delay="1300"/>
                                </p:stCondLst>
                                <p:childTnLst>
                                  <p:par>
                                    <p:cTn id="88" presetID="1" presetClass="entr" presetSubtype="0" fill="hold" nodeType="afterEffect">
                                      <p:stCondLst>
                                        <p:cond delay="0"/>
                                      </p:stCondLst>
                                      <p:childTnLst>
                                        <p:set>
                                          <p:cBhvr>
                                            <p:cTn id="89" dur="1" fill="hold">
                                              <p:stCondLst>
                                                <p:cond delay="0"/>
                                              </p:stCondLst>
                                            </p:cTn>
                                            <p:tgtEl>
                                              <p:spTgt spid="44"/>
                                            </p:tgtEl>
                                            <p:attrNameLst>
                                              <p:attrName>style.visibility</p:attrName>
                                            </p:attrNameLst>
                                          </p:cBhvr>
                                          <p:to>
                                            <p:strVal val="visible"/>
                                          </p:to>
                                        </p:set>
                                      </p:childTnLst>
                                    </p:cTn>
                                  </p:par>
                                </p:childTnLst>
                              </p:cTn>
                            </p:par>
                            <p:par>
                              <p:cTn id="90" fill="hold">
                                <p:stCondLst>
                                  <p:cond delay="1300"/>
                                </p:stCondLst>
                                <p:childTnLst>
                                  <p:par>
                                    <p:cTn id="91" presetID="2" presetClass="entr" presetSubtype="8" fill="hold" nodeType="afterEffect">
                                      <p:stCondLst>
                                        <p:cond delay="0"/>
                                      </p:stCondLst>
                                      <p:childTnLst>
                                        <p:set>
                                          <p:cBhvr>
                                            <p:cTn id="92" dur="1" fill="hold">
                                              <p:stCondLst>
                                                <p:cond delay="0"/>
                                              </p:stCondLst>
                                            </p:cTn>
                                            <p:tgtEl>
                                              <p:spTgt spid="48"/>
                                            </p:tgtEl>
                                            <p:attrNameLst>
                                              <p:attrName>style.visibility</p:attrName>
                                            </p:attrNameLst>
                                          </p:cBhvr>
                                          <p:to>
                                            <p:strVal val="visible"/>
                                          </p:to>
                                        </p:set>
                                        <p:anim calcmode="lin" valueType="num">
                                          <p:cBhvr additive="base">
                                            <p:cTn id="93" dur="500" fill="hold"/>
                                            <p:tgtEl>
                                              <p:spTgt spid="48"/>
                                            </p:tgtEl>
                                            <p:attrNameLst>
                                              <p:attrName>ppt_x</p:attrName>
                                            </p:attrNameLst>
                                          </p:cBhvr>
                                          <p:tavLst>
                                            <p:tav tm="0">
                                              <p:val>
                                                <p:strVal val="0-#ppt_w/2"/>
                                              </p:val>
                                            </p:tav>
                                            <p:tav tm="100000">
                                              <p:val>
                                                <p:strVal val="#ppt_x"/>
                                              </p:val>
                                            </p:tav>
                                          </p:tavLst>
                                        </p:anim>
                                        <p:anim calcmode="lin" valueType="num">
                                          <p:cBhvr additive="base">
                                            <p:cTn id="94" dur="500" fill="hold"/>
                                            <p:tgtEl>
                                              <p:spTgt spid="48"/>
                                            </p:tgtEl>
                                            <p:attrNameLst>
                                              <p:attrName>ppt_y</p:attrName>
                                            </p:attrNameLst>
                                          </p:cBhvr>
                                          <p:tavLst>
                                            <p:tav tm="0">
                                              <p:val>
                                                <p:strVal val="#ppt_y"/>
                                              </p:val>
                                            </p:tav>
                                            <p:tav tm="100000">
                                              <p:val>
                                                <p:strVal val="#ppt_y"/>
                                              </p:val>
                                            </p:tav>
                                          </p:tavLst>
                                        </p:anim>
                                      </p:childTnLst>
                                    </p:cTn>
                                  </p:par>
                                </p:childTnLst>
                              </p:cTn>
                            </p:par>
                            <p:par>
                              <p:cTn id="95" fill="hold">
                                <p:stCondLst>
                                  <p:cond delay="1800"/>
                                </p:stCondLst>
                                <p:childTnLst>
                                  <p:par>
                                    <p:cTn id="96" presetID="42" presetClass="path" presetSubtype="0" fill="hold" nodeType="afterEffect">
                                      <p:stCondLst>
                                        <p:cond delay="0"/>
                                      </p:stCondLst>
                                      <p:childTnLst>
                                        <p:animMotion origin="layout" path="M 2.08333E-7 -2.96296E-6 L 0.06823 0.23797 " pathEditMode="relative" rAng="0" ptsTypes="AA">
                                          <p:cBhvr>
                                            <p:cTn id="97" dur="700" fill="hold"/>
                                            <p:tgtEl>
                                              <p:spTgt spid="44"/>
                                            </p:tgtEl>
                                            <p:attrNameLst>
                                              <p:attrName>ppt_x</p:attrName>
                                              <p:attrName>ppt_y</p:attrName>
                                            </p:attrNameLst>
                                          </p:cBhvr>
                                          <p:rCtr x="3411" y="11898"/>
                                        </p:animMotion>
                                      </p:childTnLst>
                                    </p:cTn>
                                  </p:par>
                                  <p:par>
                                    <p:cTn id="98" presetID="6" presetClass="emph" presetSubtype="0" fill="hold" nodeType="withEffect">
                                      <p:stCondLst>
                                        <p:cond delay="0"/>
                                      </p:stCondLst>
                                      <p:childTnLst>
                                        <p:animScale>
                                          <p:cBhvr>
                                            <p:cTn id="99" dur="700" fill="hold"/>
                                            <p:tgtEl>
                                              <p:spTgt spid="44"/>
                                            </p:tgtEl>
                                          </p:cBhvr>
                                          <p:by x="50000" y="50000"/>
                                        </p:animScale>
                                      </p:childTnLst>
                                    </p:cTn>
                                  </p:par>
                                  <p:par>
                                    <p:cTn id="100" presetID="10" presetClass="exit" presetSubtype="0" fill="hold" nodeType="withEffect">
                                      <p:stCondLst>
                                        <p:cond delay="300"/>
                                      </p:stCondLst>
                                      <p:childTnLst>
                                        <p:animEffect transition="out" filter="fade">
                                          <p:cBhvr>
                                            <p:cTn id="101" dur="500"/>
                                            <p:tgtEl>
                                              <p:spTgt spid="44"/>
                                            </p:tgtEl>
                                          </p:cBhvr>
                                        </p:animEffect>
                                        <p:set>
                                          <p:cBhvr>
                                            <p:cTn id="102" dur="1" fill="hold">
                                              <p:stCondLst>
                                                <p:cond delay="499"/>
                                              </p:stCondLst>
                                            </p:cTn>
                                            <p:tgtEl>
                                              <p:spTgt spid="44"/>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2" presetClass="entr" presetSubtype="2" fill="hold" nodeType="clickEffect">
                                      <p:stCondLst>
                                        <p:cond delay="0"/>
                                      </p:stCondLst>
                                      <p:childTnLst>
                                        <p:set>
                                          <p:cBhvr>
                                            <p:cTn id="106" dur="1" fill="hold">
                                              <p:stCondLst>
                                                <p:cond delay="0"/>
                                              </p:stCondLst>
                                            </p:cTn>
                                            <p:tgtEl>
                                              <p:spTgt spid="49">
                                                <p:txEl>
                                                  <p:pRg st="0" end="0"/>
                                                </p:txEl>
                                              </p:spTgt>
                                            </p:tgtEl>
                                            <p:attrNameLst>
                                              <p:attrName>style.visibility</p:attrName>
                                            </p:attrNameLst>
                                          </p:cBhvr>
                                          <p:to>
                                            <p:strVal val="visible"/>
                                          </p:to>
                                        </p:set>
                                        <p:anim calcmode="lin" valueType="num">
                                          <p:cBhvr additive="base">
                                            <p:cTn id="107" dur="700" fill="hold"/>
                                            <p:tgtEl>
                                              <p:spTgt spid="49">
                                                <p:txEl>
                                                  <p:pRg st="0" end="0"/>
                                                </p:txEl>
                                              </p:spTgt>
                                            </p:tgtEl>
                                            <p:attrNameLst>
                                              <p:attrName>ppt_x</p:attrName>
                                            </p:attrNameLst>
                                          </p:cBhvr>
                                          <p:tavLst>
                                            <p:tav tm="0">
                                              <p:val>
                                                <p:strVal val="1+#ppt_w/2"/>
                                              </p:val>
                                            </p:tav>
                                            <p:tav tm="100000">
                                              <p:val>
                                                <p:strVal val="#ppt_x"/>
                                              </p:val>
                                            </p:tav>
                                          </p:tavLst>
                                        </p:anim>
                                        <p:anim calcmode="lin" valueType="num">
                                          <p:cBhvr additive="base">
                                            <p:cTn id="108" dur="700" fill="hold"/>
                                            <p:tgtEl>
                                              <p:spTgt spid="49">
                                                <p:txEl>
                                                  <p:pRg st="0" end="0"/>
                                                </p:txEl>
                                              </p:spTgt>
                                            </p:tgtEl>
                                            <p:attrNameLst>
                                              <p:attrName>ppt_y</p:attrName>
                                            </p:attrNameLst>
                                          </p:cBhvr>
                                          <p:tavLst>
                                            <p:tav tm="0">
                                              <p:val>
                                                <p:strVal val="#ppt_y"/>
                                              </p:val>
                                            </p:tav>
                                            <p:tav tm="100000">
                                              <p:val>
                                                <p:strVal val="#ppt_y"/>
                                              </p:val>
                                            </p:tav>
                                          </p:tavLst>
                                        </p:anim>
                                      </p:childTnLst>
                                    </p:cTn>
                                  </p:par>
                                  <p:par>
                                    <p:cTn id="109" presetID="2" presetClass="entr" presetSubtype="2" fill="hold" nodeType="withEffect">
                                      <p:stCondLst>
                                        <p:cond delay="100"/>
                                      </p:stCondLst>
                                      <p:childTnLst>
                                        <p:set>
                                          <p:cBhvr>
                                            <p:cTn id="110" dur="1" fill="hold">
                                              <p:stCondLst>
                                                <p:cond delay="0"/>
                                              </p:stCondLst>
                                            </p:cTn>
                                            <p:tgtEl>
                                              <p:spTgt spid="49">
                                                <p:txEl>
                                                  <p:pRg st="1" end="1"/>
                                                </p:txEl>
                                              </p:spTgt>
                                            </p:tgtEl>
                                            <p:attrNameLst>
                                              <p:attrName>style.visibility</p:attrName>
                                            </p:attrNameLst>
                                          </p:cBhvr>
                                          <p:to>
                                            <p:strVal val="visible"/>
                                          </p:to>
                                        </p:set>
                                        <p:anim calcmode="lin" valueType="num">
                                          <p:cBhvr additive="base">
                                            <p:cTn id="111" dur="700" fill="hold"/>
                                            <p:tgtEl>
                                              <p:spTgt spid="49">
                                                <p:txEl>
                                                  <p:pRg st="1" end="1"/>
                                                </p:txEl>
                                              </p:spTgt>
                                            </p:tgtEl>
                                            <p:attrNameLst>
                                              <p:attrName>ppt_x</p:attrName>
                                            </p:attrNameLst>
                                          </p:cBhvr>
                                          <p:tavLst>
                                            <p:tav tm="0">
                                              <p:val>
                                                <p:strVal val="1+#ppt_w/2"/>
                                              </p:val>
                                            </p:tav>
                                            <p:tav tm="100000">
                                              <p:val>
                                                <p:strVal val="#ppt_x"/>
                                              </p:val>
                                            </p:tav>
                                          </p:tavLst>
                                        </p:anim>
                                        <p:anim calcmode="lin" valueType="num">
                                          <p:cBhvr additive="base">
                                            <p:cTn id="112" dur="700" fill="hold"/>
                                            <p:tgtEl>
                                              <p:spTgt spid="49">
                                                <p:txEl>
                                                  <p:pRg st="1" end="1"/>
                                                </p:txEl>
                                              </p:spTgt>
                                            </p:tgtEl>
                                            <p:attrNameLst>
                                              <p:attrName>ppt_y</p:attrName>
                                            </p:attrNameLst>
                                          </p:cBhvr>
                                          <p:tavLst>
                                            <p:tav tm="0">
                                              <p:val>
                                                <p:strVal val="#ppt_y"/>
                                              </p:val>
                                            </p:tav>
                                            <p:tav tm="100000">
                                              <p:val>
                                                <p:strVal val="#ppt_y"/>
                                              </p:val>
                                            </p:tav>
                                          </p:tavLst>
                                        </p:anim>
                                      </p:childTnLst>
                                    </p:cTn>
                                  </p:par>
                                  <p:par>
                                    <p:cTn id="113" presetID="2" presetClass="entr" presetSubtype="2" fill="hold" nodeType="withEffect">
                                      <p:stCondLst>
                                        <p:cond delay="200"/>
                                      </p:stCondLst>
                                      <p:childTnLst>
                                        <p:set>
                                          <p:cBhvr>
                                            <p:cTn id="114" dur="1" fill="hold">
                                              <p:stCondLst>
                                                <p:cond delay="0"/>
                                              </p:stCondLst>
                                            </p:cTn>
                                            <p:tgtEl>
                                              <p:spTgt spid="49">
                                                <p:txEl>
                                                  <p:pRg st="2" end="2"/>
                                                </p:txEl>
                                              </p:spTgt>
                                            </p:tgtEl>
                                            <p:attrNameLst>
                                              <p:attrName>style.visibility</p:attrName>
                                            </p:attrNameLst>
                                          </p:cBhvr>
                                          <p:to>
                                            <p:strVal val="visible"/>
                                          </p:to>
                                        </p:set>
                                        <p:anim calcmode="lin" valueType="num">
                                          <p:cBhvr additive="base">
                                            <p:cTn id="115" dur="700" fill="hold"/>
                                            <p:tgtEl>
                                              <p:spTgt spid="49">
                                                <p:txEl>
                                                  <p:pRg st="2" end="2"/>
                                                </p:txEl>
                                              </p:spTgt>
                                            </p:tgtEl>
                                            <p:attrNameLst>
                                              <p:attrName>ppt_x</p:attrName>
                                            </p:attrNameLst>
                                          </p:cBhvr>
                                          <p:tavLst>
                                            <p:tav tm="0">
                                              <p:val>
                                                <p:strVal val="1+#ppt_w/2"/>
                                              </p:val>
                                            </p:tav>
                                            <p:tav tm="100000">
                                              <p:val>
                                                <p:strVal val="#ppt_x"/>
                                              </p:val>
                                            </p:tav>
                                          </p:tavLst>
                                        </p:anim>
                                        <p:anim calcmode="lin" valueType="num">
                                          <p:cBhvr additive="base">
                                            <p:cTn id="116" dur="700" fill="hold"/>
                                            <p:tgtEl>
                                              <p:spTgt spid="49">
                                                <p:txEl>
                                                  <p:pRg st="2" end="2"/>
                                                </p:txEl>
                                              </p:spTgt>
                                            </p:tgtEl>
                                            <p:attrNameLst>
                                              <p:attrName>ppt_y</p:attrName>
                                            </p:attrNameLst>
                                          </p:cBhvr>
                                          <p:tavLst>
                                            <p:tav tm="0">
                                              <p:val>
                                                <p:strVal val="#ppt_y"/>
                                              </p:val>
                                            </p:tav>
                                            <p:tav tm="100000">
                                              <p:val>
                                                <p:strVal val="#ppt_y"/>
                                              </p:val>
                                            </p:tav>
                                          </p:tavLst>
                                        </p:anim>
                                      </p:childTnLst>
                                    </p:cTn>
                                  </p:par>
                                  <p:par>
                                    <p:cTn id="117" presetID="2" presetClass="entr" presetSubtype="2" fill="hold" nodeType="withEffect">
                                      <p:stCondLst>
                                        <p:cond delay="300"/>
                                      </p:stCondLst>
                                      <p:childTnLst>
                                        <p:set>
                                          <p:cBhvr>
                                            <p:cTn id="118" dur="1" fill="hold">
                                              <p:stCondLst>
                                                <p:cond delay="0"/>
                                              </p:stCondLst>
                                            </p:cTn>
                                            <p:tgtEl>
                                              <p:spTgt spid="49">
                                                <p:txEl>
                                                  <p:pRg st="3" end="3"/>
                                                </p:txEl>
                                              </p:spTgt>
                                            </p:tgtEl>
                                            <p:attrNameLst>
                                              <p:attrName>style.visibility</p:attrName>
                                            </p:attrNameLst>
                                          </p:cBhvr>
                                          <p:to>
                                            <p:strVal val="visible"/>
                                          </p:to>
                                        </p:set>
                                        <p:anim calcmode="lin" valueType="num">
                                          <p:cBhvr additive="base">
                                            <p:cTn id="119" dur="700" fill="hold"/>
                                            <p:tgtEl>
                                              <p:spTgt spid="49">
                                                <p:txEl>
                                                  <p:pRg st="3" end="3"/>
                                                </p:txEl>
                                              </p:spTgt>
                                            </p:tgtEl>
                                            <p:attrNameLst>
                                              <p:attrName>ppt_x</p:attrName>
                                            </p:attrNameLst>
                                          </p:cBhvr>
                                          <p:tavLst>
                                            <p:tav tm="0">
                                              <p:val>
                                                <p:strVal val="1+#ppt_w/2"/>
                                              </p:val>
                                            </p:tav>
                                            <p:tav tm="100000">
                                              <p:val>
                                                <p:strVal val="#ppt_x"/>
                                              </p:val>
                                            </p:tav>
                                          </p:tavLst>
                                        </p:anim>
                                        <p:anim calcmode="lin" valueType="num">
                                          <p:cBhvr additive="base">
                                            <p:cTn id="120" dur="700" fill="hold"/>
                                            <p:tgtEl>
                                              <p:spTgt spid="4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2410EC2B-DA34-9E89-1571-CB51EECFFF80}"/>
              </a:ext>
            </a:extLst>
          </p:cNvPr>
          <p:cNvSpPr txBox="1"/>
          <p:nvPr/>
        </p:nvSpPr>
        <p:spPr>
          <a:xfrm>
            <a:off x="1211976" y="1560158"/>
            <a:ext cx="2264649" cy="2920095"/>
          </a:xfrm>
          <a:prstGeom prst="rect">
            <a:avLst/>
          </a:prstGeom>
          <a:noFill/>
        </p:spPr>
        <p:txBody>
          <a:bodyPr wrap="square">
            <a:spAutoFit/>
          </a:bodyPr>
          <a:lstStyle/>
          <a:p>
            <a:pPr marL="357708" indent="-357708">
              <a:lnSpc>
                <a:spcPct val="300000"/>
              </a:lnSpc>
              <a:buFont typeface="+mj-ea"/>
              <a:buAutoNum type="circleNumDbPlain"/>
              <a:defRPr/>
            </a:pP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找快递公司</a:t>
            </a: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57708" indent="-357708">
              <a:lnSpc>
                <a:spcPct val="300000"/>
              </a:lnSpc>
              <a:buFont typeface="+mj-ea"/>
              <a:buAutoNum type="circleNumDbPlain"/>
              <a:defRPr/>
            </a:pP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打包礼物</a:t>
            </a: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57708" indent="-357708">
              <a:lnSpc>
                <a:spcPct val="300000"/>
              </a:lnSpc>
              <a:buFont typeface="+mj-ea"/>
              <a:buAutoNum type="circleNumDbPlain"/>
              <a:defRPr/>
            </a:pP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快递公司发送包裹</a:t>
            </a:r>
          </a:p>
          <a:p>
            <a:pPr marL="357708" indent="-357708">
              <a:lnSpc>
                <a:spcPct val="300000"/>
              </a:lnSpc>
              <a:buFont typeface="+mj-ea"/>
              <a:buAutoNum type="circleNumDbPlain"/>
              <a:defRPr/>
            </a:pP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付钱走人</a:t>
            </a: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TextBox 4">
            <a:extLst>
              <a:ext uri="{FF2B5EF4-FFF2-40B4-BE49-F238E27FC236}">
                <a16:creationId xmlns:a16="http://schemas.microsoft.com/office/drawing/2014/main" id="{B2F22F8D-A09E-9D07-B524-1123F36D098A}"/>
              </a:ext>
            </a:extLst>
          </p:cNvPr>
          <p:cNvSpPr txBox="1"/>
          <p:nvPr/>
        </p:nvSpPr>
        <p:spPr>
          <a:xfrm>
            <a:off x="3786353" y="3295350"/>
            <a:ext cx="1113894" cy="427105"/>
          </a:xfrm>
          <a:prstGeom prst="rect">
            <a:avLst/>
          </a:prstGeom>
          <a:noFill/>
        </p:spPr>
        <p:txBody>
          <a:bodyPr wrap="square">
            <a:spAutoFit/>
          </a:bodyPr>
          <a:lstStyle/>
          <a:p>
            <a:pPr>
              <a:lnSpc>
                <a:spcPct val="150000"/>
              </a:lnSpc>
              <a:defRPr/>
            </a:pP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发送数据</a:t>
            </a:r>
          </a:p>
        </p:txBody>
      </p:sp>
      <p:sp>
        <p:nvSpPr>
          <p:cNvPr id="6" name="矩形 5">
            <a:extLst>
              <a:ext uri="{FF2B5EF4-FFF2-40B4-BE49-F238E27FC236}">
                <a16:creationId xmlns:a16="http://schemas.microsoft.com/office/drawing/2014/main" id="{5E92DCDE-9DBE-2090-FF35-8FD091122943}"/>
              </a:ext>
            </a:extLst>
          </p:cNvPr>
          <p:cNvSpPr/>
          <p:nvPr/>
        </p:nvSpPr>
        <p:spPr>
          <a:xfrm>
            <a:off x="3786352" y="1834202"/>
            <a:ext cx="3911600" cy="427105"/>
          </a:xfrm>
          <a:prstGeom prst="rect">
            <a:avLst/>
          </a:prstGeom>
        </p:spPr>
        <p:txBody>
          <a:bodyPr>
            <a:spAutoFit/>
          </a:bodyPr>
          <a:lstStyle/>
          <a:p>
            <a:pPr>
              <a:lnSpc>
                <a:spcPct val="150000"/>
              </a:lnSpc>
              <a:defRPr/>
            </a:pP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创建发送端的 </a:t>
            </a:r>
            <a:r>
              <a:rPr lang="en-US" altLang="zh-CN" sz="1600" dirty="0" err="1">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DatagramSocket</a:t>
            </a:r>
            <a:r>
              <a:rPr lang="en-US"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对象</a:t>
            </a:r>
            <a:endParaRPr lang="en-US"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矩形 6">
            <a:extLst>
              <a:ext uri="{FF2B5EF4-FFF2-40B4-BE49-F238E27FC236}">
                <a16:creationId xmlns:a16="http://schemas.microsoft.com/office/drawing/2014/main" id="{C7CE3C39-8B41-EA45-BBE3-43F198EB20BD}"/>
              </a:ext>
            </a:extLst>
          </p:cNvPr>
          <p:cNvSpPr/>
          <p:nvPr/>
        </p:nvSpPr>
        <p:spPr>
          <a:xfrm>
            <a:off x="3786352" y="2556603"/>
            <a:ext cx="2767104" cy="427105"/>
          </a:xfrm>
          <a:prstGeom prst="rect">
            <a:avLst/>
          </a:prstGeom>
        </p:spPr>
        <p:txBody>
          <a:bodyPr wrap="none">
            <a:spAutoFit/>
          </a:bodyPr>
          <a:lstStyle/>
          <a:p>
            <a:pPr>
              <a:lnSpc>
                <a:spcPct val="150000"/>
              </a:lnSpc>
              <a:defRPr/>
            </a:pP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数据打包</a:t>
            </a:r>
            <a:r>
              <a:rPr lang="en-US"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en-US" altLang="zh-CN" sz="1600" dirty="0" err="1">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DatagramPacket</a:t>
            </a:r>
            <a:r>
              <a:rPr lang="en-US"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p:txBody>
      </p:sp>
      <p:sp>
        <p:nvSpPr>
          <p:cNvPr id="8" name="矩形 7">
            <a:extLst>
              <a:ext uri="{FF2B5EF4-FFF2-40B4-BE49-F238E27FC236}">
                <a16:creationId xmlns:a16="http://schemas.microsoft.com/office/drawing/2014/main" id="{51FE09A1-19F6-2808-9C5E-0A52597EDCA3}"/>
              </a:ext>
            </a:extLst>
          </p:cNvPr>
          <p:cNvSpPr/>
          <p:nvPr/>
        </p:nvSpPr>
        <p:spPr>
          <a:xfrm>
            <a:off x="3786352" y="4033517"/>
            <a:ext cx="992579" cy="427105"/>
          </a:xfrm>
          <a:prstGeom prst="rect">
            <a:avLst/>
          </a:prstGeom>
        </p:spPr>
        <p:txBody>
          <a:bodyPr wrap="none">
            <a:spAutoFit/>
          </a:bodyPr>
          <a:lstStyle/>
          <a:p>
            <a:pPr>
              <a:lnSpc>
                <a:spcPct val="150000"/>
              </a:lnSpc>
              <a:defRPr/>
            </a:pP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释放资源</a:t>
            </a:r>
            <a:endParaRPr lang="en-US"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 name="标题 1">
            <a:extLst>
              <a:ext uri="{FF2B5EF4-FFF2-40B4-BE49-F238E27FC236}">
                <a16:creationId xmlns:a16="http://schemas.microsoft.com/office/drawing/2014/main" id="{3BAD4A98-3597-0324-3D94-3DFA08292535}"/>
              </a:ext>
            </a:extLst>
          </p:cNvPr>
          <p:cNvSpPr>
            <a:spLocks noGrp="1"/>
          </p:cNvSpPr>
          <p:nvPr>
            <p:ph type="title"/>
          </p:nvPr>
        </p:nvSpPr>
        <p:spPr/>
        <p:txBody>
          <a:bodyPr/>
          <a:lstStyle/>
          <a:p>
            <a:r>
              <a:rPr lang="en-US" altLang="zh-CN" dirty="0"/>
              <a:t>UDP</a:t>
            </a:r>
            <a:r>
              <a:rPr lang="zh-CN" altLang="en-US" dirty="0"/>
              <a:t>协议发送数据</a:t>
            </a:r>
          </a:p>
        </p:txBody>
      </p:sp>
    </p:spTree>
    <p:extLst>
      <p:ext uri="{BB962C8B-B14F-4D97-AF65-F5344CB8AC3E}">
        <p14:creationId xmlns:p14="http://schemas.microsoft.com/office/powerpoint/2010/main" val="2791106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1"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1"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par>
                                <p:cTn id="11" presetID="22" presetClass="entr" presetSubtype="8" fill="hold" grpId="1"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1"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7" grpId="0"/>
      <p:bldP spid="7" grpId="1"/>
      <p:bldP spid="8" grpId="0"/>
      <p:bldP spid="8"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4B150E4-3553-C55C-4652-8CCEF14556C3}"/>
              </a:ext>
            </a:extLst>
          </p:cNvPr>
          <p:cNvPicPr>
            <a:picLocks noChangeAspect="1"/>
          </p:cNvPicPr>
          <p:nvPr/>
        </p:nvPicPr>
        <p:blipFill>
          <a:blip r:embed="rId3"/>
          <a:stretch>
            <a:fillRect/>
          </a:stretch>
        </p:blipFill>
        <p:spPr>
          <a:xfrm>
            <a:off x="3534416" y="3368103"/>
            <a:ext cx="2780017" cy="2426418"/>
          </a:xfrm>
          <a:prstGeom prst="rect">
            <a:avLst/>
          </a:prstGeom>
        </p:spPr>
      </p:pic>
      <p:pic>
        <p:nvPicPr>
          <p:cNvPr id="5" name="图片 4">
            <a:extLst>
              <a:ext uri="{FF2B5EF4-FFF2-40B4-BE49-F238E27FC236}">
                <a16:creationId xmlns:a16="http://schemas.microsoft.com/office/drawing/2014/main" id="{4D4D86F0-7979-ECAC-72A9-5DAE02117139}"/>
              </a:ext>
            </a:extLst>
          </p:cNvPr>
          <p:cNvPicPr>
            <a:picLocks noChangeAspect="1"/>
          </p:cNvPicPr>
          <p:nvPr/>
        </p:nvPicPr>
        <p:blipFill rotWithShape="1">
          <a:blip r:embed="rId4"/>
          <a:srcRect l="30139" t="50682" r="37125" b="24445"/>
          <a:stretch/>
        </p:blipFill>
        <p:spPr>
          <a:xfrm>
            <a:off x="7381116" y="3272419"/>
            <a:ext cx="2245046" cy="1705814"/>
          </a:xfrm>
          <a:prstGeom prst="rect">
            <a:avLst/>
          </a:prstGeom>
        </p:spPr>
      </p:pic>
      <p:pic>
        <p:nvPicPr>
          <p:cNvPr id="7" name="图片 6">
            <a:extLst>
              <a:ext uri="{FF2B5EF4-FFF2-40B4-BE49-F238E27FC236}">
                <a16:creationId xmlns:a16="http://schemas.microsoft.com/office/drawing/2014/main" id="{52E5C8D9-3BBD-4EFE-C43A-84B1A3CB5FC7}"/>
              </a:ext>
            </a:extLst>
          </p:cNvPr>
          <p:cNvPicPr>
            <a:picLocks noChangeAspect="1"/>
          </p:cNvPicPr>
          <p:nvPr/>
        </p:nvPicPr>
        <p:blipFill rotWithShape="1">
          <a:blip r:embed="rId4"/>
          <a:srcRect l="29364" t="23121" r="37900" b="49379"/>
          <a:stretch/>
        </p:blipFill>
        <p:spPr>
          <a:xfrm>
            <a:off x="7359180" y="3046510"/>
            <a:ext cx="2245046" cy="1885950"/>
          </a:xfrm>
          <a:prstGeom prst="rect">
            <a:avLst/>
          </a:prstGeom>
        </p:spPr>
      </p:pic>
      <p:pic>
        <p:nvPicPr>
          <p:cNvPr id="8" name="图片 7">
            <a:extLst>
              <a:ext uri="{FF2B5EF4-FFF2-40B4-BE49-F238E27FC236}">
                <a16:creationId xmlns:a16="http://schemas.microsoft.com/office/drawing/2014/main" id="{6646C95C-A4E2-44C3-7337-EF7165B26BBF}"/>
              </a:ext>
            </a:extLst>
          </p:cNvPr>
          <p:cNvPicPr>
            <a:picLocks noChangeAspect="1"/>
          </p:cNvPicPr>
          <p:nvPr/>
        </p:nvPicPr>
        <p:blipFill rotWithShape="1">
          <a:blip r:embed="rId4"/>
          <a:srcRect l="63651" t="21983" r="4584" b="51261"/>
          <a:stretch/>
        </p:blipFill>
        <p:spPr>
          <a:xfrm>
            <a:off x="7392417" y="3088228"/>
            <a:ext cx="2178571" cy="1835037"/>
          </a:xfrm>
          <a:prstGeom prst="rect">
            <a:avLst/>
          </a:prstGeom>
        </p:spPr>
      </p:pic>
      <p:pic>
        <p:nvPicPr>
          <p:cNvPr id="9" name="图片 8">
            <a:extLst>
              <a:ext uri="{FF2B5EF4-FFF2-40B4-BE49-F238E27FC236}">
                <a16:creationId xmlns:a16="http://schemas.microsoft.com/office/drawing/2014/main" id="{66FF286B-0B85-FB70-0DF3-A38F9C692FC4}"/>
              </a:ext>
            </a:extLst>
          </p:cNvPr>
          <p:cNvPicPr>
            <a:picLocks noChangeAspect="1"/>
          </p:cNvPicPr>
          <p:nvPr/>
        </p:nvPicPr>
        <p:blipFill rotWithShape="1">
          <a:blip r:embed="rId4"/>
          <a:srcRect l="4450" t="25277" r="70989" b="49379"/>
          <a:stretch/>
        </p:blipFill>
        <p:spPr>
          <a:xfrm>
            <a:off x="7661423" y="3225666"/>
            <a:ext cx="1684431" cy="1738074"/>
          </a:xfrm>
          <a:prstGeom prst="rect">
            <a:avLst/>
          </a:prstGeom>
        </p:spPr>
      </p:pic>
      <p:pic>
        <p:nvPicPr>
          <p:cNvPr id="10" name="图片 9">
            <a:extLst>
              <a:ext uri="{FF2B5EF4-FFF2-40B4-BE49-F238E27FC236}">
                <a16:creationId xmlns:a16="http://schemas.microsoft.com/office/drawing/2014/main" id="{B49340C2-3C24-23DA-EC31-06D8B361B9B4}"/>
              </a:ext>
            </a:extLst>
          </p:cNvPr>
          <p:cNvPicPr>
            <a:picLocks noChangeAspect="1"/>
          </p:cNvPicPr>
          <p:nvPr/>
        </p:nvPicPr>
        <p:blipFill rotWithShape="1">
          <a:blip r:embed="rId4"/>
          <a:srcRect l="5125" t="49620" r="71880" b="26576"/>
          <a:stretch/>
        </p:blipFill>
        <p:spPr>
          <a:xfrm>
            <a:off x="7709598" y="3318229"/>
            <a:ext cx="1577064" cy="1632576"/>
          </a:xfrm>
          <a:prstGeom prst="rect">
            <a:avLst/>
          </a:prstGeom>
        </p:spPr>
      </p:pic>
      <p:pic>
        <p:nvPicPr>
          <p:cNvPr id="12" name="图片 11">
            <a:extLst>
              <a:ext uri="{FF2B5EF4-FFF2-40B4-BE49-F238E27FC236}">
                <a16:creationId xmlns:a16="http://schemas.microsoft.com/office/drawing/2014/main" id="{11A1B101-9E01-FD7D-761B-0A434939E1A0}"/>
              </a:ext>
            </a:extLst>
          </p:cNvPr>
          <p:cNvPicPr>
            <a:picLocks noChangeAspect="1"/>
          </p:cNvPicPr>
          <p:nvPr/>
        </p:nvPicPr>
        <p:blipFill rotWithShape="1">
          <a:blip r:embed="rId4"/>
          <a:srcRect l="5125" t="49620" r="71880" b="26576"/>
          <a:stretch/>
        </p:blipFill>
        <p:spPr>
          <a:xfrm>
            <a:off x="5306587" y="4321008"/>
            <a:ext cx="789413" cy="817200"/>
          </a:xfrm>
          <a:prstGeom prst="rect">
            <a:avLst/>
          </a:prstGeom>
        </p:spPr>
      </p:pic>
      <p:pic>
        <p:nvPicPr>
          <p:cNvPr id="17" name="图片 16">
            <a:extLst>
              <a:ext uri="{FF2B5EF4-FFF2-40B4-BE49-F238E27FC236}">
                <a16:creationId xmlns:a16="http://schemas.microsoft.com/office/drawing/2014/main" id="{9B61A455-3E53-D0CB-4886-9E71E2FDB460}"/>
              </a:ext>
            </a:extLst>
          </p:cNvPr>
          <p:cNvPicPr>
            <a:picLocks noChangeAspect="1"/>
          </p:cNvPicPr>
          <p:nvPr/>
        </p:nvPicPr>
        <p:blipFill>
          <a:blip r:embed="rId5"/>
          <a:stretch>
            <a:fillRect/>
          </a:stretch>
        </p:blipFill>
        <p:spPr>
          <a:xfrm flipH="1">
            <a:off x="4949011" y="2551248"/>
            <a:ext cx="1219205" cy="1219205"/>
          </a:xfrm>
          <a:prstGeom prst="rect">
            <a:avLst/>
          </a:prstGeom>
        </p:spPr>
      </p:pic>
      <p:pic>
        <p:nvPicPr>
          <p:cNvPr id="18" name="图片 17">
            <a:extLst>
              <a:ext uri="{FF2B5EF4-FFF2-40B4-BE49-F238E27FC236}">
                <a16:creationId xmlns:a16="http://schemas.microsoft.com/office/drawing/2014/main" id="{2CC57F35-6524-9ACD-5798-7178AB8F0E13}"/>
              </a:ext>
            </a:extLst>
          </p:cNvPr>
          <p:cNvPicPr>
            <a:picLocks noChangeAspect="1"/>
          </p:cNvPicPr>
          <p:nvPr/>
        </p:nvPicPr>
        <p:blipFill rotWithShape="1">
          <a:blip r:embed="rId6"/>
          <a:srcRect l="13528" t="4445" r="12151" b="4306"/>
          <a:stretch/>
        </p:blipFill>
        <p:spPr>
          <a:xfrm>
            <a:off x="6463149" y="2441149"/>
            <a:ext cx="879493" cy="1439401"/>
          </a:xfrm>
          <a:prstGeom prst="rect">
            <a:avLst/>
          </a:prstGeom>
        </p:spPr>
      </p:pic>
      <p:pic>
        <p:nvPicPr>
          <p:cNvPr id="19" name="图片 18">
            <a:extLst>
              <a:ext uri="{FF2B5EF4-FFF2-40B4-BE49-F238E27FC236}">
                <a16:creationId xmlns:a16="http://schemas.microsoft.com/office/drawing/2014/main" id="{EE974165-FCD2-2488-67BA-4C019210F154}"/>
              </a:ext>
            </a:extLst>
          </p:cNvPr>
          <p:cNvPicPr>
            <a:picLocks noChangeAspect="1"/>
          </p:cNvPicPr>
          <p:nvPr/>
        </p:nvPicPr>
        <p:blipFill rotWithShape="1">
          <a:blip r:embed="rId7"/>
          <a:srcRect l="7917" t="18195" r="5751" b="15507"/>
          <a:stretch/>
        </p:blipFill>
        <p:spPr>
          <a:xfrm>
            <a:off x="6136917" y="4215421"/>
            <a:ext cx="1311793" cy="1007384"/>
          </a:xfrm>
          <a:prstGeom prst="rect">
            <a:avLst/>
          </a:prstGeom>
        </p:spPr>
      </p:pic>
      <p:pic>
        <p:nvPicPr>
          <p:cNvPr id="20" name="图片 19">
            <a:extLst>
              <a:ext uri="{FF2B5EF4-FFF2-40B4-BE49-F238E27FC236}">
                <a16:creationId xmlns:a16="http://schemas.microsoft.com/office/drawing/2014/main" id="{D45AE619-D90B-AA2A-377C-D532D54B212A}"/>
              </a:ext>
            </a:extLst>
          </p:cNvPr>
          <p:cNvPicPr>
            <a:picLocks noChangeAspect="1"/>
          </p:cNvPicPr>
          <p:nvPr/>
        </p:nvPicPr>
        <p:blipFill rotWithShape="1">
          <a:blip r:embed="rId8"/>
          <a:srcRect l="12907" t="4708" r="14432" b="2903"/>
          <a:stretch/>
        </p:blipFill>
        <p:spPr>
          <a:xfrm>
            <a:off x="5002211" y="4160322"/>
            <a:ext cx="878942" cy="1117582"/>
          </a:xfrm>
          <a:prstGeom prst="rect">
            <a:avLst/>
          </a:prstGeom>
        </p:spPr>
      </p:pic>
      <p:sp>
        <p:nvSpPr>
          <p:cNvPr id="22" name="TextBox 4">
            <a:extLst>
              <a:ext uri="{FF2B5EF4-FFF2-40B4-BE49-F238E27FC236}">
                <a16:creationId xmlns:a16="http://schemas.microsoft.com/office/drawing/2014/main" id="{B8EA6A79-3115-09B8-F43A-37E259DC7CC5}"/>
              </a:ext>
            </a:extLst>
          </p:cNvPr>
          <p:cNvSpPr txBox="1"/>
          <p:nvPr/>
        </p:nvSpPr>
        <p:spPr>
          <a:xfrm>
            <a:off x="1489006" y="1586462"/>
            <a:ext cx="3263900" cy="2920095"/>
          </a:xfrm>
          <a:prstGeom prst="rect">
            <a:avLst/>
          </a:prstGeom>
          <a:noFill/>
        </p:spPr>
        <p:txBody>
          <a:bodyPr>
            <a:spAutoFit/>
          </a:bodyPr>
          <a:lstStyle/>
          <a:p>
            <a:pPr marL="357708" indent="-357708">
              <a:lnSpc>
                <a:spcPct val="300000"/>
              </a:lnSpc>
              <a:buFont typeface="+mj-ea"/>
              <a:buAutoNum type="circleNumDbPlain"/>
              <a:defRPr/>
            </a:pP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找快递公司</a:t>
            </a: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57708" indent="-357708">
              <a:lnSpc>
                <a:spcPct val="300000"/>
              </a:lnSpc>
              <a:buFont typeface="+mj-ea"/>
              <a:buAutoNum type="circleNumDbPlain"/>
              <a:defRPr/>
            </a:pP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接收箱子</a:t>
            </a: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57708" indent="-357708">
              <a:lnSpc>
                <a:spcPct val="300000"/>
              </a:lnSpc>
              <a:buFont typeface="+mj-ea"/>
              <a:buAutoNum type="circleNumDbPlain"/>
              <a:defRPr/>
            </a:pP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从箱子里面获取礼物</a:t>
            </a: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57708" indent="-357708">
              <a:lnSpc>
                <a:spcPct val="300000"/>
              </a:lnSpc>
              <a:buFont typeface="+mj-ea"/>
              <a:buAutoNum type="circleNumDbPlain"/>
              <a:defRPr/>
            </a:pP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签收走人</a:t>
            </a: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2" name="图片 1">
            <a:extLst>
              <a:ext uri="{FF2B5EF4-FFF2-40B4-BE49-F238E27FC236}">
                <a16:creationId xmlns:a16="http://schemas.microsoft.com/office/drawing/2014/main" id="{9222689C-B477-6175-94B8-63F44DFD12D6}"/>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4069" b="93362" l="4015" r="94708">
                        <a14:foregroundMark x1="33942" y1="10278" x2="28102" y2="14347"/>
                        <a14:foregroundMark x1="12409" y1="65096" x2="55839" y2="80086"/>
                        <a14:foregroundMark x1="55839" y1="80086" x2="75730" y2="72591"/>
                        <a14:foregroundMark x1="75730" y1="72591" x2="85219" y2="79443"/>
                        <a14:foregroundMark x1="89964" y1="84797" x2="25730" y2="86938"/>
                        <a14:foregroundMark x1="17336" y1="68737" x2="18248" y2="88437"/>
                        <a14:foregroundMark x1="9854" y1="68737" x2="43431" y2="89079"/>
                        <a14:foregroundMark x1="43431" y1="89079" x2="73905" y2="86296"/>
                        <a14:foregroundMark x1="70803" y1="57816" x2="57847" y2="53533"/>
                        <a14:foregroundMark x1="35584" y1="11777" x2="46715" y2="10707"/>
                        <a14:foregroundMark x1="38686" y1="4069" x2="46715" y2="7066"/>
                        <a14:foregroundMark x1="91058" y1="82441" x2="58577" y2="93576"/>
                        <a14:foregroundMark x1="58577" y1="93576" x2="31752" y2="92505"/>
                        <a14:foregroundMark x1="8394" y1="62313" x2="8577" y2="88223"/>
                        <a14:foregroundMark x1="4197" y1="85653" x2="4197" y2="85653"/>
                        <a14:foregroundMark x1="94708" y1="84154" x2="94708" y2="84154"/>
                      </a14:backgroundRemoval>
                    </a14:imgEffect>
                  </a14:imgLayer>
                </a14:imgProps>
              </a:ext>
            </a:extLst>
          </a:blip>
          <a:stretch>
            <a:fillRect/>
          </a:stretch>
        </p:blipFill>
        <p:spPr>
          <a:xfrm>
            <a:off x="9438679" y="1253419"/>
            <a:ext cx="2420587" cy="2062799"/>
          </a:xfrm>
          <a:prstGeom prst="rect">
            <a:avLst/>
          </a:prstGeom>
        </p:spPr>
      </p:pic>
      <p:sp>
        <p:nvSpPr>
          <p:cNvPr id="6" name="思想气泡: 云 5">
            <a:extLst>
              <a:ext uri="{FF2B5EF4-FFF2-40B4-BE49-F238E27FC236}">
                <a16:creationId xmlns:a16="http://schemas.microsoft.com/office/drawing/2014/main" id="{A8BE4AA4-5931-5C4E-BA90-51D81200B8B9}"/>
              </a:ext>
            </a:extLst>
          </p:cNvPr>
          <p:cNvSpPr/>
          <p:nvPr/>
        </p:nvSpPr>
        <p:spPr>
          <a:xfrm>
            <a:off x="7102847" y="1032200"/>
            <a:ext cx="2343705" cy="1091953"/>
          </a:xfrm>
          <a:prstGeom prst="cloudCallout">
            <a:avLst>
              <a:gd name="adj1" fmla="val 60227"/>
              <a:gd name="adj2" fmla="val 37297"/>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latin typeface="Alibaba PuHuiTi B"/>
              </a:rPr>
              <a:t>他喜欢我</a:t>
            </a:r>
            <a:r>
              <a:rPr lang="en-US" altLang="zh-CN" dirty="0">
                <a:latin typeface="Alibaba PuHuiTi B"/>
              </a:rPr>
              <a:t>…</a:t>
            </a:r>
            <a:endParaRPr lang="zh-CN" altLang="en-US" dirty="0">
              <a:latin typeface="Alibaba PuHuiTi B"/>
            </a:endParaRPr>
          </a:p>
        </p:txBody>
      </p:sp>
      <p:sp>
        <p:nvSpPr>
          <p:cNvPr id="11" name="标题 10">
            <a:extLst>
              <a:ext uri="{FF2B5EF4-FFF2-40B4-BE49-F238E27FC236}">
                <a16:creationId xmlns:a16="http://schemas.microsoft.com/office/drawing/2014/main" id="{6F78E7BC-3928-0B4E-28AD-95A2CB0C9F47}"/>
              </a:ext>
            </a:extLst>
          </p:cNvPr>
          <p:cNvSpPr>
            <a:spLocks noGrp="1"/>
          </p:cNvSpPr>
          <p:nvPr>
            <p:ph type="title"/>
          </p:nvPr>
        </p:nvSpPr>
        <p:spPr/>
        <p:txBody>
          <a:bodyPr/>
          <a:lstStyle/>
          <a:p>
            <a:r>
              <a:rPr lang="en-US" altLang="zh-CN" dirty="0"/>
              <a:t>UDP</a:t>
            </a:r>
            <a:r>
              <a:rPr lang="zh-CN" altLang="en-US" dirty="0"/>
              <a:t>协议接收数据</a:t>
            </a:r>
          </a:p>
        </p:txBody>
      </p:sp>
    </p:spTree>
    <p:extLst>
      <p:ext uri="{BB962C8B-B14F-4D97-AF65-F5344CB8AC3E}">
        <p14:creationId xmlns:p14="http://schemas.microsoft.com/office/powerpoint/2010/main" val="389820079"/>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
                                            <p:tgtEl>
                                              <p:spTgt spid="12"/>
                                            </p:tgtEl>
                                          </p:cBhvr>
                                        </p:animEffect>
                                      </p:childTnLst>
                                    </p:cTn>
                                  </p:par>
                                  <p:par>
                                    <p:cTn id="14" presetID="42" presetClass="path" presetSubtype="0" fill="hold" nodeType="withEffect">
                                      <p:stCondLst>
                                        <p:cond delay="0"/>
                                      </p:stCondLst>
                                      <p:childTnLst>
                                        <p:animMotion origin="layout" path="M 1.875E-6 -3.33333E-6 L 0.22942 -0.0868 " pathEditMode="relative" rAng="0" ptsTypes="AA">
                                          <p:cBhvr>
                                            <p:cTn id="15" dur="700" fill="hold"/>
                                            <p:tgtEl>
                                              <p:spTgt spid="12"/>
                                            </p:tgtEl>
                                            <p:attrNameLst>
                                              <p:attrName>ppt_x</p:attrName>
                                              <p:attrName>ppt_y</p:attrName>
                                            </p:attrNameLst>
                                          </p:cBhvr>
                                          <p:rCtr x="11393" y="-1921"/>
                                        </p:animMotion>
                                      </p:childTnLst>
                                    </p:cTn>
                                  </p:par>
                                  <p:par>
                                    <p:cTn id="16" presetID="6" presetClass="emph" presetSubtype="0" fill="hold" nodeType="withEffect">
                                      <p:stCondLst>
                                        <p:cond delay="0"/>
                                      </p:stCondLst>
                                      <p:childTnLst>
                                        <p:animScale>
                                          <p:cBhvr>
                                            <p:cTn id="17" dur="700" fill="hold"/>
                                            <p:tgtEl>
                                              <p:spTgt spid="12"/>
                                            </p:tgtEl>
                                          </p:cBhvr>
                                          <p:by x="200000" y="200000"/>
                                        </p:animScale>
                                      </p:childTnLst>
                                    </p:cTn>
                                  </p:par>
                                </p:childTnLst>
                              </p:cTn>
                            </p:par>
                            <p:par>
                              <p:cTn id="18" fill="hold">
                                <p:stCondLst>
                                  <p:cond delay="700"/>
                                </p:stCondLst>
                                <p:childTnLst>
                                  <p:par>
                                    <p:cTn id="19" presetID="1" presetClass="exit" presetSubtype="0" fill="hold" nodeType="afterEffect">
                                      <p:stCondLst>
                                        <p:cond delay="0"/>
                                      </p:stCondLst>
                                      <p:childTnLst>
                                        <p:set>
                                          <p:cBhvr>
                                            <p:cTn id="20" dur="1" fill="hold">
                                              <p:stCondLst>
                                                <p:cond delay="0"/>
                                              </p:stCondLst>
                                            </p:cTn>
                                            <p:tgtEl>
                                              <p:spTgt spid="12"/>
                                            </p:tgtEl>
                                            <p:attrNameLst>
                                              <p:attrName>style.visibility</p:attrName>
                                            </p:attrNameLst>
                                          </p:cBhvr>
                                          <p:to>
                                            <p:strVal val="hidden"/>
                                          </p:to>
                                        </p:set>
                                      </p:childTnLst>
                                    </p:cTn>
                                  </p:par>
                                </p:childTnLst>
                              </p:cTn>
                            </p:par>
                            <p:par>
                              <p:cTn id="21" fill="hold">
                                <p:stCondLst>
                                  <p:cond delay="700"/>
                                </p:stCondLst>
                                <p:childTnLst>
                                  <p:par>
                                    <p:cTn id="22" presetID="1" presetClass="entr" presetSubtype="0"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nodeType="clickEffect">
                                      <p:stCondLst>
                                        <p:cond delay="0"/>
                                      </p:stCondLst>
                                      <p:childTnLst>
                                        <p:set>
                                          <p:cBhvr>
                                            <p:cTn id="27" dur="1" fill="hold">
                                              <p:stCondLst>
                                                <p:cond delay="0"/>
                                              </p:stCondLst>
                                            </p:cTn>
                                            <p:tgtEl>
                                              <p:spTgt spid="10"/>
                                            </p:tgtEl>
                                            <p:attrNameLst>
                                              <p:attrName>style.visibility</p:attrName>
                                            </p:attrNameLst>
                                          </p:cBhvr>
                                          <p:to>
                                            <p:strVal val="hidden"/>
                                          </p:to>
                                        </p:set>
                                      </p:childTnLst>
                                    </p:cTn>
                                  </p:par>
                                  <p:par>
                                    <p:cTn id="28" presetID="1" presetClass="entr" presetSubtype="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childTnLst>
                                    </p:cTn>
                                  </p:par>
                                  <p:par>
                                    <p:cTn id="30" presetID="1" presetClass="exit" presetSubtype="0" fill="hold" nodeType="withEffect">
                                      <p:stCondLst>
                                        <p:cond delay="200"/>
                                      </p:stCondLst>
                                      <p:childTnLst>
                                        <p:set>
                                          <p:cBhvr>
                                            <p:cTn id="31" dur="1" fill="hold">
                                              <p:stCondLst>
                                                <p:cond delay="0"/>
                                              </p:stCondLst>
                                            </p:cTn>
                                            <p:tgtEl>
                                              <p:spTgt spid="9"/>
                                            </p:tgtEl>
                                            <p:attrNameLst>
                                              <p:attrName>style.visibility</p:attrName>
                                            </p:attrNameLst>
                                          </p:cBhvr>
                                          <p:to>
                                            <p:strVal val="hidden"/>
                                          </p:to>
                                        </p:set>
                                      </p:childTnLst>
                                    </p:cTn>
                                  </p:par>
                                  <p:par>
                                    <p:cTn id="32" presetID="1" presetClass="entr" presetSubtype="0" fill="hold" nodeType="withEffect">
                                      <p:stCondLst>
                                        <p:cond delay="200"/>
                                      </p:stCondLst>
                                      <p:childTnLst>
                                        <p:set>
                                          <p:cBhvr>
                                            <p:cTn id="33" dur="1" fill="hold">
                                              <p:stCondLst>
                                                <p:cond delay="0"/>
                                              </p:stCondLst>
                                            </p:cTn>
                                            <p:tgtEl>
                                              <p:spTgt spid="8"/>
                                            </p:tgtEl>
                                            <p:attrNameLst>
                                              <p:attrName>style.visibility</p:attrName>
                                            </p:attrNameLst>
                                          </p:cBhvr>
                                          <p:to>
                                            <p:strVal val="visible"/>
                                          </p:to>
                                        </p:set>
                                      </p:childTnLst>
                                    </p:cTn>
                                  </p:par>
                                  <p:par>
                                    <p:cTn id="34" presetID="1" presetClass="exit" presetSubtype="0" fill="hold" nodeType="withEffect">
                                      <p:stCondLst>
                                        <p:cond delay="400"/>
                                      </p:stCondLst>
                                      <p:childTnLst>
                                        <p:set>
                                          <p:cBhvr>
                                            <p:cTn id="35" dur="1" fill="hold">
                                              <p:stCondLst>
                                                <p:cond delay="0"/>
                                              </p:stCondLst>
                                            </p:cTn>
                                            <p:tgtEl>
                                              <p:spTgt spid="8"/>
                                            </p:tgtEl>
                                            <p:attrNameLst>
                                              <p:attrName>style.visibility</p:attrName>
                                            </p:attrNameLst>
                                          </p:cBhvr>
                                          <p:to>
                                            <p:strVal val="hidden"/>
                                          </p:to>
                                        </p:set>
                                      </p:childTnLst>
                                    </p:cTn>
                                  </p:par>
                                  <p:par>
                                    <p:cTn id="36" presetID="1" presetClass="entr" presetSubtype="0" fill="hold" nodeType="withEffect">
                                      <p:stCondLst>
                                        <p:cond delay="400"/>
                                      </p:stCondLst>
                                      <p:childTnLst>
                                        <p:set>
                                          <p:cBhvr>
                                            <p:cTn id="37" dur="1" fill="hold">
                                              <p:stCondLst>
                                                <p:cond delay="0"/>
                                              </p:stCondLst>
                                            </p:cTn>
                                            <p:tgtEl>
                                              <p:spTgt spid="7"/>
                                            </p:tgtEl>
                                            <p:attrNameLst>
                                              <p:attrName>style.visibility</p:attrName>
                                            </p:attrNameLst>
                                          </p:cBhvr>
                                          <p:to>
                                            <p:strVal val="visible"/>
                                          </p:to>
                                        </p:set>
                                      </p:childTnLst>
                                    </p:cTn>
                                  </p:par>
                                  <p:par>
                                    <p:cTn id="38" presetID="1" presetClass="exit" presetSubtype="0" fill="hold" nodeType="withEffect">
                                      <p:stCondLst>
                                        <p:cond delay="600"/>
                                      </p:stCondLst>
                                      <p:childTnLst>
                                        <p:set>
                                          <p:cBhvr>
                                            <p:cTn id="39" dur="1" fill="hold">
                                              <p:stCondLst>
                                                <p:cond delay="0"/>
                                              </p:stCondLst>
                                            </p:cTn>
                                            <p:tgtEl>
                                              <p:spTgt spid="7"/>
                                            </p:tgtEl>
                                            <p:attrNameLst>
                                              <p:attrName>style.visibility</p:attrName>
                                            </p:attrNameLst>
                                          </p:cBhvr>
                                          <p:to>
                                            <p:strVal val="hidden"/>
                                          </p:to>
                                        </p:set>
                                      </p:childTnLst>
                                    </p:cTn>
                                  </p:par>
                                  <p:par>
                                    <p:cTn id="40" presetID="1" presetClass="entr" presetSubtype="0" fill="hold" nodeType="withEffect">
                                      <p:stCondLst>
                                        <p:cond delay="600"/>
                                      </p:stCondLst>
                                      <p:childTnLst>
                                        <p:set>
                                          <p:cBhvr>
                                            <p:cTn id="41" dur="1" fill="hold">
                                              <p:stCondLst>
                                                <p:cond delay="0"/>
                                              </p:stCondLst>
                                            </p:cTn>
                                            <p:tgtEl>
                                              <p:spTgt spid="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nodeType="clickEffect">
                                      <p:stCondLst>
                                        <p:cond delay="0"/>
                                      </p:stCondLst>
                                      <p:childTnLst>
                                        <p:animEffect transition="out" filter="fade">
                                          <p:cBhvr>
                                            <p:cTn id="45" dur="500"/>
                                            <p:tgtEl>
                                              <p:spTgt spid="3"/>
                                            </p:tgtEl>
                                          </p:cBhvr>
                                        </p:animEffect>
                                        <p:set>
                                          <p:cBhvr>
                                            <p:cTn id="46" dur="1" fill="hold">
                                              <p:stCondLst>
                                                <p:cond delay="499"/>
                                              </p:stCondLst>
                                            </p:cTn>
                                            <p:tgtEl>
                                              <p:spTgt spid="3"/>
                                            </p:tgtEl>
                                            <p:attrNameLst>
                                              <p:attrName>style.visibility</p:attrName>
                                            </p:attrNameLst>
                                          </p:cBhvr>
                                          <p:to>
                                            <p:strVal val="hidden"/>
                                          </p:to>
                                        </p:set>
                                      </p:childTnLst>
                                    </p:cTn>
                                  </p:par>
                                  <p:par>
                                    <p:cTn id="47" presetID="10"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42" presetClass="path" presetSubtype="0" fill="hold" nodeType="withEffect">
                                      <p:stCondLst>
                                        <p:cond delay="0"/>
                                      </p:stCondLst>
                                      <p:childTnLst>
                                        <p:animMotion origin="layout" path="M 6.25E-7 3.7037E-7 L 0.24115 0.1419 " pathEditMode="relative" rAng="0" ptsTypes="AA">
                                          <p:cBhvr>
                                            <p:cTn id="60" dur="1000" spd="-100000" fill="hold"/>
                                            <p:tgtEl>
                                              <p:spTgt spid="17"/>
                                            </p:tgtEl>
                                            <p:attrNameLst>
                                              <p:attrName>ppt_x</p:attrName>
                                              <p:attrName>ppt_y</p:attrName>
                                            </p:attrNameLst>
                                          </p:cBhvr>
                                          <p:rCtr x="11823" y="8449"/>
                                        </p:animMotion>
                                      </p:childTnLst>
                                    </p:cTn>
                                  </p:par>
                                  <p:par>
                                    <p:cTn id="61" presetID="42" presetClass="path" presetSubtype="0" fill="hold" nodeType="withEffect">
                                      <p:stCondLst>
                                        <p:cond delay="0"/>
                                      </p:stCondLst>
                                      <p:childTnLst>
                                        <p:animMotion origin="layout" path="M 4.16667E-6 3.7037E-7 L 0.13086 0.1419 " pathEditMode="relative" rAng="0" ptsTypes="AA">
                                          <p:cBhvr>
                                            <p:cTn id="62" dur="1000" spd="-100000" fill="hold"/>
                                            <p:tgtEl>
                                              <p:spTgt spid="18"/>
                                            </p:tgtEl>
                                            <p:attrNameLst>
                                              <p:attrName>ppt_x</p:attrName>
                                              <p:attrName>ppt_y</p:attrName>
                                            </p:attrNameLst>
                                          </p:cBhvr>
                                          <p:rCtr x="6901" y="8449"/>
                                        </p:animMotion>
                                      </p:childTnLst>
                                    </p:cTn>
                                  </p:par>
                                  <p:par>
                                    <p:cTn id="63" presetID="42" presetClass="path" presetSubtype="0" fill="hold" nodeType="withEffect">
                                      <p:stCondLst>
                                        <p:cond delay="0"/>
                                      </p:stCondLst>
                                      <p:childTnLst>
                                        <p:animMotion origin="layout" path="M -4.16667E-6 -4.44444E-6 L 0.25066 -0.08542 " pathEditMode="relative" rAng="0" ptsTypes="AA">
                                          <p:cBhvr>
                                            <p:cTn id="64" dur="1000" spd="-100000" fill="hold"/>
                                            <p:tgtEl>
                                              <p:spTgt spid="20"/>
                                            </p:tgtEl>
                                            <p:attrNameLst>
                                              <p:attrName>ppt_x</p:attrName>
                                              <p:attrName>ppt_y</p:attrName>
                                            </p:attrNameLst>
                                          </p:cBhvr>
                                          <p:rCtr x="11901" y="-2106"/>
                                        </p:animMotion>
                                      </p:childTnLst>
                                    </p:cTn>
                                  </p:par>
                                  <p:par>
                                    <p:cTn id="65" presetID="42" presetClass="path" presetSubtype="0" fill="hold" nodeType="withEffect">
                                      <p:stCondLst>
                                        <p:cond delay="0"/>
                                      </p:stCondLst>
                                      <p:childTnLst>
                                        <p:animMotion origin="layout" path="M -1.45833E-6 -2.96296E-6 L 0.13984 -0.08519 " pathEditMode="relative" rAng="0" ptsTypes="AA">
                                          <p:cBhvr>
                                            <p:cTn id="66" dur="1000" spd="-100000" fill="hold"/>
                                            <p:tgtEl>
                                              <p:spTgt spid="19"/>
                                            </p:tgtEl>
                                            <p:attrNameLst>
                                              <p:attrName>ppt_x</p:attrName>
                                              <p:attrName>ppt_y</p:attrName>
                                            </p:attrNameLst>
                                          </p:cBhvr>
                                          <p:rCtr x="6966" y="-2894"/>
                                        </p:animMotion>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6"/>
                                            </p:tgtEl>
                                            <p:attrNameLst>
                                              <p:attrName>style.visibility</p:attrName>
                                            </p:attrNameLst>
                                          </p:cBhvr>
                                          <p:to>
                                            <p:strVal val="visible"/>
                                          </p:to>
                                        </p:set>
                                        <p:animEffect transition="in" filter="wipe(down)">
                                          <p:cBhvr>
                                            <p:cTn id="71" dur="500"/>
                                            <p:tgtEl>
                                              <p:spTgt spid="6"/>
                                            </p:tgtEl>
                                          </p:cBhvr>
                                        </p:animEffect>
                                      </p:childTnLst>
                                    </p:cTn>
                                  </p:par>
                                </p:childTnLst>
                              </p:cTn>
                            </p:par>
                          </p:childTnLst>
                        </p:cTn>
                      </p:par>
                      <p:par>
                        <p:cTn id="72" fill="hold">
                          <p:stCondLst>
                            <p:cond delay="indefinite"/>
                          </p:stCondLst>
                          <p:childTnLst>
                            <p:par>
                              <p:cTn id="73" fill="hold">
                                <p:stCondLst>
                                  <p:cond delay="0"/>
                                </p:stCondLst>
                                <p:childTnLst>
                                  <p:par>
                                    <p:cTn id="74" presetID="2" presetClass="entr" presetSubtype="8" fill="hold" nodeType="clickEffect" p14:presetBounceEnd="42857">
                                      <p:stCondLst>
                                        <p:cond delay="0"/>
                                      </p:stCondLst>
                                      <p:childTnLst>
                                        <p:set>
                                          <p:cBhvr>
                                            <p:cTn id="75" dur="1" fill="hold">
                                              <p:stCondLst>
                                                <p:cond delay="0"/>
                                              </p:stCondLst>
                                            </p:cTn>
                                            <p:tgtEl>
                                              <p:spTgt spid="22">
                                                <p:txEl>
                                                  <p:pRg st="0" end="0"/>
                                                </p:txEl>
                                              </p:spTgt>
                                            </p:tgtEl>
                                            <p:attrNameLst>
                                              <p:attrName>style.visibility</p:attrName>
                                            </p:attrNameLst>
                                          </p:cBhvr>
                                          <p:to>
                                            <p:strVal val="visible"/>
                                          </p:to>
                                        </p:set>
                                        <p:anim calcmode="lin" valueType="num" p14:bounceEnd="42857">
                                          <p:cBhvr additive="base">
                                            <p:cTn id="76" dur="700" fill="hold"/>
                                            <p:tgtEl>
                                              <p:spTgt spid="22">
                                                <p:txEl>
                                                  <p:pRg st="0" end="0"/>
                                                </p:txEl>
                                              </p:spTgt>
                                            </p:tgtEl>
                                            <p:attrNameLst>
                                              <p:attrName>ppt_x</p:attrName>
                                            </p:attrNameLst>
                                          </p:cBhvr>
                                          <p:tavLst>
                                            <p:tav tm="0">
                                              <p:val>
                                                <p:strVal val="0-#ppt_w/2"/>
                                              </p:val>
                                            </p:tav>
                                            <p:tav tm="100000">
                                              <p:val>
                                                <p:strVal val="#ppt_x"/>
                                              </p:val>
                                            </p:tav>
                                          </p:tavLst>
                                        </p:anim>
                                        <p:anim calcmode="lin" valueType="num" p14:bounceEnd="42857">
                                          <p:cBhvr additive="base">
                                            <p:cTn id="77" dur="700" fill="hold"/>
                                            <p:tgtEl>
                                              <p:spTgt spid="22">
                                                <p:txEl>
                                                  <p:pRg st="0" end="0"/>
                                                </p:txEl>
                                              </p:spTgt>
                                            </p:tgtEl>
                                            <p:attrNameLst>
                                              <p:attrName>ppt_y</p:attrName>
                                            </p:attrNameLst>
                                          </p:cBhvr>
                                          <p:tavLst>
                                            <p:tav tm="0">
                                              <p:val>
                                                <p:strVal val="#ppt_y"/>
                                              </p:val>
                                            </p:tav>
                                            <p:tav tm="100000">
                                              <p:val>
                                                <p:strVal val="#ppt_y"/>
                                              </p:val>
                                            </p:tav>
                                          </p:tavLst>
                                        </p:anim>
                                      </p:childTnLst>
                                    </p:cTn>
                                  </p:par>
                                  <p:par>
                                    <p:cTn id="78" presetID="2" presetClass="entr" presetSubtype="8" fill="hold" nodeType="withEffect" p14:presetBounceEnd="42857">
                                      <p:stCondLst>
                                        <p:cond delay="100"/>
                                      </p:stCondLst>
                                      <p:childTnLst>
                                        <p:set>
                                          <p:cBhvr>
                                            <p:cTn id="79" dur="1" fill="hold">
                                              <p:stCondLst>
                                                <p:cond delay="0"/>
                                              </p:stCondLst>
                                            </p:cTn>
                                            <p:tgtEl>
                                              <p:spTgt spid="22">
                                                <p:txEl>
                                                  <p:pRg st="1" end="1"/>
                                                </p:txEl>
                                              </p:spTgt>
                                            </p:tgtEl>
                                            <p:attrNameLst>
                                              <p:attrName>style.visibility</p:attrName>
                                            </p:attrNameLst>
                                          </p:cBhvr>
                                          <p:to>
                                            <p:strVal val="visible"/>
                                          </p:to>
                                        </p:set>
                                        <p:anim calcmode="lin" valueType="num" p14:bounceEnd="42857">
                                          <p:cBhvr additive="base">
                                            <p:cTn id="80" dur="700" fill="hold"/>
                                            <p:tgtEl>
                                              <p:spTgt spid="22">
                                                <p:txEl>
                                                  <p:pRg st="1" end="1"/>
                                                </p:txEl>
                                              </p:spTgt>
                                            </p:tgtEl>
                                            <p:attrNameLst>
                                              <p:attrName>ppt_x</p:attrName>
                                            </p:attrNameLst>
                                          </p:cBhvr>
                                          <p:tavLst>
                                            <p:tav tm="0">
                                              <p:val>
                                                <p:strVal val="0-#ppt_w/2"/>
                                              </p:val>
                                            </p:tav>
                                            <p:tav tm="100000">
                                              <p:val>
                                                <p:strVal val="#ppt_x"/>
                                              </p:val>
                                            </p:tav>
                                          </p:tavLst>
                                        </p:anim>
                                        <p:anim calcmode="lin" valueType="num" p14:bounceEnd="42857">
                                          <p:cBhvr additive="base">
                                            <p:cTn id="81" dur="700" fill="hold"/>
                                            <p:tgtEl>
                                              <p:spTgt spid="22">
                                                <p:txEl>
                                                  <p:pRg st="1" end="1"/>
                                                </p:txEl>
                                              </p:spTgt>
                                            </p:tgtEl>
                                            <p:attrNameLst>
                                              <p:attrName>ppt_y</p:attrName>
                                            </p:attrNameLst>
                                          </p:cBhvr>
                                          <p:tavLst>
                                            <p:tav tm="0">
                                              <p:val>
                                                <p:strVal val="#ppt_y"/>
                                              </p:val>
                                            </p:tav>
                                            <p:tav tm="100000">
                                              <p:val>
                                                <p:strVal val="#ppt_y"/>
                                              </p:val>
                                            </p:tav>
                                          </p:tavLst>
                                        </p:anim>
                                      </p:childTnLst>
                                    </p:cTn>
                                  </p:par>
                                  <p:par>
                                    <p:cTn id="82" presetID="2" presetClass="entr" presetSubtype="8" fill="hold" nodeType="withEffect" p14:presetBounceEnd="42857">
                                      <p:stCondLst>
                                        <p:cond delay="200"/>
                                      </p:stCondLst>
                                      <p:childTnLst>
                                        <p:set>
                                          <p:cBhvr>
                                            <p:cTn id="83" dur="1" fill="hold">
                                              <p:stCondLst>
                                                <p:cond delay="0"/>
                                              </p:stCondLst>
                                            </p:cTn>
                                            <p:tgtEl>
                                              <p:spTgt spid="22">
                                                <p:txEl>
                                                  <p:pRg st="2" end="2"/>
                                                </p:txEl>
                                              </p:spTgt>
                                            </p:tgtEl>
                                            <p:attrNameLst>
                                              <p:attrName>style.visibility</p:attrName>
                                            </p:attrNameLst>
                                          </p:cBhvr>
                                          <p:to>
                                            <p:strVal val="visible"/>
                                          </p:to>
                                        </p:set>
                                        <p:anim calcmode="lin" valueType="num" p14:bounceEnd="42857">
                                          <p:cBhvr additive="base">
                                            <p:cTn id="84" dur="700" fill="hold"/>
                                            <p:tgtEl>
                                              <p:spTgt spid="22">
                                                <p:txEl>
                                                  <p:pRg st="2" end="2"/>
                                                </p:txEl>
                                              </p:spTgt>
                                            </p:tgtEl>
                                            <p:attrNameLst>
                                              <p:attrName>ppt_x</p:attrName>
                                            </p:attrNameLst>
                                          </p:cBhvr>
                                          <p:tavLst>
                                            <p:tav tm="0">
                                              <p:val>
                                                <p:strVal val="0-#ppt_w/2"/>
                                              </p:val>
                                            </p:tav>
                                            <p:tav tm="100000">
                                              <p:val>
                                                <p:strVal val="#ppt_x"/>
                                              </p:val>
                                            </p:tav>
                                          </p:tavLst>
                                        </p:anim>
                                        <p:anim calcmode="lin" valueType="num" p14:bounceEnd="42857">
                                          <p:cBhvr additive="base">
                                            <p:cTn id="85" dur="700" fill="hold"/>
                                            <p:tgtEl>
                                              <p:spTgt spid="22">
                                                <p:txEl>
                                                  <p:pRg st="2" end="2"/>
                                                </p:txEl>
                                              </p:spTgt>
                                            </p:tgtEl>
                                            <p:attrNameLst>
                                              <p:attrName>ppt_y</p:attrName>
                                            </p:attrNameLst>
                                          </p:cBhvr>
                                          <p:tavLst>
                                            <p:tav tm="0">
                                              <p:val>
                                                <p:strVal val="#ppt_y"/>
                                              </p:val>
                                            </p:tav>
                                            <p:tav tm="100000">
                                              <p:val>
                                                <p:strVal val="#ppt_y"/>
                                              </p:val>
                                            </p:tav>
                                          </p:tavLst>
                                        </p:anim>
                                      </p:childTnLst>
                                    </p:cTn>
                                  </p:par>
                                  <p:par>
                                    <p:cTn id="86" presetID="2" presetClass="entr" presetSubtype="8" fill="hold" nodeType="withEffect" p14:presetBounceEnd="42857">
                                      <p:stCondLst>
                                        <p:cond delay="300"/>
                                      </p:stCondLst>
                                      <p:childTnLst>
                                        <p:set>
                                          <p:cBhvr>
                                            <p:cTn id="87" dur="1" fill="hold">
                                              <p:stCondLst>
                                                <p:cond delay="0"/>
                                              </p:stCondLst>
                                            </p:cTn>
                                            <p:tgtEl>
                                              <p:spTgt spid="22">
                                                <p:txEl>
                                                  <p:pRg st="3" end="3"/>
                                                </p:txEl>
                                              </p:spTgt>
                                            </p:tgtEl>
                                            <p:attrNameLst>
                                              <p:attrName>style.visibility</p:attrName>
                                            </p:attrNameLst>
                                          </p:cBhvr>
                                          <p:to>
                                            <p:strVal val="visible"/>
                                          </p:to>
                                        </p:set>
                                        <p:anim calcmode="lin" valueType="num" p14:bounceEnd="42857">
                                          <p:cBhvr additive="base">
                                            <p:cTn id="88" dur="700" fill="hold"/>
                                            <p:tgtEl>
                                              <p:spTgt spid="22">
                                                <p:txEl>
                                                  <p:pRg st="3" end="3"/>
                                                </p:txEl>
                                              </p:spTgt>
                                            </p:tgtEl>
                                            <p:attrNameLst>
                                              <p:attrName>ppt_x</p:attrName>
                                            </p:attrNameLst>
                                          </p:cBhvr>
                                          <p:tavLst>
                                            <p:tav tm="0">
                                              <p:val>
                                                <p:strVal val="0-#ppt_w/2"/>
                                              </p:val>
                                            </p:tav>
                                            <p:tav tm="100000">
                                              <p:val>
                                                <p:strVal val="#ppt_x"/>
                                              </p:val>
                                            </p:tav>
                                          </p:tavLst>
                                        </p:anim>
                                        <p:anim calcmode="lin" valueType="num" p14:bounceEnd="42857">
                                          <p:cBhvr additive="base">
                                            <p:cTn id="89" dur="700" fill="hold"/>
                                            <p:tgtEl>
                                              <p:spTgt spid="22">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
                                            <p:tgtEl>
                                              <p:spTgt spid="12"/>
                                            </p:tgtEl>
                                          </p:cBhvr>
                                        </p:animEffect>
                                      </p:childTnLst>
                                    </p:cTn>
                                  </p:par>
                                  <p:par>
                                    <p:cTn id="14" presetID="42" presetClass="path" presetSubtype="0" fill="hold" nodeType="withEffect">
                                      <p:stCondLst>
                                        <p:cond delay="0"/>
                                      </p:stCondLst>
                                      <p:childTnLst>
                                        <p:animMotion origin="layout" path="M 1.875E-6 -3.33333E-6 L 0.22942 -0.0868 " pathEditMode="relative" rAng="0" ptsTypes="AA">
                                          <p:cBhvr>
                                            <p:cTn id="15" dur="700" fill="hold"/>
                                            <p:tgtEl>
                                              <p:spTgt spid="12"/>
                                            </p:tgtEl>
                                            <p:attrNameLst>
                                              <p:attrName>ppt_x</p:attrName>
                                              <p:attrName>ppt_y</p:attrName>
                                            </p:attrNameLst>
                                          </p:cBhvr>
                                          <p:rCtr x="11393" y="-1921"/>
                                        </p:animMotion>
                                      </p:childTnLst>
                                    </p:cTn>
                                  </p:par>
                                  <p:par>
                                    <p:cTn id="16" presetID="6" presetClass="emph" presetSubtype="0" fill="hold" nodeType="withEffect">
                                      <p:stCondLst>
                                        <p:cond delay="0"/>
                                      </p:stCondLst>
                                      <p:childTnLst>
                                        <p:animScale>
                                          <p:cBhvr>
                                            <p:cTn id="17" dur="700" fill="hold"/>
                                            <p:tgtEl>
                                              <p:spTgt spid="12"/>
                                            </p:tgtEl>
                                          </p:cBhvr>
                                          <p:by x="200000" y="200000"/>
                                        </p:animScale>
                                      </p:childTnLst>
                                    </p:cTn>
                                  </p:par>
                                </p:childTnLst>
                              </p:cTn>
                            </p:par>
                            <p:par>
                              <p:cTn id="18" fill="hold">
                                <p:stCondLst>
                                  <p:cond delay="700"/>
                                </p:stCondLst>
                                <p:childTnLst>
                                  <p:par>
                                    <p:cTn id="19" presetID="1" presetClass="exit" presetSubtype="0" fill="hold" nodeType="afterEffect">
                                      <p:stCondLst>
                                        <p:cond delay="0"/>
                                      </p:stCondLst>
                                      <p:childTnLst>
                                        <p:set>
                                          <p:cBhvr>
                                            <p:cTn id="20" dur="1" fill="hold">
                                              <p:stCondLst>
                                                <p:cond delay="0"/>
                                              </p:stCondLst>
                                            </p:cTn>
                                            <p:tgtEl>
                                              <p:spTgt spid="12"/>
                                            </p:tgtEl>
                                            <p:attrNameLst>
                                              <p:attrName>style.visibility</p:attrName>
                                            </p:attrNameLst>
                                          </p:cBhvr>
                                          <p:to>
                                            <p:strVal val="hidden"/>
                                          </p:to>
                                        </p:set>
                                      </p:childTnLst>
                                    </p:cTn>
                                  </p:par>
                                </p:childTnLst>
                              </p:cTn>
                            </p:par>
                            <p:par>
                              <p:cTn id="21" fill="hold">
                                <p:stCondLst>
                                  <p:cond delay="700"/>
                                </p:stCondLst>
                                <p:childTnLst>
                                  <p:par>
                                    <p:cTn id="22" presetID="1" presetClass="entr" presetSubtype="0"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nodeType="clickEffect">
                                      <p:stCondLst>
                                        <p:cond delay="0"/>
                                      </p:stCondLst>
                                      <p:childTnLst>
                                        <p:set>
                                          <p:cBhvr>
                                            <p:cTn id="27" dur="1" fill="hold">
                                              <p:stCondLst>
                                                <p:cond delay="0"/>
                                              </p:stCondLst>
                                            </p:cTn>
                                            <p:tgtEl>
                                              <p:spTgt spid="10"/>
                                            </p:tgtEl>
                                            <p:attrNameLst>
                                              <p:attrName>style.visibility</p:attrName>
                                            </p:attrNameLst>
                                          </p:cBhvr>
                                          <p:to>
                                            <p:strVal val="hidden"/>
                                          </p:to>
                                        </p:set>
                                      </p:childTnLst>
                                    </p:cTn>
                                  </p:par>
                                  <p:par>
                                    <p:cTn id="28" presetID="1" presetClass="entr" presetSubtype="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childTnLst>
                                    </p:cTn>
                                  </p:par>
                                  <p:par>
                                    <p:cTn id="30" presetID="1" presetClass="exit" presetSubtype="0" fill="hold" nodeType="withEffect">
                                      <p:stCondLst>
                                        <p:cond delay="200"/>
                                      </p:stCondLst>
                                      <p:childTnLst>
                                        <p:set>
                                          <p:cBhvr>
                                            <p:cTn id="31" dur="1" fill="hold">
                                              <p:stCondLst>
                                                <p:cond delay="0"/>
                                              </p:stCondLst>
                                            </p:cTn>
                                            <p:tgtEl>
                                              <p:spTgt spid="9"/>
                                            </p:tgtEl>
                                            <p:attrNameLst>
                                              <p:attrName>style.visibility</p:attrName>
                                            </p:attrNameLst>
                                          </p:cBhvr>
                                          <p:to>
                                            <p:strVal val="hidden"/>
                                          </p:to>
                                        </p:set>
                                      </p:childTnLst>
                                    </p:cTn>
                                  </p:par>
                                  <p:par>
                                    <p:cTn id="32" presetID="1" presetClass="entr" presetSubtype="0" fill="hold" nodeType="withEffect">
                                      <p:stCondLst>
                                        <p:cond delay="200"/>
                                      </p:stCondLst>
                                      <p:childTnLst>
                                        <p:set>
                                          <p:cBhvr>
                                            <p:cTn id="33" dur="1" fill="hold">
                                              <p:stCondLst>
                                                <p:cond delay="0"/>
                                              </p:stCondLst>
                                            </p:cTn>
                                            <p:tgtEl>
                                              <p:spTgt spid="8"/>
                                            </p:tgtEl>
                                            <p:attrNameLst>
                                              <p:attrName>style.visibility</p:attrName>
                                            </p:attrNameLst>
                                          </p:cBhvr>
                                          <p:to>
                                            <p:strVal val="visible"/>
                                          </p:to>
                                        </p:set>
                                      </p:childTnLst>
                                    </p:cTn>
                                  </p:par>
                                  <p:par>
                                    <p:cTn id="34" presetID="1" presetClass="exit" presetSubtype="0" fill="hold" nodeType="withEffect">
                                      <p:stCondLst>
                                        <p:cond delay="400"/>
                                      </p:stCondLst>
                                      <p:childTnLst>
                                        <p:set>
                                          <p:cBhvr>
                                            <p:cTn id="35" dur="1" fill="hold">
                                              <p:stCondLst>
                                                <p:cond delay="0"/>
                                              </p:stCondLst>
                                            </p:cTn>
                                            <p:tgtEl>
                                              <p:spTgt spid="8"/>
                                            </p:tgtEl>
                                            <p:attrNameLst>
                                              <p:attrName>style.visibility</p:attrName>
                                            </p:attrNameLst>
                                          </p:cBhvr>
                                          <p:to>
                                            <p:strVal val="hidden"/>
                                          </p:to>
                                        </p:set>
                                      </p:childTnLst>
                                    </p:cTn>
                                  </p:par>
                                  <p:par>
                                    <p:cTn id="36" presetID="1" presetClass="entr" presetSubtype="0" fill="hold" nodeType="withEffect">
                                      <p:stCondLst>
                                        <p:cond delay="400"/>
                                      </p:stCondLst>
                                      <p:childTnLst>
                                        <p:set>
                                          <p:cBhvr>
                                            <p:cTn id="37" dur="1" fill="hold">
                                              <p:stCondLst>
                                                <p:cond delay="0"/>
                                              </p:stCondLst>
                                            </p:cTn>
                                            <p:tgtEl>
                                              <p:spTgt spid="7"/>
                                            </p:tgtEl>
                                            <p:attrNameLst>
                                              <p:attrName>style.visibility</p:attrName>
                                            </p:attrNameLst>
                                          </p:cBhvr>
                                          <p:to>
                                            <p:strVal val="visible"/>
                                          </p:to>
                                        </p:set>
                                      </p:childTnLst>
                                    </p:cTn>
                                  </p:par>
                                  <p:par>
                                    <p:cTn id="38" presetID="1" presetClass="exit" presetSubtype="0" fill="hold" nodeType="withEffect">
                                      <p:stCondLst>
                                        <p:cond delay="600"/>
                                      </p:stCondLst>
                                      <p:childTnLst>
                                        <p:set>
                                          <p:cBhvr>
                                            <p:cTn id="39" dur="1" fill="hold">
                                              <p:stCondLst>
                                                <p:cond delay="0"/>
                                              </p:stCondLst>
                                            </p:cTn>
                                            <p:tgtEl>
                                              <p:spTgt spid="7"/>
                                            </p:tgtEl>
                                            <p:attrNameLst>
                                              <p:attrName>style.visibility</p:attrName>
                                            </p:attrNameLst>
                                          </p:cBhvr>
                                          <p:to>
                                            <p:strVal val="hidden"/>
                                          </p:to>
                                        </p:set>
                                      </p:childTnLst>
                                    </p:cTn>
                                  </p:par>
                                  <p:par>
                                    <p:cTn id="40" presetID="1" presetClass="entr" presetSubtype="0" fill="hold" nodeType="withEffect">
                                      <p:stCondLst>
                                        <p:cond delay="600"/>
                                      </p:stCondLst>
                                      <p:childTnLst>
                                        <p:set>
                                          <p:cBhvr>
                                            <p:cTn id="41" dur="1" fill="hold">
                                              <p:stCondLst>
                                                <p:cond delay="0"/>
                                              </p:stCondLst>
                                            </p:cTn>
                                            <p:tgtEl>
                                              <p:spTgt spid="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nodeType="clickEffect">
                                      <p:stCondLst>
                                        <p:cond delay="0"/>
                                      </p:stCondLst>
                                      <p:childTnLst>
                                        <p:animEffect transition="out" filter="fade">
                                          <p:cBhvr>
                                            <p:cTn id="45" dur="500"/>
                                            <p:tgtEl>
                                              <p:spTgt spid="3"/>
                                            </p:tgtEl>
                                          </p:cBhvr>
                                        </p:animEffect>
                                        <p:set>
                                          <p:cBhvr>
                                            <p:cTn id="46" dur="1" fill="hold">
                                              <p:stCondLst>
                                                <p:cond delay="499"/>
                                              </p:stCondLst>
                                            </p:cTn>
                                            <p:tgtEl>
                                              <p:spTgt spid="3"/>
                                            </p:tgtEl>
                                            <p:attrNameLst>
                                              <p:attrName>style.visibility</p:attrName>
                                            </p:attrNameLst>
                                          </p:cBhvr>
                                          <p:to>
                                            <p:strVal val="hidden"/>
                                          </p:to>
                                        </p:set>
                                      </p:childTnLst>
                                    </p:cTn>
                                  </p:par>
                                  <p:par>
                                    <p:cTn id="47" presetID="10"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42" presetClass="path" presetSubtype="0" fill="hold" nodeType="withEffect">
                                      <p:stCondLst>
                                        <p:cond delay="0"/>
                                      </p:stCondLst>
                                      <p:childTnLst>
                                        <p:animMotion origin="layout" path="M 6.25E-7 3.7037E-7 L 0.24115 0.1419 " pathEditMode="relative" rAng="0" ptsTypes="AA">
                                          <p:cBhvr>
                                            <p:cTn id="60" dur="1000" spd="-100000" fill="hold"/>
                                            <p:tgtEl>
                                              <p:spTgt spid="17"/>
                                            </p:tgtEl>
                                            <p:attrNameLst>
                                              <p:attrName>ppt_x</p:attrName>
                                              <p:attrName>ppt_y</p:attrName>
                                            </p:attrNameLst>
                                          </p:cBhvr>
                                          <p:rCtr x="11823" y="8449"/>
                                        </p:animMotion>
                                      </p:childTnLst>
                                    </p:cTn>
                                  </p:par>
                                  <p:par>
                                    <p:cTn id="61" presetID="42" presetClass="path" presetSubtype="0" fill="hold" nodeType="withEffect">
                                      <p:stCondLst>
                                        <p:cond delay="0"/>
                                      </p:stCondLst>
                                      <p:childTnLst>
                                        <p:animMotion origin="layout" path="M 4.16667E-6 3.7037E-7 L 0.13086 0.1419 " pathEditMode="relative" rAng="0" ptsTypes="AA">
                                          <p:cBhvr>
                                            <p:cTn id="62" dur="1000" spd="-100000" fill="hold"/>
                                            <p:tgtEl>
                                              <p:spTgt spid="18"/>
                                            </p:tgtEl>
                                            <p:attrNameLst>
                                              <p:attrName>ppt_x</p:attrName>
                                              <p:attrName>ppt_y</p:attrName>
                                            </p:attrNameLst>
                                          </p:cBhvr>
                                          <p:rCtr x="6901" y="8449"/>
                                        </p:animMotion>
                                      </p:childTnLst>
                                    </p:cTn>
                                  </p:par>
                                  <p:par>
                                    <p:cTn id="63" presetID="42" presetClass="path" presetSubtype="0" fill="hold" nodeType="withEffect">
                                      <p:stCondLst>
                                        <p:cond delay="0"/>
                                      </p:stCondLst>
                                      <p:childTnLst>
                                        <p:animMotion origin="layout" path="M -4.16667E-6 -4.44444E-6 L 0.25066 -0.08542 " pathEditMode="relative" rAng="0" ptsTypes="AA">
                                          <p:cBhvr>
                                            <p:cTn id="64" dur="1000" spd="-100000" fill="hold"/>
                                            <p:tgtEl>
                                              <p:spTgt spid="20"/>
                                            </p:tgtEl>
                                            <p:attrNameLst>
                                              <p:attrName>ppt_x</p:attrName>
                                              <p:attrName>ppt_y</p:attrName>
                                            </p:attrNameLst>
                                          </p:cBhvr>
                                          <p:rCtr x="11901" y="-2106"/>
                                        </p:animMotion>
                                      </p:childTnLst>
                                    </p:cTn>
                                  </p:par>
                                  <p:par>
                                    <p:cTn id="65" presetID="42" presetClass="path" presetSubtype="0" fill="hold" nodeType="withEffect">
                                      <p:stCondLst>
                                        <p:cond delay="0"/>
                                      </p:stCondLst>
                                      <p:childTnLst>
                                        <p:animMotion origin="layout" path="M -1.45833E-6 -2.96296E-6 L 0.13984 -0.08519 " pathEditMode="relative" rAng="0" ptsTypes="AA">
                                          <p:cBhvr>
                                            <p:cTn id="66" dur="1000" spd="-100000" fill="hold"/>
                                            <p:tgtEl>
                                              <p:spTgt spid="19"/>
                                            </p:tgtEl>
                                            <p:attrNameLst>
                                              <p:attrName>ppt_x</p:attrName>
                                              <p:attrName>ppt_y</p:attrName>
                                            </p:attrNameLst>
                                          </p:cBhvr>
                                          <p:rCtr x="6966" y="-2894"/>
                                        </p:animMotion>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6"/>
                                            </p:tgtEl>
                                            <p:attrNameLst>
                                              <p:attrName>style.visibility</p:attrName>
                                            </p:attrNameLst>
                                          </p:cBhvr>
                                          <p:to>
                                            <p:strVal val="visible"/>
                                          </p:to>
                                        </p:set>
                                        <p:animEffect transition="in" filter="wipe(down)">
                                          <p:cBhvr>
                                            <p:cTn id="71" dur="500"/>
                                            <p:tgtEl>
                                              <p:spTgt spid="6"/>
                                            </p:tgtEl>
                                          </p:cBhvr>
                                        </p:animEffect>
                                      </p:childTnLst>
                                    </p:cTn>
                                  </p:par>
                                </p:childTnLst>
                              </p:cTn>
                            </p:par>
                          </p:childTnLst>
                        </p:cTn>
                      </p:par>
                      <p:par>
                        <p:cTn id="72" fill="hold">
                          <p:stCondLst>
                            <p:cond delay="indefinite"/>
                          </p:stCondLst>
                          <p:childTnLst>
                            <p:par>
                              <p:cTn id="73" fill="hold">
                                <p:stCondLst>
                                  <p:cond delay="0"/>
                                </p:stCondLst>
                                <p:childTnLst>
                                  <p:par>
                                    <p:cTn id="74" presetID="2" presetClass="entr" presetSubtype="8" fill="hold" nodeType="clickEffect">
                                      <p:stCondLst>
                                        <p:cond delay="0"/>
                                      </p:stCondLst>
                                      <p:childTnLst>
                                        <p:set>
                                          <p:cBhvr>
                                            <p:cTn id="75" dur="1" fill="hold">
                                              <p:stCondLst>
                                                <p:cond delay="0"/>
                                              </p:stCondLst>
                                            </p:cTn>
                                            <p:tgtEl>
                                              <p:spTgt spid="22">
                                                <p:txEl>
                                                  <p:pRg st="0" end="0"/>
                                                </p:txEl>
                                              </p:spTgt>
                                            </p:tgtEl>
                                            <p:attrNameLst>
                                              <p:attrName>style.visibility</p:attrName>
                                            </p:attrNameLst>
                                          </p:cBhvr>
                                          <p:to>
                                            <p:strVal val="visible"/>
                                          </p:to>
                                        </p:set>
                                        <p:anim calcmode="lin" valueType="num">
                                          <p:cBhvr additive="base">
                                            <p:cTn id="76" dur="700" fill="hold"/>
                                            <p:tgtEl>
                                              <p:spTgt spid="22">
                                                <p:txEl>
                                                  <p:pRg st="0" end="0"/>
                                                </p:txEl>
                                              </p:spTgt>
                                            </p:tgtEl>
                                            <p:attrNameLst>
                                              <p:attrName>ppt_x</p:attrName>
                                            </p:attrNameLst>
                                          </p:cBhvr>
                                          <p:tavLst>
                                            <p:tav tm="0">
                                              <p:val>
                                                <p:strVal val="0-#ppt_w/2"/>
                                              </p:val>
                                            </p:tav>
                                            <p:tav tm="100000">
                                              <p:val>
                                                <p:strVal val="#ppt_x"/>
                                              </p:val>
                                            </p:tav>
                                          </p:tavLst>
                                        </p:anim>
                                        <p:anim calcmode="lin" valueType="num">
                                          <p:cBhvr additive="base">
                                            <p:cTn id="77" dur="700" fill="hold"/>
                                            <p:tgtEl>
                                              <p:spTgt spid="22">
                                                <p:txEl>
                                                  <p:pRg st="0" end="0"/>
                                                </p:txEl>
                                              </p:spTgt>
                                            </p:tgtEl>
                                            <p:attrNameLst>
                                              <p:attrName>ppt_y</p:attrName>
                                            </p:attrNameLst>
                                          </p:cBhvr>
                                          <p:tavLst>
                                            <p:tav tm="0">
                                              <p:val>
                                                <p:strVal val="#ppt_y"/>
                                              </p:val>
                                            </p:tav>
                                            <p:tav tm="100000">
                                              <p:val>
                                                <p:strVal val="#ppt_y"/>
                                              </p:val>
                                            </p:tav>
                                          </p:tavLst>
                                        </p:anim>
                                      </p:childTnLst>
                                    </p:cTn>
                                  </p:par>
                                  <p:par>
                                    <p:cTn id="78" presetID="2" presetClass="entr" presetSubtype="8" fill="hold" nodeType="withEffect">
                                      <p:stCondLst>
                                        <p:cond delay="100"/>
                                      </p:stCondLst>
                                      <p:childTnLst>
                                        <p:set>
                                          <p:cBhvr>
                                            <p:cTn id="79" dur="1" fill="hold">
                                              <p:stCondLst>
                                                <p:cond delay="0"/>
                                              </p:stCondLst>
                                            </p:cTn>
                                            <p:tgtEl>
                                              <p:spTgt spid="22">
                                                <p:txEl>
                                                  <p:pRg st="1" end="1"/>
                                                </p:txEl>
                                              </p:spTgt>
                                            </p:tgtEl>
                                            <p:attrNameLst>
                                              <p:attrName>style.visibility</p:attrName>
                                            </p:attrNameLst>
                                          </p:cBhvr>
                                          <p:to>
                                            <p:strVal val="visible"/>
                                          </p:to>
                                        </p:set>
                                        <p:anim calcmode="lin" valueType="num">
                                          <p:cBhvr additive="base">
                                            <p:cTn id="80" dur="700" fill="hold"/>
                                            <p:tgtEl>
                                              <p:spTgt spid="22">
                                                <p:txEl>
                                                  <p:pRg st="1" end="1"/>
                                                </p:txEl>
                                              </p:spTgt>
                                            </p:tgtEl>
                                            <p:attrNameLst>
                                              <p:attrName>ppt_x</p:attrName>
                                            </p:attrNameLst>
                                          </p:cBhvr>
                                          <p:tavLst>
                                            <p:tav tm="0">
                                              <p:val>
                                                <p:strVal val="0-#ppt_w/2"/>
                                              </p:val>
                                            </p:tav>
                                            <p:tav tm="100000">
                                              <p:val>
                                                <p:strVal val="#ppt_x"/>
                                              </p:val>
                                            </p:tav>
                                          </p:tavLst>
                                        </p:anim>
                                        <p:anim calcmode="lin" valueType="num">
                                          <p:cBhvr additive="base">
                                            <p:cTn id="81" dur="700" fill="hold"/>
                                            <p:tgtEl>
                                              <p:spTgt spid="22">
                                                <p:txEl>
                                                  <p:pRg st="1" end="1"/>
                                                </p:txEl>
                                              </p:spTgt>
                                            </p:tgtEl>
                                            <p:attrNameLst>
                                              <p:attrName>ppt_y</p:attrName>
                                            </p:attrNameLst>
                                          </p:cBhvr>
                                          <p:tavLst>
                                            <p:tav tm="0">
                                              <p:val>
                                                <p:strVal val="#ppt_y"/>
                                              </p:val>
                                            </p:tav>
                                            <p:tav tm="100000">
                                              <p:val>
                                                <p:strVal val="#ppt_y"/>
                                              </p:val>
                                            </p:tav>
                                          </p:tavLst>
                                        </p:anim>
                                      </p:childTnLst>
                                    </p:cTn>
                                  </p:par>
                                  <p:par>
                                    <p:cTn id="82" presetID="2" presetClass="entr" presetSubtype="8" fill="hold" nodeType="withEffect">
                                      <p:stCondLst>
                                        <p:cond delay="200"/>
                                      </p:stCondLst>
                                      <p:childTnLst>
                                        <p:set>
                                          <p:cBhvr>
                                            <p:cTn id="83" dur="1" fill="hold">
                                              <p:stCondLst>
                                                <p:cond delay="0"/>
                                              </p:stCondLst>
                                            </p:cTn>
                                            <p:tgtEl>
                                              <p:spTgt spid="22">
                                                <p:txEl>
                                                  <p:pRg st="2" end="2"/>
                                                </p:txEl>
                                              </p:spTgt>
                                            </p:tgtEl>
                                            <p:attrNameLst>
                                              <p:attrName>style.visibility</p:attrName>
                                            </p:attrNameLst>
                                          </p:cBhvr>
                                          <p:to>
                                            <p:strVal val="visible"/>
                                          </p:to>
                                        </p:set>
                                        <p:anim calcmode="lin" valueType="num">
                                          <p:cBhvr additive="base">
                                            <p:cTn id="84" dur="700" fill="hold"/>
                                            <p:tgtEl>
                                              <p:spTgt spid="22">
                                                <p:txEl>
                                                  <p:pRg st="2" end="2"/>
                                                </p:txEl>
                                              </p:spTgt>
                                            </p:tgtEl>
                                            <p:attrNameLst>
                                              <p:attrName>ppt_x</p:attrName>
                                            </p:attrNameLst>
                                          </p:cBhvr>
                                          <p:tavLst>
                                            <p:tav tm="0">
                                              <p:val>
                                                <p:strVal val="0-#ppt_w/2"/>
                                              </p:val>
                                            </p:tav>
                                            <p:tav tm="100000">
                                              <p:val>
                                                <p:strVal val="#ppt_x"/>
                                              </p:val>
                                            </p:tav>
                                          </p:tavLst>
                                        </p:anim>
                                        <p:anim calcmode="lin" valueType="num">
                                          <p:cBhvr additive="base">
                                            <p:cTn id="85" dur="700" fill="hold"/>
                                            <p:tgtEl>
                                              <p:spTgt spid="22">
                                                <p:txEl>
                                                  <p:pRg st="2" end="2"/>
                                                </p:txEl>
                                              </p:spTgt>
                                            </p:tgtEl>
                                            <p:attrNameLst>
                                              <p:attrName>ppt_y</p:attrName>
                                            </p:attrNameLst>
                                          </p:cBhvr>
                                          <p:tavLst>
                                            <p:tav tm="0">
                                              <p:val>
                                                <p:strVal val="#ppt_y"/>
                                              </p:val>
                                            </p:tav>
                                            <p:tav tm="100000">
                                              <p:val>
                                                <p:strVal val="#ppt_y"/>
                                              </p:val>
                                            </p:tav>
                                          </p:tavLst>
                                        </p:anim>
                                      </p:childTnLst>
                                    </p:cTn>
                                  </p:par>
                                  <p:par>
                                    <p:cTn id="86" presetID="2" presetClass="entr" presetSubtype="8" fill="hold" nodeType="withEffect">
                                      <p:stCondLst>
                                        <p:cond delay="300"/>
                                      </p:stCondLst>
                                      <p:childTnLst>
                                        <p:set>
                                          <p:cBhvr>
                                            <p:cTn id="87" dur="1" fill="hold">
                                              <p:stCondLst>
                                                <p:cond delay="0"/>
                                              </p:stCondLst>
                                            </p:cTn>
                                            <p:tgtEl>
                                              <p:spTgt spid="22">
                                                <p:txEl>
                                                  <p:pRg st="3" end="3"/>
                                                </p:txEl>
                                              </p:spTgt>
                                            </p:tgtEl>
                                            <p:attrNameLst>
                                              <p:attrName>style.visibility</p:attrName>
                                            </p:attrNameLst>
                                          </p:cBhvr>
                                          <p:to>
                                            <p:strVal val="visible"/>
                                          </p:to>
                                        </p:set>
                                        <p:anim calcmode="lin" valueType="num">
                                          <p:cBhvr additive="base">
                                            <p:cTn id="88" dur="700" fill="hold"/>
                                            <p:tgtEl>
                                              <p:spTgt spid="22">
                                                <p:txEl>
                                                  <p:pRg st="3" end="3"/>
                                                </p:txEl>
                                              </p:spTgt>
                                            </p:tgtEl>
                                            <p:attrNameLst>
                                              <p:attrName>ppt_x</p:attrName>
                                            </p:attrNameLst>
                                          </p:cBhvr>
                                          <p:tavLst>
                                            <p:tav tm="0">
                                              <p:val>
                                                <p:strVal val="0-#ppt_w/2"/>
                                              </p:val>
                                            </p:tav>
                                            <p:tav tm="100000">
                                              <p:val>
                                                <p:strVal val="#ppt_x"/>
                                              </p:val>
                                            </p:tav>
                                          </p:tavLst>
                                        </p:anim>
                                        <p:anim calcmode="lin" valueType="num">
                                          <p:cBhvr additive="base">
                                            <p:cTn id="89" dur="700" fill="hold"/>
                                            <p:tgtEl>
                                              <p:spTgt spid="22">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4">
            <a:extLst>
              <a:ext uri="{FF2B5EF4-FFF2-40B4-BE49-F238E27FC236}">
                <a16:creationId xmlns:a16="http://schemas.microsoft.com/office/drawing/2014/main" id="{B8EA6A79-3115-09B8-F43A-37E259DC7CC5}"/>
              </a:ext>
            </a:extLst>
          </p:cNvPr>
          <p:cNvSpPr txBox="1"/>
          <p:nvPr/>
        </p:nvSpPr>
        <p:spPr>
          <a:xfrm>
            <a:off x="1489006" y="1586462"/>
            <a:ext cx="3263900" cy="2920095"/>
          </a:xfrm>
          <a:prstGeom prst="rect">
            <a:avLst/>
          </a:prstGeom>
          <a:noFill/>
        </p:spPr>
        <p:txBody>
          <a:bodyPr>
            <a:spAutoFit/>
          </a:bodyPr>
          <a:lstStyle/>
          <a:p>
            <a:pPr marL="357708" indent="-357708">
              <a:lnSpc>
                <a:spcPct val="300000"/>
              </a:lnSpc>
              <a:buFont typeface="+mj-ea"/>
              <a:buAutoNum type="circleNumDbPlain"/>
              <a:defRPr/>
            </a:pP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找快递公司</a:t>
            </a: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57708" indent="-357708">
              <a:lnSpc>
                <a:spcPct val="300000"/>
              </a:lnSpc>
              <a:buFont typeface="+mj-ea"/>
              <a:buAutoNum type="circleNumDbPlain"/>
              <a:defRPr/>
            </a:pP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接收箱子</a:t>
            </a: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57708" indent="-357708">
              <a:lnSpc>
                <a:spcPct val="300000"/>
              </a:lnSpc>
              <a:buFont typeface="+mj-ea"/>
              <a:buAutoNum type="circleNumDbPlain"/>
              <a:defRPr/>
            </a:pP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从箱子里面获取礼物</a:t>
            </a: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marL="357708" indent="-357708">
              <a:lnSpc>
                <a:spcPct val="300000"/>
              </a:lnSpc>
              <a:buFont typeface="+mj-ea"/>
              <a:buAutoNum type="circleNumDbPlain"/>
              <a:defRPr/>
            </a:pPr>
            <a:r>
              <a:rPr lang="zh-CN" altLang="en-US" sz="1600" dirty="0">
                <a:latin typeface="阿里巴巴普惠体" panose="00020600040101010101" pitchFamily="18" charset="-122"/>
                <a:ea typeface="阿里巴巴普惠体" panose="00020600040101010101" pitchFamily="18" charset="-122"/>
                <a:cs typeface="阿里巴巴普惠体" panose="00020600040101010101" pitchFamily="18" charset="-122"/>
              </a:rPr>
              <a:t>签收走人</a:t>
            </a:r>
            <a:endParaRPr lang="en-US" altLang="zh-CN" sz="1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 name="TextBox 4">
            <a:extLst>
              <a:ext uri="{FF2B5EF4-FFF2-40B4-BE49-F238E27FC236}">
                <a16:creationId xmlns:a16="http://schemas.microsoft.com/office/drawing/2014/main" id="{F737D214-3E4A-5C89-4487-690E70AA0C9F}"/>
              </a:ext>
            </a:extLst>
          </p:cNvPr>
          <p:cNvSpPr txBox="1"/>
          <p:nvPr/>
        </p:nvSpPr>
        <p:spPr>
          <a:xfrm>
            <a:off x="4773600" y="4048394"/>
            <a:ext cx="1153584" cy="427105"/>
          </a:xfrm>
          <a:prstGeom prst="rect">
            <a:avLst/>
          </a:prstGeom>
          <a:noFill/>
        </p:spPr>
        <p:txBody>
          <a:bodyPr>
            <a:spAutoFit/>
          </a:bodyPr>
          <a:lstStyle/>
          <a:p>
            <a:pPr>
              <a:lnSpc>
                <a:spcPct val="150000"/>
              </a:lnSpc>
              <a:defRPr/>
            </a:pP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释放资源</a:t>
            </a:r>
            <a:endParaRPr lang="en-US"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矩形 5">
            <a:extLst>
              <a:ext uri="{FF2B5EF4-FFF2-40B4-BE49-F238E27FC236}">
                <a16:creationId xmlns:a16="http://schemas.microsoft.com/office/drawing/2014/main" id="{9F5CD221-E944-648C-7834-09A462C729FD}"/>
              </a:ext>
            </a:extLst>
          </p:cNvPr>
          <p:cNvSpPr/>
          <p:nvPr/>
        </p:nvSpPr>
        <p:spPr>
          <a:xfrm>
            <a:off x="4773600" y="1865281"/>
            <a:ext cx="4459177" cy="427105"/>
          </a:xfrm>
          <a:prstGeom prst="rect">
            <a:avLst/>
          </a:prstGeom>
        </p:spPr>
        <p:txBody>
          <a:bodyPr wrap="square">
            <a:spAutoFit/>
          </a:bodyPr>
          <a:lstStyle/>
          <a:p>
            <a:pPr>
              <a:lnSpc>
                <a:spcPct val="150000"/>
              </a:lnSpc>
              <a:defRPr/>
            </a:pP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创建接收端的 </a:t>
            </a:r>
            <a:r>
              <a:rPr lang="en-US" altLang="zh-CN" sz="1600" dirty="0" err="1">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DatagramSocket</a:t>
            </a:r>
            <a:r>
              <a:rPr lang="en-US"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对象</a:t>
            </a:r>
            <a:endParaRPr lang="en-US"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3" name="矩形 12">
            <a:extLst>
              <a:ext uri="{FF2B5EF4-FFF2-40B4-BE49-F238E27FC236}">
                <a16:creationId xmlns:a16="http://schemas.microsoft.com/office/drawing/2014/main" id="{9AB0C1A8-3646-C591-CA53-E063C841AE79}"/>
              </a:ext>
            </a:extLst>
          </p:cNvPr>
          <p:cNvSpPr/>
          <p:nvPr/>
        </p:nvSpPr>
        <p:spPr>
          <a:xfrm>
            <a:off x="4773600" y="2594564"/>
            <a:ext cx="2046410" cy="427105"/>
          </a:xfrm>
          <a:prstGeom prst="rect">
            <a:avLst/>
          </a:prstGeom>
        </p:spPr>
        <p:txBody>
          <a:bodyPr wrap="square">
            <a:spAutoFit/>
          </a:bodyPr>
          <a:lstStyle/>
          <a:p>
            <a:pPr>
              <a:lnSpc>
                <a:spcPct val="150000"/>
              </a:lnSpc>
              <a:defRPr/>
            </a:pP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接收打包好的数据</a:t>
            </a:r>
            <a:endParaRPr lang="en-US"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矩形 13">
            <a:extLst>
              <a:ext uri="{FF2B5EF4-FFF2-40B4-BE49-F238E27FC236}">
                <a16:creationId xmlns:a16="http://schemas.microsoft.com/office/drawing/2014/main" id="{B53F6E09-5A40-CB42-4A52-006D14FB619A}"/>
              </a:ext>
            </a:extLst>
          </p:cNvPr>
          <p:cNvSpPr/>
          <p:nvPr/>
        </p:nvSpPr>
        <p:spPr>
          <a:xfrm>
            <a:off x="4773600" y="3335344"/>
            <a:ext cx="1194558" cy="427105"/>
          </a:xfrm>
          <a:prstGeom prst="rect">
            <a:avLst/>
          </a:prstGeom>
        </p:spPr>
        <p:txBody>
          <a:bodyPr wrap="none">
            <a:spAutoFit/>
          </a:bodyPr>
          <a:lstStyle/>
          <a:p>
            <a:pPr>
              <a:lnSpc>
                <a:spcPct val="150000"/>
              </a:lnSpc>
              <a:defRPr/>
            </a:pPr>
            <a:r>
              <a:rPr lang="zh-CN" altLang="en-US"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解析数据包</a:t>
            </a:r>
            <a:endParaRPr lang="en-US" altLang="zh-CN" sz="16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3" name="标题 2">
            <a:extLst>
              <a:ext uri="{FF2B5EF4-FFF2-40B4-BE49-F238E27FC236}">
                <a16:creationId xmlns:a16="http://schemas.microsoft.com/office/drawing/2014/main" id="{15881A14-8818-0F2C-EC39-0B7503338D27}"/>
              </a:ext>
            </a:extLst>
          </p:cNvPr>
          <p:cNvSpPr>
            <a:spLocks noGrp="1"/>
          </p:cNvSpPr>
          <p:nvPr>
            <p:ph type="title"/>
          </p:nvPr>
        </p:nvSpPr>
        <p:spPr/>
        <p:txBody>
          <a:bodyPr/>
          <a:lstStyle/>
          <a:p>
            <a:r>
              <a:rPr lang="en-US" altLang="zh-CN" dirty="0"/>
              <a:t>UDP</a:t>
            </a:r>
            <a:r>
              <a:rPr lang="zh-CN" altLang="en-US" dirty="0"/>
              <a:t>协议接收数据</a:t>
            </a:r>
          </a:p>
        </p:txBody>
      </p:sp>
    </p:spTree>
    <p:extLst>
      <p:ext uri="{BB962C8B-B14F-4D97-AF65-F5344CB8AC3E}">
        <p14:creationId xmlns:p14="http://schemas.microsoft.com/office/powerpoint/2010/main" val="173424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1"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1"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left)">
                                      <p:cBhvr>
                                        <p:cTn id="10" dur="500"/>
                                        <p:tgtEl>
                                          <p:spTgt spid="13"/>
                                        </p:tgtEl>
                                      </p:cBhvr>
                                    </p:animEffect>
                                  </p:childTnLst>
                                </p:cTn>
                              </p:par>
                              <p:par>
                                <p:cTn id="11" presetID="22" presetClass="entr" presetSubtype="8" fill="hold" grpId="1"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500"/>
                                        <p:tgtEl>
                                          <p:spTgt spid="14"/>
                                        </p:tgtEl>
                                      </p:cBhvr>
                                    </p:animEffect>
                                  </p:childTnLst>
                                </p:cTn>
                              </p:par>
                              <p:par>
                                <p:cTn id="14" presetID="22" presetClass="entr" presetSubtype="8" fill="hold" grpId="1"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6" grpId="0"/>
      <p:bldP spid="6" grpId="1"/>
      <p:bldP spid="13" grpId="0"/>
      <p:bldP spid="13" grpId="1"/>
      <p:bldP spid="14" grpId="0"/>
      <p:bldP spid="14" grpId="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734C5-4C15-10C3-4D5E-E8F7B0D0A071}"/>
            </a:ext>
          </a:extLst>
        </p:cNvPr>
        <p:cNvGrpSpPr/>
        <p:nvPr/>
      </p:nvGrpSpPr>
      <p:grpSpPr>
        <a:xfrm>
          <a:off x="0" y="0"/>
          <a:ext cx="0" cy="0"/>
          <a:chOff x="0" y="0"/>
          <a:chExt cx="0" cy="0"/>
        </a:xfrm>
      </p:grpSpPr>
      <p:sp>
        <p:nvSpPr>
          <p:cNvPr id="57" name="文本占位符 56">
            <a:extLst>
              <a:ext uri="{FF2B5EF4-FFF2-40B4-BE49-F238E27FC236}">
                <a16:creationId xmlns:a16="http://schemas.microsoft.com/office/drawing/2014/main" id="{9EA73C7D-9201-2A86-D90C-C0CE8B9BAA82}"/>
              </a:ext>
            </a:extLst>
          </p:cNvPr>
          <p:cNvSpPr>
            <a:spLocks noGrp="1"/>
          </p:cNvSpPr>
          <p:nvPr>
            <p:ph type="body" sz="quarter" idx="10"/>
          </p:nvPr>
        </p:nvSpPr>
        <p:spPr/>
        <p:txBody>
          <a:bodyPr/>
          <a:lstStyle/>
          <a:p>
            <a:r>
              <a:rPr lang="en-US" altLang="zh-CN" dirty="0">
                <a:latin typeface="Consolas" panose="020B0609020204030204" pitchFamily="49" charset="0"/>
              </a:rPr>
              <a:t>UDP</a:t>
            </a:r>
            <a:r>
              <a:rPr lang="zh-CN" altLang="en-US" dirty="0">
                <a:latin typeface="Consolas" panose="020B0609020204030204" pitchFamily="49" charset="0"/>
              </a:rPr>
              <a:t>协议收发数据</a:t>
            </a:r>
            <a:endParaRPr lang="en-US" altLang="zh-CN" dirty="0">
              <a:latin typeface="Consolas" panose="020B0609020204030204" pitchFamily="49" charset="0"/>
            </a:endParaRPr>
          </a:p>
          <a:p>
            <a:r>
              <a:rPr lang="zh-CN" altLang="en-US" dirty="0">
                <a:latin typeface="Consolas" panose="020B0609020204030204" pitchFamily="49" charset="0"/>
              </a:rPr>
              <a:t>使用 </a:t>
            </a:r>
            <a:r>
              <a:rPr lang="en-US" altLang="zh-CN" dirty="0" err="1">
                <a:latin typeface="Consolas" panose="020B0609020204030204" pitchFamily="49" charset="0"/>
              </a:rPr>
              <a:t>DatagramSocket</a:t>
            </a:r>
            <a:r>
              <a:rPr lang="en-US" altLang="zh-CN" dirty="0">
                <a:latin typeface="Consolas" panose="020B0609020204030204" pitchFamily="49" charset="0"/>
              </a:rPr>
              <a:t> </a:t>
            </a:r>
            <a:r>
              <a:rPr lang="zh-CN" altLang="en-US" dirty="0">
                <a:latin typeface="Consolas" panose="020B0609020204030204" pitchFamily="49" charset="0"/>
              </a:rPr>
              <a:t>搭建站点</a:t>
            </a:r>
            <a:endParaRPr lang="en-US" altLang="zh-CN" dirty="0">
              <a:latin typeface="Consolas" panose="020B0609020204030204" pitchFamily="49" charset="0"/>
            </a:endParaRPr>
          </a:p>
          <a:p>
            <a:r>
              <a:rPr lang="zh-CN" altLang="en-US" dirty="0">
                <a:latin typeface="Consolas" panose="020B0609020204030204" pitchFamily="49" charset="0"/>
              </a:rPr>
              <a:t>使用 </a:t>
            </a:r>
            <a:r>
              <a:rPr lang="en-US" altLang="zh-CN" dirty="0" err="1">
                <a:latin typeface="Consolas" panose="020B0609020204030204" pitchFamily="49" charset="0"/>
              </a:rPr>
              <a:t>DatagramPacket</a:t>
            </a:r>
            <a:r>
              <a:rPr lang="en-US" altLang="zh-CN" dirty="0">
                <a:latin typeface="Consolas" panose="020B0609020204030204" pitchFamily="49" charset="0"/>
              </a:rPr>
              <a:t> </a:t>
            </a:r>
            <a:r>
              <a:rPr lang="zh-CN" altLang="en-US" dirty="0">
                <a:latin typeface="Consolas" panose="020B0609020204030204" pitchFamily="49" charset="0"/>
              </a:rPr>
              <a:t>打包数据</a:t>
            </a:r>
            <a:endParaRPr lang="en-US" altLang="zh-CN" dirty="0">
              <a:latin typeface="Consolas" panose="020B0609020204030204" pitchFamily="49" charset="0"/>
            </a:endParaRPr>
          </a:p>
          <a:p>
            <a:r>
              <a:rPr lang="en-US" altLang="zh-CN" dirty="0">
                <a:latin typeface="Consolas" panose="020B0609020204030204" pitchFamily="49" charset="0"/>
              </a:rPr>
              <a:t>send </a:t>
            </a:r>
            <a:r>
              <a:rPr lang="zh-CN" altLang="en-US" dirty="0">
                <a:latin typeface="Consolas" panose="020B0609020204030204" pitchFamily="49" charset="0"/>
              </a:rPr>
              <a:t>方法用于发送</a:t>
            </a:r>
            <a:endParaRPr lang="en-US" altLang="zh-CN" dirty="0">
              <a:latin typeface="Consolas" panose="020B0609020204030204" pitchFamily="49" charset="0"/>
            </a:endParaRPr>
          </a:p>
          <a:p>
            <a:r>
              <a:rPr lang="en-US" altLang="zh-CN" dirty="0">
                <a:latin typeface="Consolas" panose="020B0609020204030204" pitchFamily="49" charset="0"/>
              </a:rPr>
              <a:t>receive </a:t>
            </a:r>
            <a:r>
              <a:rPr lang="zh-CN" altLang="en-US" dirty="0">
                <a:latin typeface="Consolas" panose="020B0609020204030204" pitchFamily="49" charset="0"/>
              </a:rPr>
              <a:t>方法用于接收</a:t>
            </a:r>
            <a:endParaRPr lang="en-US" altLang="zh-CN" dirty="0">
              <a:latin typeface="Consolas" panose="020B0609020204030204" pitchFamily="49" charset="0"/>
            </a:endParaRPr>
          </a:p>
        </p:txBody>
      </p:sp>
    </p:spTree>
    <p:extLst>
      <p:ext uri="{BB962C8B-B14F-4D97-AF65-F5344CB8AC3E}">
        <p14:creationId xmlns:p14="http://schemas.microsoft.com/office/powerpoint/2010/main" val="35801984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1D52EFB0-61FE-D83C-A932-10B9AF2147DC}"/>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16DEFC52-A2D0-7C4F-4F58-C5FE981EC18A}"/>
              </a:ext>
            </a:extLst>
          </p:cNvPr>
          <p:cNvSpPr>
            <a:spLocks noGrp="1"/>
          </p:cNvSpPr>
          <p:nvPr>
            <p:ph type="body" sz="quarter" idx="10"/>
          </p:nvPr>
        </p:nvSpPr>
        <p:spPr>
          <a:xfrm>
            <a:off x="5615472" y="2267199"/>
            <a:ext cx="5634223" cy="2143815"/>
          </a:xfrm>
        </p:spPr>
        <p:txBody>
          <a:bodyPr anchor="t"/>
          <a:lstStyle/>
          <a:p>
            <a:r>
              <a:rPr kumimoji="1" lang="zh-CN" altLang="en-US" dirty="0">
                <a:latin typeface="Consolas" panose="020B0609020204030204" pitchFamily="49" charset="0"/>
              </a:rPr>
              <a:t>网络编程基本概念</a:t>
            </a:r>
            <a:endParaRPr kumimoji="1" lang="en-US" altLang="zh-CN" dirty="0">
              <a:latin typeface="Consolas" panose="020B0609020204030204" pitchFamily="49" charset="0"/>
            </a:endParaRPr>
          </a:p>
          <a:p>
            <a:r>
              <a:rPr kumimoji="1" lang="zh-CN" altLang="en-US" dirty="0">
                <a:latin typeface="Consolas" panose="020B0609020204030204" pitchFamily="49" charset="0"/>
              </a:rPr>
              <a:t>网络编程三要素</a:t>
            </a:r>
            <a:endParaRPr kumimoji="1" lang="en-US" altLang="zh-CN" dirty="0">
              <a:latin typeface="Consolas" panose="020B0609020204030204" pitchFamily="49" charset="0"/>
            </a:endParaRPr>
          </a:p>
          <a:p>
            <a:r>
              <a:rPr kumimoji="1" lang="en-US" altLang="zh-CN" dirty="0">
                <a:latin typeface="Consolas" panose="020B0609020204030204" pitchFamily="49" charset="0"/>
              </a:rPr>
              <a:t>UDP </a:t>
            </a:r>
            <a:r>
              <a:rPr kumimoji="1" lang="zh-CN" altLang="en-US" dirty="0">
                <a:latin typeface="Consolas" panose="020B0609020204030204" pitchFamily="49" charset="0"/>
              </a:rPr>
              <a:t>协议收发数据</a:t>
            </a:r>
            <a:endParaRPr kumimoji="1" lang="en-US" altLang="zh-CN" dirty="0">
              <a:latin typeface="Consolas" panose="020B0609020204030204" pitchFamily="49" charset="0"/>
            </a:endParaRPr>
          </a:p>
          <a:p>
            <a:r>
              <a:rPr kumimoji="1" lang="en-US" altLang="zh-CN" dirty="0">
                <a:latin typeface="Consolas" panose="020B0609020204030204" pitchFamily="49" charset="0"/>
              </a:rPr>
              <a:t>TCP </a:t>
            </a:r>
            <a:r>
              <a:rPr kumimoji="1" lang="zh-CN" altLang="en-US" dirty="0">
                <a:latin typeface="Consolas" panose="020B0609020204030204" pitchFamily="49" charset="0"/>
              </a:rPr>
              <a:t>协议收发数据</a:t>
            </a:r>
            <a:endParaRPr kumimoji="1" lang="en-US" altLang="zh-CN" dirty="0">
              <a:latin typeface="Consolas" panose="020B0609020204030204" pitchFamily="49" charset="0"/>
            </a:endParaRPr>
          </a:p>
        </p:txBody>
      </p:sp>
    </p:spTree>
    <p:extLst>
      <p:ext uri="{BB962C8B-B14F-4D97-AF65-F5344CB8AC3E}">
        <p14:creationId xmlns:p14="http://schemas.microsoft.com/office/powerpoint/2010/main" val="1460947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85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stCondLst>
                                            <p:cond delay="0"/>
                                          </p:stCondLst>
                                        </p:cTn>
                                        <p:tgtEl>
                                          <p:spTgt spid="2"/>
                                        </p:tgtEl>
                                      </p:cBhvr>
                                    </p:animEffect>
                                    <p:anim to="0" calcmode="lin" valueType="num">
                                      <p:cBhvr>
                                        <p:cTn id="8" dur="500" fill="hold">
                                          <p:stCondLst>
                                            <p:cond delay="0"/>
                                          </p:stCondLst>
                                        </p:cTn>
                                        <p:tgtEl>
                                          <p:spTgt spid="2"/>
                                        </p:tgtEl>
                                        <p:attrNameLst>
                                          <p:attrName>ppt_x</p:attrName>
                                        </p:attrNameLst>
                                      </p:cBhvr>
                                      <p:tavLst>
                                        <p:tav tm="0">
                                          <p:val>
                                            <p:strVal val="#ppt_x-.05"/>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0D345-1249-F775-07BB-AD5AEEAB8E03}"/>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349E9BEF-35BA-4C69-8C52-0057FD092265}"/>
              </a:ext>
            </a:extLst>
          </p:cNvPr>
          <p:cNvSpPr>
            <a:spLocks noGrp="1"/>
          </p:cNvSpPr>
          <p:nvPr>
            <p:ph type="body" sz="quarter" idx="13"/>
          </p:nvPr>
        </p:nvSpPr>
        <p:spPr>
          <a:xfrm>
            <a:off x="5834080" y="2465278"/>
            <a:ext cx="4831831" cy="901700"/>
          </a:xfrm>
        </p:spPr>
        <p:txBody>
          <a:bodyPr/>
          <a:lstStyle/>
          <a:p>
            <a:r>
              <a:rPr lang="en-US" altLang="zh-CN" dirty="0"/>
              <a:t>TCP </a:t>
            </a:r>
            <a:r>
              <a:rPr lang="zh-CN" altLang="en-US" dirty="0"/>
              <a:t>协议收发数据</a:t>
            </a:r>
          </a:p>
        </p:txBody>
      </p:sp>
      <p:sp>
        <p:nvSpPr>
          <p:cNvPr id="10" name="文本占位符 9">
            <a:extLst>
              <a:ext uri="{FF2B5EF4-FFF2-40B4-BE49-F238E27FC236}">
                <a16:creationId xmlns:a16="http://schemas.microsoft.com/office/drawing/2014/main" id="{B54C429F-7BBF-25B3-971C-D0F6D87E6457}"/>
              </a:ext>
            </a:extLst>
          </p:cNvPr>
          <p:cNvSpPr>
            <a:spLocks noGrp="1"/>
          </p:cNvSpPr>
          <p:nvPr>
            <p:ph type="body" sz="quarter" idx="14"/>
          </p:nvPr>
        </p:nvSpPr>
        <p:spPr/>
        <p:txBody>
          <a:bodyPr/>
          <a:lstStyle/>
          <a:p>
            <a:r>
              <a:rPr lang="en-US" altLang="zh-CN" dirty="0"/>
              <a:t>4</a:t>
            </a:r>
            <a:endParaRPr lang="zh-CN" altLang="en-US" dirty="0"/>
          </a:p>
        </p:txBody>
      </p:sp>
    </p:spTree>
    <p:extLst>
      <p:ext uri="{BB962C8B-B14F-4D97-AF65-F5344CB8AC3E}">
        <p14:creationId xmlns:p14="http://schemas.microsoft.com/office/powerpoint/2010/main" val="116060396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A28B4F0-646E-CAC7-0A94-407A9C2487A2}"/>
              </a:ext>
            </a:extLst>
          </p:cNvPr>
          <p:cNvSpPr txBox="1"/>
          <p:nvPr/>
        </p:nvSpPr>
        <p:spPr>
          <a:xfrm>
            <a:off x="576626" y="1103966"/>
            <a:ext cx="8976462" cy="2125325"/>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357708" indent="-357708">
              <a:lnSpc>
                <a:spcPct val="150000"/>
              </a:lnSpc>
              <a:buFont typeface="Wingdings" pitchFamily="2" charset="2"/>
              <a:buChar char="l"/>
              <a:defRPr/>
            </a:pPr>
            <a:r>
              <a:rPr lang="en-US" altLang="zh-CN" sz="1800" dirty="0">
                <a:latin typeface="Consolas" panose="020B0609020204030204" pitchFamily="49" charset="0"/>
                <a:ea typeface="阿里巴巴普惠体" panose="00020600040101010101" pitchFamily="18" charset="-122"/>
                <a:cs typeface="阿里巴巴普惠体" panose="00020600040101010101" pitchFamily="18" charset="-122"/>
              </a:rPr>
              <a:t>TCP </a:t>
            </a:r>
            <a:r>
              <a:rPr lang="zh-CN" altLang="en-US" sz="1800" dirty="0">
                <a:latin typeface="Consolas" panose="020B0609020204030204" pitchFamily="49" charset="0"/>
                <a:ea typeface="阿里巴巴普惠体" panose="00020600040101010101" pitchFamily="18" charset="-122"/>
                <a:cs typeface="阿里巴巴普惠体" panose="00020600040101010101" pitchFamily="18" charset="-122"/>
              </a:rPr>
              <a:t>协议是 </a:t>
            </a:r>
            <a:r>
              <a:rPr lang="zh-CN" altLang="en-US" sz="1800" b="1"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面向连接 </a:t>
            </a:r>
            <a:r>
              <a:rPr lang="zh-CN" altLang="en-US" sz="1800" dirty="0">
                <a:latin typeface="Consolas" panose="020B0609020204030204" pitchFamily="49" charset="0"/>
                <a:ea typeface="阿里巴巴普惠体" panose="00020600040101010101" pitchFamily="18" charset="-122"/>
                <a:cs typeface="阿里巴巴普惠体" panose="00020600040101010101" pitchFamily="18" charset="-122"/>
              </a:rPr>
              <a:t>的通信协议</a:t>
            </a:r>
            <a:endParaRPr lang="en-US" altLang="zh-CN" dirty="0">
              <a:latin typeface="Consolas" panose="020B0609020204030204" pitchFamily="49" charset="0"/>
              <a:ea typeface="阿里巴巴普惠体" panose="00020600040101010101" pitchFamily="18" charset="-122"/>
              <a:cs typeface="阿里巴巴普惠体" panose="00020600040101010101" pitchFamily="18" charset="-122"/>
            </a:endParaRPr>
          </a:p>
          <a:p>
            <a:pPr marL="357708" indent="-357708">
              <a:lnSpc>
                <a:spcPct val="150000"/>
              </a:lnSpc>
              <a:buFont typeface="Wingdings" pitchFamily="2" charset="2"/>
              <a:buChar char="l"/>
              <a:defRPr/>
            </a:pPr>
            <a:r>
              <a:rPr lang="zh-CN" altLang="en-US" sz="1800" dirty="0">
                <a:latin typeface="Consolas" panose="020B0609020204030204" pitchFamily="49" charset="0"/>
                <a:ea typeface="阿里巴巴普惠体" panose="00020600040101010101" pitchFamily="18" charset="-122"/>
                <a:cs typeface="阿里巴巴普惠体" panose="00020600040101010101" pitchFamily="18" charset="-122"/>
              </a:rPr>
              <a:t>速度慢，没有大小限制，数据安全</a:t>
            </a:r>
            <a:endParaRPr lang="en-US" altLang="zh-CN" sz="1800" dirty="0">
              <a:latin typeface="Consolas" panose="020B0609020204030204" pitchFamily="49" charset="0"/>
              <a:ea typeface="阿里巴巴普惠体" panose="00020600040101010101" pitchFamily="18" charset="-122"/>
              <a:cs typeface="阿里巴巴普惠体" panose="00020600040101010101" pitchFamily="18" charset="-122"/>
            </a:endParaRPr>
          </a:p>
          <a:p>
            <a:pPr marL="357708" indent="-357708">
              <a:lnSpc>
                <a:spcPct val="150000"/>
              </a:lnSpc>
              <a:buFont typeface="Wingdings" pitchFamily="2" charset="2"/>
              <a:buChar char="l"/>
              <a:defRPr/>
            </a:pPr>
            <a:r>
              <a:rPr lang="zh-CN" altLang="en-US" dirty="0">
                <a:latin typeface="Consolas" panose="020B0609020204030204" pitchFamily="49" charset="0"/>
                <a:ea typeface="阿里巴巴普惠体" panose="00020600040101010101" pitchFamily="18" charset="-122"/>
                <a:cs typeface="阿里巴巴普惠体" panose="00020600040101010101" pitchFamily="18" charset="-122"/>
              </a:rPr>
              <a:t>通过三次握手建立连接</a:t>
            </a:r>
            <a:endParaRPr lang="en-US" altLang="zh-CN" dirty="0">
              <a:latin typeface="Consolas" panose="020B0609020204030204" pitchFamily="49" charset="0"/>
              <a:ea typeface="阿里巴巴普惠体" panose="00020600040101010101" pitchFamily="18" charset="-122"/>
              <a:cs typeface="阿里巴巴普惠体" panose="00020600040101010101" pitchFamily="18" charset="-122"/>
            </a:endParaRPr>
          </a:p>
          <a:p>
            <a:pPr marL="357708" indent="-357708">
              <a:lnSpc>
                <a:spcPct val="150000"/>
              </a:lnSpc>
              <a:buFont typeface="Wingdings" pitchFamily="2" charset="2"/>
              <a:buChar char="l"/>
              <a:defRPr/>
            </a:pPr>
            <a:r>
              <a:rPr lang="zh-CN" altLang="en-US" sz="1800" dirty="0">
                <a:latin typeface="Consolas" panose="020B0609020204030204" pitchFamily="49" charset="0"/>
                <a:ea typeface="阿里巴巴普惠体" panose="00020600040101010101" pitchFamily="18" charset="-122"/>
                <a:cs typeface="阿里巴巴普惠体" panose="00020600040101010101" pitchFamily="18" charset="-122"/>
              </a:rPr>
              <a:t>通过四次挥手断开连接</a:t>
            </a:r>
            <a:endParaRPr lang="en-US" altLang="zh-CN" sz="1800" dirty="0">
              <a:latin typeface="Consolas" panose="020B0609020204030204" pitchFamily="49" charset="0"/>
              <a:ea typeface="阿里巴巴普惠体" panose="00020600040101010101" pitchFamily="18" charset="-122"/>
              <a:cs typeface="阿里巴巴普惠体" panose="00020600040101010101" pitchFamily="18" charset="-122"/>
            </a:endParaRPr>
          </a:p>
          <a:p>
            <a:pPr>
              <a:lnSpc>
                <a:spcPct val="150000"/>
              </a:lnSpc>
              <a:defRPr/>
            </a:pPr>
            <a:r>
              <a:rPr lang="en-US" altLang="zh-CN" dirty="0">
                <a:latin typeface="Consolas" panose="020B0609020204030204" pitchFamily="49" charset="0"/>
                <a:ea typeface="阿里巴巴普惠体" panose="00020600040101010101" pitchFamily="18" charset="-122"/>
                <a:cs typeface="阿里巴巴普惠体" panose="00020600040101010101" pitchFamily="18" charset="-122"/>
              </a:rPr>
              <a:t>      </a:t>
            </a:r>
            <a:endParaRPr lang="en-US" altLang="zh-CN" sz="1800" dirty="0">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3" name="标题 2">
            <a:extLst>
              <a:ext uri="{FF2B5EF4-FFF2-40B4-BE49-F238E27FC236}">
                <a16:creationId xmlns:a16="http://schemas.microsoft.com/office/drawing/2014/main" id="{FE3414CE-E69E-811E-C865-7071B23A9978}"/>
              </a:ext>
            </a:extLst>
          </p:cNvPr>
          <p:cNvSpPr>
            <a:spLocks noGrp="1"/>
          </p:cNvSpPr>
          <p:nvPr>
            <p:ph type="title"/>
          </p:nvPr>
        </p:nvSpPr>
        <p:spPr/>
        <p:txBody>
          <a:bodyPr/>
          <a:lstStyle/>
          <a:p>
            <a:r>
              <a:rPr lang="en-US" altLang="zh-CN" dirty="0"/>
              <a:t>TCP </a:t>
            </a:r>
            <a:r>
              <a:rPr lang="zh-CN" altLang="en-US" dirty="0"/>
              <a:t>协议</a:t>
            </a:r>
          </a:p>
        </p:txBody>
      </p:sp>
    </p:spTree>
    <p:extLst>
      <p:ext uri="{BB962C8B-B14F-4D97-AF65-F5344CB8AC3E}">
        <p14:creationId xmlns:p14="http://schemas.microsoft.com/office/powerpoint/2010/main" val="121842875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三要素">
            <a:extLst>
              <a:ext uri="{FF2B5EF4-FFF2-40B4-BE49-F238E27FC236}">
                <a16:creationId xmlns:a16="http://schemas.microsoft.com/office/drawing/2014/main" id="{5F47D815-BBDF-FF12-5A09-E0DA9A044890}"/>
              </a:ext>
            </a:extLst>
          </p:cNvPr>
          <p:cNvSpPr txBox="1">
            <a:spLocks/>
          </p:cNvSpPr>
          <p:nvPr/>
        </p:nvSpPr>
        <p:spPr>
          <a:xfrm>
            <a:off x="2141028" y="994824"/>
            <a:ext cx="3432496"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endParaRPr lang="zh-CN" altLang="en-US" dirty="0"/>
          </a:p>
        </p:txBody>
      </p:sp>
      <p:pic>
        <p:nvPicPr>
          <p:cNvPr id="2" name="图片 1">
            <a:extLst>
              <a:ext uri="{FF2B5EF4-FFF2-40B4-BE49-F238E27FC236}">
                <a16:creationId xmlns:a16="http://schemas.microsoft.com/office/drawing/2014/main" id="{CFA4D3D5-5B52-18B1-1769-5C9D59F447D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2423604" y="1965118"/>
            <a:ext cx="1661563" cy="134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0A86E990-5B45-68FB-437D-7873562964B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auto">
          <a:xfrm>
            <a:off x="7840132" y="2072394"/>
            <a:ext cx="1552442" cy="116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D87EBA85-252A-4E6E-D4DD-DA5F3BB768F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2423604" y="3241469"/>
            <a:ext cx="1661563" cy="134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B0493757-429E-0C8B-FCDF-4F03D2ADE60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auto">
          <a:xfrm>
            <a:off x="7840132" y="3341767"/>
            <a:ext cx="1552441" cy="1169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a:extLst>
              <a:ext uri="{FF2B5EF4-FFF2-40B4-BE49-F238E27FC236}">
                <a16:creationId xmlns:a16="http://schemas.microsoft.com/office/drawing/2014/main" id="{C4731156-AF17-88A4-F25B-453608C60B5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2423604" y="4654138"/>
            <a:ext cx="1661563" cy="134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9FBF4B2E-F4DE-12A6-9CAD-9BD7A3D9A53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auto">
          <a:xfrm>
            <a:off x="7840133" y="4743000"/>
            <a:ext cx="1552440" cy="1169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组合 8">
            <a:extLst>
              <a:ext uri="{FF2B5EF4-FFF2-40B4-BE49-F238E27FC236}">
                <a16:creationId xmlns:a16="http://schemas.microsoft.com/office/drawing/2014/main" id="{986E8145-477A-DBFB-6B6A-BE5EE9B414EC}"/>
              </a:ext>
            </a:extLst>
          </p:cNvPr>
          <p:cNvGrpSpPr>
            <a:grpSpLocks/>
          </p:cNvGrpSpPr>
          <p:nvPr/>
        </p:nvGrpSpPr>
        <p:grpSpPr bwMode="auto">
          <a:xfrm>
            <a:off x="4110795" y="2611557"/>
            <a:ext cx="3754965" cy="804738"/>
            <a:chOff x="3063651" y="1965012"/>
            <a:chExt cx="2971760" cy="603347"/>
          </a:xfrm>
        </p:grpSpPr>
        <p:cxnSp>
          <p:nvCxnSpPr>
            <p:cNvPr id="10" name="直接箭头连接符 9">
              <a:extLst>
                <a:ext uri="{FF2B5EF4-FFF2-40B4-BE49-F238E27FC236}">
                  <a16:creationId xmlns:a16="http://schemas.microsoft.com/office/drawing/2014/main" id="{2BD87640-2568-CFCC-C548-5A8A4B1FECF9}"/>
                </a:ext>
              </a:extLst>
            </p:cNvPr>
            <p:cNvCxnSpPr>
              <a:stCxn id="2" idx="3"/>
              <a:endCxn id="3" idx="1"/>
            </p:cNvCxnSpPr>
            <p:nvPr/>
          </p:nvCxnSpPr>
          <p:spPr>
            <a:xfrm>
              <a:off x="3063651" y="1984245"/>
              <a:ext cx="2971760" cy="14786"/>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C4251D5A-704E-AC0D-37DB-668C2EA7755F}"/>
                </a:ext>
              </a:extLst>
            </p:cNvPr>
            <p:cNvSpPr/>
            <p:nvPr/>
          </p:nvSpPr>
          <p:spPr>
            <a:xfrm>
              <a:off x="3524036" y="1965012"/>
              <a:ext cx="1889015" cy="392281"/>
            </a:xfrm>
            <a:prstGeom prst="rect">
              <a:avLst/>
            </a:prstGeom>
          </p:spPr>
          <p:txBody>
            <a:bodyPr wrap="none">
              <a:spAutoFit/>
            </a:bodyPr>
            <a:lstStyle/>
            <a:p>
              <a:pPr>
                <a:defRPr/>
              </a:pPr>
              <a:endParaRPr lang="en-US" altLang="zh-CN" sz="1400" dirty="0">
                <a:latin typeface="微软雅黑" panose="020B0503020204020204" pitchFamily="34" charset="-122"/>
                <a:ea typeface="微软雅黑" panose="020B0503020204020204" pitchFamily="34" charset="-122"/>
              </a:endParaRPr>
            </a:p>
            <a:p>
              <a:pPr>
                <a:defRPr/>
              </a:pPr>
              <a:r>
                <a:rPr lang="zh-CN" altLang="en-US" sz="1400" dirty="0">
                  <a:latin typeface="微软雅黑" panose="020B0503020204020204" pitchFamily="34" charset="-122"/>
                  <a:ea typeface="微软雅黑" panose="020B0503020204020204" pitchFamily="34" charset="-122"/>
                </a:rPr>
                <a:t>客户端向服务器发出连接请求</a:t>
              </a:r>
            </a:p>
          </p:txBody>
        </p:sp>
        <p:sp>
          <p:nvSpPr>
            <p:cNvPr id="12" name="矩形 11">
              <a:extLst>
                <a:ext uri="{FF2B5EF4-FFF2-40B4-BE49-F238E27FC236}">
                  <a16:creationId xmlns:a16="http://schemas.microsoft.com/office/drawing/2014/main" id="{D33229EE-1FC8-FD76-6D0D-607D00EE6F10}"/>
                </a:ext>
              </a:extLst>
            </p:cNvPr>
            <p:cNvSpPr/>
            <p:nvPr/>
          </p:nvSpPr>
          <p:spPr>
            <a:xfrm>
              <a:off x="3908218" y="2176078"/>
              <a:ext cx="1081086" cy="392281"/>
            </a:xfrm>
            <a:prstGeom prst="rect">
              <a:avLst/>
            </a:prstGeom>
          </p:spPr>
          <p:txBody>
            <a:bodyPr wrap="none">
              <a:spAutoFit/>
            </a:bodyPr>
            <a:lstStyle/>
            <a:p>
              <a:pPr>
                <a:defRPr/>
              </a:pPr>
              <a:endParaRPr lang="en-US" altLang="zh-CN" sz="1400" dirty="0">
                <a:latin typeface="微软雅黑" panose="020B0503020204020204" pitchFamily="34" charset="-122"/>
                <a:ea typeface="微软雅黑" panose="020B0503020204020204" pitchFamily="34" charset="-122"/>
              </a:endParaRPr>
            </a:p>
            <a:p>
              <a:pPr>
                <a:defRPr/>
              </a:pPr>
              <a:r>
                <a:rPr lang="zh-CN" altLang="en-US" sz="1400" dirty="0">
                  <a:latin typeface="微软雅黑" panose="020B0503020204020204" pitchFamily="34" charset="-122"/>
                  <a:ea typeface="微软雅黑" panose="020B0503020204020204" pitchFamily="34" charset="-122"/>
                </a:rPr>
                <a:t>等待服务器确认</a:t>
              </a:r>
            </a:p>
          </p:txBody>
        </p:sp>
      </p:grpSp>
      <p:grpSp>
        <p:nvGrpSpPr>
          <p:cNvPr id="13" name="组合 12">
            <a:extLst>
              <a:ext uri="{FF2B5EF4-FFF2-40B4-BE49-F238E27FC236}">
                <a16:creationId xmlns:a16="http://schemas.microsoft.com/office/drawing/2014/main" id="{B77E95BF-4636-B1A5-1124-04CCEC78BDD3}"/>
              </a:ext>
            </a:extLst>
          </p:cNvPr>
          <p:cNvGrpSpPr>
            <a:grpSpLocks/>
          </p:cNvGrpSpPr>
          <p:nvPr/>
        </p:nvGrpSpPr>
        <p:grpSpPr bwMode="auto">
          <a:xfrm>
            <a:off x="4110795" y="3894670"/>
            <a:ext cx="3754965" cy="781454"/>
            <a:chOff x="3063651" y="2921565"/>
            <a:chExt cx="2816278" cy="584829"/>
          </a:xfrm>
        </p:grpSpPr>
        <p:cxnSp>
          <p:nvCxnSpPr>
            <p:cNvPr id="14" name="直接箭头连接符 13">
              <a:extLst>
                <a:ext uri="{FF2B5EF4-FFF2-40B4-BE49-F238E27FC236}">
                  <a16:creationId xmlns:a16="http://schemas.microsoft.com/office/drawing/2014/main" id="{20E8EACB-C1A9-95ED-FA8B-FD79E415D38F}"/>
                </a:ext>
              </a:extLst>
            </p:cNvPr>
            <p:cNvCxnSpPr>
              <a:stCxn id="6" idx="1"/>
              <a:endCxn id="5" idx="3"/>
            </p:cNvCxnSpPr>
            <p:nvPr/>
          </p:nvCxnSpPr>
          <p:spPr>
            <a:xfrm flipH="1" flipV="1">
              <a:off x="3063651" y="2935704"/>
              <a:ext cx="2816278" cy="9537"/>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0E233B12-D334-F885-8F22-2D974A2CFB4C}"/>
                </a:ext>
              </a:extLst>
            </p:cNvPr>
            <p:cNvSpPr/>
            <p:nvPr/>
          </p:nvSpPr>
          <p:spPr>
            <a:xfrm>
              <a:off x="3524036" y="2921565"/>
              <a:ext cx="1889015" cy="391570"/>
            </a:xfrm>
            <a:prstGeom prst="rect">
              <a:avLst/>
            </a:prstGeom>
          </p:spPr>
          <p:txBody>
            <a:bodyPr wrap="none">
              <a:spAutoFit/>
            </a:bodyPr>
            <a:lstStyle/>
            <a:p>
              <a:pPr>
                <a:defRPr/>
              </a:pPr>
              <a:endParaRPr lang="en-US" altLang="zh-CN" sz="1400" dirty="0">
                <a:latin typeface="微软雅黑" panose="020B0503020204020204" pitchFamily="34" charset="-122"/>
                <a:ea typeface="微软雅黑" panose="020B0503020204020204" pitchFamily="34" charset="-122"/>
              </a:endParaRPr>
            </a:p>
            <a:p>
              <a:pPr>
                <a:defRPr/>
              </a:pPr>
              <a:r>
                <a:rPr lang="zh-CN" altLang="en-US" sz="1400" dirty="0">
                  <a:latin typeface="微软雅黑" panose="020B0503020204020204" pitchFamily="34" charset="-122"/>
                  <a:ea typeface="微软雅黑" panose="020B0503020204020204" pitchFamily="34" charset="-122"/>
                </a:rPr>
                <a:t>服务器向客户端返回一个响应</a:t>
              </a:r>
            </a:p>
          </p:txBody>
        </p:sp>
        <p:sp>
          <p:nvSpPr>
            <p:cNvPr id="16" name="矩形 15">
              <a:extLst>
                <a:ext uri="{FF2B5EF4-FFF2-40B4-BE49-F238E27FC236}">
                  <a16:creationId xmlns:a16="http://schemas.microsoft.com/office/drawing/2014/main" id="{4672474E-A3ED-23FB-DF25-7BA069D1CF87}"/>
                </a:ext>
              </a:extLst>
            </p:cNvPr>
            <p:cNvSpPr/>
            <p:nvPr/>
          </p:nvSpPr>
          <p:spPr>
            <a:xfrm>
              <a:off x="3706603" y="3114823"/>
              <a:ext cx="1485050" cy="391571"/>
            </a:xfrm>
            <a:prstGeom prst="rect">
              <a:avLst/>
            </a:prstGeom>
          </p:spPr>
          <p:txBody>
            <a:bodyPr wrap="none">
              <a:spAutoFit/>
            </a:bodyPr>
            <a:lstStyle/>
            <a:p>
              <a:pPr>
                <a:defRPr/>
              </a:pPr>
              <a:endParaRPr lang="en-US" altLang="zh-CN" sz="1400" dirty="0">
                <a:latin typeface="微软雅黑" panose="020B0503020204020204" pitchFamily="34" charset="-122"/>
                <a:ea typeface="微软雅黑" panose="020B0503020204020204" pitchFamily="34" charset="-122"/>
              </a:endParaRPr>
            </a:p>
            <a:p>
              <a:pPr>
                <a:defRPr/>
              </a:pPr>
              <a:r>
                <a:rPr lang="zh-CN" altLang="en-US" sz="1400" dirty="0">
                  <a:latin typeface="微软雅黑" panose="020B0503020204020204" pitchFamily="34" charset="-122"/>
                  <a:ea typeface="微软雅黑" panose="020B0503020204020204" pitchFamily="34" charset="-122"/>
                </a:rPr>
                <a:t>告诉客户端收到了请求</a:t>
              </a:r>
            </a:p>
          </p:txBody>
        </p:sp>
      </p:grpSp>
      <p:grpSp>
        <p:nvGrpSpPr>
          <p:cNvPr id="17" name="组合 16">
            <a:extLst>
              <a:ext uri="{FF2B5EF4-FFF2-40B4-BE49-F238E27FC236}">
                <a16:creationId xmlns:a16="http://schemas.microsoft.com/office/drawing/2014/main" id="{9459AF9D-6D46-4CB2-23BE-9B07AB2785C7}"/>
              </a:ext>
            </a:extLst>
          </p:cNvPr>
          <p:cNvGrpSpPr>
            <a:grpSpLocks/>
          </p:cNvGrpSpPr>
          <p:nvPr/>
        </p:nvGrpSpPr>
        <p:grpSpPr bwMode="auto">
          <a:xfrm>
            <a:off x="4085167" y="5300127"/>
            <a:ext cx="3754966" cy="819554"/>
            <a:chOff x="3063651" y="3975748"/>
            <a:chExt cx="2816279" cy="614502"/>
          </a:xfrm>
        </p:grpSpPr>
        <p:cxnSp>
          <p:nvCxnSpPr>
            <p:cNvPr id="18" name="直接箭头连接符 17">
              <a:extLst>
                <a:ext uri="{FF2B5EF4-FFF2-40B4-BE49-F238E27FC236}">
                  <a16:creationId xmlns:a16="http://schemas.microsoft.com/office/drawing/2014/main" id="{833CE283-40A6-9998-C43B-4A62B5AA1834}"/>
                </a:ext>
              </a:extLst>
            </p:cNvPr>
            <p:cNvCxnSpPr>
              <a:stCxn id="7" idx="3"/>
              <a:endCxn id="8" idx="1"/>
            </p:cNvCxnSpPr>
            <p:nvPr/>
          </p:nvCxnSpPr>
          <p:spPr>
            <a:xfrm>
              <a:off x="3063651" y="3995320"/>
              <a:ext cx="2816279" cy="98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B7BF5072-ACDE-9C5E-F52B-F6654B2F9B36}"/>
                </a:ext>
              </a:extLst>
            </p:cNvPr>
            <p:cNvSpPr/>
            <p:nvPr/>
          </p:nvSpPr>
          <p:spPr>
            <a:xfrm>
              <a:off x="3370046" y="3975748"/>
              <a:ext cx="2158325" cy="392311"/>
            </a:xfrm>
            <a:prstGeom prst="rect">
              <a:avLst/>
            </a:prstGeom>
          </p:spPr>
          <p:txBody>
            <a:bodyPr wrap="none">
              <a:spAutoFit/>
            </a:bodyPr>
            <a:lstStyle/>
            <a:p>
              <a:pPr>
                <a:defRPr/>
              </a:pPr>
              <a:endParaRPr lang="en-US" altLang="zh-CN" sz="1400" dirty="0">
                <a:latin typeface="微软雅黑" panose="020B0503020204020204" pitchFamily="34" charset="-122"/>
                <a:ea typeface="微软雅黑" panose="020B0503020204020204" pitchFamily="34" charset="-122"/>
              </a:endParaRPr>
            </a:p>
            <a:p>
              <a:pPr>
                <a:defRPr/>
              </a:pPr>
              <a:r>
                <a:rPr lang="zh-CN" altLang="en-US" sz="1400" dirty="0">
                  <a:latin typeface="微软雅黑" panose="020B0503020204020204" pitchFamily="34" charset="-122"/>
                  <a:ea typeface="微软雅黑" panose="020B0503020204020204" pitchFamily="34" charset="-122"/>
                </a:rPr>
                <a:t>客户端向服务器再次发出确认信息</a:t>
              </a:r>
            </a:p>
          </p:txBody>
        </p:sp>
        <p:sp>
          <p:nvSpPr>
            <p:cNvPr id="20" name="矩形 19">
              <a:extLst>
                <a:ext uri="{FF2B5EF4-FFF2-40B4-BE49-F238E27FC236}">
                  <a16:creationId xmlns:a16="http://schemas.microsoft.com/office/drawing/2014/main" id="{F5C4AE5C-CFA3-64B3-646E-94389CCE6F7A}"/>
                </a:ext>
              </a:extLst>
            </p:cNvPr>
            <p:cNvSpPr/>
            <p:nvPr/>
          </p:nvSpPr>
          <p:spPr>
            <a:xfrm>
              <a:off x="4109835" y="4197939"/>
              <a:ext cx="677121" cy="392311"/>
            </a:xfrm>
            <a:prstGeom prst="rect">
              <a:avLst/>
            </a:prstGeom>
          </p:spPr>
          <p:txBody>
            <a:bodyPr wrap="none">
              <a:spAutoFit/>
            </a:bodyPr>
            <a:lstStyle/>
            <a:p>
              <a:pPr>
                <a:defRPr/>
              </a:pPr>
              <a:endParaRPr lang="en-US" altLang="zh-CN" sz="1400" dirty="0">
                <a:latin typeface="微软雅黑" panose="020B0503020204020204" pitchFamily="34" charset="-122"/>
                <a:ea typeface="微软雅黑" panose="020B0503020204020204" pitchFamily="34" charset="-122"/>
              </a:endParaRPr>
            </a:p>
            <a:p>
              <a:pPr>
                <a:defRPr/>
              </a:pPr>
              <a:r>
                <a:rPr lang="zh-CN" altLang="en-US" sz="1400" dirty="0">
                  <a:latin typeface="微软雅黑" panose="020B0503020204020204" pitchFamily="34" charset="-122"/>
                  <a:ea typeface="微软雅黑" panose="020B0503020204020204" pitchFamily="34" charset="-122"/>
                </a:rPr>
                <a:t>连接建立</a:t>
              </a:r>
            </a:p>
          </p:txBody>
        </p:sp>
      </p:grpSp>
      <p:grpSp>
        <p:nvGrpSpPr>
          <p:cNvPr id="21" name="组合 20">
            <a:extLst>
              <a:ext uri="{FF2B5EF4-FFF2-40B4-BE49-F238E27FC236}">
                <a16:creationId xmlns:a16="http://schemas.microsoft.com/office/drawing/2014/main" id="{93366F82-7D39-AD8A-B4F8-E84C4CDB6EB3}"/>
              </a:ext>
            </a:extLst>
          </p:cNvPr>
          <p:cNvGrpSpPr/>
          <p:nvPr/>
        </p:nvGrpSpPr>
        <p:grpSpPr>
          <a:xfrm>
            <a:off x="4759840" y="1554810"/>
            <a:ext cx="2396960" cy="594560"/>
            <a:chOff x="2457243" y="5184645"/>
            <a:chExt cx="2396960" cy="594560"/>
          </a:xfrm>
        </p:grpSpPr>
        <p:grpSp>
          <p:nvGrpSpPr>
            <p:cNvPr id="22" name="组合 21">
              <a:extLst>
                <a:ext uri="{FF2B5EF4-FFF2-40B4-BE49-F238E27FC236}">
                  <a16:creationId xmlns:a16="http://schemas.microsoft.com/office/drawing/2014/main" id="{A568BC81-2328-A9DC-35D0-DC8FA34F2BF8}"/>
                </a:ext>
              </a:extLst>
            </p:cNvPr>
            <p:cNvGrpSpPr/>
            <p:nvPr/>
          </p:nvGrpSpPr>
          <p:grpSpPr>
            <a:xfrm>
              <a:off x="2457243" y="5184645"/>
              <a:ext cx="2396960" cy="594560"/>
              <a:chOff x="4304043" y="1286668"/>
              <a:chExt cx="1880992" cy="2757793"/>
            </a:xfrm>
            <a:effectLst>
              <a:outerShdw blurRad="381000" dist="254000" dir="8100000" algn="tr" rotWithShape="0">
                <a:prstClr val="black">
                  <a:alpha val="40000"/>
                </a:prstClr>
              </a:outerShdw>
            </a:effectLst>
          </p:grpSpPr>
          <p:sp>
            <p:nvSpPr>
              <p:cNvPr id="24" name="圆角矩形 70">
                <a:extLst>
                  <a:ext uri="{FF2B5EF4-FFF2-40B4-BE49-F238E27FC236}">
                    <a16:creationId xmlns:a16="http://schemas.microsoft.com/office/drawing/2014/main" id="{56E5732C-642A-0978-ABD9-DB3416508909}"/>
                  </a:ext>
                </a:extLst>
              </p:cNvPr>
              <p:cNvSpPr/>
              <p:nvPr/>
            </p:nvSpPr>
            <p:spPr>
              <a:xfrm>
                <a:off x="4304044" y="1286668"/>
                <a:ext cx="1880991"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Arial"/>
                  <a:ea typeface="微软雅黑"/>
                  <a:cs typeface="+mn-cs"/>
                </a:endParaRPr>
              </a:p>
            </p:txBody>
          </p:sp>
          <p:sp>
            <p:nvSpPr>
              <p:cNvPr id="25" name="圆角矩形 71">
                <a:extLst>
                  <a:ext uri="{FF2B5EF4-FFF2-40B4-BE49-F238E27FC236}">
                    <a16:creationId xmlns:a16="http://schemas.microsoft.com/office/drawing/2014/main" id="{E3FB0A2A-948F-4195-3837-2BE35C436C40}"/>
                  </a:ext>
                </a:extLst>
              </p:cNvPr>
              <p:cNvSpPr/>
              <p:nvPr/>
            </p:nvSpPr>
            <p:spPr>
              <a:xfrm>
                <a:off x="4304043" y="1286668"/>
                <a:ext cx="1880991" cy="2757793"/>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Arial"/>
                  <a:ea typeface="微软雅黑"/>
                  <a:cs typeface="+mn-cs"/>
                </a:endParaRPr>
              </a:p>
            </p:txBody>
          </p:sp>
        </p:grpSp>
        <p:sp>
          <p:nvSpPr>
            <p:cNvPr id="23" name="TextBox 69">
              <a:extLst>
                <a:ext uri="{FF2B5EF4-FFF2-40B4-BE49-F238E27FC236}">
                  <a16:creationId xmlns:a16="http://schemas.microsoft.com/office/drawing/2014/main" id="{3C55E01A-0107-D956-86F8-375118D188FB}"/>
                </a:ext>
              </a:extLst>
            </p:cNvPr>
            <p:cNvSpPr txBox="1"/>
            <p:nvPr/>
          </p:nvSpPr>
          <p:spPr>
            <a:xfrm>
              <a:off x="2832553" y="5307533"/>
              <a:ext cx="1822464" cy="369332"/>
            </a:xfrm>
            <a:prstGeom prst="rect">
              <a:avLst/>
            </a:prstGeom>
            <a:noFill/>
          </p:spPr>
          <p:txBody>
            <a:bodyPr wrap="square" rtlCol="0">
              <a:spAutoFit/>
            </a:bodyPr>
            <a:lstStyle/>
            <a:p>
              <a:pPr fontAlgn="auto">
                <a:spcBef>
                  <a:spcPts val="0"/>
                </a:spcBef>
                <a:spcAft>
                  <a:spcPts val="0"/>
                </a:spcAft>
              </a:pPr>
              <a:r>
                <a:rPr lang="zh-CN" altLang="en-US" b="1" dirty="0">
                  <a:solidFill>
                    <a:prstClr val="black">
                      <a:lumMod val="85000"/>
                      <a:lumOff val="15000"/>
                    </a:prst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确保连接建立</a:t>
              </a:r>
            </a:p>
          </p:txBody>
        </p:sp>
      </p:grpSp>
      <p:sp>
        <p:nvSpPr>
          <p:cNvPr id="26" name="标题 25">
            <a:extLst>
              <a:ext uri="{FF2B5EF4-FFF2-40B4-BE49-F238E27FC236}">
                <a16:creationId xmlns:a16="http://schemas.microsoft.com/office/drawing/2014/main" id="{B981352F-3FD1-5E4E-0749-B74782D227FB}"/>
              </a:ext>
            </a:extLst>
          </p:cNvPr>
          <p:cNvSpPr>
            <a:spLocks noGrp="1"/>
          </p:cNvSpPr>
          <p:nvPr>
            <p:ph type="title"/>
          </p:nvPr>
        </p:nvSpPr>
        <p:spPr/>
        <p:txBody>
          <a:bodyPr/>
          <a:lstStyle/>
          <a:p>
            <a:r>
              <a:rPr lang="zh-CN" altLang="en-US" dirty="0"/>
              <a:t>三次握手</a:t>
            </a:r>
          </a:p>
        </p:txBody>
      </p:sp>
    </p:spTree>
    <p:extLst>
      <p:ext uri="{BB962C8B-B14F-4D97-AF65-F5344CB8AC3E}">
        <p14:creationId xmlns:p14="http://schemas.microsoft.com/office/powerpoint/2010/main" val="149602858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900" decel="100000" fill="hold"/>
                                        <p:tgtEl>
                                          <p:spTgt spid="21"/>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1"/>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right)">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left)">
                                      <p:cBhvr>
                                        <p:cTn id="45" dur="5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三要素">
            <a:extLst>
              <a:ext uri="{FF2B5EF4-FFF2-40B4-BE49-F238E27FC236}">
                <a16:creationId xmlns:a16="http://schemas.microsoft.com/office/drawing/2014/main" id="{5F47D815-BBDF-FF12-5A09-E0DA9A044890}"/>
              </a:ext>
            </a:extLst>
          </p:cNvPr>
          <p:cNvSpPr txBox="1">
            <a:spLocks/>
          </p:cNvSpPr>
          <p:nvPr/>
        </p:nvSpPr>
        <p:spPr>
          <a:xfrm>
            <a:off x="2141028" y="994824"/>
            <a:ext cx="3432496"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endParaRPr lang="zh-CN" altLang="en-US" dirty="0"/>
          </a:p>
        </p:txBody>
      </p:sp>
      <p:pic>
        <p:nvPicPr>
          <p:cNvPr id="26" name="图片 25">
            <a:extLst>
              <a:ext uri="{FF2B5EF4-FFF2-40B4-BE49-F238E27FC236}">
                <a16:creationId xmlns:a16="http://schemas.microsoft.com/office/drawing/2014/main" id="{B505659A-8C4D-DFF3-5668-E44B6CFD163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3060700" y="2067033"/>
            <a:ext cx="965200" cy="780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图片 26">
            <a:extLst>
              <a:ext uri="{FF2B5EF4-FFF2-40B4-BE49-F238E27FC236}">
                <a16:creationId xmlns:a16="http://schemas.microsoft.com/office/drawing/2014/main" id="{F109F1AB-326B-EC33-C35C-8A45E3CB0ED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auto">
          <a:xfrm>
            <a:off x="7780867" y="2138513"/>
            <a:ext cx="838200" cy="63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图片 27">
            <a:extLst>
              <a:ext uri="{FF2B5EF4-FFF2-40B4-BE49-F238E27FC236}">
                <a16:creationId xmlns:a16="http://schemas.microsoft.com/office/drawing/2014/main" id="{8561CF34-8398-2EC1-5EE1-C096F680D34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3060700" y="3286233"/>
            <a:ext cx="965200" cy="780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图片 28">
            <a:extLst>
              <a:ext uri="{FF2B5EF4-FFF2-40B4-BE49-F238E27FC236}">
                <a16:creationId xmlns:a16="http://schemas.microsoft.com/office/drawing/2014/main" id="{0372CB04-A563-E42E-8551-2C3AC0E483E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auto">
          <a:xfrm>
            <a:off x="7780867" y="3357713"/>
            <a:ext cx="838200" cy="63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图片 29">
            <a:extLst>
              <a:ext uri="{FF2B5EF4-FFF2-40B4-BE49-F238E27FC236}">
                <a16:creationId xmlns:a16="http://schemas.microsoft.com/office/drawing/2014/main" id="{038401BC-B1AF-C314-0051-72BDF985203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3060700" y="4507550"/>
            <a:ext cx="965200" cy="780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图片 30">
            <a:extLst>
              <a:ext uri="{FF2B5EF4-FFF2-40B4-BE49-F238E27FC236}">
                <a16:creationId xmlns:a16="http://schemas.microsoft.com/office/drawing/2014/main" id="{E82C2412-E54D-C0C8-B712-73C1206B2AF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auto">
          <a:xfrm>
            <a:off x="7780867" y="4579030"/>
            <a:ext cx="838200" cy="63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 name="组合 31">
            <a:extLst>
              <a:ext uri="{FF2B5EF4-FFF2-40B4-BE49-F238E27FC236}">
                <a16:creationId xmlns:a16="http://schemas.microsoft.com/office/drawing/2014/main" id="{43BA029A-94CC-D2D0-75EC-2264B7A3B1C4}"/>
              </a:ext>
            </a:extLst>
          </p:cNvPr>
          <p:cNvGrpSpPr>
            <a:grpSpLocks/>
          </p:cNvGrpSpPr>
          <p:nvPr/>
        </p:nvGrpSpPr>
        <p:grpSpPr bwMode="auto">
          <a:xfrm>
            <a:off x="4025901" y="2156882"/>
            <a:ext cx="3754967" cy="307776"/>
            <a:chOff x="3063652" y="1965013"/>
            <a:chExt cx="2816280" cy="230756"/>
          </a:xfrm>
        </p:grpSpPr>
        <p:cxnSp>
          <p:nvCxnSpPr>
            <p:cNvPr id="33" name="直接箭头连接符 32">
              <a:extLst>
                <a:ext uri="{FF2B5EF4-FFF2-40B4-BE49-F238E27FC236}">
                  <a16:creationId xmlns:a16="http://schemas.microsoft.com/office/drawing/2014/main" id="{1824A734-E59D-C0B5-E268-07626502F9EA}"/>
                </a:ext>
              </a:extLst>
            </p:cNvPr>
            <p:cNvCxnSpPr>
              <a:stCxn id="26" idx="3"/>
              <a:endCxn id="27" idx="1"/>
            </p:cNvCxnSpPr>
            <p:nvPr/>
          </p:nvCxnSpPr>
          <p:spPr>
            <a:xfrm>
              <a:off x="3063652" y="2188776"/>
              <a:ext cx="2816280"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矩形 33">
              <a:extLst>
                <a:ext uri="{FF2B5EF4-FFF2-40B4-BE49-F238E27FC236}">
                  <a16:creationId xmlns:a16="http://schemas.microsoft.com/office/drawing/2014/main" id="{BE519AE0-A47A-437C-A12D-C220625D7785}"/>
                </a:ext>
              </a:extLst>
            </p:cNvPr>
            <p:cNvSpPr/>
            <p:nvPr/>
          </p:nvSpPr>
          <p:spPr>
            <a:xfrm>
              <a:off x="3370046" y="1965013"/>
              <a:ext cx="2158325" cy="230756"/>
            </a:xfrm>
            <a:prstGeom prst="rect">
              <a:avLst/>
            </a:prstGeom>
          </p:spPr>
          <p:txBody>
            <a:bodyPr wrap="none">
              <a:spAutoFit/>
            </a:bodyPr>
            <a:lstStyle/>
            <a:p>
              <a:pPr>
                <a:defRPr/>
              </a:pPr>
              <a:r>
                <a:rPr lang="zh-CN" altLang="en-US" sz="1400" dirty="0">
                  <a:latin typeface="微软雅黑" panose="020B0503020204020204" pitchFamily="34" charset="-122"/>
                  <a:ea typeface="微软雅黑" panose="020B0503020204020204" pitchFamily="34" charset="-122"/>
                </a:rPr>
                <a:t>客户端向服务器发出取消连接请求</a:t>
              </a:r>
            </a:p>
          </p:txBody>
        </p:sp>
      </p:grpSp>
      <p:grpSp>
        <p:nvGrpSpPr>
          <p:cNvPr id="35" name="组合 34">
            <a:extLst>
              <a:ext uri="{FF2B5EF4-FFF2-40B4-BE49-F238E27FC236}">
                <a16:creationId xmlns:a16="http://schemas.microsoft.com/office/drawing/2014/main" id="{42047793-C185-6232-FCF2-C462C679137D}"/>
              </a:ext>
            </a:extLst>
          </p:cNvPr>
          <p:cNvGrpSpPr>
            <a:grpSpLocks/>
          </p:cNvGrpSpPr>
          <p:nvPr/>
        </p:nvGrpSpPr>
        <p:grpSpPr bwMode="auto">
          <a:xfrm>
            <a:off x="4025901" y="3378199"/>
            <a:ext cx="3754967" cy="307776"/>
            <a:chOff x="3063652" y="2921565"/>
            <a:chExt cx="2816280" cy="230756"/>
          </a:xfrm>
        </p:grpSpPr>
        <p:cxnSp>
          <p:nvCxnSpPr>
            <p:cNvPr id="36" name="直接箭头连接符 35">
              <a:extLst>
                <a:ext uri="{FF2B5EF4-FFF2-40B4-BE49-F238E27FC236}">
                  <a16:creationId xmlns:a16="http://schemas.microsoft.com/office/drawing/2014/main" id="{C7395900-181D-E53A-B8A5-5B41A6D1041C}"/>
                </a:ext>
              </a:extLst>
            </p:cNvPr>
            <p:cNvCxnSpPr>
              <a:stCxn id="29" idx="1"/>
              <a:endCxn id="28" idx="3"/>
            </p:cNvCxnSpPr>
            <p:nvPr/>
          </p:nvCxnSpPr>
          <p:spPr>
            <a:xfrm flipH="1" flipV="1">
              <a:off x="3063652" y="3146915"/>
              <a:ext cx="2816280"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矩形 36">
              <a:extLst>
                <a:ext uri="{FF2B5EF4-FFF2-40B4-BE49-F238E27FC236}">
                  <a16:creationId xmlns:a16="http://schemas.microsoft.com/office/drawing/2014/main" id="{BF778CC4-04C6-CC20-6661-7C26319BF229}"/>
                </a:ext>
              </a:extLst>
            </p:cNvPr>
            <p:cNvSpPr/>
            <p:nvPr/>
          </p:nvSpPr>
          <p:spPr>
            <a:xfrm>
              <a:off x="3524036" y="2921565"/>
              <a:ext cx="1889015" cy="230756"/>
            </a:xfrm>
            <a:prstGeom prst="rect">
              <a:avLst/>
            </a:prstGeom>
          </p:spPr>
          <p:txBody>
            <a:bodyPr wrap="none">
              <a:spAutoFit/>
            </a:bodyPr>
            <a:lstStyle/>
            <a:p>
              <a:pPr>
                <a:defRPr/>
              </a:pPr>
              <a:r>
                <a:rPr lang="zh-CN" altLang="en-US" sz="1400" dirty="0">
                  <a:latin typeface="微软雅黑" panose="020B0503020204020204" pitchFamily="34" charset="-122"/>
                  <a:ea typeface="微软雅黑" panose="020B0503020204020204" pitchFamily="34" charset="-122"/>
                </a:rPr>
                <a:t>服务器向客户端返回一个响应</a:t>
              </a:r>
            </a:p>
          </p:txBody>
        </p:sp>
      </p:grpSp>
      <p:sp>
        <p:nvSpPr>
          <p:cNvPr id="38" name="矩形 37">
            <a:extLst>
              <a:ext uri="{FF2B5EF4-FFF2-40B4-BE49-F238E27FC236}">
                <a16:creationId xmlns:a16="http://schemas.microsoft.com/office/drawing/2014/main" id="{86AE0243-0699-4A2F-EF6B-C367D0564177}"/>
              </a:ext>
            </a:extLst>
          </p:cNvPr>
          <p:cNvSpPr/>
          <p:nvPr/>
        </p:nvSpPr>
        <p:spPr>
          <a:xfrm>
            <a:off x="4432301" y="4601634"/>
            <a:ext cx="2877711" cy="307777"/>
          </a:xfrm>
          <a:prstGeom prst="rect">
            <a:avLst/>
          </a:prstGeom>
        </p:spPr>
        <p:txBody>
          <a:bodyPr wrap="none">
            <a:spAutoFit/>
          </a:bodyPr>
          <a:lstStyle/>
          <a:p>
            <a:pPr>
              <a:defRPr/>
            </a:pPr>
            <a:r>
              <a:rPr lang="zh-CN" altLang="en-US" sz="1400" dirty="0">
                <a:latin typeface="微软雅黑" panose="020B0503020204020204" pitchFamily="34" charset="-122"/>
                <a:ea typeface="微软雅黑" panose="020B0503020204020204" pitchFamily="34" charset="-122"/>
              </a:rPr>
              <a:t>服务器向客户端发出确认取消信息</a:t>
            </a:r>
          </a:p>
        </p:txBody>
      </p:sp>
      <p:pic>
        <p:nvPicPr>
          <p:cNvPr id="39" name="图片 38">
            <a:extLst>
              <a:ext uri="{FF2B5EF4-FFF2-40B4-BE49-F238E27FC236}">
                <a16:creationId xmlns:a16="http://schemas.microsoft.com/office/drawing/2014/main" id="{9DDC2F3E-9CA1-E2BA-4221-65CDF1D5A04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3058584" y="5682299"/>
            <a:ext cx="965200" cy="780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图片 39">
            <a:extLst>
              <a:ext uri="{FF2B5EF4-FFF2-40B4-BE49-F238E27FC236}">
                <a16:creationId xmlns:a16="http://schemas.microsoft.com/office/drawing/2014/main" id="{8AADAF25-2BB2-817B-BD5B-1DB82C57591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auto">
          <a:xfrm>
            <a:off x="7778751" y="5753779"/>
            <a:ext cx="838200" cy="63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 name="组合 40">
            <a:extLst>
              <a:ext uri="{FF2B5EF4-FFF2-40B4-BE49-F238E27FC236}">
                <a16:creationId xmlns:a16="http://schemas.microsoft.com/office/drawing/2014/main" id="{284B5EFA-3B47-26F4-FE59-66B4B9BF4B7C}"/>
              </a:ext>
            </a:extLst>
          </p:cNvPr>
          <p:cNvGrpSpPr>
            <a:grpSpLocks/>
          </p:cNvGrpSpPr>
          <p:nvPr/>
        </p:nvGrpSpPr>
        <p:grpSpPr bwMode="auto">
          <a:xfrm>
            <a:off x="4023785" y="5795431"/>
            <a:ext cx="3754967" cy="307776"/>
            <a:chOff x="3063652" y="3990322"/>
            <a:chExt cx="2816280" cy="230756"/>
          </a:xfrm>
        </p:grpSpPr>
        <p:cxnSp>
          <p:nvCxnSpPr>
            <p:cNvPr id="42" name="直接箭头连接符 41">
              <a:extLst>
                <a:ext uri="{FF2B5EF4-FFF2-40B4-BE49-F238E27FC236}">
                  <a16:creationId xmlns:a16="http://schemas.microsoft.com/office/drawing/2014/main" id="{A755E97A-0C07-50DC-4A9D-1C5E5940C6BA}"/>
                </a:ext>
              </a:extLst>
            </p:cNvPr>
            <p:cNvCxnSpPr>
              <a:stCxn id="39" idx="3"/>
              <a:endCxn id="40" idx="1"/>
            </p:cNvCxnSpPr>
            <p:nvPr/>
          </p:nvCxnSpPr>
          <p:spPr>
            <a:xfrm>
              <a:off x="3063652" y="4198216"/>
              <a:ext cx="2816280"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A0BC17B5-D70A-9ABB-0FF1-4AC9F2522B61}"/>
                </a:ext>
              </a:extLst>
            </p:cNvPr>
            <p:cNvSpPr/>
            <p:nvPr/>
          </p:nvSpPr>
          <p:spPr>
            <a:xfrm>
              <a:off x="3638338" y="3990322"/>
              <a:ext cx="1619706" cy="230756"/>
            </a:xfrm>
            <a:prstGeom prst="rect">
              <a:avLst/>
            </a:prstGeom>
          </p:spPr>
          <p:txBody>
            <a:bodyPr wrap="none">
              <a:spAutoFit/>
            </a:bodyPr>
            <a:lstStyle/>
            <a:p>
              <a:pPr>
                <a:defRPr/>
              </a:pPr>
              <a:r>
                <a:rPr lang="zh-CN" altLang="en-US" sz="1400" dirty="0">
                  <a:latin typeface="微软雅黑" panose="020B0503020204020204" pitchFamily="34" charset="-122"/>
                  <a:ea typeface="微软雅黑" panose="020B0503020204020204" pitchFamily="34" charset="-122"/>
                </a:rPr>
                <a:t>客户端再次发送确认消息</a:t>
              </a:r>
              <a:endParaRPr lang="en-US" altLang="zh-CN" sz="1400" dirty="0">
                <a:latin typeface="微软雅黑" panose="020B0503020204020204" pitchFamily="34" charset="-122"/>
                <a:ea typeface="微软雅黑" panose="020B0503020204020204" pitchFamily="34" charset="-122"/>
              </a:endParaRPr>
            </a:p>
          </p:txBody>
        </p:sp>
      </p:grpSp>
      <p:cxnSp>
        <p:nvCxnSpPr>
          <p:cNvPr id="44" name="直接箭头连接符 43">
            <a:extLst>
              <a:ext uri="{FF2B5EF4-FFF2-40B4-BE49-F238E27FC236}">
                <a16:creationId xmlns:a16="http://schemas.microsoft.com/office/drawing/2014/main" id="{E60A4191-231A-EB47-C4D2-107F382C0EB3}"/>
              </a:ext>
            </a:extLst>
          </p:cNvPr>
          <p:cNvCxnSpPr>
            <a:stCxn id="31" idx="1"/>
            <a:endCxn id="30" idx="3"/>
          </p:cNvCxnSpPr>
          <p:nvPr/>
        </p:nvCxnSpPr>
        <p:spPr>
          <a:xfrm flipH="1" flipV="1">
            <a:off x="4025901" y="4897967"/>
            <a:ext cx="3754967"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环形箭头 52">
            <a:extLst>
              <a:ext uri="{FF2B5EF4-FFF2-40B4-BE49-F238E27FC236}">
                <a16:creationId xmlns:a16="http://schemas.microsoft.com/office/drawing/2014/main" id="{B4617C63-7DF1-512F-B6FC-D8D6499DF14F}"/>
              </a:ext>
            </a:extLst>
          </p:cNvPr>
          <p:cNvSpPr/>
          <p:nvPr/>
        </p:nvSpPr>
        <p:spPr>
          <a:xfrm rot="5400000">
            <a:off x="7880351" y="3371851"/>
            <a:ext cx="1676400" cy="1405467"/>
          </a:xfrm>
          <a:prstGeom prst="circularArrow">
            <a:avLst/>
          </a:prstGeom>
          <a:solidFill>
            <a:srgbClr val="C0000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chemeClr val="tx1"/>
              </a:solidFill>
            </a:endParaRPr>
          </a:p>
        </p:txBody>
      </p:sp>
      <p:sp>
        <p:nvSpPr>
          <p:cNvPr id="46" name="矩形 45">
            <a:extLst>
              <a:ext uri="{FF2B5EF4-FFF2-40B4-BE49-F238E27FC236}">
                <a16:creationId xmlns:a16="http://schemas.microsoft.com/office/drawing/2014/main" id="{D05637F1-697F-FD51-51ED-FD51D94FD0CB}"/>
              </a:ext>
            </a:extLst>
          </p:cNvPr>
          <p:cNvSpPr/>
          <p:nvPr/>
        </p:nvSpPr>
        <p:spPr>
          <a:xfrm>
            <a:off x="4881034" y="3666068"/>
            <a:ext cx="2159566" cy="307777"/>
          </a:xfrm>
          <a:prstGeom prst="rect">
            <a:avLst/>
          </a:prstGeom>
        </p:spPr>
        <p:txBody>
          <a:bodyPr wrap="none">
            <a:spAutoFit/>
          </a:bodyPr>
          <a:lstStyle/>
          <a:p>
            <a:pPr>
              <a:defRPr/>
            </a:pPr>
            <a:r>
              <a:rPr lang="zh-CN" altLang="en-US" sz="1400" dirty="0">
                <a:latin typeface="微软雅黑" panose="020B0503020204020204" pitchFamily="34" charset="-122"/>
                <a:ea typeface="微软雅黑" panose="020B0503020204020204" pitchFamily="34" charset="-122"/>
              </a:rPr>
              <a:t>表示收到客户端取消请求</a:t>
            </a:r>
          </a:p>
        </p:txBody>
      </p:sp>
      <p:sp>
        <p:nvSpPr>
          <p:cNvPr id="47" name="矩形 46">
            <a:extLst>
              <a:ext uri="{FF2B5EF4-FFF2-40B4-BE49-F238E27FC236}">
                <a16:creationId xmlns:a16="http://schemas.microsoft.com/office/drawing/2014/main" id="{C93F4F6E-4FD2-60BB-B03A-07772F8E2B09}"/>
              </a:ext>
            </a:extLst>
          </p:cNvPr>
          <p:cNvSpPr/>
          <p:nvPr/>
        </p:nvSpPr>
        <p:spPr>
          <a:xfrm>
            <a:off x="9264652" y="3797300"/>
            <a:ext cx="1800493" cy="523220"/>
          </a:xfrm>
          <a:prstGeom prst="rect">
            <a:avLst/>
          </a:prstGeom>
        </p:spPr>
        <p:txBody>
          <a:bodyPr wrap="none">
            <a:spAutoFit/>
          </a:bodyPr>
          <a:lstStyle/>
          <a:p>
            <a:pPr>
              <a:defRPr/>
            </a:pPr>
            <a:r>
              <a:rPr lang="zh-CN" altLang="en-US" sz="1400" dirty="0">
                <a:latin typeface="微软雅黑" panose="020B0503020204020204" pitchFamily="34" charset="-122"/>
                <a:ea typeface="微软雅黑" panose="020B0503020204020204" pitchFamily="34" charset="-122"/>
              </a:rPr>
              <a:t>服务器将最后的数据</a:t>
            </a:r>
            <a:endParaRPr lang="en-US" altLang="zh-CN" sz="1400" dirty="0">
              <a:latin typeface="微软雅黑" panose="020B0503020204020204" pitchFamily="34" charset="-122"/>
              <a:ea typeface="微软雅黑" panose="020B0503020204020204" pitchFamily="34" charset="-122"/>
            </a:endParaRPr>
          </a:p>
          <a:p>
            <a:pPr>
              <a:defRPr/>
            </a:pPr>
            <a:r>
              <a:rPr lang="zh-CN" altLang="en-US" sz="1400" dirty="0">
                <a:latin typeface="微软雅黑" panose="020B0503020204020204" pitchFamily="34" charset="-122"/>
                <a:ea typeface="微软雅黑" panose="020B0503020204020204" pitchFamily="34" charset="-122"/>
              </a:rPr>
              <a:t>处理完毕</a:t>
            </a:r>
            <a:endParaRPr lang="zh-CN" altLang="en-US" sz="1400" dirty="0"/>
          </a:p>
        </p:txBody>
      </p:sp>
      <p:sp>
        <p:nvSpPr>
          <p:cNvPr id="48" name="矩形 47">
            <a:extLst>
              <a:ext uri="{FF2B5EF4-FFF2-40B4-BE49-F238E27FC236}">
                <a16:creationId xmlns:a16="http://schemas.microsoft.com/office/drawing/2014/main" id="{8B243037-D4C9-26D9-8F7A-3704CB81F1C6}"/>
              </a:ext>
            </a:extLst>
          </p:cNvPr>
          <p:cNvSpPr/>
          <p:nvPr/>
        </p:nvSpPr>
        <p:spPr>
          <a:xfrm>
            <a:off x="5420785" y="6060018"/>
            <a:ext cx="902811" cy="307777"/>
          </a:xfrm>
          <a:prstGeom prst="rect">
            <a:avLst/>
          </a:prstGeom>
        </p:spPr>
        <p:txBody>
          <a:bodyPr wrap="none">
            <a:spAutoFit/>
          </a:bodyPr>
          <a:lstStyle/>
          <a:p>
            <a:pPr>
              <a:defRPr/>
            </a:pPr>
            <a:r>
              <a:rPr lang="zh-CN" altLang="en-US" sz="1400" dirty="0">
                <a:latin typeface="微软雅黑" panose="020B0503020204020204" pitchFamily="34" charset="-122"/>
                <a:ea typeface="微软雅黑" panose="020B0503020204020204" pitchFamily="34" charset="-122"/>
              </a:rPr>
              <a:t>连接取消</a:t>
            </a:r>
          </a:p>
        </p:txBody>
      </p:sp>
      <p:grpSp>
        <p:nvGrpSpPr>
          <p:cNvPr id="49" name="组合 48">
            <a:extLst>
              <a:ext uri="{FF2B5EF4-FFF2-40B4-BE49-F238E27FC236}">
                <a16:creationId xmlns:a16="http://schemas.microsoft.com/office/drawing/2014/main" id="{55D04EC2-D959-CEED-FDD5-84B1E6223791}"/>
              </a:ext>
            </a:extLst>
          </p:cNvPr>
          <p:cNvGrpSpPr/>
          <p:nvPr/>
        </p:nvGrpSpPr>
        <p:grpSpPr>
          <a:xfrm>
            <a:off x="4143375" y="1126401"/>
            <a:ext cx="3857110" cy="594560"/>
            <a:chOff x="2457243" y="5184645"/>
            <a:chExt cx="3857110" cy="594560"/>
          </a:xfrm>
        </p:grpSpPr>
        <p:grpSp>
          <p:nvGrpSpPr>
            <p:cNvPr id="51" name="组合 50">
              <a:extLst>
                <a:ext uri="{FF2B5EF4-FFF2-40B4-BE49-F238E27FC236}">
                  <a16:creationId xmlns:a16="http://schemas.microsoft.com/office/drawing/2014/main" id="{BFBDF164-310E-2252-6934-6AF8FF1B67B6}"/>
                </a:ext>
              </a:extLst>
            </p:cNvPr>
            <p:cNvGrpSpPr/>
            <p:nvPr/>
          </p:nvGrpSpPr>
          <p:grpSpPr>
            <a:xfrm>
              <a:off x="2457243" y="5184645"/>
              <a:ext cx="3857110" cy="594560"/>
              <a:chOff x="4304043" y="1286668"/>
              <a:chExt cx="3026831" cy="2757793"/>
            </a:xfrm>
            <a:effectLst>
              <a:outerShdw blurRad="381000" dist="254000" dir="8100000" algn="tr" rotWithShape="0">
                <a:prstClr val="black">
                  <a:alpha val="40000"/>
                </a:prstClr>
              </a:outerShdw>
            </a:effectLst>
          </p:grpSpPr>
          <p:sp>
            <p:nvSpPr>
              <p:cNvPr id="53" name="圆角矩形 70">
                <a:extLst>
                  <a:ext uri="{FF2B5EF4-FFF2-40B4-BE49-F238E27FC236}">
                    <a16:creationId xmlns:a16="http://schemas.microsoft.com/office/drawing/2014/main" id="{11955FF6-00F7-1D44-BC36-F2F0111DAA90}"/>
                  </a:ext>
                </a:extLst>
              </p:cNvPr>
              <p:cNvSpPr/>
              <p:nvPr/>
            </p:nvSpPr>
            <p:spPr>
              <a:xfrm>
                <a:off x="4304044" y="1286668"/>
                <a:ext cx="3026830" cy="2757793"/>
              </a:xfrm>
              <a:prstGeom prst="roundRect">
                <a:avLst/>
              </a:prstGeom>
              <a:gradFill>
                <a:gsLst>
                  <a:gs pos="62000">
                    <a:sysClr val="window" lastClr="FFFFFF">
                      <a:lumMod val="95000"/>
                    </a:sysClr>
                  </a:gs>
                  <a:gs pos="0">
                    <a:sysClr val="window" lastClr="FFFFFF"/>
                  </a:gs>
                  <a:gs pos="100000">
                    <a:sysClr val="window" lastClr="FFFFFF">
                      <a:lumMod val="85000"/>
                    </a:sysClr>
                  </a:gs>
                  <a:gs pos="0">
                    <a:sysClr val="window" lastClr="FFFFFF"/>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Arial"/>
                  <a:ea typeface="微软雅黑"/>
                  <a:cs typeface="+mn-cs"/>
                </a:endParaRPr>
              </a:p>
            </p:txBody>
          </p:sp>
          <p:sp>
            <p:nvSpPr>
              <p:cNvPr id="54" name="圆角矩形 71">
                <a:extLst>
                  <a:ext uri="{FF2B5EF4-FFF2-40B4-BE49-F238E27FC236}">
                    <a16:creationId xmlns:a16="http://schemas.microsoft.com/office/drawing/2014/main" id="{E0ACA3E5-9EA7-AFAF-AFF0-6E0C107B9020}"/>
                  </a:ext>
                </a:extLst>
              </p:cNvPr>
              <p:cNvSpPr/>
              <p:nvPr/>
            </p:nvSpPr>
            <p:spPr>
              <a:xfrm>
                <a:off x="4304043" y="1286668"/>
                <a:ext cx="3026830" cy="2757793"/>
              </a:xfrm>
              <a:prstGeom prst="roundRect">
                <a:avLst/>
              </a:prstGeom>
              <a:gradFill>
                <a:gsLst>
                  <a:gs pos="42000">
                    <a:srgbClr val="F0F0F0"/>
                  </a:gs>
                  <a:gs pos="0">
                    <a:sysClr val="window" lastClr="FFFFFF"/>
                  </a:gs>
                  <a:gs pos="100000">
                    <a:sysClr val="window" lastClr="FFFFFF">
                      <a:lumMod val="85000"/>
                    </a:sysClr>
                  </a:gs>
                  <a:gs pos="0">
                    <a:sysClr val="window" lastClr="FFFFFF"/>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995" b="0" i="0" u="none" strike="noStrike" kern="0" cap="none" spc="0" normalizeH="0" baseline="0" noProof="0">
                  <a:ln>
                    <a:noFill/>
                  </a:ln>
                  <a:solidFill>
                    <a:sysClr val="window" lastClr="FFFFFF"/>
                  </a:solidFill>
                  <a:effectLst/>
                  <a:uLnTx/>
                  <a:uFillTx/>
                  <a:latin typeface="Arial"/>
                  <a:ea typeface="微软雅黑"/>
                  <a:cs typeface="+mn-cs"/>
                </a:endParaRPr>
              </a:p>
            </p:txBody>
          </p:sp>
        </p:grpSp>
        <p:sp>
          <p:nvSpPr>
            <p:cNvPr id="52" name="TextBox 69">
              <a:extLst>
                <a:ext uri="{FF2B5EF4-FFF2-40B4-BE49-F238E27FC236}">
                  <a16:creationId xmlns:a16="http://schemas.microsoft.com/office/drawing/2014/main" id="{E0E2A1C8-0D1C-6AD9-0603-B6A7644A5425}"/>
                </a:ext>
              </a:extLst>
            </p:cNvPr>
            <p:cNvSpPr txBox="1"/>
            <p:nvPr/>
          </p:nvSpPr>
          <p:spPr>
            <a:xfrm>
              <a:off x="2741112" y="5307533"/>
              <a:ext cx="3481799" cy="369332"/>
            </a:xfrm>
            <a:prstGeom prst="rect">
              <a:avLst/>
            </a:prstGeom>
            <a:noFill/>
          </p:spPr>
          <p:txBody>
            <a:bodyPr wrap="square" rtlCol="0">
              <a:spAutoFit/>
            </a:bodyPr>
            <a:lstStyle/>
            <a:p>
              <a:pPr fontAlgn="auto">
                <a:spcBef>
                  <a:spcPts val="0"/>
                </a:spcBef>
                <a:spcAft>
                  <a:spcPts val="0"/>
                </a:spcAft>
              </a:pPr>
              <a:r>
                <a:rPr lang="zh-CN" altLang="en-US" b="1" dirty="0">
                  <a:solidFill>
                    <a:prstClr val="black">
                      <a:lumMod val="85000"/>
                      <a:lumOff val="15000"/>
                    </a:prst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确保连接断开，且数据处理完毕</a:t>
              </a:r>
            </a:p>
          </p:txBody>
        </p:sp>
      </p:grpSp>
      <p:sp>
        <p:nvSpPr>
          <p:cNvPr id="2" name="标题 1">
            <a:extLst>
              <a:ext uri="{FF2B5EF4-FFF2-40B4-BE49-F238E27FC236}">
                <a16:creationId xmlns:a16="http://schemas.microsoft.com/office/drawing/2014/main" id="{663122EE-F975-DB29-0508-96B192A253DF}"/>
              </a:ext>
            </a:extLst>
          </p:cNvPr>
          <p:cNvSpPr>
            <a:spLocks noGrp="1"/>
          </p:cNvSpPr>
          <p:nvPr>
            <p:ph type="title"/>
          </p:nvPr>
        </p:nvSpPr>
        <p:spPr/>
        <p:txBody>
          <a:bodyPr/>
          <a:lstStyle/>
          <a:p>
            <a:r>
              <a:rPr lang="zh-CN" altLang="en-US" dirty="0"/>
              <a:t>四次挥手</a:t>
            </a:r>
          </a:p>
        </p:txBody>
      </p:sp>
    </p:spTree>
    <p:extLst>
      <p:ext uri="{BB962C8B-B14F-4D97-AF65-F5344CB8AC3E}">
        <p14:creationId xmlns:p14="http://schemas.microsoft.com/office/powerpoint/2010/main" val="3120251845"/>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1000"/>
                                        <p:tgtEl>
                                          <p:spTgt spid="49"/>
                                        </p:tgtEl>
                                      </p:cBhvr>
                                    </p:animEffect>
                                    <p:anim calcmode="lin" valueType="num">
                                      <p:cBhvr>
                                        <p:cTn id="8" dur="1000" fill="hold"/>
                                        <p:tgtEl>
                                          <p:spTgt spid="49"/>
                                        </p:tgtEl>
                                        <p:attrNameLst>
                                          <p:attrName>ppt_x</p:attrName>
                                        </p:attrNameLst>
                                      </p:cBhvr>
                                      <p:tavLst>
                                        <p:tav tm="0">
                                          <p:val>
                                            <p:strVal val="#ppt_x"/>
                                          </p:val>
                                        </p:tav>
                                        <p:tav tm="100000">
                                          <p:val>
                                            <p:strVal val="#ppt_x"/>
                                          </p:val>
                                        </p:tav>
                                      </p:tavLst>
                                    </p:anim>
                                    <p:anim calcmode="lin" valueType="num">
                                      <p:cBhvr>
                                        <p:cTn id="9" dur="900" decel="100000" fill="hold"/>
                                        <p:tgtEl>
                                          <p:spTgt spid="49"/>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49"/>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left)">
                                      <p:cBhvr>
                                        <p:cTn id="19" dur="500"/>
                                        <p:tgtEl>
                                          <p:spTgt spid="3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wipe(right)">
                                      <p:cBhvr>
                                        <p:cTn id="32" dur="500"/>
                                        <p:tgtEl>
                                          <p:spTgt spid="35"/>
                                        </p:tgtEl>
                                      </p:cBhvr>
                                    </p:animEffect>
                                  </p:childTnLst>
                                </p:cTn>
                              </p:par>
                              <p:par>
                                <p:cTn id="33" presetID="22" presetClass="entr" presetSubtype="2" fill="hold" nodeType="with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wipe(right)">
                                      <p:cBhvr>
                                        <p:cTn id="35" dur="500"/>
                                        <p:tgtEl>
                                          <p:spTgt spid="46"/>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2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45"/>
                                        </p:tgtEl>
                                        <p:attrNameLst>
                                          <p:attrName>style.visibility</p:attrName>
                                        </p:attrNameLst>
                                      </p:cBhvr>
                                      <p:to>
                                        <p:strVal val="visible"/>
                                      </p:to>
                                    </p:set>
                                    <p:animEffect transition="in" filter="wipe(up)">
                                      <p:cBhvr>
                                        <p:cTn id="44" dur="500"/>
                                        <p:tgtEl>
                                          <p:spTgt spid="45"/>
                                        </p:tgtEl>
                                      </p:cBhvr>
                                    </p:animEffect>
                                  </p:childTnLst>
                                </p:cTn>
                              </p:par>
                              <p:par>
                                <p:cTn id="45" presetID="1" presetClass="entr" presetSubtype="0" fill="hold" nodeType="with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2" fill="hold" nodeType="click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wipe(right)">
                                      <p:cBhvr>
                                        <p:cTn id="55" dur="500"/>
                                        <p:tgtEl>
                                          <p:spTgt spid="38"/>
                                        </p:tgtEl>
                                      </p:cBhvr>
                                    </p:animEffect>
                                  </p:childTnLst>
                                </p:cTn>
                              </p:par>
                              <p:par>
                                <p:cTn id="56" presetID="22" presetClass="entr" presetSubtype="2" fill="hold" nodeType="withEffect">
                                  <p:stCondLst>
                                    <p:cond delay="0"/>
                                  </p:stCondLst>
                                  <p:childTnLst>
                                    <p:set>
                                      <p:cBhvr>
                                        <p:cTn id="57" dur="1" fill="hold">
                                          <p:stCondLst>
                                            <p:cond delay="0"/>
                                          </p:stCondLst>
                                        </p:cTn>
                                        <p:tgtEl>
                                          <p:spTgt spid="44"/>
                                        </p:tgtEl>
                                        <p:attrNameLst>
                                          <p:attrName>style.visibility</p:attrName>
                                        </p:attrNameLst>
                                      </p:cBhvr>
                                      <p:to>
                                        <p:strVal val="visible"/>
                                      </p:to>
                                    </p:set>
                                    <p:animEffect transition="in" filter="wipe(right)">
                                      <p:cBhvr>
                                        <p:cTn id="58" dur="500"/>
                                        <p:tgtEl>
                                          <p:spTgt spid="44"/>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wipe(left)">
                                      <p:cBhvr>
                                        <p:cTn id="71" dur="500"/>
                                        <p:tgtEl>
                                          <p:spTgt spid="41"/>
                                        </p:tgtEl>
                                      </p:cBhvr>
                                    </p:animEffect>
                                  </p:childTnLst>
                                </p:cTn>
                              </p:par>
                              <p:par>
                                <p:cTn id="72" presetID="22" presetClass="entr" presetSubtype="8" fill="hold" nodeType="withEffect">
                                  <p:stCondLst>
                                    <p:cond delay="0"/>
                                  </p:stCondLst>
                                  <p:childTnLst>
                                    <p:set>
                                      <p:cBhvr>
                                        <p:cTn id="73" dur="1" fill="hold">
                                          <p:stCondLst>
                                            <p:cond delay="0"/>
                                          </p:stCondLst>
                                        </p:cTn>
                                        <p:tgtEl>
                                          <p:spTgt spid="48"/>
                                        </p:tgtEl>
                                        <p:attrNameLst>
                                          <p:attrName>style.visibility</p:attrName>
                                        </p:attrNameLst>
                                      </p:cBhvr>
                                      <p:to>
                                        <p:strVal val="visible"/>
                                      </p:to>
                                    </p:set>
                                    <p:animEffect transition="in" filter="wipe(left)">
                                      <p:cBhvr>
                                        <p:cTn id="74" dur="500"/>
                                        <p:tgtEl>
                                          <p:spTgt spid="48"/>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6" grpId="0"/>
      <p:bldP spid="47" grpId="0"/>
      <p:bldP spid="4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三要素">
            <a:extLst>
              <a:ext uri="{FF2B5EF4-FFF2-40B4-BE49-F238E27FC236}">
                <a16:creationId xmlns:a16="http://schemas.microsoft.com/office/drawing/2014/main" id="{5F47D815-BBDF-FF12-5A09-E0DA9A044890}"/>
              </a:ext>
            </a:extLst>
          </p:cNvPr>
          <p:cNvSpPr txBox="1">
            <a:spLocks/>
          </p:cNvSpPr>
          <p:nvPr/>
        </p:nvSpPr>
        <p:spPr>
          <a:xfrm>
            <a:off x="2141028" y="994824"/>
            <a:ext cx="3432496"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endParaRPr lang="zh-CN" altLang="en-US" dirty="0"/>
          </a:p>
        </p:txBody>
      </p:sp>
      <p:sp>
        <p:nvSpPr>
          <p:cNvPr id="7" name="矩形: 圆角 6">
            <a:extLst>
              <a:ext uri="{FF2B5EF4-FFF2-40B4-BE49-F238E27FC236}">
                <a16:creationId xmlns:a16="http://schemas.microsoft.com/office/drawing/2014/main" id="{A9A4EBAB-248C-D53A-14F7-AB6B095F7052}"/>
              </a:ext>
            </a:extLst>
          </p:cNvPr>
          <p:cNvSpPr/>
          <p:nvPr/>
        </p:nvSpPr>
        <p:spPr>
          <a:xfrm>
            <a:off x="845303" y="1644195"/>
            <a:ext cx="4543443" cy="4960791"/>
          </a:xfrm>
          <a:prstGeom prst="roundRect">
            <a:avLst/>
          </a:prstGeom>
          <a:solidFill>
            <a:schemeClr val="accent3">
              <a:lumMod val="40000"/>
              <a:lumOff val="60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r>
              <a:rPr lang="zh-CN" altLang="en-US" dirty="0">
                <a:solidFill>
                  <a:schemeClr val="tx1">
                    <a:lumMod val="50000"/>
                  </a:schemeClr>
                </a:solidFill>
                <a:ea typeface="阿里巴巴普惠体" panose="00020600040101010101"/>
              </a:rPr>
              <a:t>客户端</a:t>
            </a:r>
          </a:p>
        </p:txBody>
      </p:sp>
      <p:sp>
        <p:nvSpPr>
          <p:cNvPr id="9" name="文本框 8">
            <a:extLst>
              <a:ext uri="{FF2B5EF4-FFF2-40B4-BE49-F238E27FC236}">
                <a16:creationId xmlns:a16="http://schemas.microsoft.com/office/drawing/2014/main" id="{EEDFE4F2-462B-3725-E07D-A89C10FE4573}"/>
              </a:ext>
            </a:extLst>
          </p:cNvPr>
          <p:cNvSpPr txBox="1"/>
          <p:nvPr/>
        </p:nvSpPr>
        <p:spPr>
          <a:xfrm>
            <a:off x="1023194" y="1977909"/>
            <a:ext cx="3815134" cy="380040"/>
          </a:xfrm>
          <a:prstGeom prst="rect">
            <a:avLst/>
          </a:prstGeom>
          <a:noFill/>
          <a:ln>
            <a:noFill/>
          </a:ln>
        </p:spPr>
        <p:txBody>
          <a:bodyPr wrap="square" rtlCol="0">
            <a:spAutoFit/>
          </a:bodyPr>
          <a:lstStyle/>
          <a:p>
            <a:pPr algn="l">
              <a:lnSpc>
                <a:spcPct val="150000"/>
              </a:lnSpc>
            </a:pPr>
            <a:r>
              <a:rPr kumimoji="0" lang="en-US" altLang="zh-CN"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1. </a:t>
            </a:r>
            <a:r>
              <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创建 </a:t>
            </a:r>
            <a:r>
              <a:rPr kumimoji="0" lang="en-US" altLang="zh-CN"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Socket </a:t>
            </a:r>
            <a:r>
              <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对象指定 </a:t>
            </a:r>
            <a:r>
              <a:rPr kumimoji="0" lang="en-US" altLang="zh-CN" sz="1400" b="0" i="0" u="none" strike="noStrike" cap="none" normalizeH="0" baseline="0" dirty="0" err="1">
                <a:ln>
                  <a:noFill/>
                </a:ln>
                <a:solidFill>
                  <a:schemeClr val="tx1">
                    <a:lumMod val="95000"/>
                    <a:lumOff val="5000"/>
                  </a:schemeClr>
                </a:solidFill>
                <a:effectLst/>
                <a:latin typeface="Consolas" panose="020B0609020204030204" pitchFamily="49" charset="0"/>
                <a:ea typeface="Alibaba PuHuiTi Medium"/>
              </a:rPr>
              <a:t>ip</a:t>
            </a:r>
            <a:r>
              <a:rPr kumimoji="0" lang="en-US" altLang="zh-CN"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 </a:t>
            </a:r>
            <a:r>
              <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和端口</a:t>
            </a:r>
          </a:p>
        </p:txBody>
      </p:sp>
      <p:sp>
        <p:nvSpPr>
          <p:cNvPr id="11" name="文本框 10">
            <a:extLst>
              <a:ext uri="{FF2B5EF4-FFF2-40B4-BE49-F238E27FC236}">
                <a16:creationId xmlns:a16="http://schemas.microsoft.com/office/drawing/2014/main" id="{F0EA420B-DCC1-9915-275C-5713B01BE899}"/>
              </a:ext>
            </a:extLst>
          </p:cNvPr>
          <p:cNvSpPr txBox="1"/>
          <p:nvPr/>
        </p:nvSpPr>
        <p:spPr>
          <a:xfrm>
            <a:off x="875929" y="2480611"/>
            <a:ext cx="5220071" cy="422103"/>
          </a:xfrm>
          <a:prstGeom prst="rect">
            <a:avLst/>
          </a:prstGeom>
          <a:noFill/>
          <a:ln>
            <a:noFill/>
          </a:ln>
        </p:spPr>
        <p:txBody>
          <a:bodyPr wrap="square">
            <a:spAutoFit/>
          </a:bodyPr>
          <a:lstStyle/>
          <a:p>
            <a:pPr lvl="1">
              <a:lnSpc>
                <a:spcPct val="150000"/>
              </a:lnSpc>
              <a:defRPr/>
            </a:pPr>
            <a:r>
              <a:rPr lang="sv-SE"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Socket​(String host, int port)</a:t>
            </a:r>
            <a:endPar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2" name="文本框 11">
            <a:extLst>
              <a:ext uri="{FF2B5EF4-FFF2-40B4-BE49-F238E27FC236}">
                <a16:creationId xmlns:a16="http://schemas.microsoft.com/office/drawing/2014/main" id="{1FF9925C-0114-4518-5FD9-202493DBC7B6}"/>
              </a:ext>
            </a:extLst>
          </p:cNvPr>
          <p:cNvSpPr txBox="1"/>
          <p:nvPr/>
        </p:nvSpPr>
        <p:spPr>
          <a:xfrm>
            <a:off x="1023194" y="3126931"/>
            <a:ext cx="3815134" cy="380169"/>
          </a:xfrm>
          <a:prstGeom prst="rect">
            <a:avLst/>
          </a:prstGeom>
          <a:noFill/>
          <a:ln>
            <a:noFill/>
          </a:ln>
        </p:spPr>
        <p:txBody>
          <a:bodyPr wrap="square" rtlCol="0">
            <a:spAutoFit/>
          </a:bodyPr>
          <a:lstStyle/>
          <a:p>
            <a:pPr algn="l">
              <a:lnSpc>
                <a:spcPct val="150000"/>
              </a:lnSpc>
            </a:pPr>
            <a:r>
              <a:rPr kumimoji="0" lang="en-US" altLang="zh-CN"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2. </a:t>
            </a:r>
            <a:r>
              <a:rPr lang="zh-CN" altLang="en-US" sz="1400" dirty="0">
                <a:solidFill>
                  <a:schemeClr val="tx1">
                    <a:lumMod val="95000"/>
                    <a:lumOff val="5000"/>
                  </a:schemeClr>
                </a:solidFill>
                <a:latin typeface="Consolas" panose="020B0609020204030204" pitchFamily="49" charset="0"/>
                <a:ea typeface="Alibaba PuHuiTi Medium"/>
              </a:rPr>
              <a:t>通过 </a:t>
            </a:r>
            <a:r>
              <a:rPr lang="en-US" altLang="zh-CN" sz="1400" dirty="0">
                <a:solidFill>
                  <a:schemeClr val="tx1">
                    <a:lumMod val="95000"/>
                    <a:lumOff val="5000"/>
                  </a:schemeClr>
                </a:solidFill>
                <a:latin typeface="Consolas" panose="020B0609020204030204" pitchFamily="49" charset="0"/>
                <a:ea typeface="Alibaba PuHuiTi Medium"/>
              </a:rPr>
              <a:t>socket </a:t>
            </a:r>
            <a:r>
              <a:rPr lang="zh-CN" altLang="en-US" sz="1400" dirty="0">
                <a:solidFill>
                  <a:schemeClr val="tx1">
                    <a:lumMod val="95000"/>
                    <a:lumOff val="5000"/>
                  </a:schemeClr>
                </a:solidFill>
                <a:latin typeface="Consolas" panose="020B0609020204030204" pitchFamily="49" charset="0"/>
                <a:ea typeface="Alibaba PuHuiTi Medium"/>
              </a:rPr>
              <a:t>对象获取传输数据的流对象</a:t>
            </a:r>
            <a:endPar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endParaRPr>
          </a:p>
        </p:txBody>
      </p:sp>
      <p:sp>
        <p:nvSpPr>
          <p:cNvPr id="13" name="文本框 12">
            <a:extLst>
              <a:ext uri="{FF2B5EF4-FFF2-40B4-BE49-F238E27FC236}">
                <a16:creationId xmlns:a16="http://schemas.microsoft.com/office/drawing/2014/main" id="{38CBC570-09B3-51D6-79AA-E84D2F85FBD5}"/>
              </a:ext>
            </a:extLst>
          </p:cNvPr>
          <p:cNvSpPr txBox="1"/>
          <p:nvPr/>
        </p:nvSpPr>
        <p:spPr>
          <a:xfrm>
            <a:off x="845303" y="3636450"/>
            <a:ext cx="3993025" cy="422103"/>
          </a:xfrm>
          <a:prstGeom prst="rect">
            <a:avLst/>
          </a:prstGeom>
          <a:noFill/>
          <a:ln>
            <a:noFill/>
          </a:ln>
        </p:spPr>
        <p:txBody>
          <a:bodyPr wrap="square">
            <a:spAutoFit/>
          </a:bodyPr>
          <a:lstStyle/>
          <a:p>
            <a:pPr lvl="1">
              <a:lnSpc>
                <a:spcPct val="150000"/>
              </a:lnSpc>
              <a:defRPr/>
            </a:pPr>
            <a:r>
              <a:rPr lang="en-US" altLang="zh-CN" sz="1600" b="1"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OutputStream</a:t>
            </a: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600" b="1"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getOutputStream</a:t>
            </a: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p>
        </p:txBody>
      </p:sp>
      <p:sp>
        <p:nvSpPr>
          <p:cNvPr id="14" name="文本框 13">
            <a:extLst>
              <a:ext uri="{FF2B5EF4-FFF2-40B4-BE49-F238E27FC236}">
                <a16:creationId xmlns:a16="http://schemas.microsoft.com/office/drawing/2014/main" id="{45E8E9DB-E522-FAFC-3F4A-4338D5FD4B28}"/>
              </a:ext>
            </a:extLst>
          </p:cNvPr>
          <p:cNvSpPr txBox="1"/>
          <p:nvPr/>
        </p:nvSpPr>
        <p:spPr>
          <a:xfrm>
            <a:off x="845304" y="4124590"/>
            <a:ext cx="3815134" cy="422103"/>
          </a:xfrm>
          <a:prstGeom prst="rect">
            <a:avLst/>
          </a:prstGeom>
          <a:noFill/>
          <a:ln>
            <a:noFill/>
          </a:ln>
        </p:spPr>
        <p:txBody>
          <a:bodyPr wrap="square">
            <a:spAutoFit/>
          </a:bodyPr>
          <a:lstStyle/>
          <a:p>
            <a:pPr lvl="1">
              <a:lnSpc>
                <a:spcPct val="150000"/>
              </a:lnSpc>
              <a:defRPr/>
            </a:pPr>
            <a:r>
              <a:rPr lang="en-US" altLang="zh-CN" sz="1600" b="1"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InputStream</a:t>
            </a: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600" b="1"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getInputStream</a:t>
            </a: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p>
        </p:txBody>
      </p:sp>
      <p:sp>
        <p:nvSpPr>
          <p:cNvPr id="15" name="文本框 14">
            <a:extLst>
              <a:ext uri="{FF2B5EF4-FFF2-40B4-BE49-F238E27FC236}">
                <a16:creationId xmlns:a16="http://schemas.microsoft.com/office/drawing/2014/main" id="{0BA74753-48F4-A69E-A859-6DA66CFBEF86}"/>
              </a:ext>
            </a:extLst>
          </p:cNvPr>
          <p:cNvSpPr txBox="1"/>
          <p:nvPr/>
        </p:nvSpPr>
        <p:spPr>
          <a:xfrm>
            <a:off x="1023194" y="4792289"/>
            <a:ext cx="3815134" cy="380169"/>
          </a:xfrm>
          <a:prstGeom prst="rect">
            <a:avLst/>
          </a:prstGeom>
          <a:noFill/>
          <a:ln>
            <a:noFill/>
          </a:ln>
        </p:spPr>
        <p:txBody>
          <a:bodyPr wrap="square" rtlCol="0">
            <a:spAutoFit/>
          </a:bodyPr>
          <a:lstStyle/>
          <a:p>
            <a:pPr algn="l">
              <a:lnSpc>
                <a:spcPct val="150000"/>
              </a:lnSpc>
            </a:pPr>
            <a:r>
              <a:rPr kumimoji="0" lang="en-US" altLang="zh-CN"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3. </a:t>
            </a:r>
            <a:r>
              <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通过流对象收发数据 </a:t>
            </a:r>
          </a:p>
        </p:txBody>
      </p:sp>
      <p:sp>
        <p:nvSpPr>
          <p:cNvPr id="16" name="文本框 15">
            <a:extLst>
              <a:ext uri="{FF2B5EF4-FFF2-40B4-BE49-F238E27FC236}">
                <a16:creationId xmlns:a16="http://schemas.microsoft.com/office/drawing/2014/main" id="{F36DE432-D3B9-26AF-F1C9-42032FD2E557}"/>
              </a:ext>
            </a:extLst>
          </p:cNvPr>
          <p:cNvSpPr txBox="1"/>
          <p:nvPr/>
        </p:nvSpPr>
        <p:spPr>
          <a:xfrm>
            <a:off x="1023194" y="5309270"/>
            <a:ext cx="3815134" cy="380169"/>
          </a:xfrm>
          <a:prstGeom prst="rect">
            <a:avLst/>
          </a:prstGeom>
          <a:noFill/>
          <a:ln>
            <a:noFill/>
          </a:ln>
        </p:spPr>
        <p:txBody>
          <a:bodyPr wrap="square" rtlCol="0">
            <a:spAutoFit/>
          </a:bodyPr>
          <a:lstStyle/>
          <a:p>
            <a:pPr algn="l">
              <a:lnSpc>
                <a:spcPct val="150000"/>
              </a:lnSpc>
            </a:pPr>
            <a:r>
              <a:rPr kumimoji="0" lang="en-US" altLang="zh-CN"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4. </a:t>
            </a:r>
            <a:r>
              <a:rPr lang="zh-CN" altLang="en-US" sz="1400" dirty="0">
                <a:solidFill>
                  <a:schemeClr val="tx1">
                    <a:lumMod val="95000"/>
                    <a:lumOff val="5000"/>
                  </a:schemeClr>
                </a:solidFill>
                <a:latin typeface="Consolas" panose="020B0609020204030204" pitchFamily="49" charset="0"/>
                <a:ea typeface="Alibaba PuHuiTi Medium"/>
              </a:rPr>
              <a:t>释放资源</a:t>
            </a:r>
            <a:endPar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endParaRPr>
          </a:p>
        </p:txBody>
      </p:sp>
      <p:grpSp>
        <p:nvGrpSpPr>
          <p:cNvPr id="2" name="组合 1">
            <a:extLst>
              <a:ext uri="{FF2B5EF4-FFF2-40B4-BE49-F238E27FC236}">
                <a16:creationId xmlns:a16="http://schemas.microsoft.com/office/drawing/2014/main" id="{9B6B3031-6FEB-8074-191B-C87B861461D2}"/>
              </a:ext>
            </a:extLst>
          </p:cNvPr>
          <p:cNvGrpSpPr/>
          <p:nvPr/>
        </p:nvGrpSpPr>
        <p:grpSpPr>
          <a:xfrm>
            <a:off x="6013677" y="2133745"/>
            <a:ext cx="5761763" cy="448408"/>
            <a:chOff x="710880" y="5745685"/>
            <a:chExt cx="5752127" cy="448408"/>
          </a:xfrm>
        </p:grpSpPr>
        <p:sp>
          <p:nvSpPr>
            <p:cNvPr id="3" name="矩形: 圆角 2">
              <a:extLst>
                <a:ext uri="{FF2B5EF4-FFF2-40B4-BE49-F238E27FC236}">
                  <a16:creationId xmlns:a16="http://schemas.microsoft.com/office/drawing/2014/main" id="{E62969B0-CCEE-AEA2-C247-82BAC6934E17}"/>
                </a:ext>
              </a:extLst>
            </p:cNvPr>
            <p:cNvSpPr/>
            <p:nvPr/>
          </p:nvSpPr>
          <p:spPr>
            <a:xfrm>
              <a:off x="710880" y="5745686"/>
              <a:ext cx="5752127" cy="448407"/>
            </a:xfrm>
            <a:prstGeom prst="round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188000" rtlCol="0" anchor="ctr"/>
            <a:lstStyle/>
            <a:p>
              <a:r>
                <a:rPr lang="zh-CN" altLang="en-US"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这里的流对象不是读写文件中的数据</a:t>
              </a:r>
              <a:endPara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矩形: 圆顶角 4">
              <a:extLst>
                <a:ext uri="{FF2B5EF4-FFF2-40B4-BE49-F238E27FC236}">
                  <a16:creationId xmlns:a16="http://schemas.microsoft.com/office/drawing/2014/main" id="{0D9F66CC-4649-3878-B96F-2B4DA690EE47}"/>
                </a:ext>
              </a:extLst>
            </p:cNvPr>
            <p:cNvSpPr/>
            <p:nvPr/>
          </p:nvSpPr>
          <p:spPr>
            <a:xfrm rot="16200000">
              <a:off x="1005297" y="5451268"/>
              <a:ext cx="448407" cy="1037241"/>
            </a:xfrm>
            <a:prstGeom prst="round2SameRect">
              <a:avLst/>
            </a:prstGeom>
            <a:solidFill>
              <a:srgbClr val="2FC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形 5" descr="发送 纯色填充">
              <a:extLst>
                <a:ext uri="{FF2B5EF4-FFF2-40B4-BE49-F238E27FC236}">
                  <a16:creationId xmlns:a16="http://schemas.microsoft.com/office/drawing/2014/main" id="{47E40F41-7133-94A6-5F0D-671AD9941BB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3616" y="5793337"/>
              <a:ext cx="353103" cy="353103"/>
            </a:xfrm>
            <a:prstGeom prst="rect">
              <a:avLst/>
            </a:prstGeom>
          </p:spPr>
        </p:pic>
        <p:sp>
          <p:nvSpPr>
            <p:cNvPr id="10" name="文本框 9">
              <a:extLst>
                <a:ext uri="{FF2B5EF4-FFF2-40B4-BE49-F238E27FC236}">
                  <a16:creationId xmlns:a16="http://schemas.microsoft.com/office/drawing/2014/main" id="{8BF3AA7B-D7CC-C69B-B046-132721015391}"/>
                </a:ext>
              </a:extLst>
            </p:cNvPr>
            <p:cNvSpPr txBox="1"/>
            <p:nvPr/>
          </p:nvSpPr>
          <p:spPr>
            <a:xfrm>
              <a:off x="1099259" y="5809403"/>
              <a:ext cx="639709" cy="307777"/>
            </a:xfrm>
            <a:prstGeom prst="rect">
              <a:avLst/>
            </a:prstGeom>
            <a:noFill/>
          </p:spPr>
          <p:txBody>
            <a:bodyPr wrap="square" rtlCol="0">
              <a:spAutoFit/>
            </a:bodyPr>
            <a:lstStyle/>
            <a:p>
              <a:pPr fontAlgn="auto">
                <a:spcBef>
                  <a:spcPts val="0"/>
                </a:spcBef>
                <a:spcAft>
                  <a:spcPts val="0"/>
                </a:spcAft>
              </a:pPr>
              <a:r>
                <a:rPr lang="zh-CN" altLang="en-US" sz="14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提示：</a:t>
              </a:r>
              <a:endParaRPr lang="zh-CN" altLang="en-US" sz="105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6" name="文本框 25">
            <a:extLst>
              <a:ext uri="{FF2B5EF4-FFF2-40B4-BE49-F238E27FC236}">
                <a16:creationId xmlns:a16="http://schemas.microsoft.com/office/drawing/2014/main" id="{CCD89CC0-1F46-378B-0BF2-446B24C91000}"/>
              </a:ext>
            </a:extLst>
          </p:cNvPr>
          <p:cNvSpPr txBox="1"/>
          <p:nvPr/>
        </p:nvSpPr>
        <p:spPr>
          <a:xfrm>
            <a:off x="6013677" y="2938347"/>
            <a:ext cx="3438762" cy="795282"/>
          </a:xfrm>
          <a:prstGeom prst="rect">
            <a:avLst/>
          </a:prstGeom>
          <a:noFill/>
          <a:ln>
            <a:noFill/>
          </a:ln>
        </p:spPr>
        <p:txBody>
          <a:bodyPr wrap="none" rtlCol="0">
            <a:spAutoFit/>
          </a:bodyPr>
          <a:lstStyle/>
          <a:p>
            <a:pPr algn="l">
              <a:lnSpc>
                <a:spcPct val="150000"/>
              </a:lnSpc>
            </a:pPr>
            <a:r>
              <a:rPr lang="zh-CN" altLang="en-US" sz="1600" dirty="0">
                <a:solidFill>
                  <a:schemeClr val="tx1">
                    <a:lumMod val="50000"/>
                  </a:schemeClr>
                </a:solidFill>
                <a:latin typeface="Consolas" panose="020B0609020204030204" pitchFamily="49" charset="0"/>
                <a:ea typeface="阿里巴巴普惠体" panose="00020600040101010101"/>
              </a:rPr>
              <a:t>输出流</a:t>
            </a:r>
            <a:r>
              <a:rPr lang="en-US" altLang="zh-CN" sz="1600" dirty="0">
                <a:solidFill>
                  <a:schemeClr val="tx1">
                    <a:lumMod val="50000"/>
                  </a:schemeClr>
                </a:solidFill>
                <a:latin typeface="Consolas" panose="020B0609020204030204" pitchFamily="49" charset="0"/>
                <a:ea typeface="阿里巴巴普惠体" panose="00020600040101010101"/>
              </a:rPr>
              <a:t>: </a:t>
            </a:r>
            <a:r>
              <a:rPr lang="zh-CN" altLang="en-US" sz="1600" dirty="0">
                <a:solidFill>
                  <a:schemeClr val="tx1">
                    <a:lumMod val="50000"/>
                  </a:schemeClr>
                </a:solidFill>
                <a:latin typeface="Consolas" panose="020B0609020204030204" pitchFamily="49" charset="0"/>
                <a:ea typeface="阿里巴巴普惠体" panose="00020600040101010101"/>
              </a:rPr>
              <a:t>写出数据到服务端</a:t>
            </a:r>
            <a:endParaRPr lang="en-US" altLang="zh-CN" sz="1600" dirty="0">
              <a:solidFill>
                <a:schemeClr val="tx1">
                  <a:lumMod val="50000"/>
                </a:schemeClr>
              </a:solidFill>
              <a:latin typeface="Consolas" panose="020B0609020204030204" pitchFamily="49" charset="0"/>
              <a:ea typeface="阿里巴巴普惠体" panose="00020600040101010101"/>
            </a:endParaRPr>
          </a:p>
          <a:p>
            <a:pPr algn="l">
              <a:lnSpc>
                <a:spcPct val="150000"/>
              </a:lnSpc>
            </a:pPr>
            <a:r>
              <a:rPr lang="zh-CN" altLang="en-US" sz="1600" dirty="0">
                <a:solidFill>
                  <a:schemeClr val="tx1">
                    <a:lumMod val="50000"/>
                  </a:schemeClr>
                </a:solidFill>
                <a:latin typeface="Consolas" panose="020B0609020204030204" pitchFamily="49" charset="0"/>
                <a:ea typeface="阿里巴巴普惠体" panose="00020600040101010101"/>
              </a:rPr>
              <a:t>输入流</a:t>
            </a:r>
            <a:r>
              <a:rPr lang="en-US" altLang="zh-CN" sz="1600" dirty="0">
                <a:solidFill>
                  <a:schemeClr val="tx1">
                    <a:lumMod val="50000"/>
                  </a:schemeClr>
                </a:solidFill>
                <a:latin typeface="Consolas" panose="020B0609020204030204" pitchFamily="49" charset="0"/>
                <a:ea typeface="阿里巴巴普惠体" panose="00020600040101010101"/>
              </a:rPr>
              <a:t>: </a:t>
            </a:r>
            <a:r>
              <a:rPr lang="zh-CN" altLang="en-US" sz="1600" dirty="0">
                <a:solidFill>
                  <a:schemeClr val="tx1">
                    <a:lumMod val="50000"/>
                  </a:schemeClr>
                </a:solidFill>
                <a:latin typeface="Consolas" panose="020B0609020204030204" pitchFamily="49" charset="0"/>
                <a:ea typeface="阿里巴巴普惠体" panose="00020600040101010101"/>
              </a:rPr>
              <a:t>读取服务端发送过来的数据</a:t>
            </a:r>
          </a:p>
        </p:txBody>
      </p:sp>
      <p:sp>
        <p:nvSpPr>
          <p:cNvPr id="8" name="标题 7">
            <a:extLst>
              <a:ext uri="{FF2B5EF4-FFF2-40B4-BE49-F238E27FC236}">
                <a16:creationId xmlns:a16="http://schemas.microsoft.com/office/drawing/2014/main" id="{ED44CF6F-C7F3-F21E-698B-5D4C11D106C6}"/>
              </a:ext>
            </a:extLst>
          </p:cNvPr>
          <p:cNvSpPr>
            <a:spLocks noGrp="1"/>
          </p:cNvSpPr>
          <p:nvPr>
            <p:ph type="title"/>
          </p:nvPr>
        </p:nvSpPr>
        <p:spPr/>
        <p:txBody>
          <a:bodyPr/>
          <a:lstStyle/>
          <a:p>
            <a:r>
              <a:rPr lang="en-US" altLang="zh-CN" dirty="0"/>
              <a:t>TCP </a:t>
            </a:r>
            <a:r>
              <a:rPr lang="zh-CN" altLang="en-US" dirty="0"/>
              <a:t>协议收发数据</a:t>
            </a:r>
          </a:p>
        </p:txBody>
      </p:sp>
    </p:spTree>
    <p:extLst>
      <p:ext uri="{BB962C8B-B14F-4D97-AF65-F5344CB8AC3E}">
        <p14:creationId xmlns:p14="http://schemas.microsoft.com/office/powerpoint/2010/main" val="215081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left)">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50" presetClass="entr" presetSubtype="0" decel="100000"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p:cTn id="30" dur="500" fill="hold"/>
                                        <p:tgtEl>
                                          <p:spTgt spid="2"/>
                                        </p:tgtEl>
                                        <p:attrNameLst>
                                          <p:attrName>ppt_w</p:attrName>
                                        </p:attrNameLst>
                                      </p:cBhvr>
                                      <p:tavLst>
                                        <p:tav tm="0">
                                          <p:val>
                                            <p:strVal val="#ppt_w+.3"/>
                                          </p:val>
                                        </p:tav>
                                        <p:tav tm="100000">
                                          <p:val>
                                            <p:strVal val="#ppt_w"/>
                                          </p:val>
                                        </p:tav>
                                      </p:tavLst>
                                    </p:anim>
                                    <p:anim calcmode="lin" valueType="num">
                                      <p:cBhvr>
                                        <p:cTn id="31" dur="500" fill="hold"/>
                                        <p:tgtEl>
                                          <p:spTgt spid="2"/>
                                        </p:tgtEl>
                                        <p:attrNameLst>
                                          <p:attrName>ppt_h</p:attrName>
                                        </p:attrNameLst>
                                      </p:cBhvr>
                                      <p:tavLst>
                                        <p:tav tm="0">
                                          <p:val>
                                            <p:strVal val="#ppt_h"/>
                                          </p:val>
                                        </p:tav>
                                        <p:tav tm="100000">
                                          <p:val>
                                            <p:strVal val="#ppt_h"/>
                                          </p:val>
                                        </p:tav>
                                      </p:tavLst>
                                    </p:anim>
                                    <p:animEffect transition="in" filter="fade">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3" grpId="0"/>
      <p:bldP spid="14" grpId="0"/>
      <p:bldP spid="15" grpId="0"/>
      <p:bldP spid="16" grpId="0"/>
      <p:bldP spid="2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三要素">
            <a:extLst>
              <a:ext uri="{FF2B5EF4-FFF2-40B4-BE49-F238E27FC236}">
                <a16:creationId xmlns:a16="http://schemas.microsoft.com/office/drawing/2014/main" id="{51F2DE2F-B115-B136-E5ED-BF5F2D23D9BD}"/>
              </a:ext>
            </a:extLst>
          </p:cNvPr>
          <p:cNvSpPr txBox="1">
            <a:spLocks/>
          </p:cNvSpPr>
          <p:nvPr/>
        </p:nvSpPr>
        <p:spPr>
          <a:xfrm>
            <a:off x="710879" y="997654"/>
            <a:ext cx="3432496"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dirty="0"/>
              <a:t>TCP </a:t>
            </a:r>
            <a:r>
              <a:rPr lang="zh-CN" altLang="en-US" dirty="0"/>
              <a:t>通信程序</a:t>
            </a:r>
          </a:p>
        </p:txBody>
      </p:sp>
      <p:sp>
        <p:nvSpPr>
          <p:cNvPr id="50" name="!!!三要素">
            <a:extLst>
              <a:ext uri="{FF2B5EF4-FFF2-40B4-BE49-F238E27FC236}">
                <a16:creationId xmlns:a16="http://schemas.microsoft.com/office/drawing/2014/main" id="{5F47D815-BBDF-FF12-5A09-E0DA9A044890}"/>
              </a:ext>
            </a:extLst>
          </p:cNvPr>
          <p:cNvSpPr txBox="1">
            <a:spLocks/>
          </p:cNvSpPr>
          <p:nvPr/>
        </p:nvSpPr>
        <p:spPr>
          <a:xfrm>
            <a:off x="2141028" y="994824"/>
            <a:ext cx="3432496" cy="517191"/>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endParaRPr lang="zh-CN" altLang="en-US" dirty="0"/>
          </a:p>
        </p:txBody>
      </p:sp>
      <p:sp>
        <p:nvSpPr>
          <p:cNvPr id="7" name="矩形: 圆角 6">
            <a:extLst>
              <a:ext uri="{FF2B5EF4-FFF2-40B4-BE49-F238E27FC236}">
                <a16:creationId xmlns:a16="http://schemas.microsoft.com/office/drawing/2014/main" id="{A9A4EBAB-248C-D53A-14F7-AB6B095F7052}"/>
              </a:ext>
            </a:extLst>
          </p:cNvPr>
          <p:cNvSpPr/>
          <p:nvPr/>
        </p:nvSpPr>
        <p:spPr>
          <a:xfrm>
            <a:off x="845303" y="1644195"/>
            <a:ext cx="4543443" cy="4960791"/>
          </a:xfrm>
          <a:prstGeom prst="roundRect">
            <a:avLst/>
          </a:prstGeom>
          <a:solidFill>
            <a:schemeClr val="accent3">
              <a:lumMod val="40000"/>
              <a:lumOff val="60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r>
              <a:rPr lang="zh-CN" altLang="en-US" dirty="0">
                <a:solidFill>
                  <a:schemeClr val="tx1">
                    <a:lumMod val="50000"/>
                  </a:schemeClr>
                </a:solidFill>
                <a:ea typeface="阿里巴巴普惠体" panose="00020600040101010101"/>
              </a:rPr>
              <a:t>客户端</a:t>
            </a:r>
          </a:p>
        </p:txBody>
      </p:sp>
      <p:sp>
        <p:nvSpPr>
          <p:cNvPr id="8" name="矩形: 圆角 7">
            <a:extLst>
              <a:ext uri="{FF2B5EF4-FFF2-40B4-BE49-F238E27FC236}">
                <a16:creationId xmlns:a16="http://schemas.microsoft.com/office/drawing/2014/main" id="{C37E34A4-436F-FBF1-B759-F35D69E4E563}"/>
              </a:ext>
            </a:extLst>
          </p:cNvPr>
          <p:cNvSpPr/>
          <p:nvPr/>
        </p:nvSpPr>
        <p:spPr>
          <a:xfrm>
            <a:off x="6803256" y="1644195"/>
            <a:ext cx="4669990" cy="4882109"/>
          </a:xfrm>
          <a:prstGeom prst="roundRect">
            <a:avLst/>
          </a:prstGeom>
          <a:solidFill>
            <a:schemeClr val="accent2">
              <a:lumMod val="20000"/>
              <a:lumOff val="80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endParaRPr lang="en-US" altLang="zh-CN" dirty="0">
              <a:ea typeface="阿里巴巴普惠体" panose="00020600040101010101"/>
            </a:endParaRPr>
          </a:p>
          <a:p>
            <a:pPr algn="ctr"/>
            <a:r>
              <a:rPr lang="zh-CN" altLang="en-US" dirty="0">
                <a:solidFill>
                  <a:schemeClr val="tx1">
                    <a:lumMod val="95000"/>
                    <a:lumOff val="5000"/>
                  </a:schemeClr>
                </a:solidFill>
                <a:ea typeface="阿里巴巴普惠体" panose="00020600040101010101"/>
              </a:rPr>
              <a:t>服务端</a:t>
            </a:r>
          </a:p>
        </p:txBody>
      </p:sp>
      <p:sp>
        <p:nvSpPr>
          <p:cNvPr id="9" name="文本框 8">
            <a:extLst>
              <a:ext uri="{FF2B5EF4-FFF2-40B4-BE49-F238E27FC236}">
                <a16:creationId xmlns:a16="http://schemas.microsoft.com/office/drawing/2014/main" id="{EEDFE4F2-462B-3725-E07D-A89C10FE4573}"/>
              </a:ext>
            </a:extLst>
          </p:cNvPr>
          <p:cNvSpPr txBox="1"/>
          <p:nvPr/>
        </p:nvSpPr>
        <p:spPr>
          <a:xfrm>
            <a:off x="1023194" y="1977909"/>
            <a:ext cx="3815134" cy="380040"/>
          </a:xfrm>
          <a:prstGeom prst="rect">
            <a:avLst/>
          </a:prstGeom>
          <a:noFill/>
          <a:ln>
            <a:noFill/>
          </a:ln>
        </p:spPr>
        <p:txBody>
          <a:bodyPr wrap="square" rtlCol="0">
            <a:spAutoFit/>
          </a:bodyPr>
          <a:lstStyle/>
          <a:p>
            <a:pPr algn="l">
              <a:lnSpc>
                <a:spcPct val="150000"/>
              </a:lnSpc>
            </a:pPr>
            <a:r>
              <a:rPr kumimoji="0" lang="en-US" altLang="zh-CN"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1. </a:t>
            </a:r>
            <a:r>
              <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创建 </a:t>
            </a:r>
            <a:r>
              <a:rPr kumimoji="0" lang="en-US" altLang="zh-CN"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Socket </a:t>
            </a:r>
            <a:r>
              <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对象指定 </a:t>
            </a:r>
            <a:r>
              <a:rPr kumimoji="0" lang="en-US" altLang="zh-CN" sz="1400" b="0" i="0" u="none" strike="noStrike" cap="none" normalizeH="0" baseline="0" dirty="0" err="1">
                <a:ln>
                  <a:noFill/>
                </a:ln>
                <a:solidFill>
                  <a:schemeClr val="tx1">
                    <a:lumMod val="95000"/>
                    <a:lumOff val="5000"/>
                  </a:schemeClr>
                </a:solidFill>
                <a:effectLst/>
                <a:latin typeface="Consolas" panose="020B0609020204030204" pitchFamily="49" charset="0"/>
                <a:ea typeface="Alibaba PuHuiTi Medium"/>
              </a:rPr>
              <a:t>ip</a:t>
            </a:r>
            <a:r>
              <a:rPr kumimoji="0" lang="en-US" altLang="zh-CN"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 </a:t>
            </a:r>
            <a:r>
              <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和端口</a:t>
            </a:r>
          </a:p>
        </p:txBody>
      </p:sp>
      <p:sp>
        <p:nvSpPr>
          <p:cNvPr id="11" name="文本框 10">
            <a:extLst>
              <a:ext uri="{FF2B5EF4-FFF2-40B4-BE49-F238E27FC236}">
                <a16:creationId xmlns:a16="http://schemas.microsoft.com/office/drawing/2014/main" id="{F0EA420B-DCC1-9915-275C-5713B01BE899}"/>
              </a:ext>
            </a:extLst>
          </p:cNvPr>
          <p:cNvSpPr txBox="1"/>
          <p:nvPr/>
        </p:nvSpPr>
        <p:spPr>
          <a:xfrm>
            <a:off x="875929" y="2480611"/>
            <a:ext cx="5220071" cy="422103"/>
          </a:xfrm>
          <a:prstGeom prst="rect">
            <a:avLst/>
          </a:prstGeom>
          <a:noFill/>
          <a:ln>
            <a:noFill/>
          </a:ln>
        </p:spPr>
        <p:txBody>
          <a:bodyPr wrap="square">
            <a:spAutoFit/>
          </a:bodyPr>
          <a:lstStyle/>
          <a:p>
            <a:pPr lvl="1">
              <a:lnSpc>
                <a:spcPct val="150000"/>
              </a:lnSpc>
              <a:defRPr/>
            </a:pPr>
            <a:r>
              <a:rPr lang="sv-SE"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Socket​(String host, int port)</a:t>
            </a:r>
            <a:endPar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endParaRPr>
          </a:p>
        </p:txBody>
      </p:sp>
      <p:sp>
        <p:nvSpPr>
          <p:cNvPr id="12" name="文本框 11">
            <a:extLst>
              <a:ext uri="{FF2B5EF4-FFF2-40B4-BE49-F238E27FC236}">
                <a16:creationId xmlns:a16="http://schemas.microsoft.com/office/drawing/2014/main" id="{1FF9925C-0114-4518-5FD9-202493DBC7B6}"/>
              </a:ext>
            </a:extLst>
          </p:cNvPr>
          <p:cNvSpPr txBox="1"/>
          <p:nvPr/>
        </p:nvSpPr>
        <p:spPr>
          <a:xfrm>
            <a:off x="1023194" y="3126931"/>
            <a:ext cx="3815134" cy="380169"/>
          </a:xfrm>
          <a:prstGeom prst="rect">
            <a:avLst/>
          </a:prstGeom>
          <a:noFill/>
          <a:ln>
            <a:noFill/>
          </a:ln>
        </p:spPr>
        <p:txBody>
          <a:bodyPr wrap="square" rtlCol="0">
            <a:spAutoFit/>
          </a:bodyPr>
          <a:lstStyle/>
          <a:p>
            <a:pPr algn="l">
              <a:lnSpc>
                <a:spcPct val="150000"/>
              </a:lnSpc>
            </a:pPr>
            <a:r>
              <a:rPr kumimoji="0" lang="en-US" altLang="zh-CN"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2. </a:t>
            </a:r>
            <a:r>
              <a:rPr lang="zh-CN" altLang="en-US" sz="1400" dirty="0">
                <a:solidFill>
                  <a:schemeClr val="tx1">
                    <a:lumMod val="95000"/>
                    <a:lumOff val="5000"/>
                  </a:schemeClr>
                </a:solidFill>
                <a:latin typeface="Consolas" panose="020B0609020204030204" pitchFamily="49" charset="0"/>
                <a:ea typeface="Alibaba PuHuiTi Medium"/>
              </a:rPr>
              <a:t>通过 </a:t>
            </a:r>
            <a:r>
              <a:rPr lang="en-US" altLang="zh-CN" sz="1400" dirty="0">
                <a:solidFill>
                  <a:schemeClr val="tx1">
                    <a:lumMod val="95000"/>
                    <a:lumOff val="5000"/>
                  </a:schemeClr>
                </a:solidFill>
                <a:latin typeface="Consolas" panose="020B0609020204030204" pitchFamily="49" charset="0"/>
                <a:ea typeface="Alibaba PuHuiTi Medium"/>
              </a:rPr>
              <a:t>socket </a:t>
            </a:r>
            <a:r>
              <a:rPr lang="zh-CN" altLang="en-US" sz="1400" dirty="0">
                <a:solidFill>
                  <a:schemeClr val="tx1">
                    <a:lumMod val="95000"/>
                    <a:lumOff val="5000"/>
                  </a:schemeClr>
                </a:solidFill>
                <a:latin typeface="Consolas" panose="020B0609020204030204" pitchFamily="49" charset="0"/>
                <a:ea typeface="Alibaba PuHuiTi Medium"/>
              </a:rPr>
              <a:t>对象获取传输数据的流对象</a:t>
            </a:r>
            <a:endPar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endParaRPr>
          </a:p>
        </p:txBody>
      </p:sp>
      <p:sp>
        <p:nvSpPr>
          <p:cNvPr id="13" name="文本框 12">
            <a:extLst>
              <a:ext uri="{FF2B5EF4-FFF2-40B4-BE49-F238E27FC236}">
                <a16:creationId xmlns:a16="http://schemas.microsoft.com/office/drawing/2014/main" id="{38CBC570-09B3-51D6-79AA-E84D2F85FBD5}"/>
              </a:ext>
            </a:extLst>
          </p:cNvPr>
          <p:cNvSpPr txBox="1"/>
          <p:nvPr/>
        </p:nvSpPr>
        <p:spPr>
          <a:xfrm>
            <a:off x="845303" y="3636450"/>
            <a:ext cx="3993025" cy="422103"/>
          </a:xfrm>
          <a:prstGeom prst="rect">
            <a:avLst/>
          </a:prstGeom>
          <a:noFill/>
          <a:ln>
            <a:noFill/>
          </a:ln>
        </p:spPr>
        <p:txBody>
          <a:bodyPr wrap="square">
            <a:spAutoFit/>
          </a:bodyPr>
          <a:lstStyle/>
          <a:p>
            <a:pPr lvl="1">
              <a:lnSpc>
                <a:spcPct val="150000"/>
              </a:lnSpc>
              <a:defRPr/>
            </a:pPr>
            <a:r>
              <a:rPr lang="en-US" altLang="zh-CN" sz="1600" b="1"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OutputStream</a:t>
            </a: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600" b="1"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getOutputStream</a:t>
            </a: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a:t>
            </a:r>
          </a:p>
        </p:txBody>
      </p:sp>
      <p:sp>
        <p:nvSpPr>
          <p:cNvPr id="14" name="文本框 13">
            <a:extLst>
              <a:ext uri="{FF2B5EF4-FFF2-40B4-BE49-F238E27FC236}">
                <a16:creationId xmlns:a16="http://schemas.microsoft.com/office/drawing/2014/main" id="{45E8E9DB-E522-FAFC-3F4A-4338D5FD4B28}"/>
              </a:ext>
            </a:extLst>
          </p:cNvPr>
          <p:cNvSpPr txBox="1"/>
          <p:nvPr/>
        </p:nvSpPr>
        <p:spPr>
          <a:xfrm>
            <a:off x="845304" y="4124590"/>
            <a:ext cx="3815134" cy="422103"/>
          </a:xfrm>
          <a:prstGeom prst="rect">
            <a:avLst/>
          </a:prstGeom>
          <a:noFill/>
          <a:ln>
            <a:noFill/>
          </a:ln>
        </p:spPr>
        <p:txBody>
          <a:bodyPr wrap="square">
            <a:spAutoFit/>
          </a:bodyPr>
          <a:lstStyle/>
          <a:p>
            <a:pPr lvl="1">
              <a:lnSpc>
                <a:spcPct val="150000"/>
              </a:lnSpc>
              <a:defRPr/>
            </a:pPr>
            <a:r>
              <a:rPr lang="en-US" altLang="zh-CN" sz="1600" b="1"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InputStream</a:t>
            </a: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600" b="1" dirty="0" err="1">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getInputStream</a:t>
            </a:r>
            <a:r>
              <a:rPr lang="en-US" altLang="zh-CN" sz="1600" b="1" dirty="0">
                <a:solidFill>
                  <a:schemeClr val="tx1">
                    <a:lumMod val="50000"/>
                  </a:schemeClr>
                </a:solidFill>
                <a:latin typeface="Consolas" panose="020B0609020204030204" pitchFamily="49" charset="0"/>
                <a:ea typeface="阿里巴巴普惠体" panose="00020600040101010101" pitchFamily="18" charset="-122"/>
                <a:cs typeface="阿里巴巴普惠体" panose="00020600040101010101" pitchFamily="18" charset="-122"/>
              </a:rPr>
              <a:t>​() </a:t>
            </a:r>
          </a:p>
        </p:txBody>
      </p:sp>
      <p:sp>
        <p:nvSpPr>
          <p:cNvPr id="15" name="文本框 14">
            <a:extLst>
              <a:ext uri="{FF2B5EF4-FFF2-40B4-BE49-F238E27FC236}">
                <a16:creationId xmlns:a16="http://schemas.microsoft.com/office/drawing/2014/main" id="{0BA74753-48F4-A69E-A859-6DA66CFBEF86}"/>
              </a:ext>
            </a:extLst>
          </p:cNvPr>
          <p:cNvSpPr txBox="1"/>
          <p:nvPr/>
        </p:nvSpPr>
        <p:spPr>
          <a:xfrm>
            <a:off x="1023194" y="4792289"/>
            <a:ext cx="3815134" cy="380169"/>
          </a:xfrm>
          <a:prstGeom prst="rect">
            <a:avLst/>
          </a:prstGeom>
          <a:noFill/>
          <a:ln>
            <a:noFill/>
          </a:ln>
        </p:spPr>
        <p:txBody>
          <a:bodyPr wrap="square" rtlCol="0">
            <a:spAutoFit/>
          </a:bodyPr>
          <a:lstStyle/>
          <a:p>
            <a:pPr algn="l">
              <a:lnSpc>
                <a:spcPct val="150000"/>
              </a:lnSpc>
            </a:pPr>
            <a:r>
              <a:rPr kumimoji="0" lang="en-US" altLang="zh-CN"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3. </a:t>
            </a:r>
            <a:r>
              <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通过流对象收发数据 </a:t>
            </a:r>
          </a:p>
        </p:txBody>
      </p:sp>
      <p:sp>
        <p:nvSpPr>
          <p:cNvPr id="16" name="文本框 15">
            <a:extLst>
              <a:ext uri="{FF2B5EF4-FFF2-40B4-BE49-F238E27FC236}">
                <a16:creationId xmlns:a16="http://schemas.microsoft.com/office/drawing/2014/main" id="{F36DE432-D3B9-26AF-F1C9-42032FD2E557}"/>
              </a:ext>
            </a:extLst>
          </p:cNvPr>
          <p:cNvSpPr txBox="1"/>
          <p:nvPr/>
        </p:nvSpPr>
        <p:spPr>
          <a:xfrm>
            <a:off x="1023194" y="5309270"/>
            <a:ext cx="3815134" cy="380169"/>
          </a:xfrm>
          <a:prstGeom prst="rect">
            <a:avLst/>
          </a:prstGeom>
          <a:noFill/>
          <a:ln>
            <a:noFill/>
          </a:ln>
        </p:spPr>
        <p:txBody>
          <a:bodyPr wrap="square" rtlCol="0">
            <a:spAutoFit/>
          </a:bodyPr>
          <a:lstStyle/>
          <a:p>
            <a:pPr algn="l">
              <a:lnSpc>
                <a:spcPct val="150000"/>
              </a:lnSpc>
            </a:pPr>
            <a:r>
              <a:rPr kumimoji="0" lang="en-US" altLang="zh-CN"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4. </a:t>
            </a:r>
            <a:r>
              <a:rPr lang="zh-CN" altLang="en-US" sz="1400" dirty="0">
                <a:solidFill>
                  <a:schemeClr val="tx1">
                    <a:lumMod val="95000"/>
                    <a:lumOff val="5000"/>
                  </a:schemeClr>
                </a:solidFill>
                <a:latin typeface="Consolas" panose="020B0609020204030204" pitchFamily="49" charset="0"/>
                <a:ea typeface="Alibaba PuHuiTi Medium"/>
              </a:rPr>
              <a:t>释放资源</a:t>
            </a:r>
            <a:endPar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endParaRPr>
          </a:p>
        </p:txBody>
      </p:sp>
      <p:sp>
        <p:nvSpPr>
          <p:cNvPr id="17" name="文本框 16">
            <a:extLst>
              <a:ext uri="{FF2B5EF4-FFF2-40B4-BE49-F238E27FC236}">
                <a16:creationId xmlns:a16="http://schemas.microsoft.com/office/drawing/2014/main" id="{A52E8F60-B031-06D1-721F-3929F9E445AF}"/>
              </a:ext>
            </a:extLst>
          </p:cNvPr>
          <p:cNvSpPr txBox="1"/>
          <p:nvPr/>
        </p:nvSpPr>
        <p:spPr>
          <a:xfrm>
            <a:off x="7158702" y="1908516"/>
            <a:ext cx="3815134" cy="380040"/>
          </a:xfrm>
          <a:prstGeom prst="rect">
            <a:avLst/>
          </a:prstGeom>
          <a:noFill/>
          <a:ln>
            <a:noFill/>
          </a:ln>
        </p:spPr>
        <p:txBody>
          <a:bodyPr wrap="square" rtlCol="0">
            <a:spAutoFit/>
          </a:bodyPr>
          <a:lstStyle/>
          <a:p>
            <a:pPr algn="l">
              <a:lnSpc>
                <a:spcPct val="150000"/>
              </a:lnSpc>
            </a:pPr>
            <a:r>
              <a:rPr kumimoji="0" lang="en-US" altLang="zh-CN"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1. </a:t>
            </a:r>
            <a:r>
              <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创建 </a:t>
            </a:r>
            <a:r>
              <a:rPr kumimoji="0" lang="en-US" altLang="zh-CN" sz="1400" b="0" i="0" u="none" strike="noStrike" cap="none" normalizeH="0" baseline="0" dirty="0" err="1">
                <a:ln>
                  <a:noFill/>
                </a:ln>
                <a:solidFill>
                  <a:schemeClr val="tx1">
                    <a:lumMod val="95000"/>
                    <a:lumOff val="5000"/>
                  </a:schemeClr>
                </a:solidFill>
                <a:effectLst/>
                <a:latin typeface="Consolas" panose="020B0609020204030204" pitchFamily="49" charset="0"/>
                <a:ea typeface="Alibaba PuHuiTi Medium"/>
              </a:rPr>
              <a:t>ServerSocket</a:t>
            </a:r>
            <a:r>
              <a:rPr kumimoji="0" lang="en-US" altLang="zh-CN"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 </a:t>
            </a:r>
            <a:r>
              <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对象指定端口</a:t>
            </a:r>
          </a:p>
        </p:txBody>
      </p:sp>
      <p:sp>
        <p:nvSpPr>
          <p:cNvPr id="18" name="文本框 17">
            <a:extLst>
              <a:ext uri="{FF2B5EF4-FFF2-40B4-BE49-F238E27FC236}">
                <a16:creationId xmlns:a16="http://schemas.microsoft.com/office/drawing/2014/main" id="{AC0BD12A-D9EA-EF40-9F7C-A3ED0725325F}"/>
              </a:ext>
            </a:extLst>
          </p:cNvPr>
          <p:cNvSpPr txBox="1"/>
          <p:nvPr/>
        </p:nvSpPr>
        <p:spPr>
          <a:xfrm>
            <a:off x="7523023" y="2267682"/>
            <a:ext cx="3815134" cy="422103"/>
          </a:xfrm>
          <a:prstGeom prst="rect">
            <a:avLst/>
          </a:prstGeom>
          <a:noFill/>
          <a:ln>
            <a:noFill/>
          </a:ln>
        </p:spPr>
        <p:txBody>
          <a:bodyPr wrap="square">
            <a:spAutoFit/>
          </a:bodyPr>
          <a:lstStyle/>
          <a:p>
            <a:pPr lvl="1">
              <a:lnSpc>
                <a:spcPct val="150000"/>
              </a:lnSpc>
              <a:defRPr/>
            </a:pPr>
            <a:r>
              <a:rPr lang="en-US" altLang="zh-CN" sz="1600" dirty="0" err="1">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ServerSocket</a:t>
            </a:r>
            <a:r>
              <a:rPr lang="en-US" altLang="zh-CN" sz="16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​(int port)</a:t>
            </a:r>
          </a:p>
        </p:txBody>
      </p:sp>
      <p:sp>
        <p:nvSpPr>
          <p:cNvPr id="19" name="文本框 18">
            <a:extLst>
              <a:ext uri="{FF2B5EF4-FFF2-40B4-BE49-F238E27FC236}">
                <a16:creationId xmlns:a16="http://schemas.microsoft.com/office/drawing/2014/main" id="{BBD187C6-1E03-8478-55BD-0DB804C74650}"/>
              </a:ext>
            </a:extLst>
          </p:cNvPr>
          <p:cNvSpPr txBox="1"/>
          <p:nvPr/>
        </p:nvSpPr>
        <p:spPr>
          <a:xfrm>
            <a:off x="7158701" y="2687224"/>
            <a:ext cx="3815134" cy="380040"/>
          </a:xfrm>
          <a:prstGeom prst="rect">
            <a:avLst/>
          </a:prstGeom>
          <a:noFill/>
          <a:ln>
            <a:noFill/>
          </a:ln>
        </p:spPr>
        <p:txBody>
          <a:bodyPr wrap="square" rtlCol="0">
            <a:spAutoFit/>
          </a:bodyPr>
          <a:lstStyle/>
          <a:p>
            <a:pPr algn="l">
              <a:lnSpc>
                <a:spcPct val="150000"/>
              </a:lnSpc>
            </a:pPr>
            <a:r>
              <a:rPr kumimoji="0" lang="en-US" altLang="zh-CN"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2. </a:t>
            </a:r>
            <a:r>
              <a:rPr lang="zh-CN" altLang="en-US" sz="1400" dirty="0">
                <a:solidFill>
                  <a:schemeClr val="tx1">
                    <a:lumMod val="95000"/>
                    <a:lumOff val="5000"/>
                  </a:schemeClr>
                </a:solidFill>
                <a:latin typeface="Consolas" panose="020B0609020204030204" pitchFamily="49" charset="0"/>
                <a:ea typeface="Alibaba PuHuiTi Medium"/>
              </a:rPr>
              <a:t>响应客户端发送的请求</a:t>
            </a:r>
            <a:endPar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endParaRPr>
          </a:p>
        </p:txBody>
      </p:sp>
      <p:sp>
        <p:nvSpPr>
          <p:cNvPr id="20" name="文本框 19">
            <a:extLst>
              <a:ext uri="{FF2B5EF4-FFF2-40B4-BE49-F238E27FC236}">
                <a16:creationId xmlns:a16="http://schemas.microsoft.com/office/drawing/2014/main" id="{BB4C0710-4042-6BDD-CCCA-241CF7AF9134}"/>
              </a:ext>
            </a:extLst>
          </p:cNvPr>
          <p:cNvSpPr txBox="1"/>
          <p:nvPr/>
        </p:nvSpPr>
        <p:spPr>
          <a:xfrm>
            <a:off x="7523022" y="3041110"/>
            <a:ext cx="3815134" cy="422103"/>
          </a:xfrm>
          <a:prstGeom prst="rect">
            <a:avLst/>
          </a:prstGeom>
          <a:noFill/>
          <a:ln>
            <a:noFill/>
          </a:ln>
        </p:spPr>
        <p:txBody>
          <a:bodyPr wrap="square">
            <a:spAutoFit/>
          </a:bodyPr>
          <a:lstStyle/>
          <a:p>
            <a:pPr lvl="1">
              <a:lnSpc>
                <a:spcPct val="150000"/>
              </a:lnSpc>
              <a:defRPr/>
            </a:pPr>
            <a:r>
              <a:rPr lang="en-US" altLang="zh-CN" sz="16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Socket accept​()</a:t>
            </a:r>
          </a:p>
        </p:txBody>
      </p:sp>
      <p:sp>
        <p:nvSpPr>
          <p:cNvPr id="21" name="文本框 20">
            <a:extLst>
              <a:ext uri="{FF2B5EF4-FFF2-40B4-BE49-F238E27FC236}">
                <a16:creationId xmlns:a16="http://schemas.microsoft.com/office/drawing/2014/main" id="{D6271B74-6781-E1D0-778D-DAD3A56DAE99}"/>
              </a:ext>
            </a:extLst>
          </p:cNvPr>
          <p:cNvSpPr txBox="1"/>
          <p:nvPr/>
        </p:nvSpPr>
        <p:spPr>
          <a:xfrm>
            <a:off x="7158701" y="3479247"/>
            <a:ext cx="3815134" cy="380169"/>
          </a:xfrm>
          <a:prstGeom prst="rect">
            <a:avLst/>
          </a:prstGeom>
          <a:noFill/>
          <a:ln>
            <a:noFill/>
          </a:ln>
        </p:spPr>
        <p:txBody>
          <a:bodyPr wrap="square" rtlCol="0">
            <a:spAutoFit/>
          </a:bodyPr>
          <a:lstStyle/>
          <a:p>
            <a:pPr algn="l">
              <a:lnSpc>
                <a:spcPct val="150000"/>
              </a:lnSpc>
            </a:pPr>
            <a:r>
              <a:rPr kumimoji="0" lang="en-US" altLang="zh-CN"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3. </a:t>
            </a:r>
            <a:r>
              <a:rPr lang="zh-CN" altLang="en-US" sz="1400" dirty="0">
                <a:solidFill>
                  <a:schemeClr val="tx1">
                    <a:lumMod val="95000"/>
                    <a:lumOff val="5000"/>
                  </a:schemeClr>
                </a:solidFill>
                <a:latin typeface="Consolas" panose="020B0609020204030204" pitchFamily="49" charset="0"/>
                <a:ea typeface="Alibaba PuHuiTi Medium"/>
              </a:rPr>
              <a:t>通过 </a:t>
            </a:r>
            <a:r>
              <a:rPr lang="en-US" altLang="zh-CN" sz="1400" dirty="0">
                <a:solidFill>
                  <a:schemeClr val="tx1">
                    <a:lumMod val="95000"/>
                    <a:lumOff val="5000"/>
                  </a:schemeClr>
                </a:solidFill>
                <a:latin typeface="Consolas" panose="020B0609020204030204" pitchFamily="49" charset="0"/>
                <a:ea typeface="Alibaba PuHuiTi Medium"/>
              </a:rPr>
              <a:t>socket </a:t>
            </a:r>
            <a:r>
              <a:rPr lang="zh-CN" altLang="en-US" sz="1400" dirty="0">
                <a:solidFill>
                  <a:schemeClr val="tx1">
                    <a:lumMod val="95000"/>
                    <a:lumOff val="5000"/>
                  </a:schemeClr>
                </a:solidFill>
                <a:latin typeface="Consolas" panose="020B0609020204030204" pitchFamily="49" charset="0"/>
                <a:ea typeface="Alibaba PuHuiTi Medium"/>
              </a:rPr>
              <a:t>对象获取传输数据的流对象</a:t>
            </a:r>
            <a:endPar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endParaRPr>
          </a:p>
        </p:txBody>
      </p:sp>
      <p:sp>
        <p:nvSpPr>
          <p:cNvPr id="22" name="文本框 21">
            <a:extLst>
              <a:ext uri="{FF2B5EF4-FFF2-40B4-BE49-F238E27FC236}">
                <a16:creationId xmlns:a16="http://schemas.microsoft.com/office/drawing/2014/main" id="{B6753D7A-5905-A940-C8A7-717A0A139B59}"/>
              </a:ext>
            </a:extLst>
          </p:cNvPr>
          <p:cNvSpPr txBox="1"/>
          <p:nvPr/>
        </p:nvSpPr>
        <p:spPr>
          <a:xfrm>
            <a:off x="6980810" y="3988766"/>
            <a:ext cx="3993025" cy="422103"/>
          </a:xfrm>
          <a:prstGeom prst="rect">
            <a:avLst/>
          </a:prstGeom>
          <a:noFill/>
          <a:ln>
            <a:noFill/>
          </a:ln>
        </p:spPr>
        <p:txBody>
          <a:bodyPr wrap="square">
            <a:spAutoFit/>
          </a:bodyPr>
          <a:lstStyle/>
          <a:p>
            <a:pPr lvl="1">
              <a:lnSpc>
                <a:spcPct val="150000"/>
              </a:lnSpc>
              <a:defRPr/>
            </a:pPr>
            <a:r>
              <a:rPr lang="en-US" altLang="zh-CN" sz="1600" dirty="0" err="1">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OutputStream</a:t>
            </a:r>
            <a:r>
              <a:rPr lang="en-US" altLang="zh-CN" sz="16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600" dirty="0" err="1">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getOutputStream</a:t>
            </a:r>
            <a:r>
              <a:rPr lang="en-US" altLang="zh-CN" sz="16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a:t>
            </a:r>
          </a:p>
        </p:txBody>
      </p:sp>
      <p:sp>
        <p:nvSpPr>
          <p:cNvPr id="23" name="文本框 22">
            <a:extLst>
              <a:ext uri="{FF2B5EF4-FFF2-40B4-BE49-F238E27FC236}">
                <a16:creationId xmlns:a16="http://schemas.microsoft.com/office/drawing/2014/main" id="{63CE25A0-E7F8-E8A5-404D-B4A7E9365254}"/>
              </a:ext>
            </a:extLst>
          </p:cNvPr>
          <p:cNvSpPr txBox="1"/>
          <p:nvPr/>
        </p:nvSpPr>
        <p:spPr>
          <a:xfrm>
            <a:off x="6980811" y="4476906"/>
            <a:ext cx="3815134" cy="422103"/>
          </a:xfrm>
          <a:prstGeom prst="rect">
            <a:avLst/>
          </a:prstGeom>
          <a:noFill/>
          <a:ln>
            <a:noFill/>
          </a:ln>
        </p:spPr>
        <p:txBody>
          <a:bodyPr wrap="square">
            <a:spAutoFit/>
          </a:bodyPr>
          <a:lstStyle/>
          <a:p>
            <a:pPr lvl="1">
              <a:lnSpc>
                <a:spcPct val="150000"/>
              </a:lnSpc>
              <a:defRPr/>
            </a:pPr>
            <a:r>
              <a:rPr lang="en-US" altLang="zh-CN" sz="1600" dirty="0" err="1">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InputStream</a:t>
            </a:r>
            <a:r>
              <a:rPr lang="en-US" altLang="zh-CN" sz="16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 </a:t>
            </a:r>
            <a:r>
              <a:rPr lang="en-US" altLang="zh-CN" sz="1600" dirty="0" err="1">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getInputStream</a:t>
            </a:r>
            <a:r>
              <a:rPr lang="en-US" altLang="zh-CN" sz="1600" dirty="0">
                <a:solidFill>
                  <a:srgbClr val="C00000"/>
                </a:solidFill>
                <a:latin typeface="Consolas" panose="020B0609020204030204" pitchFamily="49" charset="0"/>
                <a:ea typeface="阿里巴巴普惠体" panose="00020600040101010101" pitchFamily="18" charset="-122"/>
                <a:cs typeface="阿里巴巴普惠体" panose="00020600040101010101" pitchFamily="18" charset="-122"/>
              </a:rPr>
              <a:t>​() </a:t>
            </a:r>
          </a:p>
        </p:txBody>
      </p:sp>
      <p:sp>
        <p:nvSpPr>
          <p:cNvPr id="24" name="文本框 23">
            <a:extLst>
              <a:ext uri="{FF2B5EF4-FFF2-40B4-BE49-F238E27FC236}">
                <a16:creationId xmlns:a16="http://schemas.microsoft.com/office/drawing/2014/main" id="{A7EAB22E-8C7E-95F4-8FCE-6EEDAADCA0CF}"/>
              </a:ext>
            </a:extLst>
          </p:cNvPr>
          <p:cNvSpPr txBox="1"/>
          <p:nvPr/>
        </p:nvSpPr>
        <p:spPr>
          <a:xfrm>
            <a:off x="7158701" y="4910546"/>
            <a:ext cx="3815134" cy="380169"/>
          </a:xfrm>
          <a:prstGeom prst="rect">
            <a:avLst/>
          </a:prstGeom>
          <a:noFill/>
          <a:ln>
            <a:noFill/>
          </a:ln>
        </p:spPr>
        <p:txBody>
          <a:bodyPr wrap="square" rtlCol="0">
            <a:spAutoFit/>
          </a:bodyPr>
          <a:lstStyle/>
          <a:p>
            <a:pPr algn="l">
              <a:lnSpc>
                <a:spcPct val="150000"/>
              </a:lnSpc>
            </a:pPr>
            <a:r>
              <a:rPr kumimoji="0" lang="en-US" altLang="zh-CN"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4. </a:t>
            </a:r>
            <a:r>
              <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通过流对象收发数据 </a:t>
            </a:r>
          </a:p>
        </p:txBody>
      </p:sp>
      <p:sp>
        <p:nvSpPr>
          <p:cNvPr id="25" name="文本框 24">
            <a:extLst>
              <a:ext uri="{FF2B5EF4-FFF2-40B4-BE49-F238E27FC236}">
                <a16:creationId xmlns:a16="http://schemas.microsoft.com/office/drawing/2014/main" id="{787CC43E-667A-3014-5C11-0D2D01705107}"/>
              </a:ext>
            </a:extLst>
          </p:cNvPr>
          <p:cNvSpPr txBox="1"/>
          <p:nvPr/>
        </p:nvSpPr>
        <p:spPr>
          <a:xfrm>
            <a:off x="7158701" y="5427527"/>
            <a:ext cx="3815134" cy="380169"/>
          </a:xfrm>
          <a:prstGeom prst="rect">
            <a:avLst/>
          </a:prstGeom>
          <a:noFill/>
          <a:ln>
            <a:noFill/>
          </a:ln>
        </p:spPr>
        <p:txBody>
          <a:bodyPr wrap="square" rtlCol="0">
            <a:spAutoFit/>
          </a:bodyPr>
          <a:lstStyle/>
          <a:p>
            <a:pPr algn="l">
              <a:lnSpc>
                <a:spcPct val="150000"/>
              </a:lnSpc>
            </a:pPr>
            <a:r>
              <a:rPr kumimoji="0" lang="en-US" altLang="zh-CN"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rPr>
              <a:t>5. </a:t>
            </a:r>
            <a:r>
              <a:rPr lang="zh-CN" altLang="en-US" sz="1400" dirty="0">
                <a:solidFill>
                  <a:schemeClr val="tx1">
                    <a:lumMod val="95000"/>
                    <a:lumOff val="5000"/>
                  </a:schemeClr>
                </a:solidFill>
                <a:latin typeface="Consolas" panose="020B0609020204030204" pitchFamily="49" charset="0"/>
                <a:ea typeface="Alibaba PuHuiTi Medium"/>
              </a:rPr>
              <a:t>释放资源</a:t>
            </a:r>
            <a:endParaRPr kumimoji="0" lang="zh-CN" altLang="en-US" sz="1400" b="0" i="0" u="none" strike="noStrike" cap="none" normalizeH="0" baseline="0" dirty="0">
              <a:ln>
                <a:noFill/>
              </a:ln>
              <a:solidFill>
                <a:schemeClr val="tx1">
                  <a:lumMod val="95000"/>
                  <a:lumOff val="5000"/>
                </a:schemeClr>
              </a:solidFill>
              <a:effectLst/>
              <a:latin typeface="Consolas" panose="020B0609020204030204" pitchFamily="49" charset="0"/>
              <a:ea typeface="Alibaba PuHuiTi Medium"/>
            </a:endParaRPr>
          </a:p>
        </p:txBody>
      </p:sp>
      <p:sp>
        <p:nvSpPr>
          <p:cNvPr id="2" name="标题 1">
            <a:extLst>
              <a:ext uri="{FF2B5EF4-FFF2-40B4-BE49-F238E27FC236}">
                <a16:creationId xmlns:a16="http://schemas.microsoft.com/office/drawing/2014/main" id="{7EC83B8A-1F4D-FB0D-D08F-E82FF53A58F1}"/>
              </a:ext>
            </a:extLst>
          </p:cNvPr>
          <p:cNvSpPr>
            <a:spLocks noGrp="1"/>
          </p:cNvSpPr>
          <p:nvPr>
            <p:ph type="title"/>
          </p:nvPr>
        </p:nvSpPr>
        <p:spPr/>
        <p:txBody>
          <a:bodyPr/>
          <a:lstStyle/>
          <a:p>
            <a:r>
              <a:rPr lang="en-US" altLang="zh-CN" dirty="0"/>
              <a:t>TCP </a:t>
            </a:r>
            <a:r>
              <a:rPr lang="zh-CN" altLang="en-US" dirty="0"/>
              <a:t>协议收发数据</a:t>
            </a:r>
          </a:p>
        </p:txBody>
      </p:sp>
    </p:spTree>
    <p:extLst>
      <p:ext uri="{BB962C8B-B14F-4D97-AF65-F5344CB8AC3E}">
        <p14:creationId xmlns:p14="http://schemas.microsoft.com/office/powerpoint/2010/main" val="345950906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ipe(left)">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left)">
                                      <p:cBhvr>
                                        <p:cTn id="31" dur="500"/>
                                        <p:tgtEl>
                                          <p:spTgt spid="22"/>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left)">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0" grpId="0"/>
      <p:bldP spid="21" grpId="0"/>
      <p:bldP spid="22" grpId="0"/>
      <p:bldP spid="23" grpId="0"/>
      <p:bldP spid="24" grpId="0"/>
      <p:bldP spid="2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20F8C-5B29-BF9F-D4EB-141E53523393}"/>
            </a:ext>
          </a:extLst>
        </p:cNvPr>
        <p:cNvGrpSpPr/>
        <p:nvPr/>
      </p:nvGrpSpPr>
      <p:grpSpPr>
        <a:xfrm>
          <a:off x="0" y="0"/>
          <a:ext cx="0" cy="0"/>
          <a:chOff x="0" y="0"/>
          <a:chExt cx="0" cy="0"/>
        </a:xfrm>
      </p:grpSpPr>
      <p:sp>
        <p:nvSpPr>
          <p:cNvPr id="57" name="文本占位符 56">
            <a:extLst>
              <a:ext uri="{FF2B5EF4-FFF2-40B4-BE49-F238E27FC236}">
                <a16:creationId xmlns:a16="http://schemas.microsoft.com/office/drawing/2014/main" id="{E8C56E91-B397-C07E-36FE-3172AFAC351B}"/>
              </a:ext>
            </a:extLst>
          </p:cNvPr>
          <p:cNvSpPr>
            <a:spLocks noGrp="1"/>
          </p:cNvSpPr>
          <p:nvPr>
            <p:ph type="body" sz="quarter" idx="10"/>
          </p:nvPr>
        </p:nvSpPr>
        <p:spPr/>
        <p:txBody>
          <a:bodyPr/>
          <a:lstStyle/>
          <a:p>
            <a:r>
              <a:rPr lang="en-US" altLang="zh-CN" dirty="0">
                <a:latin typeface="Consolas" panose="020B0609020204030204" pitchFamily="49" charset="0"/>
              </a:rPr>
              <a:t>TCP </a:t>
            </a:r>
            <a:r>
              <a:rPr lang="zh-CN" altLang="en-US" dirty="0">
                <a:latin typeface="Consolas" panose="020B0609020204030204" pitchFamily="49" charset="0"/>
              </a:rPr>
              <a:t>协议区分客户端和服务端</a:t>
            </a:r>
            <a:endParaRPr lang="en-US" altLang="zh-CN" dirty="0">
              <a:latin typeface="Consolas" panose="020B0609020204030204" pitchFamily="49" charset="0"/>
            </a:endParaRPr>
          </a:p>
          <a:p>
            <a:r>
              <a:rPr lang="zh-CN" altLang="en-US" dirty="0">
                <a:latin typeface="Consolas" panose="020B0609020204030204" pitchFamily="49" charset="0"/>
              </a:rPr>
              <a:t>客户端创建 </a:t>
            </a:r>
            <a:r>
              <a:rPr lang="en-US" altLang="zh-CN" dirty="0">
                <a:latin typeface="Consolas" panose="020B0609020204030204" pitchFamily="49" charset="0"/>
              </a:rPr>
              <a:t>Socket </a:t>
            </a:r>
            <a:r>
              <a:rPr lang="zh-CN" altLang="en-US" dirty="0">
                <a:latin typeface="Consolas" panose="020B0609020204030204" pitchFamily="49" charset="0"/>
              </a:rPr>
              <a:t>对象，指定</a:t>
            </a:r>
            <a:r>
              <a:rPr lang="en-US" altLang="zh-CN" dirty="0">
                <a:latin typeface="Consolas" panose="020B0609020204030204" pitchFamily="49" charset="0"/>
              </a:rPr>
              <a:t>IP</a:t>
            </a:r>
            <a:r>
              <a:rPr lang="zh-CN" altLang="en-US" dirty="0">
                <a:latin typeface="Consolas" panose="020B0609020204030204" pitchFamily="49" charset="0"/>
              </a:rPr>
              <a:t>和端口号</a:t>
            </a:r>
            <a:endParaRPr lang="en-US" altLang="zh-CN" dirty="0">
              <a:latin typeface="Consolas" panose="020B0609020204030204" pitchFamily="49" charset="0"/>
            </a:endParaRPr>
          </a:p>
          <a:p>
            <a:r>
              <a:rPr lang="zh-CN" altLang="en-US" dirty="0">
                <a:latin typeface="Consolas" panose="020B0609020204030204" pitchFamily="49" charset="0"/>
              </a:rPr>
              <a:t>服务端创建 </a:t>
            </a:r>
            <a:r>
              <a:rPr lang="en-US" altLang="zh-CN" dirty="0" err="1">
                <a:latin typeface="Consolas" panose="020B0609020204030204" pitchFamily="49" charset="0"/>
              </a:rPr>
              <a:t>ServerSocket</a:t>
            </a:r>
            <a:r>
              <a:rPr lang="en-US" altLang="zh-CN" dirty="0">
                <a:latin typeface="Consolas" panose="020B0609020204030204" pitchFamily="49" charset="0"/>
              </a:rPr>
              <a:t> </a:t>
            </a:r>
            <a:r>
              <a:rPr lang="zh-CN" altLang="en-US" dirty="0">
                <a:latin typeface="Consolas" panose="020B0609020204030204" pitchFamily="49" charset="0"/>
              </a:rPr>
              <a:t>对象，指定端口号</a:t>
            </a:r>
            <a:endParaRPr lang="en-US" altLang="zh-CN" dirty="0">
              <a:latin typeface="Consolas" panose="020B0609020204030204" pitchFamily="49" charset="0"/>
            </a:endParaRPr>
          </a:p>
          <a:p>
            <a:r>
              <a:rPr lang="en-US" altLang="zh-CN" dirty="0">
                <a:latin typeface="Consolas" panose="020B0609020204030204" pitchFamily="49" charset="0"/>
              </a:rPr>
              <a:t>	</a:t>
            </a:r>
            <a:r>
              <a:rPr lang="zh-CN" altLang="en-US" dirty="0">
                <a:latin typeface="Consolas" panose="020B0609020204030204" pitchFamily="49" charset="0"/>
              </a:rPr>
              <a:t>调用</a:t>
            </a:r>
            <a:r>
              <a:rPr lang="en-US" altLang="zh-CN" dirty="0">
                <a:latin typeface="Consolas" panose="020B0609020204030204" pitchFamily="49" charset="0"/>
              </a:rPr>
              <a:t>accept</a:t>
            </a:r>
            <a:r>
              <a:rPr lang="zh-CN" altLang="en-US" dirty="0">
                <a:latin typeface="Consolas" panose="020B0609020204030204" pitchFamily="49" charset="0"/>
              </a:rPr>
              <a:t>相应请求，得到</a:t>
            </a:r>
            <a:r>
              <a:rPr lang="en-US" altLang="zh-CN" dirty="0">
                <a:latin typeface="Consolas" panose="020B0609020204030204" pitchFamily="49" charset="0"/>
              </a:rPr>
              <a:t>Socket</a:t>
            </a:r>
            <a:r>
              <a:rPr lang="zh-CN" altLang="en-US" dirty="0">
                <a:latin typeface="Consolas" panose="020B0609020204030204" pitchFamily="49" charset="0"/>
              </a:rPr>
              <a:t>对象</a:t>
            </a:r>
            <a:endParaRPr lang="en-US" altLang="zh-CN" dirty="0">
              <a:latin typeface="Consolas" panose="020B0609020204030204" pitchFamily="49" charset="0"/>
            </a:endParaRPr>
          </a:p>
          <a:p>
            <a:r>
              <a:rPr lang="zh-CN" altLang="en-US" dirty="0">
                <a:latin typeface="Consolas" panose="020B0609020204030204" pitchFamily="49" charset="0"/>
              </a:rPr>
              <a:t>两端通过</a:t>
            </a:r>
            <a:r>
              <a:rPr lang="en-US" altLang="zh-CN" dirty="0">
                <a:latin typeface="Consolas" panose="020B0609020204030204" pitchFamily="49" charset="0"/>
              </a:rPr>
              <a:t>socket</a:t>
            </a:r>
            <a:r>
              <a:rPr lang="zh-CN" altLang="en-US" dirty="0">
                <a:latin typeface="Consolas" panose="020B0609020204030204" pitchFamily="49" charset="0"/>
              </a:rPr>
              <a:t>对象获取输入输出流，收发数据</a:t>
            </a:r>
            <a:endParaRPr lang="en-US" altLang="zh-CN" dirty="0">
              <a:latin typeface="Consolas" panose="020B0609020204030204" pitchFamily="49" charset="0"/>
            </a:endParaRPr>
          </a:p>
        </p:txBody>
      </p:sp>
    </p:spTree>
    <p:extLst>
      <p:ext uri="{BB962C8B-B14F-4D97-AF65-F5344CB8AC3E}">
        <p14:creationId xmlns:p14="http://schemas.microsoft.com/office/powerpoint/2010/main" val="851439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09870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Kind&quot;:&quot;System&quot;,&quot;OldGuidesSetting&quot;:{&quot;HeaderHeight&quot;:15.0,&quot;FooterHeight&quot;:9.0,&quot;SideMargin&quot;:5.5,&quot;TopMargin&quot;:0.0,&quot;BottomMargin&quot;:0.0,&quot;IntervalMargin&quot;:1.5}}"/>
  <p:tag name="ISLIDE.THEME" val="#782110"/>
  <p:tag name="ISLIDE.TEMPLATE" val="1f6b6247-00f9-4185-bb3e-6a09396f8e3b"/>
</p:tagLst>
</file>

<file path=ppt/theme/theme1.xml><?xml version="1.0" encoding="utf-8"?>
<a:theme xmlns:a="http://schemas.openxmlformats.org/drawingml/2006/main" name="内容模板">
  <a:themeElements>
    <a:clrScheme name="自定义 11">
      <a:dk1>
        <a:srgbClr val="363C3B"/>
      </a:dk1>
      <a:lt1>
        <a:srgbClr val="FFFFFF"/>
      </a:lt1>
      <a:dk2>
        <a:srgbClr val="49504F"/>
      </a:dk2>
      <a:lt2>
        <a:srgbClr val="FFFFE4"/>
      </a:lt2>
      <a:accent1>
        <a:srgbClr val="AD2B26"/>
      </a:accent1>
      <a:accent2>
        <a:srgbClr val="49504F"/>
      </a:accent2>
      <a:accent3>
        <a:srgbClr val="9BBB59"/>
      </a:accent3>
      <a:accent4>
        <a:srgbClr val="8064A2"/>
      </a:accent4>
      <a:accent5>
        <a:srgbClr val="4BACC6"/>
      </a:accent5>
      <a:accent6>
        <a:srgbClr val="F79646"/>
      </a:accent6>
      <a:hlink>
        <a:srgbClr val="0000FF"/>
      </a:hlink>
      <a:folHlink>
        <a:srgbClr val="800080"/>
      </a:folHlink>
    </a:clrScheme>
    <a:fontScheme name="传智播客">
      <a:majorFont>
        <a:latin typeface="Source Code Pro Black"/>
        <a:ea typeface="阿里巴巴普惠体 Heavy"/>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5400">
          <a:solidFill>
            <a:schemeClr val="tx1">
              <a:lumMod val="50000"/>
            </a:schemeClr>
          </a:solidFill>
        </a:ln>
      </a:spPr>
      <a:bodyPr rtlCol="0" anchor="ctr"/>
      <a:lstStyle>
        <a:defPPr algn="ctr">
          <a:defRPr/>
        </a:defPPr>
      </a:lstStyle>
      <a:style>
        <a:lnRef idx="2">
          <a:schemeClr val="dk1"/>
        </a:lnRef>
        <a:fillRef idx="1">
          <a:schemeClr val="lt1"/>
        </a:fillRef>
        <a:effectRef idx="0">
          <a:schemeClr val="dk1"/>
        </a:effectRef>
        <a:fontRef idx="minor">
          <a:schemeClr val="dk1"/>
        </a:fontRef>
      </a:style>
    </a:spDef>
  </a:objectDefaults>
  <a:extraClrSchemeLst/>
  <a:extLst>
    <a:ext uri="{05A4C25C-085E-4340-85A3-A5531E510DB2}">
      <thm15:themeFamily xmlns:thm15="http://schemas.microsoft.com/office/thememl/2012/main" name="PresentationDefault.potx" id="{1D9758C4-BF53-48D5-9F51-21F468A6C710}" vid="{F0E1EFAF-5478-48F0-8152-DA9350739AFC}"/>
    </a:ext>
  </a:extLst>
</a:theme>
</file>

<file path=ppt/theme/theme2.xml><?xml version="1.0" encoding="utf-8"?>
<a:theme xmlns:a="http://schemas.openxmlformats.org/drawingml/2006/main" name="封面">
  <a:themeElements>
    <a:clrScheme name="自定义 11">
      <a:dk1>
        <a:srgbClr val="363C3B"/>
      </a:dk1>
      <a:lt1>
        <a:srgbClr val="FFFFFF"/>
      </a:lt1>
      <a:dk2>
        <a:srgbClr val="49504F"/>
      </a:dk2>
      <a:lt2>
        <a:srgbClr val="FFFFE4"/>
      </a:lt2>
      <a:accent1>
        <a:srgbClr val="AD2B26"/>
      </a:accent1>
      <a:accent2>
        <a:srgbClr val="49504F"/>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Source Code Pro Black"/>
        <a:ea typeface="阿里巴巴普惠体"/>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章节目录模板">
  <a:themeElements>
    <a:clrScheme name="自定义 11">
      <a:dk1>
        <a:srgbClr val="363C3B"/>
      </a:dk1>
      <a:lt1>
        <a:srgbClr val="FFFFFF"/>
      </a:lt1>
      <a:dk2>
        <a:srgbClr val="49504F"/>
      </a:dk2>
      <a:lt2>
        <a:srgbClr val="FFFFE4"/>
      </a:lt2>
      <a:accent1>
        <a:srgbClr val="AD2B26"/>
      </a:accent1>
      <a:accent2>
        <a:srgbClr val="49504F"/>
      </a:accent2>
      <a:accent3>
        <a:srgbClr val="9BBB59"/>
      </a:accent3>
      <a:accent4>
        <a:srgbClr val="8064A2"/>
      </a:accent4>
      <a:accent5>
        <a:srgbClr val="4BACC6"/>
      </a:accent5>
      <a:accent6>
        <a:srgbClr val="F79646"/>
      </a:accent6>
      <a:hlink>
        <a:srgbClr val="0000FF"/>
      </a:hlink>
      <a:folHlink>
        <a:srgbClr val="800080"/>
      </a:folHlink>
    </a:clrScheme>
    <a:fontScheme name="传智播客">
      <a:majorFont>
        <a:latin typeface="Source Code Pro Black"/>
        <a:ea typeface="阿里巴巴普惠体 Heavy"/>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小结思考模板2">
  <a:themeElements>
    <a:clrScheme name="自定义 11">
      <a:dk1>
        <a:srgbClr val="363C3B"/>
      </a:dk1>
      <a:lt1>
        <a:srgbClr val="FFFFFF"/>
      </a:lt1>
      <a:dk2>
        <a:srgbClr val="49504F"/>
      </a:dk2>
      <a:lt2>
        <a:srgbClr val="FFFFE4"/>
      </a:lt2>
      <a:accent1>
        <a:srgbClr val="AD2B26"/>
      </a:accent1>
      <a:accent2>
        <a:srgbClr val="49504F"/>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Source Code Pro Black"/>
        <a:ea typeface="阿里巴巴普惠体"/>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小结思考模板2">
  <a:themeElements>
    <a:clrScheme name="自定义 11">
      <a:dk1>
        <a:srgbClr val="363C3B"/>
      </a:dk1>
      <a:lt1>
        <a:srgbClr val="FFFFFF"/>
      </a:lt1>
      <a:dk2>
        <a:srgbClr val="49504F"/>
      </a:dk2>
      <a:lt2>
        <a:srgbClr val="FFFFE4"/>
      </a:lt2>
      <a:accent1>
        <a:srgbClr val="AD2B26"/>
      </a:accent1>
      <a:accent2>
        <a:srgbClr val="49504F"/>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Source Code Pro Black"/>
        <a:ea typeface="阿里巴巴普惠体"/>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Seven</Template>
  <TotalTime>11216</TotalTime>
  <Words>2267</Words>
  <Application>Microsoft Office PowerPoint</Application>
  <PresentationFormat>宽屏</PresentationFormat>
  <Paragraphs>532</Paragraphs>
  <Slides>53</Slides>
  <Notes>36</Notes>
  <HiddenSlides>0</HiddenSlides>
  <MMClips>0</MMClips>
  <ScaleCrop>false</ScaleCrop>
  <HeadingPairs>
    <vt:vector size="6" baseType="variant">
      <vt:variant>
        <vt:lpstr>已用的字体</vt:lpstr>
      </vt:variant>
      <vt:variant>
        <vt:i4>19</vt:i4>
      </vt:variant>
      <vt:variant>
        <vt:lpstr>主题</vt:lpstr>
      </vt:variant>
      <vt:variant>
        <vt:i4>5</vt:i4>
      </vt:variant>
      <vt:variant>
        <vt:lpstr>幻灯片标题</vt:lpstr>
      </vt:variant>
      <vt:variant>
        <vt:i4>53</vt:i4>
      </vt:variant>
    </vt:vector>
  </HeadingPairs>
  <TitlesOfParts>
    <vt:vector size="77" baseType="lpstr">
      <vt:lpstr>Alibaba PuHuiTi B</vt:lpstr>
      <vt:lpstr>Alibaba PuHuiTi M</vt:lpstr>
      <vt:lpstr>Alibaba PuHuiTi Medium</vt:lpstr>
      <vt:lpstr>Alibaba PuHuiTi R</vt:lpstr>
      <vt:lpstr>Alimama DongFangDaKai</vt:lpstr>
      <vt:lpstr>阿里巴巴普惠体</vt:lpstr>
      <vt:lpstr>阿里巴巴普惠体 3.0 55 Regular</vt:lpstr>
      <vt:lpstr>阿里巴巴普惠体 3.0 95 ExtraBold</vt:lpstr>
      <vt:lpstr>阿里巴巴普惠体 Heavy</vt:lpstr>
      <vt:lpstr>阿里巴巴普惠体 Medium</vt:lpstr>
      <vt:lpstr>等线</vt:lpstr>
      <vt:lpstr>楷体</vt:lpstr>
      <vt:lpstr>微软雅黑</vt:lpstr>
      <vt:lpstr>字魂萌芽熊体</vt:lpstr>
      <vt:lpstr>Arial</vt:lpstr>
      <vt:lpstr>Calisto MT</vt:lpstr>
      <vt:lpstr>Consolas</vt:lpstr>
      <vt:lpstr>Source Code Pro</vt:lpstr>
      <vt:lpstr>Wingdings</vt:lpstr>
      <vt:lpstr>内容模板</vt:lpstr>
      <vt:lpstr>封面</vt:lpstr>
      <vt:lpstr>章节目录模板</vt:lpstr>
      <vt:lpstr>小结思考模板2</vt:lpstr>
      <vt:lpstr>1_小结思考模板2</vt:lpstr>
      <vt:lpstr>第十九章：网络编程</vt:lpstr>
      <vt:lpstr>PowerPoint 演示文稿</vt:lpstr>
      <vt:lpstr>PowerPoint 演示文稿</vt:lpstr>
      <vt:lpstr>网络编程</vt:lpstr>
      <vt:lpstr>基本的通信架构</vt:lpstr>
      <vt:lpstr>基本的通信架构</vt:lpstr>
      <vt:lpstr>基本的通信架构</vt:lpstr>
      <vt:lpstr>基本的通信架构</vt:lpstr>
      <vt:lpstr>PowerPoint 演示文稿</vt:lpstr>
      <vt:lpstr>PowerPoint 演示文稿</vt:lpstr>
      <vt:lpstr>PowerPoint 演示文稿</vt:lpstr>
      <vt:lpstr>网络通信三要素</vt:lpstr>
      <vt:lpstr>网络通信三要素</vt:lpstr>
      <vt:lpstr>IP地址</vt:lpstr>
      <vt:lpstr>IPv6</vt:lpstr>
      <vt:lpstr>PowerPoint 演示文稿</vt:lpstr>
      <vt:lpstr>IPv4 的地址分类形式</vt:lpstr>
      <vt:lpstr>IPv4 的地址分类形式</vt:lpstr>
      <vt:lpstr>IPv4 的地址分类形式</vt:lpstr>
      <vt:lpstr>IPv4 的地址分类形式</vt:lpstr>
      <vt:lpstr>特殊IP地址</vt:lpstr>
      <vt:lpstr>特殊IP地址</vt:lpstr>
      <vt:lpstr>特殊IP地址</vt:lpstr>
      <vt:lpstr>特殊IP地址</vt:lpstr>
      <vt:lpstr>特殊IP地址</vt:lpstr>
      <vt:lpstr>常用的CMD命令</vt:lpstr>
      <vt:lpstr>PowerPoint 演示文稿</vt:lpstr>
      <vt:lpstr>PowerPoint 演示文稿</vt:lpstr>
      <vt:lpstr>IP和网址</vt:lpstr>
      <vt:lpstr>InetAddress对象</vt:lpstr>
      <vt:lpstr>端口号</vt:lpstr>
      <vt:lpstr>端口号</vt:lpstr>
      <vt:lpstr>协议</vt:lpstr>
      <vt:lpstr>协议</vt:lpstr>
      <vt:lpstr>协议</vt:lpstr>
      <vt:lpstr>网络通信三要素</vt:lpstr>
      <vt:lpstr>PowerPoint 演示文稿</vt:lpstr>
      <vt:lpstr>PowerPoint 演示文稿</vt:lpstr>
      <vt:lpstr>UDP协议</vt:lpstr>
      <vt:lpstr>UDP协议发送数据</vt:lpstr>
      <vt:lpstr>UDP协议发送数据</vt:lpstr>
      <vt:lpstr>UDP协议接收数据</vt:lpstr>
      <vt:lpstr>UDP协议接收数据</vt:lpstr>
      <vt:lpstr>PowerPoint 演示文稿</vt:lpstr>
      <vt:lpstr>PowerPoint 演示文稿</vt:lpstr>
      <vt:lpstr>PowerPoint 演示文稿</vt:lpstr>
      <vt:lpstr>TCP 协议</vt:lpstr>
      <vt:lpstr>三次握手</vt:lpstr>
      <vt:lpstr>四次挥手</vt:lpstr>
      <vt:lpstr>TCP 协议收发数据</vt:lpstr>
      <vt:lpstr>TCP 协议收发数据</vt:lpstr>
      <vt:lpstr>PowerPoint 演示文稿</vt:lpstr>
      <vt:lpstr>PowerPoint 演示文稿</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Seven</dc:creator>
  <cp:lastModifiedBy>ys h</cp:lastModifiedBy>
  <cp:revision>1836</cp:revision>
  <cp:lastPrinted>2022-05-29T16:00:00Z</cp:lastPrinted>
  <dcterms:created xsi:type="dcterms:W3CDTF">2022-05-29T16:00:00Z</dcterms:created>
  <dcterms:modified xsi:type="dcterms:W3CDTF">2025-05-19T07:03:19Z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EMPLATE">
    <vt:lpwstr>1f6b6247-00f9-4185-bb3e-6a09396f8e3b</vt:lpwstr>
  </property>
</Properties>
</file>