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22"/>
  </p:notesMasterIdLst>
  <p:handoutMasterIdLst>
    <p:handoutMasterId r:id="rId23"/>
  </p:handoutMasterIdLst>
  <p:sldIdLst>
    <p:sldId id="280" r:id="rId6"/>
    <p:sldId id="3375" r:id="rId7"/>
    <p:sldId id="588" r:id="rId8"/>
    <p:sldId id="2584" r:id="rId9"/>
    <p:sldId id="2585" r:id="rId10"/>
    <p:sldId id="2586" r:id="rId11"/>
    <p:sldId id="2588" r:id="rId12"/>
    <p:sldId id="2587" r:id="rId13"/>
    <p:sldId id="2592" r:id="rId14"/>
    <p:sldId id="2590" r:id="rId15"/>
    <p:sldId id="2591" r:id="rId16"/>
    <p:sldId id="2593" r:id="rId17"/>
    <p:sldId id="2594" r:id="rId18"/>
    <p:sldId id="2595" r:id="rId19"/>
    <p:sldId id="2596" r:id="rId20"/>
    <p:sldId id="288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97" autoAdjust="0"/>
    <p:restoredTop sz="94595" autoAdjust="0"/>
  </p:normalViewPr>
  <p:slideViewPr>
    <p:cSldViewPr snapToGrid="0" showGuides="1">
      <p:cViewPr varScale="1">
        <p:scale>
          <a:sx n="78" d="100"/>
          <a:sy n="78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关于</a:t>
            </a:r>
            <a:r>
              <a:rPr lang="en-US" altLang="zh-CN"/>
              <a:t>Object</a:t>
            </a:r>
            <a:r>
              <a:rPr lang="zh-CN" altLang="en-US"/>
              <a:t>类的学习，我们先到帮助文档中查看，然后到代码中演示，最后回到资料进行总结</a:t>
            </a:r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679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79008810-D77B-4E40-A671-02409678F1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91D06D9A-2F1D-412E-A471-AF49C91123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9A2C53D4-C612-4EB0-9C60-3922DA9E6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DEB466-FE9A-40E9-97FD-4345BD42E7E1}" type="slidenum">
              <a:rPr lang="zh-CN" altLang="en-US"/>
              <a:pPr>
                <a:spcBef>
                  <a:spcPct val="0"/>
                </a:spcBef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263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898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817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947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384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005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779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278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031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593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200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94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9993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50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624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8098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569567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2642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2.sv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6" r:id="rId18"/>
    <p:sldLayoutId id="2147483707" r:id="rId19"/>
    <p:sldLayoutId id="214748370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  <p:sldLayoutId id="2147483709" r:id="rId5"/>
    <p:sldLayoutId id="214748371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  <p:sldLayoutId id="214748371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第十三章：</a:t>
            </a:r>
            <a:r>
              <a:rPr lang="en-US" altLang="zh-CN" sz="4000" dirty="0"/>
              <a:t>Stream</a:t>
            </a:r>
            <a:r>
              <a:rPr lang="zh-CN" altLang="en-US" sz="4000" dirty="0"/>
              <a:t>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en-US" altLang="zh-CN" sz="1400" b="0" i="0" dirty="0">
                <a:solidFill>
                  <a:srgbClr val="15171A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C5F687B-B27A-DE4F-8558-2D03D039D7DB}"/>
              </a:ext>
            </a:extLst>
          </p:cNvPr>
          <p:cNvSpPr txBox="1"/>
          <p:nvPr/>
        </p:nvSpPr>
        <p:spPr>
          <a:xfrm>
            <a:off x="576626" y="1094478"/>
            <a:ext cx="10281920" cy="57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配合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Lambda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表达式，</a:t>
            </a:r>
            <a:r>
              <a:rPr kumimoji="0" lang="zh-CN" altLang="zh-CN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简化集合和数组操作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A279B22-E6E3-2FB6-0094-C6AB4E6A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9618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580AFE-8DB9-4838-A88A-4C74F2913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812" y="1038722"/>
            <a:ext cx="9570540" cy="4780556"/>
          </a:xfrm>
          <a:prstGeom prst="rect">
            <a:avLst/>
          </a:prstGeom>
        </p:spPr>
        <p:txBody>
          <a:bodyPr/>
          <a:lstStyle/>
          <a:p>
            <a:pPr eaLnBrk="0" hangingPunct="0">
              <a:lnSpc>
                <a:spcPct val="20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需求：按照下面的要求完成集合的创建和遍历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 eaLnBrk="0" hangingPunct="0"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创建一个集合，存储多个字符串元素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0" hangingPunct="0">
              <a:lnSpc>
                <a:spcPct val="200000"/>
              </a:lnSpc>
              <a:defRPr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 eaLnBrk="0" hangingPunct="0">
              <a:lnSpc>
                <a:spcPct val="200000"/>
              </a:lnSpc>
              <a:buFont typeface="Wingdings" pitchFamily="2" charset="2"/>
              <a:buChar char="l"/>
              <a:defRPr/>
            </a:pP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 eaLnBrk="0" hangingPunct="0">
              <a:lnSpc>
                <a:spcPct val="200000"/>
              </a:lnSpc>
              <a:buFont typeface="Wingdings" pitchFamily="2" charset="2"/>
              <a:buChar char="l"/>
              <a:defRPr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 eaLnBrk="0" hangingPunct="0">
              <a:lnSpc>
                <a:spcPct val="200000"/>
              </a:lnSpc>
              <a:buFont typeface="Wingdings" pitchFamily="2" charset="2"/>
              <a:buChar char="l"/>
              <a:defRPr/>
            </a:pP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 eaLnBrk="0" hangingPunct="0"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把集合中所有以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开头的元素存储到一个新的集合</a:t>
            </a:r>
          </a:p>
          <a:p>
            <a:pPr marL="357708" indent="-357708" eaLnBrk="0" hangingPunct="0"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开头的集合中的长度为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的元素存储到一个新的集合</a:t>
            </a:r>
          </a:p>
          <a:p>
            <a:pPr marL="357708" indent="-357708" eaLnBrk="0" hangingPunct="0">
              <a:lnSpc>
                <a:spcPct val="20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遍历上一步得到的集合中的元素输出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46A298-C066-40CB-9FEF-0734BC99CC93}"/>
              </a:ext>
            </a:extLst>
          </p:cNvPr>
          <p:cNvSpPr txBox="1"/>
          <p:nvPr/>
        </p:nvSpPr>
        <p:spPr>
          <a:xfrm>
            <a:off x="2345154" y="2267367"/>
            <a:ext cx="5160801" cy="2323265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&gt;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ArrayList&lt;&gt;();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.add(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"张无忌"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.add(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张良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.add(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王二麻子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.add(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谢广坤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.add(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"张三丰"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.add(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"张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翠山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DACCB08-0CBE-D8A3-1A9F-E2B0683A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体验 </a:t>
            </a:r>
            <a:r>
              <a:rPr lang="en-US" altLang="zh-CN" dirty="0"/>
              <a:t>Stream </a:t>
            </a:r>
            <a:r>
              <a:rPr lang="zh-CN" altLang="en-US" dirty="0"/>
              <a:t>流的作用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4C8251-8057-0800-99E5-00295AB22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987" y="1862413"/>
            <a:ext cx="7482299" cy="42074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374A69C3-3C97-7DA2-91E7-539C2970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流思想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65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9037D3F-2FBD-B34A-0973-B16E3F55C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2" y="2494722"/>
            <a:ext cx="4378311" cy="22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6233C7-1BE4-3718-BD0F-7F5DFA8AC6D8}"/>
              </a:ext>
            </a:extLst>
          </p:cNvPr>
          <p:cNvSpPr txBox="1"/>
          <p:nvPr/>
        </p:nvSpPr>
        <p:spPr>
          <a:xfrm>
            <a:off x="5705061" y="2820985"/>
            <a:ext cx="5181227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 algn="l">
              <a:buAutoNum type="arabicPeriod"/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将数据到流中（获取流对象）</a:t>
            </a:r>
            <a:endParaRPr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marL="342900" indent="-342900" algn="l">
              <a:buAutoNum type="arabicPeriod"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中间方法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marL="342900" indent="-342900" algn="l">
              <a:buAutoNum type="arabicPeriod"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终结方法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2791A5-9685-04EF-74FE-2FFCF7F8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流思想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61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4">
            <a:extLst>
              <a:ext uri="{FF2B5EF4-FFF2-40B4-BE49-F238E27FC236}">
                <a16:creationId xmlns:a16="http://schemas.microsoft.com/office/drawing/2014/main" id="{58AFD37B-C288-F8F5-857B-4C699CCFA91E}"/>
              </a:ext>
            </a:extLst>
          </p:cNvPr>
          <p:cNvSpPr txBox="1"/>
          <p:nvPr/>
        </p:nvSpPr>
        <p:spPr>
          <a:xfrm>
            <a:off x="652372" y="1352456"/>
            <a:ext cx="9984316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集合获取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流对象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373DD3C-34DA-BAEC-EDF7-B0929B01C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390059"/>
              </p:ext>
            </p:extLst>
          </p:nvPr>
        </p:nvGraphicFramePr>
        <p:xfrm>
          <a:off x="652371" y="1973267"/>
          <a:ext cx="9843257" cy="768877"/>
        </p:xfrm>
        <a:graphic>
          <a:graphicData uri="http://schemas.openxmlformats.org/drawingml/2006/table">
            <a:tbl>
              <a:tblPr/>
              <a:tblGrid>
                <a:gridCol w="4425976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5417281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750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93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default Stream&lt;E&gt; stream()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</a:rPr>
                        <a:t>获取当前集合对象的 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Stream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</a:rPr>
                        <a:t>流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</a:tbl>
          </a:graphicData>
        </a:graphic>
      </p:graphicFrame>
      <p:sp>
        <p:nvSpPr>
          <p:cNvPr id="12" name="TextBox 4">
            <a:extLst>
              <a:ext uri="{FF2B5EF4-FFF2-40B4-BE49-F238E27FC236}">
                <a16:creationId xmlns:a16="http://schemas.microsoft.com/office/drawing/2014/main" id="{A3AF1C2D-5202-6F91-9EF1-AC8C0A16624C}"/>
              </a:ext>
            </a:extLst>
          </p:cNvPr>
          <p:cNvSpPr txBox="1"/>
          <p:nvPr/>
        </p:nvSpPr>
        <p:spPr>
          <a:xfrm>
            <a:off x="652372" y="2946360"/>
            <a:ext cx="6914526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数组获取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流对象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F5D16D5-A388-F6B2-3EBB-D3A8CC063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879469"/>
              </p:ext>
            </p:extLst>
          </p:nvPr>
        </p:nvGraphicFramePr>
        <p:xfrm>
          <a:off x="652371" y="3485315"/>
          <a:ext cx="9843258" cy="768877"/>
        </p:xfrm>
        <a:graphic>
          <a:graphicData uri="http://schemas.openxmlformats.org/drawingml/2006/table">
            <a:tbl>
              <a:tblPr/>
              <a:tblGrid>
                <a:gridCol w="4425976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5417282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750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93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static &lt;T&gt; Stream&lt;T&gt; stream​(T[] array)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将传入的数组封装到 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Stream 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流对象中</a:t>
                      </a:r>
                      <a:endParaRPr lang="en-US" altLang="zh-C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</a:tbl>
          </a:graphicData>
        </a:graphic>
      </p:graphicFrame>
      <p:sp>
        <p:nvSpPr>
          <p:cNvPr id="14" name="TextBox 4">
            <a:extLst>
              <a:ext uri="{FF2B5EF4-FFF2-40B4-BE49-F238E27FC236}">
                <a16:creationId xmlns:a16="http://schemas.microsoft.com/office/drawing/2014/main" id="{223172D7-F339-FA93-A795-9F2BAADE1188}"/>
              </a:ext>
            </a:extLst>
          </p:cNvPr>
          <p:cNvSpPr txBox="1"/>
          <p:nvPr/>
        </p:nvSpPr>
        <p:spPr>
          <a:xfrm>
            <a:off x="4482254" y="1331776"/>
            <a:ext cx="4501286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Collection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接口中的默认方法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D9D79DD0-D70B-FE97-1CD5-6942BBFC1AC9}"/>
              </a:ext>
            </a:extLst>
          </p:cNvPr>
          <p:cNvSpPr txBox="1"/>
          <p:nvPr/>
        </p:nvSpPr>
        <p:spPr>
          <a:xfrm>
            <a:off x="4482254" y="2925680"/>
            <a:ext cx="4501286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Arrays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数组工具类中的静态方法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C7A8F37E-E4E6-3E55-7C5D-7FB01268AA47}"/>
              </a:ext>
            </a:extLst>
          </p:cNvPr>
          <p:cNvSpPr txBox="1"/>
          <p:nvPr/>
        </p:nvSpPr>
        <p:spPr>
          <a:xfrm>
            <a:off x="652372" y="4473460"/>
            <a:ext cx="6914526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零散的数据获取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流对象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7039B31-B0D6-F42E-F753-D692AC793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819572"/>
              </p:ext>
            </p:extLst>
          </p:nvPr>
        </p:nvGraphicFramePr>
        <p:xfrm>
          <a:off x="652370" y="4966959"/>
          <a:ext cx="9843258" cy="768877"/>
        </p:xfrm>
        <a:graphic>
          <a:graphicData uri="http://schemas.openxmlformats.org/drawingml/2006/table">
            <a:tbl>
              <a:tblPr/>
              <a:tblGrid>
                <a:gridCol w="4425976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5417282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7505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393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static &lt;T&gt; Stream&lt;T&gt; of​(T... values) 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把一堆零散的数据封装到 </a:t>
                      </a:r>
                      <a:r>
                        <a:rPr lang="en-US" altLang="zh-CN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Stream 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微软雅黑" pitchFamily="34" charset="-122"/>
                        </a:rPr>
                        <a:t>流对象中</a:t>
                      </a:r>
                      <a:endParaRPr lang="en-US" altLang="zh-CN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</a:tbl>
          </a:graphicData>
        </a:graphic>
      </p:graphicFrame>
      <p:sp>
        <p:nvSpPr>
          <p:cNvPr id="18" name="TextBox 4">
            <a:extLst>
              <a:ext uri="{FF2B5EF4-FFF2-40B4-BE49-F238E27FC236}">
                <a16:creationId xmlns:a16="http://schemas.microsoft.com/office/drawing/2014/main" id="{EDEF4CE6-6CC8-851D-6219-68CDCD0F5303}"/>
              </a:ext>
            </a:extLst>
          </p:cNvPr>
          <p:cNvSpPr txBox="1"/>
          <p:nvPr/>
        </p:nvSpPr>
        <p:spPr>
          <a:xfrm>
            <a:off x="4482254" y="4446557"/>
            <a:ext cx="450128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类中的静态方法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6674F8-8A9A-A4AE-D630-5F38B9FE3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获取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691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/>
      <p:bldP spid="15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9037D3F-2FBD-B34A-0973-B16E3F55C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2" y="2494722"/>
            <a:ext cx="4378311" cy="22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6233C7-1BE4-3718-BD0F-7F5DFA8AC6D8}"/>
              </a:ext>
            </a:extLst>
          </p:cNvPr>
          <p:cNvSpPr txBox="1"/>
          <p:nvPr/>
        </p:nvSpPr>
        <p:spPr>
          <a:xfrm>
            <a:off x="5705061" y="2820985"/>
            <a:ext cx="5181227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 algn="l">
              <a:buAutoNum type="arabicPeriod"/>
            </a:pP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将数据到流中（获取流对象）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marL="342900" indent="-342900" algn="l">
              <a:buAutoNum type="arabicPeriod"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中间方法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marL="342900" indent="-342900" algn="l">
              <a:buAutoNum type="arabicPeriod"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终结方法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7B92115-1663-0712-E172-8FABD931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流思想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803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C2FC0C0-2682-0AFF-B7F7-E6E8ED224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600991"/>
              </p:ext>
            </p:extLst>
          </p:nvPr>
        </p:nvGraphicFramePr>
        <p:xfrm>
          <a:off x="576626" y="1245424"/>
          <a:ext cx="10769784" cy="3629165"/>
        </p:xfrm>
        <a:graphic>
          <a:graphicData uri="http://schemas.openxmlformats.org/drawingml/2006/table">
            <a:tbl>
              <a:tblPr/>
              <a:tblGrid>
                <a:gridCol w="6654861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114923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2704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542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Stream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T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&gt;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filter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Predicate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&lt;?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黑体" panose="02010609060101010101" pitchFamily="49" charset="-122"/>
                          <a:cs typeface="+mn-cs"/>
                        </a:rPr>
                        <a:t>super T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&gt; predicate)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用于对流中的数据进行</a:t>
                      </a:r>
                      <a:r>
                        <a:rPr lang="zh-CN" altLang="en-US" sz="16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过滤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Stream&lt;T&gt; limit​(long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maxSize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获取前几个元素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14731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Stream&lt;T&gt; skip​(long n)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跳过前几个元素</a:t>
                      </a:r>
                      <a:endParaRPr lang="en-US" altLang="zh-CN" sz="16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151165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Stream&lt;T&gt; distinct​()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去除流中重复的元素依赖 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(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Alibaba PuHuiTi R"/>
                        </a:rPr>
                        <a:t>hashCode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 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和 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equals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方法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)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981481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static &lt;T&gt; Stream&lt;T&gt;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concat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​(Stream a, Stream b)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合并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a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和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b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两个流为一个流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27709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Consolas" panose="020B0609020204030204" pitchFamily="49" charset="0"/>
                        </a:rPr>
                        <a:t>Stream&lt;R&gt; map​(Function&lt;? super T,​? extends R&gt; mapper)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对流中的每一个元素进行转换</a:t>
                      </a:r>
                      <a:endParaRPr lang="en-US" altLang="zh-CN" sz="16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348133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0B92889-FD8E-AA35-DA14-2A77D0F654D0}"/>
              </a:ext>
            </a:extLst>
          </p:cNvPr>
          <p:cNvSpPr txBox="1"/>
          <p:nvPr/>
        </p:nvSpPr>
        <p:spPr>
          <a:xfrm>
            <a:off x="478507" y="5026832"/>
            <a:ext cx="6728124" cy="519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中间方法调用完成后返回新的 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流可以继续使用，支持链式编程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5507814-27C2-2D87-5846-8E698F85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流中间操作方法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359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三角形 9">
            <a:extLst>
              <a:ext uri="{FF2B5EF4-FFF2-40B4-BE49-F238E27FC236}">
                <a16:creationId xmlns:a16="http://schemas.microsoft.com/office/drawing/2014/main" id="{00E00C00-1FE3-50AD-B3F6-8F23A8F461D7}"/>
              </a:ext>
            </a:extLst>
          </p:cNvPr>
          <p:cNvSpPr/>
          <p:nvPr/>
        </p:nvSpPr>
        <p:spPr>
          <a:xfrm rot="2651319">
            <a:off x="884367" y="2296849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BCC4B87-551D-E056-E1FD-E0DD6FA2CC02}"/>
              </a:ext>
            </a:extLst>
          </p:cNvPr>
          <p:cNvSpPr txBox="1"/>
          <p:nvPr/>
        </p:nvSpPr>
        <p:spPr>
          <a:xfrm>
            <a:off x="1222156" y="2437910"/>
            <a:ext cx="4351603" cy="3820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如果流对象已经被消费过，就不允许再次使用了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994CDC-D5A6-9B5A-418E-1FBD422379EC}"/>
              </a:ext>
            </a:extLst>
          </p:cNvPr>
          <p:cNvSpPr/>
          <p:nvPr/>
        </p:nvSpPr>
        <p:spPr>
          <a:xfrm>
            <a:off x="977681" y="1940266"/>
            <a:ext cx="4980391" cy="1029811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F27C65-7CE5-DF78-A948-0FCD0EEF9F3C}"/>
              </a:ext>
            </a:extLst>
          </p:cNvPr>
          <p:cNvSpPr/>
          <p:nvPr/>
        </p:nvSpPr>
        <p:spPr>
          <a:xfrm>
            <a:off x="877753" y="2012736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4980C6B-E507-A016-3D2C-4B725AB4A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72" y="3429000"/>
            <a:ext cx="6312224" cy="23051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5B39CBC-16C0-8C8A-D675-F7E02403F630}"/>
              </a:ext>
            </a:extLst>
          </p:cNvPr>
          <p:cNvSpPr/>
          <p:nvPr/>
        </p:nvSpPr>
        <p:spPr>
          <a:xfrm>
            <a:off x="977681" y="4989443"/>
            <a:ext cx="3892493" cy="205409"/>
          </a:xfrm>
          <a:prstGeom prst="round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3C7799-9D32-9B50-4E7B-5E2C6C16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流的注意事项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0450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9037D3F-2FBD-B34A-0973-B16E3F55C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2" y="2494722"/>
            <a:ext cx="4378311" cy="22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6233C7-1BE4-3718-BD0F-7F5DFA8AC6D8}"/>
              </a:ext>
            </a:extLst>
          </p:cNvPr>
          <p:cNvSpPr txBox="1"/>
          <p:nvPr/>
        </p:nvSpPr>
        <p:spPr>
          <a:xfrm>
            <a:off x="5705061" y="2820985"/>
            <a:ext cx="5181227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 algn="l">
              <a:buAutoNum type="arabicPeriod"/>
            </a:pPr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将数据到流中（获取流对象）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marL="342900" indent="-342900" algn="l">
              <a:buAutoNum type="arabicPeriod"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中间方法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marL="342900" indent="-342900" algn="l">
              <a:buAutoNum type="arabicPeriod"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终结方法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581CA85-C3A3-4711-C87F-2769936A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流思想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38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B42B381-7130-FD97-27F8-09236A3B4214}"/>
              </a:ext>
            </a:extLst>
          </p:cNvPr>
          <p:cNvGraphicFramePr>
            <a:graphicFrameLocks noGrp="1"/>
          </p:cNvGraphicFramePr>
          <p:nvPr/>
        </p:nvGraphicFramePr>
        <p:xfrm>
          <a:off x="937387" y="1928764"/>
          <a:ext cx="8113608" cy="1442124"/>
        </p:xfrm>
        <a:graphic>
          <a:graphicData uri="http://schemas.openxmlformats.org/drawingml/2006/table">
            <a:tbl>
              <a:tblPr/>
              <a:tblGrid>
                <a:gridCol w="3876887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236721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43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名称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542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void </a:t>
                      </a:r>
                      <a:r>
                        <a:rPr lang="en-US" altLang="zh-CN" sz="1600" dirty="0" err="1">
                          <a:latin typeface="Consolas" panose="020B0609020204030204" pitchFamily="49" charset="0"/>
                          <a:ea typeface="微软雅黑" pitchFamily="34" charset="-122"/>
                        </a:rPr>
                        <a:t>forEach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​(Consumer action)</a:t>
                      </a:r>
                      <a:endParaRPr lang="zh-CN" altLang="en-US" sz="1600" dirty="0">
                        <a:latin typeface="Consolas" panose="020B06090202040302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1219170" rtl="0" eaLnBrk="0" fontAlgn="auto" latinLnBrk="0" hangingPunct="0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对此流的每个元素执行遍历操作</a:t>
                      </a:r>
                      <a:endParaRPr lang="en-US" altLang="zh-CN" sz="160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555318">
                <a:tc>
                  <a:txBody>
                    <a:bodyPr/>
                    <a:lstStyle/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long count​()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itchFamily="34" charset="-122"/>
                          <a:ea typeface="微软雅黑" pitchFamily="34" charset="-122"/>
                        </a:rPr>
                        <a:t>返回此流中的元素数</a:t>
                      </a:r>
                      <a:endParaRPr lang="en-US" altLang="zh-CN" sz="1600" b="0" dirty="0">
                        <a:solidFill>
                          <a:srgbClr val="49504F"/>
                        </a:solidFill>
                        <a:latin typeface="微软雅黑" pitchFamily="34" charset="-122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14731"/>
                  </a:ext>
                </a:extLst>
              </a:tr>
            </a:tbl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DA534B43-9190-DFF7-5970-3C92CE86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流终结操作方法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7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549ABABD-27A7-5B02-9517-B52EBC0984EC}"/>
              </a:ext>
            </a:extLst>
          </p:cNvPr>
          <p:cNvSpPr txBox="1"/>
          <p:nvPr/>
        </p:nvSpPr>
        <p:spPr>
          <a:xfrm>
            <a:off x="576626" y="1143899"/>
            <a:ext cx="8246370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</a:t>
            </a:r>
            <a:r>
              <a:rPr kumimoji="0" lang="zh-CN" altLang="en-US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操作后的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数据转回到集合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02C0675-56EF-F23F-0DDB-D0A9E05C2C92}"/>
              </a:ext>
            </a:extLst>
          </p:cNvPr>
          <p:cNvSpPr txBox="1"/>
          <p:nvPr/>
        </p:nvSpPr>
        <p:spPr>
          <a:xfrm>
            <a:off x="576626" y="1620977"/>
            <a:ext cx="8246370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</a:t>
            </a:r>
            <a:r>
              <a:rPr kumimoji="0" lang="zh-CN" altLang="en-US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操作，不会修改数据源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E12E2D-0E33-8CD3-34AC-787A6CD48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20" y="2511378"/>
            <a:ext cx="6940907" cy="18352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AE5BE2-DA1D-476B-A759-573AE8426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419" y="2511378"/>
            <a:ext cx="3111660" cy="14732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F7EC00A5-2A43-39E9-FCDF-01B4EFF00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收集操作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020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549ABABD-27A7-5B02-9517-B52EBC0984EC}"/>
              </a:ext>
            </a:extLst>
          </p:cNvPr>
          <p:cNvSpPr txBox="1"/>
          <p:nvPr/>
        </p:nvSpPr>
        <p:spPr>
          <a:xfrm>
            <a:off x="576626" y="1184553"/>
            <a:ext cx="8246370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把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流</a:t>
            </a:r>
            <a:r>
              <a:rPr kumimoji="0" lang="zh-CN" altLang="en-US" sz="16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操作后的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数据转回到集合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F01FDA4-5E1E-48D0-1610-0669CE2DE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645904"/>
              </p:ext>
            </p:extLst>
          </p:nvPr>
        </p:nvGraphicFramePr>
        <p:xfrm>
          <a:off x="896626" y="1890755"/>
          <a:ext cx="8065518" cy="743766"/>
        </p:xfrm>
        <a:graphic>
          <a:graphicData uri="http://schemas.openxmlformats.org/drawingml/2006/table">
            <a:tbl>
              <a:tblPr/>
              <a:tblGrid>
                <a:gridCol w="3853908">
                  <a:extLst>
                    <a:ext uri="{9D8B030D-6E8A-4147-A177-3AD203B41FA5}">
                      <a16:colId xmlns:a16="http://schemas.microsoft.com/office/drawing/2014/main" val="3104843445"/>
                    </a:ext>
                  </a:extLst>
                </a:gridCol>
                <a:gridCol w="4211610">
                  <a:extLst>
                    <a:ext uri="{9D8B030D-6E8A-4147-A177-3AD203B41FA5}">
                      <a16:colId xmlns:a16="http://schemas.microsoft.com/office/drawing/2014/main" val="1616802852"/>
                    </a:ext>
                  </a:extLst>
                </a:gridCol>
              </a:tblGrid>
              <a:tr h="31665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88081"/>
                  </a:ext>
                </a:extLst>
              </a:tr>
              <a:tr h="3813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0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en-US" altLang="zh-CN" sz="16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R collect​(Collector collector)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1219170" rtl="0" eaLnBrk="0" fontAlgn="auto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开始收集</a:t>
                      </a:r>
                      <a:r>
                        <a:rPr lang="en-US" altLang="zh-CN" sz="1600" dirty="0">
                          <a:latin typeface="Consolas" panose="020B0609020204030204" pitchFamily="49" charset="0"/>
                          <a:ea typeface="Alibaba PuHuiTi R"/>
                        </a:rPr>
                        <a:t>Stream</a:t>
                      </a:r>
                      <a:r>
                        <a:rPr lang="zh-CN" altLang="en-US" sz="1600" dirty="0">
                          <a:latin typeface="Consolas" panose="020B0609020204030204" pitchFamily="49" charset="0"/>
                          <a:ea typeface="Alibaba PuHuiTi R"/>
                        </a:rPr>
                        <a:t>流，指定收集器</a:t>
                      </a:r>
                      <a:endParaRPr lang="en-US" altLang="zh-CN" sz="1600" dirty="0">
                        <a:latin typeface="Consolas" panose="020B0609020204030204" pitchFamily="49" charset="0"/>
                        <a:ea typeface="Alibaba PuHuiTi R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4982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08626FE-C07D-49C4-BB83-3BECFAA3529E}"/>
              </a:ext>
            </a:extLst>
          </p:cNvPr>
          <p:cNvSpPr txBox="1"/>
          <p:nvPr/>
        </p:nvSpPr>
        <p:spPr>
          <a:xfrm>
            <a:off x="576626" y="2851806"/>
            <a:ext cx="6096000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hangingPunct="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Collectors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工具类提供了具体的收集方式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FCDE575-B1AE-8B92-66B0-5FF12E055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697750"/>
              </p:ext>
            </p:extLst>
          </p:nvPr>
        </p:nvGraphicFramePr>
        <p:xfrm>
          <a:off x="896626" y="3496196"/>
          <a:ext cx="10457535" cy="1873302"/>
        </p:xfrm>
        <a:graphic>
          <a:graphicData uri="http://schemas.openxmlformats.org/drawingml/2006/table">
            <a:tbl>
              <a:tblPr/>
              <a:tblGrid>
                <a:gridCol w="7550336">
                  <a:extLst>
                    <a:ext uri="{9D8B030D-6E8A-4147-A177-3AD203B41FA5}">
                      <a16:colId xmlns:a16="http://schemas.microsoft.com/office/drawing/2014/main" val="3104843445"/>
                    </a:ext>
                  </a:extLst>
                </a:gridCol>
                <a:gridCol w="2907199">
                  <a:extLst>
                    <a:ext uri="{9D8B030D-6E8A-4147-A177-3AD203B41FA5}">
                      <a16:colId xmlns:a16="http://schemas.microsoft.com/office/drawing/2014/main" val="1616802852"/>
                    </a:ext>
                  </a:extLst>
                </a:gridCol>
              </a:tblGrid>
              <a:tr h="5106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名称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88081"/>
                  </a:ext>
                </a:extLst>
              </a:tr>
              <a:tr h="45422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public static &lt;T&gt; Collector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Alibaba PuHuiTi R"/>
                        </a:rPr>
                        <a:t>toList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​()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把元素收集到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List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集合中</a:t>
                      </a:r>
                      <a:endParaRPr lang="en-US" altLang="zh-CN" sz="1400" dirty="0"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49824"/>
                  </a:ext>
                </a:extLst>
              </a:tr>
              <a:tr h="454229">
                <a:tc>
                  <a:txBody>
                    <a:bodyPr/>
                    <a:lstStyle/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public static &lt;T&gt; Collector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Alibaba PuHuiTi R"/>
                        </a:rPr>
                        <a:t>toSet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​()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0" fontAlgn="auto" latinLnBrk="0" hangingPunct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把元素收集到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Set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集合中</a:t>
                      </a:r>
                      <a:endParaRPr lang="en-US" altLang="zh-CN" sz="1400" dirty="0"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799976"/>
                  </a:ext>
                </a:extLst>
              </a:tr>
              <a:tr h="454229">
                <a:tc>
                  <a:txBody>
                    <a:bodyPr/>
                    <a:lstStyle/>
                    <a:p>
                      <a:pPr marL="0" indent="0" algn="l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public static  Collector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Alibaba PuHuiTi R"/>
                        </a:rPr>
                        <a:t>toMap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​(Function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Alibaba PuHuiTi R"/>
                        </a:rPr>
                        <a:t>keyMapper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 , Function </a:t>
                      </a:r>
                      <a:r>
                        <a:rPr lang="en-US" altLang="zh-CN" sz="1400" dirty="0" err="1">
                          <a:latin typeface="Consolas" panose="020B0609020204030204" pitchFamily="49" charset="0"/>
                          <a:ea typeface="Alibaba PuHuiTi R"/>
                        </a:rPr>
                        <a:t>valueMapper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Alibaba PuHuiTi R"/>
                        </a:rPr>
                        <a:t>)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 hangingPunct="0">
                        <a:lnSpc>
                          <a:spcPct val="150000"/>
                        </a:lnSpc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把元素收集到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Map</a:t>
                      </a:r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itchFamily="34" charset="-122"/>
                        </a:rPr>
                        <a:t>集合中</a:t>
                      </a:r>
                      <a:endParaRPr lang="en-US" altLang="zh-CN" sz="1400" dirty="0">
                        <a:latin typeface="Consolas" panose="020B0609020204030204" pitchFamily="49" charset="0"/>
                        <a:ea typeface="微软雅黑" pitchFamily="34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944026"/>
                  </a:ext>
                </a:extLst>
              </a:tr>
            </a:tbl>
          </a:graphicData>
        </a:graphic>
      </p:graphicFrame>
      <p:sp>
        <p:nvSpPr>
          <p:cNvPr id="5" name="标题 4">
            <a:extLst>
              <a:ext uri="{FF2B5EF4-FFF2-40B4-BE49-F238E27FC236}">
                <a16:creationId xmlns:a16="http://schemas.microsoft.com/office/drawing/2014/main" id="{49C49273-8364-13EF-0068-53F9CBFB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Stream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收集操作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470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D0A753-A7F5-0696-BBCC-A9C6467F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Stream </a:t>
            </a:r>
            <a:r>
              <a:rPr lang="zh-CN" altLang="en-US" dirty="0"/>
              <a:t>流中数据收集到 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5B27E7-6D58-FA2C-BA9F-667AC97EC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创建一个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ArrayList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集合，并添加以下字符串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微软雅黑" pitchFamily="34" charset="-122"/>
              </a:rPr>
              <a:t>zhangsan,23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微软雅黑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微软雅黑" pitchFamily="34" charset="-122"/>
              </a:rPr>
              <a:t>lisi,24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微软雅黑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微软雅黑" pitchFamily="34" charset="-122"/>
              </a:rPr>
              <a:t>wangwu,25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effectLst/>
              </a:rPr>
              <a:t>并将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数据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effectLst/>
              </a:rPr>
              <a:t>收集到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effectLst/>
              </a:rPr>
              <a:t>Map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effectLst/>
              </a:rPr>
              <a:t>集合中，姓名为键，年龄为值</a:t>
            </a:r>
          </a:p>
        </p:txBody>
      </p:sp>
    </p:spTree>
    <p:extLst>
      <p:ext uri="{BB962C8B-B14F-4D97-AF65-F5344CB8AC3E}">
        <p14:creationId xmlns:p14="http://schemas.microsoft.com/office/powerpoint/2010/main" val="751447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71E97F0-6825-87AB-3233-BBFA4730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综合案例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5B27E7-6D58-FA2C-BA9F-667AC97EC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latin typeface="Consolas" panose="020B0609020204030204" pitchFamily="49" charset="0"/>
              </a:rPr>
              <a:t>现在有两个 </a:t>
            </a:r>
            <a:r>
              <a:rPr lang="en-US" altLang="zh-CN" dirty="0" err="1">
                <a:latin typeface="Consolas" panose="020B0609020204030204" pitchFamily="49" charset="0"/>
              </a:rPr>
              <a:t>ArrayList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集合，分别存储</a:t>
            </a:r>
            <a:r>
              <a:rPr lang="en-US" altLang="zh-CN" dirty="0">
                <a:latin typeface="Consolas" panose="020B0609020204030204" pitchFamily="49" charset="0"/>
              </a:rPr>
              <a:t>6</a:t>
            </a:r>
            <a:r>
              <a:rPr lang="zh-CN" altLang="en-US" dirty="0">
                <a:latin typeface="Consolas" panose="020B0609020204030204" pitchFamily="49" charset="0"/>
              </a:rPr>
              <a:t>名男演员和</a:t>
            </a:r>
            <a:r>
              <a:rPr lang="en-US" altLang="zh-CN" dirty="0">
                <a:latin typeface="Consolas" panose="020B0609020204030204" pitchFamily="49" charset="0"/>
              </a:rPr>
              <a:t>6</a:t>
            </a:r>
            <a:r>
              <a:rPr lang="zh-CN" altLang="en-US" dirty="0">
                <a:latin typeface="Consolas" panose="020B0609020204030204" pitchFamily="49" charset="0"/>
              </a:rPr>
              <a:t>名女演员，要求完成如下的操作：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Consolas" panose="020B0609020204030204" pitchFamily="49" charset="0"/>
              </a:rPr>
              <a:t>男演员只要名字为</a:t>
            </a:r>
            <a:r>
              <a:rPr lang="en-US" altLang="zh-CN" dirty="0">
                <a:latin typeface="Consolas" panose="020B0609020204030204" pitchFamily="49" charset="0"/>
              </a:rPr>
              <a:t>3</a:t>
            </a:r>
            <a:r>
              <a:rPr lang="zh-CN" altLang="en-US" dirty="0">
                <a:latin typeface="Consolas" panose="020B0609020204030204" pitchFamily="49" charset="0"/>
              </a:rPr>
              <a:t>个字的前两人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Consolas" panose="020B0609020204030204" pitchFamily="49" charset="0"/>
              </a:rPr>
              <a:t>女演员只要姓林的，并且不要第一个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Consolas" panose="020B0609020204030204" pitchFamily="49" charset="0"/>
              </a:rPr>
              <a:t>把过滤后的男演员姓名和女演员姓名合并到一起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Consolas" panose="020B0609020204030204" pitchFamily="49" charset="0"/>
              </a:rPr>
              <a:t>把上一步操作后的元素作为构造方法的参数创建演员对象</a:t>
            </a:r>
            <a:r>
              <a:rPr lang="en-US" altLang="zh-CN" dirty="0">
                <a:latin typeface="Consolas" panose="020B0609020204030204" pitchFamily="49" charset="0"/>
              </a:rPr>
              <a:t>,</a:t>
            </a:r>
            <a:r>
              <a:rPr lang="zh-CN" altLang="en-US" dirty="0">
                <a:latin typeface="Consolas" panose="020B0609020204030204" pitchFamily="49" charset="0"/>
              </a:rPr>
              <a:t>遍历数据</a:t>
            </a: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Consolas" panose="020B0609020204030204" pitchFamily="49" charset="0"/>
              </a:rPr>
              <a:t>演员类</a:t>
            </a:r>
            <a:r>
              <a:rPr lang="en-US" altLang="zh-CN" dirty="0">
                <a:latin typeface="Consolas" panose="020B0609020204030204" pitchFamily="49" charset="0"/>
              </a:rPr>
              <a:t>Actor</a:t>
            </a:r>
            <a:r>
              <a:rPr lang="zh-CN" altLang="en-US" dirty="0">
                <a:latin typeface="Consolas" panose="020B0609020204030204" pitchFamily="49" charset="0"/>
              </a:rPr>
              <a:t>，里面有一个成员变量，一个带参构造方法，以及成员变量对应的</a:t>
            </a:r>
            <a:r>
              <a:rPr lang="en-US" altLang="zh-CN" dirty="0">
                <a:latin typeface="Consolas" panose="020B0609020204030204" pitchFamily="49" charset="0"/>
              </a:rPr>
              <a:t>get/set</a:t>
            </a:r>
            <a:r>
              <a:rPr lang="zh-CN" altLang="en-US" dirty="0">
                <a:latin typeface="Consolas" panose="020B0609020204030204" pitchFamily="49" charset="0"/>
              </a:rPr>
              <a:t>方法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493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10474</TotalTime>
  <Words>834</Words>
  <Application>Microsoft Office PowerPoint</Application>
  <PresentationFormat>宽屏</PresentationFormat>
  <Paragraphs>123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微软雅黑</vt:lpstr>
      <vt:lpstr>杨任东竹石体-Bold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第十三章：Stream流</vt:lpstr>
      <vt:lpstr>Stream 流介绍</vt:lpstr>
      <vt:lpstr>体验 Stream 流的作用</vt:lpstr>
      <vt:lpstr>Stream 流思想</vt:lpstr>
      <vt:lpstr>Stream 流思想</vt:lpstr>
      <vt:lpstr>获取 Stream 流对象</vt:lpstr>
      <vt:lpstr>Stream 流思想</vt:lpstr>
      <vt:lpstr>Stream 流中间操作方法</vt:lpstr>
      <vt:lpstr>Stream 流的注意事项</vt:lpstr>
      <vt:lpstr>Stream 流思想</vt:lpstr>
      <vt:lpstr>Stream 流终结操作方法</vt:lpstr>
      <vt:lpstr>Stream 收集操作</vt:lpstr>
      <vt:lpstr>Stream 收集操作</vt:lpstr>
      <vt:lpstr>Stream 流中数据收集到 Map</vt:lpstr>
      <vt:lpstr>综合案例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1546</cp:revision>
  <cp:lastPrinted>2022-05-29T16:00:00Z</cp:lastPrinted>
  <dcterms:created xsi:type="dcterms:W3CDTF">2022-05-29T16:00:00Z</dcterms:created>
  <dcterms:modified xsi:type="dcterms:W3CDTF">2025-04-30T04:47:37Z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